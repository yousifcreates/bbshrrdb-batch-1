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Lst>
  <p:sldSz cy="6858000" cx="12192000"/>
  <p:notesSz cx="6858000" cy="9144000"/>
  <p:embeddedFontLst>
    <p:embeddedFont>
      <p:font typeface="Montserrat SemiBold"/>
      <p:regular r:id="rId31"/>
      <p:bold r:id="rId32"/>
      <p:italic r:id="rId33"/>
      <p:boldItalic r:id="rId34"/>
    </p:embeddedFont>
    <p:embeddedFont>
      <p:font typeface="Inter SemiBold"/>
      <p:regular r:id="rId35"/>
      <p:bold r:id="rId36"/>
      <p:italic r:id="rId37"/>
      <p:boldItalic r:id="rId38"/>
    </p:embeddedFont>
    <p:embeddedFont>
      <p:font typeface="Inter"/>
      <p:bold r:id="rId39"/>
      <p:boldItalic r:id="rId40"/>
    </p:embeddedFont>
    <p:embeddedFont>
      <p:font typeface="Montserrat"/>
      <p:bold r:id="rId41"/>
      <p:boldItalic r:id="rId42"/>
    </p:embeddedFont>
    <p:embeddedFont>
      <p:font typeface="Inter Medium"/>
      <p:regular r:id="rId43"/>
      <p:bold r:id="rId44"/>
      <p:italic r:id="rId45"/>
      <p:boldItalic r:id="rId4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nter-boldItalic.fntdata"/><Relationship Id="rId20" Type="http://schemas.openxmlformats.org/officeDocument/2006/relationships/slide" Target="slides/slide15.xml"/><Relationship Id="rId42" Type="http://schemas.openxmlformats.org/officeDocument/2006/relationships/font" Target="fonts/Montserrat-boldItalic.fntdata"/><Relationship Id="rId41" Type="http://schemas.openxmlformats.org/officeDocument/2006/relationships/font" Target="fonts/Montserrat-bold.fntdata"/><Relationship Id="rId22" Type="http://schemas.openxmlformats.org/officeDocument/2006/relationships/slide" Target="slides/slide17.xml"/><Relationship Id="rId44" Type="http://schemas.openxmlformats.org/officeDocument/2006/relationships/font" Target="fonts/InterMedium-bold.fntdata"/><Relationship Id="rId21" Type="http://schemas.openxmlformats.org/officeDocument/2006/relationships/slide" Target="slides/slide16.xml"/><Relationship Id="rId43" Type="http://schemas.openxmlformats.org/officeDocument/2006/relationships/font" Target="fonts/InterMedium-regular.fntdata"/><Relationship Id="rId24" Type="http://schemas.openxmlformats.org/officeDocument/2006/relationships/slide" Target="slides/slide19.xml"/><Relationship Id="rId46" Type="http://schemas.openxmlformats.org/officeDocument/2006/relationships/font" Target="fonts/InterMedium-boldItalic.fntdata"/><Relationship Id="rId23" Type="http://schemas.openxmlformats.org/officeDocument/2006/relationships/slide" Target="slides/slide18.xml"/><Relationship Id="rId45" Type="http://schemas.openxmlformats.org/officeDocument/2006/relationships/font" Target="fonts/InterMedium-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regular.fntdata"/><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MontserratSemiBold-italic.fntdata"/><Relationship Id="rId10" Type="http://schemas.openxmlformats.org/officeDocument/2006/relationships/slide" Target="slides/slide5.xml"/><Relationship Id="rId32" Type="http://schemas.openxmlformats.org/officeDocument/2006/relationships/font" Target="fonts/MontserratSemiBold-bold.fntdata"/><Relationship Id="rId13" Type="http://schemas.openxmlformats.org/officeDocument/2006/relationships/slide" Target="slides/slide8.xml"/><Relationship Id="rId35" Type="http://schemas.openxmlformats.org/officeDocument/2006/relationships/font" Target="fonts/InterSemiBold-regular.fntdata"/><Relationship Id="rId12" Type="http://schemas.openxmlformats.org/officeDocument/2006/relationships/slide" Target="slides/slide7.xml"/><Relationship Id="rId34" Type="http://schemas.openxmlformats.org/officeDocument/2006/relationships/font" Target="fonts/MontserratSemiBold-boldItalic.fntdata"/><Relationship Id="rId15" Type="http://schemas.openxmlformats.org/officeDocument/2006/relationships/slide" Target="slides/slide10.xml"/><Relationship Id="rId37" Type="http://schemas.openxmlformats.org/officeDocument/2006/relationships/font" Target="fonts/InterSemiBold-italic.fntdata"/><Relationship Id="rId14" Type="http://schemas.openxmlformats.org/officeDocument/2006/relationships/slide" Target="slides/slide9.xml"/><Relationship Id="rId36" Type="http://schemas.openxmlformats.org/officeDocument/2006/relationships/font" Target="fonts/InterSemiBold-bold.fntdata"/><Relationship Id="rId17" Type="http://schemas.openxmlformats.org/officeDocument/2006/relationships/slide" Target="slides/slide12.xml"/><Relationship Id="rId39" Type="http://schemas.openxmlformats.org/officeDocument/2006/relationships/font" Target="fonts/Inter-bold.fntdata"/><Relationship Id="rId16" Type="http://schemas.openxmlformats.org/officeDocument/2006/relationships/slide" Target="slides/slide11.xml"/><Relationship Id="rId38" Type="http://schemas.openxmlformats.org/officeDocument/2006/relationships/font" Target="fonts/InterSemiBold-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1a6d3b30a_3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1a6d3b30a_3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1a6d3b30a_3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1a6d3b30a_3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1a6d3b30a_3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1a6d3b30a_3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f1a6d3b30a_2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f1a6d3b30a_2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f1a6d3b30a_2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f1a6d3b30a_2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f1a6d3b30a_2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f1a6d3b30a_2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f1a6d3b30a_2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33" name="Google Shape;233;g3f1a6d3b30a_2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3f1a6d3b30a_2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3f1a6d3b30a_2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3f1a6d3b30a_2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3f1a6d3b30a_2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3f1a6d3b30a_2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3f1a6d3b30a_2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f1a6d3b30a_2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f1a6d3b30a_2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1a6d3b30a_2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f1a6d3b30a_2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f1a6d3b30a_2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11" name="Google Shape;411;g3f1a6d3b30a_2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2" name="Shape 442"/>
        <p:cNvGrpSpPr/>
        <p:nvPr/>
      </p:nvGrpSpPr>
      <p:grpSpPr>
        <a:xfrm>
          <a:off x="0" y="0"/>
          <a:ext cx="0" cy="0"/>
          <a:chOff x="0" y="0"/>
          <a:chExt cx="0" cy="0"/>
        </a:xfrm>
      </p:grpSpPr>
      <p:sp>
        <p:nvSpPr>
          <p:cNvPr id="443" name="Google Shape;443;g3f1a6d3b30a_1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44" name="Google Shape;444;g3f1a6d3b30a_1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f1a6d3b30a_1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f1a6d3b30a_1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3f1a6d3b30a_17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3f1a6d3b30a_1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f1a6d3b30a_16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3f1a6d3b30a_1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g3f1a6d3b30a_15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47" name="Google Shape;547;g3f1a6d3b30a_1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g3f1a6d3b30a_14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71" name="Google Shape;571;g3f1a6d3b30a_14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g3f1a6d3b30a_13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03" name="Google Shape;603;g3f1a6d3b30a_1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f1a6d3b30a_12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34" name="Google Shape;634;g3f1a6d3b30a_1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g3f1a6d3b30a_1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662" name="Google Shape;662;g3f1a6d3b30a_1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0" name="Shape 700"/>
        <p:cNvGrpSpPr/>
        <p:nvPr/>
      </p:nvGrpSpPr>
      <p:grpSpPr>
        <a:xfrm>
          <a:off x="0" y="0"/>
          <a:ext cx="0" cy="0"/>
          <a:chOff x="0" y="0"/>
          <a:chExt cx="0" cy="0"/>
        </a:xfrm>
      </p:grpSpPr>
      <p:sp>
        <p:nvSpPr>
          <p:cNvPr id="701" name="Google Shape;701;g3f1a6d3b30a_10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02" name="Google Shape;702;g3f1a6d3b30a_1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7" name="Shape 737"/>
        <p:cNvGrpSpPr/>
        <p:nvPr/>
      </p:nvGrpSpPr>
      <p:grpSpPr>
        <a:xfrm>
          <a:off x="0" y="0"/>
          <a:ext cx="0" cy="0"/>
          <a:chOff x="0" y="0"/>
          <a:chExt cx="0" cy="0"/>
        </a:xfrm>
      </p:grpSpPr>
      <p:sp>
        <p:nvSpPr>
          <p:cNvPr id="738" name="Google Shape;738;g3f1a6d3b30a_9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39" name="Google Shape;739;g3f1a6d3b30a_9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f1a6d3b30a_8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770" name="Google Shape;770;g3f1a6d3b30a_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1a6d3b30a_7_0)">
  <p:cSld name="Generated (g3f1a6d3b30a_7_0)">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3"/>
          <p:cNvSpPr txBox="1"/>
          <p:nvPr>
            <p:ph type="ctrTitle"/>
          </p:nvPr>
        </p:nvSpPr>
        <p:spPr>
          <a:xfrm>
            <a:off x="415611" y="992767"/>
            <a:ext cx="11360800" cy="27368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6900"/>
              <a:buNone/>
              <a:defRPr sz="6900"/>
            </a:lvl1pPr>
            <a:lvl2pPr lvl="1" algn="ctr">
              <a:spcBef>
                <a:spcPts val="0"/>
              </a:spcBef>
              <a:spcAft>
                <a:spcPts val="0"/>
              </a:spcAft>
              <a:buSzPts val="6900"/>
              <a:buNone/>
              <a:defRPr sz="6900"/>
            </a:lvl2pPr>
            <a:lvl3pPr lvl="2" algn="ctr">
              <a:spcBef>
                <a:spcPts val="0"/>
              </a:spcBef>
              <a:spcAft>
                <a:spcPts val="0"/>
              </a:spcAft>
              <a:buSzPts val="6900"/>
              <a:buNone/>
              <a:defRPr sz="6900"/>
            </a:lvl3pPr>
            <a:lvl4pPr lvl="3" algn="ctr">
              <a:spcBef>
                <a:spcPts val="0"/>
              </a:spcBef>
              <a:spcAft>
                <a:spcPts val="0"/>
              </a:spcAft>
              <a:buSzPts val="6900"/>
              <a:buNone/>
              <a:defRPr sz="6900"/>
            </a:lvl4pPr>
            <a:lvl5pPr lvl="4" algn="ctr">
              <a:spcBef>
                <a:spcPts val="0"/>
              </a:spcBef>
              <a:spcAft>
                <a:spcPts val="0"/>
              </a:spcAft>
              <a:buSzPts val="6900"/>
              <a:buNone/>
              <a:defRPr sz="6900"/>
            </a:lvl5pPr>
            <a:lvl6pPr lvl="5" algn="ctr">
              <a:spcBef>
                <a:spcPts val="0"/>
              </a:spcBef>
              <a:spcAft>
                <a:spcPts val="0"/>
              </a:spcAft>
              <a:buSzPts val="6900"/>
              <a:buNone/>
              <a:defRPr sz="6900"/>
            </a:lvl6pPr>
            <a:lvl7pPr lvl="6" algn="ctr">
              <a:spcBef>
                <a:spcPts val="0"/>
              </a:spcBef>
              <a:spcAft>
                <a:spcPts val="0"/>
              </a:spcAft>
              <a:buSzPts val="6900"/>
              <a:buNone/>
              <a:defRPr sz="6900"/>
            </a:lvl7pPr>
            <a:lvl8pPr lvl="7" algn="ctr">
              <a:spcBef>
                <a:spcPts val="0"/>
              </a:spcBef>
              <a:spcAft>
                <a:spcPts val="0"/>
              </a:spcAft>
              <a:buSzPts val="6900"/>
              <a:buNone/>
              <a:defRPr sz="6900"/>
            </a:lvl8pPr>
            <a:lvl9pPr lvl="8" algn="ctr">
              <a:spcBef>
                <a:spcPts val="0"/>
              </a:spcBef>
              <a:spcAft>
                <a:spcPts val="0"/>
              </a:spcAft>
              <a:buSzPts val="6900"/>
              <a:buNone/>
              <a:defRPr sz="6900"/>
            </a:lvl9pPr>
          </a:lstStyle>
          <a:p/>
        </p:txBody>
      </p:sp>
      <p:sp>
        <p:nvSpPr>
          <p:cNvPr id="12" name="Google Shape;12;p3"/>
          <p:cNvSpPr txBox="1"/>
          <p:nvPr>
            <p:ph idx="1" type="subTitle"/>
          </p:nvPr>
        </p:nvSpPr>
        <p:spPr>
          <a:xfrm>
            <a:off x="415600" y="3778833"/>
            <a:ext cx="11360800" cy="105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3700"/>
              <a:buNone/>
              <a:defRPr sz="3700"/>
            </a:lvl1pPr>
            <a:lvl2pPr lvl="1" algn="ctr">
              <a:lnSpc>
                <a:spcPct val="100000"/>
              </a:lnSpc>
              <a:spcBef>
                <a:spcPts val="0"/>
              </a:spcBef>
              <a:spcAft>
                <a:spcPts val="0"/>
              </a:spcAft>
              <a:buSzPts val="3700"/>
              <a:buNone/>
              <a:defRPr sz="3700"/>
            </a:lvl2pPr>
            <a:lvl3pPr lvl="2" algn="ctr">
              <a:lnSpc>
                <a:spcPct val="100000"/>
              </a:lnSpc>
              <a:spcBef>
                <a:spcPts val="0"/>
              </a:spcBef>
              <a:spcAft>
                <a:spcPts val="0"/>
              </a:spcAft>
              <a:buSzPts val="3700"/>
              <a:buNone/>
              <a:defRPr sz="3700"/>
            </a:lvl3pPr>
            <a:lvl4pPr lvl="3" algn="ctr">
              <a:lnSpc>
                <a:spcPct val="100000"/>
              </a:lnSpc>
              <a:spcBef>
                <a:spcPts val="0"/>
              </a:spcBef>
              <a:spcAft>
                <a:spcPts val="0"/>
              </a:spcAft>
              <a:buSzPts val="3700"/>
              <a:buNone/>
              <a:defRPr sz="3700"/>
            </a:lvl4pPr>
            <a:lvl5pPr lvl="4" algn="ctr">
              <a:lnSpc>
                <a:spcPct val="100000"/>
              </a:lnSpc>
              <a:spcBef>
                <a:spcPts val="0"/>
              </a:spcBef>
              <a:spcAft>
                <a:spcPts val="0"/>
              </a:spcAft>
              <a:buSzPts val="3700"/>
              <a:buNone/>
              <a:defRPr sz="3700"/>
            </a:lvl5pPr>
            <a:lvl6pPr lvl="5" algn="ctr">
              <a:lnSpc>
                <a:spcPct val="100000"/>
              </a:lnSpc>
              <a:spcBef>
                <a:spcPts val="0"/>
              </a:spcBef>
              <a:spcAft>
                <a:spcPts val="0"/>
              </a:spcAft>
              <a:buSzPts val="3700"/>
              <a:buNone/>
              <a:defRPr sz="3700"/>
            </a:lvl6pPr>
            <a:lvl7pPr lvl="6" algn="ctr">
              <a:lnSpc>
                <a:spcPct val="100000"/>
              </a:lnSpc>
              <a:spcBef>
                <a:spcPts val="0"/>
              </a:spcBef>
              <a:spcAft>
                <a:spcPts val="0"/>
              </a:spcAft>
              <a:buSzPts val="3700"/>
              <a:buNone/>
              <a:defRPr sz="3700"/>
            </a:lvl7pPr>
            <a:lvl8pPr lvl="7" algn="ctr">
              <a:lnSpc>
                <a:spcPct val="100000"/>
              </a:lnSpc>
              <a:spcBef>
                <a:spcPts val="0"/>
              </a:spcBef>
              <a:spcAft>
                <a:spcPts val="0"/>
              </a:spcAft>
              <a:buSzPts val="3700"/>
              <a:buNone/>
              <a:defRPr sz="3700"/>
            </a:lvl8pPr>
            <a:lvl9pPr lvl="8" algn="ctr">
              <a:lnSpc>
                <a:spcPct val="100000"/>
              </a:lnSpc>
              <a:spcBef>
                <a:spcPts val="0"/>
              </a:spcBef>
              <a:spcAft>
                <a:spcPts val="0"/>
              </a:spcAft>
              <a:buSzPts val="3700"/>
              <a:buNone/>
              <a:defRPr sz="3700"/>
            </a:lvl9pPr>
          </a:lstStyle>
          <a:p/>
        </p:txBody>
      </p:sp>
      <p:sp>
        <p:nvSpPr>
          <p:cNvPr id="13" name="Google Shape;13;p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415600" y="2867800"/>
            <a:ext cx="11360800" cy="1122400"/>
          </a:xfrm>
          <a:prstGeom prst="rect">
            <a:avLst/>
          </a:prstGeom>
        </p:spPr>
        <p:txBody>
          <a:bodyPr anchorCtr="0" anchor="ctr" bIns="121900" lIns="121900" spcFirstLastPara="1" rIns="121900" wrap="square" tIns="121900">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4"/>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5"/>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19" name="Google Shape;19;p5"/>
          <p:cNvSpPr txBox="1"/>
          <p:nvPr>
            <p:ph idx="1" type="body"/>
          </p:nvPr>
        </p:nvSpPr>
        <p:spPr>
          <a:xfrm>
            <a:off x="415600" y="1536633"/>
            <a:ext cx="11360800" cy="4555200"/>
          </a:xfrm>
          <a:prstGeom prst="rect">
            <a:avLst/>
          </a:prstGeom>
        </p:spPr>
        <p:txBody>
          <a:bodyPr anchorCtr="0" anchor="t"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20" name="Google Shape;20;p5"/>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6"/>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3" name="Google Shape;23;p6"/>
          <p:cNvSpPr txBox="1"/>
          <p:nvPr>
            <p:ph idx="1" type="body"/>
          </p:nvPr>
        </p:nvSpPr>
        <p:spPr>
          <a:xfrm>
            <a:off x="4156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4" name="Google Shape;24;p6"/>
          <p:cNvSpPr txBox="1"/>
          <p:nvPr>
            <p:ph idx="2" type="body"/>
          </p:nvPr>
        </p:nvSpPr>
        <p:spPr>
          <a:xfrm>
            <a:off x="6443200" y="1536633"/>
            <a:ext cx="5333200" cy="4555200"/>
          </a:xfrm>
          <a:prstGeom prst="rect">
            <a:avLst/>
          </a:prstGeom>
        </p:spPr>
        <p:txBody>
          <a:bodyPr anchorCtr="0" anchor="t" bIns="121900" lIns="121900" spcFirstLastPara="1" rIns="121900" wrap="square" tIns="121900">
            <a:normAutofit/>
          </a:bodyPr>
          <a:lstStyle>
            <a:lvl1pPr indent="-349250" lvl="0" marL="457200">
              <a:spcBef>
                <a:spcPts val="0"/>
              </a:spcBef>
              <a:spcAft>
                <a:spcPts val="0"/>
              </a:spcAft>
              <a:buSzPts val="1900"/>
              <a:buChar char="●"/>
              <a:defRPr sz="19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25" name="Google Shape;25;p6"/>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7"/>
          <p:cNvSpPr txBox="1"/>
          <p:nvPr>
            <p:ph type="title"/>
          </p:nvPr>
        </p:nvSpPr>
        <p:spPr>
          <a:xfrm>
            <a:off x="415600" y="593367"/>
            <a:ext cx="11360800" cy="763600"/>
          </a:xfrm>
          <a:prstGeom prst="rect">
            <a:avLst/>
          </a:prstGeom>
        </p:spPr>
        <p:txBody>
          <a:bodyPr anchorCtr="0" anchor="t" bIns="121900" lIns="121900" spcFirstLastPara="1" rIns="121900" wrap="square" tIns="121900">
            <a:normAutofit/>
          </a:bodyPr>
          <a:lstStyle>
            <a:lvl1pPr lvl="0">
              <a:spcBef>
                <a:spcPts val="0"/>
              </a:spcBef>
              <a:spcAft>
                <a:spcPts val="0"/>
              </a:spcAft>
              <a:buSzPts val="3700"/>
              <a:buNone/>
              <a:defRPr/>
            </a:lvl1pPr>
            <a:lvl2pPr lvl="1">
              <a:spcBef>
                <a:spcPts val="0"/>
              </a:spcBef>
              <a:spcAft>
                <a:spcPts val="0"/>
              </a:spcAft>
              <a:buSzPts val="3700"/>
              <a:buNone/>
              <a:defRPr/>
            </a:lvl2pPr>
            <a:lvl3pPr lvl="2">
              <a:spcBef>
                <a:spcPts val="0"/>
              </a:spcBef>
              <a:spcAft>
                <a:spcPts val="0"/>
              </a:spcAft>
              <a:buSzPts val="3700"/>
              <a:buNone/>
              <a:defRPr/>
            </a:lvl3pPr>
            <a:lvl4pPr lvl="3">
              <a:spcBef>
                <a:spcPts val="0"/>
              </a:spcBef>
              <a:spcAft>
                <a:spcPts val="0"/>
              </a:spcAft>
              <a:buSzPts val="3700"/>
              <a:buNone/>
              <a:defRPr/>
            </a:lvl4pPr>
            <a:lvl5pPr lvl="4">
              <a:spcBef>
                <a:spcPts val="0"/>
              </a:spcBef>
              <a:spcAft>
                <a:spcPts val="0"/>
              </a:spcAft>
              <a:buSzPts val="3700"/>
              <a:buNone/>
              <a:defRPr/>
            </a:lvl5pPr>
            <a:lvl6pPr lvl="5">
              <a:spcBef>
                <a:spcPts val="0"/>
              </a:spcBef>
              <a:spcAft>
                <a:spcPts val="0"/>
              </a:spcAft>
              <a:buSzPts val="3700"/>
              <a:buNone/>
              <a:defRPr/>
            </a:lvl6pPr>
            <a:lvl7pPr lvl="6">
              <a:spcBef>
                <a:spcPts val="0"/>
              </a:spcBef>
              <a:spcAft>
                <a:spcPts val="0"/>
              </a:spcAft>
              <a:buSzPts val="3700"/>
              <a:buNone/>
              <a:defRPr/>
            </a:lvl7pPr>
            <a:lvl8pPr lvl="7">
              <a:spcBef>
                <a:spcPts val="0"/>
              </a:spcBef>
              <a:spcAft>
                <a:spcPts val="0"/>
              </a:spcAft>
              <a:buSzPts val="3700"/>
              <a:buNone/>
              <a:defRPr/>
            </a:lvl8pPr>
            <a:lvl9pPr lvl="8">
              <a:spcBef>
                <a:spcPts val="0"/>
              </a:spcBef>
              <a:spcAft>
                <a:spcPts val="0"/>
              </a:spcAft>
              <a:buSzPts val="3700"/>
              <a:buNone/>
              <a:defRPr/>
            </a:lvl9pPr>
          </a:lstStyle>
          <a:p/>
        </p:txBody>
      </p:sp>
      <p:sp>
        <p:nvSpPr>
          <p:cNvPr id="28" name="Google Shape;28;p7"/>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8"/>
          <p:cNvSpPr txBox="1"/>
          <p:nvPr>
            <p:ph type="title"/>
          </p:nvPr>
        </p:nvSpPr>
        <p:spPr>
          <a:xfrm>
            <a:off x="415600" y="740800"/>
            <a:ext cx="3744000" cy="1007600"/>
          </a:xfrm>
          <a:prstGeom prst="rect">
            <a:avLst/>
          </a:prstGeom>
        </p:spPr>
        <p:txBody>
          <a:bodyPr anchorCtr="0" anchor="b" bIns="121900" lIns="121900" spcFirstLastPara="1" rIns="121900" wrap="square" tIns="121900">
            <a:normAutofit/>
          </a:bodyPr>
          <a:lstStyle>
            <a:lvl1pPr lvl="0">
              <a:spcBef>
                <a:spcPts val="0"/>
              </a:spcBef>
              <a:spcAft>
                <a:spcPts val="0"/>
              </a:spcAft>
              <a:buSzPts val="3200"/>
              <a:buNone/>
              <a:defRPr sz="3200"/>
            </a:lvl1pPr>
            <a:lvl2pPr lvl="1">
              <a:spcBef>
                <a:spcPts val="0"/>
              </a:spcBef>
              <a:spcAft>
                <a:spcPts val="0"/>
              </a:spcAft>
              <a:buSzPts val="3200"/>
              <a:buNone/>
              <a:defRPr sz="3200"/>
            </a:lvl2pPr>
            <a:lvl3pPr lvl="2">
              <a:spcBef>
                <a:spcPts val="0"/>
              </a:spcBef>
              <a:spcAft>
                <a:spcPts val="0"/>
              </a:spcAft>
              <a:buSzPts val="3200"/>
              <a:buNone/>
              <a:defRPr sz="3200"/>
            </a:lvl3pPr>
            <a:lvl4pPr lvl="3">
              <a:spcBef>
                <a:spcPts val="0"/>
              </a:spcBef>
              <a:spcAft>
                <a:spcPts val="0"/>
              </a:spcAft>
              <a:buSzPts val="3200"/>
              <a:buNone/>
              <a:defRPr sz="3200"/>
            </a:lvl4pPr>
            <a:lvl5pPr lvl="4">
              <a:spcBef>
                <a:spcPts val="0"/>
              </a:spcBef>
              <a:spcAft>
                <a:spcPts val="0"/>
              </a:spcAft>
              <a:buSzPts val="3200"/>
              <a:buNone/>
              <a:defRPr sz="3200"/>
            </a:lvl5pPr>
            <a:lvl6pPr lvl="5">
              <a:spcBef>
                <a:spcPts val="0"/>
              </a:spcBef>
              <a:spcAft>
                <a:spcPts val="0"/>
              </a:spcAft>
              <a:buSzPts val="3200"/>
              <a:buNone/>
              <a:defRPr sz="3200"/>
            </a:lvl6pPr>
            <a:lvl7pPr lvl="6">
              <a:spcBef>
                <a:spcPts val="0"/>
              </a:spcBef>
              <a:spcAft>
                <a:spcPts val="0"/>
              </a:spcAft>
              <a:buSzPts val="3200"/>
              <a:buNone/>
              <a:defRPr sz="3200"/>
            </a:lvl7pPr>
            <a:lvl8pPr lvl="7">
              <a:spcBef>
                <a:spcPts val="0"/>
              </a:spcBef>
              <a:spcAft>
                <a:spcPts val="0"/>
              </a:spcAft>
              <a:buSzPts val="3200"/>
              <a:buNone/>
              <a:defRPr sz="3200"/>
            </a:lvl8pPr>
            <a:lvl9pPr lvl="8">
              <a:spcBef>
                <a:spcPts val="0"/>
              </a:spcBef>
              <a:spcAft>
                <a:spcPts val="0"/>
              </a:spcAft>
              <a:buSzPts val="3200"/>
              <a:buNone/>
              <a:defRPr sz="3200"/>
            </a:lvl9pPr>
          </a:lstStyle>
          <a:p/>
        </p:txBody>
      </p:sp>
      <p:sp>
        <p:nvSpPr>
          <p:cNvPr id="31" name="Google Shape;31;p8"/>
          <p:cNvSpPr txBox="1"/>
          <p:nvPr>
            <p:ph idx="1" type="body"/>
          </p:nvPr>
        </p:nvSpPr>
        <p:spPr>
          <a:xfrm>
            <a:off x="415600" y="1852800"/>
            <a:ext cx="3744000" cy="4239200"/>
          </a:xfrm>
          <a:prstGeom prst="rect">
            <a:avLst/>
          </a:prstGeom>
        </p:spPr>
        <p:txBody>
          <a:bodyPr anchorCtr="0" anchor="t" bIns="121900" lIns="121900" spcFirstLastPara="1" rIns="121900" wrap="square" tIns="121900">
            <a:normAutofit/>
          </a:bodyPr>
          <a:lstStyle>
            <a:lvl1pPr indent="-330200" lvl="0" marL="457200">
              <a:spcBef>
                <a:spcPts val="0"/>
              </a:spcBef>
              <a:spcAft>
                <a:spcPts val="0"/>
              </a:spcAft>
              <a:buSzPts val="1600"/>
              <a:buChar char="●"/>
              <a:defRPr sz="1600"/>
            </a:lvl1pPr>
            <a:lvl2pPr indent="-330200" lvl="1" marL="914400">
              <a:spcBef>
                <a:spcPts val="0"/>
              </a:spcBef>
              <a:spcAft>
                <a:spcPts val="0"/>
              </a:spcAft>
              <a:buSzPts val="1600"/>
              <a:buChar char="○"/>
              <a:defRPr sz="1600"/>
            </a:lvl2pPr>
            <a:lvl3pPr indent="-330200" lvl="2" marL="1371600">
              <a:spcBef>
                <a:spcPts val="0"/>
              </a:spcBef>
              <a:spcAft>
                <a:spcPts val="0"/>
              </a:spcAft>
              <a:buSzPts val="1600"/>
              <a:buChar char="■"/>
              <a:defRPr sz="1600"/>
            </a:lvl3pPr>
            <a:lvl4pPr indent="-330200" lvl="3" marL="1828800">
              <a:spcBef>
                <a:spcPts val="0"/>
              </a:spcBef>
              <a:spcAft>
                <a:spcPts val="0"/>
              </a:spcAft>
              <a:buSzPts val="1600"/>
              <a:buChar char="●"/>
              <a:defRPr sz="1600"/>
            </a:lvl4pPr>
            <a:lvl5pPr indent="-330200" lvl="4" marL="2286000">
              <a:spcBef>
                <a:spcPts val="0"/>
              </a:spcBef>
              <a:spcAft>
                <a:spcPts val="0"/>
              </a:spcAft>
              <a:buSzPts val="1600"/>
              <a:buChar char="○"/>
              <a:defRPr sz="1600"/>
            </a:lvl5pPr>
            <a:lvl6pPr indent="-330200" lvl="5" marL="2743200">
              <a:spcBef>
                <a:spcPts val="0"/>
              </a:spcBef>
              <a:spcAft>
                <a:spcPts val="0"/>
              </a:spcAft>
              <a:buSzPts val="1600"/>
              <a:buChar char="■"/>
              <a:defRPr sz="1600"/>
            </a:lvl6pPr>
            <a:lvl7pPr indent="-330200" lvl="6" marL="3200400">
              <a:spcBef>
                <a:spcPts val="0"/>
              </a:spcBef>
              <a:spcAft>
                <a:spcPts val="0"/>
              </a:spcAft>
              <a:buSzPts val="1600"/>
              <a:buChar char="●"/>
              <a:defRPr sz="1600"/>
            </a:lvl7pPr>
            <a:lvl8pPr indent="-330200" lvl="7" marL="3657600">
              <a:spcBef>
                <a:spcPts val="0"/>
              </a:spcBef>
              <a:spcAft>
                <a:spcPts val="0"/>
              </a:spcAft>
              <a:buSzPts val="1600"/>
              <a:buChar char="○"/>
              <a:defRPr sz="1600"/>
            </a:lvl8pPr>
            <a:lvl9pPr indent="-330200" lvl="8" marL="4114800">
              <a:spcBef>
                <a:spcPts val="0"/>
              </a:spcBef>
              <a:spcAft>
                <a:spcPts val="0"/>
              </a:spcAft>
              <a:buSzPts val="1600"/>
              <a:buChar char="■"/>
              <a:defRPr sz="1600"/>
            </a:lvl9pPr>
          </a:lstStyle>
          <a:p/>
        </p:txBody>
      </p:sp>
      <p:sp>
        <p:nvSpPr>
          <p:cNvPr id="32" name="Google Shape;32;p8"/>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9"/>
          <p:cNvSpPr txBox="1"/>
          <p:nvPr>
            <p:ph type="title"/>
          </p:nvPr>
        </p:nvSpPr>
        <p:spPr>
          <a:xfrm>
            <a:off x="653667" y="600200"/>
            <a:ext cx="8490400" cy="5454400"/>
          </a:xfrm>
          <a:prstGeom prst="rect">
            <a:avLst/>
          </a:prstGeom>
        </p:spPr>
        <p:txBody>
          <a:bodyPr anchorCtr="0" anchor="ctr" bIns="121900" lIns="121900" spcFirstLastPara="1" rIns="121900" wrap="square" tIns="121900">
            <a:normAutofit/>
          </a:bodyPr>
          <a:lstStyle>
            <a:lvl1pPr lvl="0">
              <a:spcBef>
                <a:spcPts val="0"/>
              </a:spcBef>
              <a:spcAft>
                <a:spcPts val="0"/>
              </a:spcAft>
              <a:buSzPts val="6400"/>
              <a:buNone/>
              <a:defRPr sz="6400"/>
            </a:lvl1pPr>
            <a:lvl2pPr lvl="1">
              <a:spcBef>
                <a:spcPts val="0"/>
              </a:spcBef>
              <a:spcAft>
                <a:spcPts val="0"/>
              </a:spcAft>
              <a:buSzPts val="6400"/>
              <a:buNone/>
              <a:defRPr sz="6400"/>
            </a:lvl2pPr>
            <a:lvl3pPr lvl="2">
              <a:spcBef>
                <a:spcPts val="0"/>
              </a:spcBef>
              <a:spcAft>
                <a:spcPts val="0"/>
              </a:spcAft>
              <a:buSzPts val="6400"/>
              <a:buNone/>
              <a:defRPr sz="6400"/>
            </a:lvl3pPr>
            <a:lvl4pPr lvl="3">
              <a:spcBef>
                <a:spcPts val="0"/>
              </a:spcBef>
              <a:spcAft>
                <a:spcPts val="0"/>
              </a:spcAft>
              <a:buSzPts val="6400"/>
              <a:buNone/>
              <a:defRPr sz="6400"/>
            </a:lvl4pPr>
            <a:lvl5pPr lvl="4">
              <a:spcBef>
                <a:spcPts val="0"/>
              </a:spcBef>
              <a:spcAft>
                <a:spcPts val="0"/>
              </a:spcAft>
              <a:buSzPts val="6400"/>
              <a:buNone/>
              <a:defRPr sz="6400"/>
            </a:lvl5pPr>
            <a:lvl6pPr lvl="5">
              <a:spcBef>
                <a:spcPts val="0"/>
              </a:spcBef>
              <a:spcAft>
                <a:spcPts val="0"/>
              </a:spcAft>
              <a:buSzPts val="6400"/>
              <a:buNone/>
              <a:defRPr sz="6400"/>
            </a:lvl6pPr>
            <a:lvl7pPr lvl="6">
              <a:spcBef>
                <a:spcPts val="0"/>
              </a:spcBef>
              <a:spcAft>
                <a:spcPts val="0"/>
              </a:spcAft>
              <a:buSzPts val="6400"/>
              <a:buNone/>
              <a:defRPr sz="6400"/>
            </a:lvl7pPr>
            <a:lvl8pPr lvl="7">
              <a:spcBef>
                <a:spcPts val="0"/>
              </a:spcBef>
              <a:spcAft>
                <a:spcPts val="0"/>
              </a:spcAft>
              <a:buSzPts val="6400"/>
              <a:buNone/>
              <a:defRPr sz="6400"/>
            </a:lvl8pPr>
            <a:lvl9pPr lvl="8">
              <a:spcBef>
                <a:spcPts val="0"/>
              </a:spcBef>
              <a:spcAft>
                <a:spcPts val="0"/>
              </a:spcAft>
              <a:buSzPts val="6400"/>
              <a:buNone/>
              <a:defRPr sz="6400"/>
            </a:lvl9pPr>
          </a:lstStyle>
          <a:p/>
        </p:txBody>
      </p:sp>
      <p:sp>
        <p:nvSpPr>
          <p:cNvPr id="35" name="Google Shape;35;p9"/>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10"/>
          <p:cNvSpPr/>
          <p:nvPr/>
        </p:nvSpPr>
        <p:spPr>
          <a:xfrm>
            <a:off x="6096000" y="-167"/>
            <a:ext cx="6096000" cy="6858000"/>
          </a:xfrm>
          <a:prstGeom prst="rect">
            <a:avLst/>
          </a:prstGeom>
          <a:solidFill>
            <a:schemeClr val="lt2"/>
          </a:solidFill>
          <a:ln>
            <a:noFill/>
          </a:ln>
        </p:spPr>
        <p:txBody>
          <a:bodyPr anchorCtr="0" anchor="ctr" bIns="121900" lIns="121900" spcFirstLastPara="1" rIns="121900" wrap="square" tIns="121900">
            <a:noAutofit/>
          </a:bodyPr>
          <a:lstStyle/>
          <a:p>
            <a:pPr indent="0" lvl="0" marL="0" rtl="0" algn="l">
              <a:spcBef>
                <a:spcPts val="0"/>
              </a:spcBef>
              <a:spcAft>
                <a:spcPts val="0"/>
              </a:spcAft>
              <a:buNone/>
            </a:pPr>
            <a:r>
              <a:t/>
            </a:r>
            <a:endParaRPr/>
          </a:p>
        </p:txBody>
      </p:sp>
      <p:sp>
        <p:nvSpPr>
          <p:cNvPr id="38" name="Google Shape;38;p10"/>
          <p:cNvSpPr txBox="1"/>
          <p:nvPr>
            <p:ph type="title"/>
          </p:nvPr>
        </p:nvSpPr>
        <p:spPr>
          <a:xfrm>
            <a:off x="354000" y="1644233"/>
            <a:ext cx="5393600" cy="19764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5600"/>
              <a:buNone/>
              <a:defRPr sz="5600"/>
            </a:lvl1pPr>
            <a:lvl2pPr lvl="1" algn="ctr">
              <a:spcBef>
                <a:spcPts val="0"/>
              </a:spcBef>
              <a:spcAft>
                <a:spcPts val="0"/>
              </a:spcAft>
              <a:buSzPts val="5600"/>
              <a:buNone/>
              <a:defRPr sz="5600"/>
            </a:lvl2pPr>
            <a:lvl3pPr lvl="2" algn="ctr">
              <a:spcBef>
                <a:spcPts val="0"/>
              </a:spcBef>
              <a:spcAft>
                <a:spcPts val="0"/>
              </a:spcAft>
              <a:buSzPts val="5600"/>
              <a:buNone/>
              <a:defRPr sz="5600"/>
            </a:lvl3pPr>
            <a:lvl4pPr lvl="3" algn="ctr">
              <a:spcBef>
                <a:spcPts val="0"/>
              </a:spcBef>
              <a:spcAft>
                <a:spcPts val="0"/>
              </a:spcAft>
              <a:buSzPts val="5600"/>
              <a:buNone/>
              <a:defRPr sz="5600"/>
            </a:lvl4pPr>
            <a:lvl5pPr lvl="4" algn="ctr">
              <a:spcBef>
                <a:spcPts val="0"/>
              </a:spcBef>
              <a:spcAft>
                <a:spcPts val="0"/>
              </a:spcAft>
              <a:buSzPts val="5600"/>
              <a:buNone/>
              <a:defRPr sz="5600"/>
            </a:lvl5pPr>
            <a:lvl6pPr lvl="5" algn="ctr">
              <a:spcBef>
                <a:spcPts val="0"/>
              </a:spcBef>
              <a:spcAft>
                <a:spcPts val="0"/>
              </a:spcAft>
              <a:buSzPts val="5600"/>
              <a:buNone/>
              <a:defRPr sz="5600"/>
            </a:lvl6pPr>
            <a:lvl7pPr lvl="6" algn="ctr">
              <a:spcBef>
                <a:spcPts val="0"/>
              </a:spcBef>
              <a:spcAft>
                <a:spcPts val="0"/>
              </a:spcAft>
              <a:buSzPts val="5600"/>
              <a:buNone/>
              <a:defRPr sz="5600"/>
            </a:lvl7pPr>
            <a:lvl8pPr lvl="7" algn="ctr">
              <a:spcBef>
                <a:spcPts val="0"/>
              </a:spcBef>
              <a:spcAft>
                <a:spcPts val="0"/>
              </a:spcAft>
              <a:buSzPts val="5600"/>
              <a:buNone/>
              <a:defRPr sz="5600"/>
            </a:lvl8pPr>
            <a:lvl9pPr lvl="8" algn="ctr">
              <a:spcBef>
                <a:spcPts val="0"/>
              </a:spcBef>
              <a:spcAft>
                <a:spcPts val="0"/>
              </a:spcAft>
              <a:buSzPts val="5600"/>
              <a:buNone/>
              <a:defRPr sz="5600"/>
            </a:lvl9pPr>
          </a:lstStyle>
          <a:p/>
        </p:txBody>
      </p:sp>
      <p:sp>
        <p:nvSpPr>
          <p:cNvPr id="39" name="Google Shape;39;p10"/>
          <p:cNvSpPr txBox="1"/>
          <p:nvPr>
            <p:ph idx="1" type="subTitle"/>
          </p:nvPr>
        </p:nvSpPr>
        <p:spPr>
          <a:xfrm>
            <a:off x="354000" y="3737433"/>
            <a:ext cx="5393600" cy="1646800"/>
          </a:xfrm>
          <a:prstGeom prst="rect">
            <a:avLst/>
          </a:prstGeom>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40" name="Google Shape;40;p10"/>
          <p:cNvSpPr txBox="1"/>
          <p:nvPr>
            <p:ph idx="2" type="body"/>
          </p:nvPr>
        </p:nvSpPr>
        <p:spPr>
          <a:xfrm>
            <a:off x="6586000" y="965433"/>
            <a:ext cx="5116000" cy="4926800"/>
          </a:xfrm>
          <a:prstGeom prst="rect">
            <a:avLst/>
          </a:prstGeom>
        </p:spPr>
        <p:txBody>
          <a:bodyPr anchorCtr="0" anchor="ctr" bIns="121900" lIns="121900" spcFirstLastPara="1" rIns="121900" wrap="square" tIns="121900">
            <a:normAutofit/>
          </a:bodyPr>
          <a:lstStyle>
            <a:lvl1pPr indent="-381000" lvl="0" marL="457200">
              <a:spcBef>
                <a:spcPts val="0"/>
              </a:spcBef>
              <a:spcAft>
                <a:spcPts val="0"/>
              </a:spcAft>
              <a:buSzPts val="2400"/>
              <a:buChar char="●"/>
              <a:defRPr/>
            </a:lvl1pPr>
            <a:lvl2pPr indent="-349250" lvl="1" marL="914400">
              <a:spcBef>
                <a:spcPts val="0"/>
              </a:spcBef>
              <a:spcAft>
                <a:spcPts val="0"/>
              </a:spcAft>
              <a:buSzPts val="1900"/>
              <a:buChar char="○"/>
              <a:defRPr/>
            </a:lvl2pPr>
            <a:lvl3pPr indent="-349250" lvl="2" marL="1371600">
              <a:spcBef>
                <a:spcPts val="0"/>
              </a:spcBef>
              <a:spcAft>
                <a:spcPts val="0"/>
              </a:spcAft>
              <a:buSzPts val="1900"/>
              <a:buChar char="■"/>
              <a:defRPr/>
            </a:lvl3pPr>
            <a:lvl4pPr indent="-349250" lvl="3" marL="1828800">
              <a:spcBef>
                <a:spcPts val="0"/>
              </a:spcBef>
              <a:spcAft>
                <a:spcPts val="0"/>
              </a:spcAft>
              <a:buSzPts val="1900"/>
              <a:buChar char="●"/>
              <a:defRPr/>
            </a:lvl4pPr>
            <a:lvl5pPr indent="-349250" lvl="4" marL="2286000">
              <a:spcBef>
                <a:spcPts val="0"/>
              </a:spcBef>
              <a:spcAft>
                <a:spcPts val="0"/>
              </a:spcAft>
              <a:buSzPts val="1900"/>
              <a:buChar char="○"/>
              <a:defRPr/>
            </a:lvl5pPr>
            <a:lvl6pPr indent="-349250" lvl="5" marL="2743200">
              <a:spcBef>
                <a:spcPts val="0"/>
              </a:spcBef>
              <a:spcAft>
                <a:spcPts val="0"/>
              </a:spcAft>
              <a:buSzPts val="1900"/>
              <a:buChar char="■"/>
              <a:defRPr/>
            </a:lvl6pPr>
            <a:lvl7pPr indent="-349250" lvl="6" marL="3200400">
              <a:spcBef>
                <a:spcPts val="0"/>
              </a:spcBef>
              <a:spcAft>
                <a:spcPts val="0"/>
              </a:spcAft>
              <a:buSzPts val="1900"/>
              <a:buChar char="●"/>
              <a:defRPr/>
            </a:lvl7pPr>
            <a:lvl8pPr indent="-349250" lvl="7" marL="3657600">
              <a:spcBef>
                <a:spcPts val="0"/>
              </a:spcBef>
              <a:spcAft>
                <a:spcPts val="0"/>
              </a:spcAft>
              <a:buSzPts val="1900"/>
              <a:buChar char="○"/>
              <a:defRPr/>
            </a:lvl8pPr>
            <a:lvl9pPr indent="-349250" lvl="8" marL="4114800">
              <a:spcBef>
                <a:spcPts val="0"/>
              </a:spcBef>
              <a:spcAft>
                <a:spcPts val="0"/>
              </a:spcAft>
              <a:buSzPts val="1900"/>
              <a:buChar char="■"/>
              <a:defRPr/>
            </a:lvl9pPr>
          </a:lstStyle>
          <a:p/>
        </p:txBody>
      </p:sp>
      <p:sp>
        <p:nvSpPr>
          <p:cNvPr id="41" name="Google Shape;41;p10"/>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1"/>
          <p:cNvSpPr txBox="1"/>
          <p:nvPr>
            <p:ph idx="1" type="body"/>
          </p:nvPr>
        </p:nvSpPr>
        <p:spPr>
          <a:xfrm>
            <a:off x="415600" y="5640767"/>
            <a:ext cx="7998400" cy="806800"/>
          </a:xfrm>
          <a:prstGeom prst="rect">
            <a:avLst/>
          </a:prstGeom>
        </p:spPr>
        <p:txBody>
          <a:bodyPr anchorCtr="0" anchor="ctr" bIns="121900" lIns="121900" spcFirstLastPara="1" rIns="121900" wrap="square" tIns="121900">
            <a:normAutofit/>
          </a:bodyPr>
          <a:lstStyle>
            <a:lvl1pPr indent="-228600" lvl="0" marL="457200">
              <a:lnSpc>
                <a:spcPct val="100000"/>
              </a:lnSpc>
              <a:spcBef>
                <a:spcPts val="0"/>
              </a:spcBef>
              <a:spcAft>
                <a:spcPts val="0"/>
              </a:spcAft>
              <a:buSzPts val="2400"/>
              <a:buNone/>
              <a:defRPr/>
            </a:lvl1pPr>
          </a:lstStyle>
          <a:p/>
        </p:txBody>
      </p:sp>
      <p:sp>
        <p:nvSpPr>
          <p:cNvPr id="44" name="Google Shape;44;p11"/>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2"/>
          <p:cNvSpPr txBox="1"/>
          <p:nvPr>
            <p:ph hasCustomPrompt="1" type="title"/>
          </p:nvPr>
        </p:nvSpPr>
        <p:spPr>
          <a:xfrm>
            <a:off x="415600" y="1474833"/>
            <a:ext cx="11360800" cy="2618000"/>
          </a:xfrm>
          <a:prstGeom prst="rect">
            <a:avLst/>
          </a:prstGeom>
        </p:spPr>
        <p:txBody>
          <a:bodyPr anchorCtr="0" anchor="b" bIns="121900" lIns="121900" spcFirstLastPara="1" rIns="121900" wrap="square" tIns="121900">
            <a:normAutofit/>
          </a:bodyPr>
          <a:lstStyle>
            <a:lvl1pPr lvl="0" algn="ctr">
              <a:spcBef>
                <a:spcPts val="0"/>
              </a:spcBef>
              <a:spcAft>
                <a:spcPts val="0"/>
              </a:spcAft>
              <a:buSzPts val="16000"/>
              <a:buNone/>
              <a:defRPr sz="16000"/>
            </a:lvl1pPr>
            <a:lvl2pPr lvl="1" algn="ctr">
              <a:spcBef>
                <a:spcPts val="0"/>
              </a:spcBef>
              <a:spcAft>
                <a:spcPts val="0"/>
              </a:spcAft>
              <a:buSzPts val="16000"/>
              <a:buNone/>
              <a:defRPr sz="16000"/>
            </a:lvl2pPr>
            <a:lvl3pPr lvl="2" algn="ctr">
              <a:spcBef>
                <a:spcPts val="0"/>
              </a:spcBef>
              <a:spcAft>
                <a:spcPts val="0"/>
              </a:spcAft>
              <a:buSzPts val="16000"/>
              <a:buNone/>
              <a:defRPr sz="16000"/>
            </a:lvl3pPr>
            <a:lvl4pPr lvl="3" algn="ctr">
              <a:spcBef>
                <a:spcPts val="0"/>
              </a:spcBef>
              <a:spcAft>
                <a:spcPts val="0"/>
              </a:spcAft>
              <a:buSzPts val="16000"/>
              <a:buNone/>
              <a:defRPr sz="16000"/>
            </a:lvl4pPr>
            <a:lvl5pPr lvl="4" algn="ctr">
              <a:spcBef>
                <a:spcPts val="0"/>
              </a:spcBef>
              <a:spcAft>
                <a:spcPts val="0"/>
              </a:spcAft>
              <a:buSzPts val="16000"/>
              <a:buNone/>
              <a:defRPr sz="16000"/>
            </a:lvl5pPr>
            <a:lvl6pPr lvl="5" algn="ctr">
              <a:spcBef>
                <a:spcPts val="0"/>
              </a:spcBef>
              <a:spcAft>
                <a:spcPts val="0"/>
              </a:spcAft>
              <a:buSzPts val="16000"/>
              <a:buNone/>
              <a:defRPr sz="16000"/>
            </a:lvl6pPr>
            <a:lvl7pPr lvl="6" algn="ctr">
              <a:spcBef>
                <a:spcPts val="0"/>
              </a:spcBef>
              <a:spcAft>
                <a:spcPts val="0"/>
              </a:spcAft>
              <a:buSzPts val="16000"/>
              <a:buNone/>
              <a:defRPr sz="16000"/>
            </a:lvl7pPr>
            <a:lvl8pPr lvl="7" algn="ctr">
              <a:spcBef>
                <a:spcPts val="0"/>
              </a:spcBef>
              <a:spcAft>
                <a:spcPts val="0"/>
              </a:spcAft>
              <a:buSzPts val="16000"/>
              <a:buNone/>
              <a:defRPr sz="16000"/>
            </a:lvl8pPr>
            <a:lvl9pPr lvl="8" algn="ctr">
              <a:spcBef>
                <a:spcPts val="0"/>
              </a:spcBef>
              <a:spcAft>
                <a:spcPts val="0"/>
              </a:spcAft>
              <a:buSzPts val="16000"/>
              <a:buNone/>
              <a:defRPr sz="16000"/>
            </a:lvl9pPr>
          </a:lstStyle>
          <a:p>
            <a:r>
              <a:t>xx%</a:t>
            </a:r>
          </a:p>
        </p:txBody>
      </p:sp>
      <p:sp>
        <p:nvSpPr>
          <p:cNvPr id="47" name="Google Shape;47;p12"/>
          <p:cNvSpPr txBox="1"/>
          <p:nvPr>
            <p:ph idx="1" type="body"/>
          </p:nvPr>
        </p:nvSpPr>
        <p:spPr>
          <a:xfrm>
            <a:off x="415600" y="4202967"/>
            <a:ext cx="11360800" cy="1734400"/>
          </a:xfrm>
          <a:prstGeom prst="rect">
            <a:avLst/>
          </a:prstGeom>
        </p:spPr>
        <p:txBody>
          <a:bodyPr anchorCtr="0" anchor="t" bIns="121900" lIns="121900" spcFirstLastPara="1" rIns="121900" wrap="square" tIns="121900">
            <a:normAutofit/>
          </a:bodyPr>
          <a:lstStyle>
            <a:lvl1pPr indent="-381000" lvl="0" marL="457200" algn="ctr">
              <a:spcBef>
                <a:spcPts val="0"/>
              </a:spcBef>
              <a:spcAft>
                <a:spcPts val="0"/>
              </a:spcAft>
              <a:buSzPts val="2400"/>
              <a:buChar char="●"/>
              <a:defRPr/>
            </a:lvl1pPr>
            <a:lvl2pPr indent="-349250" lvl="1" marL="914400" algn="ctr">
              <a:spcBef>
                <a:spcPts val="0"/>
              </a:spcBef>
              <a:spcAft>
                <a:spcPts val="0"/>
              </a:spcAft>
              <a:buSzPts val="1900"/>
              <a:buChar char="○"/>
              <a:defRPr/>
            </a:lvl2pPr>
            <a:lvl3pPr indent="-349250" lvl="2" marL="1371600" algn="ctr">
              <a:spcBef>
                <a:spcPts val="0"/>
              </a:spcBef>
              <a:spcAft>
                <a:spcPts val="0"/>
              </a:spcAft>
              <a:buSzPts val="1900"/>
              <a:buChar char="■"/>
              <a:defRPr/>
            </a:lvl3pPr>
            <a:lvl4pPr indent="-349250" lvl="3" marL="1828800" algn="ctr">
              <a:spcBef>
                <a:spcPts val="0"/>
              </a:spcBef>
              <a:spcAft>
                <a:spcPts val="0"/>
              </a:spcAft>
              <a:buSzPts val="1900"/>
              <a:buChar char="●"/>
              <a:defRPr/>
            </a:lvl4pPr>
            <a:lvl5pPr indent="-349250" lvl="4" marL="2286000" algn="ctr">
              <a:spcBef>
                <a:spcPts val="0"/>
              </a:spcBef>
              <a:spcAft>
                <a:spcPts val="0"/>
              </a:spcAft>
              <a:buSzPts val="1900"/>
              <a:buChar char="○"/>
              <a:defRPr/>
            </a:lvl5pPr>
            <a:lvl6pPr indent="-349250" lvl="5" marL="2743200" algn="ctr">
              <a:spcBef>
                <a:spcPts val="0"/>
              </a:spcBef>
              <a:spcAft>
                <a:spcPts val="0"/>
              </a:spcAft>
              <a:buSzPts val="1900"/>
              <a:buChar char="■"/>
              <a:defRPr/>
            </a:lvl6pPr>
            <a:lvl7pPr indent="-349250" lvl="6" marL="3200400" algn="ctr">
              <a:spcBef>
                <a:spcPts val="0"/>
              </a:spcBef>
              <a:spcAft>
                <a:spcPts val="0"/>
              </a:spcAft>
              <a:buSzPts val="1900"/>
              <a:buChar char="●"/>
              <a:defRPr/>
            </a:lvl7pPr>
            <a:lvl8pPr indent="-349250" lvl="7" marL="3657600" algn="ctr">
              <a:spcBef>
                <a:spcPts val="0"/>
              </a:spcBef>
              <a:spcAft>
                <a:spcPts val="0"/>
              </a:spcAft>
              <a:buSzPts val="1900"/>
              <a:buChar char="○"/>
              <a:defRPr/>
            </a:lvl8pPr>
            <a:lvl9pPr indent="-349250" lvl="8" marL="4114800" algn="ctr">
              <a:spcBef>
                <a:spcPts val="0"/>
              </a:spcBef>
              <a:spcAft>
                <a:spcPts val="0"/>
              </a:spcAft>
              <a:buSzPts val="1900"/>
              <a:buChar char="■"/>
              <a:defRPr/>
            </a:lvl9pPr>
          </a:lstStyle>
          <a:p/>
        </p:txBody>
      </p:sp>
      <p:sp>
        <p:nvSpPr>
          <p:cNvPr id="48" name="Google Shape;48;p12"/>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3"/>
          <p:cNvSpPr txBox="1"/>
          <p:nvPr>
            <p:ph idx="12" type="sldNum"/>
          </p:nvPr>
        </p:nvSpPr>
        <p:spPr>
          <a:xfrm>
            <a:off x="11296610" y="6217622"/>
            <a:ext cx="731600" cy="524800"/>
          </a:xfrm>
          <a:prstGeom prst="rect">
            <a:avLst/>
          </a:prstGeom>
        </p:spPr>
        <p:txBody>
          <a:bodyPr anchorCtr="0" anchor="ctr" bIns="121900" lIns="121900" spcFirstLastPara="1" rIns="121900" wrap="square" tIns="12190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15600" y="593367"/>
            <a:ext cx="11360800" cy="763600"/>
          </a:xfrm>
          <a:prstGeom prst="rect">
            <a:avLst/>
          </a:prstGeom>
          <a:noFill/>
          <a:ln>
            <a:noFill/>
          </a:ln>
        </p:spPr>
        <p:txBody>
          <a:bodyPr anchorCtr="0" anchor="t" bIns="121900" lIns="121900" spcFirstLastPara="1" rIns="121900" wrap="square" tIns="121900">
            <a:normAutofit/>
          </a:bodyPr>
          <a:lstStyle>
            <a:lvl1pPr lvl="0">
              <a:spcBef>
                <a:spcPts val="0"/>
              </a:spcBef>
              <a:spcAft>
                <a:spcPts val="0"/>
              </a:spcAft>
              <a:buClr>
                <a:schemeClr val="dk1"/>
              </a:buClr>
              <a:buSzPts val="3700"/>
              <a:buNone/>
              <a:defRPr sz="3700">
                <a:solidFill>
                  <a:schemeClr val="dk1"/>
                </a:solidFill>
              </a:defRPr>
            </a:lvl1pPr>
            <a:lvl2pPr lvl="1">
              <a:spcBef>
                <a:spcPts val="0"/>
              </a:spcBef>
              <a:spcAft>
                <a:spcPts val="0"/>
              </a:spcAft>
              <a:buClr>
                <a:schemeClr val="dk1"/>
              </a:buClr>
              <a:buSzPts val="3700"/>
              <a:buNone/>
              <a:defRPr sz="3700">
                <a:solidFill>
                  <a:schemeClr val="dk1"/>
                </a:solidFill>
              </a:defRPr>
            </a:lvl2pPr>
            <a:lvl3pPr lvl="2">
              <a:spcBef>
                <a:spcPts val="0"/>
              </a:spcBef>
              <a:spcAft>
                <a:spcPts val="0"/>
              </a:spcAft>
              <a:buClr>
                <a:schemeClr val="dk1"/>
              </a:buClr>
              <a:buSzPts val="3700"/>
              <a:buNone/>
              <a:defRPr sz="3700">
                <a:solidFill>
                  <a:schemeClr val="dk1"/>
                </a:solidFill>
              </a:defRPr>
            </a:lvl3pPr>
            <a:lvl4pPr lvl="3">
              <a:spcBef>
                <a:spcPts val="0"/>
              </a:spcBef>
              <a:spcAft>
                <a:spcPts val="0"/>
              </a:spcAft>
              <a:buClr>
                <a:schemeClr val="dk1"/>
              </a:buClr>
              <a:buSzPts val="3700"/>
              <a:buNone/>
              <a:defRPr sz="3700">
                <a:solidFill>
                  <a:schemeClr val="dk1"/>
                </a:solidFill>
              </a:defRPr>
            </a:lvl4pPr>
            <a:lvl5pPr lvl="4">
              <a:spcBef>
                <a:spcPts val="0"/>
              </a:spcBef>
              <a:spcAft>
                <a:spcPts val="0"/>
              </a:spcAft>
              <a:buClr>
                <a:schemeClr val="dk1"/>
              </a:buClr>
              <a:buSzPts val="3700"/>
              <a:buNone/>
              <a:defRPr sz="3700">
                <a:solidFill>
                  <a:schemeClr val="dk1"/>
                </a:solidFill>
              </a:defRPr>
            </a:lvl5pPr>
            <a:lvl6pPr lvl="5">
              <a:spcBef>
                <a:spcPts val="0"/>
              </a:spcBef>
              <a:spcAft>
                <a:spcPts val="0"/>
              </a:spcAft>
              <a:buClr>
                <a:schemeClr val="dk1"/>
              </a:buClr>
              <a:buSzPts val="3700"/>
              <a:buNone/>
              <a:defRPr sz="3700">
                <a:solidFill>
                  <a:schemeClr val="dk1"/>
                </a:solidFill>
              </a:defRPr>
            </a:lvl6pPr>
            <a:lvl7pPr lvl="6">
              <a:spcBef>
                <a:spcPts val="0"/>
              </a:spcBef>
              <a:spcAft>
                <a:spcPts val="0"/>
              </a:spcAft>
              <a:buClr>
                <a:schemeClr val="dk1"/>
              </a:buClr>
              <a:buSzPts val="3700"/>
              <a:buNone/>
              <a:defRPr sz="3700">
                <a:solidFill>
                  <a:schemeClr val="dk1"/>
                </a:solidFill>
              </a:defRPr>
            </a:lvl7pPr>
            <a:lvl8pPr lvl="7">
              <a:spcBef>
                <a:spcPts val="0"/>
              </a:spcBef>
              <a:spcAft>
                <a:spcPts val="0"/>
              </a:spcAft>
              <a:buClr>
                <a:schemeClr val="dk1"/>
              </a:buClr>
              <a:buSzPts val="3700"/>
              <a:buNone/>
              <a:defRPr sz="3700">
                <a:solidFill>
                  <a:schemeClr val="dk1"/>
                </a:solidFill>
              </a:defRPr>
            </a:lvl8pPr>
            <a:lvl9pPr lvl="8">
              <a:spcBef>
                <a:spcPts val="0"/>
              </a:spcBef>
              <a:spcAft>
                <a:spcPts val="0"/>
              </a:spcAft>
              <a:buClr>
                <a:schemeClr val="dk1"/>
              </a:buClr>
              <a:buSzPts val="3700"/>
              <a:buNone/>
              <a:defRPr sz="3700">
                <a:solidFill>
                  <a:schemeClr val="dk1"/>
                </a:solidFill>
              </a:defRPr>
            </a:lvl9pPr>
          </a:lstStyle>
          <a:p/>
        </p:txBody>
      </p:sp>
      <p:sp>
        <p:nvSpPr>
          <p:cNvPr id="7" name="Google Shape;7;p1"/>
          <p:cNvSpPr txBox="1"/>
          <p:nvPr>
            <p:ph idx="1" type="body"/>
          </p:nvPr>
        </p:nvSpPr>
        <p:spPr>
          <a:xfrm>
            <a:off x="415600" y="1536633"/>
            <a:ext cx="11360800" cy="4555200"/>
          </a:xfrm>
          <a:prstGeom prst="rect">
            <a:avLst/>
          </a:prstGeom>
          <a:noFill/>
          <a:ln>
            <a:noFill/>
          </a:ln>
        </p:spPr>
        <p:txBody>
          <a:bodyPr anchorCtr="0" anchor="t" bIns="121900" lIns="121900" spcFirstLastPara="1" rIns="121900" wrap="square" tIns="121900">
            <a:normAutofit/>
          </a:bodyPr>
          <a:lstStyle>
            <a:lvl1pPr indent="-381000" lvl="0" marL="457200">
              <a:lnSpc>
                <a:spcPct val="115000"/>
              </a:lnSpc>
              <a:spcBef>
                <a:spcPts val="0"/>
              </a:spcBef>
              <a:spcAft>
                <a:spcPts val="0"/>
              </a:spcAft>
              <a:buClr>
                <a:schemeClr val="dk2"/>
              </a:buClr>
              <a:buSzPts val="2400"/>
              <a:buChar char="●"/>
              <a:defRPr sz="2400">
                <a:solidFill>
                  <a:schemeClr val="dk2"/>
                </a:solidFill>
              </a:defRPr>
            </a:lvl1pPr>
            <a:lvl2pPr indent="-349250" lvl="1" marL="914400">
              <a:lnSpc>
                <a:spcPct val="115000"/>
              </a:lnSpc>
              <a:spcBef>
                <a:spcPts val="0"/>
              </a:spcBef>
              <a:spcAft>
                <a:spcPts val="0"/>
              </a:spcAft>
              <a:buClr>
                <a:schemeClr val="dk2"/>
              </a:buClr>
              <a:buSzPts val="1900"/>
              <a:buChar char="○"/>
              <a:defRPr sz="1900">
                <a:solidFill>
                  <a:schemeClr val="dk2"/>
                </a:solidFill>
              </a:defRPr>
            </a:lvl2pPr>
            <a:lvl3pPr indent="-349250" lvl="2" marL="1371600">
              <a:lnSpc>
                <a:spcPct val="115000"/>
              </a:lnSpc>
              <a:spcBef>
                <a:spcPts val="0"/>
              </a:spcBef>
              <a:spcAft>
                <a:spcPts val="0"/>
              </a:spcAft>
              <a:buClr>
                <a:schemeClr val="dk2"/>
              </a:buClr>
              <a:buSzPts val="1900"/>
              <a:buChar char="■"/>
              <a:defRPr sz="1900">
                <a:solidFill>
                  <a:schemeClr val="dk2"/>
                </a:solidFill>
              </a:defRPr>
            </a:lvl3pPr>
            <a:lvl4pPr indent="-349250" lvl="3" marL="1828800">
              <a:lnSpc>
                <a:spcPct val="115000"/>
              </a:lnSpc>
              <a:spcBef>
                <a:spcPts val="0"/>
              </a:spcBef>
              <a:spcAft>
                <a:spcPts val="0"/>
              </a:spcAft>
              <a:buClr>
                <a:schemeClr val="dk2"/>
              </a:buClr>
              <a:buSzPts val="1900"/>
              <a:buChar char="●"/>
              <a:defRPr sz="1900">
                <a:solidFill>
                  <a:schemeClr val="dk2"/>
                </a:solidFill>
              </a:defRPr>
            </a:lvl4pPr>
            <a:lvl5pPr indent="-349250" lvl="4" marL="2286000">
              <a:lnSpc>
                <a:spcPct val="115000"/>
              </a:lnSpc>
              <a:spcBef>
                <a:spcPts val="0"/>
              </a:spcBef>
              <a:spcAft>
                <a:spcPts val="0"/>
              </a:spcAft>
              <a:buClr>
                <a:schemeClr val="dk2"/>
              </a:buClr>
              <a:buSzPts val="1900"/>
              <a:buChar char="○"/>
              <a:defRPr sz="1900">
                <a:solidFill>
                  <a:schemeClr val="dk2"/>
                </a:solidFill>
              </a:defRPr>
            </a:lvl5pPr>
            <a:lvl6pPr indent="-349250" lvl="5" marL="2743200">
              <a:lnSpc>
                <a:spcPct val="115000"/>
              </a:lnSpc>
              <a:spcBef>
                <a:spcPts val="0"/>
              </a:spcBef>
              <a:spcAft>
                <a:spcPts val="0"/>
              </a:spcAft>
              <a:buClr>
                <a:schemeClr val="dk2"/>
              </a:buClr>
              <a:buSzPts val="1900"/>
              <a:buChar char="■"/>
              <a:defRPr sz="1900">
                <a:solidFill>
                  <a:schemeClr val="dk2"/>
                </a:solidFill>
              </a:defRPr>
            </a:lvl6pPr>
            <a:lvl7pPr indent="-349250" lvl="6" marL="3200400">
              <a:lnSpc>
                <a:spcPct val="115000"/>
              </a:lnSpc>
              <a:spcBef>
                <a:spcPts val="0"/>
              </a:spcBef>
              <a:spcAft>
                <a:spcPts val="0"/>
              </a:spcAft>
              <a:buClr>
                <a:schemeClr val="dk2"/>
              </a:buClr>
              <a:buSzPts val="1900"/>
              <a:buChar char="●"/>
              <a:defRPr sz="1900">
                <a:solidFill>
                  <a:schemeClr val="dk2"/>
                </a:solidFill>
              </a:defRPr>
            </a:lvl7pPr>
            <a:lvl8pPr indent="-349250" lvl="7" marL="3657600">
              <a:lnSpc>
                <a:spcPct val="115000"/>
              </a:lnSpc>
              <a:spcBef>
                <a:spcPts val="0"/>
              </a:spcBef>
              <a:spcAft>
                <a:spcPts val="0"/>
              </a:spcAft>
              <a:buClr>
                <a:schemeClr val="dk2"/>
              </a:buClr>
              <a:buSzPts val="1900"/>
              <a:buChar char="○"/>
              <a:defRPr sz="1900">
                <a:solidFill>
                  <a:schemeClr val="dk2"/>
                </a:solidFill>
              </a:defRPr>
            </a:lvl8pPr>
            <a:lvl9pPr indent="-349250" lvl="8" marL="4114800">
              <a:lnSpc>
                <a:spcPct val="115000"/>
              </a:lnSpc>
              <a:spcBef>
                <a:spcPts val="0"/>
              </a:spcBef>
              <a:spcAft>
                <a:spcPts val="0"/>
              </a:spcAft>
              <a:buClr>
                <a:schemeClr val="dk2"/>
              </a:buClr>
              <a:buSzPts val="1900"/>
              <a:buChar char="■"/>
              <a:defRPr sz="1900">
                <a:solidFill>
                  <a:schemeClr val="dk2"/>
                </a:solidFill>
              </a:defRPr>
            </a:lvl9pPr>
          </a:lstStyle>
          <a:p/>
        </p:txBody>
      </p:sp>
      <p:sp>
        <p:nvSpPr>
          <p:cNvPr id="8" name="Google Shape;8;p1"/>
          <p:cNvSpPr txBox="1"/>
          <p:nvPr>
            <p:ph idx="12" type="sldNum"/>
          </p:nvPr>
        </p:nvSpPr>
        <p:spPr>
          <a:xfrm>
            <a:off x="11296610" y="6217622"/>
            <a:ext cx="731600" cy="524800"/>
          </a:xfrm>
          <a:prstGeom prst="rect">
            <a:avLst/>
          </a:prstGeom>
          <a:noFill/>
          <a:ln>
            <a:noFill/>
          </a:ln>
        </p:spPr>
        <p:txBody>
          <a:bodyPr anchorCtr="0" anchor="ctr" bIns="121900" lIns="121900" spcFirstLastPara="1" rIns="121900" wrap="square" tIns="121900">
            <a:normAutofit/>
          </a:bodyPr>
          <a:lstStyle>
            <a:lvl1pPr lvl="0" algn="r">
              <a:buNone/>
              <a:defRPr sz="1300">
                <a:solidFill>
                  <a:schemeClr val="dk2"/>
                </a:solidFill>
              </a:defRPr>
            </a:lvl1pPr>
            <a:lvl2pPr lvl="1" algn="r">
              <a:buNone/>
              <a:defRPr sz="1300">
                <a:solidFill>
                  <a:schemeClr val="dk2"/>
                </a:solidFill>
              </a:defRPr>
            </a:lvl2pPr>
            <a:lvl3pPr lvl="2" algn="r">
              <a:buNone/>
              <a:defRPr sz="1300">
                <a:solidFill>
                  <a:schemeClr val="dk2"/>
                </a:solidFill>
              </a:defRPr>
            </a:lvl3pPr>
            <a:lvl4pPr lvl="3" algn="r">
              <a:buNone/>
              <a:defRPr sz="1300">
                <a:solidFill>
                  <a:schemeClr val="dk2"/>
                </a:solidFill>
              </a:defRPr>
            </a:lvl4pPr>
            <a:lvl5pPr lvl="4" algn="r">
              <a:buNone/>
              <a:defRPr sz="1300">
                <a:solidFill>
                  <a:schemeClr val="dk2"/>
                </a:solidFill>
              </a:defRPr>
            </a:lvl5pPr>
            <a:lvl6pPr lvl="5" algn="r">
              <a:buNone/>
              <a:defRPr sz="1300">
                <a:solidFill>
                  <a:schemeClr val="dk2"/>
                </a:solidFill>
              </a:defRPr>
            </a:lvl6pPr>
            <a:lvl7pPr lvl="6" algn="r">
              <a:buNone/>
              <a:defRPr sz="1300">
                <a:solidFill>
                  <a:schemeClr val="dk2"/>
                </a:solidFill>
              </a:defRPr>
            </a:lvl7pPr>
            <a:lvl8pPr lvl="7" algn="r">
              <a:buNone/>
              <a:defRPr sz="1300">
                <a:solidFill>
                  <a:schemeClr val="dk2"/>
                </a:solidFill>
              </a:defRPr>
            </a:lvl8pPr>
            <a:lvl9pPr lvl="8" algn="r">
              <a:buNone/>
              <a:defRPr sz="13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png"/><Relationship Id="rId4" Type="http://schemas.openxmlformats.org/officeDocument/2006/relationships/image" Target="../media/image34.png"/><Relationship Id="rId5" Type="http://schemas.openxmlformats.org/officeDocument/2006/relationships/image" Target="../media/image4.png"/><Relationship Id="rId6" Type="http://schemas.openxmlformats.org/officeDocument/2006/relationships/image" Target="../media/image13.png"/><Relationship Id="rId7"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60.jp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48.png"/><Relationship Id="rId6" Type="http://schemas.openxmlformats.org/officeDocument/2006/relationships/image" Target="../media/image55.jpg"/><Relationship Id="rId7"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50.jp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8.jpg"/><Relationship Id="rId5"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67.jpg"/><Relationship Id="rId5"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png"/><Relationship Id="rId4" Type="http://schemas.openxmlformats.org/officeDocument/2006/relationships/image" Target="../media/image57.jp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3.png"/><Relationship Id="rId4" Type="http://schemas.openxmlformats.org/officeDocument/2006/relationships/image" Target="../media/image5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71.jpg"/><Relationship Id="rId5"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59.jp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61.png"/><Relationship Id="rId5"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68.jpg"/><Relationship Id="rId5" Type="http://schemas.openxmlformats.org/officeDocument/2006/relationships/image" Target="../media/image1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66.png"/><Relationship Id="rId6"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78.png"/><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70.jpg"/><Relationship Id="rId6"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41.jpg"/><Relationship Id="rId6" Type="http://schemas.openxmlformats.org/officeDocument/2006/relationships/image" Target="../media/image69.png"/><Relationship Id="rId7" Type="http://schemas.openxmlformats.org/officeDocument/2006/relationships/image" Target="../media/image1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73.png"/><Relationship Id="rId6" Type="http://schemas.openxmlformats.org/officeDocument/2006/relationships/image" Target="../media/image1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png"/><Relationship Id="rId4" Type="http://schemas.openxmlformats.org/officeDocument/2006/relationships/image" Target="../media/image72.jpg"/><Relationship Id="rId5"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8.png"/><Relationship Id="rId4" Type="http://schemas.openxmlformats.org/officeDocument/2006/relationships/image" Target="../media/image4.png"/><Relationship Id="rId5" Type="http://schemas.openxmlformats.org/officeDocument/2006/relationships/image" Target="../media/image79.jpg"/><Relationship Id="rId6" Type="http://schemas.openxmlformats.org/officeDocument/2006/relationships/image" Target="../media/image74.png"/><Relationship Id="rId7"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75.png"/><Relationship Id="rId5"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 Id="rId4" Type="http://schemas.openxmlformats.org/officeDocument/2006/relationships/image" Target="../media/image77.png"/><Relationship Id="rId5"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76.jp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4">
            <a:alphaModFix/>
          </a:blip>
          <a:srcRect b="0" l="0" r="0" t="0"/>
          <a:stretch/>
        </p:blipFill>
        <p:spPr>
          <a:xfrm>
            <a:off x="2286000" y="476250"/>
            <a:ext cx="7620000" cy="4286400"/>
          </a:xfrm>
          <a:prstGeom prst="rect">
            <a:avLst/>
          </a:prstGeom>
          <a:noFill/>
          <a:ln>
            <a:noFill/>
          </a:ln>
        </p:spPr>
      </p:pic>
      <p:pic>
        <p:nvPicPr>
          <p:cNvPr id="56" name="Google Shape;56;p14"/>
          <p:cNvPicPr preferRelativeResize="0"/>
          <p:nvPr/>
        </p:nvPicPr>
        <p:blipFill rotWithShape="1">
          <a:blip r:embed="rId5">
            <a:alphaModFix/>
          </a:blip>
          <a:srcRect b="0" l="0" r="0" t="0"/>
          <a:stretch/>
        </p:blipFill>
        <p:spPr>
          <a:xfrm>
            <a:off x="0" y="0"/>
            <a:ext cx="12192000" cy="57300"/>
          </a:xfrm>
          <a:prstGeom prst="rect">
            <a:avLst/>
          </a:prstGeom>
          <a:noFill/>
          <a:ln>
            <a:noFill/>
          </a:ln>
        </p:spPr>
      </p:pic>
      <p:sp>
        <p:nvSpPr>
          <p:cNvPr id="57" name="Google Shape;57;p14"/>
          <p:cNvSpPr txBox="1"/>
          <p:nvPr/>
        </p:nvSpPr>
        <p:spPr>
          <a:xfrm>
            <a:off x="2514600" y="2190750"/>
            <a:ext cx="71628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200">
                <a:solidFill>
                  <a:srgbClr val="D4A017"/>
                </a:solidFill>
                <a:latin typeface="Inter"/>
                <a:ea typeface="Inter"/>
                <a:cs typeface="Inter"/>
                <a:sym typeface="Inter"/>
              </a:rPr>
              <a:t>PYTHON PROGRAMMING COURSE</a:t>
            </a:r>
            <a:endParaRPr b="1" sz="1200">
              <a:solidFill>
                <a:srgbClr val="D4A017"/>
              </a:solidFill>
              <a:latin typeface="Inter"/>
              <a:ea typeface="Inter"/>
              <a:cs typeface="Inter"/>
              <a:sym typeface="Inter"/>
            </a:endParaRPr>
          </a:p>
        </p:txBody>
      </p:sp>
      <p:sp>
        <p:nvSpPr>
          <p:cNvPr id="58" name="Google Shape;58;p14"/>
          <p:cNvSpPr txBox="1"/>
          <p:nvPr/>
        </p:nvSpPr>
        <p:spPr>
          <a:xfrm>
            <a:off x="2333625" y="2619375"/>
            <a:ext cx="7524900" cy="1143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3400">
                <a:solidFill>
                  <a:srgbClr val="045A36"/>
                </a:solidFill>
                <a:latin typeface="Montserrat"/>
                <a:ea typeface="Montserrat"/>
                <a:cs typeface="Montserrat"/>
                <a:sym typeface="Montserrat"/>
              </a:rPr>
              <a:t>Functions in Python</a:t>
            </a:r>
            <a:endParaRPr b="1" sz="3400">
              <a:solidFill>
                <a:srgbClr val="045A36"/>
              </a:solidFill>
              <a:latin typeface="Montserrat"/>
              <a:ea typeface="Montserrat"/>
              <a:cs typeface="Montserrat"/>
              <a:sym typeface="Montserrat"/>
            </a:endParaRPr>
          </a:p>
        </p:txBody>
      </p:sp>
      <p:sp>
        <p:nvSpPr>
          <p:cNvPr id="59" name="Google Shape;59;p14"/>
          <p:cNvSpPr/>
          <p:nvPr/>
        </p:nvSpPr>
        <p:spPr>
          <a:xfrm>
            <a:off x="5381625" y="3905250"/>
            <a:ext cx="1428900" cy="381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txBox="1"/>
          <p:nvPr/>
        </p:nvSpPr>
        <p:spPr>
          <a:xfrm>
            <a:off x="2514600" y="4191000"/>
            <a:ext cx="7162800" cy="5715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0" lang="en" sz="1400">
                <a:solidFill>
                  <a:srgbClr val="4B5563"/>
                </a:solidFill>
                <a:latin typeface="Inter SemiBold"/>
                <a:ea typeface="Inter SemiBold"/>
                <a:cs typeface="Inter SemiBold"/>
                <a:sym typeface="Inter SemiBold"/>
              </a:rPr>
              <a:t>Building Reusable and Efficient Programs</a:t>
            </a:r>
            <a:endParaRPr b="0" sz="1400">
              <a:solidFill>
                <a:srgbClr val="4B5563"/>
              </a:solidFill>
              <a:latin typeface="Inter SemiBold"/>
              <a:ea typeface="Inter SemiBold"/>
              <a:cs typeface="Inter SemiBold"/>
              <a:sym typeface="Inter SemiBold"/>
            </a:endParaRPr>
          </a:p>
        </p:txBody>
      </p:sp>
      <p:grpSp>
        <p:nvGrpSpPr>
          <p:cNvPr id="61" name="Google Shape;61;p14"/>
          <p:cNvGrpSpPr/>
          <p:nvPr/>
        </p:nvGrpSpPr>
        <p:grpSpPr>
          <a:xfrm>
            <a:off x="762000" y="5829300"/>
            <a:ext cx="3114600" cy="523800"/>
            <a:chOff x="762000" y="5829300"/>
            <a:chExt cx="3114600" cy="523800"/>
          </a:xfrm>
        </p:grpSpPr>
        <p:sp>
          <p:nvSpPr>
            <p:cNvPr id="62" name="Google Shape;62;p14"/>
            <p:cNvSpPr txBox="1"/>
            <p:nvPr/>
          </p:nvSpPr>
          <p:spPr>
            <a:xfrm>
              <a:off x="762000" y="5829300"/>
              <a:ext cx="31146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900">
                  <a:solidFill>
                    <a:srgbClr val="9CA3AF"/>
                  </a:solidFill>
                  <a:latin typeface="Inter"/>
                  <a:ea typeface="Inter"/>
                  <a:cs typeface="Inter"/>
                  <a:sym typeface="Inter"/>
                </a:rPr>
                <a:t>PRESENTED BY</a:t>
              </a:r>
              <a:endParaRPr b="0" sz="900">
                <a:solidFill>
                  <a:srgbClr val="9CA3AF"/>
                </a:solidFill>
                <a:latin typeface="Inter"/>
                <a:ea typeface="Inter"/>
                <a:cs typeface="Inter"/>
                <a:sym typeface="Inter"/>
              </a:endParaRPr>
            </a:p>
          </p:txBody>
        </p:sp>
        <p:sp>
          <p:nvSpPr>
            <p:cNvPr id="63" name="Google Shape;63;p14"/>
            <p:cNvSpPr txBox="1"/>
            <p:nvPr/>
          </p:nvSpPr>
          <p:spPr>
            <a:xfrm>
              <a:off x="762000" y="6019800"/>
              <a:ext cx="3114600" cy="333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1F2937"/>
                  </a:solidFill>
                  <a:latin typeface="Inter SemiBold"/>
                  <a:ea typeface="Inter SemiBold"/>
                  <a:cs typeface="Inter SemiBold"/>
                  <a:sym typeface="Inter SemiBold"/>
                </a:rPr>
                <a:t>Muhammd Yousif Memon</a:t>
              </a:r>
              <a:endParaRPr b="0" sz="1350">
                <a:solidFill>
                  <a:srgbClr val="1F2937"/>
                </a:solidFill>
                <a:latin typeface="Inter SemiBold"/>
                <a:ea typeface="Inter SemiBold"/>
                <a:cs typeface="Inter SemiBold"/>
                <a:sym typeface="Inter SemiBold"/>
              </a:endParaRPr>
            </a:p>
          </p:txBody>
        </p:sp>
      </p:grpSp>
      <p:grpSp>
        <p:nvGrpSpPr>
          <p:cNvPr id="64" name="Google Shape;64;p14"/>
          <p:cNvGrpSpPr/>
          <p:nvPr/>
        </p:nvGrpSpPr>
        <p:grpSpPr>
          <a:xfrm>
            <a:off x="8382000" y="5829300"/>
            <a:ext cx="3048000" cy="523800"/>
            <a:chOff x="8382000" y="5829300"/>
            <a:chExt cx="3048000" cy="523800"/>
          </a:xfrm>
        </p:grpSpPr>
        <p:sp>
          <p:nvSpPr>
            <p:cNvPr id="65" name="Google Shape;65;p14"/>
            <p:cNvSpPr txBox="1"/>
            <p:nvPr/>
          </p:nvSpPr>
          <p:spPr>
            <a:xfrm>
              <a:off x="8382000" y="5829300"/>
              <a:ext cx="3048000" cy="1905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900">
                  <a:solidFill>
                    <a:srgbClr val="9CA3AF"/>
                  </a:solidFill>
                  <a:latin typeface="Inter"/>
                  <a:ea typeface="Inter"/>
                  <a:cs typeface="Inter"/>
                  <a:sym typeface="Inter"/>
                </a:rPr>
                <a:t>DATE OF SESSION</a:t>
              </a:r>
              <a:endParaRPr b="0" sz="900">
                <a:solidFill>
                  <a:srgbClr val="9CA3AF"/>
                </a:solidFill>
                <a:latin typeface="Inter"/>
                <a:ea typeface="Inter"/>
                <a:cs typeface="Inter"/>
                <a:sym typeface="Inter"/>
              </a:endParaRPr>
            </a:p>
          </p:txBody>
        </p:sp>
        <p:sp>
          <p:nvSpPr>
            <p:cNvPr id="66" name="Google Shape;66;p14"/>
            <p:cNvSpPr txBox="1"/>
            <p:nvPr/>
          </p:nvSpPr>
          <p:spPr>
            <a:xfrm>
              <a:off x="8382000" y="6019800"/>
              <a:ext cx="3048000" cy="333300"/>
            </a:xfrm>
            <a:prstGeom prst="rect">
              <a:avLst/>
            </a:prstGeom>
            <a:noFill/>
            <a:ln>
              <a:noFill/>
            </a:ln>
          </p:spPr>
          <p:txBody>
            <a:bodyPr anchorCtr="0" anchor="t" bIns="0" lIns="0" spcFirstLastPara="1" rIns="0" wrap="square" tIns="0">
              <a:noAutofit/>
            </a:bodyPr>
            <a:lstStyle/>
            <a:p>
              <a:pPr indent="0" lvl="0" marL="0" rtl="0" algn="r">
                <a:spcBef>
                  <a:spcPts val="0"/>
                </a:spcBef>
                <a:spcAft>
                  <a:spcPts val="0"/>
                </a:spcAft>
                <a:buNone/>
              </a:pPr>
              <a:r>
                <a:rPr b="0" lang="en" sz="1350">
                  <a:solidFill>
                    <a:srgbClr val="1F2937"/>
                  </a:solidFill>
                  <a:latin typeface="Inter SemiBold"/>
                  <a:ea typeface="Inter SemiBold"/>
                  <a:cs typeface="Inter SemiBold"/>
                  <a:sym typeface="Inter SemiBold"/>
                </a:rPr>
                <a:t>June 2026</a:t>
              </a:r>
              <a:endParaRPr b="0" sz="1350">
                <a:solidFill>
                  <a:srgbClr val="1F2937"/>
                </a:solidFill>
                <a:latin typeface="Inter SemiBold"/>
                <a:ea typeface="Inter SemiBold"/>
                <a:cs typeface="Inter SemiBold"/>
                <a:sym typeface="Inter SemiBold"/>
              </a:endParaRPr>
            </a:p>
          </p:txBody>
        </p:sp>
      </p:grpSp>
      <p:pic>
        <p:nvPicPr>
          <p:cNvPr id="67" name="Google Shape;67;p14"/>
          <p:cNvPicPr preferRelativeResize="0"/>
          <p:nvPr/>
        </p:nvPicPr>
        <p:blipFill rotWithShape="1">
          <a:blip r:embed="rId6">
            <a:alphaModFix/>
          </a:blip>
          <a:srcRect b="0" l="0" r="0" t="0"/>
          <a:stretch/>
        </p:blipFill>
        <p:spPr>
          <a:xfrm>
            <a:off x="762000" y="571500"/>
            <a:ext cx="2533800" cy="857400"/>
          </a:xfrm>
          <a:prstGeom prst="rect">
            <a:avLst/>
          </a:prstGeom>
          <a:noFill/>
          <a:ln>
            <a:noFill/>
          </a:ln>
        </p:spPr>
      </p:pic>
      <p:pic>
        <p:nvPicPr>
          <p:cNvPr id="68" name="Google Shape;68;p14"/>
          <p:cNvPicPr preferRelativeResize="0"/>
          <p:nvPr/>
        </p:nvPicPr>
        <p:blipFill rotWithShape="1">
          <a:blip r:embed="rId7">
            <a:alphaModFix/>
          </a:blip>
          <a:srcRect b="0" l="0" r="0" t="0"/>
          <a:stretch/>
        </p:blipFill>
        <p:spPr>
          <a:xfrm>
            <a:off x="10144125" y="428625"/>
            <a:ext cx="1143000" cy="1143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4" name="Google Shape;74;p15"/>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75" name="Google Shape;75;p15"/>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Learning Objectives</a:t>
            </a:r>
            <a:endParaRPr b="0" sz="2700">
              <a:solidFill>
                <a:srgbClr val="045A36"/>
              </a:solidFill>
              <a:latin typeface="Montserrat SemiBold"/>
              <a:ea typeface="Montserrat SemiBold"/>
              <a:cs typeface="Montserrat SemiBold"/>
              <a:sym typeface="Montserrat SemiBold"/>
            </a:endParaRPr>
          </a:p>
        </p:txBody>
      </p:sp>
      <p:sp>
        <p:nvSpPr>
          <p:cNvPr id="76" name="Google Shape;76;p1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15"/>
          <p:cNvSpPr txBox="1"/>
          <p:nvPr/>
        </p:nvSpPr>
        <p:spPr>
          <a:xfrm>
            <a:off x="762000" y="1524000"/>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Mastering the core concepts of Python functions:</a:t>
            </a:r>
            <a:endParaRPr b="0" sz="1500">
              <a:solidFill>
                <a:srgbClr val="045A36"/>
              </a:solidFill>
              <a:latin typeface="Inter SemiBold"/>
              <a:ea typeface="Inter SemiBold"/>
              <a:cs typeface="Inter SemiBold"/>
              <a:sym typeface="Inter SemiBold"/>
            </a:endParaRPr>
          </a:p>
        </p:txBody>
      </p:sp>
      <p:grpSp>
        <p:nvGrpSpPr>
          <p:cNvPr id="78" name="Google Shape;78;p15"/>
          <p:cNvGrpSpPr/>
          <p:nvPr/>
        </p:nvGrpSpPr>
        <p:grpSpPr>
          <a:xfrm>
            <a:off x="762000" y="2190750"/>
            <a:ext cx="7000875" cy="3095775"/>
            <a:chOff x="0" y="0"/>
            <a:chExt cx="7000875" cy="3095775"/>
          </a:xfrm>
        </p:grpSpPr>
        <p:grpSp>
          <p:nvGrpSpPr>
            <p:cNvPr id="79" name="Google Shape;79;p15"/>
            <p:cNvGrpSpPr/>
            <p:nvPr/>
          </p:nvGrpSpPr>
          <p:grpSpPr>
            <a:xfrm>
              <a:off x="0" y="0"/>
              <a:ext cx="7000875" cy="476400"/>
              <a:chOff x="0" y="0"/>
              <a:chExt cx="7000875" cy="476400"/>
            </a:xfrm>
          </p:grpSpPr>
          <p:grpSp>
            <p:nvGrpSpPr>
              <p:cNvPr id="80" name="Google Shape;80;p15"/>
              <p:cNvGrpSpPr/>
              <p:nvPr/>
            </p:nvGrpSpPr>
            <p:grpSpPr>
              <a:xfrm>
                <a:off x="0" y="38100"/>
                <a:ext cx="190500" cy="190500"/>
                <a:chOff x="0" y="0"/>
                <a:chExt cx="190500" cy="190500"/>
              </a:xfrm>
            </p:grpSpPr>
            <p:sp>
              <p:nvSpPr>
                <p:cNvPr id="81" name="Google Shape;81;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15"/>
                <p:cNvSpPr/>
                <p:nvPr/>
              </p:nvSpPr>
              <p:spPr>
                <a:xfrm>
                  <a:off x="57150" y="57150"/>
                  <a:ext cx="76200" cy="66600"/>
                </a:xfrm>
                <a:custGeom>
                  <a:rect b="b" l="l" r="r" t="t"/>
                  <a:pathLst>
                    <a:path extrusionOk="0" h="120000" w="120000">
                      <a:moveTo>
                        <a:pt x="0" y="68571"/>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3" name="Google Shape;83;p15"/>
              <p:cNvSpPr txBox="1"/>
              <p:nvPr/>
            </p:nvSpPr>
            <p:spPr>
              <a:xfrm>
                <a:off x="333375" y="0"/>
                <a:ext cx="6667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Understand what functions are and their primary benefits.</a:t>
                </a:r>
                <a:endParaRPr b="0" sz="1500">
                  <a:solidFill>
                    <a:srgbClr val="374151"/>
                  </a:solidFill>
                  <a:latin typeface="Inter"/>
                  <a:ea typeface="Inter"/>
                  <a:cs typeface="Inter"/>
                  <a:sym typeface="Inter"/>
                </a:endParaRPr>
              </a:p>
            </p:txBody>
          </p:sp>
        </p:grpSp>
        <p:grpSp>
          <p:nvGrpSpPr>
            <p:cNvPr id="84" name="Google Shape;84;p15"/>
            <p:cNvGrpSpPr/>
            <p:nvPr/>
          </p:nvGrpSpPr>
          <p:grpSpPr>
            <a:xfrm>
              <a:off x="0" y="523875"/>
              <a:ext cx="7000875" cy="476400"/>
              <a:chOff x="0" y="0"/>
              <a:chExt cx="7000875" cy="476400"/>
            </a:xfrm>
          </p:grpSpPr>
          <p:grpSp>
            <p:nvGrpSpPr>
              <p:cNvPr id="85" name="Google Shape;85;p15"/>
              <p:cNvGrpSpPr/>
              <p:nvPr/>
            </p:nvGrpSpPr>
            <p:grpSpPr>
              <a:xfrm>
                <a:off x="0" y="38100"/>
                <a:ext cx="190500" cy="190500"/>
                <a:chOff x="0" y="0"/>
                <a:chExt cx="190500" cy="190500"/>
              </a:xfrm>
            </p:grpSpPr>
            <p:sp>
              <p:nvSpPr>
                <p:cNvPr id="86" name="Google Shape;86;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15"/>
                <p:cNvSpPr/>
                <p:nvPr/>
              </p:nvSpPr>
              <p:spPr>
                <a:xfrm>
                  <a:off x="57150" y="57150"/>
                  <a:ext cx="76200" cy="66600"/>
                </a:xfrm>
                <a:custGeom>
                  <a:rect b="b" l="l" r="r" t="t"/>
                  <a:pathLst>
                    <a:path extrusionOk="0" h="120000" w="120000">
                      <a:moveTo>
                        <a:pt x="0" y="68571"/>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88" name="Google Shape;88;p15"/>
              <p:cNvSpPr txBox="1"/>
              <p:nvPr/>
            </p:nvSpPr>
            <p:spPr>
              <a:xfrm>
                <a:off x="333375" y="0"/>
                <a:ext cx="6667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Learn how to create and call user-defined functions.</a:t>
                </a:r>
                <a:endParaRPr b="0" sz="1500">
                  <a:solidFill>
                    <a:srgbClr val="374151"/>
                  </a:solidFill>
                  <a:latin typeface="Inter"/>
                  <a:ea typeface="Inter"/>
                  <a:cs typeface="Inter"/>
                  <a:sym typeface="Inter"/>
                </a:endParaRPr>
              </a:p>
            </p:txBody>
          </p:sp>
        </p:grpSp>
        <p:grpSp>
          <p:nvGrpSpPr>
            <p:cNvPr id="89" name="Google Shape;89;p15"/>
            <p:cNvGrpSpPr/>
            <p:nvPr/>
          </p:nvGrpSpPr>
          <p:grpSpPr>
            <a:xfrm>
              <a:off x="0" y="1047750"/>
              <a:ext cx="7000875" cy="476400"/>
              <a:chOff x="0" y="0"/>
              <a:chExt cx="7000875" cy="476400"/>
            </a:xfrm>
          </p:grpSpPr>
          <p:grpSp>
            <p:nvGrpSpPr>
              <p:cNvPr id="90" name="Google Shape;90;p15"/>
              <p:cNvGrpSpPr/>
              <p:nvPr/>
            </p:nvGrpSpPr>
            <p:grpSpPr>
              <a:xfrm>
                <a:off x="0" y="38100"/>
                <a:ext cx="190500" cy="190500"/>
                <a:chOff x="0" y="0"/>
                <a:chExt cx="190500" cy="190500"/>
              </a:xfrm>
            </p:grpSpPr>
            <p:sp>
              <p:nvSpPr>
                <p:cNvPr id="91" name="Google Shape;91;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15"/>
                <p:cNvSpPr/>
                <p:nvPr/>
              </p:nvSpPr>
              <p:spPr>
                <a:xfrm>
                  <a:off x="57150" y="57150"/>
                  <a:ext cx="76200" cy="66600"/>
                </a:xfrm>
                <a:custGeom>
                  <a:rect b="b" l="l" r="r" t="t"/>
                  <a:pathLst>
                    <a:path extrusionOk="0" h="120000" w="120000">
                      <a:moveTo>
                        <a:pt x="0" y="68571"/>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3" name="Google Shape;93;p15"/>
              <p:cNvSpPr txBox="1"/>
              <p:nvPr/>
            </p:nvSpPr>
            <p:spPr>
              <a:xfrm>
                <a:off x="333375" y="0"/>
                <a:ext cx="6667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Master the use of parameters and return values.</a:t>
                </a:r>
                <a:endParaRPr b="0" sz="1500">
                  <a:solidFill>
                    <a:srgbClr val="374151"/>
                  </a:solidFill>
                  <a:latin typeface="Inter"/>
                  <a:ea typeface="Inter"/>
                  <a:cs typeface="Inter"/>
                  <a:sym typeface="Inter"/>
                </a:endParaRPr>
              </a:p>
            </p:txBody>
          </p:sp>
        </p:grpSp>
        <p:grpSp>
          <p:nvGrpSpPr>
            <p:cNvPr id="94" name="Google Shape;94;p15"/>
            <p:cNvGrpSpPr/>
            <p:nvPr/>
          </p:nvGrpSpPr>
          <p:grpSpPr>
            <a:xfrm>
              <a:off x="0" y="1571625"/>
              <a:ext cx="7000875" cy="476400"/>
              <a:chOff x="0" y="0"/>
              <a:chExt cx="7000875" cy="476400"/>
            </a:xfrm>
          </p:grpSpPr>
          <p:grpSp>
            <p:nvGrpSpPr>
              <p:cNvPr id="95" name="Google Shape;95;p15"/>
              <p:cNvGrpSpPr/>
              <p:nvPr/>
            </p:nvGrpSpPr>
            <p:grpSpPr>
              <a:xfrm>
                <a:off x="0" y="38100"/>
                <a:ext cx="190500" cy="190500"/>
                <a:chOff x="0" y="0"/>
                <a:chExt cx="190500" cy="190500"/>
              </a:xfrm>
            </p:grpSpPr>
            <p:sp>
              <p:nvSpPr>
                <p:cNvPr id="96" name="Google Shape;96;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15"/>
                <p:cNvSpPr/>
                <p:nvPr/>
              </p:nvSpPr>
              <p:spPr>
                <a:xfrm>
                  <a:off x="57150" y="57150"/>
                  <a:ext cx="76200" cy="66600"/>
                </a:xfrm>
                <a:custGeom>
                  <a:rect b="b" l="l" r="r" t="t"/>
                  <a:pathLst>
                    <a:path extrusionOk="0" h="120000" w="120000">
                      <a:moveTo>
                        <a:pt x="0" y="68571"/>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98" name="Google Shape;98;p15"/>
              <p:cNvSpPr txBox="1"/>
              <p:nvPr/>
            </p:nvSpPr>
            <p:spPr>
              <a:xfrm>
                <a:off x="333375" y="0"/>
                <a:ext cx="6667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Comprehend variable scope (local vs. global).</a:t>
                </a:r>
                <a:endParaRPr b="0" sz="1500">
                  <a:solidFill>
                    <a:srgbClr val="374151"/>
                  </a:solidFill>
                  <a:latin typeface="Inter"/>
                  <a:ea typeface="Inter"/>
                  <a:cs typeface="Inter"/>
                  <a:sym typeface="Inter"/>
                </a:endParaRPr>
              </a:p>
            </p:txBody>
          </p:sp>
        </p:grpSp>
        <p:grpSp>
          <p:nvGrpSpPr>
            <p:cNvPr id="99" name="Google Shape;99;p15"/>
            <p:cNvGrpSpPr/>
            <p:nvPr/>
          </p:nvGrpSpPr>
          <p:grpSpPr>
            <a:xfrm>
              <a:off x="0" y="2095500"/>
              <a:ext cx="7000875" cy="476400"/>
              <a:chOff x="0" y="0"/>
              <a:chExt cx="7000875" cy="476400"/>
            </a:xfrm>
          </p:grpSpPr>
          <p:grpSp>
            <p:nvGrpSpPr>
              <p:cNvPr id="100" name="Google Shape;100;p15"/>
              <p:cNvGrpSpPr/>
              <p:nvPr/>
            </p:nvGrpSpPr>
            <p:grpSpPr>
              <a:xfrm>
                <a:off x="0" y="38100"/>
                <a:ext cx="190500" cy="190500"/>
                <a:chOff x="0" y="0"/>
                <a:chExt cx="190500" cy="190500"/>
              </a:xfrm>
            </p:grpSpPr>
            <p:sp>
              <p:nvSpPr>
                <p:cNvPr id="101" name="Google Shape;101;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2" name="Google Shape;102;p15"/>
                <p:cNvSpPr/>
                <p:nvPr/>
              </p:nvSpPr>
              <p:spPr>
                <a:xfrm>
                  <a:off x="57150" y="57150"/>
                  <a:ext cx="76200" cy="66600"/>
                </a:xfrm>
                <a:custGeom>
                  <a:rect b="b" l="l" r="r" t="t"/>
                  <a:pathLst>
                    <a:path extrusionOk="0" h="120000" w="120000">
                      <a:moveTo>
                        <a:pt x="0" y="68571"/>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3" name="Google Shape;103;p15"/>
              <p:cNvSpPr txBox="1"/>
              <p:nvPr/>
            </p:nvSpPr>
            <p:spPr>
              <a:xfrm>
                <a:off x="333375" y="0"/>
                <a:ext cx="6667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Explore advanced concepts like lambda functions and recursion.</a:t>
                </a:r>
                <a:endParaRPr b="0" sz="1500">
                  <a:solidFill>
                    <a:srgbClr val="374151"/>
                  </a:solidFill>
                  <a:latin typeface="Inter"/>
                  <a:ea typeface="Inter"/>
                  <a:cs typeface="Inter"/>
                  <a:sym typeface="Inter"/>
                </a:endParaRPr>
              </a:p>
            </p:txBody>
          </p:sp>
        </p:grpSp>
        <p:grpSp>
          <p:nvGrpSpPr>
            <p:cNvPr id="104" name="Google Shape;104;p15"/>
            <p:cNvGrpSpPr/>
            <p:nvPr/>
          </p:nvGrpSpPr>
          <p:grpSpPr>
            <a:xfrm>
              <a:off x="0" y="2619375"/>
              <a:ext cx="7000875" cy="476400"/>
              <a:chOff x="0" y="0"/>
              <a:chExt cx="7000875" cy="476400"/>
            </a:xfrm>
          </p:grpSpPr>
          <p:grpSp>
            <p:nvGrpSpPr>
              <p:cNvPr id="105" name="Google Shape;105;p15"/>
              <p:cNvGrpSpPr/>
              <p:nvPr/>
            </p:nvGrpSpPr>
            <p:grpSpPr>
              <a:xfrm>
                <a:off x="0" y="38100"/>
                <a:ext cx="190500" cy="190500"/>
                <a:chOff x="0" y="0"/>
                <a:chExt cx="190500" cy="190500"/>
              </a:xfrm>
            </p:grpSpPr>
            <p:sp>
              <p:nvSpPr>
                <p:cNvPr id="106" name="Google Shape;106;p15"/>
                <p:cNvSpPr/>
                <p:nvPr/>
              </p:nvSpPr>
              <p:spPr>
                <a:xfrm>
                  <a:off x="0" y="0"/>
                  <a:ext cx="190500" cy="190500"/>
                </a:xfrm>
                <a:prstGeom prst="ellipse">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7" name="Google Shape;107;p15"/>
                <p:cNvSpPr/>
                <p:nvPr/>
              </p:nvSpPr>
              <p:spPr>
                <a:xfrm>
                  <a:off x="57150" y="57150"/>
                  <a:ext cx="76200" cy="66600"/>
                </a:xfrm>
                <a:custGeom>
                  <a:rect b="b" l="l" r="r" t="t"/>
                  <a:pathLst>
                    <a:path extrusionOk="0" h="120000" w="120000">
                      <a:moveTo>
                        <a:pt x="0" y="68571"/>
                      </a:moveTo>
                      <a:lnTo>
                        <a:pt x="45000" y="120000"/>
                      </a:lnTo>
                      <a:lnTo>
                        <a:pt x="120000" y="0"/>
                      </a:lnTo>
                    </a:path>
                  </a:pathLst>
                </a:custGeom>
                <a:solidFill>
                  <a:srgbClr val="000000">
                    <a:alpha val="0"/>
                  </a:srgbClr>
                </a:solidFill>
                <a:ln cap="rnd" cmpd="sng" w="19050">
                  <a:solidFill>
                    <a:srgbClr val="FFFFFF"/>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108" name="Google Shape;108;p15"/>
              <p:cNvSpPr txBox="1"/>
              <p:nvPr/>
            </p:nvSpPr>
            <p:spPr>
              <a:xfrm>
                <a:off x="333375" y="0"/>
                <a:ext cx="66675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Apply functions to real-world programming scenarios.</a:t>
                </a:r>
                <a:endParaRPr b="0" sz="1500">
                  <a:solidFill>
                    <a:srgbClr val="374151"/>
                  </a:solidFill>
                  <a:latin typeface="Inter"/>
                  <a:ea typeface="Inter"/>
                  <a:cs typeface="Inter"/>
                  <a:sym typeface="Inter"/>
                </a:endParaRPr>
              </a:p>
            </p:txBody>
          </p:sp>
        </p:grpSp>
      </p:grpSp>
      <p:grpSp>
        <p:nvGrpSpPr>
          <p:cNvPr id="109" name="Google Shape;109;p15"/>
          <p:cNvGrpSpPr/>
          <p:nvPr/>
        </p:nvGrpSpPr>
        <p:grpSpPr>
          <a:xfrm>
            <a:off x="7905750" y="1714500"/>
            <a:ext cx="3524400" cy="3524400"/>
            <a:chOff x="0" y="0"/>
            <a:chExt cx="3524400" cy="3524400"/>
          </a:xfrm>
        </p:grpSpPr>
        <p:sp>
          <p:nvSpPr>
            <p:cNvPr id="110" name="Google Shape;110;p15"/>
            <p:cNvSpPr/>
            <p:nvPr/>
          </p:nvSpPr>
          <p:spPr>
            <a:xfrm>
              <a:off x="0" y="0"/>
              <a:ext cx="3524400" cy="3524400"/>
            </a:xfrm>
            <a:prstGeom prst="roundRect">
              <a:avLst>
                <a:gd fmla="val 3243"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11" name="Google Shape;111;p15"/>
            <p:cNvPicPr preferRelativeResize="0"/>
            <p:nvPr/>
          </p:nvPicPr>
          <p:blipFill rotWithShape="1">
            <a:blip r:embed="rId4">
              <a:alphaModFix/>
            </a:blip>
            <a:srcRect b="0" l="0" r="0" t="0"/>
            <a:stretch/>
          </p:blipFill>
          <p:spPr>
            <a:xfrm>
              <a:off x="95250" y="95250"/>
              <a:ext cx="3333900" cy="3333900"/>
            </a:xfrm>
            <a:prstGeom prst="rect">
              <a:avLst/>
            </a:prstGeom>
            <a:noFill/>
            <a:ln>
              <a:noFill/>
            </a:ln>
          </p:spPr>
        </p:pic>
      </p:grpSp>
      <p:grpSp>
        <p:nvGrpSpPr>
          <p:cNvPr id="112" name="Google Shape;112;p15"/>
          <p:cNvGrpSpPr/>
          <p:nvPr/>
        </p:nvGrpSpPr>
        <p:grpSpPr>
          <a:xfrm>
            <a:off x="762000" y="5457825"/>
            <a:ext cx="11049000" cy="1019100"/>
            <a:chOff x="762000" y="5457825"/>
            <a:chExt cx="11049000" cy="1019100"/>
          </a:xfrm>
        </p:grpSpPr>
        <p:pic>
          <p:nvPicPr>
            <p:cNvPr id="113" name="Google Shape;113;p15"/>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114" name="Google Shape;114;p15"/>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8" name="Shape 118"/>
        <p:cNvGrpSpPr/>
        <p:nvPr/>
      </p:nvGrpSpPr>
      <p:grpSpPr>
        <a:xfrm>
          <a:off x="0" y="0"/>
          <a:ext cx="0" cy="0"/>
          <a:chOff x="0" y="0"/>
          <a:chExt cx="0" cy="0"/>
        </a:xfrm>
      </p:grpSpPr>
      <p:pic>
        <p:nvPicPr>
          <p:cNvPr id="119" name="Google Shape;119;p16"/>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120" name="Google Shape;120;p16"/>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What is a Function?</a:t>
            </a:r>
            <a:endParaRPr b="0" sz="2700">
              <a:solidFill>
                <a:srgbClr val="045A36"/>
              </a:solidFill>
              <a:latin typeface="Montserrat SemiBold"/>
              <a:ea typeface="Montserrat SemiBold"/>
              <a:cs typeface="Montserrat SemiBold"/>
              <a:sym typeface="Montserrat SemiBold"/>
            </a:endParaRPr>
          </a:p>
        </p:txBody>
      </p:sp>
      <p:sp>
        <p:nvSpPr>
          <p:cNvPr id="121" name="Google Shape;121;p1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2" name="Google Shape;122;p16"/>
          <p:cNvGrpSpPr/>
          <p:nvPr/>
        </p:nvGrpSpPr>
        <p:grpSpPr>
          <a:xfrm>
            <a:off x="762000" y="1524000"/>
            <a:ext cx="4762500" cy="3952875"/>
            <a:chOff x="0" y="0"/>
            <a:chExt cx="4762500" cy="3952875"/>
          </a:xfrm>
        </p:grpSpPr>
        <p:grpSp>
          <p:nvGrpSpPr>
            <p:cNvPr id="123" name="Google Shape;123;p16"/>
            <p:cNvGrpSpPr/>
            <p:nvPr/>
          </p:nvGrpSpPr>
          <p:grpSpPr>
            <a:xfrm>
              <a:off x="0" y="0"/>
              <a:ext cx="4762500" cy="809700"/>
              <a:chOff x="0" y="0"/>
              <a:chExt cx="4762500" cy="809700"/>
            </a:xfrm>
          </p:grpSpPr>
          <p:sp>
            <p:nvSpPr>
              <p:cNvPr id="124" name="Google Shape;124;p16"/>
              <p:cNvSpPr/>
              <p:nvPr/>
            </p:nvSpPr>
            <p:spPr>
              <a:xfrm>
                <a:off x="0" y="0"/>
                <a:ext cx="38100" cy="8097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5" name="Google Shape;125;p16"/>
              <p:cNvSpPr txBox="1"/>
              <p:nvPr/>
            </p:nvSpPr>
            <p:spPr>
              <a:xfrm>
                <a:off x="190500" y="0"/>
                <a:ext cx="457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DEFINITION</a:t>
                </a:r>
                <a:endParaRPr b="1" sz="1200">
                  <a:solidFill>
                    <a:srgbClr val="D4A017"/>
                  </a:solidFill>
                  <a:latin typeface="Inter"/>
                  <a:ea typeface="Inter"/>
                  <a:cs typeface="Inter"/>
                  <a:sym typeface="Inter"/>
                </a:endParaRPr>
              </a:p>
            </p:txBody>
          </p:sp>
          <p:sp>
            <p:nvSpPr>
              <p:cNvPr id="126" name="Google Shape;126;p16"/>
              <p:cNvSpPr txBox="1"/>
              <p:nvPr/>
            </p:nvSpPr>
            <p:spPr>
              <a:xfrm>
                <a:off x="190500" y="238125"/>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A reusable block of code designed to perform a specific task.</a:t>
                </a:r>
                <a:endParaRPr b="0" sz="1500">
                  <a:solidFill>
                    <a:srgbClr val="1F2937"/>
                  </a:solidFill>
                  <a:latin typeface="Inter SemiBold"/>
                  <a:ea typeface="Inter SemiBold"/>
                  <a:cs typeface="Inter SemiBold"/>
                  <a:sym typeface="Inter SemiBold"/>
                </a:endParaRPr>
              </a:p>
            </p:txBody>
          </p:sp>
        </p:grpSp>
        <p:sp>
          <p:nvSpPr>
            <p:cNvPr id="127" name="Google Shape;127;p16"/>
            <p:cNvSpPr txBox="1"/>
            <p:nvPr/>
          </p:nvSpPr>
          <p:spPr>
            <a:xfrm>
              <a:off x="0" y="1095375"/>
              <a:ext cx="47625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A function is a named sequence of statements that performs a computation.</a:t>
              </a:r>
              <a:endParaRPr b="0" sz="1500">
                <a:solidFill>
                  <a:srgbClr val="374151"/>
                </a:solidFill>
                <a:latin typeface="Inter"/>
                <a:ea typeface="Inter"/>
                <a:cs typeface="Inter"/>
                <a:sym typeface="Inter"/>
              </a:endParaRPr>
            </a:p>
            <a:p>
              <a:pPr indent="0" lvl="0" marL="0" rtl="0" algn="l">
                <a:spcBef>
                  <a:spcPts val="1125"/>
                </a:spcBef>
                <a:spcAft>
                  <a:spcPts val="1125"/>
                </a:spcAft>
                <a:buNone/>
              </a:pPr>
              <a:r>
                <a:rPr b="0" lang="en" sz="1500">
                  <a:solidFill>
                    <a:srgbClr val="374151"/>
                  </a:solidFill>
                  <a:latin typeface="Inter"/>
                  <a:ea typeface="Inter"/>
                  <a:cs typeface="Inter"/>
                  <a:sym typeface="Inter"/>
                </a:rPr>
                <a:t>You define the function once and can execute it as many times as needed throughout your program. It only runs when it is explicitly called.</a:t>
              </a:r>
              <a:endParaRPr b="0" sz="1500">
                <a:solidFill>
                  <a:srgbClr val="374151"/>
                </a:solidFill>
                <a:latin typeface="Inter"/>
                <a:ea typeface="Inter"/>
                <a:cs typeface="Inter"/>
                <a:sym typeface="Inter"/>
              </a:endParaRPr>
            </a:p>
          </p:txBody>
        </p:sp>
      </p:grpSp>
      <p:grpSp>
        <p:nvGrpSpPr>
          <p:cNvPr id="128" name="Google Shape;128;p16"/>
          <p:cNvGrpSpPr/>
          <p:nvPr/>
        </p:nvGrpSpPr>
        <p:grpSpPr>
          <a:xfrm>
            <a:off x="6281738" y="1524000"/>
            <a:ext cx="5153100" cy="4005188"/>
            <a:chOff x="-4762" y="0"/>
            <a:chExt cx="5153100" cy="4005188"/>
          </a:xfrm>
        </p:grpSpPr>
        <p:sp>
          <p:nvSpPr>
            <p:cNvPr id="129" name="Google Shape;129;p16"/>
            <p:cNvSpPr txBox="1"/>
            <p:nvPr/>
          </p:nvSpPr>
          <p:spPr>
            <a:xfrm>
              <a:off x="0" y="0"/>
              <a:ext cx="5143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CODE EXAMPLE</a:t>
              </a:r>
              <a:endParaRPr b="1" sz="1200">
                <a:solidFill>
                  <a:srgbClr val="D4A017"/>
                </a:solidFill>
                <a:latin typeface="Inter"/>
                <a:ea typeface="Inter"/>
                <a:cs typeface="Inter"/>
                <a:sym typeface="Inter"/>
              </a:endParaRPr>
            </a:p>
          </p:txBody>
        </p:sp>
        <p:grpSp>
          <p:nvGrpSpPr>
            <p:cNvPr id="130" name="Google Shape;130;p16"/>
            <p:cNvGrpSpPr/>
            <p:nvPr/>
          </p:nvGrpSpPr>
          <p:grpSpPr>
            <a:xfrm>
              <a:off x="0" y="285750"/>
              <a:ext cx="5143500" cy="1524000"/>
              <a:chOff x="0" y="0"/>
              <a:chExt cx="5143500" cy="1524000"/>
            </a:xfrm>
          </p:grpSpPr>
          <p:sp>
            <p:nvSpPr>
              <p:cNvPr id="131" name="Google Shape;131;p16"/>
              <p:cNvSpPr/>
              <p:nvPr/>
            </p:nvSpPr>
            <p:spPr>
              <a:xfrm>
                <a:off x="0" y="0"/>
                <a:ext cx="5143500" cy="1524000"/>
              </a:xfrm>
              <a:prstGeom prst="roundRect">
                <a:avLst>
                  <a:gd fmla="val 50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2" name="Google Shape;132;p16"/>
              <p:cNvSpPr/>
              <p:nvPr/>
            </p:nvSpPr>
            <p:spPr>
              <a:xfrm>
                <a:off x="0" y="0"/>
                <a:ext cx="57300" cy="15240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16"/>
              <p:cNvSpPr txBox="1"/>
              <p:nvPr/>
            </p:nvSpPr>
            <p:spPr>
              <a:xfrm>
                <a:off x="238125" y="238125"/>
                <a:ext cx="4667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Arial"/>
                    <a:ea typeface="Arial"/>
                    <a:cs typeface="Arial"/>
                    <a:sym typeface="Arial"/>
                  </a:rPr>
                  <a:t>def </a:t>
                </a:r>
                <a:r>
                  <a:rPr b="0" lang="en" sz="1300">
                    <a:solidFill>
                      <a:srgbClr val="0B7A4B"/>
                    </a:solidFill>
                    <a:latin typeface="Arial"/>
                    <a:ea typeface="Arial"/>
                    <a:cs typeface="Arial"/>
                    <a:sym typeface="Arial"/>
                  </a:rPr>
                  <a:t>greet</a:t>
                </a:r>
                <a:r>
                  <a:rPr b="0" lang="en" sz="1300">
                    <a:solidFill>
                      <a:srgbClr val="045A36"/>
                    </a:solidFill>
                    <a:latin typeface="Arial"/>
                    <a:ea typeface="Arial"/>
                    <a:cs typeface="Arial"/>
                    <a:sym typeface="Arial"/>
                  </a:rPr>
                  <a:t>():</a:t>
                </a:r>
                <a:endParaRPr b="0" sz="1300">
                  <a:solidFill>
                    <a:srgbClr val="045A36"/>
                  </a:solidFill>
                  <a:latin typeface="Arial"/>
                  <a:ea typeface="Arial"/>
                  <a:cs typeface="Arial"/>
                  <a:sym typeface="Arial"/>
                </a:endParaRPr>
              </a:p>
              <a:p>
                <a:pPr indent="0" lvl="0" marL="0" rtl="0" algn="l">
                  <a:spcBef>
                    <a:spcPts val="750"/>
                  </a:spcBef>
                  <a:spcAft>
                    <a:spcPts val="0"/>
                  </a:spcAft>
                  <a:buNone/>
                </a:pPr>
                <a:r>
                  <a:rPr b="0" lang="en" sz="1300">
                    <a:solidFill>
                      <a:srgbClr val="D4A017"/>
                    </a:solidFill>
                    <a:latin typeface="Arial"/>
                    <a:ea typeface="Arial"/>
                    <a:cs typeface="Arial"/>
                    <a:sym typeface="Arial"/>
                  </a:rPr>
                  <a:t>print</a:t>
                </a:r>
                <a:r>
                  <a:rPr b="0" lang="en" sz="1300">
                    <a:solidFill>
                      <a:srgbClr val="1F2937"/>
                    </a:solidFill>
                    <a:latin typeface="Arial"/>
                    <a:ea typeface="Arial"/>
                    <a:cs typeface="Arial"/>
                    <a:sym typeface="Arial"/>
                  </a:rPr>
                  <a:t>(</a:t>
                </a:r>
                <a:r>
                  <a:rPr b="0" lang="en" sz="1300">
                    <a:solidFill>
                      <a:srgbClr val="374151"/>
                    </a:solidFill>
                    <a:latin typeface="Arial"/>
                    <a:ea typeface="Arial"/>
                    <a:cs typeface="Arial"/>
                    <a:sym typeface="Arial"/>
                  </a:rPr>
                  <a:t>"Hello, welcome to Python programming!"</a:t>
                </a:r>
                <a:r>
                  <a:rPr b="0" lang="en" sz="1300">
                    <a:solidFill>
                      <a:srgbClr val="1F2937"/>
                    </a:solidFill>
                    <a:latin typeface="Arial"/>
                    <a:ea typeface="Arial"/>
                    <a:cs typeface="Arial"/>
                    <a:sym typeface="Arial"/>
                  </a:rPr>
                  <a:t>)</a:t>
                </a:r>
                <a:endParaRPr b="0" sz="1300">
                  <a:solidFill>
                    <a:srgbClr val="1F2937"/>
                  </a:solidFill>
                  <a:latin typeface="Arial"/>
                  <a:ea typeface="Arial"/>
                  <a:cs typeface="Arial"/>
                  <a:sym typeface="Arial"/>
                </a:endParaRPr>
              </a:p>
            </p:txBody>
          </p:sp>
        </p:grpSp>
        <p:sp>
          <p:nvSpPr>
            <p:cNvPr id="134" name="Google Shape;134;p16"/>
            <p:cNvSpPr txBox="1"/>
            <p:nvPr/>
          </p:nvSpPr>
          <p:spPr>
            <a:xfrm>
              <a:off x="0" y="2000250"/>
              <a:ext cx="5143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In this example, </a:t>
              </a:r>
              <a:r>
                <a:rPr b="0" lang="en" sz="1500">
                  <a:solidFill>
                    <a:srgbClr val="1F2937"/>
                  </a:solidFill>
                  <a:latin typeface="Inter SemiBold"/>
                  <a:ea typeface="Inter SemiBold"/>
                  <a:cs typeface="Inter SemiBold"/>
                  <a:sym typeface="Inter SemiBold"/>
                </a:rPr>
                <a:t>greet</a:t>
              </a:r>
              <a:r>
                <a:rPr b="0" lang="en" sz="1300">
                  <a:solidFill>
                    <a:srgbClr val="374151"/>
                  </a:solidFill>
                  <a:latin typeface="Inter"/>
                  <a:ea typeface="Inter"/>
                  <a:cs typeface="Inter"/>
                  <a:sym typeface="Inter"/>
                </a:rPr>
                <a:t> is the function name, and it contains a single instruction to print a welcome message.</a:t>
              </a:r>
              <a:endParaRPr b="0" sz="1300">
                <a:solidFill>
                  <a:srgbClr val="374151"/>
                </a:solidFill>
                <a:latin typeface="Inter"/>
                <a:ea typeface="Inter"/>
                <a:cs typeface="Inter"/>
                <a:sym typeface="Inter"/>
              </a:endParaRPr>
            </a:p>
          </p:txBody>
        </p:sp>
        <p:grpSp>
          <p:nvGrpSpPr>
            <p:cNvPr id="135" name="Google Shape;135;p16"/>
            <p:cNvGrpSpPr/>
            <p:nvPr/>
          </p:nvGrpSpPr>
          <p:grpSpPr>
            <a:xfrm>
              <a:off x="-4762" y="2566988"/>
              <a:ext cx="5153100" cy="1438200"/>
              <a:chOff x="-4762" y="-4762"/>
              <a:chExt cx="5153100" cy="1438200"/>
            </a:xfrm>
          </p:grpSpPr>
          <p:pic>
            <p:nvPicPr>
              <p:cNvPr id="136" name="Google Shape;136;p16"/>
              <p:cNvPicPr preferRelativeResize="0"/>
              <p:nvPr/>
            </p:nvPicPr>
            <p:blipFill rotWithShape="1">
              <a:blip r:embed="rId5">
                <a:alphaModFix/>
              </a:blip>
              <a:srcRect b="0" l="0" r="0" t="0"/>
              <a:stretch/>
            </p:blipFill>
            <p:spPr>
              <a:xfrm>
                <a:off x="-4762" y="-4762"/>
                <a:ext cx="5153100" cy="1438200"/>
              </a:xfrm>
              <a:prstGeom prst="rect">
                <a:avLst/>
              </a:prstGeom>
              <a:noFill/>
              <a:ln>
                <a:noFill/>
              </a:ln>
            </p:spPr>
          </p:pic>
          <p:pic>
            <p:nvPicPr>
              <p:cNvPr id="137" name="Google Shape;137;p16"/>
              <p:cNvPicPr preferRelativeResize="0"/>
              <p:nvPr/>
            </p:nvPicPr>
            <p:blipFill rotWithShape="1">
              <a:blip r:embed="rId6">
                <a:alphaModFix/>
              </a:blip>
              <a:srcRect b="0" l="0" r="0" t="0"/>
              <a:stretch/>
            </p:blipFill>
            <p:spPr>
              <a:xfrm>
                <a:off x="190500" y="190500"/>
                <a:ext cx="1390800" cy="1047900"/>
              </a:xfrm>
              <a:prstGeom prst="roundRect">
                <a:avLst>
                  <a:gd fmla="val 7272" name="adj"/>
                </a:avLst>
              </a:prstGeom>
              <a:noFill/>
              <a:ln>
                <a:noFill/>
              </a:ln>
            </p:spPr>
          </p:pic>
          <p:sp>
            <p:nvSpPr>
              <p:cNvPr id="138" name="Google Shape;138;p16"/>
              <p:cNvSpPr txBox="1"/>
              <p:nvPr/>
            </p:nvSpPr>
            <p:spPr>
              <a:xfrm>
                <a:off x="1714500" y="333375"/>
                <a:ext cx="3238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200">
                    <a:solidFill>
                      <a:srgbClr val="6B7280"/>
                    </a:solidFill>
                    <a:latin typeface="Inter"/>
                    <a:ea typeface="Inter"/>
                    <a:cs typeface="Inter"/>
                    <a:sym typeface="Inter"/>
                  </a:rPr>
                  <a:t>Developers use functions to organize logic into discrete, modular units for better maintainability.</a:t>
                </a:r>
                <a:endParaRPr b="0" i="1" sz="1200">
                  <a:solidFill>
                    <a:srgbClr val="6B7280"/>
                  </a:solidFill>
                  <a:latin typeface="Inter"/>
                  <a:ea typeface="Inter"/>
                  <a:cs typeface="Inter"/>
                  <a:sym typeface="Inter"/>
                </a:endParaRPr>
              </a:p>
            </p:txBody>
          </p:sp>
        </p:grpSp>
      </p:grpSp>
      <p:grpSp>
        <p:nvGrpSpPr>
          <p:cNvPr id="139" name="Google Shape;139;p16"/>
          <p:cNvGrpSpPr/>
          <p:nvPr/>
        </p:nvGrpSpPr>
        <p:grpSpPr>
          <a:xfrm>
            <a:off x="762000" y="5457825"/>
            <a:ext cx="11049000" cy="1019100"/>
            <a:chOff x="762000" y="5457825"/>
            <a:chExt cx="11049000" cy="1019100"/>
          </a:xfrm>
        </p:grpSpPr>
        <p:pic>
          <p:nvPicPr>
            <p:cNvPr id="140" name="Google Shape;140;p16"/>
            <p:cNvPicPr preferRelativeResize="0"/>
            <p:nvPr/>
          </p:nvPicPr>
          <p:blipFill rotWithShape="1">
            <a:blip r:embed="rId7">
              <a:alphaModFix/>
            </a:blip>
            <a:srcRect b="0" l="0" r="0" t="0"/>
            <a:stretch/>
          </p:blipFill>
          <p:spPr>
            <a:xfrm>
              <a:off x="10287000" y="5457825"/>
              <a:ext cx="1524000" cy="1019100"/>
            </a:xfrm>
            <a:prstGeom prst="rect">
              <a:avLst/>
            </a:prstGeom>
            <a:noFill/>
            <a:ln>
              <a:noFill/>
            </a:ln>
          </p:spPr>
        </p:pic>
        <p:sp>
          <p:nvSpPr>
            <p:cNvPr id="141" name="Google Shape;141;p16"/>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45" name="Shape 145"/>
        <p:cNvGrpSpPr/>
        <p:nvPr/>
      </p:nvGrpSpPr>
      <p:grpSpPr>
        <a:xfrm>
          <a:off x="0" y="0"/>
          <a:ext cx="0" cy="0"/>
          <a:chOff x="0" y="0"/>
          <a:chExt cx="0" cy="0"/>
        </a:xfrm>
      </p:grpSpPr>
      <p:pic>
        <p:nvPicPr>
          <p:cNvPr id="146" name="Google Shape;146;p17"/>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147" name="Google Shape;147;p1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Why Use Functions?</a:t>
            </a:r>
            <a:endParaRPr b="0" sz="2700">
              <a:solidFill>
                <a:srgbClr val="045A36"/>
              </a:solidFill>
              <a:latin typeface="Montserrat SemiBold"/>
              <a:ea typeface="Montserrat SemiBold"/>
              <a:cs typeface="Montserrat SemiBold"/>
              <a:sym typeface="Montserrat SemiBold"/>
            </a:endParaRPr>
          </a:p>
        </p:txBody>
      </p:sp>
      <p:sp>
        <p:nvSpPr>
          <p:cNvPr id="148" name="Google Shape;148;p1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17"/>
          <p:cNvSpPr txBox="1"/>
          <p:nvPr/>
        </p:nvSpPr>
        <p:spPr>
          <a:xfrm>
            <a:off x="762000" y="1428750"/>
            <a:ext cx="9525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00">
                <a:solidFill>
                  <a:srgbClr val="045A36"/>
                </a:solidFill>
                <a:latin typeface="Inter SemiBold"/>
                <a:ea typeface="Inter SemiBold"/>
                <a:cs typeface="Inter SemiBold"/>
                <a:sym typeface="Inter SemiBold"/>
              </a:rPr>
              <a:t>Unlocking efficiency and maintainability in your code</a:t>
            </a:r>
            <a:endParaRPr b="0" sz="1600">
              <a:solidFill>
                <a:srgbClr val="045A36"/>
              </a:solidFill>
              <a:latin typeface="Inter SemiBold"/>
              <a:ea typeface="Inter SemiBold"/>
              <a:cs typeface="Inter SemiBold"/>
              <a:sym typeface="Inter SemiBold"/>
            </a:endParaRPr>
          </a:p>
        </p:txBody>
      </p:sp>
      <p:grpSp>
        <p:nvGrpSpPr>
          <p:cNvPr id="150" name="Google Shape;150;p17"/>
          <p:cNvGrpSpPr/>
          <p:nvPr/>
        </p:nvGrpSpPr>
        <p:grpSpPr>
          <a:xfrm>
            <a:off x="762000" y="2047875"/>
            <a:ext cx="4857750" cy="3429000"/>
            <a:chOff x="0" y="0"/>
            <a:chExt cx="4857750" cy="3429000"/>
          </a:xfrm>
        </p:grpSpPr>
        <p:grpSp>
          <p:nvGrpSpPr>
            <p:cNvPr id="151" name="Google Shape;151;p17"/>
            <p:cNvGrpSpPr/>
            <p:nvPr/>
          </p:nvGrpSpPr>
          <p:grpSpPr>
            <a:xfrm>
              <a:off x="0" y="0"/>
              <a:ext cx="4857750" cy="571500"/>
              <a:chOff x="0" y="0"/>
              <a:chExt cx="4857750" cy="571500"/>
            </a:xfrm>
          </p:grpSpPr>
          <p:sp>
            <p:nvSpPr>
              <p:cNvPr id="152" name="Google Shape;152;p17"/>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3" name="Google Shape;153;p17"/>
              <p:cNvSpPr txBox="1"/>
              <p:nvPr/>
            </p:nvSpPr>
            <p:spPr>
              <a:xfrm>
                <a:off x="285750" y="0"/>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Reusability:</a:t>
                </a:r>
                <a:r>
                  <a:rPr b="0" lang="en" sz="1500">
                    <a:solidFill>
                      <a:srgbClr val="374151"/>
                    </a:solidFill>
                    <a:latin typeface="Inter"/>
                    <a:ea typeface="Inter"/>
                    <a:cs typeface="Inter"/>
                    <a:sym typeface="Inter"/>
                  </a:rPr>
                  <a:t> Write code once, use it multiple times across your application.</a:t>
                </a:r>
                <a:endParaRPr b="0" sz="1500">
                  <a:solidFill>
                    <a:srgbClr val="374151"/>
                  </a:solidFill>
                  <a:latin typeface="Inter"/>
                  <a:ea typeface="Inter"/>
                  <a:cs typeface="Inter"/>
                  <a:sym typeface="Inter"/>
                </a:endParaRPr>
              </a:p>
            </p:txBody>
          </p:sp>
        </p:grpSp>
        <p:grpSp>
          <p:nvGrpSpPr>
            <p:cNvPr id="154" name="Google Shape;154;p17"/>
            <p:cNvGrpSpPr/>
            <p:nvPr/>
          </p:nvGrpSpPr>
          <p:grpSpPr>
            <a:xfrm>
              <a:off x="0" y="571500"/>
              <a:ext cx="4857750" cy="571500"/>
              <a:chOff x="0" y="0"/>
              <a:chExt cx="4857750" cy="571500"/>
            </a:xfrm>
          </p:grpSpPr>
          <p:sp>
            <p:nvSpPr>
              <p:cNvPr id="155" name="Google Shape;155;p17"/>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7"/>
              <p:cNvSpPr txBox="1"/>
              <p:nvPr/>
            </p:nvSpPr>
            <p:spPr>
              <a:xfrm>
                <a:off x="285750" y="0"/>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Organization:</a:t>
                </a:r>
                <a:r>
                  <a:rPr b="0" lang="en" sz="1500">
                    <a:solidFill>
                      <a:srgbClr val="374151"/>
                    </a:solidFill>
                    <a:latin typeface="Inter"/>
                    <a:ea typeface="Inter"/>
                    <a:cs typeface="Inter"/>
                    <a:sym typeface="Inter"/>
                  </a:rPr>
                  <a:t> Break complex problems into smaller, manageable pieces.</a:t>
                </a:r>
                <a:endParaRPr b="0" sz="1500">
                  <a:solidFill>
                    <a:srgbClr val="374151"/>
                  </a:solidFill>
                  <a:latin typeface="Inter"/>
                  <a:ea typeface="Inter"/>
                  <a:cs typeface="Inter"/>
                  <a:sym typeface="Inter"/>
                </a:endParaRPr>
              </a:p>
            </p:txBody>
          </p:sp>
        </p:grpSp>
        <p:grpSp>
          <p:nvGrpSpPr>
            <p:cNvPr id="157" name="Google Shape;157;p17"/>
            <p:cNvGrpSpPr/>
            <p:nvPr/>
          </p:nvGrpSpPr>
          <p:grpSpPr>
            <a:xfrm>
              <a:off x="0" y="1143000"/>
              <a:ext cx="4857750" cy="571500"/>
              <a:chOff x="0" y="0"/>
              <a:chExt cx="4857750" cy="571500"/>
            </a:xfrm>
          </p:grpSpPr>
          <p:sp>
            <p:nvSpPr>
              <p:cNvPr id="158" name="Google Shape;158;p17"/>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9" name="Google Shape;159;p17"/>
              <p:cNvSpPr txBox="1"/>
              <p:nvPr/>
            </p:nvSpPr>
            <p:spPr>
              <a:xfrm>
                <a:off x="285750" y="0"/>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Maintenance:</a:t>
                </a:r>
                <a:r>
                  <a:rPr b="0" lang="en" sz="1500">
                    <a:solidFill>
                      <a:srgbClr val="374151"/>
                    </a:solidFill>
                    <a:latin typeface="Inter"/>
                    <a:ea typeface="Inter"/>
                    <a:cs typeface="Inter"/>
                    <a:sym typeface="Inter"/>
                  </a:rPr>
                  <a:t> Updating a function automatically updates its behavior everywhere it is used.</a:t>
                </a:r>
                <a:endParaRPr b="0" sz="1500">
                  <a:solidFill>
                    <a:srgbClr val="374151"/>
                  </a:solidFill>
                  <a:latin typeface="Inter"/>
                  <a:ea typeface="Inter"/>
                  <a:cs typeface="Inter"/>
                  <a:sym typeface="Inter"/>
                </a:endParaRPr>
              </a:p>
            </p:txBody>
          </p:sp>
        </p:grpSp>
        <p:grpSp>
          <p:nvGrpSpPr>
            <p:cNvPr id="160" name="Google Shape;160;p17"/>
            <p:cNvGrpSpPr/>
            <p:nvPr/>
          </p:nvGrpSpPr>
          <p:grpSpPr>
            <a:xfrm>
              <a:off x="0" y="1714500"/>
              <a:ext cx="4857750" cy="571500"/>
              <a:chOff x="0" y="0"/>
              <a:chExt cx="4857750" cy="571500"/>
            </a:xfrm>
          </p:grpSpPr>
          <p:sp>
            <p:nvSpPr>
              <p:cNvPr id="161" name="Google Shape;161;p17"/>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7"/>
              <p:cNvSpPr txBox="1"/>
              <p:nvPr/>
            </p:nvSpPr>
            <p:spPr>
              <a:xfrm>
                <a:off x="285750" y="0"/>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Reduced Duplication:</a:t>
                </a:r>
                <a:r>
                  <a:rPr b="0" lang="en" sz="1500">
                    <a:solidFill>
                      <a:srgbClr val="374151"/>
                    </a:solidFill>
                    <a:latin typeface="Inter"/>
                    <a:ea typeface="Inter"/>
                    <a:cs typeface="Inter"/>
                    <a:sym typeface="Inter"/>
                  </a:rPr>
                  <a:t> Adhere to the DRY (Don't Repeat Yourself) principle.</a:t>
                </a:r>
                <a:endParaRPr b="0" sz="1500">
                  <a:solidFill>
                    <a:srgbClr val="374151"/>
                  </a:solidFill>
                  <a:latin typeface="Inter"/>
                  <a:ea typeface="Inter"/>
                  <a:cs typeface="Inter"/>
                  <a:sym typeface="Inter"/>
                </a:endParaRPr>
              </a:p>
            </p:txBody>
          </p:sp>
        </p:grpSp>
        <p:grpSp>
          <p:nvGrpSpPr>
            <p:cNvPr id="163" name="Google Shape;163;p17"/>
            <p:cNvGrpSpPr/>
            <p:nvPr/>
          </p:nvGrpSpPr>
          <p:grpSpPr>
            <a:xfrm>
              <a:off x="0" y="2286000"/>
              <a:ext cx="4857750" cy="571500"/>
              <a:chOff x="0" y="0"/>
              <a:chExt cx="4857750" cy="571500"/>
            </a:xfrm>
          </p:grpSpPr>
          <p:sp>
            <p:nvSpPr>
              <p:cNvPr id="164" name="Google Shape;164;p17"/>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7"/>
              <p:cNvSpPr txBox="1"/>
              <p:nvPr/>
            </p:nvSpPr>
            <p:spPr>
              <a:xfrm>
                <a:off x="285750" y="0"/>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Readability:</a:t>
                </a:r>
                <a:r>
                  <a:rPr b="0" lang="en" sz="1500">
                    <a:solidFill>
                      <a:srgbClr val="374151"/>
                    </a:solidFill>
                    <a:latin typeface="Inter"/>
                    <a:ea typeface="Inter"/>
                    <a:cs typeface="Inter"/>
                    <a:sym typeface="Inter"/>
                  </a:rPr>
                  <a:t> Well-named functions make your main code read like plain English.</a:t>
                </a:r>
                <a:endParaRPr b="0" sz="1500">
                  <a:solidFill>
                    <a:srgbClr val="374151"/>
                  </a:solidFill>
                  <a:latin typeface="Inter"/>
                  <a:ea typeface="Inter"/>
                  <a:cs typeface="Inter"/>
                  <a:sym typeface="Inter"/>
                </a:endParaRPr>
              </a:p>
            </p:txBody>
          </p:sp>
        </p:grpSp>
        <p:grpSp>
          <p:nvGrpSpPr>
            <p:cNvPr id="166" name="Google Shape;166;p17"/>
            <p:cNvGrpSpPr/>
            <p:nvPr/>
          </p:nvGrpSpPr>
          <p:grpSpPr>
            <a:xfrm>
              <a:off x="0" y="2857500"/>
              <a:ext cx="4857750" cy="571500"/>
              <a:chOff x="0" y="0"/>
              <a:chExt cx="4857750" cy="571500"/>
            </a:xfrm>
          </p:grpSpPr>
          <p:sp>
            <p:nvSpPr>
              <p:cNvPr id="167" name="Google Shape;167;p17"/>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8" name="Google Shape;168;p17"/>
              <p:cNvSpPr txBox="1"/>
              <p:nvPr/>
            </p:nvSpPr>
            <p:spPr>
              <a:xfrm>
                <a:off x="285750" y="0"/>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Debugging:</a:t>
                </a:r>
                <a:r>
                  <a:rPr b="0" lang="en" sz="1500">
                    <a:solidFill>
                      <a:srgbClr val="374151"/>
                    </a:solidFill>
                    <a:latin typeface="Inter"/>
                    <a:ea typeface="Inter"/>
                    <a:cs typeface="Inter"/>
                    <a:sym typeface="Inter"/>
                  </a:rPr>
                  <a:t> Isolate errors to specific blocks of code easily.</a:t>
                </a:r>
                <a:endParaRPr b="0" sz="1500">
                  <a:solidFill>
                    <a:srgbClr val="374151"/>
                  </a:solidFill>
                  <a:latin typeface="Inter"/>
                  <a:ea typeface="Inter"/>
                  <a:cs typeface="Inter"/>
                  <a:sym typeface="Inter"/>
                </a:endParaRPr>
              </a:p>
            </p:txBody>
          </p:sp>
        </p:grpSp>
      </p:grpSp>
      <p:grpSp>
        <p:nvGrpSpPr>
          <p:cNvPr id="169" name="Google Shape;169;p17"/>
          <p:cNvGrpSpPr/>
          <p:nvPr/>
        </p:nvGrpSpPr>
        <p:grpSpPr>
          <a:xfrm>
            <a:off x="5905500" y="2047875"/>
            <a:ext cx="5524500" cy="3105300"/>
            <a:chOff x="0" y="0"/>
            <a:chExt cx="5524500" cy="3105300"/>
          </a:xfrm>
        </p:grpSpPr>
        <p:sp>
          <p:nvSpPr>
            <p:cNvPr id="170" name="Google Shape;170;p17"/>
            <p:cNvSpPr/>
            <p:nvPr/>
          </p:nvSpPr>
          <p:spPr>
            <a:xfrm>
              <a:off x="0" y="0"/>
              <a:ext cx="5524500" cy="3105300"/>
            </a:xfrm>
            <a:prstGeom prst="roundRect">
              <a:avLst>
                <a:gd fmla="val 368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71" name="Google Shape;171;p17"/>
            <p:cNvPicPr preferRelativeResize="0"/>
            <p:nvPr/>
          </p:nvPicPr>
          <p:blipFill rotWithShape="1">
            <a:blip r:embed="rId5">
              <a:alphaModFix/>
            </a:blip>
            <a:srcRect b="80" l="0" r="0" t="0"/>
            <a:stretch/>
          </p:blipFill>
          <p:spPr>
            <a:xfrm>
              <a:off x="0" y="0"/>
              <a:ext cx="5524500" cy="3105300"/>
            </a:xfrm>
            <a:prstGeom prst="roundRect">
              <a:avLst>
                <a:gd fmla="val 3680" name="adj"/>
              </a:avLst>
            </a:prstGeom>
            <a:noFill/>
            <a:ln>
              <a:noFill/>
            </a:ln>
          </p:spPr>
        </p:pic>
      </p:grpSp>
      <p:grpSp>
        <p:nvGrpSpPr>
          <p:cNvPr id="172" name="Google Shape;172;p17"/>
          <p:cNvGrpSpPr/>
          <p:nvPr/>
        </p:nvGrpSpPr>
        <p:grpSpPr>
          <a:xfrm>
            <a:off x="762000" y="5457825"/>
            <a:ext cx="11049000" cy="1019100"/>
            <a:chOff x="762000" y="5457825"/>
            <a:chExt cx="11049000" cy="1019100"/>
          </a:xfrm>
        </p:grpSpPr>
        <p:pic>
          <p:nvPicPr>
            <p:cNvPr id="173" name="Google Shape;173;p17"/>
            <p:cNvPicPr preferRelativeResize="0"/>
            <p:nvPr/>
          </p:nvPicPr>
          <p:blipFill rotWithShape="1">
            <a:blip r:embed="rId6">
              <a:alphaModFix/>
            </a:blip>
            <a:srcRect b="0" l="0" r="0" t="0"/>
            <a:stretch/>
          </p:blipFill>
          <p:spPr>
            <a:xfrm>
              <a:off x="10287000" y="5457825"/>
              <a:ext cx="1524000" cy="1019100"/>
            </a:xfrm>
            <a:prstGeom prst="rect">
              <a:avLst/>
            </a:prstGeom>
            <a:noFill/>
            <a:ln>
              <a:noFill/>
            </a:ln>
          </p:spPr>
        </p:pic>
        <p:sp>
          <p:nvSpPr>
            <p:cNvPr id="174" name="Google Shape;174;p17"/>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80" name="Google Shape;180;p18"/>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181" name="Google Shape;181;p18"/>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Types of Functions in Python</a:t>
            </a:r>
            <a:endParaRPr b="0" sz="2700">
              <a:solidFill>
                <a:srgbClr val="045A36"/>
              </a:solidFill>
              <a:latin typeface="Montserrat SemiBold"/>
              <a:ea typeface="Montserrat SemiBold"/>
              <a:cs typeface="Montserrat SemiBold"/>
              <a:sym typeface="Montserrat SemiBold"/>
            </a:endParaRPr>
          </a:p>
        </p:txBody>
      </p:sp>
      <p:sp>
        <p:nvSpPr>
          <p:cNvPr id="182" name="Google Shape;182;p1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8"/>
          <p:cNvSpPr txBox="1"/>
          <p:nvPr/>
        </p:nvSpPr>
        <p:spPr>
          <a:xfrm>
            <a:off x="762000" y="1285875"/>
            <a:ext cx="10668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50">
                <a:solidFill>
                  <a:srgbClr val="4B5563"/>
                </a:solidFill>
                <a:latin typeface="Inter SemiBold"/>
                <a:ea typeface="Inter SemiBold"/>
                <a:cs typeface="Inter SemiBold"/>
                <a:sym typeface="Inter SemiBold"/>
              </a:rPr>
              <a:t>Categorizing functions by their origin</a:t>
            </a:r>
            <a:endParaRPr b="0" sz="1350">
              <a:solidFill>
                <a:srgbClr val="4B5563"/>
              </a:solidFill>
              <a:latin typeface="Inter SemiBold"/>
              <a:ea typeface="Inter SemiBold"/>
              <a:cs typeface="Inter SemiBold"/>
              <a:sym typeface="Inter SemiBold"/>
            </a:endParaRPr>
          </a:p>
        </p:txBody>
      </p:sp>
      <p:sp>
        <p:nvSpPr>
          <p:cNvPr id="184" name="Google Shape;184;p18"/>
          <p:cNvSpPr/>
          <p:nvPr/>
        </p:nvSpPr>
        <p:spPr>
          <a:xfrm>
            <a:off x="6086475" y="1714500"/>
            <a:ext cx="19200" cy="3619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5" name="Google Shape;185;p18"/>
          <p:cNvGrpSpPr/>
          <p:nvPr/>
        </p:nvGrpSpPr>
        <p:grpSpPr>
          <a:xfrm>
            <a:off x="762000" y="1809750"/>
            <a:ext cx="5143500" cy="2381250"/>
            <a:chOff x="0" y="0"/>
            <a:chExt cx="5143500" cy="2381250"/>
          </a:xfrm>
        </p:grpSpPr>
        <p:sp>
          <p:nvSpPr>
            <p:cNvPr id="186" name="Google Shape;186;p18"/>
            <p:cNvSpPr txBox="1"/>
            <p:nvPr/>
          </p:nvSpPr>
          <p:spPr>
            <a:xfrm>
              <a:off x="0" y="0"/>
              <a:ext cx="5143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50">
                  <a:solidFill>
                    <a:srgbClr val="045A36"/>
                  </a:solidFill>
                  <a:latin typeface="Montserrat SemiBold"/>
                  <a:ea typeface="Montserrat SemiBold"/>
                  <a:cs typeface="Montserrat SemiBold"/>
                  <a:sym typeface="Montserrat SemiBold"/>
                </a:rPr>
                <a:t>Built-in Functions</a:t>
              </a:r>
              <a:endParaRPr b="0" sz="1650">
                <a:solidFill>
                  <a:srgbClr val="045A36"/>
                </a:solidFill>
                <a:latin typeface="Montserrat SemiBold"/>
                <a:ea typeface="Montserrat SemiBold"/>
                <a:cs typeface="Montserrat SemiBold"/>
                <a:sym typeface="Montserrat SemiBold"/>
              </a:endParaRPr>
            </a:p>
          </p:txBody>
        </p:sp>
        <p:sp>
          <p:nvSpPr>
            <p:cNvPr id="187" name="Google Shape;187;p18"/>
            <p:cNvSpPr/>
            <p:nvPr/>
          </p:nvSpPr>
          <p:spPr>
            <a:xfrm>
              <a:off x="0" y="428625"/>
              <a:ext cx="4572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8" name="Google Shape;188;p18"/>
            <p:cNvGrpSpPr/>
            <p:nvPr/>
          </p:nvGrpSpPr>
          <p:grpSpPr>
            <a:xfrm>
              <a:off x="0" y="619125"/>
              <a:ext cx="5048250" cy="762000"/>
              <a:chOff x="0" y="0"/>
              <a:chExt cx="5048250" cy="762000"/>
            </a:xfrm>
          </p:grpSpPr>
          <p:sp>
            <p:nvSpPr>
              <p:cNvPr id="189" name="Google Shape;189;p18"/>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0" name="Google Shape;190;p18"/>
              <p:cNvSpPr txBox="1"/>
              <p:nvPr/>
            </p:nvSpPr>
            <p:spPr>
              <a:xfrm>
                <a:off x="285750" y="0"/>
                <a:ext cx="4762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Functions that are pre-defined in Python and always available for use without importing any modules.</a:t>
                </a:r>
                <a:endParaRPr b="0" sz="1500">
                  <a:solidFill>
                    <a:srgbClr val="374151"/>
                  </a:solidFill>
                  <a:latin typeface="Inter"/>
                  <a:ea typeface="Inter"/>
                  <a:cs typeface="Inter"/>
                  <a:sym typeface="Inter"/>
                </a:endParaRPr>
              </a:p>
            </p:txBody>
          </p:sp>
        </p:grpSp>
        <p:grpSp>
          <p:nvGrpSpPr>
            <p:cNvPr id="191" name="Google Shape;191;p18"/>
            <p:cNvGrpSpPr/>
            <p:nvPr/>
          </p:nvGrpSpPr>
          <p:grpSpPr>
            <a:xfrm>
              <a:off x="285750" y="1524000"/>
              <a:ext cx="4762500" cy="857250"/>
              <a:chOff x="0" y="0"/>
              <a:chExt cx="4762500" cy="857250"/>
            </a:xfrm>
          </p:grpSpPr>
          <p:sp>
            <p:nvSpPr>
              <p:cNvPr id="192" name="Google Shape;192;p18"/>
              <p:cNvSpPr txBox="1"/>
              <p:nvPr/>
            </p:nvSpPr>
            <p:spPr>
              <a:xfrm>
                <a:off x="0" y="0"/>
                <a:ext cx="4762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EXAMPLES</a:t>
                </a:r>
                <a:endParaRPr b="1" sz="1200">
                  <a:solidFill>
                    <a:srgbClr val="D4A017"/>
                  </a:solidFill>
                  <a:latin typeface="Inter"/>
                  <a:ea typeface="Inter"/>
                  <a:cs typeface="Inter"/>
                  <a:sym typeface="Inter"/>
                </a:endParaRPr>
              </a:p>
            </p:txBody>
          </p:sp>
          <p:sp>
            <p:nvSpPr>
              <p:cNvPr id="193" name="Google Shape;193;p18"/>
              <p:cNvSpPr txBox="1"/>
              <p:nvPr/>
            </p:nvSpPr>
            <p:spPr>
              <a:xfrm>
                <a:off x="0" y="285750"/>
                <a:ext cx="4762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1F2937"/>
                    </a:solidFill>
                    <a:latin typeface="Inter Medium"/>
                    <a:ea typeface="Inter Medium"/>
                    <a:cs typeface="Inter Medium"/>
                    <a:sym typeface="Inter Medium"/>
                  </a:rPr>
                  <a:t>print(), len(), type(), max()</a:t>
                </a:r>
                <a:endParaRPr b="0" sz="1400">
                  <a:solidFill>
                    <a:srgbClr val="1F2937"/>
                  </a:solidFill>
                  <a:latin typeface="Inter Medium"/>
                  <a:ea typeface="Inter Medium"/>
                  <a:cs typeface="Inter Medium"/>
                  <a:sym typeface="Inter Medium"/>
                </a:endParaRPr>
              </a:p>
            </p:txBody>
          </p:sp>
        </p:grpSp>
      </p:grpSp>
      <p:grpSp>
        <p:nvGrpSpPr>
          <p:cNvPr id="194" name="Google Shape;194;p18"/>
          <p:cNvGrpSpPr/>
          <p:nvPr/>
        </p:nvGrpSpPr>
        <p:grpSpPr>
          <a:xfrm>
            <a:off x="6477000" y="1809750"/>
            <a:ext cx="5143500" cy="2381250"/>
            <a:chOff x="0" y="0"/>
            <a:chExt cx="5143500" cy="2381250"/>
          </a:xfrm>
        </p:grpSpPr>
        <p:sp>
          <p:nvSpPr>
            <p:cNvPr id="195" name="Google Shape;195;p18"/>
            <p:cNvSpPr txBox="1"/>
            <p:nvPr/>
          </p:nvSpPr>
          <p:spPr>
            <a:xfrm>
              <a:off x="0" y="0"/>
              <a:ext cx="51435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650">
                  <a:solidFill>
                    <a:srgbClr val="045A36"/>
                  </a:solidFill>
                  <a:latin typeface="Montserrat SemiBold"/>
                  <a:ea typeface="Montserrat SemiBold"/>
                  <a:cs typeface="Montserrat SemiBold"/>
                  <a:sym typeface="Montserrat SemiBold"/>
                </a:rPr>
                <a:t>User-Defined Functions</a:t>
              </a:r>
              <a:endParaRPr b="0" sz="1650">
                <a:solidFill>
                  <a:srgbClr val="045A36"/>
                </a:solidFill>
                <a:latin typeface="Montserrat SemiBold"/>
                <a:ea typeface="Montserrat SemiBold"/>
                <a:cs typeface="Montserrat SemiBold"/>
                <a:sym typeface="Montserrat SemiBold"/>
              </a:endParaRPr>
            </a:p>
          </p:txBody>
        </p:sp>
        <p:sp>
          <p:nvSpPr>
            <p:cNvPr id="196" name="Google Shape;196;p18"/>
            <p:cNvSpPr/>
            <p:nvPr/>
          </p:nvSpPr>
          <p:spPr>
            <a:xfrm>
              <a:off x="0" y="428625"/>
              <a:ext cx="4572000" cy="9600"/>
            </a:xfrm>
            <a:prstGeom prst="rect">
              <a:avLst/>
            </a:prstGeom>
            <a:solidFill>
              <a:srgbClr val="F1F5F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97" name="Google Shape;197;p18"/>
            <p:cNvGrpSpPr/>
            <p:nvPr/>
          </p:nvGrpSpPr>
          <p:grpSpPr>
            <a:xfrm>
              <a:off x="0" y="619125"/>
              <a:ext cx="5048250" cy="762000"/>
              <a:chOff x="0" y="0"/>
              <a:chExt cx="5048250" cy="762000"/>
            </a:xfrm>
          </p:grpSpPr>
          <p:sp>
            <p:nvSpPr>
              <p:cNvPr id="198" name="Google Shape;198;p18"/>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9" name="Google Shape;199;p18"/>
              <p:cNvSpPr txBox="1"/>
              <p:nvPr/>
            </p:nvSpPr>
            <p:spPr>
              <a:xfrm>
                <a:off x="285750" y="0"/>
                <a:ext cx="4762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Functions created by the programmer to perform specific tasks tailored to the application's needs.</a:t>
                </a:r>
                <a:endParaRPr b="0" sz="1500">
                  <a:solidFill>
                    <a:srgbClr val="374151"/>
                  </a:solidFill>
                  <a:latin typeface="Inter"/>
                  <a:ea typeface="Inter"/>
                  <a:cs typeface="Inter"/>
                  <a:sym typeface="Inter"/>
                </a:endParaRPr>
              </a:p>
            </p:txBody>
          </p:sp>
        </p:grpSp>
        <p:grpSp>
          <p:nvGrpSpPr>
            <p:cNvPr id="200" name="Google Shape;200;p18"/>
            <p:cNvGrpSpPr/>
            <p:nvPr/>
          </p:nvGrpSpPr>
          <p:grpSpPr>
            <a:xfrm>
              <a:off x="285750" y="1524000"/>
              <a:ext cx="4762500" cy="857250"/>
              <a:chOff x="0" y="0"/>
              <a:chExt cx="4762500" cy="857250"/>
            </a:xfrm>
          </p:grpSpPr>
          <p:sp>
            <p:nvSpPr>
              <p:cNvPr id="201" name="Google Shape;201;p18"/>
              <p:cNvSpPr txBox="1"/>
              <p:nvPr/>
            </p:nvSpPr>
            <p:spPr>
              <a:xfrm>
                <a:off x="0" y="0"/>
                <a:ext cx="4762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EXAMPLES</a:t>
                </a:r>
                <a:endParaRPr b="1" sz="1200">
                  <a:solidFill>
                    <a:srgbClr val="D4A017"/>
                  </a:solidFill>
                  <a:latin typeface="Inter"/>
                  <a:ea typeface="Inter"/>
                  <a:cs typeface="Inter"/>
                  <a:sym typeface="Inter"/>
                </a:endParaRPr>
              </a:p>
            </p:txBody>
          </p:sp>
          <p:sp>
            <p:nvSpPr>
              <p:cNvPr id="202" name="Google Shape;202;p18"/>
              <p:cNvSpPr txBox="1"/>
              <p:nvPr/>
            </p:nvSpPr>
            <p:spPr>
              <a:xfrm>
                <a:off x="0" y="285750"/>
                <a:ext cx="4762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400">
                    <a:solidFill>
                      <a:srgbClr val="1F2937"/>
                    </a:solidFill>
                    <a:latin typeface="Inter Medium"/>
                    <a:ea typeface="Inter Medium"/>
                    <a:cs typeface="Inter Medium"/>
                    <a:sym typeface="Inter Medium"/>
                  </a:rPr>
                  <a:t>calculate_tax(), fetch_user_data(), greet_student()</a:t>
                </a:r>
                <a:endParaRPr b="0" sz="1400">
                  <a:solidFill>
                    <a:srgbClr val="1F2937"/>
                  </a:solidFill>
                  <a:latin typeface="Inter Medium"/>
                  <a:ea typeface="Inter Medium"/>
                  <a:cs typeface="Inter Medium"/>
                  <a:sym typeface="Inter Medium"/>
                </a:endParaRPr>
              </a:p>
            </p:txBody>
          </p:sp>
        </p:grpSp>
      </p:grpSp>
      <p:grpSp>
        <p:nvGrpSpPr>
          <p:cNvPr id="203" name="Google Shape;203;p18"/>
          <p:cNvGrpSpPr/>
          <p:nvPr/>
        </p:nvGrpSpPr>
        <p:grpSpPr>
          <a:xfrm>
            <a:off x="4000500" y="3629025"/>
            <a:ext cx="4191000" cy="2181375"/>
            <a:chOff x="0" y="-942975"/>
            <a:chExt cx="4191000" cy="2181375"/>
          </a:xfrm>
        </p:grpSpPr>
        <p:sp>
          <p:nvSpPr>
            <p:cNvPr id="204" name="Google Shape;204;p18"/>
            <p:cNvSpPr/>
            <p:nvPr/>
          </p:nvSpPr>
          <p:spPr>
            <a:xfrm>
              <a:off x="0" y="0"/>
              <a:ext cx="4191000" cy="1238400"/>
            </a:xfrm>
            <a:prstGeom prst="roundRect">
              <a:avLst>
                <a:gd fmla="val 923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05" name="Google Shape;205;p18"/>
            <p:cNvPicPr preferRelativeResize="0"/>
            <p:nvPr/>
          </p:nvPicPr>
          <p:blipFill rotWithShape="1">
            <a:blip r:embed="rId4">
              <a:alphaModFix/>
            </a:blip>
            <a:srcRect b="60909" l="229" r="229" t="303"/>
            <a:stretch/>
          </p:blipFill>
          <p:spPr>
            <a:xfrm>
              <a:off x="9525" y="-942975"/>
              <a:ext cx="4172100" cy="1219200"/>
            </a:xfrm>
            <a:prstGeom prst="roundRect">
              <a:avLst>
                <a:gd fmla="val 8593" name="adj"/>
              </a:avLst>
            </a:prstGeom>
            <a:noFill/>
            <a:ln>
              <a:noFill/>
            </a:ln>
          </p:spPr>
        </p:pic>
      </p:grpSp>
      <p:grpSp>
        <p:nvGrpSpPr>
          <p:cNvPr id="206" name="Google Shape;206;p18"/>
          <p:cNvGrpSpPr/>
          <p:nvPr/>
        </p:nvGrpSpPr>
        <p:grpSpPr>
          <a:xfrm>
            <a:off x="762000" y="5457825"/>
            <a:ext cx="11049000" cy="1019100"/>
            <a:chOff x="762000" y="5457825"/>
            <a:chExt cx="11049000" cy="1019100"/>
          </a:xfrm>
        </p:grpSpPr>
        <p:pic>
          <p:nvPicPr>
            <p:cNvPr id="207" name="Google Shape;207;p18"/>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208" name="Google Shape;208;p18"/>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9"/>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14" name="Google Shape;214;p19"/>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215" name="Google Shape;215;p19"/>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Creating a Function</a:t>
            </a:r>
            <a:endParaRPr b="0" sz="2700">
              <a:solidFill>
                <a:srgbClr val="045A36"/>
              </a:solidFill>
              <a:latin typeface="Montserrat SemiBold"/>
              <a:ea typeface="Montserrat SemiBold"/>
              <a:cs typeface="Montserrat SemiBold"/>
              <a:sym typeface="Montserrat SemiBold"/>
            </a:endParaRPr>
          </a:p>
        </p:txBody>
      </p:sp>
      <p:sp>
        <p:nvSpPr>
          <p:cNvPr id="216" name="Google Shape;216;p1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9"/>
          <p:cNvSpPr txBox="1"/>
          <p:nvPr/>
        </p:nvSpPr>
        <p:spPr>
          <a:xfrm>
            <a:off x="762000" y="1524000"/>
            <a:ext cx="5143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Defining behavior using the 'def' keyword</a:t>
            </a:r>
            <a:endParaRPr b="0" sz="1500">
              <a:solidFill>
                <a:srgbClr val="1F2937"/>
              </a:solidFill>
              <a:latin typeface="Inter SemiBold"/>
              <a:ea typeface="Inter SemiBold"/>
              <a:cs typeface="Inter SemiBold"/>
              <a:sym typeface="Inter SemiBold"/>
            </a:endParaRPr>
          </a:p>
          <a:p>
            <a:pPr indent="0" lvl="0" marL="0" rtl="0" algn="l">
              <a:spcBef>
                <a:spcPts val="1125"/>
              </a:spcBef>
              <a:spcAft>
                <a:spcPts val="0"/>
              </a:spcAft>
              <a:buNone/>
            </a:pPr>
            <a:r>
              <a:rPr b="0" lang="en" sz="1500">
                <a:solidFill>
                  <a:srgbClr val="374151"/>
                </a:solidFill>
                <a:latin typeface="Inter"/>
                <a:ea typeface="Inter"/>
                <a:cs typeface="Inter"/>
                <a:sym typeface="Inter"/>
              </a:rPr>
              <a:t>To create a function in Python, you use the </a:t>
            </a:r>
            <a:r>
              <a:rPr b="0" lang="en" sz="1500">
                <a:solidFill>
                  <a:srgbClr val="045A36"/>
                </a:solidFill>
                <a:latin typeface="Inter SemiBold"/>
                <a:ea typeface="Inter SemiBold"/>
                <a:cs typeface="Inter SemiBold"/>
                <a:sym typeface="Inter SemiBold"/>
              </a:rPr>
              <a:t>def</a:t>
            </a:r>
            <a:r>
              <a:rPr b="0" lang="en" sz="1500">
                <a:solidFill>
                  <a:srgbClr val="374151"/>
                </a:solidFill>
                <a:latin typeface="Inter"/>
                <a:ea typeface="Inter"/>
                <a:cs typeface="Inter"/>
                <a:sym typeface="Inter"/>
              </a:rPr>
              <a:t> keyword, followed by the function name, parentheses </a:t>
            </a:r>
            <a:r>
              <a:rPr b="0" lang="en" sz="1500">
                <a:solidFill>
                  <a:srgbClr val="D4A017"/>
                </a:solidFill>
                <a:latin typeface="Inter SemiBold"/>
                <a:ea typeface="Inter SemiBold"/>
                <a:cs typeface="Inter SemiBold"/>
                <a:sym typeface="Inter SemiBold"/>
              </a:rPr>
              <a:t>()</a:t>
            </a:r>
            <a:r>
              <a:rPr b="0" lang="en" sz="1500">
                <a:solidFill>
                  <a:srgbClr val="374151"/>
                </a:solidFill>
                <a:latin typeface="Inter"/>
                <a:ea typeface="Inter"/>
                <a:cs typeface="Inter"/>
                <a:sym typeface="Inter"/>
              </a:rPr>
              <a:t>, and a colon </a:t>
            </a:r>
            <a:r>
              <a:rPr b="0" lang="en" sz="1500">
                <a:solidFill>
                  <a:srgbClr val="D4A017"/>
                </a:solidFill>
                <a:latin typeface="Inter SemiBold"/>
                <a:ea typeface="Inter SemiBold"/>
                <a:cs typeface="Inter SemiBold"/>
                <a:sym typeface="Inter SemiBold"/>
              </a:rPr>
              <a:t>:</a:t>
            </a:r>
            <a:r>
              <a:rPr b="0" lang="en" sz="1500">
                <a:solidFill>
                  <a:srgbClr val="374151"/>
                </a:solidFill>
                <a:latin typeface="Inter"/>
                <a:ea typeface="Inter"/>
                <a:cs typeface="Inter"/>
                <a:sym typeface="Inter"/>
              </a:rPr>
              <a:t>.</a:t>
            </a:r>
            <a:endParaRPr b="0" sz="1500">
              <a:solidFill>
                <a:srgbClr val="374151"/>
              </a:solidFill>
              <a:latin typeface="Inter"/>
              <a:ea typeface="Inter"/>
              <a:cs typeface="Inter"/>
              <a:sym typeface="Inter"/>
            </a:endParaRPr>
          </a:p>
          <a:p>
            <a:pPr indent="0" lvl="0" marL="0" rtl="0" algn="l">
              <a:spcBef>
                <a:spcPts val="1500"/>
              </a:spcBef>
              <a:spcAft>
                <a:spcPts val="0"/>
              </a:spcAft>
              <a:buNone/>
            </a:pPr>
            <a:r>
              <a:rPr b="0" lang="en" sz="1500">
                <a:solidFill>
                  <a:srgbClr val="374151"/>
                </a:solidFill>
                <a:latin typeface="Inter"/>
                <a:ea typeface="Inter"/>
                <a:cs typeface="Inter"/>
                <a:sym typeface="Inter"/>
              </a:rPr>
              <a:t>The code block within every function must be indented.</a:t>
            </a:r>
            <a:endParaRPr b="0" sz="1500">
              <a:solidFill>
                <a:srgbClr val="374151"/>
              </a:solidFill>
              <a:latin typeface="Inter"/>
              <a:ea typeface="Inter"/>
              <a:cs typeface="Inter"/>
              <a:sym typeface="Inter"/>
            </a:endParaRPr>
          </a:p>
          <a:p>
            <a:pPr indent="0" lvl="0" marL="0" rtl="0" algn="l">
              <a:spcBef>
                <a:spcPts val="2250"/>
              </a:spcBef>
              <a:spcAft>
                <a:spcPts val="0"/>
              </a:spcAft>
              <a:buNone/>
            </a:pPr>
            <a:r>
              <a:rPr b="1" lang="en" sz="1200">
                <a:solidFill>
                  <a:srgbClr val="D4A017"/>
                </a:solidFill>
                <a:latin typeface="Inter"/>
                <a:ea typeface="Inter"/>
                <a:cs typeface="Inter"/>
                <a:sym typeface="Inter"/>
              </a:rPr>
              <a:t>SYNTAX GUIDE</a:t>
            </a:r>
            <a:endParaRPr b="1" sz="1200">
              <a:solidFill>
                <a:srgbClr val="D4A017"/>
              </a:solidFill>
              <a:latin typeface="Inter"/>
              <a:ea typeface="Inter"/>
              <a:cs typeface="Inter"/>
              <a:sym typeface="Inter"/>
            </a:endParaRPr>
          </a:p>
        </p:txBody>
      </p:sp>
      <p:sp>
        <p:nvSpPr>
          <p:cNvPr id="218" name="Google Shape;218;p19"/>
          <p:cNvSpPr txBox="1"/>
          <p:nvPr/>
        </p:nvSpPr>
        <p:spPr>
          <a:xfrm>
            <a:off x="190500" y="285750"/>
            <a:ext cx="4762500" cy="857400"/>
          </a:xfrm>
          <a:prstGeom prst="rect">
            <a:avLst/>
          </a:prstGeom>
          <a:noFill/>
          <a:ln>
            <a:noFill/>
          </a:ln>
        </p:spPr>
        <p:txBody>
          <a:bodyPr anchorCtr="0" anchor="t" bIns="95250" lIns="95250" spcFirstLastPara="1" rIns="95250" wrap="square" tIns="95250">
            <a:noAutofit/>
          </a:bodyPr>
          <a:lstStyle/>
          <a:p>
            <a:pPr indent="0" lvl="0" marL="0" rtl="0" algn="l">
              <a:spcBef>
                <a:spcPts val="0"/>
              </a:spcBef>
              <a:spcAft>
                <a:spcPts val="0"/>
              </a:spcAft>
              <a:buNone/>
            </a:pPr>
            <a:r>
              <a:rPr b="0" lang="en" sz="1203">
                <a:solidFill>
                  <a:srgbClr val="1F2937"/>
                </a:solidFill>
                <a:highlight>
                  <a:srgbClr val="F1F5F9"/>
                </a:highlight>
                <a:latin typeface="Inter Medium"/>
                <a:ea typeface="Inter Medium"/>
                <a:cs typeface="Inter Medium"/>
                <a:sym typeface="Inter Medium"/>
              </a:rPr>
              <a:t>def function_name():</a:t>
            </a:r>
            <a:endParaRPr b="0" sz="1203">
              <a:solidFill>
                <a:srgbClr val="1F2937"/>
              </a:solidFill>
              <a:highlight>
                <a:srgbClr val="F1F5F9"/>
              </a:highlight>
              <a:latin typeface="Inter Medium"/>
              <a:ea typeface="Inter Medium"/>
              <a:cs typeface="Inter Medium"/>
              <a:sym typeface="Inter Medium"/>
            </a:endParaRPr>
          </a:p>
          <a:p>
            <a:pPr indent="0" lvl="0" marL="190500" marR="0" rtl="0" algn="l">
              <a:spcBef>
                <a:spcPts val="375"/>
              </a:spcBef>
              <a:spcAft>
                <a:spcPts val="0"/>
              </a:spcAft>
              <a:buNone/>
            </a:pPr>
            <a:r>
              <a:rPr b="0" lang="en" sz="1203">
                <a:solidFill>
                  <a:srgbClr val="6B7280"/>
                </a:solidFill>
                <a:highlight>
                  <a:srgbClr val="F1F5F9"/>
                </a:highlight>
                <a:latin typeface="Inter Medium"/>
                <a:ea typeface="Inter Medium"/>
                <a:cs typeface="Inter Medium"/>
                <a:sym typeface="Inter Medium"/>
              </a:rPr>
              <a:t># Code block to execute</a:t>
            </a:r>
            <a:endParaRPr b="0" sz="1203">
              <a:solidFill>
                <a:srgbClr val="6B7280"/>
              </a:solidFill>
              <a:highlight>
                <a:srgbClr val="F1F5F9"/>
              </a:highlight>
              <a:latin typeface="Inter Medium"/>
              <a:ea typeface="Inter Medium"/>
              <a:cs typeface="Inter Medium"/>
              <a:sym typeface="Inter Medium"/>
            </a:endParaRPr>
          </a:p>
          <a:p>
            <a:pPr indent="0" lvl="0" marL="190500" marR="0" rtl="0" algn="l">
              <a:spcBef>
                <a:spcPts val="375"/>
              </a:spcBef>
              <a:spcAft>
                <a:spcPts val="0"/>
              </a:spcAft>
              <a:buNone/>
            </a:pPr>
            <a:r>
              <a:rPr b="0" lang="en" sz="1203">
                <a:solidFill>
                  <a:srgbClr val="1F2937"/>
                </a:solidFill>
                <a:highlight>
                  <a:srgbClr val="F1F5F9"/>
                </a:highlight>
                <a:latin typeface="Inter Medium"/>
                <a:ea typeface="Inter Medium"/>
                <a:cs typeface="Inter Medium"/>
                <a:sym typeface="Inter Medium"/>
              </a:rPr>
              <a:t>statement</a:t>
            </a:r>
            <a:endParaRPr b="0" sz="1203">
              <a:solidFill>
                <a:srgbClr val="1F2937"/>
              </a:solidFill>
              <a:highlight>
                <a:srgbClr val="F1F5F9"/>
              </a:highlight>
              <a:latin typeface="Inter Medium"/>
              <a:ea typeface="Inter Medium"/>
              <a:cs typeface="Inter Medium"/>
              <a:sym typeface="Inter Medium"/>
            </a:endParaRPr>
          </a:p>
        </p:txBody>
      </p:sp>
      <p:grpSp>
        <p:nvGrpSpPr>
          <p:cNvPr id="219" name="Google Shape;219;p19"/>
          <p:cNvGrpSpPr/>
          <p:nvPr/>
        </p:nvGrpSpPr>
        <p:grpSpPr>
          <a:xfrm>
            <a:off x="6286500" y="1524000"/>
            <a:ext cx="5143500" cy="4953000"/>
            <a:chOff x="0" y="0"/>
            <a:chExt cx="5143500" cy="4953000"/>
          </a:xfrm>
        </p:grpSpPr>
        <p:sp>
          <p:nvSpPr>
            <p:cNvPr id="220" name="Google Shape;220;p19"/>
            <p:cNvSpPr txBox="1"/>
            <p:nvPr/>
          </p:nvSpPr>
          <p:spPr>
            <a:xfrm>
              <a:off x="0" y="0"/>
              <a:ext cx="5143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PRACTICAL EXAMPLE</a:t>
              </a:r>
              <a:endParaRPr b="1" sz="1200">
                <a:solidFill>
                  <a:srgbClr val="D4A017"/>
                </a:solidFill>
                <a:latin typeface="Inter"/>
                <a:ea typeface="Inter"/>
                <a:cs typeface="Inter"/>
                <a:sym typeface="Inter"/>
              </a:endParaRPr>
            </a:p>
          </p:txBody>
        </p:sp>
        <p:grpSp>
          <p:nvGrpSpPr>
            <p:cNvPr id="221" name="Google Shape;221;p19"/>
            <p:cNvGrpSpPr/>
            <p:nvPr/>
          </p:nvGrpSpPr>
          <p:grpSpPr>
            <a:xfrm>
              <a:off x="0" y="381000"/>
              <a:ext cx="5143500" cy="1714500"/>
              <a:chOff x="0" y="0"/>
              <a:chExt cx="5143500" cy="1714500"/>
            </a:xfrm>
          </p:grpSpPr>
          <p:sp>
            <p:nvSpPr>
              <p:cNvPr id="222" name="Google Shape;222;p19"/>
              <p:cNvSpPr/>
              <p:nvPr/>
            </p:nvSpPr>
            <p:spPr>
              <a:xfrm>
                <a:off x="0" y="0"/>
                <a:ext cx="5143500" cy="1714500"/>
              </a:xfrm>
              <a:prstGeom prst="roundRect">
                <a:avLst>
                  <a:gd fmla="val 444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3" name="Google Shape;223;p19"/>
              <p:cNvSpPr/>
              <p:nvPr/>
            </p:nvSpPr>
            <p:spPr>
              <a:xfrm>
                <a:off x="0" y="0"/>
                <a:ext cx="57300" cy="1714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4" name="Google Shape;224;p19"/>
              <p:cNvSpPr txBox="1"/>
              <p:nvPr/>
            </p:nvSpPr>
            <p:spPr>
              <a:xfrm>
                <a:off x="238125" y="285750"/>
                <a:ext cx="4667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Inter"/>
                    <a:ea typeface="Inter"/>
                    <a:cs typeface="Inter"/>
                    <a:sym typeface="Inter"/>
                  </a:rPr>
                  <a:t>def</a:t>
                </a:r>
                <a:r>
                  <a:rPr b="0" lang="en" sz="1600">
                    <a:solidFill>
                      <a:srgbClr val="1F2937"/>
                    </a:solidFill>
                    <a:latin typeface="Inter Medium"/>
                    <a:ea typeface="Inter Medium"/>
                    <a:cs typeface="Inter Medium"/>
                    <a:sym typeface="Inter Medium"/>
                  </a:rPr>
                  <a:t> say_hello():</a:t>
                </a:r>
                <a:endParaRPr b="0" sz="1600">
                  <a:solidFill>
                    <a:srgbClr val="1F2937"/>
                  </a:solidFill>
                  <a:latin typeface="Inter Medium"/>
                  <a:ea typeface="Inter Medium"/>
                  <a:cs typeface="Inter Medium"/>
                  <a:sym typeface="Inter Medium"/>
                </a:endParaRPr>
              </a:p>
              <a:p>
                <a:pPr indent="0" lvl="0" marL="0" rtl="0" algn="l">
                  <a:spcBef>
                    <a:spcPts val="1125"/>
                  </a:spcBef>
                  <a:spcAft>
                    <a:spcPts val="0"/>
                  </a:spcAft>
                  <a:buNone/>
                </a:pPr>
                <a:r>
                  <a:rPr b="0" lang="en" sz="1600">
                    <a:solidFill>
                      <a:srgbClr val="0B7A4B"/>
                    </a:solidFill>
                    <a:latin typeface="Inter Medium"/>
                    <a:ea typeface="Inter Medium"/>
                    <a:cs typeface="Inter Medium"/>
                    <a:sym typeface="Inter Medium"/>
                  </a:rPr>
                  <a:t>print</a:t>
                </a:r>
                <a:r>
                  <a:rPr b="0" lang="en" sz="1600">
                    <a:solidFill>
                      <a:srgbClr val="1F2937"/>
                    </a:solidFill>
                    <a:latin typeface="Inter Medium"/>
                    <a:ea typeface="Inter Medium"/>
                    <a:cs typeface="Inter Medium"/>
                    <a:sym typeface="Inter Medium"/>
                  </a:rPr>
                  <a:t>(</a:t>
                </a:r>
                <a:r>
                  <a:rPr b="0" lang="en" sz="1600">
                    <a:solidFill>
                      <a:srgbClr val="D4A017"/>
                    </a:solidFill>
                    <a:latin typeface="Inter Medium"/>
                    <a:ea typeface="Inter Medium"/>
                    <a:cs typeface="Inter Medium"/>
                    <a:sym typeface="Inter Medium"/>
                  </a:rPr>
                  <a:t>"Hello, World!"</a:t>
                </a:r>
                <a:r>
                  <a:rPr b="0" lang="en" sz="1600">
                    <a:solidFill>
                      <a:srgbClr val="1F2937"/>
                    </a:solidFill>
                    <a:latin typeface="Inter Medium"/>
                    <a:ea typeface="Inter Medium"/>
                    <a:cs typeface="Inter Medium"/>
                    <a:sym typeface="Inter Medium"/>
                  </a:rPr>
                  <a:t>)</a:t>
                </a:r>
                <a:endParaRPr b="0" sz="1600">
                  <a:solidFill>
                    <a:srgbClr val="1F2937"/>
                  </a:solidFill>
                  <a:latin typeface="Inter Medium"/>
                  <a:ea typeface="Inter Medium"/>
                  <a:cs typeface="Inter Medium"/>
                  <a:sym typeface="Inter Medium"/>
                </a:endParaRPr>
              </a:p>
            </p:txBody>
          </p:sp>
        </p:grpSp>
        <p:grpSp>
          <p:nvGrpSpPr>
            <p:cNvPr id="225" name="Google Shape;225;p19"/>
            <p:cNvGrpSpPr/>
            <p:nvPr/>
          </p:nvGrpSpPr>
          <p:grpSpPr>
            <a:xfrm>
              <a:off x="0" y="571500"/>
              <a:ext cx="5143500" cy="4381500"/>
              <a:chOff x="0" y="-1714500"/>
              <a:chExt cx="5143500" cy="4381500"/>
            </a:xfrm>
          </p:grpSpPr>
          <p:sp>
            <p:nvSpPr>
              <p:cNvPr id="226" name="Google Shape;226;p19"/>
              <p:cNvSpPr/>
              <p:nvPr/>
            </p:nvSpPr>
            <p:spPr>
              <a:xfrm>
                <a:off x="0" y="0"/>
                <a:ext cx="5143500" cy="2667000"/>
              </a:xfrm>
              <a:prstGeom prst="roundRect">
                <a:avLst>
                  <a:gd fmla="val 428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27" name="Google Shape;227;p19"/>
              <p:cNvPicPr preferRelativeResize="0"/>
              <p:nvPr/>
            </p:nvPicPr>
            <p:blipFill rotWithShape="1">
              <a:blip r:embed="rId4">
                <a:alphaModFix/>
              </a:blip>
              <a:srcRect b="61111" l="0" r="0" t="0"/>
              <a:stretch/>
            </p:blipFill>
            <p:spPr>
              <a:xfrm>
                <a:off x="0" y="-1714500"/>
                <a:ext cx="5143500" cy="2667000"/>
              </a:xfrm>
              <a:prstGeom prst="roundRect">
                <a:avLst>
                  <a:gd fmla="val 4285" name="adj"/>
                </a:avLst>
              </a:prstGeom>
              <a:noFill/>
              <a:ln>
                <a:noFill/>
              </a:ln>
            </p:spPr>
          </p:pic>
        </p:grpSp>
      </p:grpSp>
      <p:grpSp>
        <p:nvGrpSpPr>
          <p:cNvPr id="228" name="Google Shape;228;p19"/>
          <p:cNvGrpSpPr/>
          <p:nvPr/>
        </p:nvGrpSpPr>
        <p:grpSpPr>
          <a:xfrm>
            <a:off x="762000" y="5457825"/>
            <a:ext cx="11049000" cy="1019100"/>
            <a:chOff x="762000" y="5457825"/>
            <a:chExt cx="11049000" cy="1019100"/>
          </a:xfrm>
        </p:grpSpPr>
        <p:pic>
          <p:nvPicPr>
            <p:cNvPr id="229" name="Google Shape;229;p19"/>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230" name="Google Shape;230;p19"/>
            <p:cNvSpPr txBox="1"/>
            <p:nvPr/>
          </p:nvSpPr>
          <p:spPr>
            <a:xfrm>
              <a:off x="762000" y="6134100"/>
              <a:ext cx="5715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4" name="Shape 234"/>
        <p:cNvGrpSpPr/>
        <p:nvPr/>
      </p:nvGrpSpPr>
      <p:grpSpPr>
        <a:xfrm>
          <a:off x="0" y="0"/>
          <a:ext cx="0" cy="0"/>
          <a:chOff x="0" y="0"/>
          <a:chExt cx="0" cy="0"/>
        </a:xfrm>
      </p:grpSpPr>
      <p:sp>
        <p:nvSpPr>
          <p:cNvPr id="235" name="Google Shape;235;p20"/>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6" name="Google Shape;236;p20"/>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Calling a Function</a:t>
            </a:r>
            <a:endParaRPr b="0" sz="2700">
              <a:solidFill>
                <a:srgbClr val="045A36"/>
              </a:solidFill>
              <a:latin typeface="Montserrat SemiBold"/>
              <a:ea typeface="Montserrat SemiBold"/>
              <a:cs typeface="Montserrat SemiBold"/>
              <a:sym typeface="Montserrat SemiBold"/>
            </a:endParaRPr>
          </a:p>
        </p:txBody>
      </p:sp>
      <p:sp>
        <p:nvSpPr>
          <p:cNvPr id="237" name="Google Shape;237;p2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8" name="Google Shape;238;p20"/>
          <p:cNvSpPr txBox="1"/>
          <p:nvPr/>
        </p:nvSpPr>
        <p:spPr>
          <a:xfrm>
            <a:off x="762000" y="1381125"/>
            <a:ext cx="66675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Executing the defined block of code</a:t>
            </a:r>
            <a:endParaRPr b="0" sz="1500">
              <a:solidFill>
                <a:srgbClr val="374151"/>
              </a:solidFill>
              <a:latin typeface="Inter"/>
              <a:ea typeface="Inter"/>
              <a:cs typeface="Inter"/>
              <a:sym typeface="Inter"/>
            </a:endParaRPr>
          </a:p>
          <a:p>
            <a:pPr indent="0" lvl="0" marL="0" rtl="0" algn="l">
              <a:spcBef>
                <a:spcPts val="750"/>
              </a:spcBef>
              <a:spcAft>
                <a:spcPts val="0"/>
              </a:spcAft>
              <a:buNone/>
            </a:pPr>
            <a:r>
              <a:rPr b="0" lang="en" sz="1300">
                <a:solidFill>
                  <a:srgbClr val="4B5563"/>
                </a:solidFill>
                <a:latin typeface="Inter"/>
                <a:ea typeface="Inter"/>
                <a:cs typeface="Inter"/>
                <a:sym typeface="Inter"/>
              </a:rPr>
              <a:t>Defining a function only tells Python what the function should do, but it does not execute the code. To run the function, you must 'call' it by writing its name followed by parentheses.</a:t>
            </a:r>
            <a:endParaRPr b="0" sz="1300">
              <a:solidFill>
                <a:srgbClr val="4B5563"/>
              </a:solidFill>
              <a:latin typeface="Inter"/>
              <a:ea typeface="Inter"/>
              <a:cs typeface="Inter"/>
              <a:sym typeface="Inter"/>
            </a:endParaRPr>
          </a:p>
        </p:txBody>
      </p:sp>
      <p:grpSp>
        <p:nvGrpSpPr>
          <p:cNvPr id="239" name="Google Shape;239;p20"/>
          <p:cNvGrpSpPr/>
          <p:nvPr/>
        </p:nvGrpSpPr>
        <p:grpSpPr>
          <a:xfrm>
            <a:off x="8191500" y="1238250"/>
            <a:ext cx="3238500" cy="1714500"/>
            <a:chOff x="0" y="0"/>
            <a:chExt cx="3238500" cy="1714500"/>
          </a:xfrm>
        </p:grpSpPr>
        <p:sp>
          <p:nvSpPr>
            <p:cNvPr id="240" name="Google Shape;240;p20"/>
            <p:cNvSpPr/>
            <p:nvPr/>
          </p:nvSpPr>
          <p:spPr>
            <a:xfrm>
              <a:off x="0" y="0"/>
              <a:ext cx="32385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41" name="Google Shape;241;p20"/>
            <p:cNvPicPr preferRelativeResize="0"/>
            <p:nvPr/>
          </p:nvPicPr>
          <p:blipFill rotWithShape="1">
            <a:blip r:embed="rId4">
              <a:alphaModFix/>
            </a:blip>
            <a:srcRect b="25000" l="0" r="0" t="25000"/>
            <a:stretch/>
          </p:blipFill>
          <p:spPr>
            <a:xfrm>
              <a:off x="95250" y="95250"/>
              <a:ext cx="3048000" cy="1524000"/>
            </a:xfrm>
            <a:prstGeom prst="roundRect">
              <a:avLst>
                <a:gd fmla="val 7500" name="adj"/>
              </a:avLst>
            </a:prstGeom>
            <a:noFill/>
            <a:ln>
              <a:noFill/>
            </a:ln>
          </p:spPr>
        </p:pic>
      </p:grpSp>
      <p:grpSp>
        <p:nvGrpSpPr>
          <p:cNvPr id="242" name="Google Shape;242;p20"/>
          <p:cNvGrpSpPr/>
          <p:nvPr/>
        </p:nvGrpSpPr>
        <p:grpSpPr>
          <a:xfrm>
            <a:off x="762000" y="3048000"/>
            <a:ext cx="10668000" cy="2381400"/>
            <a:chOff x="0" y="0"/>
            <a:chExt cx="10668000" cy="2381400"/>
          </a:xfrm>
        </p:grpSpPr>
        <p:grpSp>
          <p:nvGrpSpPr>
            <p:cNvPr id="243" name="Google Shape;243;p20"/>
            <p:cNvGrpSpPr/>
            <p:nvPr/>
          </p:nvGrpSpPr>
          <p:grpSpPr>
            <a:xfrm>
              <a:off x="0" y="0"/>
              <a:ext cx="5143500" cy="2381400"/>
              <a:chOff x="0" y="0"/>
              <a:chExt cx="5143500" cy="2381400"/>
            </a:xfrm>
          </p:grpSpPr>
          <p:sp>
            <p:nvSpPr>
              <p:cNvPr id="244" name="Google Shape;244;p20"/>
              <p:cNvSpPr/>
              <p:nvPr/>
            </p:nvSpPr>
            <p:spPr>
              <a:xfrm>
                <a:off x="0" y="0"/>
                <a:ext cx="5143500" cy="2381400"/>
              </a:xfrm>
              <a:prstGeom prst="roundRect">
                <a:avLst>
                  <a:gd fmla="val 48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20"/>
              <p:cNvSpPr/>
              <p:nvPr/>
            </p:nvSpPr>
            <p:spPr>
              <a:xfrm>
                <a:off x="0" y="0"/>
                <a:ext cx="51435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6" name="Google Shape;246;p20"/>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Definition</a:t>
                </a:r>
                <a:endParaRPr b="1" sz="1200">
                  <a:solidFill>
                    <a:srgbClr val="D4A017"/>
                  </a:solidFill>
                  <a:latin typeface="Inter"/>
                  <a:ea typeface="Inter"/>
                  <a:cs typeface="Inter"/>
                  <a:sym typeface="Inter"/>
                </a:endParaRPr>
              </a:p>
            </p:txBody>
          </p:sp>
          <p:grpSp>
            <p:nvGrpSpPr>
              <p:cNvPr id="247" name="Google Shape;247;p20"/>
              <p:cNvGrpSpPr/>
              <p:nvPr/>
            </p:nvGrpSpPr>
            <p:grpSpPr>
              <a:xfrm>
                <a:off x="238125" y="619125"/>
                <a:ext cx="4667400" cy="1428900"/>
                <a:chOff x="0" y="0"/>
                <a:chExt cx="4667400" cy="1428900"/>
              </a:xfrm>
            </p:grpSpPr>
            <p:sp>
              <p:nvSpPr>
                <p:cNvPr id="248" name="Google Shape;248;p20"/>
                <p:cNvSpPr/>
                <p:nvPr/>
              </p:nvSpPr>
              <p:spPr>
                <a:xfrm>
                  <a:off x="0" y="0"/>
                  <a:ext cx="4667400" cy="1428900"/>
                </a:xfrm>
                <a:prstGeom prst="roundRect">
                  <a:avLst>
                    <a:gd fmla="val 5333"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20"/>
                <p:cNvSpPr/>
                <p:nvPr/>
              </p:nvSpPr>
              <p:spPr>
                <a:xfrm>
                  <a:off x="0" y="0"/>
                  <a:ext cx="57300" cy="1428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20"/>
                <p:cNvSpPr txBox="1"/>
                <p:nvPr/>
              </p:nvSpPr>
              <p:spPr>
                <a:xfrm>
                  <a:off x="190500" y="190500"/>
                  <a:ext cx="4286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def </a:t>
                  </a:r>
                  <a:r>
                    <a:rPr b="0" lang="en" sz="1300">
                      <a:solidFill>
                        <a:srgbClr val="1F2937"/>
                      </a:solidFill>
                      <a:latin typeface="Inter Medium"/>
                      <a:ea typeface="Inter Medium"/>
                      <a:cs typeface="Inter Medium"/>
                      <a:sym typeface="Inter Medium"/>
                    </a:rPr>
                    <a:t>display_message():</a:t>
                  </a:r>
                  <a:endParaRPr b="1" sz="1300">
                    <a:solidFill>
                      <a:srgbClr val="045A36"/>
                    </a:solidFill>
                    <a:latin typeface="Inter"/>
                    <a:ea typeface="Inter"/>
                    <a:cs typeface="Inter"/>
                    <a:sym typeface="Inter"/>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print(</a:t>
                  </a:r>
                  <a:r>
                    <a:rPr b="0" lang="en" sz="1300">
                      <a:solidFill>
                        <a:srgbClr val="0B7A4B"/>
                      </a:solidFill>
                      <a:latin typeface="Inter Medium"/>
                      <a:ea typeface="Inter Medium"/>
                      <a:cs typeface="Inter Medium"/>
                      <a:sym typeface="Inter Medium"/>
                    </a:rPr>
                    <a:t>"Learning Python is fun!"</a:t>
                  </a:r>
                  <a:r>
                    <a:rPr b="0" lang="en" sz="1300">
                      <a:solidFill>
                        <a:srgbClr val="1F2937"/>
                      </a:solidFill>
                      <a:latin typeface="Inter Medium"/>
                      <a:ea typeface="Inter Medium"/>
                      <a:cs typeface="Inter Medium"/>
                      <a:sym typeface="Inter Medium"/>
                    </a:rPr>
                    <a:t>)</a:t>
                  </a:r>
                  <a:endParaRPr b="0" sz="1300">
                    <a:solidFill>
                      <a:srgbClr val="1F2937"/>
                    </a:solidFill>
                    <a:latin typeface="Inter Medium"/>
                    <a:ea typeface="Inter Medium"/>
                    <a:cs typeface="Inter Medium"/>
                    <a:sym typeface="Inter Medium"/>
                  </a:endParaRPr>
                </a:p>
              </p:txBody>
            </p:sp>
          </p:grpSp>
        </p:grpSp>
        <p:grpSp>
          <p:nvGrpSpPr>
            <p:cNvPr id="251" name="Google Shape;251;p20"/>
            <p:cNvGrpSpPr/>
            <p:nvPr/>
          </p:nvGrpSpPr>
          <p:grpSpPr>
            <a:xfrm>
              <a:off x="5524500" y="0"/>
              <a:ext cx="5143500" cy="2381400"/>
              <a:chOff x="0" y="0"/>
              <a:chExt cx="5143500" cy="2381400"/>
            </a:xfrm>
          </p:grpSpPr>
          <p:sp>
            <p:nvSpPr>
              <p:cNvPr id="252" name="Google Shape;252;p20"/>
              <p:cNvSpPr/>
              <p:nvPr/>
            </p:nvSpPr>
            <p:spPr>
              <a:xfrm>
                <a:off x="0" y="0"/>
                <a:ext cx="5143500" cy="2381400"/>
              </a:xfrm>
              <a:prstGeom prst="roundRect">
                <a:avLst>
                  <a:gd fmla="val 48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20"/>
              <p:cNvSpPr/>
              <p:nvPr/>
            </p:nvSpPr>
            <p:spPr>
              <a:xfrm>
                <a:off x="0" y="0"/>
                <a:ext cx="5143500" cy="76200"/>
              </a:xfrm>
              <a:prstGeom prst="roundRect">
                <a:avLst>
                  <a:gd fmla="val 50000" name="adj"/>
                </a:avLst>
              </a:prstGeom>
              <a:solidFill>
                <a:srgbClr val="0B7A4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20"/>
              <p:cNvSpPr txBox="1"/>
              <p:nvPr/>
            </p:nvSpPr>
            <p:spPr>
              <a:xfrm>
                <a:off x="238125" y="238125"/>
                <a:ext cx="46674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Execution (Calling)</a:t>
                </a:r>
                <a:endParaRPr b="1" sz="1200">
                  <a:solidFill>
                    <a:srgbClr val="D4A017"/>
                  </a:solidFill>
                  <a:latin typeface="Inter"/>
                  <a:ea typeface="Inter"/>
                  <a:cs typeface="Inter"/>
                  <a:sym typeface="Inter"/>
                </a:endParaRPr>
              </a:p>
            </p:txBody>
          </p:sp>
          <p:grpSp>
            <p:nvGrpSpPr>
              <p:cNvPr id="255" name="Google Shape;255;p20"/>
              <p:cNvGrpSpPr/>
              <p:nvPr/>
            </p:nvGrpSpPr>
            <p:grpSpPr>
              <a:xfrm>
                <a:off x="238125" y="619125"/>
                <a:ext cx="4667400" cy="1428900"/>
                <a:chOff x="0" y="0"/>
                <a:chExt cx="4667400" cy="1428900"/>
              </a:xfrm>
            </p:grpSpPr>
            <p:sp>
              <p:nvSpPr>
                <p:cNvPr id="256" name="Google Shape;256;p20"/>
                <p:cNvSpPr/>
                <p:nvPr/>
              </p:nvSpPr>
              <p:spPr>
                <a:xfrm>
                  <a:off x="0" y="0"/>
                  <a:ext cx="4667400" cy="1428900"/>
                </a:xfrm>
                <a:prstGeom prst="roundRect">
                  <a:avLst>
                    <a:gd fmla="val 5333"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20"/>
                <p:cNvSpPr/>
                <p:nvPr/>
              </p:nvSpPr>
              <p:spPr>
                <a:xfrm>
                  <a:off x="0" y="0"/>
                  <a:ext cx="57300" cy="1428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20"/>
                <p:cNvSpPr txBox="1"/>
                <p:nvPr/>
              </p:nvSpPr>
              <p:spPr>
                <a:xfrm>
                  <a:off x="190500" y="190500"/>
                  <a:ext cx="4286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display_message() </a:t>
                  </a:r>
                  <a:r>
                    <a:rPr b="0" lang="en" sz="1300">
                      <a:solidFill>
                        <a:srgbClr val="6B7280"/>
                      </a:solidFill>
                      <a:latin typeface="Inter Medium"/>
                      <a:ea typeface="Inter Medium"/>
                      <a:cs typeface="Inter Medium"/>
                      <a:sym typeface="Inter Medium"/>
                    </a:rPr>
                    <a:t># This triggers the function</a:t>
                  </a:r>
                  <a:endParaRPr b="0" sz="1300">
                    <a:solidFill>
                      <a:srgbClr val="1F2937"/>
                    </a:solidFill>
                    <a:latin typeface="Inter Medium"/>
                    <a:ea typeface="Inter Medium"/>
                    <a:cs typeface="Inter Medium"/>
                    <a:sym typeface="Inter Medium"/>
                  </a:endParaRPr>
                </a:p>
                <a:p>
                  <a:pPr indent="0" lvl="0" marL="0" rtl="0" algn="l">
                    <a:spcBef>
                      <a:spcPts val="1875"/>
                    </a:spcBef>
                    <a:spcAft>
                      <a:spcPts val="0"/>
                    </a:spcAft>
                    <a:buNone/>
                  </a:pPr>
                  <a:r>
                    <a:rPr b="1" lang="en" sz="1100">
                      <a:solidFill>
                        <a:srgbClr val="6B7280"/>
                      </a:solidFill>
                      <a:latin typeface="Inter"/>
                      <a:ea typeface="Inter"/>
                      <a:cs typeface="Inter"/>
                      <a:sym typeface="Inter"/>
                    </a:rPr>
                    <a:t>OUTPUT:</a:t>
                  </a:r>
                  <a:endParaRPr b="1" sz="1100">
                    <a:solidFill>
                      <a:srgbClr val="6B7280"/>
                    </a:solidFill>
                    <a:latin typeface="Inter"/>
                    <a:ea typeface="Inter"/>
                    <a:cs typeface="Inter"/>
                    <a:sym typeface="Inter"/>
                  </a:endParaRPr>
                </a:p>
                <a:p>
                  <a:pPr indent="0" lvl="0" marL="0" rtl="0" algn="l">
                    <a:spcBef>
                      <a:spcPts val="375"/>
                    </a:spcBef>
                    <a:spcAft>
                      <a:spcPts val="0"/>
                    </a:spcAft>
                    <a:buNone/>
                  </a:pPr>
                  <a:r>
                    <a:rPr b="0" lang="en" sz="1300">
                      <a:solidFill>
                        <a:srgbClr val="045A36"/>
                      </a:solidFill>
                      <a:latin typeface="Inter Medium"/>
                      <a:ea typeface="Inter Medium"/>
                      <a:cs typeface="Inter Medium"/>
                      <a:sym typeface="Inter Medium"/>
                    </a:rPr>
                    <a:t>Learning Python is fun!</a:t>
                  </a:r>
                  <a:endParaRPr b="0" sz="1300">
                    <a:solidFill>
                      <a:srgbClr val="045A36"/>
                    </a:solidFill>
                    <a:latin typeface="Inter Medium"/>
                    <a:ea typeface="Inter Medium"/>
                    <a:cs typeface="Inter Medium"/>
                    <a:sym typeface="Inter Medium"/>
                  </a:endParaRPr>
                </a:p>
              </p:txBody>
            </p:sp>
          </p:grpSp>
        </p:grpSp>
      </p:grpSp>
      <p:grpSp>
        <p:nvGrpSpPr>
          <p:cNvPr id="259" name="Google Shape;259;p20"/>
          <p:cNvGrpSpPr/>
          <p:nvPr/>
        </p:nvGrpSpPr>
        <p:grpSpPr>
          <a:xfrm>
            <a:off x="762000" y="5457825"/>
            <a:ext cx="11049000" cy="1019100"/>
            <a:chOff x="762000" y="5457825"/>
            <a:chExt cx="11049000" cy="1019100"/>
          </a:xfrm>
        </p:grpSpPr>
        <p:pic>
          <p:nvPicPr>
            <p:cNvPr id="260" name="Google Shape;260;p20"/>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261" name="Google Shape;261;p20"/>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sp>
        <p:nvSpPr>
          <p:cNvPr id="266" name="Google Shape;266;p21"/>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7" name="Google Shape;267;p21"/>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21"/>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Function Components</a:t>
            </a:r>
            <a:endParaRPr b="0" sz="2700">
              <a:solidFill>
                <a:srgbClr val="045A36"/>
              </a:solidFill>
              <a:latin typeface="Montserrat SemiBold"/>
              <a:ea typeface="Montserrat SemiBold"/>
              <a:cs typeface="Montserrat SemiBold"/>
              <a:sym typeface="Montserrat SemiBold"/>
            </a:endParaRPr>
          </a:p>
        </p:txBody>
      </p:sp>
      <p:sp>
        <p:nvSpPr>
          <p:cNvPr id="269" name="Google Shape;269;p2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21"/>
          <p:cNvSpPr txBox="1"/>
          <p:nvPr/>
        </p:nvSpPr>
        <p:spPr>
          <a:xfrm>
            <a:off x="762000" y="1333500"/>
            <a:ext cx="10668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045A36"/>
                </a:solidFill>
                <a:latin typeface="Inter SemiBold"/>
                <a:ea typeface="Inter SemiBold"/>
                <a:cs typeface="Inter SemiBold"/>
                <a:sym typeface="Inter SemiBold"/>
              </a:rPr>
              <a:t>Understanding the Anatomy of a Python Function</a:t>
            </a:r>
            <a:endParaRPr b="0" sz="1600">
              <a:solidFill>
                <a:srgbClr val="045A36"/>
              </a:solidFill>
              <a:latin typeface="Inter SemiBold"/>
              <a:ea typeface="Inter SemiBold"/>
              <a:cs typeface="Inter SemiBold"/>
              <a:sym typeface="Inter SemiBold"/>
            </a:endParaRPr>
          </a:p>
        </p:txBody>
      </p:sp>
      <p:grpSp>
        <p:nvGrpSpPr>
          <p:cNvPr id="271" name="Google Shape;271;p21"/>
          <p:cNvGrpSpPr/>
          <p:nvPr/>
        </p:nvGrpSpPr>
        <p:grpSpPr>
          <a:xfrm>
            <a:off x="762000" y="1905000"/>
            <a:ext cx="5334150" cy="3429000"/>
            <a:chOff x="0" y="0"/>
            <a:chExt cx="5334150" cy="3429000"/>
          </a:xfrm>
        </p:grpSpPr>
        <p:grpSp>
          <p:nvGrpSpPr>
            <p:cNvPr id="272" name="Google Shape;272;p21"/>
            <p:cNvGrpSpPr/>
            <p:nvPr/>
          </p:nvGrpSpPr>
          <p:grpSpPr>
            <a:xfrm>
              <a:off x="0" y="0"/>
              <a:ext cx="5334150" cy="571500"/>
              <a:chOff x="0" y="0"/>
              <a:chExt cx="5334150" cy="571500"/>
            </a:xfrm>
          </p:grpSpPr>
          <p:sp>
            <p:nvSpPr>
              <p:cNvPr id="273" name="Google Shape;273;p21"/>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4" name="Google Shape;274;p21"/>
              <p:cNvSpPr txBox="1"/>
              <p:nvPr/>
            </p:nvSpPr>
            <p:spPr>
              <a:xfrm>
                <a:off x="285750" y="0"/>
                <a:ext cx="5048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Keyword:</a:t>
                </a:r>
                <a:r>
                  <a:rPr b="0" lang="en" sz="1500">
                    <a:solidFill>
                      <a:srgbClr val="374151"/>
                    </a:solidFill>
                    <a:latin typeface="Inter"/>
                    <a:ea typeface="Inter"/>
                    <a:cs typeface="Inter"/>
                    <a:sym typeface="Inter"/>
                  </a:rPr>
                  <a:t> The </a:t>
                </a:r>
                <a:r>
                  <a:rPr b="0" lang="en" sz="1500">
                    <a:solidFill>
                      <a:srgbClr val="045A36"/>
                    </a:solidFill>
                    <a:latin typeface="Arial"/>
                    <a:ea typeface="Arial"/>
                    <a:cs typeface="Arial"/>
                    <a:sym typeface="Arial"/>
                  </a:rPr>
                  <a:t>def</a:t>
                </a:r>
                <a:r>
                  <a:rPr b="0" lang="en" sz="1500">
                    <a:solidFill>
                      <a:srgbClr val="374151"/>
                    </a:solidFill>
                    <a:latin typeface="Inter"/>
                    <a:ea typeface="Inter"/>
                    <a:cs typeface="Inter"/>
                    <a:sym typeface="Inter"/>
                  </a:rPr>
                  <a:t> keyword initiates the function definition.</a:t>
                </a:r>
                <a:endParaRPr b="0" sz="1500">
                  <a:solidFill>
                    <a:srgbClr val="374151"/>
                  </a:solidFill>
                  <a:latin typeface="Inter"/>
                  <a:ea typeface="Inter"/>
                  <a:cs typeface="Inter"/>
                  <a:sym typeface="Inter"/>
                </a:endParaRPr>
              </a:p>
            </p:txBody>
          </p:sp>
        </p:grpSp>
        <p:grpSp>
          <p:nvGrpSpPr>
            <p:cNvPr id="275" name="Google Shape;275;p21"/>
            <p:cNvGrpSpPr/>
            <p:nvPr/>
          </p:nvGrpSpPr>
          <p:grpSpPr>
            <a:xfrm>
              <a:off x="0" y="714375"/>
              <a:ext cx="5334150" cy="571500"/>
              <a:chOff x="0" y="0"/>
              <a:chExt cx="5334150" cy="571500"/>
            </a:xfrm>
          </p:grpSpPr>
          <p:sp>
            <p:nvSpPr>
              <p:cNvPr id="276" name="Google Shape;276;p21"/>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21"/>
              <p:cNvSpPr txBox="1"/>
              <p:nvPr/>
            </p:nvSpPr>
            <p:spPr>
              <a:xfrm>
                <a:off x="285750" y="0"/>
                <a:ext cx="5048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Name:</a:t>
                </a:r>
                <a:r>
                  <a:rPr b="0" lang="en" sz="1500">
                    <a:solidFill>
                      <a:srgbClr val="374151"/>
                    </a:solidFill>
                    <a:latin typeface="Inter"/>
                    <a:ea typeface="Inter"/>
                    <a:cs typeface="Inter"/>
                    <a:sym typeface="Inter"/>
                  </a:rPr>
                  <a:t> A unique identifier used to call the function (e.g., </a:t>
                </a:r>
                <a:r>
                  <a:rPr b="0" lang="en" sz="1500">
                    <a:solidFill>
                      <a:srgbClr val="045A36"/>
                    </a:solidFill>
                    <a:latin typeface="Arial"/>
                    <a:ea typeface="Arial"/>
                    <a:cs typeface="Arial"/>
                    <a:sym typeface="Arial"/>
                  </a:rPr>
                  <a:t>calculate_total</a:t>
                </a:r>
                <a:r>
                  <a:rPr b="0" lang="en" sz="1500">
                    <a:solidFill>
                      <a:srgbClr val="374151"/>
                    </a:solidFill>
                    <a:latin typeface="Inter"/>
                    <a:ea typeface="Inter"/>
                    <a:cs typeface="Inter"/>
                    <a:sym typeface="Inter"/>
                  </a:rPr>
                  <a:t>).</a:t>
                </a:r>
                <a:endParaRPr b="0" sz="1500">
                  <a:solidFill>
                    <a:srgbClr val="374151"/>
                  </a:solidFill>
                  <a:latin typeface="Inter"/>
                  <a:ea typeface="Inter"/>
                  <a:cs typeface="Inter"/>
                  <a:sym typeface="Inter"/>
                </a:endParaRPr>
              </a:p>
            </p:txBody>
          </p:sp>
        </p:grpSp>
        <p:grpSp>
          <p:nvGrpSpPr>
            <p:cNvPr id="278" name="Google Shape;278;p21"/>
            <p:cNvGrpSpPr/>
            <p:nvPr/>
          </p:nvGrpSpPr>
          <p:grpSpPr>
            <a:xfrm>
              <a:off x="0" y="1428750"/>
              <a:ext cx="5334150" cy="571500"/>
              <a:chOff x="0" y="0"/>
              <a:chExt cx="5334150" cy="571500"/>
            </a:xfrm>
          </p:grpSpPr>
          <p:sp>
            <p:nvSpPr>
              <p:cNvPr id="279" name="Google Shape;279;p21"/>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0" name="Google Shape;280;p21"/>
              <p:cNvSpPr txBox="1"/>
              <p:nvPr/>
            </p:nvSpPr>
            <p:spPr>
              <a:xfrm>
                <a:off x="285750" y="0"/>
                <a:ext cx="5048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Parameters:</a:t>
                </a:r>
                <a:r>
                  <a:rPr b="0" lang="en" sz="1500">
                    <a:solidFill>
                      <a:srgbClr val="374151"/>
                    </a:solidFill>
                    <a:latin typeface="Inter"/>
                    <a:ea typeface="Inter"/>
                    <a:cs typeface="Inter"/>
                    <a:sym typeface="Inter"/>
                  </a:rPr>
                  <a:t> Optional variables listed inside the parentheses that accept input data.</a:t>
                </a:r>
                <a:endParaRPr b="0" sz="1500">
                  <a:solidFill>
                    <a:srgbClr val="374151"/>
                  </a:solidFill>
                  <a:latin typeface="Inter"/>
                  <a:ea typeface="Inter"/>
                  <a:cs typeface="Inter"/>
                  <a:sym typeface="Inter"/>
                </a:endParaRPr>
              </a:p>
            </p:txBody>
          </p:sp>
        </p:grpSp>
        <p:grpSp>
          <p:nvGrpSpPr>
            <p:cNvPr id="281" name="Google Shape;281;p21"/>
            <p:cNvGrpSpPr/>
            <p:nvPr/>
          </p:nvGrpSpPr>
          <p:grpSpPr>
            <a:xfrm>
              <a:off x="0" y="2143125"/>
              <a:ext cx="5334150" cy="571500"/>
              <a:chOff x="0" y="0"/>
              <a:chExt cx="5334150" cy="571500"/>
            </a:xfrm>
          </p:grpSpPr>
          <p:sp>
            <p:nvSpPr>
              <p:cNvPr id="282" name="Google Shape;282;p21"/>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21"/>
              <p:cNvSpPr txBox="1"/>
              <p:nvPr/>
            </p:nvSpPr>
            <p:spPr>
              <a:xfrm>
                <a:off x="285750" y="0"/>
                <a:ext cx="5048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Body:</a:t>
                </a:r>
                <a:r>
                  <a:rPr b="0" lang="en" sz="1500">
                    <a:solidFill>
                      <a:srgbClr val="374151"/>
                    </a:solidFill>
                    <a:latin typeface="Inter"/>
                    <a:ea typeface="Inter"/>
                    <a:cs typeface="Inter"/>
                    <a:sym typeface="Inter"/>
                  </a:rPr>
                  <a:t> The indented block of code that performs the actual operations.</a:t>
                </a:r>
                <a:endParaRPr b="0" sz="1500">
                  <a:solidFill>
                    <a:srgbClr val="374151"/>
                  </a:solidFill>
                  <a:latin typeface="Inter"/>
                  <a:ea typeface="Inter"/>
                  <a:cs typeface="Inter"/>
                  <a:sym typeface="Inter"/>
                </a:endParaRPr>
              </a:p>
            </p:txBody>
          </p:sp>
        </p:grpSp>
        <p:grpSp>
          <p:nvGrpSpPr>
            <p:cNvPr id="284" name="Google Shape;284;p21"/>
            <p:cNvGrpSpPr/>
            <p:nvPr/>
          </p:nvGrpSpPr>
          <p:grpSpPr>
            <a:xfrm>
              <a:off x="0" y="2857500"/>
              <a:ext cx="5334150" cy="571500"/>
              <a:chOff x="0" y="0"/>
              <a:chExt cx="5334150" cy="571500"/>
            </a:xfrm>
          </p:grpSpPr>
          <p:sp>
            <p:nvSpPr>
              <p:cNvPr id="285" name="Google Shape;285;p21"/>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21"/>
              <p:cNvSpPr txBox="1"/>
              <p:nvPr/>
            </p:nvSpPr>
            <p:spPr>
              <a:xfrm>
                <a:off x="285750" y="0"/>
                <a:ext cx="5048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Return Statement:</a:t>
                </a:r>
                <a:r>
                  <a:rPr b="0" lang="en" sz="1500">
                    <a:solidFill>
                      <a:srgbClr val="374151"/>
                    </a:solidFill>
                    <a:latin typeface="Inter"/>
                    <a:ea typeface="Inter"/>
                    <a:cs typeface="Inter"/>
                    <a:sym typeface="Inter"/>
                  </a:rPr>
                  <a:t> An optional statement that sends a result back to the caller.</a:t>
                </a:r>
                <a:endParaRPr b="0" sz="1500">
                  <a:solidFill>
                    <a:srgbClr val="374151"/>
                  </a:solidFill>
                  <a:latin typeface="Inter"/>
                  <a:ea typeface="Inter"/>
                  <a:cs typeface="Inter"/>
                  <a:sym typeface="Inter"/>
                </a:endParaRPr>
              </a:p>
            </p:txBody>
          </p:sp>
        </p:grpSp>
      </p:grpSp>
      <p:grpSp>
        <p:nvGrpSpPr>
          <p:cNvPr id="287" name="Google Shape;287;p21"/>
          <p:cNvGrpSpPr/>
          <p:nvPr/>
        </p:nvGrpSpPr>
        <p:grpSpPr>
          <a:xfrm>
            <a:off x="6286500" y="1905000"/>
            <a:ext cx="5143500" cy="3238500"/>
            <a:chOff x="0" y="0"/>
            <a:chExt cx="5143500" cy="3238500"/>
          </a:xfrm>
        </p:grpSpPr>
        <p:sp>
          <p:nvSpPr>
            <p:cNvPr id="288" name="Google Shape;288;p21"/>
            <p:cNvSpPr txBox="1"/>
            <p:nvPr/>
          </p:nvSpPr>
          <p:spPr>
            <a:xfrm>
              <a:off x="0" y="0"/>
              <a:ext cx="5143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CODE STRUCTURE ANATOMY</a:t>
              </a:r>
              <a:endParaRPr b="1" sz="1200">
                <a:solidFill>
                  <a:srgbClr val="D4A017"/>
                </a:solidFill>
                <a:latin typeface="Inter"/>
                <a:ea typeface="Inter"/>
                <a:cs typeface="Inter"/>
                <a:sym typeface="Inter"/>
              </a:endParaRPr>
            </a:p>
          </p:txBody>
        </p:sp>
        <p:grpSp>
          <p:nvGrpSpPr>
            <p:cNvPr id="289" name="Google Shape;289;p21"/>
            <p:cNvGrpSpPr/>
            <p:nvPr/>
          </p:nvGrpSpPr>
          <p:grpSpPr>
            <a:xfrm>
              <a:off x="0" y="381000"/>
              <a:ext cx="4953000" cy="1714500"/>
              <a:chOff x="0" y="0"/>
              <a:chExt cx="4953000" cy="1714500"/>
            </a:xfrm>
          </p:grpSpPr>
          <p:sp>
            <p:nvSpPr>
              <p:cNvPr id="290" name="Google Shape;290;p21"/>
              <p:cNvSpPr/>
              <p:nvPr/>
            </p:nvSpPr>
            <p:spPr>
              <a:xfrm>
                <a:off x="0" y="0"/>
                <a:ext cx="4953000" cy="1714500"/>
              </a:xfrm>
              <a:prstGeom prst="roundRect">
                <a:avLst>
                  <a:gd fmla="val 444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1" name="Google Shape;291;p21"/>
              <p:cNvSpPr/>
              <p:nvPr/>
            </p:nvSpPr>
            <p:spPr>
              <a:xfrm>
                <a:off x="0" y="0"/>
                <a:ext cx="57300" cy="1714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2" name="Google Shape;292;p21"/>
              <p:cNvSpPr txBox="1"/>
              <p:nvPr/>
            </p:nvSpPr>
            <p:spPr>
              <a:xfrm>
                <a:off x="238125" y="238125"/>
                <a:ext cx="4476900" cy="1238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300">
                    <a:solidFill>
                      <a:srgbClr val="0B7A4B"/>
                    </a:solidFill>
                    <a:latin typeface="Inter"/>
                    <a:ea typeface="Inter"/>
                    <a:cs typeface="Inter"/>
                    <a:sym typeface="Inter"/>
                  </a:rPr>
                  <a:t>def</a:t>
                </a:r>
                <a:r>
                  <a:rPr b="0" lang="en" sz="1300">
                    <a:solidFill>
                      <a:srgbClr val="045A36"/>
                    </a:solidFill>
                    <a:latin typeface="Inter Medium"/>
                    <a:ea typeface="Inter Medium"/>
                    <a:cs typeface="Inter Medium"/>
                    <a:sym typeface="Inter Medium"/>
                  </a:rPr>
                  <a:t> </a:t>
                </a:r>
                <a:r>
                  <a:rPr b="0" lang="en" sz="1300">
                    <a:solidFill>
                      <a:srgbClr val="045A36"/>
                    </a:solidFill>
                    <a:latin typeface="Inter SemiBold"/>
                    <a:ea typeface="Inter SemiBold"/>
                    <a:cs typeface="Inter SemiBold"/>
                    <a:sym typeface="Inter SemiBold"/>
                  </a:rPr>
                  <a:t>add_numbers</a:t>
                </a:r>
                <a:r>
                  <a:rPr b="0" lang="en" sz="1300">
                    <a:solidFill>
                      <a:srgbClr val="045A36"/>
                    </a:solidFill>
                    <a:latin typeface="Inter Medium"/>
                    <a:ea typeface="Inter Medium"/>
                    <a:cs typeface="Inter Medium"/>
                    <a:sym typeface="Inter Medium"/>
                  </a:rPr>
                  <a:t>(a, b): </a:t>
                </a:r>
                <a:r>
                  <a:rPr b="0" lang="en" sz="1100">
                    <a:solidFill>
                      <a:srgbClr val="6B7280"/>
                    </a:solidFill>
                    <a:latin typeface="Inter Medium"/>
                    <a:ea typeface="Inter Medium"/>
                    <a:cs typeface="Inter Medium"/>
                    <a:sym typeface="Inter Medium"/>
                  </a:rPr>
                  <a:t># def, name, parameters</a:t>
                </a:r>
                <a:endParaRPr b="0" sz="1300">
                  <a:solidFill>
                    <a:srgbClr val="045A36"/>
                  </a:solidFill>
                  <a:latin typeface="Inter Medium"/>
                  <a:ea typeface="Inter Medium"/>
                  <a:cs typeface="Inter Medium"/>
                  <a:sym typeface="Inter Medium"/>
                </a:endParaRPr>
              </a:p>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sum = a + b </a:t>
                </a:r>
                <a:r>
                  <a:rPr b="0" lang="en" sz="1100">
                    <a:solidFill>
                      <a:srgbClr val="6B7280"/>
                    </a:solidFill>
                    <a:latin typeface="Inter Medium"/>
                    <a:ea typeface="Inter Medium"/>
                    <a:cs typeface="Inter Medium"/>
                    <a:sym typeface="Inter Medium"/>
                  </a:rPr>
                  <a:t># body</a:t>
                </a:r>
                <a:endParaRPr b="0" sz="1300">
                  <a:solidFill>
                    <a:srgbClr val="1F2937"/>
                  </a:solidFill>
                  <a:latin typeface="Inter Medium"/>
                  <a:ea typeface="Inter Medium"/>
                  <a:cs typeface="Inter Medium"/>
                  <a:sym typeface="Inter Medium"/>
                </a:endParaRPr>
              </a:p>
              <a:p>
                <a:pPr indent="0" lvl="0" marL="0" rtl="0" algn="l">
                  <a:spcBef>
                    <a:spcPts val="0"/>
                  </a:spcBef>
                  <a:spcAft>
                    <a:spcPts val="0"/>
                  </a:spcAft>
                  <a:buNone/>
                </a:pPr>
                <a:r>
                  <a:rPr b="1" lang="en" sz="1300">
                    <a:solidFill>
                      <a:srgbClr val="0B7A4B"/>
                    </a:solidFill>
                    <a:latin typeface="Inter"/>
                    <a:ea typeface="Inter"/>
                    <a:cs typeface="Inter"/>
                    <a:sym typeface="Inter"/>
                  </a:rPr>
                  <a:t>return</a:t>
                </a:r>
                <a:r>
                  <a:rPr b="0" lang="en" sz="1300">
                    <a:solidFill>
                      <a:srgbClr val="1F2937"/>
                    </a:solidFill>
                    <a:latin typeface="Inter Medium"/>
                    <a:ea typeface="Inter Medium"/>
                    <a:cs typeface="Inter Medium"/>
                    <a:sym typeface="Inter Medium"/>
                  </a:rPr>
                  <a:t> sum </a:t>
                </a:r>
                <a:r>
                  <a:rPr b="0" lang="en" sz="1100">
                    <a:solidFill>
                      <a:srgbClr val="6B7280"/>
                    </a:solidFill>
                    <a:latin typeface="Inter Medium"/>
                    <a:ea typeface="Inter Medium"/>
                    <a:cs typeface="Inter Medium"/>
                    <a:sym typeface="Inter Medium"/>
                  </a:rPr>
                  <a:t># return statement</a:t>
                </a:r>
                <a:endParaRPr b="0" sz="1300">
                  <a:solidFill>
                    <a:srgbClr val="1F2937"/>
                  </a:solidFill>
                  <a:latin typeface="Inter Medium"/>
                  <a:ea typeface="Inter Medium"/>
                  <a:cs typeface="Inter Medium"/>
                  <a:sym typeface="Inter Medium"/>
                </a:endParaRPr>
              </a:p>
            </p:txBody>
          </p:sp>
        </p:grpSp>
        <p:pic>
          <p:nvPicPr>
            <p:cNvPr id="293" name="Google Shape;293;p21"/>
            <p:cNvPicPr preferRelativeResize="0"/>
            <p:nvPr/>
          </p:nvPicPr>
          <p:blipFill rotWithShape="1">
            <a:blip r:embed="rId3">
              <a:alphaModFix/>
            </a:blip>
            <a:srcRect b="0" l="0" r="0" t="0"/>
            <a:stretch/>
          </p:blipFill>
          <p:spPr>
            <a:xfrm>
              <a:off x="85725" y="704850"/>
              <a:ext cx="200100" cy="438300"/>
            </a:xfrm>
            <a:prstGeom prst="rect">
              <a:avLst/>
            </a:prstGeom>
            <a:noFill/>
            <a:ln>
              <a:noFill/>
            </a:ln>
          </p:spPr>
        </p:pic>
        <p:pic>
          <p:nvPicPr>
            <p:cNvPr id="294" name="Google Shape;294;p21"/>
            <p:cNvPicPr preferRelativeResize="0"/>
            <p:nvPr/>
          </p:nvPicPr>
          <p:blipFill rotWithShape="1">
            <a:blip r:embed="rId4">
              <a:alphaModFix/>
            </a:blip>
            <a:srcRect b="0" l="0" r="0" t="0"/>
            <a:stretch/>
          </p:blipFill>
          <p:spPr>
            <a:xfrm>
              <a:off x="752475" y="476250"/>
              <a:ext cx="19200" cy="238200"/>
            </a:xfrm>
            <a:prstGeom prst="rect">
              <a:avLst/>
            </a:prstGeom>
            <a:noFill/>
            <a:ln>
              <a:noFill/>
            </a:ln>
          </p:spPr>
        </p:pic>
        <p:sp>
          <p:nvSpPr>
            <p:cNvPr id="295" name="Google Shape;295;p21"/>
            <p:cNvSpPr txBox="1"/>
            <p:nvPr/>
          </p:nvSpPr>
          <p:spPr>
            <a:xfrm>
              <a:off x="0" y="2286000"/>
              <a:ext cx="4953000" cy="952500"/>
            </a:xfrm>
            <a:prstGeom prst="rect">
              <a:avLst/>
            </a:prstGeom>
            <a:noFill/>
            <a:ln>
              <a:noFill/>
            </a:ln>
          </p:spPr>
          <p:txBody>
            <a:bodyPr anchorCtr="0" anchor="t" bIns="142875" lIns="142875" spcFirstLastPara="1" rIns="142875" wrap="square" tIns="142875">
              <a:noAutofit/>
            </a:bodyPr>
            <a:lstStyle/>
            <a:p>
              <a:pPr indent="0" lvl="0" marL="0" rtl="0" algn="l">
                <a:spcBef>
                  <a:spcPts val="0"/>
                </a:spcBef>
                <a:spcAft>
                  <a:spcPts val="0"/>
                </a:spcAft>
                <a:buNone/>
              </a:pPr>
              <a:r>
                <a:rPr b="0" i="1" lang="en" sz="1200">
                  <a:solidFill>
                    <a:srgbClr val="6B7280"/>
                  </a:solidFill>
                  <a:latin typeface="Inter"/>
                  <a:ea typeface="Inter"/>
                  <a:cs typeface="Inter"/>
                  <a:sym typeface="Inter"/>
                </a:rPr>
                <a:t>Functions provide a way to group code into reusable blocks. The structure above shows how inputs (parameters) are processed in the body and output via a return statement.</a:t>
              </a:r>
              <a:endParaRPr b="0" i="1" sz="1200">
                <a:solidFill>
                  <a:srgbClr val="6B7280"/>
                </a:solidFill>
                <a:latin typeface="Inter"/>
                <a:ea typeface="Inter"/>
                <a:cs typeface="Inter"/>
                <a:sym typeface="Inter"/>
              </a:endParaRPr>
            </a:p>
          </p:txBody>
        </p:sp>
      </p:grpSp>
      <p:grpSp>
        <p:nvGrpSpPr>
          <p:cNvPr id="296" name="Google Shape;296;p21"/>
          <p:cNvGrpSpPr/>
          <p:nvPr/>
        </p:nvGrpSpPr>
        <p:grpSpPr>
          <a:xfrm>
            <a:off x="762000" y="5457825"/>
            <a:ext cx="11049000" cy="1019100"/>
            <a:chOff x="762000" y="5457825"/>
            <a:chExt cx="11049000" cy="1019100"/>
          </a:xfrm>
        </p:grpSpPr>
        <p:grpSp>
          <p:nvGrpSpPr>
            <p:cNvPr id="297" name="Google Shape;297;p21"/>
            <p:cNvGrpSpPr/>
            <p:nvPr/>
          </p:nvGrpSpPr>
          <p:grpSpPr>
            <a:xfrm>
              <a:off x="10287000" y="5457825"/>
              <a:ext cx="1524000" cy="1019100"/>
              <a:chOff x="0" y="0"/>
              <a:chExt cx="1524000" cy="1019100"/>
            </a:xfrm>
          </p:grpSpPr>
          <p:sp>
            <p:nvSpPr>
              <p:cNvPr id="298" name="Google Shape;298;p21"/>
              <p:cNvSpPr/>
              <p:nvPr/>
            </p:nvSpPr>
            <p:spPr>
              <a:xfrm>
                <a:off x="0" y="0"/>
                <a:ext cx="1524000" cy="10191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9" name="Google Shape;299;p21"/>
              <p:cNvSpPr/>
              <p:nvPr/>
            </p:nvSpPr>
            <p:spPr>
              <a:xfrm>
                <a:off x="381000" y="285750"/>
                <a:ext cx="762000" cy="476400"/>
              </a:xfrm>
              <a:custGeom>
                <a:rect b="b" l="l" r="r" t="t"/>
                <a:pathLst>
                  <a:path extrusionOk="0" h="120000" w="120000">
                    <a:moveTo>
                      <a:pt x="0" y="0"/>
                    </a:moveTo>
                    <a:lnTo>
                      <a:pt x="120000" y="0"/>
                    </a:lnTo>
                    <a:lnTo>
                      <a:pt x="60000" y="120000"/>
                    </a:lnTo>
                    <a:close/>
                  </a:path>
                </a:pathLst>
              </a:cu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21"/>
              <p:cNvSpPr/>
              <p:nvPr/>
            </p:nvSpPr>
            <p:spPr>
              <a:xfrm>
                <a:off x="666750" y="428625"/>
                <a:ext cx="190500" cy="190500"/>
              </a:xfrm>
              <a:prstGeom prst="ellipse">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301" name="Google Shape;301;p21"/>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2"/>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07" name="Google Shape;307;p22"/>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308" name="Google Shape;308;p22"/>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Function Parameters</a:t>
            </a:r>
            <a:endParaRPr b="0" sz="2700">
              <a:solidFill>
                <a:srgbClr val="045A36"/>
              </a:solidFill>
              <a:latin typeface="Montserrat SemiBold"/>
              <a:ea typeface="Montserrat SemiBold"/>
              <a:cs typeface="Montserrat SemiBold"/>
              <a:sym typeface="Montserrat SemiBold"/>
            </a:endParaRPr>
          </a:p>
        </p:txBody>
      </p:sp>
      <p:sp>
        <p:nvSpPr>
          <p:cNvPr id="309" name="Google Shape;309;p2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10" name="Google Shape;310;p22"/>
          <p:cNvGrpSpPr/>
          <p:nvPr/>
        </p:nvGrpSpPr>
        <p:grpSpPr>
          <a:xfrm>
            <a:off x="762000" y="1524000"/>
            <a:ext cx="5143500" cy="4048125"/>
            <a:chOff x="0" y="0"/>
            <a:chExt cx="5143500" cy="4048125"/>
          </a:xfrm>
        </p:grpSpPr>
        <p:grpSp>
          <p:nvGrpSpPr>
            <p:cNvPr id="311" name="Google Shape;311;p22"/>
            <p:cNvGrpSpPr/>
            <p:nvPr/>
          </p:nvGrpSpPr>
          <p:grpSpPr>
            <a:xfrm>
              <a:off x="0" y="0"/>
              <a:ext cx="4762500" cy="809700"/>
              <a:chOff x="0" y="0"/>
              <a:chExt cx="4762500" cy="809700"/>
            </a:xfrm>
          </p:grpSpPr>
          <p:sp>
            <p:nvSpPr>
              <p:cNvPr id="312" name="Google Shape;312;p22"/>
              <p:cNvSpPr/>
              <p:nvPr/>
            </p:nvSpPr>
            <p:spPr>
              <a:xfrm>
                <a:off x="0" y="0"/>
                <a:ext cx="38100" cy="8097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2"/>
              <p:cNvSpPr txBox="1"/>
              <p:nvPr/>
            </p:nvSpPr>
            <p:spPr>
              <a:xfrm>
                <a:off x="190500" y="0"/>
                <a:ext cx="457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CORE CONCEPT</a:t>
                </a:r>
                <a:endParaRPr b="1" sz="1200">
                  <a:solidFill>
                    <a:srgbClr val="D4A017"/>
                  </a:solidFill>
                  <a:latin typeface="Inter"/>
                  <a:ea typeface="Inter"/>
                  <a:cs typeface="Inter"/>
                  <a:sym typeface="Inter"/>
                </a:endParaRPr>
              </a:p>
            </p:txBody>
          </p:sp>
          <p:sp>
            <p:nvSpPr>
              <p:cNvPr id="314" name="Google Shape;314;p22"/>
              <p:cNvSpPr txBox="1"/>
              <p:nvPr/>
            </p:nvSpPr>
            <p:spPr>
              <a:xfrm>
                <a:off x="190500" y="238125"/>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Passing data into your functions for dynamic behavior.</a:t>
                </a:r>
                <a:endParaRPr b="0" sz="1500">
                  <a:solidFill>
                    <a:srgbClr val="374151"/>
                  </a:solidFill>
                  <a:latin typeface="Inter"/>
                  <a:ea typeface="Inter"/>
                  <a:cs typeface="Inter"/>
                  <a:sym typeface="Inter"/>
                </a:endParaRPr>
              </a:p>
            </p:txBody>
          </p:sp>
        </p:grpSp>
        <p:sp>
          <p:nvSpPr>
            <p:cNvPr id="315" name="Google Shape;315;p22"/>
            <p:cNvSpPr txBox="1"/>
            <p:nvPr/>
          </p:nvSpPr>
          <p:spPr>
            <a:xfrm>
              <a:off x="0" y="1190625"/>
              <a:ext cx="51435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Parameters are variables listed inside the parentheses in the function definition.</a:t>
              </a:r>
              <a:endParaRPr b="0" sz="1500">
                <a:solidFill>
                  <a:srgbClr val="374151"/>
                </a:solidFill>
                <a:latin typeface="Inter"/>
                <a:ea typeface="Inter"/>
                <a:cs typeface="Inter"/>
                <a:sym typeface="Inter"/>
              </a:endParaRPr>
            </a:p>
            <a:p>
              <a:pPr indent="0" lvl="0" marL="0" rtl="0" algn="l">
                <a:spcBef>
                  <a:spcPts val="1125"/>
                </a:spcBef>
                <a:spcAft>
                  <a:spcPts val="0"/>
                </a:spcAft>
                <a:buNone/>
              </a:pPr>
              <a:r>
                <a:rPr b="0" lang="en" sz="1500">
                  <a:solidFill>
                    <a:srgbClr val="374151"/>
                  </a:solidFill>
                  <a:latin typeface="Inter"/>
                  <a:ea typeface="Inter"/>
                  <a:cs typeface="Inter"/>
                  <a:sym typeface="Inter"/>
                </a:rPr>
                <a:t>They allow you to pass information into a function so it can perform operations on different data each time it is called.</a:t>
              </a:r>
              <a:endParaRPr b="0" sz="1500">
                <a:solidFill>
                  <a:srgbClr val="374151"/>
                </a:solidFill>
                <a:latin typeface="Inter"/>
                <a:ea typeface="Inter"/>
                <a:cs typeface="Inter"/>
                <a:sym typeface="Inter"/>
              </a:endParaRPr>
            </a:p>
          </p:txBody>
        </p:sp>
      </p:grpSp>
      <p:grpSp>
        <p:nvGrpSpPr>
          <p:cNvPr id="316" name="Google Shape;316;p22"/>
          <p:cNvGrpSpPr/>
          <p:nvPr/>
        </p:nvGrpSpPr>
        <p:grpSpPr>
          <a:xfrm>
            <a:off x="6286500" y="1524000"/>
            <a:ext cx="5143500" cy="5238750"/>
            <a:chOff x="0" y="0"/>
            <a:chExt cx="5143500" cy="5238750"/>
          </a:xfrm>
        </p:grpSpPr>
        <p:grpSp>
          <p:nvGrpSpPr>
            <p:cNvPr id="317" name="Google Shape;317;p22"/>
            <p:cNvGrpSpPr/>
            <p:nvPr/>
          </p:nvGrpSpPr>
          <p:grpSpPr>
            <a:xfrm>
              <a:off x="0" y="0"/>
              <a:ext cx="5143500" cy="1905000"/>
              <a:chOff x="0" y="0"/>
              <a:chExt cx="5143500" cy="1905000"/>
            </a:xfrm>
          </p:grpSpPr>
          <p:sp>
            <p:nvSpPr>
              <p:cNvPr id="318" name="Google Shape;318;p22"/>
              <p:cNvSpPr/>
              <p:nvPr/>
            </p:nvSpPr>
            <p:spPr>
              <a:xfrm>
                <a:off x="0" y="0"/>
                <a:ext cx="5143500" cy="1905000"/>
              </a:xfrm>
              <a:prstGeom prst="roundRect">
                <a:avLst>
                  <a:gd fmla="val 40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9" name="Google Shape;319;p22"/>
              <p:cNvSpPr/>
              <p:nvPr/>
            </p:nvSpPr>
            <p:spPr>
              <a:xfrm>
                <a:off x="0" y="0"/>
                <a:ext cx="57300" cy="19050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0" name="Google Shape;320;p22"/>
              <p:cNvSpPr txBox="1"/>
              <p:nvPr/>
            </p:nvSpPr>
            <p:spPr>
              <a:xfrm>
                <a:off x="238125" y="238125"/>
                <a:ext cx="46674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def greet(</a:t>
                </a:r>
                <a:r>
                  <a:rPr b="1" lang="en" sz="1300">
                    <a:solidFill>
                      <a:srgbClr val="045A36"/>
                    </a:solidFill>
                    <a:latin typeface="Inter"/>
                    <a:ea typeface="Inter"/>
                    <a:cs typeface="Inter"/>
                    <a:sym typeface="Inter"/>
                  </a:rPr>
                  <a:t>name</a:t>
                </a:r>
                <a:r>
                  <a:rPr b="0" lang="en" sz="1300">
                    <a:solidFill>
                      <a:srgbClr val="1F2937"/>
                    </a:solidFill>
                    <a:latin typeface="Inter Medium"/>
                    <a:ea typeface="Inter Medium"/>
                    <a:cs typeface="Inter Medium"/>
                    <a:sym typeface="Inter Medium"/>
                  </a:rPr>
                  <a:t>):</a:t>
                </a:r>
                <a:endParaRPr b="0" sz="1300">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300">
                    <a:solidFill>
                      <a:srgbClr val="1F2937"/>
                    </a:solidFill>
                    <a:latin typeface="Inter Medium"/>
                    <a:ea typeface="Inter Medium"/>
                    <a:cs typeface="Inter Medium"/>
                    <a:sym typeface="Inter Medium"/>
                  </a:rPr>
                  <a:t>print(f"Hello, {name}!")</a:t>
                </a:r>
                <a:endParaRPr b="0" sz="1300">
                  <a:solidFill>
                    <a:srgbClr val="1F2937"/>
                  </a:solidFill>
                  <a:latin typeface="Inter Medium"/>
                  <a:ea typeface="Inter Medium"/>
                  <a:cs typeface="Inter Medium"/>
                  <a:sym typeface="Inter Medium"/>
                </a:endParaRPr>
              </a:p>
              <a:p>
                <a:pPr indent="0" lvl="0" marL="0" rtl="0" algn="l">
                  <a:spcBef>
                    <a:spcPts val="1500"/>
                  </a:spcBef>
                  <a:spcAft>
                    <a:spcPts val="0"/>
                  </a:spcAft>
                  <a:buNone/>
                </a:pPr>
                <a:r>
                  <a:rPr b="0" lang="en" sz="1300">
                    <a:solidFill>
                      <a:srgbClr val="1F2937"/>
                    </a:solidFill>
                    <a:latin typeface="Inter Medium"/>
                    <a:ea typeface="Inter Medium"/>
                    <a:cs typeface="Inter Medium"/>
                    <a:sym typeface="Inter Medium"/>
                  </a:rPr>
                  <a:t>greet("Ali") </a:t>
                </a:r>
                <a:r>
                  <a:rPr b="0" lang="en" sz="1100">
                    <a:solidFill>
                      <a:srgbClr val="6B7280"/>
                    </a:solidFill>
                    <a:latin typeface="Inter Medium"/>
                    <a:ea typeface="Inter Medium"/>
                    <a:cs typeface="Inter Medium"/>
                    <a:sym typeface="Inter Medium"/>
                  </a:rPr>
                  <a:t># Output: Hello, Ali!</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greet("Sara") </a:t>
                </a:r>
                <a:r>
                  <a:rPr b="0" lang="en" sz="1100">
                    <a:solidFill>
                      <a:srgbClr val="6B7280"/>
                    </a:solidFill>
                    <a:latin typeface="Inter Medium"/>
                    <a:ea typeface="Inter Medium"/>
                    <a:cs typeface="Inter Medium"/>
                    <a:sym typeface="Inter Medium"/>
                  </a:rPr>
                  <a:t># Output: Hello, Sara!</a:t>
                </a:r>
                <a:endParaRPr b="0" sz="1300">
                  <a:solidFill>
                    <a:srgbClr val="1F2937"/>
                  </a:solidFill>
                  <a:latin typeface="Inter Medium"/>
                  <a:ea typeface="Inter Medium"/>
                  <a:cs typeface="Inter Medium"/>
                  <a:sym typeface="Inter Medium"/>
                </a:endParaRPr>
              </a:p>
            </p:txBody>
          </p:sp>
        </p:grpSp>
        <p:sp>
          <p:nvSpPr>
            <p:cNvPr id="321" name="Google Shape;321;p22"/>
            <p:cNvSpPr txBox="1"/>
            <p:nvPr/>
          </p:nvSpPr>
          <p:spPr>
            <a:xfrm>
              <a:off x="0" y="2190750"/>
              <a:ext cx="5143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Here, </a:t>
              </a:r>
              <a:r>
                <a:rPr b="0" lang="en" sz="1500">
                  <a:solidFill>
                    <a:srgbClr val="1F2937"/>
                  </a:solidFill>
                  <a:latin typeface="Inter SemiBold"/>
                  <a:ea typeface="Inter SemiBold"/>
                  <a:cs typeface="Inter SemiBold"/>
                  <a:sym typeface="Inter SemiBold"/>
                </a:rPr>
                <a:t>name</a:t>
              </a:r>
              <a:r>
                <a:rPr b="0" lang="en" sz="1300">
                  <a:solidFill>
                    <a:srgbClr val="374151"/>
                  </a:solidFill>
                  <a:latin typeface="Inter"/>
                  <a:ea typeface="Inter"/>
                  <a:cs typeface="Inter"/>
                  <a:sym typeface="Inter"/>
                </a:rPr>
                <a:t> is the parameter, and </a:t>
              </a:r>
              <a:r>
                <a:rPr b="0" lang="en" sz="1500">
                  <a:solidFill>
                    <a:srgbClr val="1F2937"/>
                  </a:solidFill>
                  <a:latin typeface="Inter SemiBold"/>
                  <a:ea typeface="Inter SemiBold"/>
                  <a:cs typeface="Inter SemiBold"/>
                  <a:sym typeface="Inter SemiBold"/>
                </a:rPr>
                <a:t>"Ali"</a:t>
              </a:r>
              <a:r>
                <a:rPr b="0" lang="en" sz="1300">
                  <a:solidFill>
                    <a:srgbClr val="374151"/>
                  </a:solidFill>
                  <a:latin typeface="Inter"/>
                  <a:ea typeface="Inter"/>
                  <a:cs typeface="Inter"/>
                  <a:sym typeface="Inter"/>
                </a:rPr>
                <a:t> and </a:t>
              </a:r>
              <a:r>
                <a:rPr b="0" lang="en" sz="1500">
                  <a:solidFill>
                    <a:srgbClr val="1F2937"/>
                  </a:solidFill>
                  <a:latin typeface="Inter SemiBold"/>
                  <a:ea typeface="Inter SemiBold"/>
                  <a:cs typeface="Inter SemiBold"/>
                  <a:sym typeface="Inter SemiBold"/>
                </a:rPr>
                <a:t>"Sara"</a:t>
              </a:r>
              <a:r>
                <a:rPr b="0" lang="en" sz="1300">
                  <a:solidFill>
                    <a:srgbClr val="374151"/>
                  </a:solidFill>
                  <a:latin typeface="Inter"/>
                  <a:ea typeface="Inter"/>
                  <a:cs typeface="Inter"/>
                  <a:sym typeface="Inter"/>
                </a:rPr>
                <a:t> are the arguments passed during the call.</a:t>
              </a:r>
              <a:endParaRPr b="0" sz="1300">
                <a:solidFill>
                  <a:srgbClr val="374151"/>
                </a:solidFill>
                <a:latin typeface="Inter"/>
                <a:ea typeface="Inter"/>
                <a:cs typeface="Inter"/>
                <a:sym typeface="Inter"/>
              </a:endParaRPr>
            </a:p>
          </p:txBody>
        </p:sp>
        <p:pic>
          <p:nvPicPr>
            <p:cNvPr id="322" name="Google Shape;322;p22"/>
            <p:cNvPicPr preferRelativeResize="0"/>
            <p:nvPr/>
          </p:nvPicPr>
          <p:blipFill rotWithShape="1">
            <a:blip r:embed="rId4">
              <a:alphaModFix/>
            </a:blip>
            <a:srcRect b="0" l="0" r="0" t="0"/>
            <a:stretch/>
          </p:blipFill>
          <p:spPr>
            <a:xfrm>
              <a:off x="0" y="2952750"/>
              <a:ext cx="5143500" cy="2286000"/>
            </a:xfrm>
            <a:prstGeom prst="roundRect">
              <a:avLst>
                <a:gd fmla="val 5000" name="adj"/>
              </a:avLst>
            </a:prstGeom>
            <a:noFill/>
            <a:ln>
              <a:noFill/>
            </a:ln>
          </p:spPr>
        </p:pic>
      </p:grpSp>
      <p:grpSp>
        <p:nvGrpSpPr>
          <p:cNvPr id="323" name="Google Shape;323;p22"/>
          <p:cNvGrpSpPr/>
          <p:nvPr/>
        </p:nvGrpSpPr>
        <p:grpSpPr>
          <a:xfrm>
            <a:off x="762000" y="5457825"/>
            <a:ext cx="11049000" cy="1019100"/>
            <a:chOff x="762000" y="5457825"/>
            <a:chExt cx="11049000" cy="1019100"/>
          </a:xfrm>
        </p:grpSpPr>
        <p:pic>
          <p:nvPicPr>
            <p:cNvPr id="324" name="Google Shape;324;p22"/>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325" name="Google Shape;325;p22"/>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23"/>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31" name="Google Shape;331;p23"/>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332" name="Google Shape;332;p23"/>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Multiple Parameters</a:t>
            </a:r>
            <a:endParaRPr b="0" sz="2700">
              <a:solidFill>
                <a:srgbClr val="045A36"/>
              </a:solidFill>
              <a:latin typeface="Montserrat SemiBold"/>
              <a:ea typeface="Montserrat SemiBold"/>
              <a:cs typeface="Montserrat SemiBold"/>
              <a:sym typeface="Montserrat SemiBold"/>
            </a:endParaRPr>
          </a:p>
        </p:txBody>
      </p:sp>
      <p:sp>
        <p:nvSpPr>
          <p:cNvPr id="333" name="Google Shape;333;p23"/>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3"/>
          <p:cNvSpPr txBox="1"/>
          <p:nvPr/>
        </p:nvSpPr>
        <p:spPr>
          <a:xfrm>
            <a:off x="762000" y="1381125"/>
            <a:ext cx="10668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750"/>
              </a:spcAft>
              <a:buNone/>
            </a:pPr>
            <a:r>
              <a:rPr b="0" lang="en" sz="1500">
                <a:solidFill>
                  <a:srgbClr val="374151"/>
                </a:solidFill>
                <a:latin typeface="Inter"/>
                <a:ea typeface="Inter"/>
                <a:cs typeface="Inter"/>
                <a:sym typeface="Inter"/>
              </a:rPr>
              <a:t>Accepting multiple inputs for complex operations. Simply separate them with commas in the function definition.</a:t>
            </a:r>
            <a:endParaRPr b="0" sz="1500">
              <a:solidFill>
                <a:srgbClr val="374151"/>
              </a:solidFill>
              <a:latin typeface="Inter"/>
              <a:ea typeface="Inter"/>
              <a:cs typeface="Inter"/>
              <a:sym typeface="Inter"/>
            </a:endParaRPr>
          </a:p>
        </p:txBody>
      </p:sp>
      <p:grpSp>
        <p:nvGrpSpPr>
          <p:cNvPr id="335" name="Google Shape;335;p23"/>
          <p:cNvGrpSpPr/>
          <p:nvPr/>
        </p:nvGrpSpPr>
        <p:grpSpPr>
          <a:xfrm>
            <a:off x="762000" y="2095500"/>
            <a:ext cx="4953000" cy="3905250"/>
            <a:chOff x="0" y="0"/>
            <a:chExt cx="4953000" cy="3905250"/>
          </a:xfrm>
        </p:grpSpPr>
        <p:sp>
          <p:nvSpPr>
            <p:cNvPr id="336" name="Google Shape;336;p23"/>
            <p:cNvSpPr/>
            <p:nvPr/>
          </p:nvSpPr>
          <p:spPr>
            <a:xfrm>
              <a:off x="0" y="0"/>
              <a:ext cx="38100" cy="238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23"/>
            <p:cNvSpPr txBox="1"/>
            <p:nvPr/>
          </p:nvSpPr>
          <p:spPr>
            <a:xfrm>
              <a:off x="190500" y="0"/>
              <a:ext cx="4762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FUNCTION DEFINITION</a:t>
              </a:r>
              <a:endParaRPr b="1" sz="1200">
                <a:solidFill>
                  <a:srgbClr val="D4A017"/>
                </a:solidFill>
                <a:latin typeface="Inter"/>
                <a:ea typeface="Inter"/>
                <a:cs typeface="Inter"/>
                <a:sym typeface="Inter"/>
              </a:endParaRPr>
            </a:p>
          </p:txBody>
        </p:sp>
        <p:grpSp>
          <p:nvGrpSpPr>
            <p:cNvPr id="338" name="Google Shape;338;p23"/>
            <p:cNvGrpSpPr/>
            <p:nvPr/>
          </p:nvGrpSpPr>
          <p:grpSpPr>
            <a:xfrm>
              <a:off x="0" y="381000"/>
              <a:ext cx="4953000" cy="1333500"/>
              <a:chOff x="0" y="0"/>
              <a:chExt cx="4953000" cy="1333500"/>
            </a:xfrm>
          </p:grpSpPr>
          <p:sp>
            <p:nvSpPr>
              <p:cNvPr id="339" name="Google Shape;339;p23"/>
              <p:cNvSpPr/>
              <p:nvPr/>
            </p:nvSpPr>
            <p:spPr>
              <a:xfrm>
                <a:off x="0" y="0"/>
                <a:ext cx="4953000" cy="1333500"/>
              </a:xfrm>
              <a:prstGeom prst="roundRect">
                <a:avLst>
                  <a:gd fmla="val 571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0" name="Google Shape;340;p23"/>
              <p:cNvSpPr/>
              <p:nvPr/>
            </p:nvSpPr>
            <p:spPr>
              <a:xfrm>
                <a:off x="0" y="0"/>
                <a:ext cx="57300" cy="1333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23"/>
              <p:cNvSpPr txBox="1"/>
              <p:nvPr/>
            </p:nvSpPr>
            <p:spPr>
              <a:xfrm>
                <a:off x="238125" y="190500"/>
                <a:ext cx="4476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def</a:t>
                </a:r>
                <a:r>
                  <a:rPr b="0" lang="en" sz="1300">
                    <a:solidFill>
                      <a:srgbClr val="1F2937"/>
                    </a:solidFill>
                    <a:latin typeface="Inter Medium"/>
                    <a:ea typeface="Inter Medium"/>
                    <a:cs typeface="Inter Medium"/>
                    <a:sym typeface="Inter Medium"/>
                  </a:rPr>
                  <a:t> </a:t>
                </a:r>
                <a:r>
                  <a:rPr b="0" lang="en" sz="1300">
                    <a:solidFill>
                      <a:srgbClr val="0B7A4B"/>
                    </a:solidFill>
                    <a:latin typeface="Inter Medium"/>
                    <a:ea typeface="Inter Medium"/>
                    <a:cs typeface="Inter Medium"/>
                    <a:sym typeface="Inter Medium"/>
                  </a:rPr>
                  <a:t>add</a:t>
                </a:r>
                <a:r>
                  <a:rPr b="0" lang="en" sz="1300">
                    <a:solidFill>
                      <a:srgbClr val="1F2937"/>
                    </a:solidFill>
                    <a:latin typeface="Inter Medium"/>
                    <a:ea typeface="Inter Medium"/>
                    <a:cs typeface="Inter Medium"/>
                    <a:sym typeface="Inter Medium"/>
                  </a:rPr>
                  <a:t>(num1, num2):</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result = num1 + num2</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print(f"The sum is: {result}")</a:t>
                </a:r>
                <a:endParaRPr b="0" sz="1300">
                  <a:solidFill>
                    <a:srgbClr val="1F2937"/>
                  </a:solidFill>
                  <a:latin typeface="Inter Medium"/>
                  <a:ea typeface="Inter Medium"/>
                  <a:cs typeface="Inter Medium"/>
                  <a:sym typeface="Inter Medium"/>
                </a:endParaRPr>
              </a:p>
            </p:txBody>
          </p:sp>
        </p:grpSp>
        <p:pic>
          <p:nvPicPr>
            <p:cNvPr id="342" name="Google Shape;342;p23"/>
            <p:cNvPicPr preferRelativeResize="0"/>
            <p:nvPr/>
          </p:nvPicPr>
          <p:blipFill rotWithShape="1">
            <a:blip r:embed="rId4">
              <a:alphaModFix/>
            </a:blip>
            <a:srcRect b="0" l="0" r="0" t="0"/>
            <a:stretch/>
          </p:blipFill>
          <p:spPr>
            <a:xfrm>
              <a:off x="1428750" y="1809750"/>
              <a:ext cx="2095500" cy="2095500"/>
            </a:xfrm>
            <a:prstGeom prst="rect">
              <a:avLst/>
            </a:prstGeom>
            <a:noFill/>
            <a:ln>
              <a:noFill/>
            </a:ln>
          </p:spPr>
        </p:pic>
      </p:grpSp>
      <p:grpSp>
        <p:nvGrpSpPr>
          <p:cNvPr id="343" name="Google Shape;343;p23"/>
          <p:cNvGrpSpPr/>
          <p:nvPr/>
        </p:nvGrpSpPr>
        <p:grpSpPr>
          <a:xfrm>
            <a:off x="6286500" y="2095500"/>
            <a:ext cx="5143650" cy="2571750"/>
            <a:chOff x="0" y="0"/>
            <a:chExt cx="5143650" cy="2571750"/>
          </a:xfrm>
        </p:grpSpPr>
        <p:sp>
          <p:nvSpPr>
            <p:cNvPr id="344" name="Google Shape;344;p23"/>
            <p:cNvSpPr/>
            <p:nvPr/>
          </p:nvSpPr>
          <p:spPr>
            <a:xfrm>
              <a:off x="0" y="0"/>
              <a:ext cx="38100" cy="238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23"/>
            <p:cNvSpPr txBox="1"/>
            <p:nvPr/>
          </p:nvSpPr>
          <p:spPr>
            <a:xfrm>
              <a:off x="190500" y="0"/>
              <a:ext cx="4762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CALLING THE FUNCTION</a:t>
              </a:r>
              <a:endParaRPr b="1" sz="1200">
                <a:solidFill>
                  <a:srgbClr val="D4A017"/>
                </a:solidFill>
                <a:latin typeface="Inter"/>
                <a:ea typeface="Inter"/>
                <a:cs typeface="Inter"/>
                <a:sym typeface="Inter"/>
              </a:endParaRPr>
            </a:p>
          </p:txBody>
        </p:sp>
        <p:grpSp>
          <p:nvGrpSpPr>
            <p:cNvPr id="346" name="Google Shape;346;p23"/>
            <p:cNvGrpSpPr/>
            <p:nvPr/>
          </p:nvGrpSpPr>
          <p:grpSpPr>
            <a:xfrm>
              <a:off x="0" y="381000"/>
              <a:ext cx="5143500" cy="1047900"/>
              <a:chOff x="0" y="0"/>
              <a:chExt cx="5143500" cy="1047900"/>
            </a:xfrm>
          </p:grpSpPr>
          <p:sp>
            <p:nvSpPr>
              <p:cNvPr id="347" name="Google Shape;347;p23"/>
              <p:cNvSpPr/>
              <p:nvPr/>
            </p:nvSpPr>
            <p:spPr>
              <a:xfrm>
                <a:off x="0" y="0"/>
                <a:ext cx="5143500" cy="1047900"/>
              </a:xfrm>
              <a:prstGeom prst="roundRect">
                <a:avLst>
                  <a:gd fmla="val 7272"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3"/>
              <p:cNvSpPr/>
              <p:nvPr/>
            </p:nvSpPr>
            <p:spPr>
              <a:xfrm>
                <a:off x="0" y="0"/>
                <a:ext cx="57300" cy="1047900"/>
              </a:xfrm>
              <a:prstGeom prst="roundRect">
                <a:avLst>
                  <a:gd fmla="val 50000" name="adj"/>
                </a:avLst>
              </a:prstGeom>
              <a:solidFill>
                <a:srgbClr val="0B7A4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9" name="Google Shape;349;p23"/>
              <p:cNvSpPr txBox="1"/>
              <p:nvPr/>
            </p:nvSpPr>
            <p:spPr>
              <a:xfrm>
                <a:off x="238125" y="190500"/>
                <a:ext cx="4667400" cy="666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add(10, 20) </a:t>
                </a:r>
                <a:r>
                  <a:rPr b="0" lang="en" sz="1300">
                    <a:solidFill>
                      <a:srgbClr val="6B7280"/>
                    </a:solidFill>
                    <a:latin typeface="Inter Medium"/>
                    <a:ea typeface="Inter Medium"/>
                    <a:cs typeface="Inter Medium"/>
                    <a:sym typeface="Inter Medium"/>
                  </a:rPr>
                  <a:t># Output: The sum is: 30</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add(5, 7) </a:t>
                </a:r>
                <a:r>
                  <a:rPr b="0" lang="en" sz="1300">
                    <a:solidFill>
                      <a:srgbClr val="6B7280"/>
                    </a:solidFill>
                    <a:latin typeface="Inter Medium"/>
                    <a:ea typeface="Inter Medium"/>
                    <a:cs typeface="Inter Medium"/>
                    <a:sym typeface="Inter Medium"/>
                  </a:rPr>
                  <a:t># Output: The sum is: 12</a:t>
                </a:r>
                <a:endParaRPr b="0" sz="1300">
                  <a:solidFill>
                    <a:srgbClr val="1F2937"/>
                  </a:solidFill>
                  <a:latin typeface="Inter Medium"/>
                  <a:ea typeface="Inter Medium"/>
                  <a:cs typeface="Inter Medium"/>
                  <a:sym typeface="Inter Medium"/>
                </a:endParaRPr>
              </a:p>
            </p:txBody>
          </p:sp>
        </p:grpSp>
        <p:grpSp>
          <p:nvGrpSpPr>
            <p:cNvPr id="350" name="Google Shape;350;p23"/>
            <p:cNvGrpSpPr/>
            <p:nvPr/>
          </p:nvGrpSpPr>
          <p:grpSpPr>
            <a:xfrm>
              <a:off x="0" y="1619250"/>
              <a:ext cx="5143650" cy="952500"/>
              <a:chOff x="0" y="0"/>
              <a:chExt cx="5143650" cy="952500"/>
            </a:xfrm>
          </p:grpSpPr>
          <p:sp>
            <p:nvSpPr>
              <p:cNvPr id="351" name="Google Shape;351;p23"/>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2" name="Google Shape;352;p23"/>
              <p:cNvSpPr txBox="1"/>
              <p:nvPr/>
            </p:nvSpPr>
            <p:spPr>
              <a:xfrm>
                <a:off x="285750" y="0"/>
                <a:ext cx="4857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When calling the function, you must provide the </a:t>
                </a:r>
                <a:r>
                  <a:rPr b="0" lang="en" sz="1500">
                    <a:solidFill>
                      <a:srgbClr val="1F2937"/>
                    </a:solidFill>
                    <a:latin typeface="Inter SemiBold"/>
                    <a:ea typeface="Inter SemiBold"/>
                    <a:cs typeface="Inter SemiBold"/>
                    <a:sym typeface="Inter SemiBold"/>
                  </a:rPr>
                  <a:t>exact number of arguments</a:t>
                </a:r>
                <a:r>
                  <a:rPr b="0" lang="en" sz="1500">
                    <a:solidFill>
                      <a:srgbClr val="374151"/>
                    </a:solidFill>
                    <a:latin typeface="Inter"/>
                    <a:ea typeface="Inter"/>
                    <a:cs typeface="Inter"/>
                    <a:sym typeface="Inter"/>
                  </a:rPr>
                  <a:t> in the same order as the parameters.</a:t>
                </a:r>
                <a:endParaRPr b="0" sz="1500">
                  <a:solidFill>
                    <a:srgbClr val="374151"/>
                  </a:solidFill>
                  <a:latin typeface="Inter"/>
                  <a:ea typeface="Inter"/>
                  <a:cs typeface="Inter"/>
                  <a:sym typeface="Inter"/>
                </a:endParaRPr>
              </a:p>
            </p:txBody>
          </p:sp>
        </p:grpSp>
      </p:grpSp>
      <p:grpSp>
        <p:nvGrpSpPr>
          <p:cNvPr id="353" name="Google Shape;353;p23"/>
          <p:cNvGrpSpPr/>
          <p:nvPr/>
        </p:nvGrpSpPr>
        <p:grpSpPr>
          <a:xfrm>
            <a:off x="762000" y="5457825"/>
            <a:ext cx="11049000" cy="1019100"/>
            <a:chOff x="762000" y="5457825"/>
            <a:chExt cx="11049000" cy="1019100"/>
          </a:xfrm>
        </p:grpSpPr>
        <p:pic>
          <p:nvPicPr>
            <p:cNvPr id="354" name="Google Shape;354;p23"/>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355" name="Google Shape;355;p23"/>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4"/>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61" name="Google Shape;361;p24"/>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362" name="Google Shape;362;p24"/>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The Return Statement</a:t>
            </a:r>
            <a:endParaRPr b="0" sz="2700">
              <a:solidFill>
                <a:srgbClr val="045A36"/>
              </a:solidFill>
              <a:latin typeface="Montserrat SemiBold"/>
              <a:ea typeface="Montserrat SemiBold"/>
              <a:cs typeface="Montserrat SemiBold"/>
              <a:sym typeface="Montserrat SemiBold"/>
            </a:endParaRPr>
          </a:p>
        </p:txBody>
      </p:sp>
      <p:sp>
        <p:nvSpPr>
          <p:cNvPr id="363" name="Google Shape;363;p2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4" name="Google Shape;364;p24"/>
          <p:cNvGrpSpPr/>
          <p:nvPr/>
        </p:nvGrpSpPr>
        <p:grpSpPr>
          <a:xfrm>
            <a:off x="762000" y="1524000"/>
            <a:ext cx="5143500" cy="3667125"/>
            <a:chOff x="0" y="0"/>
            <a:chExt cx="5143500" cy="3667125"/>
          </a:xfrm>
        </p:grpSpPr>
        <p:sp>
          <p:nvSpPr>
            <p:cNvPr id="365" name="Google Shape;365;p24"/>
            <p:cNvSpPr txBox="1"/>
            <p:nvPr/>
          </p:nvSpPr>
          <p:spPr>
            <a:xfrm>
              <a:off x="0" y="0"/>
              <a:ext cx="5143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045A36"/>
                  </a:solidFill>
                  <a:latin typeface="Inter SemiBold"/>
                  <a:ea typeface="Inter SemiBold"/>
                  <a:cs typeface="Inter SemiBold"/>
                  <a:sym typeface="Inter SemiBold"/>
                </a:rPr>
                <a:t>Sending results back to the caller</a:t>
              </a:r>
              <a:endParaRPr b="0" sz="1600">
                <a:solidFill>
                  <a:srgbClr val="045A36"/>
                </a:solidFill>
                <a:latin typeface="Inter SemiBold"/>
                <a:ea typeface="Inter SemiBold"/>
                <a:cs typeface="Inter SemiBold"/>
                <a:sym typeface="Inter SemiBold"/>
              </a:endParaRPr>
            </a:p>
          </p:txBody>
        </p:sp>
        <p:sp>
          <p:nvSpPr>
            <p:cNvPr id="366" name="Google Shape;366;p24"/>
            <p:cNvSpPr txBox="1"/>
            <p:nvPr/>
          </p:nvSpPr>
          <p:spPr>
            <a:xfrm>
              <a:off x="0" y="571500"/>
              <a:ext cx="5143500" cy="1524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The return statement is used to exit a function and pass a calculated value back to the place where the function was called.</a:t>
              </a:r>
              <a:endParaRPr b="0" sz="1500">
                <a:solidFill>
                  <a:srgbClr val="374151"/>
                </a:solidFill>
                <a:latin typeface="Inter"/>
                <a:ea typeface="Inter"/>
                <a:cs typeface="Inter"/>
                <a:sym typeface="Inter"/>
              </a:endParaRPr>
            </a:p>
            <a:p>
              <a:pPr indent="0" lvl="0" marL="0" rtl="0" algn="l">
                <a:spcBef>
                  <a:spcPts val="1500"/>
                </a:spcBef>
                <a:spcAft>
                  <a:spcPts val="0"/>
                </a:spcAft>
                <a:buNone/>
              </a:pPr>
              <a:r>
                <a:rPr b="0" lang="en" sz="1500">
                  <a:solidFill>
                    <a:srgbClr val="374151"/>
                  </a:solidFill>
                  <a:latin typeface="Inter"/>
                  <a:ea typeface="Inter"/>
                  <a:cs typeface="Inter"/>
                  <a:sym typeface="Inter"/>
                </a:rPr>
                <a:t>This allows you to store the result in a variable or use it in further calculations.</a:t>
              </a:r>
              <a:endParaRPr b="0" sz="1500">
                <a:solidFill>
                  <a:srgbClr val="374151"/>
                </a:solidFill>
                <a:latin typeface="Inter"/>
                <a:ea typeface="Inter"/>
                <a:cs typeface="Inter"/>
                <a:sym typeface="Inter"/>
              </a:endParaRPr>
            </a:p>
          </p:txBody>
        </p:sp>
        <p:grpSp>
          <p:nvGrpSpPr>
            <p:cNvPr id="367" name="Google Shape;367;p24"/>
            <p:cNvGrpSpPr/>
            <p:nvPr/>
          </p:nvGrpSpPr>
          <p:grpSpPr>
            <a:xfrm>
              <a:off x="0" y="2476500"/>
              <a:ext cx="4762500" cy="1190625"/>
              <a:chOff x="0" y="0"/>
              <a:chExt cx="4762500" cy="1190625"/>
            </a:xfrm>
          </p:grpSpPr>
          <p:sp>
            <p:nvSpPr>
              <p:cNvPr id="368" name="Google Shape;368;p24"/>
              <p:cNvSpPr/>
              <p:nvPr/>
            </p:nvSpPr>
            <p:spPr>
              <a:xfrm>
                <a:off x="0" y="0"/>
                <a:ext cx="38100" cy="952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4"/>
              <p:cNvSpPr txBox="1"/>
              <p:nvPr/>
            </p:nvSpPr>
            <p:spPr>
              <a:xfrm>
                <a:off x="190500" y="0"/>
                <a:ext cx="4572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BEHAVIOR</a:t>
                </a:r>
                <a:endParaRPr b="1" sz="1200">
                  <a:solidFill>
                    <a:srgbClr val="D4A017"/>
                  </a:solidFill>
                  <a:latin typeface="Inter"/>
                  <a:ea typeface="Inter"/>
                  <a:cs typeface="Inter"/>
                  <a:sym typeface="Inter"/>
                </a:endParaRPr>
              </a:p>
            </p:txBody>
          </p:sp>
          <p:sp>
            <p:nvSpPr>
              <p:cNvPr id="370" name="Google Shape;370;p24"/>
              <p:cNvSpPr txBox="1"/>
              <p:nvPr/>
            </p:nvSpPr>
            <p:spPr>
              <a:xfrm>
                <a:off x="190500" y="238125"/>
                <a:ext cx="45720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500">
                    <a:solidFill>
                      <a:srgbClr val="374151"/>
                    </a:solidFill>
                    <a:latin typeface="Inter"/>
                    <a:ea typeface="Inter"/>
                    <a:cs typeface="Inter"/>
                    <a:sym typeface="Inter"/>
                  </a:rPr>
                  <a:t>"Once a return statement is executed, the function terminates immediately."</a:t>
                </a:r>
                <a:endParaRPr b="0" i="1" sz="1500">
                  <a:solidFill>
                    <a:srgbClr val="374151"/>
                  </a:solidFill>
                  <a:latin typeface="Inter"/>
                  <a:ea typeface="Inter"/>
                  <a:cs typeface="Inter"/>
                  <a:sym typeface="Inter"/>
                </a:endParaRPr>
              </a:p>
            </p:txBody>
          </p:sp>
        </p:grpSp>
      </p:grpSp>
      <p:grpSp>
        <p:nvGrpSpPr>
          <p:cNvPr id="371" name="Google Shape;371;p24"/>
          <p:cNvGrpSpPr/>
          <p:nvPr/>
        </p:nvGrpSpPr>
        <p:grpSpPr>
          <a:xfrm>
            <a:off x="6286500" y="1524000"/>
            <a:ext cx="5143500" cy="3857700"/>
            <a:chOff x="0" y="0"/>
            <a:chExt cx="5143500" cy="3857700"/>
          </a:xfrm>
        </p:grpSpPr>
        <p:sp>
          <p:nvSpPr>
            <p:cNvPr id="372" name="Google Shape;372;p24"/>
            <p:cNvSpPr txBox="1"/>
            <p:nvPr/>
          </p:nvSpPr>
          <p:spPr>
            <a:xfrm>
              <a:off x="0" y="0"/>
              <a:ext cx="5143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EXAMPLE</a:t>
              </a:r>
              <a:endParaRPr b="1" sz="1200">
                <a:solidFill>
                  <a:srgbClr val="D4A017"/>
                </a:solidFill>
                <a:latin typeface="Inter"/>
                <a:ea typeface="Inter"/>
                <a:cs typeface="Inter"/>
                <a:sym typeface="Inter"/>
              </a:endParaRPr>
            </a:p>
          </p:txBody>
        </p:sp>
        <p:grpSp>
          <p:nvGrpSpPr>
            <p:cNvPr id="373" name="Google Shape;373;p24"/>
            <p:cNvGrpSpPr/>
            <p:nvPr/>
          </p:nvGrpSpPr>
          <p:grpSpPr>
            <a:xfrm>
              <a:off x="0" y="285750"/>
              <a:ext cx="4762500" cy="1714500"/>
              <a:chOff x="0" y="0"/>
              <a:chExt cx="4762500" cy="1714500"/>
            </a:xfrm>
          </p:grpSpPr>
          <p:sp>
            <p:nvSpPr>
              <p:cNvPr id="374" name="Google Shape;374;p24"/>
              <p:cNvSpPr/>
              <p:nvPr/>
            </p:nvSpPr>
            <p:spPr>
              <a:xfrm>
                <a:off x="0" y="0"/>
                <a:ext cx="4762500" cy="1714500"/>
              </a:xfrm>
              <a:prstGeom prst="roundRect">
                <a:avLst>
                  <a:gd fmla="val 444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24"/>
              <p:cNvSpPr/>
              <p:nvPr/>
            </p:nvSpPr>
            <p:spPr>
              <a:xfrm>
                <a:off x="0" y="0"/>
                <a:ext cx="57300" cy="1714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4"/>
              <p:cNvSpPr txBox="1"/>
              <p:nvPr/>
            </p:nvSpPr>
            <p:spPr>
              <a:xfrm>
                <a:off x="238125" y="190500"/>
                <a:ext cx="4286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Medium"/>
                    <a:ea typeface="Inter Medium"/>
                    <a:cs typeface="Inter Medium"/>
                    <a:sym typeface="Inter Medium"/>
                  </a:rPr>
                  <a:t>def </a:t>
                </a:r>
                <a:r>
                  <a:rPr b="0" lang="en" sz="1300">
                    <a:solidFill>
                      <a:srgbClr val="0B7A4B"/>
                    </a:solidFill>
                    <a:latin typeface="Inter Medium"/>
                    <a:ea typeface="Inter Medium"/>
                    <a:cs typeface="Inter Medium"/>
                    <a:sym typeface="Inter Medium"/>
                  </a:rPr>
                  <a:t>square</a:t>
                </a:r>
                <a:r>
                  <a:rPr b="0" lang="en" sz="1300">
                    <a:solidFill>
                      <a:srgbClr val="045A36"/>
                    </a:solidFill>
                    <a:latin typeface="Inter Medium"/>
                    <a:ea typeface="Inter Medium"/>
                    <a:cs typeface="Inter Medium"/>
                    <a:sym typeface="Inter Medium"/>
                  </a:rPr>
                  <a:t>(number):</a:t>
                </a:r>
                <a:endParaRPr b="0" sz="1300">
                  <a:solidFill>
                    <a:srgbClr val="045A36"/>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D4A017"/>
                    </a:solidFill>
                    <a:latin typeface="Inter Medium"/>
                    <a:ea typeface="Inter Medium"/>
                    <a:cs typeface="Inter Medium"/>
                    <a:sym typeface="Inter Medium"/>
                  </a:rPr>
                  <a:t>return </a:t>
                </a:r>
                <a:r>
                  <a:rPr b="0" lang="en" sz="1300">
                    <a:solidFill>
                      <a:srgbClr val="1F2937"/>
                    </a:solidFill>
                    <a:latin typeface="Inter Medium"/>
                    <a:ea typeface="Inter Medium"/>
                    <a:cs typeface="Inter Medium"/>
                    <a:sym typeface="Inter Medium"/>
                  </a:rPr>
                  <a:t>number * number</a:t>
                </a:r>
                <a:endParaRPr b="0" sz="1300">
                  <a:solidFill>
                    <a:srgbClr val="D4A017"/>
                  </a:solidFill>
                  <a:latin typeface="Inter Medium"/>
                  <a:ea typeface="Inter Medium"/>
                  <a:cs typeface="Inter Medium"/>
                  <a:sym typeface="Inter Medium"/>
                </a:endParaRPr>
              </a:p>
              <a:p>
                <a:pPr indent="0" lvl="0" marL="0" rtl="0" algn="l">
                  <a:spcBef>
                    <a:spcPts val="1125"/>
                  </a:spcBef>
                  <a:spcAft>
                    <a:spcPts val="0"/>
                  </a:spcAft>
                  <a:buNone/>
                </a:pPr>
                <a:r>
                  <a:rPr b="0" lang="en" sz="1300">
                    <a:solidFill>
                      <a:srgbClr val="1F2937"/>
                    </a:solidFill>
                    <a:latin typeface="Inter Medium"/>
                    <a:ea typeface="Inter Medium"/>
                    <a:cs typeface="Inter Medium"/>
                    <a:sym typeface="Inter Medium"/>
                  </a:rPr>
                  <a:t>result = square(5)</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print(result) </a:t>
                </a:r>
                <a:r>
                  <a:rPr b="0" lang="en" sz="1300">
                    <a:solidFill>
                      <a:srgbClr val="6B7280"/>
                    </a:solidFill>
                    <a:latin typeface="Inter Medium"/>
                    <a:ea typeface="Inter Medium"/>
                    <a:cs typeface="Inter Medium"/>
                    <a:sym typeface="Inter Medium"/>
                  </a:rPr>
                  <a:t># Output: 25</a:t>
                </a:r>
                <a:endParaRPr b="0" sz="1300">
                  <a:solidFill>
                    <a:srgbClr val="1F2937"/>
                  </a:solidFill>
                  <a:latin typeface="Inter Medium"/>
                  <a:ea typeface="Inter Medium"/>
                  <a:cs typeface="Inter Medium"/>
                  <a:sym typeface="Inter Medium"/>
                </a:endParaRPr>
              </a:p>
            </p:txBody>
          </p:sp>
        </p:grpSp>
        <p:grpSp>
          <p:nvGrpSpPr>
            <p:cNvPr id="377" name="Google Shape;377;p24"/>
            <p:cNvGrpSpPr/>
            <p:nvPr/>
          </p:nvGrpSpPr>
          <p:grpSpPr>
            <a:xfrm>
              <a:off x="0" y="2190750"/>
              <a:ext cx="5143500" cy="1666950"/>
              <a:chOff x="0" y="0"/>
              <a:chExt cx="5143500" cy="1666950"/>
            </a:xfrm>
          </p:grpSpPr>
          <p:sp>
            <p:nvSpPr>
              <p:cNvPr id="378" name="Google Shape;378;p24"/>
              <p:cNvSpPr/>
              <p:nvPr/>
            </p:nvSpPr>
            <p:spPr>
              <a:xfrm>
                <a:off x="0" y="0"/>
                <a:ext cx="5143500" cy="1666800"/>
              </a:xfrm>
              <a:prstGeom prst="roundRect">
                <a:avLst>
                  <a:gd fmla="val 6857"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379" name="Google Shape;379;p24"/>
              <p:cNvPicPr preferRelativeResize="0"/>
              <p:nvPr/>
            </p:nvPicPr>
            <p:blipFill rotWithShape="1">
              <a:blip r:embed="rId4">
                <a:alphaModFix/>
              </a:blip>
              <a:srcRect b="27162" l="0" r="0" t="29629"/>
              <a:stretch/>
            </p:blipFill>
            <p:spPr>
              <a:xfrm>
                <a:off x="0" y="0"/>
                <a:ext cx="5143500" cy="1666800"/>
              </a:xfrm>
              <a:prstGeom prst="roundRect">
                <a:avLst>
                  <a:gd fmla="val 6857" name="adj"/>
                </a:avLst>
              </a:prstGeom>
              <a:noFill/>
              <a:ln>
                <a:noFill/>
              </a:ln>
            </p:spPr>
          </p:pic>
          <p:sp>
            <p:nvSpPr>
              <p:cNvPr id="380" name="Google Shape;380;p24"/>
              <p:cNvSpPr txBox="1"/>
              <p:nvPr/>
            </p:nvSpPr>
            <p:spPr>
              <a:xfrm>
                <a:off x="0" y="1428750"/>
                <a:ext cx="5143500" cy="238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800">
                    <a:solidFill>
                      <a:srgbClr val="6B7280"/>
                    </a:solidFill>
                    <a:latin typeface="Inter"/>
                    <a:ea typeface="Inter"/>
                    <a:cs typeface="Inter"/>
                    <a:sym typeface="Inter"/>
                  </a:rPr>
                  <a:t>Conceptual Flow: Function Return Value</a:t>
                </a:r>
                <a:endParaRPr b="0" sz="800">
                  <a:solidFill>
                    <a:srgbClr val="6B7280"/>
                  </a:solidFill>
                  <a:latin typeface="Inter"/>
                  <a:ea typeface="Inter"/>
                  <a:cs typeface="Inter"/>
                  <a:sym typeface="Inter"/>
                </a:endParaRPr>
              </a:p>
            </p:txBody>
          </p:sp>
        </p:grpSp>
      </p:grpSp>
      <p:grpSp>
        <p:nvGrpSpPr>
          <p:cNvPr id="381" name="Google Shape;381;p24"/>
          <p:cNvGrpSpPr/>
          <p:nvPr/>
        </p:nvGrpSpPr>
        <p:grpSpPr>
          <a:xfrm>
            <a:off x="762000" y="5457825"/>
            <a:ext cx="11049000" cy="1019100"/>
            <a:chOff x="762000" y="5457825"/>
            <a:chExt cx="11049000" cy="1019100"/>
          </a:xfrm>
        </p:grpSpPr>
        <p:pic>
          <p:nvPicPr>
            <p:cNvPr id="382" name="Google Shape;382;p24"/>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383" name="Google Shape;383;p24"/>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25"/>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9" name="Google Shape;389;p25"/>
          <p:cNvSpPr/>
          <p:nvPr>
            <p:ph idx="2" type="pic"/>
          </p:nvPr>
        </p:nvSpPr>
        <p:spPr>
          <a:xfrm>
            <a:off x="0" y="0"/>
            <a:ext cx="12192000" cy="57300"/>
          </a:xfrm>
          <a:prstGeom prst="rect">
            <a:avLst/>
          </a:prstGeom>
          <a:noFill/>
          <a:ln>
            <a:noFill/>
          </a:ln>
        </p:spPr>
      </p:sp>
      <p:sp>
        <p:nvSpPr>
          <p:cNvPr id="390" name="Google Shape;390;p25"/>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Functions Without Return</a:t>
            </a:r>
            <a:endParaRPr b="0" sz="2700">
              <a:solidFill>
                <a:srgbClr val="045A36"/>
              </a:solidFill>
              <a:latin typeface="Montserrat SemiBold"/>
              <a:ea typeface="Montserrat SemiBold"/>
              <a:cs typeface="Montserrat SemiBold"/>
              <a:sym typeface="Montserrat SemiBold"/>
            </a:endParaRPr>
          </a:p>
        </p:txBody>
      </p:sp>
      <p:sp>
        <p:nvSpPr>
          <p:cNvPr id="391" name="Google Shape;391;p2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92" name="Google Shape;392;p25"/>
          <p:cNvGrpSpPr/>
          <p:nvPr/>
        </p:nvGrpSpPr>
        <p:grpSpPr>
          <a:xfrm>
            <a:off x="762000" y="1524000"/>
            <a:ext cx="5143650" cy="3905400"/>
            <a:chOff x="0" y="0"/>
            <a:chExt cx="5143650" cy="3905400"/>
          </a:xfrm>
        </p:grpSpPr>
        <p:sp>
          <p:nvSpPr>
            <p:cNvPr id="393" name="Google Shape;393;p25"/>
            <p:cNvSpPr txBox="1"/>
            <p:nvPr/>
          </p:nvSpPr>
          <p:spPr>
            <a:xfrm>
              <a:off x="0" y="0"/>
              <a:ext cx="5143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88">
                  <a:solidFill>
                    <a:srgbClr val="1F2937"/>
                  </a:solidFill>
                  <a:latin typeface="Inter SemiBold"/>
                  <a:ea typeface="Inter SemiBold"/>
                  <a:cs typeface="Inter SemiBold"/>
                  <a:sym typeface="Inter SemiBold"/>
                </a:rPr>
                <a:t>Performing actions without outputting data</a:t>
              </a:r>
              <a:endParaRPr b="0" sz="1388">
                <a:solidFill>
                  <a:srgbClr val="374151"/>
                </a:solidFill>
                <a:latin typeface="Inter"/>
                <a:ea typeface="Inter"/>
                <a:cs typeface="Inter"/>
                <a:sym typeface="Inter"/>
              </a:endParaRPr>
            </a:p>
            <a:p>
              <a:pPr indent="0" lvl="0" marL="0" rtl="0" algn="l">
                <a:spcBef>
                  <a:spcPts val="750"/>
                </a:spcBef>
                <a:spcAft>
                  <a:spcPts val="0"/>
                </a:spcAft>
                <a:buNone/>
              </a:pPr>
              <a:r>
                <a:rPr b="0" lang="en" sz="1388">
                  <a:solidFill>
                    <a:srgbClr val="374151"/>
                  </a:solidFill>
                  <a:latin typeface="Inter"/>
                  <a:ea typeface="Inter"/>
                  <a:cs typeface="Inter"/>
                  <a:sym typeface="Inter"/>
                </a:rPr>
                <a:t>Not all functions need to return a value. Some exist purely to perform specific actions.</a:t>
              </a:r>
              <a:endParaRPr b="0" sz="1388">
                <a:solidFill>
                  <a:srgbClr val="374151"/>
                </a:solidFill>
                <a:latin typeface="Inter"/>
                <a:ea typeface="Inter"/>
                <a:cs typeface="Inter"/>
                <a:sym typeface="Inter"/>
              </a:endParaRPr>
            </a:p>
          </p:txBody>
        </p:sp>
        <p:grpSp>
          <p:nvGrpSpPr>
            <p:cNvPr id="394" name="Google Shape;394;p25"/>
            <p:cNvGrpSpPr/>
            <p:nvPr/>
          </p:nvGrpSpPr>
          <p:grpSpPr>
            <a:xfrm>
              <a:off x="0" y="952500"/>
              <a:ext cx="5143650" cy="952500"/>
              <a:chOff x="0" y="0"/>
              <a:chExt cx="5143650" cy="952500"/>
            </a:xfrm>
          </p:grpSpPr>
          <p:sp>
            <p:nvSpPr>
              <p:cNvPr id="395" name="Google Shape;395;p25"/>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6" name="Google Shape;396;p25"/>
              <p:cNvSpPr txBox="1"/>
              <p:nvPr/>
            </p:nvSpPr>
            <p:spPr>
              <a:xfrm>
                <a:off x="285750" y="0"/>
                <a:ext cx="48579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Printing to the console or logs.</a:t>
                </a:r>
                <a:endParaRPr b="0" sz="1500">
                  <a:solidFill>
                    <a:srgbClr val="374151"/>
                  </a:solidFill>
                  <a:latin typeface="Inter"/>
                  <a:ea typeface="Inter"/>
                  <a:cs typeface="Inter"/>
                  <a:sym typeface="Inter"/>
                </a:endParaRPr>
              </a:p>
              <a:p>
                <a:pPr indent="0" lvl="0" marL="0" rtl="0" algn="l">
                  <a:spcBef>
                    <a:spcPts val="750"/>
                  </a:spcBef>
                  <a:spcAft>
                    <a:spcPts val="0"/>
                  </a:spcAft>
                  <a:buNone/>
                </a:pPr>
                <a:r>
                  <a:rPr b="0" lang="en" sz="1500">
                    <a:solidFill>
                      <a:srgbClr val="374151"/>
                    </a:solidFill>
                    <a:latin typeface="Inter"/>
                    <a:ea typeface="Inter"/>
                    <a:cs typeface="Inter"/>
                    <a:sym typeface="Inter"/>
                  </a:rPr>
                  <a:t>Modifying files or persistent data.</a:t>
                </a:r>
                <a:endParaRPr b="0" sz="1500">
                  <a:solidFill>
                    <a:srgbClr val="374151"/>
                  </a:solidFill>
                  <a:latin typeface="Inter"/>
                  <a:ea typeface="Inter"/>
                  <a:cs typeface="Inter"/>
                  <a:sym typeface="Inter"/>
                </a:endParaRPr>
              </a:p>
              <a:p>
                <a:pPr indent="0" lvl="0" marL="0" rtl="0" algn="l">
                  <a:spcBef>
                    <a:spcPts val="750"/>
                  </a:spcBef>
                  <a:spcAft>
                    <a:spcPts val="0"/>
                  </a:spcAft>
                  <a:buNone/>
                </a:pPr>
                <a:r>
                  <a:rPr b="0" lang="en" sz="1500">
                    <a:solidFill>
                      <a:srgbClr val="374151"/>
                    </a:solidFill>
                    <a:latin typeface="Inter"/>
                    <a:ea typeface="Inter"/>
                    <a:cs typeface="Inter"/>
                    <a:sym typeface="Inter"/>
                  </a:rPr>
                  <a:t>Updating a database or system state.</a:t>
                </a:r>
                <a:endParaRPr b="0" sz="1500">
                  <a:solidFill>
                    <a:srgbClr val="374151"/>
                  </a:solidFill>
                  <a:latin typeface="Inter"/>
                  <a:ea typeface="Inter"/>
                  <a:cs typeface="Inter"/>
                  <a:sym typeface="Inter"/>
                </a:endParaRPr>
              </a:p>
            </p:txBody>
          </p:sp>
        </p:grpSp>
        <p:sp>
          <p:nvSpPr>
            <p:cNvPr id="397" name="Google Shape;397;p25"/>
            <p:cNvSpPr txBox="1"/>
            <p:nvPr/>
          </p:nvSpPr>
          <p:spPr>
            <a:xfrm>
              <a:off x="0" y="2000250"/>
              <a:ext cx="5143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These are often referred to as </a:t>
              </a:r>
              <a:r>
                <a:rPr b="0" lang="en" sz="1500">
                  <a:solidFill>
                    <a:srgbClr val="1F2937"/>
                  </a:solidFill>
                  <a:latin typeface="Inter SemiBold"/>
                  <a:ea typeface="Inter SemiBold"/>
                  <a:cs typeface="Inter SemiBold"/>
                  <a:sym typeface="Inter SemiBold"/>
                </a:rPr>
                <a:t>"void" functions</a:t>
              </a:r>
              <a:r>
                <a:rPr b="0" lang="en" sz="1500">
                  <a:solidFill>
                    <a:srgbClr val="374151"/>
                  </a:solidFill>
                  <a:latin typeface="Inter"/>
                  <a:ea typeface="Inter"/>
                  <a:cs typeface="Inter"/>
                  <a:sym typeface="Inter"/>
                </a:rPr>
                <a:t> in programming literature.</a:t>
              </a:r>
              <a:endParaRPr b="0" sz="1500">
                <a:solidFill>
                  <a:srgbClr val="374151"/>
                </a:solidFill>
                <a:latin typeface="Inter"/>
                <a:ea typeface="Inter"/>
                <a:cs typeface="Inter"/>
                <a:sym typeface="Inter"/>
              </a:endParaRPr>
            </a:p>
          </p:txBody>
        </p:sp>
        <p:grpSp>
          <p:nvGrpSpPr>
            <p:cNvPr id="398" name="Google Shape;398;p25"/>
            <p:cNvGrpSpPr/>
            <p:nvPr/>
          </p:nvGrpSpPr>
          <p:grpSpPr>
            <a:xfrm>
              <a:off x="0" y="2857500"/>
              <a:ext cx="5143500" cy="1047900"/>
              <a:chOff x="0" y="0"/>
              <a:chExt cx="5143500" cy="1047900"/>
            </a:xfrm>
          </p:grpSpPr>
          <p:sp>
            <p:nvSpPr>
              <p:cNvPr id="399" name="Google Shape;399;p25"/>
              <p:cNvSpPr/>
              <p:nvPr/>
            </p:nvSpPr>
            <p:spPr>
              <a:xfrm>
                <a:off x="0" y="0"/>
                <a:ext cx="38100" cy="10479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0" name="Google Shape;400;p25"/>
              <p:cNvSpPr txBox="1"/>
              <p:nvPr/>
            </p:nvSpPr>
            <p:spPr>
              <a:xfrm>
                <a:off x="190500" y="0"/>
                <a:ext cx="4953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IMPLICIT RETURN VALUE</a:t>
                </a:r>
                <a:endParaRPr b="1" sz="1200">
                  <a:solidFill>
                    <a:srgbClr val="D4A017"/>
                  </a:solidFill>
                  <a:latin typeface="Inter"/>
                  <a:ea typeface="Inter"/>
                  <a:cs typeface="Inter"/>
                  <a:sym typeface="Inter"/>
                </a:endParaRPr>
              </a:p>
            </p:txBody>
          </p:sp>
          <p:sp>
            <p:nvSpPr>
              <p:cNvPr id="401" name="Google Shape;401;p25"/>
              <p:cNvSpPr txBox="1"/>
              <p:nvPr/>
            </p:nvSpPr>
            <p:spPr>
              <a:xfrm>
                <a:off x="190500" y="285750"/>
                <a:ext cx="4953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If a function does not have a return statement, it implicitly returns a special Python value called </a:t>
                </a:r>
                <a:r>
                  <a:rPr b="0" lang="en" sz="1500">
                    <a:solidFill>
                      <a:srgbClr val="1F2937"/>
                    </a:solidFill>
                    <a:latin typeface="Inter SemiBold"/>
                    <a:ea typeface="Inter SemiBold"/>
                    <a:cs typeface="Inter SemiBold"/>
                    <a:sym typeface="Inter SemiBold"/>
                  </a:rPr>
                  <a:t>None</a:t>
                </a:r>
                <a:r>
                  <a:rPr b="0" lang="en" sz="1500">
                    <a:solidFill>
                      <a:srgbClr val="374151"/>
                    </a:solidFill>
                    <a:latin typeface="Inter"/>
                    <a:ea typeface="Inter"/>
                    <a:cs typeface="Inter"/>
                    <a:sym typeface="Inter"/>
                  </a:rPr>
                  <a:t>.</a:t>
                </a:r>
                <a:endParaRPr b="0" sz="1500">
                  <a:solidFill>
                    <a:srgbClr val="374151"/>
                  </a:solidFill>
                  <a:latin typeface="Inter"/>
                  <a:ea typeface="Inter"/>
                  <a:cs typeface="Inter"/>
                  <a:sym typeface="Inter"/>
                </a:endParaRPr>
              </a:p>
            </p:txBody>
          </p:sp>
        </p:grpSp>
      </p:grpSp>
      <p:grpSp>
        <p:nvGrpSpPr>
          <p:cNvPr id="402" name="Google Shape;402;p25"/>
          <p:cNvGrpSpPr/>
          <p:nvPr/>
        </p:nvGrpSpPr>
        <p:grpSpPr>
          <a:xfrm>
            <a:off x="6286500" y="1524000"/>
            <a:ext cx="5143500" cy="2905125"/>
            <a:chOff x="0" y="0"/>
            <a:chExt cx="5143500" cy="2905125"/>
          </a:xfrm>
        </p:grpSpPr>
        <p:sp>
          <p:nvSpPr>
            <p:cNvPr id="403" name="Google Shape;403;p25"/>
            <p:cNvSpPr/>
            <p:nvPr/>
          </p:nvSpPr>
          <p:spPr>
            <a:xfrm>
              <a:off x="0" y="0"/>
              <a:ext cx="5143500" cy="2190900"/>
            </a:xfrm>
            <a:prstGeom prst="roundRect">
              <a:avLst>
                <a:gd fmla="val 3478"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25"/>
            <p:cNvSpPr/>
            <p:nvPr/>
          </p:nvSpPr>
          <p:spPr>
            <a:xfrm>
              <a:off x="0" y="0"/>
              <a:ext cx="57300" cy="2190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5"/>
            <p:cNvSpPr txBox="1"/>
            <p:nvPr/>
          </p:nvSpPr>
          <p:spPr>
            <a:xfrm>
              <a:off x="285750" y="238125"/>
              <a:ext cx="45720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6B7280"/>
                  </a:solidFill>
                  <a:latin typeface="Inter Medium"/>
                  <a:ea typeface="Inter Medium"/>
                  <a:cs typeface="Inter Medium"/>
                  <a:sym typeface="Inter Medium"/>
                </a:rPr>
                <a:t># Example of a void function</a:t>
              </a:r>
              <a:endParaRPr b="0" sz="1300">
                <a:solidFill>
                  <a:srgbClr val="6B7280"/>
                </a:solidFill>
                <a:latin typeface="Inter Medium"/>
                <a:ea typeface="Inter Medium"/>
                <a:cs typeface="Inter Medium"/>
                <a:sym typeface="Inter Medium"/>
              </a:endParaRPr>
            </a:p>
            <a:p>
              <a:pPr indent="0" lvl="0" marL="0" rtl="0" algn="l">
                <a:spcBef>
                  <a:spcPts val="1125"/>
                </a:spcBef>
                <a:spcAft>
                  <a:spcPts val="0"/>
                </a:spcAft>
                <a:buNone/>
              </a:pPr>
              <a:r>
                <a:rPr b="0" lang="en" sz="1300">
                  <a:solidFill>
                    <a:srgbClr val="045A36"/>
                  </a:solidFill>
                  <a:latin typeface="Inter Medium"/>
                  <a:ea typeface="Inter Medium"/>
                  <a:cs typeface="Inter Medium"/>
                  <a:sym typeface="Inter Medium"/>
                </a:rPr>
                <a:t>def</a:t>
              </a:r>
              <a:r>
                <a:rPr b="0" lang="en" sz="1300">
                  <a:solidFill>
                    <a:srgbClr val="1F2937"/>
                  </a:solidFill>
                  <a:latin typeface="Inter Medium"/>
                  <a:ea typeface="Inter Medium"/>
                  <a:cs typeface="Inter Medium"/>
                  <a:sym typeface="Inter Medium"/>
                </a:rPr>
                <a:t> display_status(status):</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print(</a:t>
              </a:r>
              <a:r>
                <a:rPr b="0" lang="en" sz="1300">
                  <a:solidFill>
                    <a:srgbClr val="0B7A4B"/>
                  </a:solidFill>
                  <a:latin typeface="Inter Medium"/>
                  <a:ea typeface="Inter Medium"/>
                  <a:cs typeface="Inter Medium"/>
                  <a:sym typeface="Inter Medium"/>
                </a:rPr>
                <a:t>f"Current system status: {status}"</a:t>
              </a:r>
              <a:r>
                <a:rPr b="0" lang="en" sz="1300">
                  <a:solidFill>
                    <a:srgbClr val="1F2937"/>
                  </a:solidFill>
                  <a:latin typeface="Inter Medium"/>
                  <a:ea typeface="Inter Medium"/>
                  <a:cs typeface="Inter Medium"/>
                  <a:sym typeface="Inter Medium"/>
                </a:rPr>
                <a:t>)</a:t>
              </a:r>
              <a:endParaRPr b="0" sz="1300">
                <a:solidFill>
                  <a:srgbClr val="1F2937"/>
                </a:solidFill>
                <a:latin typeface="Inter Medium"/>
                <a:ea typeface="Inter Medium"/>
                <a:cs typeface="Inter Medium"/>
                <a:sym typeface="Inter Medium"/>
              </a:endParaRPr>
            </a:p>
            <a:p>
              <a:pPr indent="0" lvl="0" marL="0" rtl="0" algn="l">
                <a:spcBef>
                  <a:spcPts val="1500"/>
                </a:spcBef>
                <a:spcAft>
                  <a:spcPts val="0"/>
                </a:spcAft>
                <a:buNone/>
              </a:pPr>
              <a:r>
                <a:rPr b="0" lang="en" sz="1300">
                  <a:solidFill>
                    <a:srgbClr val="6B7280"/>
                  </a:solidFill>
                  <a:latin typeface="Inter Medium"/>
                  <a:ea typeface="Inter Medium"/>
                  <a:cs typeface="Inter Medium"/>
                  <a:sym typeface="Inter Medium"/>
                </a:rPr>
                <a:t># Calling the function</a:t>
              </a:r>
              <a:endParaRPr b="0" sz="1300">
                <a:solidFill>
                  <a:srgbClr val="6B7280"/>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display_status(</a:t>
              </a:r>
              <a:r>
                <a:rPr b="0" lang="en" sz="1300">
                  <a:solidFill>
                    <a:srgbClr val="0B7A4B"/>
                  </a:solidFill>
                  <a:latin typeface="Inter Medium"/>
                  <a:ea typeface="Inter Medium"/>
                  <a:cs typeface="Inter Medium"/>
                  <a:sym typeface="Inter Medium"/>
                </a:rPr>
                <a:t>"Online"</a:t>
              </a:r>
              <a:r>
                <a:rPr b="0" lang="en" sz="1300">
                  <a:solidFill>
                    <a:srgbClr val="1F2937"/>
                  </a:solidFill>
                  <a:latin typeface="Inter Medium"/>
                  <a:ea typeface="Inter Medium"/>
                  <a:cs typeface="Inter Medium"/>
                  <a:sym typeface="Inter Medium"/>
                </a:rPr>
                <a:t>)</a:t>
              </a:r>
              <a:endParaRPr b="0" sz="1300">
                <a:solidFill>
                  <a:srgbClr val="1F2937"/>
                </a:solidFill>
                <a:latin typeface="Inter Medium"/>
                <a:ea typeface="Inter Medium"/>
                <a:cs typeface="Inter Medium"/>
                <a:sym typeface="Inter Medium"/>
              </a:endParaRPr>
            </a:p>
          </p:txBody>
        </p:sp>
        <p:sp>
          <p:nvSpPr>
            <p:cNvPr id="406" name="Google Shape;406;p25"/>
            <p:cNvSpPr txBox="1"/>
            <p:nvPr/>
          </p:nvSpPr>
          <p:spPr>
            <a:xfrm>
              <a:off x="0" y="2333625"/>
              <a:ext cx="5143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i="1" lang="en" sz="1300">
                  <a:solidFill>
                    <a:srgbClr val="374151"/>
                  </a:solidFill>
                  <a:latin typeface="Inter"/>
                  <a:ea typeface="Inter"/>
                  <a:cs typeface="Inter"/>
                  <a:sym typeface="Inter"/>
                </a:rPr>
                <a:t>The print() function itself is a void function—it displays text but returns None.</a:t>
              </a:r>
              <a:endParaRPr b="0" i="1" sz="1300">
                <a:solidFill>
                  <a:srgbClr val="374151"/>
                </a:solidFill>
                <a:latin typeface="Inter"/>
                <a:ea typeface="Inter"/>
                <a:cs typeface="Inter"/>
                <a:sym typeface="Inter"/>
              </a:endParaRPr>
            </a:p>
          </p:txBody>
        </p:sp>
      </p:grpSp>
      <p:sp>
        <p:nvSpPr>
          <p:cNvPr id="407" name="Google Shape;407;p25"/>
          <p:cNvSpPr/>
          <p:nvPr>
            <p:ph idx="3" type="pic"/>
          </p:nvPr>
        </p:nvSpPr>
        <p:spPr>
          <a:xfrm>
            <a:off x="10287000" y="5457825"/>
            <a:ext cx="1524000" cy="1019100"/>
          </a:xfrm>
          <a:prstGeom prst="rect">
            <a:avLst/>
          </a:prstGeom>
          <a:noFill/>
          <a:ln>
            <a:noFill/>
          </a:ln>
        </p:spPr>
      </p:sp>
      <p:sp>
        <p:nvSpPr>
          <p:cNvPr id="408" name="Google Shape;408;p25"/>
          <p:cNvSpPr txBox="1"/>
          <p:nvPr/>
        </p:nvSpPr>
        <p:spPr>
          <a:xfrm>
            <a:off x="762000" y="6134100"/>
            <a:ext cx="57150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2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14" name="Google Shape;414;p26"/>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415" name="Google Shape;415;p26"/>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Positional Arguments</a:t>
            </a:r>
            <a:endParaRPr b="0" sz="2700">
              <a:solidFill>
                <a:srgbClr val="045A36"/>
              </a:solidFill>
              <a:latin typeface="Montserrat SemiBold"/>
              <a:ea typeface="Montserrat SemiBold"/>
              <a:cs typeface="Montserrat SemiBold"/>
              <a:sym typeface="Montserrat SemiBold"/>
            </a:endParaRPr>
          </a:p>
        </p:txBody>
      </p:sp>
      <p:sp>
        <p:nvSpPr>
          <p:cNvPr id="416" name="Google Shape;416;p2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7" name="Google Shape;417;p26"/>
          <p:cNvSpPr txBox="1"/>
          <p:nvPr/>
        </p:nvSpPr>
        <p:spPr>
          <a:xfrm>
            <a:off x="762000" y="1381125"/>
            <a:ext cx="10668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600"/>
              </a:spcAft>
              <a:buNone/>
            </a:pPr>
            <a:r>
              <a:rPr b="0" lang="en" sz="1500">
                <a:solidFill>
                  <a:srgbClr val="1F2937"/>
                </a:solidFill>
                <a:latin typeface="Inter SemiBold"/>
                <a:ea typeface="Inter SemiBold"/>
                <a:cs typeface="Inter SemiBold"/>
                <a:sym typeface="Inter SemiBold"/>
              </a:rPr>
              <a:t>Assigning values based on their order:</a:t>
            </a:r>
            <a:r>
              <a:rPr b="0" lang="en" sz="1500">
                <a:solidFill>
                  <a:srgbClr val="374151"/>
                </a:solidFill>
                <a:latin typeface="Inter"/>
                <a:ea typeface="Inter"/>
                <a:cs typeface="Inter"/>
                <a:sym typeface="Inter"/>
              </a:rPr>
              <a:t> Python assigns arguments to parameters based on their position in the function call. The first argument maps to the first parameter, and so on.</a:t>
            </a:r>
            <a:endParaRPr b="0" sz="1500">
              <a:solidFill>
                <a:srgbClr val="374151"/>
              </a:solidFill>
              <a:latin typeface="Inter"/>
              <a:ea typeface="Inter"/>
              <a:cs typeface="Inter"/>
              <a:sym typeface="Inter"/>
            </a:endParaRPr>
          </a:p>
        </p:txBody>
      </p:sp>
      <p:grpSp>
        <p:nvGrpSpPr>
          <p:cNvPr id="418" name="Google Shape;418;p26"/>
          <p:cNvGrpSpPr/>
          <p:nvPr/>
        </p:nvGrpSpPr>
        <p:grpSpPr>
          <a:xfrm>
            <a:off x="762000" y="2190750"/>
            <a:ext cx="10430025" cy="1524000"/>
            <a:chOff x="0" y="0"/>
            <a:chExt cx="10430025" cy="1524000"/>
          </a:xfrm>
        </p:grpSpPr>
        <p:grpSp>
          <p:nvGrpSpPr>
            <p:cNvPr id="419" name="Google Shape;419;p26"/>
            <p:cNvGrpSpPr/>
            <p:nvPr/>
          </p:nvGrpSpPr>
          <p:grpSpPr>
            <a:xfrm>
              <a:off x="0" y="0"/>
              <a:ext cx="4953000" cy="1524000"/>
              <a:chOff x="0" y="0"/>
              <a:chExt cx="4953000" cy="1524000"/>
            </a:xfrm>
          </p:grpSpPr>
          <p:sp>
            <p:nvSpPr>
              <p:cNvPr id="420" name="Google Shape;420;p26"/>
              <p:cNvSpPr/>
              <p:nvPr/>
            </p:nvSpPr>
            <p:spPr>
              <a:xfrm>
                <a:off x="0" y="0"/>
                <a:ext cx="4953000" cy="1524000"/>
              </a:xfrm>
              <a:prstGeom prst="roundRect">
                <a:avLst>
                  <a:gd fmla="val 50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1" name="Google Shape;421;p26"/>
              <p:cNvSpPr/>
              <p:nvPr/>
            </p:nvSpPr>
            <p:spPr>
              <a:xfrm>
                <a:off x="0" y="0"/>
                <a:ext cx="57300" cy="15240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22" name="Google Shape;422;p26"/>
            <p:cNvSpPr txBox="1"/>
            <p:nvPr/>
          </p:nvSpPr>
          <p:spPr>
            <a:xfrm>
              <a:off x="238125" y="190500"/>
              <a:ext cx="10191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Medium"/>
                  <a:ea typeface="Inter Medium"/>
                  <a:cs typeface="Inter Medium"/>
                  <a:sym typeface="Inter Medium"/>
                </a:rPr>
                <a:t>def </a:t>
              </a:r>
              <a:r>
                <a:rPr b="0" lang="en" sz="1500">
                  <a:solidFill>
                    <a:srgbClr val="1F2937"/>
                  </a:solidFill>
                  <a:latin typeface="Inter Medium"/>
                  <a:ea typeface="Inter Medium"/>
                  <a:cs typeface="Inter Medium"/>
                  <a:sym typeface="Inter Medium"/>
                </a:rPr>
                <a:t>student</a:t>
              </a:r>
              <a:r>
                <a:rPr b="0" lang="en" sz="1500">
                  <a:solidFill>
                    <a:srgbClr val="045A36"/>
                  </a:solidFill>
                  <a:latin typeface="Inter Medium"/>
                  <a:ea typeface="Inter Medium"/>
                  <a:cs typeface="Inter Medium"/>
                  <a:sym typeface="Inter Medium"/>
                </a:rPr>
                <a:t>(name, age):</a:t>
              </a:r>
              <a:endParaRPr b="0" sz="1500">
                <a:solidFill>
                  <a:srgbClr val="045A36"/>
                </a:solidFill>
                <a:latin typeface="Inter Medium"/>
                <a:ea typeface="Inter Medium"/>
                <a:cs typeface="Inter Medium"/>
                <a:sym typeface="Inter Medium"/>
              </a:endParaRPr>
            </a:p>
            <a:p>
              <a:pPr indent="0" lvl="0" marL="0" rtl="0" algn="l">
                <a:spcBef>
                  <a:spcPts val="750"/>
                </a:spcBef>
                <a:spcAft>
                  <a:spcPts val="0"/>
                </a:spcAft>
                <a:buNone/>
              </a:pPr>
              <a:r>
                <a:rPr b="0" lang="en" sz="1500">
                  <a:solidFill>
                    <a:srgbClr val="1F2937"/>
                  </a:solidFill>
                  <a:latin typeface="Inter Medium"/>
                  <a:ea typeface="Inter Medium"/>
                  <a:cs typeface="Inter Medium"/>
                  <a:sym typeface="Inter Medium"/>
                </a:rPr>
                <a:t>print(</a:t>
              </a:r>
              <a:r>
                <a:rPr b="0" lang="en" sz="1500">
                  <a:solidFill>
                    <a:srgbClr val="0B7A4B"/>
                  </a:solidFill>
                  <a:latin typeface="Inter Medium"/>
                  <a:ea typeface="Inter Medium"/>
                  <a:cs typeface="Inter Medium"/>
                  <a:sym typeface="Inter Medium"/>
                </a:rPr>
                <a:t>f"Student {name} is {age} years old."</a:t>
              </a:r>
              <a:r>
                <a:rPr b="0" lang="en" sz="1500">
                  <a:solidFill>
                    <a:srgbClr val="1F2937"/>
                  </a:solidFill>
                  <a:latin typeface="Inter Medium"/>
                  <a:ea typeface="Inter Medium"/>
                  <a:cs typeface="Inter Medium"/>
                  <a:sym typeface="Inter Medium"/>
                </a:rPr>
                <a:t>)</a:t>
              </a:r>
              <a:endParaRPr b="0" sz="1500">
                <a:solidFill>
                  <a:srgbClr val="1F2937"/>
                </a:solidFill>
                <a:latin typeface="Inter Medium"/>
                <a:ea typeface="Inter Medium"/>
                <a:cs typeface="Inter Medium"/>
                <a:sym typeface="Inter Medium"/>
              </a:endParaRPr>
            </a:p>
          </p:txBody>
        </p:sp>
      </p:grpSp>
      <p:grpSp>
        <p:nvGrpSpPr>
          <p:cNvPr id="423" name="Google Shape;423;p26"/>
          <p:cNvGrpSpPr/>
          <p:nvPr/>
        </p:nvGrpSpPr>
        <p:grpSpPr>
          <a:xfrm>
            <a:off x="762000" y="3571875"/>
            <a:ext cx="1143000" cy="285900"/>
            <a:chOff x="0" y="0"/>
            <a:chExt cx="1143000" cy="285900"/>
          </a:xfrm>
        </p:grpSpPr>
        <p:sp>
          <p:nvSpPr>
            <p:cNvPr id="424" name="Google Shape;424;p26"/>
            <p:cNvSpPr/>
            <p:nvPr/>
          </p:nvSpPr>
          <p:spPr>
            <a:xfrm>
              <a:off x="0" y="0"/>
              <a:ext cx="1143000" cy="285900"/>
            </a:xfrm>
            <a:prstGeom prst="roundRect">
              <a:avLst>
                <a:gd fmla="val 50000" name="adj"/>
              </a:avLst>
            </a:prstGeom>
            <a:solidFill>
              <a:srgbClr val="045A36">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26"/>
            <p:cNvSpPr txBox="1"/>
            <p:nvPr/>
          </p:nvSpPr>
          <p:spPr>
            <a:xfrm>
              <a:off x="0" y="0"/>
              <a:ext cx="1143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045A36"/>
                  </a:solidFill>
                  <a:latin typeface="Inter"/>
                  <a:ea typeface="Inter"/>
                  <a:cs typeface="Inter"/>
                  <a:sym typeface="Inter"/>
                </a:rPr>
                <a:t>CORRECT</a:t>
              </a:r>
              <a:endParaRPr b="1" sz="1000">
                <a:solidFill>
                  <a:srgbClr val="045A36"/>
                </a:solidFill>
                <a:latin typeface="Inter"/>
                <a:ea typeface="Inter"/>
                <a:cs typeface="Inter"/>
                <a:sym typeface="Inter"/>
              </a:endParaRPr>
            </a:p>
          </p:txBody>
        </p:sp>
      </p:grpSp>
      <p:grpSp>
        <p:nvGrpSpPr>
          <p:cNvPr id="426" name="Google Shape;426;p26"/>
          <p:cNvGrpSpPr/>
          <p:nvPr/>
        </p:nvGrpSpPr>
        <p:grpSpPr>
          <a:xfrm>
            <a:off x="6477000" y="3571875"/>
            <a:ext cx="1143000" cy="285900"/>
            <a:chOff x="0" y="0"/>
            <a:chExt cx="1143000" cy="285900"/>
          </a:xfrm>
        </p:grpSpPr>
        <p:sp>
          <p:nvSpPr>
            <p:cNvPr id="427" name="Google Shape;427;p26"/>
            <p:cNvSpPr/>
            <p:nvPr/>
          </p:nvSpPr>
          <p:spPr>
            <a:xfrm>
              <a:off x="0" y="0"/>
              <a:ext cx="1143000" cy="285900"/>
            </a:xfrm>
            <a:prstGeom prst="roundRect">
              <a:avLst>
                <a:gd fmla="val 50000" name="adj"/>
              </a:avLst>
            </a:prstGeom>
            <a:solidFill>
              <a:srgbClr val="D4A017">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6"/>
            <p:cNvSpPr txBox="1"/>
            <p:nvPr/>
          </p:nvSpPr>
          <p:spPr>
            <a:xfrm>
              <a:off x="0" y="0"/>
              <a:ext cx="1143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 sz="1000">
                  <a:solidFill>
                    <a:srgbClr val="D4A017"/>
                  </a:solidFill>
                  <a:latin typeface="Inter"/>
                  <a:ea typeface="Inter"/>
                  <a:cs typeface="Inter"/>
                  <a:sym typeface="Inter"/>
                </a:rPr>
                <a:t>INCORRECT</a:t>
              </a:r>
              <a:endParaRPr b="1" sz="1000">
                <a:solidFill>
                  <a:srgbClr val="D4A017"/>
                </a:solidFill>
                <a:latin typeface="Inter"/>
                <a:ea typeface="Inter"/>
                <a:cs typeface="Inter"/>
                <a:sym typeface="Inter"/>
              </a:endParaRPr>
            </a:p>
          </p:txBody>
        </p:sp>
      </p:grpSp>
      <p:grpSp>
        <p:nvGrpSpPr>
          <p:cNvPr id="429" name="Google Shape;429;p26"/>
          <p:cNvGrpSpPr/>
          <p:nvPr/>
        </p:nvGrpSpPr>
        <p:grpSpPr>
          <a:xfrm>
            <a:off x="762000" y="4000500"/>
            <a:ext cx="4953000" cy="1524000"/>
            <a:chOff x="0" y="0"/>
            <a:chExt cx="4953000" cy="1524000"/>
          </a:xfrm>
        </p:grpSpPr>
        <p:grpSp>
          <p:nvGrpSpPr>
            <p:cNvPr id="430" name="Google Shape;430;p26"/>
            <p:cNvGrpSpPr/>
            <p:nvPr/>
          </p:nvGrpSpPr>
          <p:grpSpPr>
            <a:xfrm>
              <a:off x="0" y="0"/>
              <a:ext cx="4953000" cy="1524000"/>
              <a:chOff x="0" y="0"/>
              <a:chExt cx="4953000" cy="1524000"/>
            </a:xfrm>
          </p:grpSpPr>
          <p:sp>
            <p:nvSpPr>
              <p:cNvPr id="431" name="Google Shape;431;p26"/>
              <p:cNvSpPr/>
              <p:nvPr/>
            </p:nvSpPr>
            <p:spPr>
              <a:xfrm>
                <a:off x="0" y="0"/>
                <a:ext cx="4953000" cy="1524000"/>
              </a:xfrm>
              <a:prstGeom prst="roundRect">
                <a:avLst>
                  <a:gd fmla="val 50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26"/>
              <p:cNvSpPr/>
              <p:nvPr/>
            </p:nvSpPr>
            <p:spPr>
              <a:xfrm>
                <a:off x="0" y="0"/>
                <a:ext cx="57300" cy="15240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33" name="Google Shape;433;p26"/>
            <p:cNvSpPr txBox="1"/>
            <p:nvPr/>
          </p:nvSpPr>
          <p:spPr>
            <a:xfrm>
              <a:off x="238125" y="190500"/>
              <a:ext cx="4476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student(</a:t>
              </a:r>
              <a:r>
                <a:rPr b="0" lang="en" sz="1300">
                  <a:solidFill>
                    <a:srgbClr val="0B7A4B"/>
                  </a:solidFill>
                  <a:latin typeface="Inter Medium"/>
                  <a:ea typeface="Inter Medium"/>
                  <a:cs typeface="Inter Medium"/>
                  <a:sym typeface="Inter Medium"/>
                </a:rPr>
                <a:t>"Ahmed"</a:t>
              </a:r>
              <a:r>
                <a:rPr b="0" lang="en" sz="1300">
                  <a:solidFill>
                    <a:srgbClr val="1F2937"/>
                  </a:solidFill>
                  <a:latin typeface="Inter Medium"/>
                  <a:ea typeface="Inter Medium"/>
                  <a:cs typeface="Inter Medium"/>
                  <a:sym typeface="Inter Medium"/>
                </a:rPr>
                <a:t>, </a:t>
              </a:r>
              <a:r>
                <a:rPr b="0" lang="en" sz="1300">
                  <a:solidFill>
                    <a:srgbClr val="D4A017"/>
                  </a:solidFill>
                  <a:latin typeface="Inter Medium"/>
                  <a:ea typeface="Inter Medium"/>
                  <a:cs typeface="Inter Medium"/>
                  <a:sym typeface="Inter Medium"/>
                </a:rPr>
                <a:t>20</a:t>
              </a:r>
              <a:r>
                <a:rPr b="0" lang="en" sz="1300">
                  <a:solidFill>
                    <a:srgbClr val="1F2937"/>
                  </a:solidFill>
                  <a:latin typeface="Inter Medium"/>
                  <a:ea typeface="Inter Medium"/>
                  <a:cs typeface="Inter Medium"/>
                  <a:sym typeface="Inter Medium"/>
                </a:rPr>
                <a:t>)</a:t>
              </a:r>
              <a:endParaRPr b="0" sz="1300">
                <a:solidFill>
                  <a:srgbClr val="1F2937"/>
                </a:solidFill>
                <a:latin typeface="Inter Medium"/>
                <a:ea typeface="Inter Medium"/>
                <a:cs typeface="Inter Medium"/>
                <a:sym typeface="Inter Medium"/>
              </a:endParaRPr>
            </a:p>
            <a:p>
              <a:pPr indent="0" lvl="0" marL="0" rtl="0" algn="l">
                <a:spcBef>
                  <a:spcPts val="1125"/>
                </a:spcBef>
                <a:spcAft>
                  <a:spcPts val="0"/>
                </a:spcAft>
                <a:buNone/>
              </a:pPr>
              <a:r>
                <a:rPr b="0" lang="en" sz="1100">
                  <a:solidFill>
                    <a:srgbClr val="6B7280"/>
                  </a:solidFill>
                  <a:latin typeface="Inter Medium"/>
                  <a:ea typeface="Inter Medium"/>
                  <a:cs typeface="Inter Medium"/>
                  <a:sym typeface="Inter Medium"/>
                </a:rPr>
                <a:t># Output:</a:t>
              </a:r>
              <a:endParaRPr b="0" sz="1100">
                <a:solidFill>
                  <a:srgbClr val="6B7280"/>
                </a:solidFill>
                <a:latin typeface="Inter Medium"/>
                <a:ea typeface="Inter Medium"/>
                <a:cs typeface="Inter Medium"/>
                <a:sym typeface="Inter Medium"/>
              </a:endParaRPr>
            </a:p>
            <a:p>
              <a:pPr indent="0" lvl="0" marL="0" rtl="0" algn="l">
                <a:spcBef>
                  <a:spcPts val="0"/>
                </a:spcBef>
                <a:spcAft>
                  <a:spcPts val="0"/>
                </a:spcAft>
                <a:buNone/>
              </a:pPr>
              <a:r>
                <a:rPr b="0" lang="en" sz="1300">
                  <a:solidFill>
                    <a:srgbClr val="045A36"/>
                  </a:solidFill>
                  <a:latin typeface="Inter Medium"/>
                  <a:ea typeface="Inter Medium"/>
                  <a:cs typeface="Inter Medium"/>
                  <a:sym typeface="Inter Medium"/>
                </a:rPr>
                <a:t>Student Ahmed is 20 years old.</a:t>
              </a:r>
              <a:endParaRPr b="0" sz="1300">
                <a:solidFill>
                  <a:srgbClr val="045A36"/>
                </a:solidFill>
                <a:latin typeface="Inter Medium"/>
                <a:ea typeface="Inter Medium"/>
                <a:cs typeface="Inter Medium"/>
                <a:sym typeface="Inter Medium"/>
              </a:endParaRPr>
            </a:p>
          </p:txBody>
        </p:sp>
      </p:grpSp>
      <p:grpSp>
        <p:nvGrpSpPr>
          <p:cNvPr id="434" name="Google Shape;434;p26"/>
          <p:cNvGrpSpPr/>
          <p:nvPr/>
        </p:nvGrpSpPr>
        <p:grpSpPr>
          <a:xfrm>
            <a:off x="6477000" y="4000500"/>
            <a:ext cx="4953000" cy="1524000"/>
            <a:chOff x="0" y="0"/>
            <a:chExt cx="4953000" cy="1524000"/>
          </a:xfrm>
        </p:grpSpPr>
        <p:grpSp>
          <p:nvGrpSpPr>
            <p:cNvPr id="435" name="Google Shape;435;p26"/>
            <p:cNvGrpSpPr/>
            <p:nvPr/>
          </p:nvGrpSpPr>
          <p:grpSpPr>
            <a:xfrm>
              <a:off x="0" y="0"/>
              <a:ext cx="4953000" cy="1524000"/>
              <a:chOff x="0" y="0"/>
              <a:chExt cx="4953000" cy="1524000"/>
            </a:xfrm>
          </p:grpSpPr>
          <p:sp>
            <p:nvSpPr>
              <p:cNvPr id="436" name="Google Shape;436;p26"/>
              <p:cNvSpPr/>
              <p:nvPr/>
            </p:nvSpPr>
            <p:spPr>
              <a:xfrm>
                <a:off x="0" y="0"/>
                <a:ext cx="4953000" cy="1524000"/>
              </a:xfrm>
              <a:prstGeom prst="roundRect">
                <a:avLst>
                  <a:gd fmla="val 500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7" name="Google Shape;437;p26"/>
              <p:cNvSpPr/>
              <p:nvPr/>
            </p:nvSpPr>
            <p:spPr>
              <a:xfrm>
                <a:off x="0" y="0"/>
                <a:ext cx="57300" cy="15240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438" name="Google Shape;438;p26"/>
            <p:cNvSpPr txBox="1"/>
            <p:nvPr/>
          </p:nvSpPr>
          <p:spPr>
            <a:xfrm>
              <a:off x="238125" y="190500"/>
              <a:ext cx="4476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student(</a:t>
              </a:r>
              <a:r>
                <a:rPr b="0" lang="en" sz="1300">
                  <a:solidFill>
                    <a:srgbClr val="D4A017"/>
                  </a:solidFill>
                  <a:latin typeface="Inter Medium"/>
                  <a:ea typeface="Inter Medium"/>
                  <a:cs typeface="Inter Medium"/>
                  <a:sym typeface="Inter Medium"/>
                </a:rPr>
                <a:t>20</a:t>
              </a:r>
              <a:r>
                <a:rPr b="0" lang="en" sz="1300">
                  <a:solidFill>
                    <a:srgbClr val="1F2937"/>
                  </a:solidFill>
                  <a:latin typeface="Inter Medium"/>
                  <a:ea typeface="Inter Medium"/>
                  <a:cs typeface="Inter Medium"/>
                  <a:sym typeface="Inter Medium"/>
                </a:rPr>
                <a:t>, </a:t>
              </a:r>
              <a:r>
                <a:rPr b="0" lang="en" sz="1300">
                  <a:solidFill>
                    <a:srgbClr val="0B7A4B"/>
                  </a:solidFill>
                  <a:latin typeface="Inter Medium"/>
                  <a:ea typeface="Inter Medium"/>
                  <a:cs typeface="Inter Medium"/>
                  <a:sym typeface="Inter Medium"/>
                </a:rPr>
                <a:t>"Ahmed"</a:t>
              </a:r>
              <a:r>
                <a:rPr b="0" lang="en" sz="1300">
                  <a:solidFill>
                    <a:srgbClr val="1F2937"/>
                  </a:solidFill>
                  <a:latin typeface="Inter Medium"/>
                  <a:ea typeface="Inter Medium"/>
                  <a:cs typeface="Inter Medium"/>
                  <a:sym typeface="Inter Medium"/>
                </a:rPr>
                <a:t>)</a:t>
              </a:r>
              <a:endParaRPr b="0" sz="1300">
                <a:solidFill>
                  <a:srgbClr val="1F2937"/>
                </a:solidFill>
                <a:latin typeface="Inter Medium"/>
                <a:ea typeface="Inter Medium"/>
                <a:cs typeface="Inter Medium"/>
                <a:sym typeface="Inter Medium"/>
              </a:endParaRPr>
            </a:p>
            <a:p>
              <a:pPr indent="0" lvl="0" marL="0" rtl="0" algn="l">
                <a:spcBef>
                  <a:spcPts val="1125"/>
                </a:spcBef>
                <a:spcAft>
                  <a:spcPts val="0"/>
                </a:spcAft>
                <a:buNone/>
              </a:pPr>
              <a:r>
                <a:rPr b="0" lang="en" sz="1100">
                  <a:solidFill>
                    <a:srgbClr val="6B7280"/>
                  </a:solidFill>
                  <a:latin typeface="Inter Medium"/>
                  <a:ea typeface="Inter Medium"/>
                  <a:cs typeface="Inter Medium"/>
                  <a:sym typeface="Inter Medium"/>
                </a:rPr>
                <a:t># Output (Logic Error):</a:t>
              </a:r>
              <a:endParaRPr b="0" sz="1100">
                <a:solidFill>
                  <a:srgbClr val="6B7280"/>
                </a:solidFill>
                <a:latin typeface="Inter Medium"/>
                <a:ea typeface="Inter Medium"/>
                <a:cs typeface="Inter Medium"/>
                <a:sym typeface="Inter Medium"/>
              </a:endParaRPr>
            </a:p>
            <a:p>
              <a:pPr indent="0" lvl="0" marL="0" rtl="0" algn="l">
                <a:spcBef>
                  <a:spcPts val="0"/>
                </a:spcBef>
                <a:spcAft>
                  <a:spcPts val="0"/>
                </a:spcAft>
                <a:buNone/>
              </a:pPr>
              <a:r>
                <a:rPr b="0" lang="en" sz="1300">
                  <a:solidFill>
                    <a:srgbClr val="D4A017"/>
                  </a:solidFill>
                  <a:latin typeface="Inter Medium"/>
                  <a:ea typeface="Inter Medium"/>
                  <a:cs typeface="Inter Medium"/>
                  <a:sym typeface="Inter Medium"/>
                </a:rPr>
                <a:t>Student 20 is Ahmed years old.</a:t>
              </a:r>
              <a:endParaRPr b="0" sz="1300">
                <a:solidFill>
                  <a:srgbClr val="D4A017"/>
                </a:solidFill>
                <a:latin typeface="Inter Medium"/>
                <a:ea typeface="Inter Medium"/>
                <a:cs typeface="Inter Medium"/>
                <a:sym typeface="Inter Medium"/>
              </a:endParaRPr>
            </a:p>
          </p:txBody>
        </p:sp>
      </p:grpSp>
      <p:grpSp>
        <p:nvGrpSpPr>
          <p:cNvPr id="439" name="Google Shape;439;p26"/>
          <p:cNvGrpSpPr/>
          <p:nvPr/>
        </p:nvGrpSpPr>
        <p:grpSpPr>
          <a:xfrm>
            <a:off x="762000" y="5457825"/>
            <a:ext cx="11049000" cy="1019100"/>
            <a:chOff x="762000" y="5457825"/>
            <a:chExt cx="11049000" cy="1019100"/>
          </a:xfrm>
        </p:grpSpPr>
        <p:pic>
          <p:nvPicPr>
            <p:cNvPr id="440" name="Google Shape;440;p26"/>
            <p:cNvPicPr preferRelativeResize="0"/>
            <p:nvPr/>
          </p:nvPicPr>
          <p:blipFill rotWithShape="1">
            <a:blip r:embed="rId4">
              <a:alphaModFix/>
            </a:blip>
            <a:srcRect b="0" l="0" r="0" t="0"/>
            <a:stretch/>
          </p:blipFill>
          <p:spPr>
            <a:xfrm>
              <a:off x="10287000" y="5457825"/>
              <a:ext cx="1524000" cy="1019100"/>
            </a:xfrm>
            <a:prstGeom prst="rect">
              <a:avLst/>
            </a:prstGeom>
            <a:noFill/>
            <a:ln>
              <a:noFill/>
            </a:ln>
          </p:spPr>
        </p:pic>
        <p:sp>
          <p:nvSpPr>
            <p:cNvPr id="441" name="Google Shape;441;p26"/>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Introduction of Electronics | Robotics and Automation Systems</a:t>
              </a:r>
              <a:endParaRPr b="0" sz="1000">
                <a:solidFill>
                  <a:srgbClr val="6B7280"/>
                </a:solidFill>
                <a:latin typeface="Inter"/>
                <a:ea typeface="Inter"/>
                <a:cs typeface="Inter"/>
                <a:sym typeface="Inte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sp>
        <p:nvSpPr>
          <p:cNvPr id="446" name="Google Shape;446;p27"/>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47" name="Google Shape;447;p27"/>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448" name="Google Shape;448;p2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Keyword Arguments</a:t>
            </a:r>
            <a:endParaRPr b="0" sz="2700">
              <a:solidFill>
                <a:srgbClr val="045A36"/>
              </a:solidFill>
              <a:latin typeface="Montserrat SemiBold"/>
              <a:ea typeface="Montserrat SemiBold"/>
              <a:cs typeface="Montserrat SemiBold"/>
              <a:sym typeface="Montserrat SemiBold"/>
            </a:endParaRPr>
          </a:p>
        </p:txBody>
      </p:sp>
      <p:sp>
        <p:nvSpPr>
          <p:cNvPr id="449" name="Google Shape;449;p2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0" name="Google Shape;450;p27"/>
          <p:cNvSpPr txBox="1"/>
          <p:nvPr/>
        </p:nvSpPr>
        <p:spPr>
          <a:xfrm>
            <a:off x="762000" y="1524000"/>
            <a:ext cx="5143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Specifying values by parameter names</a:t>
            </a:r>
            <a:endParaRPr b="0" sz="1500">
              <a:solidFill>
                <a:srgbClr val="1F2937"/>
              </a:solidFill>
              <a:latin typeface="Inter SemiBold"/>
              <a:ea typeface="Inter SemiBold"/>
              <a:cs typeface="Inter SemiBold"/>
              <a:sym typeface="Inter SemiBold"/>
            </a:endParaRPr>
          </a:p>
          <a:p>
            <a:pPr indent="0" lvl="0" marL="0" rtl="0" algn="l">
              <a:spcBef>
                <a:spcPts val="1500"/>
              </a:spcBef>
              <a:spcAft>
                <a:spcPts val="0"/>
              </a:spcAft>
              <a:buNone/>
            </a:pPr>
            <a:r>
              <a:rPr b="0" lang="en" sz="1500">
                <a:solidFill>
                  <a:srgbClr val="374151"/>
                </a:solidFill>
                <a:latin typeface="Inter"/>
                <a:ea typeface="Inter"/>
                <a:cs typeface="Inter"/>
                <a:sym typeface="Inter"/>
              </a:rPr>
              <a:t>You can explicitly state which parameter an argument belongs to by using the parameter name in the function call. This is called a keyword argument.</a:t>
            </a:r>
            <a:endParaRPr b="0" sz="1500">
              <a:solidFill>
                <a:srgbClr val="374151"/>
              </a:solidFill>
              <a:latin typeface="Inter"/>
              <a:ea typeface="Inter"/>
              <a:cs typeface="Inter"/>
              <a:sym typeface="Inter"/>
            </a:endParaRPr>
          </a:p>
          <a:p>
            <a:pPr indent="0" lvl="0" marL="0" rtl="0" algn="l">
              <a:spcBef>
                <a:spcPts val="1125"/>
              </a:spcBef>
              <a:spcAft>
                <a:spcPts val="0"/>
              </a:spcAft>
              <a:buNone/>
            </a:pPr>
            <a:r>
              <a:rPr b="0" lang="en" sz="1500">
                <a:solidFill>
                  <a:srgbClr val="045A36"/>
                </a:solidFill>
                <a:latin typeface="Inter SemiBold"/>
                <a:ea typeface="Inter SemiBold"/>
                <a:cs typeface="Inter SemiBold"/>
                <a:sym typeface="Inter SemiBold"/>
              </a:rPr>
              <a:t>Key Advantage:</a:t>
            </a:r>
            <a:endParaRPr b="0" sz="1500">
              <a:solidFill>
                <a:srgbClr val="045A36"/>
              </a:solidFill>
              <a:latin typeface="Inter SemiBold"/>
              <a:ea typeface="Inter SemiBold"/>
              <a:cs typeface="Inter SemiBold"/>
              <a:sym typeface="Inter SemiBold"/>
            </a:endParaRPr>
          </a:p>
          <a:p>
            <a:pPr indent="0" lvl="0" marL="0" rtl="0" algn="l">
              <a:spcBef>
                <a:spcPts val="375"/>
              </a:spcBef>
              <a:spcAft>
                <a:spcPts val="0"/>
              </a:spcAft>
              <a:buNone/>
            </a:pPr>
            <a:r>
              <a:rPr b="0" lang="en" sz="1500">
                <a:solidFill>
                  <a:srgbClr val="374151"/>
                </a:solidFill>
                <a:latin typeface="Inter"/>
                <a:ea typeface="Inter"/>
                <a:cs typeface="Inter"/>
                <a:sym typeface="Inter"/>
              </a:rPr>
              <a:t>When using keyword arguments, the </a:t>
            </a:r>
            <a:r>
              <a:rPr b="0" lang="en" sz="1500">
                <a:solidFill>
                  <a:srgbClr val="1F2937"/>
                </a:solidFill>
                <a:latin typeface="Inter SemiBold"/>
                <a:ea typeface="Inter SemiBold"/>
                <a:cs typeface="Inter SemiBold"/>
                <a:sym typeface="Inter SemiBold"/>
              </a:rPr>
              <a:t>order does not matter</a:t>
            </a:r>
            <a:r>
              <a:rPr b="0" lang="en" sz="1500">
                <a:solidFill>
                  <a:srgbClr val="374151"/>
                </a:solidFill>
                <a:latin typeface="Inter"/>
                <a:ea typeface="Inter"/>
                <a:cs typeface="Inter"/>
                <a:sym typeface="Inter"/>
              </a:rPr>
              <a:t>. This improves readability and prevents ordering mistakes.</a:t>
            </a:r>
            <a:endParaRPr b="0" sz="1500">
              <a:solidFill>
                <a:srgbClr val="374151"/>
              </a:solidFill>
              <a:latin typeface="Inter"/>
              <a:ea typeface="Inter"/>
              <a:cs typeface="Inter"/>
              <a:sym typeface="Inter"/>
            </a:endParaRPr>
          </a:p>
        </p:txBody>
      </p:sp>
      <p:grpSp>
        <p:nvGrpSpPr>
          <p:cNvPr id="451" name="Google Shape;451;p27"/>
          <p:cNvGrpSpPr/>
          <p:nvPr/>
        </p:nvGrpSpPr>
        <p:grpSpPr>
          <a:xfrm>
            <a:off x="6286500" y="1524000"/>
            <a:ext cx="5143500" cy="3619500"/>
            <a:chOff x="0" y="0"/>
            <a:chExt cx="5143500" cy="3619500"/>
          </a:xfrm>
        </p:grpSpPr>
        <p:sp>
          <p:nvSpPr>
            <p:cNvPr id="452" name="Google Shape;452;p27"/>
            <p:cNvSpPr/>
            <p:nvPr/>
          </p:nvSpPr>
          <p:spPr>
            <a:xfrm>
              <a:off x="0" y="0"/>
              <a:ext cx="5143500" cy="3619500"/>
            </a:xfrm>
            <a:prstGeom prst="roundRect">
              <a:avLst>
                <a:gd fmla="val 2105"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3" name="Google Shape;453;p27"/>
            <p:cNvSpPr/>
            <p:nvPr/>
          </p:nvSpPr>
          <p:spPr>
            <a:xfrm>
              <a:off x="0" y="0"/>
              <a:ext cx="57300" cy="3619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27"/>
            <p:cNvSpPr txBox="1"/>
            <p:nvPr/>
          </p:nvSpPr>
          <p:spPr>
            <a:xfrm>
              <a:off x="238125" y="238125"/>
              <a:ext cx="46674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CODE EXAMPLE</a:t>
              </a:r>
              <a:endParaRPr b="1" sz="1200">
                <a:solidFill>
                  <a:srgbClr val="D4A017"/>
                </a:solidFill>
                <a:latin typeface="Inter"/>
                <a:ea typeface="Inter"/>
                <a:cs typeface="Inter"/>
                <a:sym typeface="Inter"/>
              </a:endParaRPr>
            </a:p>
          </p:txBody>
        </p:sp>
        <p:sp>
          <p:nvSpPr>
            <p:cNvPr id="455" name="Google Shape;455;p27"/>
            <p:cNvSpPr txBox="1"/>
            <p:nvPr/>
          </p:nvSpPr>
          <p:spPr>
            <a:xfrm>
              <a:off x="238125" y="666750"/>
              <a:ext cx="46674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Medium"/>
                  <a:ea typeface="Inter Medium"/>
                  <a:cs typeface="Inter Medium"/>
                  <a:sym typeface="Inter Medium"/>
                </a:rPr>
                <a:t>def student(name, age):</a:t>
              </a:r>
              <a:endParaRPr b="0" sz="1300">
                <a:solidFill>
                  <a:srgbClr val="045A36"/>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6B7280"/>
                  </a:solidFill>
                  <a:latin typeface="Inter Medium"/>
                  <a:ea typeface="Inter Medium"/>
                  <a:cs typeface="Inter Medium"/>
                  <a:sym typeface="Inter Medium"/>
                </a:rPr>
                <a:t># Print student info</a:t>
              </a:r>
              <a:endParaRPr b="0" sz="1300">
                <a:solidFill>
                  <a:srgbClr val="6B7280"/>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print(f"Student {name} is {age} years old.")</a:t>
              </a:r>
              <a:endParaRPr b="0" sz="1300">
                <a:solidFill>
                  <a:srgbClr val="1F2937"/>
                </a:solidFill>
                <a:latin typeface="Inter Medium"/>
                <a:ea typeface="Inter Medium"/>
                <a:cs typeface="Inter Medium"/>
                <a:sym typeface="Inter Medium"/>
              </a:endParaRPr>
            </a:p>
            <a:p>
              <a:pPr indent="0" lvl="0" marL="0" rtl="0" algn="l">
                <a:spcBef>
                  <a:spcPts val="1875"/>
                </a:spcBef>
                <a:spcAft>
                  <a:spcPts val="0"/>
                </a:spcAft>
                <a:buNone/>
              </a:pPr>
              <a:r>
                <a:rPr b="0" lang="en" sz="1300">
                  <a:solidFill>
                    <a:srgbClr val="6B7280"/>
                  </a:solidFill>
                  <a:latin typeface="Inter Medium"/>
                  <a:ea typeface="Inter Medium"/>
                  <a:cs typeface="Inter Medium"/>
                  <a:sym typeface="Inter Medium"/>
                </a:rPr>
                <a:t># Order doesn't matter</a:t>
              </a:r>
              <a:endParaRPr b="0" sz="1300">
                <a:solidFill>
                  <a:srgbClr val="6B7280"/>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student(</a:t>
              </a:r>
              <a:r>
                <a:rPr b="1" lang="en" sz="1300">
                  <a:solidFill>
                    <a:srgbClr val="D4A017"/>
                  </a:solidFill>
                  <a:latin typeface="Inter"/>
                  <a:ea typeface="Inter"/>
                  <a:cs typeface="Inter"/>
                  <a:sym typeface="Inter"/>
                </a:rPr>
                <a:t>age</a:t>
              </a:r>
              <a:r>
                <a:rPr b="0" lang="en" sz="1300">
                  <a:solidFill>
                    <a:srgbClr val="1F2937"/>
                  </a:solidFill>
                  <a:latin typeface="Inter Medium"/>
                  <a:ea typeface="Inter Medium"/>
                  <a:cs typeface="Inter Medium"/>
                  <a:sym typeface="Inter Medium"/>
                </a:rPr>
                <a:t>=20, </a:t>
              </a:r>
              <a:r>
                <a:rPr b="1" lang="en" sz="1300">
                  <a:solidFill>
                    <a:srgbClr val="D4A017"/>
                  </a:solidFill>
                  <a:latin typeface="Inter"/>
                  <a:ea typeface="Inter"/>
                  <a:cs typeface="Inter"/>
                  <a:sym typeface="Inter"/>
                </a:rPr>
                <a:t>name</a:t>
              </a:r>
              <a:r>
                <a:rPr b="0" lang="en" sz="1300">
                  <a:solidFill>
                    <a:srgbClr val="1F2937"/>
                  </a:solidFill>
                  <a:latin typeface="Inter Medium"/>
                  <a:ea typeface="Inter Medium"/>
                  <a:cs typeface="Inter Medium"/>
                  <a:sym typeface="Inter Medium"/>
                </a:rPr>
                <a:t>="Ahmed")</a:t>
              </a:r>
              <a:endParaRPr b="0" sz="1300">
                <a:solidFill>
                  <a:srgbClr val="1F2937"/>
                </a:solidFill>
                <a:latin typeface="Inter Medium"/>
                <a:ea typeface="Inter Medium"/>
                <a:cs typeface="Inter Medium"/>
                <a:sym typeface="Inter Medium"/>
              </a:endParaRPr>
            </a:p>
            <a:p>
              <a:pPr indent="0" lvl="0" marL="0" rtl="0" algn="l">
                <a:spcBef>
                  <a:spcPts val="1125"/>
                </a:spcBef>
                <a:spcAft>
                  <a:spcPts val="0"/>
                </a:spcAft>
                <a:buNone/>
              </a:pPr>
              <a:r>
                <a:rPr b="0" lang="en" sz="1300">
                  <a:solidFill>
                    <a:srgbClr val="6B7280"/>
                  </a:solidFill>
                  <a:latin typeface="Inter Medium"/>
                  <a:ea typeface="Inter Medium"/>
                  <a:cs typeface="Inter Medium"/>
                  <a:sym typeface="Inter Medium"/>
                </a:rPr>
                <a:t># Output:</a:t>
              </a:r>
              <a:endParaRPr b="0" sz="1300">
                <a:solidFill>
                  <a:srgbClr val="6B7280"/>
                </a:solidFill>
                <a:latin typeface="Inter Medium"/>
                <a:ea typeface="Inter Medium"/>
                <a:cs typeface="Inter Medium"/>
                <a:sym typeface="Inter Medium"/>
              </a:endParaRPr>
            </a:p>
            <a:p>
              <a:pPr indent="0" lvl="0" marL="0" rtl="0" algn="l">
                <a:spcBef>
                  <a:spcPts val="600"/>
                </a:spcBef>
                <a:spcAft>
                  <a:spcPts val="0"/>
                </a:spcAft>
                <a:buNone/>
              </a:pPr>
              <a:r>
                <a:rPr b="0" i="1" lang="en" sz="1300">
                  <a:solidFill>
                    <a:srgbClr val="4B5563"/>
                  </a:solidFill>
                  <a:latin typeface="Inter Medium"/>
                  <a:ea typeface="Inter Medium"/>
                  <a:cs typeface="Inter Medium"/>
                  <a:sym typeface="Inter Medium"/>
                </a:rPr>
                <a:t>"Student Ahmed is 20 years old."</a:t>
              </a:r>
              <a:endParaRPr b="0" i="1" sz="1300">
                <a:solidFill>
                  <a:srgbClr val="4B5563"/>
                </a:solidFill>
                <a:latin typeface="Inter Medium"/>
                <a:ea typeface="Inter Medium"/>
                <a:cs typeface="Inter Medium"/>
                <a:sym typeface="Inter Medium"/>
              </a:endParaRPr>
            </a:p>
          </p:txBody>
        </p:sp>
      </p:grpSp>
      <p:grpSp>
        <p:nvGrpSpPr>
          <p:cNvPr id="456" name="Google Shape;456;p27"/>
          <p:cNvGrpSpPr/>
          <p:nvPr/>
        </p:nvGrpSpPr>
        <p:grpSpPr>
          <a:xfrm>
            <a:off x="762000" y="5457825"/>
            <a:ext cx="11049000" cy="1019100"/>
            <a:chOff x="762000" y="5457825"/>
            <a:chExt cx="11049000" cy="1019100"/>
          </a:xfrm>
        </p:grpSpPr>
        <p:pic>
          <p:nvPicPr>
            <p:cNvPr id="457" name="Google Shape;457;p27"/>
            <p:cNvPicPr preferRelativeResize="0"/>
            <p:nvPr/>
          </p:nvPicPr>
          <p:blipFill rotWithShape="1">
            <a:blip r:embed="rId4">
              <a:alphaModFix/>
            </a:blip>
            <a:srcRect b="0" l="0" r="0" t="0"/>
            <a:stretch/>
          </p:blipFill>
          <p:spPr>
            <a:xfrm>
              <a:off x="10287000" y="5457825"/>
              <a:ext cx="1524000" cy="1019100"/>
            </a:xfrm>
            <a:prstGeom prst="rect">
              <a:avLst/>
            </a:prstGeom>
            <a:noFill/>
            <a:ln>
              <a:noFill/>
            </a:ln>
          </p:spPr>
        </p:pic>
        <p:sp>
          <p:nvSpPr>
            <p:cNvPr id="458" name="Google Shape;458;p27"/>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2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64" name="Google Shape;464;p28"/>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465" name="Google Shape;465;p28"/>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Default Parameters</a:t>
            </a:r>
            <a:endParaRPr b="0" sz="2700">
              <a:solidFill>
                <a:srgbClr val="045A36"/>
              </a:solidFill>
              <a:latin typeface="Montserrat SemiBold"/>
              <a:ea typeface="Montserrat SemiBold"/>
              <a:cs typeface="Montserrat SemiBold"/>
              <a:sym typeface="Montserrat SemiBold"/>
            </a:endParaRPr>
          </a:p>
        </p:txBody>
      </p:sp>
      <p:sp>
        <p:nvSpPr>
          <p:cNvPr id="466" name="Google Shape;466;p2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28"/>
          <p:cNvSpPr txBox="1"/>
          <p:nvPr/>
        </p:nvSpPr>
        <p:spPr>
          <a:xfrm>
            <a:off x="762000" y="1524000"/>
            <a:ext cx="4762500" cy="3810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Setting fallback values for missing arguments</a:t>
            </a:r>
            <a:endParaRPr b="0" sz="1500">
              <a:solidFill>
                <a:srgbClr val="1F2937"/>
              </a:solidFill>
              <a:latin typeface="Inter SemiBold"/>
              <a:ea typeface="Inter SemiBold"/>
              <a:cs typeface="Inter SemiBold"/>
              <a:sym typeface="Inter SemiBold"/>
            </a:endParaRPr>
          </a:p>
          <a:p>
            <a:pPr indent="0" lvl="0" marL="0" rtl="0" algn="l">
              <a:spcBef>
                <a:spcPts val="1125"/>
              </a:spcBef>
              <a:spcAft>
                <a:spcPts val="0"/>
              </a:spcAft>
              <a:buNone/>
            </a:pPr>
            <a:r>
              <a:rPr b="0" lang="en" sz="1500">
                <a:solidFill>
                  <a:srgbClr val="374151"/>
                </a:solidFill>
                <a:latin typeface="Inter"/>
                <a:ea typeface="Inter"/>
                <a:cs typeface="Inter"/>
                <a:sym typeface="Inter"/>
              </a:rPr>
              <a:t>You can assign a default value to a parameter in the function definition. If the caller does not provide an argument, Python will use the default.</a:t>
            </a:r>
            <a:endParaRPr b="0" sz="1500">
              <a:solidFill>
                <a:srgbClr val="374151"/>
              </a:solidFill>
              <a:latin typeface="Inter"/>
              <a:ea typeface="Inter"/>
              <a:cs typeface="Inter"/>
              <a:sym typeface="Inter"/>
            </a:endParaRPr>
          </a:p>
          <a:p>
            <a:pPr indent="0" lvl="0" marL="0" rtl="0" algn="l">
              <a:spcBef>
                <a:spcPts val="1500"/>
              </a:spcBef>
              <a:spcAft>
                <a:spcPts val="0"/>
              </a:spcAft>
              <a:buNone/>
            </a:pPr>
            <a:r>
              <a:rPr b="0" lang="en" sz="1500">
                <a:solidFill>
                  <a:srgbClr val="374151"/>
                </a:solidFill>
                <a:latin typeface="Inter"/>
                <a:ea typeface="Inter"/>
                <a:cs typeface="Inter"/>
                <a:sym typeface="Inter"/>
              </a:rPr>
              <a:t>Ensures functions remain functional even with incomplete inputs.</a:t>
            </a:r>
            <a:endParaRPr b="0" sz="1500">
              <a:solidFill>
                <a:srgbClr val="374151"/>
              </a:solidFill>
              <a:latin typeface="Inter"/>
              <a:ea typeface="Inter"/>
              <a:cs typeface="Inter"/>
              <a:sym typeface="Inter"/>
            </a:endParaRPr>
          </a:p>
          <a:p>
            <a:pPr indent="0" lvl="0" marL="0" rtl="0" algn="l">
              <a:spcBef>
                <a:spcPts val="1125"/>
              </a:spcBef>
              <a:spcAft>
                <a:spcPts val="0"/>
              </a:spcAft>
              <a:buNone/>
            </a:pPr>
            <a:r>
              <a:rPr b="0" lang="en" sz="1500">
                <a:solidFill>
                  <a:srgbClr val="1F2937"/>
                </a:solidFill>
                <a:latin typeface="Inter SemiBold"/>
                <a:ea typeface="Inter SemiBold"/>
                <a:cs typeface="Inter SemiBold"/>
                <a:sym typeface="Inter SemiBold"/>
              </a:rPr>
              <a:t>Note:</a:t>
            </a:r>
            <a:r>
              <a:rPr b="0" lang="en" sz="1500">
                <a:solidFill>
                  <a:srgbClr val="374151"/>
                </a:solidFill>
                <a:latin typeface="Inter"/>
                <a:ea typeface="Inter"/>
                <a:cs typeface="Inter"/>
                <a:sym typeface="Inter"/>
              </a:rPr>
              <a:t> Parameters with default values must come </a:t>
            </a:r>
            <a:r>
              <a:rPr b="0" lang="en" sz="1500">
                <a:solidFill>
                  <a:srgbClr val="1F2937"/>
                </a:solidFill>
                <a:latin typeface="Inter SemiBold"/>
                <a:ea typeface="Inter SemiBold"/>
                <a:cs typeface="Inter SemiBold"/>
                <a:sym typeface="Inter SemiBold"/>
              </a:rPr>
              <a:t>after</a:t>
            </a:r>
            <a:r>
              <a:rPr b="0" lang="en" sz="1500">
                <a:solidFill>
                  <a:srgbClr val="374151"/>
                </a:solidFill>
                <a:latin typeface="Inter"/>
                <a:ea typeface="Inter"/>
                <a:cs typeface="Inter"/>
                <a:sym typeface="Inter"/>
              </a:rPr>
              <a:t> parameters without default values.</a:t>
            </a:r>
            <a:endParaRPr b="0" sz="1500">
              <a:solidFill>
                <a:srgbClr val="374151"/>
              </a:solidFill>
              <a:latin typeface="Inter"/>
              <a:ea typeface="Inter"/>
              <a:cs typeface="Inter"/>
              <a:sym typeface="Inter"/>
            </a:endParaRPr>
          </a:p>
        </p:txBody>
      </p:sp>
      <p:grpSp>
        <p:nvGrpSpPr>
          <p:cNvPr id="468" name="Google Shape;468;p28"/>
          <p:cNvGrpSpPr/>
          <p:nvPr/>
        </p:nvGrpSpPr>
        <p:grpSpPr>
          <a:xfrm>
            <a:off x="5905500" y="1524000"/>
            <a:ext cx="5524500" cy="3429000"/>
            <a:chOff x="0" y="0"/>
            <a:chExt cx="5524500" cy="3429000"/>
          </a:xfrm>
        </p:grpSpPr>
        <p:sp>
          <p:nvSpPr>
            <p:cNvPr id="469" name="Google Shape;469;p28"/>
            <p:cNvSpPr/>
            <p:nvPr/>
          </p:nvSpPr>
          <p:spPr>
            <a:xfrm>
              <a:off x="0" y="0"/>
              <a:ext cx="5524500" cy="3429000"/>
            </a:xfrm>
            <a:prstGeom prst="roundRect">
              <a:avLst>
                <a:gd fmla="val 2222"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0" name="Google Shape;470;p28"/>
            <p:cNvSpPr/>
            <p:nvPr/>
          </p:nvSpPr>
          <p:spPr>
            <a:xfrm>
              <a:off x="0" y="0"/>
              <a:ext cx="57300" cy="34290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28"/>
            <p:cNvSpPr txBox="1"/>
            <p:nvPr/>
          </p:nvSpPr>
          <p:spPr>
            <a:xfrm>
              <a:off x="285750" y="285750"/>
              <a:ext cx="4953000" cy="2857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300">
                  <a:solidFill>
                    <a:srgbClr val="045A36"/>
                  </a:solidFill>
                  <a:latin typeface="Inter"/>
                  <a:ea typeface="Inter"/>
                  <a:cs typeface="Inter"/>
                  <a:sym typeface="Inter"/>
                </a:rPr>
                <a:t># Function with default</a:t>
              </a:r>
              <a:endParaRPr b="1" sz="1300">
                <a:solidFill>
                  <a:srgbClr val="045A36"/>
                </a:solidFill>
                <a:latin typeface="Inter"/>
                <a:ea typeface="Inter"/>
                <a:cs typeface="Inter"/>
                <a:sym typeface="Inter"/>
              </a:endParaRPr>
            </a:p>
            <a:p>
              <a:pPr indent="0" lvl="0" marL="0" rtl="0" algn="l">
                <a:spcBef>
                  <a:spcPts val="750"/>
                </a:spcBef>
                <a:spcAft>
                  <a:spcPts val="0"/>
                </a:spcAft>
                <a:buNone/>
              </a:pPr>
              <a:r>
                <a:rPr b="0" lang="en" sz="1300">
                  <a:solidFill>
                    <a:srgbClr val="0B7A4B"/>
                  </a:solidFill>
                  <a:latin typeface="Courier New"/>
                  <a:ea typeface="Courier New"/>
                  <a:cs typeface="Courier New"/>
                  <a:sym typeface="Courier New"/>
                </a:rPr>
                <a:t>def</a:t>
              </a:r>
              <a:r>
                <a:rPr b="0" lang="en" sz="1300">
                  <a:solidFill>
                    <a:srgbClr val="1F2937"/>
                  </a:solidFill>
                  <a:latin typeface="Courier New"/>
                  <a:ea typeface="Courier New"/>
                  <a:cs typeface="Courier New"/>
                  <a:sym typeface="Courier New"/>
                </a:rPr>
                <a:t> greet(name=</a:t>
              </a:r>
              <a:r>
                <a:rPr b="0" lang="en" sz="1300">
                  <a:solidFill>
                    <a:srgbClr val="D4A017"/>
                  </a:solidFill>
                  <a:latin typeface="Courier New"/>
                  <a:ea typeface="Courier New"/>
                  <a:cs typeface="Courier New"/>
                  <a:sym typeface="Courier New"/>
                </a:rPr>
                <a:t>"Guest"</a:t>
              </a:r>
              <a:r>
                <a:rPr b="0" lang="en" sz="1300">
                  <a:solidFill>
                    <a:srgbClr val="1F2937"/>
                  </a:solidFill>
                  <a:latin typeface="Courier New"/>
                  <a:ea typeface="Courier New"/>
                  <a:cs typeface="Courier New"/>
                  <a:sym typeface="Courier New"/>
                </a:rPr>
                <a:t>):</a:t>
              </a:r>
              <a:endParaRPr b="0" sz="1300">
                <a:solidFill>
                  <a:srgbClr val="1F2937"/>
                </a:solidFill>
                <a:latin typeface="Courier New"/>
                <a:ea typeface="Courier New"/>
                <a:cs typeface="Courier New"/>
                <a:sym typeface="Courier New"/>
              </a:endParaRPr>
            </a:p>
            <a:p>
              <a:pPr indent="0" lvl="0" marL="0" rtl="0" algn="l">
                <a:spcBef>
                  <a:spcPts val="375"/>
                </a:spcBef>
                <a:spcAft>
                  <a:spcPts val="0"/>
                </a:spcAft>
                <a:buNone/>
              </a:pPr>
              <a:r>
                <a:rPr b="0" lang="en" sz="1300">
                  <a:solidFill>
                    <a:srgbClr val="1F2937"/>
                  </a:solidFill>
                  <a:latin typeface="Courier New"/>
                  <a:ea typeface="Courier New"/>
                  <a:cs typeface="Courier New"/>
                  <a:sym typeface="Courier New"/>
                </a:rPr>
                <a:t>print(f</a:t>
              </a:r>
              <a:r>
                <a:rPr b="0" lang="en" sz="1300">
                  <a:solidFill>
                    <a:srgbClr val="D4A017"/>
                  </a:solidFill>
                  <a:latin typeface="Courier New"/>
                  <a:ea typeface="Courier New"/>
                  <a:cs typeface="Courier New"/>
                  <a:sym typeface="Courier New"/>
                </a:rPr>
                <a:t>"Hello, {name}!"</a:t>
              </a:r>
              <a:r>
                <a:rPr b="0" lang="en" sz="1300">
                  <a:solidFill>
                    <a:srgbClr val="1F2937"/>
                  </a:solidFill>
                  <a:latin typeface="Courier New"/>
                  <a:ea typeface="Courier New"/>
                  <a:cs typeface="Courier New"/>
                  <a:sym typeface="Courier New"/>
                </a:rPr>
                <a:t>)</a:t>
              </a:r>
              <a:endParaRPr b="0" sz="1300">
                <a:solidFill>
                  <a:srgbClr val="1F2937"/>
                </a:solidFill>
                <a:latin typeface="Courier New"/>
                <a:ea typeface="Courier New"/>
                <a:cs typeface="Courier New"/>
                <a:sym typeface="Courier New"/>
              </a:endParaRPr>
            </a:p>
            <a:p>
              <a:pPr indent="0" lvl="0" marL="0" rtl="0" algn="l">
                <a:spcBef>
                  <a:spcPts val="1500"/>
                </a:spcBef>
                <a:spcAft>
                  <a:spcPts val="0"/>
                </a:spcAft>
                <a:buNone/>
              </a:pPr>
              <a:r>
                <a:rPr b="1" lang="en" sz="1300">
                  <a:solidFill>
                    <a:srgbClr val="045A36"/>
                  </a:solidFill>
                  <a:latin typeface="Inter"/>
                  <a:ea typeface="Inter"/>
                  <a:cs typeface="Inter"/>
                  <a:sym typeface="Inter"/>
                </a:rPr>
                <a:t># Case 1: Caller provides argument</a:t>
              </a:r>
              <a:endParaRPr b="1" sz="1300">
                <a:solidFill>
                  <a:srgbClr val="045A36"/>
                </a:solidFill>
                <a:latin typeface="Inter"/>
                <a:ea typeface="Inter"/>
                <a:cs typeface="Inter"/>
                <a:sym typeface="Inter"/>
              </a:endParaRPr>
            </a:p>
            <a:p>
              <a:pPr indent="0" lvl="0" marL="0" rtl="0" algn="l">
                <a:spcBef>
                  <a:spcPts val="750"/>
                </a:spcBef>
                <a:spcAft>
                  <a:spcPts val="0"/>
                </a:spcAft>
                <a:buNone/>
              </a:pPr>
              <a:r>
                <a:rPr b="0" lang="en" sz="1300">
                  <a:solidFill>
                    <a:srgbClr val="1F2937"/>
                  </a:solidFill>
                  <a:latin typeface="Courier New"/>
                  <a:ea typeface="Courier New"/>
                  <a:cs typeface="Courier New"/>
                  <a:sym typeface="Courier New"/>
                </a:rPr>
                <a:t>greet(</a:t>
              </a:r>
              <a:r>
                <a:rPr b="0" lang="en" sz="1300">
                  <a:solidFill>
                    <a:srgbClr val="D4A017"/>
                  </a:solidFill>
                  <a:latin typeface="Courier New"/>
                  <a:ea typeface="Courier New"/>
                  <a:cs typeface="Courier New"/>
                  <a:sym typeface="Courier New"/>
                </a:rPr>
                <a:t>"Ali"</a:t>
              </a:r>
              <a:r>
                <a:rPr b="0" lang="en" sz="1300">
                  <a:solidFill>
                    <a:srgbClr val="1F2937"/>
                  </a:solidFill>
                  <a:latin typeface="Courier New"/>
                  <a:ea typeface="Courier New"/>
                  <a:cs typeface="Courier New"/>
                  <a:sym typeface="Courier New"/>
                </a:rPr>
                <a:t>)</a:t>
              </a:r>
              <a:endParaRPr b="0" sz="1300">
                <a:solidFill>
                  <a:srgbClr val="1F2937"/>
                </a:solidFill>
                <a:latin typeface="Courier New"/>
                <a:ea typeface="Courier New"/>
                <a:cs typeface="Courier New"/>
                <a:sym typeface="Courier New"/>
              </a:endParaRPr>
            </a:p>
            <a:p>
              <a:pPr indent="0" lvl="0" marL="0" rtl="0" algn="l">
                <a:spcBef>
                  <a:spcPts val="375"/>
                </a:spcBef>
                <a:spcAft>
                  <a:spcPts val="0"/>
                </a:spcAft>
                <a:buNone/>
              </a:pPr>
              <a:r>
                <a:rPr b="0" i="1" lang="en" sz="1300">
                  <a:solidFill>
                    <a:srgbClr val="6B7280"/>
                  </a:solidFill>
                  <a:latin typeface="Courier New"/>
                  <a:ea typeface="Courier New"/>
                  <a:cs typeface="Courier New"/>
                  <a:sym typeface="Courier New"/>
                </a:rPr>
                <a:t># Output: Hello, Ali!</a:t>
              </a:r>
              <a:endParaRPr b="0" i="1" sz="1300">
                <a:solidFill>
                  <a:srgbClr val="6B7280"/>
                </a:solidFill>
                <a:latin typeface="Courier New"/>
                <a:ea typeface="Courier New"/>
                <a:cs typeface="Courier New"/>
                <a:sym typeface="Courier New"/>
              </a:endParaRPr>
            </a:p>
            <a:p>
              <a:pPr indent="0" lvl="0" marL="0" rtl="0" algn="l">
                <a:spcBef>
                  <a:spcPts val="1500"/>
                </a:spcBef>
                <a:spcAft>
                  <a:spcPts val="0"/>
                </a:spcAft>
                <a:buNone/>
              </a:pPr>
              <a:r>
                <a:rPr b="1" lang="en" sz="1300">
                  <a:solidFill>
                    <a:srgbClr val="045A36"/>
                  </a:solidFill>
                  <a:latin typeface="Inter"/>
                  <a:ea typeface="Inter"/>
                  <a:cs typeface="Inter"/>
                  <a:sym typeface="Inter"/>
                </a:rPr>
                <a:t># Case 2: Caller omits argument</a:t>
              </a:r>
              <a:endParaRPr b="1" sz="1300">
                <a:solidFill>
                  <a:srgbClr val="045A36"/>
                </a:solidFill>
                <a:latin typeface="Inter"/>
                <a:ea typeface="Inter"/>
                <a:cs typeface="Inter"/>
                <a:sym typeface="Inter"/>
              </a:endParaRPr>
            </a:p>
            <a:p>
              <a:pPr indent="0" lvl="0" marL="0" rtl="0" algn="l">
                <a:spcBef>
                  <a:spcPts val="750"/>
                </a:spcBef>
                <a:spcAft>
                  <a:spcPts val="0"/>
                </a:spcAft>
                <a:buNone/>
              </a:pPr>
              <a:r>
                <a:rPr b="0" lang="en" sz="1300">
                  <a:solidFill>
                    <a:srgbClr val="1F2937"/>
                  </a:solidFill>
                  <a:latin typeface="Courier New"/>
                  <a:ea typeface="Courier New"/>
                  <a:cs typeface="Courier New"/>
                  <a:sym typeface="Courier New"/>
                </a:rPr>
                <a:t>greet()</a:t>
              </a:r>
              <a:endParaRPr b="0" sz="1300">
                <a:solidFill>
                  <a:srgbClr val="1F2937"/>
                </a:solidFill>
                <a:latin typeface="Courier New"/>
                <a:ea typeface="Courier New"/>
                <a:cs typeface="Courier New"/>
                <a:sym typeface="Courier New"/>
              </a:endParaRPr>
            </a:p>
            <a:p>
              <a:pPr indent="0" lvl="0" marL="0" rtl="0" algn="l">
                <a:spcBef>
                  <a:spcPts val="375"/>
                </a:spcBef>
                <a:spcAft>
                  <a:spcPts val="0"/>
                </a:spcAft>
                <a:buNone/>
              </a:pPr>
              <a:r>
                <a:rPr b="0" i="1" lang="en" sz="1300">
                  <a:solidFill>
                    <a:srgbClr val="6B7280"/>
                  </a:solidFill>
                  <a:latin typeface="Courier New"/>
                  <a:ea typeface="Courier New"/>
                  <a:cs typeface="Courier New"/>
                  <a:sym typeface="Courier New"/>
                </a:rPr>
                <a:t># Output: Hello, Guest!</a:t>
              </a:r>
              <a:endParaRPr b="0" i="1" sz="1300">
                <a:solidFill>
                  <a:srgbClr val="6B7280"/>
                </a:solidFill>
                <a:latin typeface="Courier New"/>
                <a:ea typeface="Courier New"/>
                <a:cs typeface="Courier New"/>
                <a:sym typeface="Courier New"/>
              </a:endParaRPr>
            </a:p>
          </p:txBody>
        </p:sp>
      </p:grpSp>
      <p:grpSp>
        <p:nvGrpSpPr>
          <p:cNvPr id="472" name="Google Shape;472;p28"/>
          <p:cNvGrpSpPr/>
          <p:nvPr/>
        </p:nvGrpSpPr>
        <p:grpSpPr>
          <a:xfrm>
            <a:off x="762000" y="4572000"/>
            <a:ext cx="4762500" cy="1143000"/>
            <a:chOff x="0" y="0"/>
            <a:chExt cx="4762500" cy="1143000"/>
          </a:xfrm>
        </p:grpSpPr>
        <p:sp>
          <p:nvSpPr>
            <p:cNvPr id="473" name="Google Shape;473;p28"/>
            <p:cNvSpPr/>
            <p:nvPr/>
          </p:nvSpPr>
          <p:spPr>
            <a:xfrm>
              <a:off x="0" y="0"/>
              <a:ext cx="4762500" cy="1143000"/>
            </a:xfrm>
            <a:prstGeom prst="roundRect">
              <a:avLst>
                <a:gd fmla="val 10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74" name="Google Shape;474;p28"/>
            <p:cNvPicPr preferRelativeResize="0"/>
            <p:nvPr/>
          </p:nvPicPr>
          <p:blipFill rotWithShape="1">
            <a:blip r:embed="rId4">
              <a:alphaModFix/>
            </a:blip>
            <a:srcRect b="0" l="0" r="0" t="0"/>
            <a:stretch/>
          </p:blipFill>
          <p:spPr>
            <a:xfrm>
              <a:off x="95250" y="95250"/>
              <a:ext cx="1269900" cy="952500"/>
            </a:xfrm>
            <a:prstGeom prst="rect">
              <a:avLst/>
            </a:prstGeom>
            <a:noFill/>
            <a:ln>
              <a:noFill/>
            </a:ln>
          </p:spPr>
        </p:pic>
        <p:sp>
          <p:nvSpPr>
            <p:cNvPr id="475" name="Google Shape;475;p28"/>
            <p:cNvSpPr txBox="1"/>
            <p:nvPr/>
          </p:nvSpPr>
          <p:spPr>
            <a:xfrm>
              <a:off x="1524000" y="190500"/>
              <a:ext cx="3048000" cy="762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100">
                  <a:solidFill>
                    <a:srgbClr val="374151"/>
                  </a:solidFill>
                  <a:latin typeface="Inter"/>
                  <a:ea typeface="Inter"/>
                  <a:cs typeface="Inter"/>
                  <a:sym typeface="Inter"/>
                </a:rPr>
                <a:t>Think of default values as a "safety net" (like the bridge net shown) that catches the execution when specific data is missing.</a:t>
              </a:r>
              <a:endParaRPr b="0" sz="1100">
                <a:solidFill>
                  <a:srgbClr val="374151"/>
                </a:solidFill>
                <a:latin typeface="Inter"/>
                <a:ea typeface="Inter"/>
                <a:cs typeface="Inter"/>
                <a:sym typeface="Inter"/>
              </a:endParaRPr>
            </a:p>
          </p:txBody>
        </p:sp>
      </p:grpSp>
      <p:grpSp>
        <p:nvGrpSpPr>
          <p:cNvPr id="476" name="Google Shape;476;p28"/>
          <p:cNvGrpSpPr/>
          <p:nvPr/>
        </p:nvGrpSpPr>
        <p:grpSpPr>
          <a:xfrm>
            <a:off x="762000" y="5457825"/>
            <a:ext cx="11049000" cy="1019100"/>
            <a:chOff x="762000" y="5457825"/>
            <a:chExt cx="11049000" cy="1019100"/>
          </a:xfrm>
        </p:grpSpPr>
        <p:pic>
          <p:nvPicPr>
            <p:cNvPr id="477" name="Google Shape;477;p28"/>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478" name="Google Shape;478;p28"/>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2" name="Shape 482"/>
        <p:cNvGrpSpPr/>
        <p:nvPr/>
      </p:nvGrpSpPr>
      <p:grpSpPr>
        <a:xfrm>
          <a:off x="0" y="0"/>
          <a:ext cx="0" cy="0"/>
          <a:chOff x="0" y="0"/>
          <a:chExt cx="0" cy="0"/>
        </a:xfrm>
      </p:grpSpPr>
      <p:pic>
        <p:nvPicPr>
          <p:cNvPr id="483" name="Google Shape;483;p29"/>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484" name="Google Shape;484;p29"/>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Arbitrary Arguments (*args)</a:t>
            </a:r>
            <a:endParaRPr b="0" sz="2700">
              <a:solidFill>
                <a:srgbClr val="045A36"/>
              </a:solidFill>
              <a:latin typeface="Montserrat SemiBold"/>
              <a:ea typeface="Montserrat SemiBold"/>
              <a:cs typeface="Montserrat SemiBold"/>
              <a:sym typeface="Montserrat SemiBold"/>
            </a:endParaRPr>
          </a:p>
        </p:txBody>
      </p:sp>
      <p:sp>
        <p:nvSpPr>
          <p:cNvPr id="485" name="Google Shape;485;p29"/>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86" name="Google Shape;486;p29"/>
          <p:cNvGrpSpPr/>
          <p:nvPr/>
        </p:nvGrpSpPr>
        <p:grpSpPr>
          <a:xfrm>
            <a:off x="762000" y="1524000"/>
            <a:ext cx="4953150" cy="4667250"/>
            <a:chOff x="0" y="0"/>
            <a:chExt cx="4953150" cy="4667250"/>
          </a:xfrm>
        </p:grpSpPr>
        <p:sp>
          <p:nvSpPr>
            <p:cNvPr id="487" name="Google Shape;487;p29"/>
            <p:cNvSpPr txBox="1"/>
            <p:nvPr/>
          </p:nvSpPr>
          <p:spPr>
            <a:xfrm>
              <a:off x="0" y="0"/>
              <a:ext cx="4953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Handling an unknown number of positional arguments</a:t>
              </a:r>
              <a:endParaRPr b="0" sz="1500">
                <a:solidFill>
                  <a:srgbClr val="1F2937"/>
                </a:solidFill>
                <a:latin typeface="Inter SemiBold"/>
                <a:ea typeface="Inter SemiBold"/>
                <a:cs typeface="Inter SemiBold"/>
                <a:sym typeface="Inter SemiBold"/>
              </a:endParaRPr>
            </a:p>
          </p:txBody>
        </p:sp>
        <p:grpSp>
          <p:nvGrpSpPr>
            <p:cNvPr id="488" name="Google Shape;488;p29"/>
            <p:cNvGrpSpPr/>
            <p:nvPr/>
          </p:nvGrpSpPr>
          <p:grpSpPr>
            <a:xfrm>
              <a:off x="0" y="762000"/>
              <a:ext cx="4953150" cy="1143000"/>
              <a:chOff x="0" y="0"/>
              <a:chExt cx="4953150" cy="1143000"/>
            </a:xfrm>
          </p:grpSpPr>
          <p:sp>
            <p:nvSpPr>
              <p:cNvPr id="489" name="Google Shape;489;p29"/>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29"/>
              <p:cNvSpPr txBox="1"/>
              <p:nvPr/>
            </p:nvSpPr>
            <p:spPr>
              <a:xfrm>
                <a:off x="285750" y="0"/>
                <a:ext cx="46674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If you do not know how many arguments will be passed into your function, add an asterisk </a:t>
                </a:r>
                <a:r>
                  <a:rPr b="0" lang="en" sz="1500">
                    <a:solidFill>
                      <a:srgbClr val="1F2937"/>
                    </a:solidFill>
                    <a:latin typeface="Inter SemiBold"/>
                    <a:ea typeface="Inter SemiBold"/>
                    <a:cs typeface="Inter SemiBold"/>
                    <a:sym typeface="Inter SemiBold"/>
                  </a:rPr>
                  <a:t>*</a:t>
                </a:r>
                <a:r>
                  <a:rPr b="0" lang="en" sz="1500">
                    <a:solidFill>
                      <a:srgbClr val="374151"/>
                    </a:solidFill>
                    <a:latin typeface="Inter"/>
                    <a:ea typeface="Inter"/>
                    <a:cs typeface="Inter"/>
                    <a:sym typeface="Inter"/>
                  </a:rPr>
                  <a:t> before the parameter name.</a:t>
                </a:r>
                <a:endParaRPr b="0" sz="1500">
                  <a:solidFill>
                    <a:srgbClr val="374151"/>
                  </a:solidFill>
                  <a:latin typeface="Inter"/>
                  <a:ea typeface="Inter"/>
                  <a:cs typeface="Inter"/>
                  <a:sym typeface="Inter"/>
                </a:endParaRPr>
              </a:p>
            </p:txBody>
          </p:sp>
        </p:grpSp>
        <p:grpSp>
          <p:nvGrpSpPr>
            <p:cNvPr id="491" name="Google Shape;491;p29"/>
            <p:cNvGrpSpPr/>
            <p:nvPr/>
          </p:nvGrpSpPr>
          <p:grpSpPr>
            <a:xfrm>
              <a:off x="0" y="1809750"/>
              <a:ext cx="4953150" cy="571500"/>
              <a:chOff x="0" y="0"/>
              <a:chExt cx="4953150" cy="571500"/>
            </a:xfrm>
          </p:grpSpPr>
          <p:sp>
            <p:nvSpPr>
              <p:cNvPr id="492" name="Google Shape;492;p29"/>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3" name="Google Shape;493;p29"/>
              <p:cNvSpPr txBox="1"/>
              <p:nvPr/>
            </p:nvSpPr>
            <p:spPr>
              <a:xfrm>
                <a:off x="285750" y="0"/>
                <a:ext cx="4667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This gathers all positional arguments into a </a:t>
                </a:r>
                <a:r>
                  <a:rPr b="0" lang="en" sz="1500">
                    <a:solidFill>
                      <a:srgbClr val="1F2937"/>
                    </a:solidFill>
                    <a:latin typeface="Inter SemiBold"/>
                    <a:ea typeface="Inter SemiBold"/>
                    <a:cs typeface="Inter SemiBold"/>
                    <a:sym typeface="Inter SemiBold"/>
                  </a:rPr>
                  <a:t>tuple</a:t>
                </a:r>
                <a:r>
                  <a:rPr b="0" lang="en" sz="1500">
                    <a:solidFill>
                      <a:srgbClr val="374151"/>
                    </a:solidFill>
                    <a:latin typeface="Inter"/>
                    <a:ea typeface="Inter"/>
                    <a:cs typeface="Inter"/>
                    <a:sym typeface="Inter"/>
                  </a:rPr>
                  <a:t>.</a:t>
                </a:r>
                <a:endParaRPr b="0" sz="1500">
                  <a:solidFill>
                    <a:srgbClr val="374151"/>
                  </a:solidFill>
                  <a:latin typeface="Inter"/>
                  <a:ea typeface="Inter"/>
                  <a:cs typeface="Inter"/>
                  <a:sym typeface="Inter"/>
                </a:endParaRPr>
              </a:p>
            </p:txBody>
          </p:sp>
        </p:grpSp>
        <p:grpSp>
          <p:nvGrpSpPr>
            <p:cNvPr id="494" name="Google Shape;494;p29"/>
            <p:cNvGrpSpPr/>
            <p:nvPr/>
          </p:nvGrpSpPr>
          <p:grpSpPr>
            <a:xfrm>
              <a:off x="0" y="2571750"/>
              <a:ext cx="4953000" cy="2095500"/>
              <a:chOff x="0" y="0"/>
              <a:chExt cx="4953000" cy="2095500"/>
            </a:xfrm>
          </p:grpSpPr>
          <p:sp>
            <p:nvSpPr>
              <p:cNvPr id="495" name="Google Shape;495;p29"/>
              <p:cNvSpPr/>
              <p:nvPr/>
            </p:nvSpPr>
            <p:spPr>
              <a:xfrm>
                <a:off x="0" y="0"/>
                <a:ext cx="4953000" cy="2095500"/>
              </a:xfrm>
              <a:prstGeom prst="roundRect">
                <a:avLst>
                  <a:gd fmla="val 545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96" name="Google Shape;496;p29"/>
              <p:cNvPicPr preferRelativeResize="0"/>
              <p:nvPr/>
            </p:nvPicPr>
            <p:blipFill rotWithShape="1">
              <a:blip r:embed="rId5">
                <a:alphaModFix/>
              </a:blip>
              <a:srcRect b="0" l="0" r="0" t="0"/>
              <a:stretch/>
            </p:blipFill>
            <p:spPr>
              <a:xfrm>
                <a:off x="95250" y="95250"/>
                <a:ext cx="4762500" cy="1905000"/>
              </a:xfrm>
              <a:prstGeom prst="rect">
                <a:avLst/>
              </a:prstGeom>
              <a:noFill/>
              <a:ln>
                <a:noFill/>
              </a:ln>
            </p:spPr>
          </p:pic>
        </p:grpSp>
      </p:grpSp>
      <p:grpSp>
        <p:nvGrpSpPr>
          <p:cNvPr id="497" name="Google Shape;497;p29"/>
          <p:cNvGrpSpPr/>
          <p:nvPr/>
        </p:nvGrpSpPr>
        <p:grpSpPr>
          <a:xfrm>
            <a:off x="6096000" y="1524000"/>
            <a:ext cx="5524500" cy="4286250"/>
            <a:chOff x="0" y="0"/>
            <a:chExt cx="5524500" cy="4286250"/>
          </a:xfrm>
        </p:grpSpPr>
        <p:sp>
          <p:nvSpPr>
            <p:cNvPr id="498" name="Google Shape;498;p29"/>
            <p:cNvSpPr txBox="1"/>
            <p:nvPr/>
          </p:nvSpPr>
          <p:spPr>
            <a:xfrm>
              <a:off x="0" y="0"/>
              <a:ext cx="5334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CODE EXAMPLE</a:t>
              </a:r>
              <a:endParaRPr b="1" sz="1200">
                <a:solidFill>
                  <a:srgbClr val="D4A017"/>
                </a:solidFill>
                <a:latin typeface="Inter"/>
                <a:ea typeface="Inter"/>
                <a:cs typeface="Inter"/>
                <a:sym typeface="Inter"/>
              </a:endParaRPr>
            </a:p>
          </p:txBody>
        </p:sp>
        <p:grpSp>
          <p:nvGrpSpPr>
            <p:cNvPr id="499" name="Google Shape;499;p29"/>
            <p:cNvGrpSpPr/>
            <p:nvPr/>
          </p:nvGrpSpPr>
          <p:grpSpPr>
            <a:xfrm>
              <a:off x="0" y="381000"/>
              <a:ext cx="5524500" cy="2857500"/>
              <a:chOff x="0" y="0"/>
              <a:chExt cx="5524500" cy="2857500"/>
            </a:xfrm>
          </p:grpSpPr>
          <p:sp>
            <p:nvSpPr>
              <p:cNvPr id="500" name="Google Shape;500;p29"/>
              <p:cNvSpPr/>
              <p:nvPr/>
            </p:nvSpPr>
            <p:spPr>
              <a:xfrm>
                <a:off x="0" y="0"/>
                <a:ext cx="5524500" cy="2857500"/>
              </a:xfrm>
              <a:prstGeom prst="roundRect">
                <a:avLst>
                  <a:gd fmla="val 2666"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1" name="Google Shape;501;p29"/>
              <p:cNvSpPr/>
              <p:nvPr/>
            </p:nvSpPr>
            <p:spPr>
              <a:xfrm>
                <a:off x="0" y="0"/>
                <a:ext cx="57300" cy="2857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2" name="Google Shape;502;p29"/>
              <p:cNvSpPr txBox="1"/>
              <p:nvPr/>
            </p:nvSpPr>
            <p:spPr>
              <a:xfrm>
                <a:off x="238125" y="190500"/>
                <a:ext cx="5048400" cy="2476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Medium"/>
                    <a:ea typeface="Inter Medium"/>
                    <a:cs typeface="Inter Medium"/>
                    <a:sym typeface="Inter Medium"/>
                  </a:rPr>
                  <a:t>def </a:t>
                </a:r>
                <a:r>
                  <a:rPr b="0" lang="en" sz="1300">
                    <a:solidFill>
                      <a:srgbClr val="1F2937"/>
                    </a:solidFill>
                    <a:latin typeface="Inter Medium"/>
                    <a:ea typeface="Inter Medium"/>
                    <a:cs typeface="Inter Medium"/>
                    <a:sym typeface="Inter Medium"/>
                  </a:rPr>
                  <a:t>calculate_total</a:t>
                </a:r>
                <a:r>
                  <a:rPr b="0" lang="en" sz="1300">
                    <a:solidFill>
                      <a:srgbClr val="045A36"/>
                    </a:solidFill>
                    <a:latin typeface="Inter Medium"/>
                    <a:ea typeface="Inter Medium"/>
                    <a:cs typeface="Inter Medium"/>
                    <a:sym typeface="Inter Medium"/>
                  </a:rPr>
                  <a:t>(*numbers):</a:t>
                </a:r>
                <a:endParaRPr b="0" sz="1300">
                  <a:solidFill>
                    <a:srgbClr val="045A36"/>
                  </a:solidFill>
                  <a:latin typeface="Inter Medium"/>
                  <a:ea typeface="Inter Medium"/>
                  <a:cs typeface="Inter Medium"/>
                  <a:sym typeface="Inter Medium"/>
                </a:endParaRPr>
              </a:p>
              <a:p>
                <a:pPr indent="0" lvl="0" marL="0" rtl="0" algn="l">
                  <a:spcBef>
                    <a:spcPts val="300"/>
                  </a:spcBef>
                  <a:spcAft>
                    <a:spcPts val="0"/>
                  </a:spcAft>
                  <a:buNone/>
                </a:pPr>
                <a:r>
                  <a:rPr b="0" lang="en" sz="1300">
                    <a:solidFill>
                      <a:srgbClr val="1F2937"/>
                    </a:solidFill>
                    <a:latin typeface="Inter Medium"/>
                    <a:ea typeface="Inter Medium"/>
                    <a:cs typeface="Inter Medium"/>
                    <a:sym typeface="Inter Medium"/>
                  </a:rPr>
                  <a:t>total = 0</a:t>
                </a:r>
                <a:endParaRPr b="0" sz="1300">
                  <a:solidFill>
                    <a:srgbClr val="1F2937"/>
                  </a:solidFill>
                  <a:latin typeface="Inter Medium"/>
                  <a:ea typeface="Inter Medium"/>
                  <a:cs typeface="Inter Medium"/>
                  <a:sym typeface="Inter Medium"/>
                </a:endParaRPr>
              </a:p>
              <a:p>
                <a:pPr indent="0" lvl="0" marL="0" rtl="0" algn="l">
                  <a:spcBef>
                    <a:spcPts val="300"/>
                  </a:spcBef>
                  <a:spcAft>
                    <a:spcPts val="0"/>
                  </a:spcAft>
                  <a:buNone/>
                </a:pPr>
                <a:r>
                  <a:rPr b="0" lang="en" sz="1300">
                    <a:solidFill>
                      <a:srgbClr val="1F2937"/>
                    </a:solidFill>
                    <a:latin typeface="Inter Medium"/>
                    <a:ea typeface="Inter Medium"/>
                    <a:cs typeface="Inter Medium"/>
                    <a:sym typeface="Inter Medium"/>
                  </a:rPr>
                  <a:t>for num in numbers:</a:t>
                </a:r>
                <a:endParaRPr b="0" sz="1300">
                  <a:solidFill>
                    <a:srgbClr val="1F2937"/>
                  </a:solidFill>
                  <a:latin typeface="Inter Medium"/>
                  <a:ea typeface="Inter Medium"/>
                  <a:cs typeface="Inter Medium"/>
                  <a:sym typeface="Inter Medium"/>
                </a:endParaRPr>
              </a:p>
              <a:p>
                <a:pPr indent="0" lvl="0" marL="0" rtl="0" algn="l">
                  <a:spcBef>
                    <a:spcPts val="300"/>
                  </a:spcBef>
                  <a:spcAft>
                    <a:spcPts val="0"/>
                  </a:spcAft>
                  <a:buNone/>
                </a:pPr>
                <a:r>
                  <a:rPr b="0" lang="en" sz="1300">
                    <a:solidFill>
                      <a:srgbClr val="1F2937"/>
                    </a:solidFill>
                    <a:latin typeface="Inter Medium"/>
                    <a:ea typeface="Inter Medium"/>
                    <a:cs typeface="Inter Medium"/>
                    <a:sym typeface="Inter Medium"/>
                  </a:rPr>
                  <a:t>total += num</a:t>
                </a:r>
                <a:endParaRPr b="0" sz="1300">
                  <a:solidFill>
                    <a:srgbClr val="1F2937"/>
                  </a:solidFill>
                  <a:latin typeface="Inter Medium"/>
                  <a:ea typeface="Inter Medium"/>
                  <a:cs typeface="Inter Medium"/>
                  <a:sym typeface="Inter Medium"/>
                </a:endParaRPr>
              </a:p>
              <a:p>
                <a:pPr indent="0" lvl="0" marL="0" rtl="0" algn="l">
                  <a:spcBef>
                    <a:spcPts val="300"/>
                  </a:spcBef>
                  <a:spcAft>
                    <a:spcPts val="0"/>
                  </a:spcAft>
                  <a:buNone/>
                </a:pPr>
                <a:r>
                  <a:rPr b="0" lang="en" sz="1300">
                    <a:solidFill>
                      <a:srgbClr val="1F2937"/>
                    </a:solidFill>
                    <a:latin typeface="Inter Medium"/>
                    <a:ea typeface="Inter Medium"/>
                    <a:cs typeface="Inter Medium"/>
                    <a:sym typeface="Inter Medium"/>
                  </a:rPr>
                  <a:t>return total</a:t>
                </a:r>
                <a:endParaRPr b="0" sz="1300">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300">
                    <a:solidFill>
                      <a:srgbClr val="6B7280"/>
                    </a:solidFill>
                    <a:latin typeface="Inter Medium"/>
                    <a:ea typeface="Inter Medium"/>
                    <a:cs typeface="Inter Medium"/>
                    <a:sym typeface="Inter Medium"/>
                  </a:rPr>
                  <a:t># Output: 30</a:t>
                </a:r>
                <a:endParaRPr b="0" sz="1300">
                  <a:solidFill>
                    <a:srgbClr val="6B7280"/>
                  </a:solidFill>
                  <a:latin typeface="Inter Medium"/>
                  <a:ea typeface="Inter Medium"/>
                  <a:cs typeface="Inter Medium"/>
                  <a:sym typeface="Inter Medium"/>
                </a:endParaRPr>
              </a:p>
              <a:p>
                <a:pPr indent="0" lvl="0" marL="0" rtl="0" algn="l">
                  <a:spcBef>
                    <a:spcPts val="300"/>
                  </a:spcBef>
                  <a:spcAft>
                    <a:spcPts val="0"/>
                  </a:spcAft>
                  <a:buNone/>
                </a:pPr>
                <a:r>
                  <a:rPr b="0" lang="en" sz="1300">
                    <a:solidFill>
                      <a:srgbClr val="1F2937"/>
                    </a:solidFill>
                    <a:latin typeface="Inter Medium"/>
                    <a:ea typeface="Inter Medium"/>
                    <a:cs typeface="Inter Medium"/>
                    <a:sym typeface="Inter Medium"/>
                  </a:rPr>
                  <a:t>print(calculate_total(10, 20))</a:t>
                </a:r>
                <a:endParaRPr b="0" sz="1300">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300">
                    <a:solidFill>
                      <a:srgbClr val="6B7280"/>
                    </a:solidFill>
                    <a:latin typeface="Inter Medium"/>
                    <a:ea typeface="Inter Medium"/>
                    <a:cs typeface="Inter Medium"/>
                    <a:sym typeface="Inter Medium"/>
                  </a:rPr>
                  <a:t># Output: 100</a:t>
                </a:r>
                <a:endParaRPr b="0" sz="1300">
                  <a:solidFill>
                    <a:srgbClr val="6B7280"/>
                  </a:solidFill>
                  <a:latin typeface="Inter Medium"/>
                  <a:ea typeface="Inter Medium"/>
                  <a:cs typeface="Inter Medium"/>
                  <a:sym typeface="Inter Medium"/>
                </a:endParaRPr>
              </a:p>
              <a:p>
                <a:pPr indent="0" lvl="0" marL="0" rtl="0" algn="l">
                  <a:spcBef>
                    <a:spcPts val="300"/>
                  </a:spcBef>
                  <a:spcAft>
                    <a:spcPts val="0"/>
                  </a:spcAft>
                  <a:buNone/>
                </a:pPr>
                <a:r>
                  <a:rPr b="0" lang="en" sz="1300">
                    <a:solidFill>
                      <a:srgbClr val="1F2937"/>
                    </a:solidFill>
                    <a:latin typeface="Inter Medium"/>
                    <a:ea typeface="Inter Medium"/>
                    <a:cs typeface="Inter Medium"/>
                    <a:sym typeface="Inter Medium"/>
                  </a:rPr>
                  <a:t>print(calculate_total(10, 20, 30, 40))</a:t>
                </a:r>
                <a:endParaRPr b="0" sz="1300">
                  <a:solidFill>
                    <a:srgbClr val="1F2937"/>
                  </a:solidFill>
                  <a:latin typeface="Inter Medium"/>
                  <a:ea typeface="Inter Medium"/>
                  <a:cs typeface="Inter Medium"/>
                  <a:sym typeface="Inter Medium"/>
                </a:endParaRPr>
              </a:p>
            </p:txBody>
          </p:sp>
        </p:grpSp>
        <p:grpSp>
          <p:nvGrpSpPr>
            <p:cNvPr id="503" name="Google Shape;503;p29"/>
            <p:cNvGrpSpPr/>
            <p:nvPr/>
          </p:nvGrpSpPr>
          <p:grpSpPr>
            <a:xfrm>
              <a:off x="0" y="3429000"/>
              <a:ext cx="5334000" cy="857250"/>
              <a:chOff x="0" y="0"/>
              <a:chExt cx="5334000" cy="857250"/>
            </a:xfrm>
          </p:grpSpPr>
          <p:sp>
            <p:nvSpPr>
              <p:cNvPr id="504" name="Google Shape;504;p29"/>
              <p:cNvSpPr/>
              <p:nvPr/>
            </p:nvSpPr>
            <p:spPr>
              <a:xfrm>
                <a:off x="0" y="0"/>
                <a:ext cx="38100" cy="7620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5" name="Google Shape;505;p29"/>
              <p:cNvSpPr txBox="1"/>
              <p:nvPr/>
            </p:nvSpPr>
            <p:spPr>
              <a:xfrm>
                <a:off x="190500" y="0"/>
                <a:ext cx="5143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FLEXIBILITY</a:t>
                </a:r>
                <a:endParaRPr b="1" sz="1200">
                  <a:solidFill>
                    <a:srgbClr val="D4A017"/>
                  </a:solidFill>
                  <a:latin typeface="Inter"/>
                  <a:ea typeface="Inter"/>
                  <a:cs typeface="Inter"/>
                  <a:sym typeface="Inter"/>
                </a:endParaRPr>
              </a:p>
            </p:txBody>
          </p:sp>
          <p:sp>
            <p:nvSpPr>
              <p:cNvPr id="506" name="Google Shape;506;p29"/>
              <p:cNvSpPr txBox="1"/>
              <p:nvPr/>
            </p:nvSpPr>
            <p:spPr>
              <a:xfrm>
                <a:off x="190500" y="285750"/>
                <a:ext cx="5143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The function treats the arguments as a single sequence, allowing for dynamic call lengths without defining multiple parameters.</a:t>
                </a:r>
                <a:endParaRPr b="0" sz="1300">
                  <a:solidFill>
                    <a:srgbClr val="374151"/>
                  </a:solidFill>
                  <a:latin typeface="Inter"/>
                  <a:ea typeface="Inter"/>
                  <a:cs typeface="Inter"/>
                  <a:sym typeface="Inter"/>
                </a:endParaRPr>
              </a:p>
            </p:txBody>
          </p:sp>
        </p:grpSp>
      </p:grpSp>
      <p:grpSp>
        <p:nvGrpSpPr>
          <p:cNvPr id="507" name="Google Shape;507;p29"/>
          <p:cNvGrpSpPr/>
          <p:nvPr/>
        </p:nvGrpSpPr>
        <p:grpSpPr>
          <a:xfrm>
            <a:off x="762000" y="5457825"/>
            <a:ext cx="11049000" cy="1019100"/>
            <a:chOff x="762000" y="5457825"/>
            <a:chExt cx="11049000" cy="1019100"/>
          </a:xfrm>
        </p:grpSpPr>
        <p:pic>
          <p:nvPicPr>
            <p:cNvPr id="508" name="Google Shape;508;p29"/>
            <p:cNvPicPr preferRelativeResize="0"/>
            <p:nvPr/>
          </p:nvPicPr>
          <p:blipFill rotWithShape="1">
            <a:blip r:embed="rId6">
              <a:alphaModFix/>
            </a:blip>
            <a:srcRect b="0" l="0" r="0" t="0"/>
            <a:stretch/>
          </p:blipFill>
          <p:spPr>
            <a:xfrm>
              <a:off x="10287000" y="5457825"/>
              <a:ext cx="1524000" cy="1019100"/>
            </a:xfrm>
            <a:prstGeom prst="rect">
              <a:avLst/>
            </a:prstGeom>
            <a:noFill/>
            <a:ln>
              <a:noFill/>
            </a:ln>
          </p:spPr>
        </p:pic>
        <p:sp>
          <p:nvSpPr>
            <p:cNvPr id="509" name="Google Shape;509;p29"/>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30"/>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5" name="Google Shape;515;p30"/>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6" name="Google Shape;516;p30"/>
          <p:cNvSpPr txBox="1"/>
          <p:nvPr/>
        </p:nvSpPr>
        <p:spPr>
          <a:xfrm>
            <a:off x="762000" y="571500"/>
            <a:ext cx="10668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Keyword Arbitrary Arguments (**kwargs)</a:t>
            </a:r>
            <a:endParaRPr b="0" sz="2700">
              <a:solidFill>
                <a:srgbClr val="045A36"/>
              </a:solidFill>
              <a:latin typeface="Montserrat SemiBold"/>
              <a:ea typeface="Montserrat SemiBold"/>
              <a:cs typeface="Montserrat SemiBold"/>
              <a:sym typeface="Montserrat SemiBold"/>
            </a:endParaRPr>
          </a:p>
        </p:txBody>
      </p:sp>
      <p:sp>
        <p:nvSpPr>
          <p:cNvPr id="517" name="Google Shape;517;p30"/>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18" name="Google Shape;518;p30"/>
          <p:cNvGrpSpPr/>
          <p:nvPr/>
        </p:nvGrpSpPr>
        <p:grpSpPr>
          <a:xfrm>
            <a:off x="762000" y="1428750"/>
            <a:ext cx="9715500" cy="809625"/>
            <a:chOff x="0" y="0"/>
            <a:chExt cx="9715500" cy="809625"/>
          </a:xfrm>
        </p:grpSpPr>
        <p:sp>
          <p:nvSpPr>
            <p:cNvPr id="519" name="Google Shape;519;p30"/>
            <p:cNvSpPr/>
            <p:nvPr/>
          </p:nvSpPr>
          <p:spPr>
            <a:xfrm>
              <a:off x="0" y="0"/>
              <a:ext cx="38100" cy="5715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0" name="Google Shape;520;p30"/>
            <p:cNvSpPr txBox="1"/>
            <p:nvPr/>
          </p:nvSpPr>
          <p:spPr>
            <a:xfrm>
              <a:off x="190500" y="0"/>
              <a:ext cx="9525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HANDLING UNKNOWN KEYWORD ARGUMENTS</a:t>
              </a:r>
              <a:endParaRPr b="1" sz="1200">
                <a:solidFill>
                  <a:srgbClr val="D4A017"/>
                </a:solidFill>
                <a:latin typeface="Inter"/>
                <a:ea typeface="Inter"/>
                <a:cs typeface="Inter"/>
                <a:sym typeface="Inter"/>
              </a:endParaRPr>
            </a:p>
          </p:txBody>
        </p:sp>
        <p:sp>
          <p:nvSpPr>
            <p:cNvPr id="521" name="Google Shape;521;p30"/>
            <p:cNvSpPr txBox="1"/>
            <p:nvPr/>
          </p:nvSpPr>
          <p:spPr>
            <a:xfrm>
              <a:off x="190500" y="238125"/>
              <a:ext cx="9525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Add two asterisks </a:t>
              </a:r>
              <a:r>
                <a:rPr b="0" lang="en" sz="1500">
                  <a:solidFill>
                    <a:srgbClr val="1F2937"/>
                  </a:solidFill>
                  <a:latin typeface="Inter SemiBold"/>
                  <a:ea typeface="Inter SemiBold"/>
                  <a:cs typeface="Inter SemiBold"/>
                  <a:sym typeface="Inter SemiBold"/>
                </a:rPr>
                <a:t>**</a:t>
              </a:r>
              <a:r>
                <a:rPr b="0" lang="en" sz="1500">
                  <a:solidFill>
                    <a:srgbClr val="374151"/>
                  </a:solidFill>
                  <a:latin typeface="Inter"/>
                  <a:ea typeface="Inter"/>
                  <a:cs typeface="Inter"/>
                  <a:sym typeface="Inter"/>
                </a:rPr>
                <a:t> before the parameter name to gather keyword arguments into a </a:t>
              </a:r>
              <a:r>
                <a:rPr b="0" lang="en" sz="1500">
                  <a:solidFill>
                    <a:srgbClr val="1F2937"/>
                  </a:solidFill>
                  <a:latin typeface="Inter SemiBold"/>
                  <a:ea typeface="Inter SemiBold"/>
                  <a:cs typeface="Inter SemiBold"/>
                  <a:sym typeface="Inter SemiBold"/>
                </a:rPr>
                <a:t>dictionary</a:t>
              </a:r>
              <a:r>
                <a:rPr b="0" lang="en" sz="1500">
                  <a:solidFill>
                    <a:srgbClr val="374151"/>
                  </a:solidFill>
                  <a:latin typeface="Inter"/>
                  <a:ea typeface="Inter"/>
                  <a:cs typeface="Inter"/>
                  <a:sym typeface="Inter"/>
                </a:rPr>
                <a:t>.</a:t>
              </a:r>
              <a:endParaRPr b="0" sz="1500">
                <a:solidFill>
                  <a:srgbClr val="374151"/>
                </a:solidFill>
                <a:latin typeface="Inter"/>
                <a:ea typeface="Inter"/>
                <a:cs typeface="Inter"/>
                <a:sym typeface="Inter"/>
              </a:endParaRPr>
            </a:p>
          </p:txBody>
        </p:sp>
      </p:grpSp>
      <p:grpSp>
        <p:nvGrpSpPr>
          <p:cNvPr id="522" name="Google Shape;522;p30"/>
          <p:cNvGrpSpPr/>
          <p:nvPr/>
        </p:nvGrpSpPr>
        <p:grpSpPr>
          <a:xfrm>
            <a:off x="762000" y="2476500"/>
            <a:ext cx="4953000" cy="2952900"/>
            <a:chOff x="0" y="0"/>
            <a:chExt cx="4953000" cy="2952900"/>
          </a:xfrm>
        </p:grpSpPr>
        <p:sp>
          <p:nvSpPr>
            <p:cNvPr id="523" name="Google Shape;523;p30"/>
            <p:cNvSpPr/>
            <p:nvPr/>
          </p:nvSpPr>
          <p:spPr>
            <a:xfrm>
              <a:off x="0" y="0"/>
              <a:ext cx="4953000" cy="2952900"/>
            </a:xfrm>
            <a:prstGeom prst="roundRect">
              <a:avLst>
                <a:gd fmla="val 2580"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4" name="Google Shape;524;p30"/>
            <p:cNvSpPr/>
            <p:nvPr/>
          </p:nvSpPr>
          <p:spPr>
            <a:xfrm>
              <a:off x="0" y="0"/>
              <a:ext cx="57300" cy="2952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5" name="Google Shape;525;p30"/>
            <p:cNvSpPr txBox="1"/>
            <p:nvPr/>
          </p:nvSpPr>
          <p:spPr>
            <a:xfrm>
              <a:off x="285750" y="190500"/>
              <a:ext cx="4381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D4A017"/>
                  </a:solidFill>
                  <a:latin typeface="Inter"/>
                  <a:ea typeface="Inter"/>
                  <a:cs typeface="Inter"/>
                  <a:sym typeface="Inter"/>
                </a:rPr>
                <a:t>PYTHON EXAMPLE</a:t>
              </a:r>
              <a:endParaRPr b="1" sz="1000">
                <a:solidFill>
                  <a:srgbClr val="D4A017"/>
                </a:solidFill>
                <a:latin typeface="Inter"/>
                <a:ea typeface="Inter"/>
                <a:cs typeface="Inter"/>
                <a:sym typeface="Inter"/>
              </a:endParaRPr>
            </a:p>
          </p:txBody>
        </p:sp>
        <p:sp>
          <p:nvSpPr>
            <p:cNvPr id="526" name="Google Shape;526;p30"/>
            <p:cNvSpPr txBox="1"/>
            <p:nvPr/>
          </p:nvSpPr>
          <p:spPr>
            <a:xfrm>
              <a:off x="285750" y="571500"/>
              <a:ext cx="4381500" cy="2095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Courier New"/>
                  <a:ea typeface="Courier New"/>
                  <a:cs typeface="Courier New"/>
                  <a:sym typeface="Courier New"/>
                </a:rPr>
                <a:t>def </a:t>
              </a:r>
              <a:r>
                <a:rPr b="0" lang="en" sz="1300">
                  <a:solidFill>
                    <a:srgbClr val="1F2937"/>
                  </a:solidFill>
                  <a:latin typeface="Courier New"/>
                  <a:ea typeface="Courier New"/>
                  <a:cs typeface="Courier New"/>
                  <a:sym typeface="Courier New"/>
                </a:rPr>
                <a:t>student_info</a:t>
              </a:r>
              <a:r>
                <a:rPr b="0" lang="en" sz="1300">
                  <a:solidFill>
                    <a:srgbClr val="045A36"/>
                  </a:solidFill>
                  <a:latin typeface="Courier New"/>
                  <a:ea typeface="Courier New"/>
                  <a:cs typeface="Courier New"/>
                  <a:sym typeface="Courier New"/>
                </a:rPr>
                <a:t>(**info):</a:t>
              </a:r>
              <a:endParaRPr b="0" sz="1300">
                <a:solidFill>
                  <a:srgbClr val="045A36"/>
                </a:solidFill>
                <a:latin typeface="Courier New"/>
                <a:ea typeface="Courier New"/>
                <a:cs typeface="Courier New"/>
                <a:sym typeface="Courier New"/>
              </a:endParaRPr>
            </a:p>
            <a:p>
              <a:pPr indent="0" lvl="0" marL="0" rtl="0" algn="l">
                <a:spcBef>
                  <a:spcPts val="750"/>
                </a:spcBef>
                <a:spcAft>
                  <a:spcPts val="0"/>
                </a:spcAft>
                <a:buNone/>
              </a:pPr>
              <a:r>
                <a:rPr b="0" lang="en" sz="1300">
                  <a:solidFill>
                    <a:srgbClr val="1F2937"/>
                  </a:solidFill>
                  <a:latin typeface="Courier New"/>
                  <a:ea typeface="Courier New"/>
                  <a:cs typeface="Courier New"/>
                  <a:sym typeface="Courier New"/>
                </a:rPr>
                <a:t>for key, value in info.items():</a:t>
              </a:r>
              <a:endParaRPr b="0" sz="1300">
                <a:solidFill>
                  <a:srgbClr val="1F2937"/>
                </a:solidFill>
                <a:latin typeface="Courier New"/>
                <a:ea typeface="Courier New"/>
                <a:cs typeface="Courier New"/>
                <a:sym typeface="Courier New"/>
              </a:endParaRPr>
            </a:p>
            <a:p>
              <a:pPr indent="0" lvl="0" marL="0" rtl="0" algn="l">
                <a:spcBef>
                  <a:spcPts val="750"/>
                </a:spcBef>
                <a:spcAft>
                  <a:spcPts val="0"/>
                </a:spcAft>
                <a:buNone/>
              </a:pPr>
              <a:r>
                <a:rPr b="0" lang="en" sz="1300">
                  <a:solidFill>
                    <a:srgbClr val="1F2937"/>
                  </a:solidFill>
                  <a:latin typeface="Courier New"/>
                  <a:ea typeface="Courier New"/>
                  <a:cs typeface="Courier New"/>
                  <a:sym typeface="Courier New"/>
                </a:rPr>
                <a:t>print(f"{key}: {value}")</a:t>
              </a:r>
              <a:endParaRPr b="0" sz="1300">
                <a:solidFill>
                  <a:srgbClr val="1F2937"/>
                </a:solidFill>
                <a:latin typeface="Courier New"/>
                <a:ea typeface="Courier New"/>
                <a:cs typeface="Courier New"/>
                <a:sym typeface="Courier New"/>
              </a:endParaRPr>
            </a:p>
            <a:p>
              <a:pPr indent="0" lvl="0" marL="0" rtl="0" algn="l">
                <a:spcBef>
                  <a:spcPts val="1125"/>
                </a:spcBef>
                <a:spcAft>
                  <a:spcPts val="0"/>
                </a:spcAft>
                <a:buNone/>
              </a:pPr>
              <a:r>
                <a:rPr b="0" lang="en" sz="1300">
                  <a:solidFill>
                    <a:srgbClr val="6B7280"/>
                  </a:solidFill>
                  <a:latin typeface="Courier New"/>
                  <a:ea typeface="Courier New"/>
                  <a:cs typeface="Courier New"/>
                  <a:sym typeface="Courier New"/>
                </a:rPr>
                <a:t># Function Call</a:t>
              </a:r>
              <a:endParaRPr b="0" sz="1300">
                <a:solidFill>
                  <a:srgbClr val="6B7280"/>
                </a:solidFill>
                <a:latin typeface="Courier New"/>
                <a:ea typeface="Courier New"/>
                <a:cs typeface="Courier New"/>
                <a:sym typeface="Courier New"/>
              </a:endParaRPr>
            </a:p>
            <a:p>
              <a:pPr indent="0" lvl="0" marL="0" rtl="0" algn="l">
                <a:spcBef>
                  <a:spcPts val="750"/>
                </a:spcBef>
                <a:spcAft>
                  <a:spcPts val="0"/>
                </a:spcAft>
                <a:buNone/>
              </a:pPr>
              <a:r>
                <a:rPr b="0" lang="en" sz="1300">
                  <a:solidFill>
                    <a:srgbClr val="1F2937"/>
                  </a:solidFill>
                  <a:latin typeface="Courier New"/>
                  <a:ea typeface="Courier New"/>
                  <a:cs typeface="Courier New"/>
                  <a:sym typeface="Courier New"/>
                </a:rPr>
                <a:t>student_info(name="Ali", age=20, major="CS")</a:t>
              </a:r>
              <a:endParaRPr b="0" sz="1300">
                <a:solidFill>
                  <a:srgbClr val="1F2937"/>
                </a:solidFill>
                <a:latin typeface="Courier New"/>
                <a:ea typeface="Courier New"/>
                <a:cs typeface="Courier New"/>
                <a:sym typeface="Courier New"/>
              </a:endParaRPr>
            </a:p>
          </p:txBody>
        </p:sp>
      </p:grpSp>
      <p:grpSp>
        <p:nvGrpSpPr>
          <p:cNvPr id="527" name="Google Shape;527;p30"/>
          <p:cNvGrpSpPr/>
          <p:nvPr/>
        </p:nvGrpSpPr>
        <p:grpSpPr>
          <a:xfrm>
            <a:off x="6096000" y="2476500"/>
            <a:ext cx="5334000" cy="2952900"/>
            <a:chOff x="0" y="0"/>
            <a:chExt cx="5334000" cy="2952900"/>
          </a:xfrm>
        </p:grpSpPr>
        <p:sp>
          <p:nvSpPr>
            <p:cNvPr id="528" name="Google Shape;528;p30"/>
            <p:cNvSpPr/>
            <p:nvPr/>
          </p:nvSpPr>
          <p:spPr>
            <a:xfrm>
              <a:off x="0" y="0"/>
              <a:ext cx="5334000" cy="2952900"/>
            </a:xfrm>
            <a:prstGeom prst="roundRect">
              <a:avLst>
                <a:gd fmla="val 387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9" name="Google Shape;529;p30"/>
            <p:cNvSpPr/>
            <p:nvPr/>
          </p:nvSpPr>
          <p:spPr>
            <a:xfrm>
              <a:off x="0" y="0"/>
              <a:ext cx="53340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0" name="Google Shape;530;p30"/>
            <p:cNvSpPr txBox="1"/>
            <p:nvPr/>
          </p:nvSpPr>
          <p:spPr>
            <a:xfrm>
              <a:off x="285750" y="285750"/>
              <a:ext cx="4762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Inter"/>
                  <a:ea typeface="Inter"/>
                  <a:cs typeface="Inter"/>
                  <a:sym typeface="Inter"/>
                </a:rPr>
                <a:t>Dictionary Transformation</a:t>
              </a:r>
              <a:endParaRPr b="1" sz="1600">
                <a:solidFill>
                  <a:srgbClr val="045A36"/>
                </a:solidFill>
                <a:latin typeface="Inter"/>
                <a:ea typeface="Inter"/>
                <a:cs typeface="Inter"/>
                <a:sym typeface="Inter"/>
              </a:endParaRPr>
            </a:p>
          </p:txBody>
        </p:sp>
        <p:grpSp>
          <p:nvGrpSpPr>
            <p:cNvPr id="531" name="Google Shape;531;p30"/>
            <p:cNvGrpSpPr/>
            <p:nvPr/>
          </p:nvGrpSpPr>
          <p:grpSpPr>
            <a:xfrm>
              <a:off x="285750" y="809625"/>
              <a:ext cx="4810125" cy="381000"/>
              <a:chOff x="0" y="0"/>
              <a:chExt cx="4810125" cy="381000"/>
            </a:xfrm>
          </p:grpSpPr>
          <p:sp>
            <p:nvSpPr>
              <p:cNvPr id="532" name="Google Shape;532;p30"/>
              <p:cNvSpPr/>
              <p:nvPr/>
            </p:nvSpPr>
            <p:spPr>
              <a:xfrm>
                <a:off x="0" y="571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3" name="Google Shape;533;p30"/>
              <p:cNvSpPr txBox="1"/>
              <p:nvPr/>
            </p:nvSpPr>
            <p:spPr>
              <a:xfrm>
                <a:off x="238125" y="0"/>
                <a:ext cx="457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SemiBold"/>
                    <a:ea typeface="Inter SemiBold"/>
                    <a:cs typeface="Inter SemiBold"/>
                    <a:sym typeface="Inter SemiBold"/>
                  </a:rPr>
                  <a:t>'name'</a:t>
                </a:r>
                <a:r>
                  <a:rPr b="0" lang="en" sz="1300">
                    <a:solidFill>
                      <a:srgbClr val="374151"/>
                    </a:solidFill>
                    <a:latin typeface="Inter"/>
                    <a:ea typeface="Inter"/>
                    <a:cs typeface="Inter"/>
                    <a:sym typeface="Inter"/>
                  </a:rPr>
                  <a:t>: "Ali"</a:t>
                </a:r>
                <a:endParaRPr b="0" sz="1300">
                  <a:solidFill>
                    <a:srgbClr val="374151"/>
                  </a:solidFill>
                  <a:latin typeface="Inter"/>
                  <a:ea typeface="Inter"/>
                  <a:cs typeface="Inter"/>
                  <a:sym typeface="Inter"/>
                </a:endParaRPr>
              </a:p>
            </p:txBody>
          </p:sp>
        </p:grpSp>
        <p:grpSp>
          <p:nvGrpSpPr>
            <p:cNvPr id="534" name="Google Shape;534;p30"/>
            <p:cNvGrpSpPr/>
            <p:nvPr/>
          </p:nvGrpSpPr>
          <p:grpSpPr>
            <a:xfrm>
              <a:off x="285750" y="1190625"/>
              <a:ext cx="4810125" cy="381000"/>
              <a:chOff x="0" y="0"/>
              <a:chExt cx="4810125" cy="381000"/>
            </a:xfrm>
          </p:grpSpPr>
          <p:sp>
            <p:nvSpPr>
              <p:cNvPr id="535" name="Google Shape;535;p30"/>
              <p:cNvSpPr/>
              <p:nvPr/>
            </p:nvSpPr>
            <p:spPr>
              <a:xfrm>
                <a:off x="0" y="571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6" name="Google Shape;536;p30"/>
              <p:cNvSpPr txBox="1"/>
              <p:nvPr/>
            </p:nvSpPr>
            <p:spPr>
              <a:xfrm>
                <a:off x="238125" y="0"/>
                <a:ext cx="457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SemiBold"/>
                    <a:ea typeface="Inter SemiBold"/>
                    <a:cs typeface="Inter SemiBold"/>
                    <a:sym typeface="Inter SemiBold"/>
                  </a:rPr>
                  <a:t>'age'</a:t>
                </a:r>
                <a:r>
                  <a:rPr b="0" lang="en" sz="1300">
                    <a:solidFill>
                      <a:srgbClr val="374151"/>
                    </a:solidFill>
                    <a:latin typeface="Inter"/>
                    <a:ea typeface="Inter"/>
                    <a:cs typeface="Inter"/>
                    <a:sym typeface="Inter"/>
                  </a:rPr>
                  <a:t>: 20</a:t>
                </a:r>
                <a:endParaRPr b="0" sz="1300">
                  <a:solidFill>
                    <a:srgbClr val="374151"/>
                  </a:solidFill>
                  <a:latin typeface="Inter"/>
                  <a:ea typeface="Inter"/>
                  <a:cs typeface="Inter"/>
                  <a:sym typeface="Inter"/>
                </a:endParaRPr>
              </a:p>
            </p:txBody>
          </p:sp>
        </p:grpSp>
        <p:grpSp>
          <p:nvGrpSpPr>
            <p:cNvPr id="537" name="Google Shape;537;p30"/>
            <p:cNvGrpSpPr/>
            <p:nvPr/>
          </p:nvGrpSpPr>
          <p:grpSpPr>
            <a:xfrm>
              <a:off x="285750" y="1571625"/>
              <a:ext cx="4810125" cy="381000"/>
              <a:chOff x="0" y="0"/>
              <a:chExt cx="4810125" cy="381000"/>
            </a:xfrm>
          </p:grpSpPr>
          <p:sp>
            <p:nvSpPr>
              <p:cNvPr id="538" name="Google Shape;538;p30"/>
              <p:cNvSpPr/>
              <p:nvPr/>
            </p:nvSpPr>
            <p:spPr>
              <a:xfrm>
                <a:off x="0" y="571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9" name="Google Shape;539;p30"/>
              <p:cNvSpPr txBox="1"/>
              <p:nvPr/>
            </p:nvSpPr>
            <p:spPr>
              <a:xfrm>
                <a:off x="238125" y="0"/>
                <a:ext cx="4572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SemiBold"/>
                    <a:ea typeface="Inter SemiBold"/>
                    <a:cs typeface="Inter SemiBold"/>
                    <a:sym typeface="Inter SemiBold"/>
                  </a:rPr>
                  <a:t>'major'</a:t>
                </a:r>
                <a:r>
                  <a:rPr b="0" lang="en" sz="1300">
                    <a:solidFill>
                      <a:srgbClr val="374151"/>
                    </a:solidFill>
                    <a:latin typeface="Inter"/>
                    <a:ea typeface="Inter"/>
                    <a:cs typeface="Inter"/>
                    <a:sym typeface="Inter"/>
                  </a:rPr>
                  <a:t>: "CS"</a:t>
                </a:r>
                <a:endParaRPr b="0" sz="1300">
                  <a:solidFill>
                    <a:srgbClr val="374151"/>
                  </a:solidFill>
                  <a:latin typeface="Inter"/>
                  <a:ea typeface="Inter"/>
                  <a:cs typeface="Inter"/>
                  <a:sym typeface="Inter"/>
                </a:endParaRPr>
              </a:p>
            </p:txBody>
          </p:sp>
        </p:grpSp>
        <p:pic>
          <p:nvPicPr>
            <p:cNvPr id="540" name="Google Shape;540;p30"/>
            <p:cNvPicPr preferRelativeResize="0"/>
            <p:nvPr/>
          </p:nvPicPr>
          <p:blipFill rotWithShape="1">
            <a:blip r:embed="rId3">
              <a:alphaModFix/>
            </a:blip>
            <a:srcRect b="0" l="0" r="0" t="0"/>
            <a:stretch/>
          </p:blipFill>
          <p:spPr>
            <a:xfrm>
              <a:off x="3524250" y="1524000"/>
              <a:ext cx="1524000" cy="1143000"/>
            </a:xfrm>
            <a:prstGeom prst="rect">
              <a:avLst/>
            </a:prstGeom>
            <a:noFill/>
            <a:ln>
              <a:noFill/>
            </a:ln>
          </p:spPr>
        </p:pic>
        <p:sp>
          <p:nvSpPr>
            <p:cNvPr id="541" name="Google Shape;541;p30"/>
            <p:cNvSpPr/>
            <p:nvPr/>
          </p:nvSpPr>
          <p:spPr>
            <a:xfrm>
              <a:off x="3524250" y="1524000"/>
              <a:ext cx="1524000" cy="1143000"/>
            </a:xfrm>
            <a:prstGeom prst="roundRect">
              <a:avLst>
                <a:gd fmla="val 6666" name="adj"/>
              </a:avLst>
            </a:prstGeom>
            <a:solidFill>
              <a:srgbClr val="000000">
                <a:alpha val="0"/>
              </a:srgbClr>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542" name="Google Shape;542;p30"/>
          <p:cNvGrpSpPr/>
          <p:nvPr/>
        </p:nvGrpSpPr>
        <p:grpSpPr>
          <a:xfrm>
            <a:off x="762000" y="5457825"/>
            <a:ext cx="11049000" cy="1019100"/>
            <a:chOff x="762000" y="5457825"/>
            <a:chExt cx="11049000" cy="1019100"/>
          </a:xfrm>
        </p:grpSpPr>
        <p:pic>
          <p:nvPicPr>
            <p:cNvPr id="543" name="Google Shape;543;p30"/>
            <p:cNvPicPr preferRelativeResize="0"/>
            <p:nvPr/>
          </p:nvPicPr>
          <p:blipFill rotWithShape="1">
            <a:blip r:embed="rId4">
              <a:alphaModFix/>
            </a:blip>
            <a:srcRect b="0" l="0" r="0" t="0"/>
            <a:stretch/>
          </p:blipFill>
          <p:spPr>
            <a:xfrm>
              <a:off x="10287000" y="5457825"/>
              <a:ext cx="1524000" cy="1019100"/>
            </a:xfrm>
            <a:prstGeom prst="rect">
              <a:avLst/>
            </a:prstGeom>
            <a:noFill/>
            <a:ln>
              <a:noFill/>
            </a:ln>
          </p:spPr>
        </p:pic>
        <p:sp>
          <p:nvSpPr>
            <p:cNvPr id="544" name="Google Shape;544;p30"/>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48" name="Shape 548"/>
        <p:cNvGrpSpPr/>
        <p:nvPr/>
      </p:nvGrpSpPr>
      <p:grpSpPr>
        <a:xfrm>
          <a:off x="0" y="0"/>
          <a:ext cx="0" cy="0"/>
          <a:chOff x="0" y="0"/>
          <a:chExt cx="0" cy="0"/>
        </a:xfrm>
      </p:grpSpPr>
      <p:pic>
        <p:nvPicPr>
          <p:cNvPr id="549" name="Google Shape;549;p31"/>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550" name="Google Shape;550;p31"/>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Variable Scope</a:t>
            </a:r>
            <a:endParaRPr b="0" sz="2700">
              <a:solidFill>
                <a:srgbClr val="045A36"/>
              </a:solidFill>
              <a:latin typeface="Montserrat SemiBold"/>
              <a:ea typeface="Montserrat SemiBold"/>
              <a:cs typeface="Montserrat SemiBold"/>
              <a:sym typeface="Montserrat SemiBold"/>
            </a:endParaRPr>
          </a:p>
        </p:txBody>
      </p:sp>
      <p:sp>
        <p:nvSpPr>
          <p:cNvPr id="551" name="Google Shape;551;p31"/>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2" name="Google Shape;552;p31"/>
          <p:cNvSpPr txBox="1"/>
          <p:nvPr/>
        </p:nvSpPr>
        <p:spPr>
          <a:xfrm>
            <a:off x="762000" y="1333500"/>
            <a:ext cx="10668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Understanding where variables can be accessed</a:t>
            </a:r>
            <a:endParaRPr b="0" sz="1500">
              <a:solidFill>
                <a:srgbClr val="1F2937"/>
              </a:solidFill>
              <a:latin typeface="Inter SemiBold"/>
              <a:ea typeface="Inter SemiBold"/>
              <a:cs typeface="Inter SemiBold"/>
              <a:sym typeface="Inter SemiBold"/>
            </a:endParaRPr>
          </a:p>
        </p:txBody>
      </p:sp>
      <p:sp>
        <p:nvSpPr>
          <p:cNvPr id="553" name="Google Shape;553;p31"/>
          <p:cNvSpPr txBox="1"/>
          <p:nvPr/>
        </p:nvSpPr>
        <p:spPr>
          <a:xfrm>
            <a:off x="762000" y="1714500"/>
            <a:ext cx="10668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Scope refers to the region of the code where a variable is recognized and can be accessed. Python has two primary variable scopes:</a:t>
            </a:r>
            <a:endParaRPr b="0" sz="1500">
              <a:solidFill>
                <a:srgbClr val="374151"/>
              </a:solidFill>
              <a:latin typeface="Inter"/>
              <a:ea typeface="Inter"/>
              <a:cs typeface="Inter"/>
              <a:sym typeface="Inter"/>
            </a:endParaRPr>
          </a:p>
        </p:txBody>
      </p:sp>
      <p:grpSp>
        <p:nvGrpSpPr>
          <p:cNvPr id="554" name="Google Shape;554;p31"/>
          <p:cNvGrpSpPr/>
          <p:nvPr/>
        </p:nvGrpSpPr>
        <p:grpSpPr>
          <a:xfrm>
            <a:off x="762000" y="2476500"/>
            <a:ext cx="5143500" cy="2476500"/>
            <a:chOff x="0" y="0"/>
            <a:chExt cx="5143500" cy="2476500"/>
          </a:xfrm>
        </p:grpSpPr>
        <p:grpSp>
          <p:nvGrpSpPr>
            <p:cNvPr id="555" name="Google Shape;555;p31"/>
            <p:cNvGrpSpPr/>
            <p:nvPr/>
          </p:nvGrpSpPr>
          <p:grpSpPr>
            <a:xfrm>
              <a:off x="0" y="0"/>
              <a:ext cx="5143500" cy="2476500"/>
              <a:chOff x="0" y="0"/>
              <a:chExt cx="5143500" cy="2476500"/>
            </a:xfrm>
          </p:grpSpPr>
          <p:sp>
            <p:nvSpPr>
              <p:cNvPr id="556" name="Google Shape;556;p31"/>
              <p:cNvSpPr/>
              <p:nvPr/>
            </p:nvSpPr>
            <p:spPr>
              <a:xfrm>
                <a:off x="0" y="0"/>
                <a:ext cx="5143500" cy="24765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57" name="Google Shape;557;p31"/>
              <p:cNvSpPr/>
              <p:nvPr/>
            </p:nvSpPr>
            <p:spPr>
              <a:xfrm>
                <a:off x="0" y="0"/>
                <a:ext cx="51435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58" name="Google Shape;558;p31"/>
            <p:cNvSpPr txBox="1"/>
            <p:nvPr/>
          </p:nvSpPr>
          <p:spPr>
            <a:xfrm>
              <a:off x="238125" y="285750"/>
              <a:ext cx="4667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045A36"/>
                  </a:solidFill>
                  <a:latin typeface="Inter"/>
                  <a:ea typeface="Inter"/>
                  <a:cs typeface="Inter"/>
                  <a:sym typeface="Inter"/>
                </a:rPr>
                <a:t>Local Scope</a:t>
              </a:r>
              <a:endParaRPr b="1" sz="2000">
                <a:solidFill>
                  <a:srgbClr val="045A36"/>
                </a:solidFill>
                <a:latin typeface="Inter"/>
                <a:ea typeface="Inter"/>
                <a:cs typeface="Inter"/>
                <a:sym typeface="Inter"/>
              </a:endParaRPr>
            </a:p>
            <a:p>
              <a:pPr indent="0" lvl="0" marL="0" rtl="0" algn="l">
                <a:spcBef>
                  <a:spcPts val="1125"/>
                </a:spcBef>
                <a:spcAft>
                  <a:spcPts val="0"/>
                </a:spcAft>
                <a:buNone/>
              </a:pPr>
              <a:r>
                <a:rPr b="0" lang="en" sz="1200">
                  <a:solidFill>
                    <a:srgbClr val="374151"/>
                  </a:solidFill>
                  <a:latin typeface="Inter"/>
                  <a:ea typeface="Inter"/>
                  <a:cs typeface="Inter"/>
                  <a:sym typeface="Inter"/>
                </a:rPr>
                <a:t>Variables created inside a function. They can only be used within that specific function and are destroyed when the function finishes.</a:t>
              </a:r>
              <a:endParaRPr/>
            </a:p>
          </p:txBody>
        </p:sp>
      </p:grpSp>
      <p:grpSp>
        <p:nvGrpSpPr>
          <p:cNvPr id="559" name="Google Shape;559;p31"/>
          <p:cNvGrpSpPr/>
          <p:nvPr/>
        </p:nvGrpSpPr>
        <p:grpSpPr>
          <a:xfrm>
            <a:off x="6286500" y="2476500"/>
            <a:ext cx="5143500" cy="2476500"/>
            <a:chOff x="0" y="0"/>
            <a:chExt cx="5143500" cy="2476500"/>
          </a:xfrm>
        </p:grpSpPr>
        <p:grpSp>
          <p:nvGrpSpPr>
            <p:cNvPr id="560" name="Google Shape;560;p31"/>
            <p:cNvGrpSpPr/>
            <p:nvPr/>
          </p:nvGrpSpPr>
          <p:grpSpPr>
            <a:xfrm>
              <a:off x="0" y="0"/>
              <a:ext cx="5143500" cy="2476500"/>
              <a:chOff x="0" y="0"/>
              <a:chExt cx="5143500" cy="2476500"/>
            </a:xfrm>
          </p:grpSpPr>
          <p:sp>
            <p:nvSpPr>
              <p:cNvPr id="561" name="Google Shape;561;p31"/>
              <p:cNvSpPr/>
              <p:nvPr/>
            </p:nvSpPr>
            <p:spPr>
              <a:xfrm>
                <a:off x="0" y="0"/>
                <a:ext cx="5143500" cy="2476500"/>
              </a:xfrm>
              <a:prstGeom prst="roundRect">
                <a:avLst>
                  <a:gd fmla="val 461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2" name="Google Shape;562;p31"/>
              <p:cNvSpPr/>
              <p:nvPr/>
            </p:nvSpPr>
            <p:spPr>
              <a:xfrm>
                <a:off x="0" y="0"/>
                <a:ext cx="5143500" cy="76200"/>
              </a:xfrm>
              <a:prstGeom prst="roundRect">
                <a:avLst>
                  <a:gd fmla="val 50000" name="adj"/>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563" name="Google Shape;563;p31"/>
            <p:cNvSpPr txBox="1"/>
            <p:nvPr/>
          </p:nvSpPr>
          <p:spPr>
            <a:xfrm>
              <a:off x="238125" y="285750"/>
              <a:ext cx="46674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2000">
                  <a:solidFill>
                    <a:srgbClr val="045A36"/>
                  </a:solidFill>
                  <a:latin typeface="Inter"/>
                  <a:ea typeface="Inter"/>
                  <a:cs typeface="Inter"/>
                  <a:sym typeface="Inter"/>
                </a:rPr>
                <a:t>Global Scope</a:t>
              </a:r>
              <a:endParaRPr b="1" sz="2000">
                <a:solidFill>
                  <a:srgbClr val="045A36"/>
                </a:solidFill>
                <a:latin typeface="Inter"/>
                <a:ea typeface="Inter"/>
                <a:cs typeface="Inter"/>
                <a:sym typeface="Inter"/>
              </a:endParaRPr>
            </a:p>
            <a:p>
              <a:pPr indent="0" lvl="0" marL="0" rtl="0" algn="l">
                <a:spcBef>
                  <a:spcPts val="1125"/>
                </a:spcBef>
                <a:spcAft>
                  <a:spcPts val="0"/>
                </a:spcAft>
                <a:buNone/>
              </a:pPr>
              <a:r>
                <a:rPr b="0" lang="en" sz="1200">
                  <a:solidFill>
                    <a:srgbClr val="374151"/>
                  </a:solidFill>
                  <a:latin typeface="Inter"/>
                  <a:ea typeface="Inter"/>
                  <a:cs typeface="Inter"/>
                  <a:sym typeface="Inter"/>
                </a:rPr>
                <a:t>Variables created outside of any function. They can be accessed and read by any function in the entire script.</a:t>
              </a:r>
              <a:endParaRPr/>
            </a:p>
          </p:txBody>
        </p:sp>
      </p:grpSp>
      <p:pic>
        <p:nvPicPr>
          <p:cNvPr id="564" name="Google Shape;564;p31"/>
          <p:cNvPicPr preferRelativeResize="0"/>
          <p:nvPr/>
        </p:nvPicPr>
        <p:blipFill rotWithShape="1">
          <a:blip r:embed="rId5">
            <a:alphaModFix/>
          </a:blip>
          <a:srcRect b="0" l="0" r="0" t="0"/>
          <a:stretch/>
        </p:blipFill>
        <p:spPr>
          <a:xfrm>
            <a:off x="4191000" y="4953000"/>
            <a:ext cx="2286000" cy="1285920"/>
          </a:xfrm>
          <a:prstGeom prst="rect">
            <a:avLst/>
          </a:prstGeom>
          <a:noFill/>
          <a:ln>
            <a:noFill/>
          </a:ln>
        </p:spPr>
      </p:pic>
      <p:sp>
        <p:nvSpPr>
          <p:cNvPr id="565" name="Google Shape;565;p31"/>
          <p:cNvSpPr txBox="1"/>
          <p:nvPr/>
        </p:nvSpPr>
        <p:spPr>
          <a:xfrm>
            <a:off x="762000" y="5143500"/>
            <a:ext cx="381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SCOPE HIERARCHY VISUALIZATION</a:t>
            </a:r>
            <a:endParaRPr b="1" sz="1200">
              <a:solidFill>
                <a:srgbClr val="D4A017"/>
              </a:solidFill>
              <a:latin typeface="Inter"/>
              <a:ea typeface="Inter"/>
              <a:cs typeface="Inter"/>
              <a:sym typeface="Inter"/>
            </a:endParaRPr>
          </a:p>
        </p:txBody>
      </p:sp>
      <p:grpSp>
        <p:nvGrpSpPr>
          <p:cNvPr id="566" name="Google Shape;566;p31"/>
          <p:cNvGrpSpPr/>
          <p:nvPr/>
        </p:nvGrpSpPr>
        <p:grpSpPr>
          <a:xfrm>
            <a:off x="762000" y="5457825"/>
            <a:ext cx="11049000" cy="1019100"/>
            <a:chOff x="762000" y="5457825"/>
            <a:chExt cx="11049000" cy="1019100"/>
          </a:xfrm>
        </p:grpSpPr>
        <p:pic>
          <p:nvPicPr>
            <p:cNvPr id="567" name="Google Shape;567;p31"/>
            <p:cNvPicPr preferRelativeResize="0"/>
            <p:nvPr/>
          </p:nvPicPr>
          <p:blipFill rotWithShape="1">
            <a:blip r:embed="rId6">
              <a:alphaModFix/>
            </a:blip>
            <a:srcRect b="0" l="0" r="0" t="0"/>
            <a:stretch/>
          </p:blipFill>
          <p:spPr>
            <a:xfrm>
              <a:off x="10287000" y="5457825"/>
              <a:ext cx="1524000" cy="1019100"/>
            </a:xfrm>
            <a:prstGeom prst="rect">
              <a:avLst/>
            </a:prstGeom>
            <a:noFill/>
            <a:ln>
              <a:noFill/>
            </a:ln>
          </p:spPr>
        </p:pic>
        <p:sp>
          <p:nvSpPr>
            <p:cNvPr id="568" name="Google Shape;568;p31"/>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Introduction of Electronics | Robotics and Automation Systems</a:t>
              </a:r>
              <a:endParaRPr b="0" sz="1000">
                <a:solidFill>
                  <a:srgbClr val="6B7280"/>
                </a:solidFill>
                <a:latin typeface="Inter"/>
                <a:ea typeface="Inter"/>
                <a:cs typeface="Inter"/>
                <a:sym typeface="Inte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2" name="Shape 572"/>
        <p:cNvGrpSpPr/>
        <p:nvPr/>
      </p:nvGrpSpPr>
      <p:grpSpPr>
        <a:xfrm>
          <a:off x="0" y="0"/>
          <a:ext cx="0" cy="0"/>
          <a:chOff x="0" y="0"/>
          <a:chExt cx="0" cy="0"/>
        </a:xfrm>
      </p:grpSpPr>
      <p:pic>
        <p:nvPicPr>
          <p:cNvPr id="573" name="Google Shape;573;p32"/>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574" name="Google Shape;574;p32"/>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Local Variables</a:t>
            </a:r>
            <a:endParaRPr b="0" sz="2700">
              <a:solidFill>
                <a:srgbClr val="045A36"/>
              </a:solidFill>
              <a:latin typeface="Montserrat SemiBold"/>
              <a:ea typeface="Montserrat SemiBold"/>
              <a:cs typeface="Montserrat SemiBold"/>
              <a:sym typeface="Montserrat SemiBold"/>
            </a:endParaRPr>
          </a:p>
        </p:txBody>
      </p:sp>
      <p:sp>
        <p:nvSpPr>
          <p:cNvPr id="575" name="Google Shape;575;p32"/>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576" name="Google Shape;576;p32"/>
          <p:cNvGrpSpPr/>
          <p:nvPr/>
        </p:nvGrpSpPr>
        <p:grpSpPr>
          <a:xfrm>
            <a:off x="762000" y="1524000"/>
            <a:ext cx="4572150" cy="4000500"/>
            <a:chOff x="0" y="0"/>
            <a:chExt cx="4572150" cy="4000500"/>
          </a:xfrm>
        </p:grpSpPr>
        <p:grpSp>
          <p:nvGrpSpPr>
            <p:cNvPr id="577" name="Google Shape;577;p32"/>
            <p:cNvGrpSpPr/>
            <p:nvPr/>
          </p:nvGrpSpPr>
          <p:grpSpPr>
            <a:xfrm>
              <a:off x="0" y="0"/>
              <a:ext cx="4572000" cy="619125"/>
              <a:chOff x="0" y="0"/>
              <a:chExt cx="4572000" cy="619125"/>
            </a:xfrm>
          </p:grpSpPr>
          <p:sp>
            <p:nvSpPr>
              <p:cNvPr id="578" name="Google Shape;578;p32"/>
              <p:cNvSpPr/>
              <p:nvPr/>
            </p:nvSpPr>
            <p:spPr>
              <a:xfrm>
                <a:off x="0" y="0"/>
                <a:ext cx="38100" cy="5715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9" name="Google Shape;579;p32"/>
              <p:cNvSpPr txBox="1"/>
              <p:nvPr/>
            </p:nvSpPr>
            <p:spPr>
              <a:xfrm>
                <a:off x="190500" y="0"/>
                <a:ext cx="43815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DATA ISOLATION</a:t>
                </a:r>
                <a:endParaRPr b="1" sz="1200">
                  <a:solidFill>
                    <a:srgbClr val="D4A017"/>
                  </a:solidFill>
                  <a:latin typeface="Inter"/>
                  <a:ea typeface="Inter"/>
                  <a:cs typeface="Inter"/>
                  <a:sym typeface="Inter"/>
                </a:endParaRPr>
              </a:p>
            </p:txBody>
          </p:sp>
          <p:sp>
            <p:nvSpPr>
              <p:cNvPr id="580" name="Google Shape;580;p32"/>
              <p:cNvSpPr txBox="1"/>
              <p:nvPr/>
            </p:nvSpPr>
            <p:spPr>
              <a:xfrm>
                <a:off x="190500" y="238125"/>
                <a:ext cx="438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SemiBold"/>
                    <a:ea typeface="Inter SemiBold"/>
                    <a:cs typeface="Inter SemiBold"/>
                    <a:sym typeface="Inter SemiBold"/>
                  </a:rPr>
                  <a:t>Data isolated within a specific function</a:t>
                </a:r>
                <a:endParaRPr b="0" sz="1500">
                  <a:solidFill>
                    <a:srgbClr val="374151"/>
                  </a:solidFill>
                  <a:latin typeface="Inter SemiBold"/>
                  <a:ea typeface="Inter SemiBold"/>
                  <a:cs typeface="Inter SemiBold"/>
                  <a:sym typeface="Inter SemiBold"/>
                </a:endParaRPr>
              </a:p>
            </p:txBody>
          </p:sp>
        </p:grpSp>
        <p:grpSp>
          <p:nvGrpSpPr>
            <p:cNvPr id="581" name="Google Shape;581;p32"/>
            <p:cNvGrpSpPr/>
            <p:nvPr/>
          </p:nvGrpSpPr>
          <p:grpSpPr>
            <a:xfrm>
              <a:off x="0" y="952500"/>
              <a:ext cx="4572150" cy="952500"/>
              <a:chOff x="0" y="0"/>
              <a:chExt cx="4572150" cy="952500"/>
            </a:xfrm>
          </p:grpSpPr>
          <p:sp>
            <p:nvSpPr>
              <p:cNvPr id="582" name="Google Shape;582;p32"/>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83" name="Google Shape;583;p32"/>
              <p:cNvSpPr txBox="1"/>
              <p:nvPr/>
            </p:nvSpPr>
            <p:spPr>
              <a:xfrm>
                <a:off x="285750" y="0"/>
                <a:ext cx="42864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A variable declared inside a function's body is a local variable. It is completely hidden from the rest of the program.</a:t>
                </a:r>
                <a:endParaRPr b="0" sz="1500">
                  <a:solidFill>
                    <a:srgbClr val="374151"/>
                  </a:solidFill>
                  <a:latin typeface="Inter"/>
                  <a:ea typeface="Inter"/>
                  <a:cs typeface="Inter"/>
                  <a:sym typeface="Inter"/>
                </a:endParaRPr>
              </a:p>
            </p:txBody>
          </p:sp>
        </p:grpSp>
        <p:grpSp>
          <p:nvGrpSpPr>
            <p:cNvPr id="584" name="Google Shape;584;p32"/>
            <p:cNvGrpSpPr/>
            <p:nvPr/>
          </p:nvGrpSpPr>
          <p:grpSpPr>
            <a:xfrm>
              <a:off x="0" y="2095500"/>
              <a:ext cx="4572000" cy="1905000"/>
              <a:chOff x="0" y="0"/>
              <a:chExt cx="4572000" cy="1905000"/>
            </a:xfrm>
          </p:grpSpPr>
          <p:sp>
            <p:nvSpPr>
              <p:cNvPr id="585" name="Google Shape;585;p32"/>
              <p:cNvSpPr/>
              <p:nvPr/>
            </p:nvSpPr>
            <p:spPr>
              <a:xfrm>
                <a:off x="0" y="0"/>
                <a:ext cx="4572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86" name="Google Shape;586;p32"/>
              <p:cNvPicPr preferRelativeResize="0"/>
              <p:nvPr/>
            </p:nvPicPr>
            <p:blipFill rotWithShape="1">
              <a:blip r:embed="rId5">
                <a:alphaModFix/>
              </a:blip>
              <a:srcRect b="37500" l="0" r="0" t="20833"/>
              <a:stretch/>
            </p:blipFill>
            <p:spPr>
              <a:xfrm>
                <a:off x="0" y="0"/>
                <a:ext cx="4572000" cy="1905000"/>
              </a:xfrm>
              <a:prstGeom prst="roundRect">
                <a:avLst>
                  <a:gd fmla="val 6000" name="adj"/>
                </a:avLst>
              </a:prstGeom>
              <a:noFill/>
              <a:ln>
                <a:noFill/>
              </a:ln>
            </p:spPr>
          </p:pic>
          <p:pic>
            <p:nvPicPr>
              <p:cNvPr id="587" name="Google Shape;587;p32"/>
              <p:cNvPicPr preferRelativeResize="0"/>
              <p:nvPr/>
            </p:nvPicPr>
            <p:blipFill rotWithShape="1">
              <a:blip r:embed="rId6">
                <a:alphaModFix/>
              </a:blip>
              <a:srcRect b="0" l="0" r="0" t="0"/>
              <a:stretch/>
            </p:blipFill>
            <p:spPr>
              <a:xfrm>
                <a:off x="0" y="1524000"/>
                <a:ext cx="4572000" cy="381000"/>
              </a:xfrm>
              <a:prstGeom prst="rect">
                <a:avLst/>
              </a:prstGeom>
              <a:noFill/>
              <a:ln>
                <a:noFill/>
              </a:ln>
            </p:spPr>
          </p:pic>
          <p:sp>
            <p:nvSpPr>
              <p:cNvPr id="588" name="Google Shape;588;p32"/>
              <p:cNvSpPr txBox="1"/>
              <p:nvPr/>
            </p:nvSpPr>
            <p:spPr>
              <a:xfrm>
                <a:off x="0" y="1524000"/>
                <a:ext cx="4572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n" sz="1000">
                    <a:solidFill>
                      <a:srgbClr val="FFFFFF"/>
                    </a:solidFill>
                    <a:latin typeface="Inter SemiBold"/>
                    <a:ea typeface="Inter SemiBold"/>
                    <a:cs typeface="Inter SemiBold"/>
                    <a:sym typeface="Inter SemiBold"/>
                  </a:rPr>
                  <a:t>Scope Isolation: The "Locked Box" Principle</a:t>
                </a:r>
                <a:endParaRPr b="0" sz="1000">
                  <a:solidFill>
                    <a:srgbClr val="FFFFFF"/>
                  </a:solidFill>
                  <a:latin typeface="Inter SemiBold"/>
                  <a:ea typeface="Inter SemiBold"/>
                  <a:cs typeface="Inter SemiBold"/>
                  <a:sym typeface="Inter SemiBold"/>
                </a:endParaRPr>
              </a:p>
            </p:txBody>
          </p:sp>
        </p:grpSp>
      </p:grpSp>
      <p:grpSp>
        <p:nvGrpSpPr>
          <p:cNvPr id="589" name="Google Shape;589;p32"/>
          <p:cNvGrpSpPr/>
          <p:nvPr/>
        </p:nvGrpSpPr>
        <p:grpSpPr>
          <a:xfrm>
            <a:off x="6096000" y="1524000"/>
            <a:ext cx="5334000" cy="3905250"/>
            <a:chOff x="0" y="0"/>
            <a:chExt cx="5334000" cy="3905250"/>
          </a:xfrm>
        </p:grpSpPr>
        <p:sp>
          <p:nvSpPr>
            <p:cNvPr id="590" name="Google Shape;590;p32"/>
            <p:cNvSpPr txBox="1"/>
            <p:nvPr/>
          </p:nvSpPr>
          <p:spPr>
            <a:xfrm>
              <a:off x="0" y="0"/>
              <a:ext cx="5334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EXAMPLE</a:t>
              </a:r>
              <a:endParaRPr b="1" sz="1200">
                <a:solidFill>
                  <a:srgbClr val="D4A017"/>
                </a:solidFill>
                <a:latin typeface="Inter"/>
                <a:ea typeface="Inter"/>
                <a:cs typeface="Inter"/>
                <a:sym typeface="Inter"/>
              </a:endParaRPr>
            </a:p>
          </p:txBody>
        </p:sp>
        <p:grpSp>
          <p:nvGrpSpPr>
            <p:cNvPr id="591" name="Google Shape;591;p32"/>
            <p:cNvGrpSpPr/>
            <p:nvPr/>
          </p:nvGrpSpPr>
          <p:grpSpPr>
            <a:xfrm>
              <a:off x="0" y="285750"/>
              <a:ext cx="5334000" cy="3619500"/>
              <a:chOff x="0" y="0"/>
              <a:chExt cx="5334000" cy="3619500"/>
            </a:xfrm>
          </p:grpSpPr>
          <p:sp>
            <p:nvSpPr>
              <p:cNvPr id="592" name="Google Shape;592;p32"/>
              <p:cNvSpPr/>
              <p:nvPr/>
            </p:nvSpPr>
            <p:spPr>
              <a:xfrm>
                <a:off x="0" y="0"/>
                <a:ext cx="5334000" cy="3619500"/>
              </a:xfrm>
              <a:prstGeom prst="roundRect">
                <a:avLst>
                  <a:gd fmla="val 2105"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3" name="Google Shape;593;p32"/>
              <p:cNvSpPr/>
              <p:nvPr/>
            </p:nvSpPr>
            <p:spPr>
              <a:xfrm>
                <a:off x="0" y="0"/>
                <a:ext cx="57300" cy="3619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4" name="Google Shape;594;p32"/>
              <p:cNvSpPr txBox="1"/>
              <p:nvPr/>
            </p:nvSpPr>
            <p:spPr>
              <a:xfrm>
                <a:off x="238125" y="238125"/>
                <a:ext cx="4857900" cy="3143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B7A4B"/>
                    </a:solidFill>
                    <a:latin typeface="Inter Medium"/>
                    <a:ea typeface="Inter Medium"/>
                    <a:cs typeface="Inter Medium"/>
                    <a:sym typeface="Inter Medium"/>
                  </a:rPr>
                  <a:t>def </a:t>
                </a:r>
                <a:r>
                  <a:rPr b="0" lang="en" sz="1300">
                    <a:solidFill>
                      <a:srgbClr val="045A36"/>
                    </a:solidFill>
                    <a:latin typeface="Inter Medium"/>
                    <a:ea typeface="Inter Medium"/>
                    <a:cs typeface="Inter Medium"/>
                    <a:sym typeface="Inter Medium"/>
                  </a:rPr>
                  <a:t>my_function</a:t>
                </a:r>
                <a:r>
                  <a:rPr b="0" lang="en" sz="1300">
                    <a:solidFill>
                      <a:srgbClr val="0B7A4B"/>
                    </a:solidFill>
                    <a:latin typeface="Inter Medium"/>
                    <a:ea typeface="Inter Medium"/>
                    <a:cs typeface="Inter Medium"/>
                    <a:sym typeface="Inter Medium"/>
                  </a:rPr>
                  <a:t>():</a:t>
                </a:r>
                <a:endParaRPr b="0" sz="1300">
                  <a:solidFill>
                    <a:srgbClr val="0B7A4B"/>
                  </a:solidFill>
                  <a:latin typeface="Inter Medium"/>
                  <a:ea typeface="Inter Medium"/>
                  <a:cs typeface="Inter Medium"/>
                  <a:sym typeface="Inter Medium"/>
                </a:endParaRPr>
              </a:p>
              <a:p>
                <a:pPr indent="0" lvl="0" marL="0" rtl="0" algn="l">
                  <a:spcBef>
                    <a:spcPts val="750"/>
                  </a:spcBef>
                  <a:spcAft>
                    <a:spcPts val="0"/>
                  </a:spcAft>
                  <a:buNone/>
                </a:pPr>
                <a:r>
                  <a:rPr b="0" lang="en" sz="1300">
                    <a:solidFill>
                      <a:srgbClr val="1F2937"/>
                    </a:solidFill>
                    <a:latin typeface="Inter Medium"/>
                    <a:ea typeface="Inter Medium"/>
                    <a:cs typeface="Inter Medium"/>
                    <a:sym typeface="Inter Medium"/>
                  </a:rPr>
                  <a:t>message = </a:t>
                </a:r>
                <a:r>
                  <a:rPr b="0" lang="en" sz="1300">
                    <a:solidFill>
                      <a:srgbClr val="D4A017"/>
                    </a:solidFill>
                    <a:latin typeface="Inter Medium"/>
                    <a:ea typeface="Inter Medium"/>
                    <a:cs typeface="Inter Medium"/>
                    <a:sym typeface="Inter Medium"/>
                  </a:rPr>
                  <a:t>"I am local!"</a:t>
                </a:r>
                <a:r>
                  <a:rPr b="0" lang="en" sz="1300">
                    <a:solidFill>
                      <a:srgbClr val="1F2937"/>
                    </a:solidFill>
                    <a:latin typeface="Inter Medium"/>
                    <a:ea typeface="Inter Medium"/>
                    <a:cs typeface="Inter Medium"/>
                    <a:sym typeface="Inter Medium"/>
                  </a:rPr>
                  <a:t> </a:t>
                </a:r>
                <a:r>
                  <a:rPr b="0" lang="en" sz="1300">
                    <a:solidFill>
                      <a:srgbClr val="6B7280"/>
                    </a:solidFill>
                    <a:latin typeface="Inter Medium"/>
                    <a:ea typeface="Inter Medium"/>
                    <a:cs typeface="Inter Medium"/>
                    <a:sym typeface="Inter Medium"/>
                  </a:rPr>
                  <a:t># Local variable</a:t>
                </a:r>
                <a:endParaRPr b="0" sz="1300">
                  <a:solidFill>
                    <a:srgbClr val="1F2937"/>
                  </a:solidFill>
                  <a:latin typeface="Inter Medium"/>
                  <a:ea typeface="Inter Medium"/>
                  <a:cs typeface="Inter Medium"/>
                  <a:sym typeface="Inter Medium"/>
                </a:endParaRPr>
              </a:p>
              <a:p>
                <a:pPr indent="0" lvl="0" marL="0" rtl="0" algn="l">
                  <a:spcBef>
                    <a:spcPts val="375"/>
                  </a:spcBef>
                  <a:spcAft>
                    <a:spcPts val="0"/>
                  </a:spcAft>
                  <a:buNone/>
                </a:pPr>
                <a:r>
                  <a:rPr b="0" lang="en" sz="1300">
                    <a:solidFill>
                      <a:srgbClr val="1F2937"/>
                    </a:solidFill>
                    <a:latin typeface="Inter Medium"/>
                    <a:ea typeface="Inter Medium"/>
                    <a:cs typeface="Inter Medium"/>
                    <a:sym typeface="Inter Medium"/>
                  </a:rPr>
                  <a:t>print(message)</a:t>
                </a:r>
                <a:endParaRPr b="0" sz="1300">
                  <a:solidFill>
                    <a:srgbClr val="1F2937"/>
                  </a:solidFill>
                  <a:latin typeface="Inter Medium"/>
                  <a:ea typeface="Inter Medium"/>
                  <a:cs typeface="Inter Medium"/>
                  <a:sym typeface="Inter Medium"/>
                </a:endParaRPr>
              </a:p>
              <a:p>
                <a:pPr indent="0" lvl="0" marL="0" rtl="0" algn="l">
                  <a:spcBef>
                    <a:spcPts val="1500"/>
                  </a:spcBef>
                  <a:spcAft>
                    <a:spcPts val="0"/>
                  </a:spcAft>
                  <a:buNone/>
                </a:pPr>
                <a:r>
                  <a:rPr b="0" lang="en" sz="1300">
                    <a:solidFill>
                      <a:srgbClr val="1F2937"/>
                    </a:solidFill>
                    <a:latin typeface="Inter Medium"/>
                    <a:ea typeface="Inter Medium"/>
                    <a:cs typeface="Inter Medium"/>
                    <a:sym typeface="Inter Medium"/>
                  </a:rPr>
                  <a:t>my_function() </a:t>
                </a:r>
                <a:r>
                  <a:rPr b="0" lang="en" sz="1300">
                    <a:solidFill>
                      <a:srgbClr val="6B7280"/>
                    </a:solidFill>
                    <a:latin typeface="Inter Medium"/>
                    <a:ea typeface="Inter Medium"/>
                    <a:cs typeface="Inter Medium"/>
                    <a:sym typeface="Inter Medium"/>
                  </a:rPr>
                  <a:t># Prints: I am local!</a:t>
                </a:r>
                <a:endParaRPr b="0" sz="1300">
                  <a:solidFill>
                    <a:srgbClr val="1F2937"/>
                  </a:solidFill>
                  <a:latin typeface="Inter Medium"/>
                  <a:ea typeface="Inter Medium"/>
                  <a:cs typeface="Inter Medium"/>
                  <a:sym typeface="Inter Medium"/>
                </a:endParaRPr>
              </a:p>
              <a:p>
                <a:pPr indent="0" lvl="0" marL="0" rtl="0" algn="l">
                  <a:spcBef>
                    <a:spcPts val="1500"/>
                  </a:spcBef>
                  <a:spcAft>
                    <a:spcPts val="0"/>
                  </a:spcAft>
                  <a:buNone/>
                </a:pPr>
                <a:r>
                  <a:rPr b="0" lang="en" sz="1300">
                    <a:solidFill>
                      <a:srgbClr val="6B7280"/>
                    </a:solidFill>
                    <a:latin typeface="Inter Medium"/>
                    <a:ea typeface="Inter Medium"/>
                    <a:cs typeface="Inter Medium"/>
                    <a:sym typeface="Inter Medium"/>
                  </a:rPr>
                  <a:t># print(message)</a:t>
                </a:r>
                <a:endParaRPr b="0" sz="1300">
                  <a:solidFill>
                    <a:srgbClr val="6B7280"/>
                  </a:solidFill>
                  <a:latin typeface="Inter Medium"/>
                  <a:ea typeface="Inter Medium"/>
                  <a:cs typeface="Inter Medium"/>
                  <a:sym typeface="Inter Medium"/>
                </a:endParaRPr>
              </a:p>
              <a:p>
                <a:pPr indent="0" lvl="0" marL="0" rtl="0" algn="l">
                  <a:spcBef>
                    <a:spcPts val="0"/>
                  </a:spcBef>
                  <a:spcAft>
                    <a:spcPts val="0"/>
                  </a:spcAft>
                  <a:buNone/>
                </a:pPr>
                <a:r>
                  <a:rPr b="0" lang="en" sz="1300">
                    <a:solidFill>
                      <a:srgbClr val="6B7280"/>
                    </a:solidFill>
                    <a:latin typeface="Inter Medium"/>
                    <a:ea typeface="Inter Medium"/>
                    <a:cs typeface="Inter Medium"/>
                    <a:sym typeface="Inter Medium"/>
                  </a:rPr>
                  <a:t># This would cause an error because 'message'</a:t>
                </a:r>
                <a:endParaRPr b="0" sz="1300">
                  <a:solidFill>
                    <a:srgbClr val="6B7280"/>
                  </a:solidFill>
                  <a:latin typeface="Inter Medium"/>
                  <a:ea typeface="Inter Medium"/>
                  <a:cs typeface="Inter Medium"/>
                  <a:sym typeface="Inter Medium"/>
                </a:endParaRPr>
              </a:p>
              <a:p>
                <a:pPr indent="0" lvl="0" marL="0" rtl="0" algn="l">
                  <a:spcBef>
                    <a:spcPts val="0"/>
                  </a:spcBef>
                  <a:spcAft>
                    <a:spcPts val="0"/>
                  </a:spcAft>
                  <a:buNone/>
                </a:pPr>
                <a:r>
                  <a:rPr b="0" lang="en" sz="1300">
                    <a:solidFill>
                      <a:srgbClr val="6B7280"/>
                    </a:solidFill>
                    <a:latin typeface="Inter Medium"/>
                    <a:ea typeface="Inter Medium"/>
                    <a:cs typeface="Inter Medium"/>
                    <a:sym typeface="Inter Medium"/>
                  </a:rPr>
                  <a:t># does not exist outside the function.</a:t>
                </a:r>
                <a:endParaRPr b="0" sz="1300">
                  <a:solidFill>
                    <a:srgbClr val="6B7280"/>
                  </a:solidFill>
                  <a:latin typeface="Inter Medium"/>
                  <a:ea typeface="Inter Medium"/>
                  <a:cs typeface="Inter Medium"/>
                  <a:sym typeface="Inter Medium"/>
                </a:endParaRPr>
              </a:p>
            </p:txBody>
          </p:sp>
        </p:grpSp>
        <p:grpSp>
          <p:nvGrpSpPr>
            <p:cNvPr id="595" name="Google Shape;595;p32"/>
            <p:cNvGrpSpPr/>
            <p:nvPr/>
          </p:nvGrpSpPr>
          <p:grpSpPr>
            <a:xfrm>
              <a:off x="4572000" y="190500"/>
              <a:ext cx="571500" cy="571500"/>
              <a:chOff x="0" y="0"/>
              <a:chExt cx="571500" cy="571500"/>
            </a:xfrm>
          </p:grpSpPr>
          <p:sp>
            <p:nvSpPr>
              <p:cNvPr id="596" name="Google Shape;596;p32"/>
              <p:cNvSpPr/>
              <p:nvPr/>
            </p:nvSpPr>
            <p:spPr>
              <a:xfrm>
                <a:off x="0" y="0"/>
                <a:ext cx="571500" cy="571500"/>
              </a:xfrm>
              <a:prstGeom prst="ellipse">
                <a:avLst/>
              </a:prstGeom>
              <a:solidFill>
                <a:srgbClr val="D4A017">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97" name="Google Shape;597;p32"/>
              <p:cNvSpPr txBox="1"/>
              <p:nvPr/>
            </p:nvSpPr>
            <p:spPr>
              <a:xfrm>
                <a:off x="95250" y="13030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2400">
                    <a:solidFill>
                      <a:srgbClr val="D4A017"/>
                    </a:solidFill>
                    <a:latin typeface="Material Icons"/>
                    <a:ea typeface="Material Icons"/>
                    <a:cs typeface="Material Icons"/>
                    <a:sym typeface="Material Icons"/>
                  </a:rPr>
                  <a:t>visibility_off</a:t>
                </a:r>
                <a:endParaRPr sz="2400">
                  <a:solidFill>
                    <a:srgbClr val="D4A017"/>
                  </a:solidFill>
                  <a:latin typeface="Material Icons"/>
                  <a:ea typeface="Material Icons"/>
                  <a:cs typeface="Material Icons"/>
                  <a:sym typeface="Material Icons"/>
                </a:endParaRPr>
              </a:p>
            </p:txBody>
          </p:sp>
        </p:grpSp>
      </p:grpSp>
      <p:grpSp>
        <p:nvGrpSpPr>
          <p:cNvPr id="598" name="Google Shape;598;p32"/>
          <p:cNvGrpSpPr/>
          <p:nvPr/>
        </p:nvGrpSpPr>
        <p:grpSpPr>
          <a:xfrm>
            <a:off x="762000" y="5457825"/>
            <a:ext cx="11049000" cy="1019100"/>
            <a:chOff x="762000" y="5457825"/>
            <a:chExt cx="11049000" cy="1019100"/>
          </a:xfrm>
        </p:grpSpPr>
        <p:pic>
          <p:nvPicPr>
            <p:cNvPr id="599" name="Google Shape;599;p32"/>
            <p:cNvPicPr preferRelativeResize="0"/>
            <p:nvPr/>
          </p:nvPicPr>
          <p:blipFill rotWithShape="1">
            <a:blip r:embed="rId7">
              <a:alphaModFix/>
            </a:blip>
            <a:srcRect b="0" l="0" r="0" t="0"/>
            <a:stretch/>
          </p:blipFill>
          <p:spPr>
            <a:xfrm>
              <a:off x="10287000" y="5457825"/>
              <a:ext cx="1524000" cy="1019100"/>
            </a:xfrm>
            <a:prstGeom prst="rect">
              <a:avLst/>
            </a:prstGeom>
            <a:noFill/>
            <a:ln>
              <a:noFill/>
            </a:ln>
          </p:spPr>
        </p:pic>
        <p:sp>
          <p:nvSpPr>
            <p:cNvPr id="600" name="Google Shape;600;p32"/>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04" name="Shape 604"/>
        <p:cNvGrpSpPr/>
        <p:nvPr/>
      </p:nvGrpSpPr>
      <p:grpSpPr>
        <a:xfrm>
          <a:off x="0" y="0"/>
          <a:ext cx="0" cy="0"/>
          <a:chOff x="0" y="0"/>
          <a:chExt cx="0" cy="0"/>
        </a:xfrm>
      </p:grpSpPr>
      <p:pic>
        <p:nvPicPr>
          <p:cNvPr id="605" name="Google Shape;605;p33"/>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606" name="Google Shape;606;p33"/>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Global Variables</a:t>
            </a:r>
            <a:endParaRPr b="0" sz="2700">
              <a:solidFill>
                <a:srgbClr val="045A36"/>
              </a:solidFill>
              <a:latin typeface="Montserrat SemiBold"/>
              <a:ea typeface="Montserrat SemiBold"/>
              <a:cs typeface="Montserrat SemiBold"/>
              <a:sym typeface="Montserrat SemiBold"/>
            </a:endParaRPr>
          </a:p>
        </p:txBody>
      </p:sp>
      <p:sp>
        <p:nvSpPr>
          <p:cNvPr id="607" name="Google Shape;607;p33"/>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08" name="Google Shape;608;p33"/>
          <p:cNvGrpSpPr/>
          <p:nvPr/>
        </p:nvGrpSpPr>
        <p:grpSpPr>
          <a:xfrm>
            <a:off x="762000" y="1524000"/>
            <a:ext cx="5143650" cy="4572000"/>
            <a:chOff x="0" y="0"/>
            <a:chExt cx="5143650" cy="4572000"/>
          </a:xfrm>
        </p:grpSpPr>
        <p:sp>
          <p:nvSpPr>
            <p:cNvPr id="609" name="Google Shape;609;p33"/>
            <p:cNvSpPr txBox="1"/>
            <p:nvPr/>
          </p:nvSpPr>
          <p:spPr>
            <a:xfrm>
              <a:off x="0" y="0"/>
              <a:ext cx="5143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1F2937"/>
                  </a:solidFill>
                  <a:latin typeface="Inter SemiBold"/>
                  <a:ea typeface="Inter SemiBold"/>
                  <a:cs typeface="Inter SemiBold"/>
                  <a:sym typeface="Inter SemiBold"/>
                </a:rPr>
                <a:t>Data accessible throughout the entire script</a:t>
              </a:r>
              <a:endParaRPr b="0" sz="1500">
                <a:solidFill>
                  <a:srgbClr val="1F2937"/>
                </a:solidFill>
                <a:latin typeface="Inter SemiBold"/>
                <a:ea typeface="Inter SemiBold"/>
                <a:cs typeface="Inter SemiBold"/>
                <a:sym typeface="Inter SemiBold"/>
              </a:endParaRPr>
            </a:p>
          </p:txBody>
        </p:sp>
        <p:grpSp>
          <p:nvGrpSpPr>
            <p:cNvPr id="610" name="Google Shape;610;p33"/>
            <p:cNvGrpSpPr/>
            <p:nvPr/>
          </p:nvGrpSpPr>
          <p:grpSpPr>
            <a:xfrm>
              <a:off x="0" y="571500"/>
              <a:ext cx="5143650" cy="762000"/>
              <a:chOff x="0" y="0"/>
              <a:chExt cx="5143650" cy="762000"/>
            </a:xfrm>
          </p:grpSpPr>
          <p:sp>
            <p:nvSpPr>
              <p:cNvPr id="611" name="Google Shape;611;p33"/>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2" name="Google Shape;612;p33"/>
              <p:cNvSpPr txBox="1"/>
              <p:nvPr/>
            </p:nvSpPr>
            <p:spPr>
              <a:xfrm>
                <a:off x="285750" y="0"/>
                <a:ext cx="48579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A variable declared outside of any function is considered global.</a:t>
                </a:r>
                <a:endParaRPr b="0" sz="1500">
                  <a:solidFill>
                    <a:srgbClr val="374151"/>
                  </a:solidFill>
                  <a:latin typeface="Inter"/>
                  <a:ea typeface="Inter"/>
                  <a:cs typeface="Inter"/>
                  <a:sym typeface="Inter"/>
                </a:endParaRPr>
              </a:p>
            </p:txBody>
          </p:sp>
        </p:grpSp>
        <p:grpSp>
          <p:nvGrpSpPr>
            <p:cNvPr id="613" name="Google Shape;613;p33"/>
            <p:cNvGrpSpPr/>
            <p:nvPr/>
          </p:nvGrpSpPr>
          <p:grpSpPr>
            <a:xfrm>
              <a:off x="0" y="1428750"/>
              <a:ext cx="5143650" cy="1143000"/>
              <a:chOff x="0" y="0"/>
              <a:chExt cx="5143650" cy="1143000"/>
            </a:xfrm>
          </p:grpSpPr>
          <p:sp>
            <p:nvSpPr>
              <p:cNvPr id="614" name="Google Shape;614;p33"/>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5" name="Google Shape;615;p33"/>
              <p:cNvSpPr txBox="1"/>
              <p:nvPr/>
            </p:nvSpPr>
            <p:spPr>
              <a:xfrm>
                <a:off x="285750" y="0"/>
                <a:ext cx="48579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Any function can read a global variable, but modifying it requires the </a:t>
                </a:r>
                <a:r>
                  <a:rPr b="1" lang="en" sz="1500">
                    <a:solidFill>
                      <a:srgbClr val="045A36"/>
                    </a:solidFill>
                    <a:latin typeface="Inter"/>
                    <a:ea typeface="Inter"/>
                    <a:cs typeface="Inter"/>
                    <a:sym typeface="Inter"/>
                  </a:rPr>
                  <a:t>global</a:t>
                </a:r>
                <a:r>
                  <a:rPr b="0" lang="en" sz="1500">
                    <a:solidFill>
                      <a:srgbClr val="374151"/>
                    </a:solidFill>
                    <a:latin typeface="Inter"/>
                    <a:ea typeface="Inter"/>
                    <a:cs typeface="Inter"/>
                    <a:sym typeface="Inter"/>
                  </a:rPr>
                  <a:t> keyword.</a:t>
                </a:r>
                <a:endParaRPr b="0" sz="1500">
                  <a:solidFill>
                    <a:srgbClr val="374151"/>
                  </a:solidFill>
                  <a:latin typeface="Inter"/>
                  <a:ea typeface="Inter"/>
                  <a:cs typeface="Inter"/>
                  <a:sym typeface="Inter"/>
                </a:endParaRPr>
              </a:p>
            </p:txBody>
          </p:sp>
        </p:grpSp>
        <p:sp>
          <p:nvSpPr>
            <p:cNvPr id="616" name="Google Shape;616;p33"/>
            <p:cNvSpPr/>
            <p:nvPr/>
          </p:nvSpPr>
          <p:spPr>
            <a:xfrm>
              <a:off x="0" y="2667000"/>
              <a:ext cx="51435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17" name="Google Shape;617;p33"/>
            <p:cNvPicPr preferRelativeResize="0"/>
            <p:nvPr/>
          </p:nvPicPr>
          <p:blipFill rotWithShape="1">
            <a:blip r:embed="rId5">
              <a:alphaModFix/>
            </a:blip>
            <a:srcRect b="38272" l="0" r="0" t="12346"/>
            <a:stretch/>
          </p:blipFill>
          <p:spPr>
            <a:xfrm>
              <a:off x="0" y="2667000"/>
              <a:ext cx="5143500" cy="1905000"/>
            </a:xfrm>
            <a:prstGeom prst="roundRect">
              <a:avLst>
                <a:gd fmla="val 6000" name="adj"/>
              </a:avLst>
            </a:prstGeom>
            <a:noFill/>
            <a:ln>
              <a:noFill/>
            </a:ln>
          </p:spPr>
        </p:pic>
      </p:grpSp>
      <p:grpSp>
        <p:nvGrpSpPr>
          <p:cNvPr id="618" name="Google Shape;618;p33"/>
          <p:cNvGrpSpPr/>
          <p:nvPr/>
        </p:nvGrpSpPr>
        <p:grpSpPr>
          <a:xfrm>
            <a:off x="6286500" y="1524000"/>
            <a:ext cx="5143500" cy="4572000"/>
            <a:chOff x="0" y="0"/>
            <a:chExt cx="5143500" cy="4572000"/>
          </a:xfrm>
        </p:grpSpPr>
        <p:grpSp>
          <p:nvGrpSpPr>
            <p:cNvPr id="619" name="Google Shape;619;p33"/>
            <p:cNvGrpSpPr/>
            <p:nvPr/>
          </p:nvGrpSpPr>
          <p:grpSpPr>
            <a:xfrm>
              <a:off x="0" y="0"/>
              <a:ext cx="4000500" cy="238200"/>
              <a:chOff x="0" y="0"/>
              <a:chExt cx="4000500" cy="238200"/>
            </a:xfrm>
          </p:grpSpPr>
          <p:sp>
            <p:nvSpPr>
              <p:cNvPr id="620" name="Google Shape;620;p33"/>
              <p:cNvSpPr/>
              <p:nvPr/>
            </p:nvSpPr>
            <p:spPr>
              <a:xfrm>
                <a:off x="0" y="0"/>
                <a:ext cx="38100" cy="238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1" name="Google Shape;621;p33"/>
              <p:cNvSpPr txBox="1"/>
              <p:nvPr/>
            </p:nvSpPr>
            <p:spPr>
              <a:xfrm>
                <a:off x="190500" y="0"/>
                <a:ext cx="3810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PYTHON EXAMPLE</a:t>
                </a:r>
                <a:endParaRPr b="1" sz="1200">
                  <a:solidFill>
                    <a:srgbClr val="D4A017"/>
                  </a:solidFill>
                  <a:latin typeface="Inter"/>
                  <a:ea typeface="Inter"/>
                  <a:cs typeface="Inter"/>
                  <a:sym typeface="Inter"/>
                </a:endParaRPr>
              </a:p>
            </p:txBody>
          </p:sp>
        </p:grpSp>
        <p:grpSp>
          <p:nvGrpSpPr>
            <p:cNvPr id="622" name="Google Shape;622;p33"/>
            <p:cNvGrpSpPr/>
            <p:nvPr/>
          </p:nvGrpSpPr>
          <p:grpSpPr>
            <a:xfrm>
              <a:off x="0" y="428625"/>
              <a:ext cx="5143500" cy="3429000"/>
              <a:chOff x="0" y="0"/>
              <a:chExt cx="5143500" cy="3429000"/>
            </a:xfrm>
          </p:grpSpPr>
          <p:sp>
            <p:nvSpPr>
              <p:cNvPr id="623" name="Google Shape;623;p33"/>
              <p:cNvSpPr/>
              <p:nvPr/>
            </p:nvSpPr>
            <p:spPr>
              <a:xfrm>
                <a:off x="0" y="0"/>
                <a:ext cx="5143500" cy="3429000"/>
              </a:xfrm>
              <a:prstGeom prst="roundRect">
                <a:avLst>
                  <a:gd fmla="val 2222"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4" name="Google Shape;624;p33"/>
              <p:cNvSpPr/>
              <p:nvPr/>
            </p:nvSpPr>
            <p:spPr>
              <a:xfrm>
                <a:off x="0" y="0"/>
                <a:ext cx="57300" cy="34290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5" name="Google Shape;625;p33"/>
              <p:cNvSpPr txBox="1"/>
              <p:nvPr/>
            </p:nvSpPr>
            <p:spPr>
              <a:xfrm>
                <a:off x="238125" y="238125"/>
                <a:ext cx="4667400" cy="2952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203">
                    <a:solidFill>
                      <a:srgbClr val="6B7280"/>
                    </a:solidFill>
                    <a:latin typeface="Inter Medium"/>
                    <a:ea typeface="Inter Medium"/>
                    <a:cs typeface="Inter Medium"/>
                    <a:sym typeface="Inter Medium"/>
                  </a:rPr>
                  <a:t># Global variable</a:t>
                </a:r>
                <a:endParaRPr b="0" sz="1203">
                  <a:solidFill>
                    <a:srgbClr val="6B7280"/>
                  </a:solidFill>
                  <a:latin typeface="Inter Medium"/>
                  <a:ea typeface="Inter Medium"/>
                  <a:cs typeface="Inter Medium"/>
                  <a:sym typeface="Inter Medium"/>
                </a:endParaRPr>
              </a:p>
              <a:p>
                <a:pPr indent="0" lvl="0" marL="0" rtl="0" algn="l">
                  <a:spcBef>
                    <a:spcPts val="900"/>
                  </a:spcBef>
                  <a:spcAft>
                    <a:spcPts val="0"/>
                  </a:spcAft>
                  <a:buNone/>
                </a:pPr>
                <a:r>
                  <a:rPr b="0" lang="en" sz="1203">
                    <a:solidFill>
                      <a:srgbClr val="1F2937"/>
                    </a:solidFill>
                    <a:latin typeface="Inter Medium"/>
                    <a:ea typeface="Inter Medium"/>
                    <a:cs typeface="Inter Medium"/>
                    <a:sym typeface="Inter Medium"/>
                  </a:rPr>
                  <a:t>counter = 0</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203">
                    <a:solidFill>
                      <a:srgbClr val="1F2937"/>
                    </a:solidFill>
                    <a:latin typeface="Inter Medium"/>
                    <a:ea typeface="Inter Medium"/>
                    <a:cs typeface="Inter Medium"/>
                    <a:sym typeface="Inter Medium"/>
                  </a:rPr>
                  <a:t>def increment():</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1" lang="en" sz="1203">
                    <a:solidFill>
                      <a:srgbClr val="045A36"/>
                    </a:solidFill>
                    <a:latin typeface="Inter"/>
                    <a:ea typeface="Inter"/>
                    <a:cs typeface="Inter"/>
                    <a:sym typeface="Inter"/>
                  </a:rPr>
                  <a:t>global</a:t>
                </a:r>
                <a:r>
                  <a:rPr b="0" lang="en" sz="1203">
                    <a:solidFill>
                      <a:srgbClr val="1F2937"/>
                    </a:solidFill>
                    <a:latin typeface="Inter Medium"/>
                    <a:ea typeface="Inter Medium"/>
                    <a:cs typeface="Inter Medium"/>
                    <a:sym typeface="Inter Medium"/>
                  </a:rPr>
                  <a:t> counter </a:t>
                </a:r>
                <a:r>
                  <a:rPr b="0" lang="en" sz="1203">
                    <a:solidFill>
                      <a:srgbClr val="6B7280"/>
                    </a:solidFill>
                    <a:latin typeface="Inter Medium"/>
                    <a:ea typeface="Inter Medium"/>
                    <a:cs typeface="Inter Medium"/>
                    <a:sym typeface="Inter Medium"/>
                  </a:rPr>
                  <a:t># Required to modify</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203">
                    <a:solidFill>
                      <a:srgbClr val="1F2937"/>
                    </a:solidFill>
                    <a:latin typeface="Inter Medium"/>
                    <a:ea typeface="Inter Medium"/>
                    <a:cs typeface="Inter Medium"/>
                    <a:sym typeface="Inter Medium"/>
                  </a:rPr>
                  <a:t>counter += 1</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203">
                    <a:solidFill>
                      <a:srgbClr val="1F2937"/>
                    </a:solidFill>
                    <a:latin typeface="Inter Medium"/>
                    <a:ea typeface="Inter Medium"/>
                    <a:cs typeface="Inter Medium"/>
                    <a:sym typeface="Inter Medium"/>
                  </a:rPr>
                  <a:t>print(counter)</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203">
                    <a:solidFill>
                      <a:srgbClr val="1F2937"/>
                    </a:solidFill>
                    <a:latin typeface="Inter Medium"/>
                    <a:ea typeface="Inter Medium"/>
                    <a:cs typeface="Inter Medium"/>
                    <a:sym typeface="Inter Medium"/>
                  </a:rPr>
                  <a:t>increment() </a:t>
                </a:r>
                <a:r>
                  <a:rPr b="0" lang="en" sz="1203">
                    <a:solidFill>
                      <a:srgbClr val="6B7280"/>
                    </a:solidFill>
                    <a:latin typeface="Inter Medium"/>
                    <a:ea typeface="Inter Medium"/>
                    <a:cs typeface="Inter Medium"/>
                    <a:sym typeface="Inter Medium"/>
                  </a:rPr>
                  <a:t># Output: 1</a:t>
                </a:r>
                <a:endParaRPr b="0" sz="1203">
                  <a:solidFill>
                    <a:srgbClr val="1F2937"/>
                  </a:solidFill>
                  <a:latin typeface="Inter Medium"/>
                  <a:ea typeface="Inter Medium"/>
                  <a:cs typeface="Inter Medium"/>
                  <a:sym typeface="Inter Medium"/>
                </a:endParaRPr>
              </a:p>
              <a:p>
                <a:pPr indent="0" lvl="0" marL="0" rtl="0" algn="l">
                  <a:spcBef>
                    <a:spcPts val="900"/>
                  </a:spcBef>
                  <a:spcAft>
                    <a:spcPts val="0"/>
                  </a:spcAft>
                  <a:buNone/>
                </a:pPr>
                <a:r>
                  <a:rPr b="0" lang="en" sz="1203">
                    <a:solidFill>
                      <a:srgbClr val="1F2937"/>
                    </a:solidFill>
                    <a:latin typeface="Inter Medium"/>
                    <a:ea typeface="Inter Medium"/>
                    <a:cs typeface="Inter Medium"/>
                    <a:sym typeface="Inter Medium"/>
                  </a:rPr>
                  <a:t>increment() </a:t>
                </a:r>
                <a:r>
                  <a:rPr b="0" lang="en" sz="1203">
                    <a:solidFill>
                      <a:srgbClr val="6B7280"/>
                    </a:solidFill>
                    <a:latin typeface="Inter Medium"/>
                    <a:ea typeface="Inter Medium"/>
                    <a:cs typeface="Inter Medium"/>
                    <a:sym typeface="Inter Medium"/>
                  </a:rPr>
                  <a:t># Output: 2</a:t>
                </a:r>
                <a:endParaRPr b="0" sz="1203">
                  <a:solidFill>
                    <a:srgbClr val="1F2937"/>
                  </a:solidFill>
                  <a:latin typeface="Inter Medium"/>
                  <a:ea typeface="Inter Medium"/>
                  <a:cs typeface="Inter Medium"/>
                  <a:sym typeface="Inter Medium"/>
                </a:endParaRPr>
              </a:p>
            </p:txBody>
          </p:sp>
        </p:grpSp>
        <p:grpSp>
          <p:nvGrpSpPr>
            <p:cNvPr id="626" name="Google Shape;626;p33"/>
            <p:cNvGrpSpPr/>
            <p:nvPr/>
          </p:nvGrpSpPr>
          <p:grpSpPr>
            <a:xfrm>
              <a:off x="0" y="4000500"/>
              <a:ext cx="4953000" cy="571500"/>
              <a:chOff x="0" y="0"/>
              <a:chExt cx="4953000" cy="571500"/>
            </a:xfrm>
          </p:grpSpPr>
          <p:sp>
            <p:nvSpPr>
              <p:cNvPr id="627" name="Google Shape;627;p33"/>
              <p:cNvSpPr/>
              <p:nvPr/>
            </p:nvSpPr>
            <p:spPr>
              <a:xfrm>
                <a:off x="0" y="0"/>
                <a:ext cx="38100" cy="571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28" name="Google Shape;628;p33"/>
              <p:cNvSpPr txBox="1"/>
              <p:nvPr/>
            </p:nvSpPr>
            <p:spPr>
              <a:xfrm>
                <a:off x="190500" y="0"/>
                <a:ext cx="4762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374151"/>
                    </a:solidFill>
                    <a:latin typeface="Inter"/>
                    <a:ea typeface="Inter"/>
                    <a:cs typeface="Inter"/>
                    <a:sym typeface="Inter"/>
                  </a:rPr>
                  <a:t>Without the </a:t>
                </a:r>
                <a:r>
                  <a:rPr b="1" lang="en" sz="1300">
                    <a:solidFill>
                      <a:srgbClr val="374151"/>
                    </a:solidFill>
                    <a:latin typeface="Inter"/>
                    <a:ea typeface="Inter"/>
                    <a:cs typeface="Inter"/>
                    <a:sym typeface="Inter"/>
                  </a:rPr>
                  <a:t>global</a:t>
                </a:r>
                <a:r>
                  <a:rPr b="0" lang="en" sz="1300">
                    <a:solidFill>
                      <a:srgbClr val="374151"/>
                    </a:solidFill>
                    <a:latin typeface="Inter"/>
                    <a:ea typeface="Inter"/>
                    <a:cs typeface="Inter"/>
                    <a:sym typeface="Inter"/>
                  </a:rPr>
                  <a:t> keyword, Python treats variables inside functions as local by default when assigning values.</a:t>
                </a:r>
                <a:endParaRPr b="0" sz="1300">
                  <a:solidFill>
                    <a:srgbClr val="374151"/>
                  </a:solidFill>
                  <a:latin typeface="Inter"/>
                  <a:ea typeface="Inter"/>
                  <a:cs typeface="Inter"/>
                  <a:sym typeface="Inter"/>
                </a:endParaRPr>
              </a:p>
            </p:txBody>
          </p:sp>
        </p:grpSp>
      </p:grpSp>
      <p:grpSp>
        <p:nvGrpSpPr>
          <p:cNvPr id="629" name="Google Shape;629;p33"/>
          <p:cNvGrpSpPr/>
          <p:nvPr/>
        </p:nvGrpSpPr>
        <p:grpSpPr>
          <a:xfrm>
            <a:off x="762000" y="5457825"/>
            <a:ext cx="11049000" cy="1019100"/>
            <a:chOff x="762000" y="5457825"/>
            <a:chExt cx="11049000" cy="1019100"/>
          </a:xfrm>
        </p:grpSpPr>
        <p:pic>
          <p:nvPicPr>
            <p:cNvPr id="630" name="Google Shape;630;p33"/>
            <p:cNvPicPr preferRelativeResize="0"/>
            <p:nvPr/>
          </p:nvPicPr>
          <p:blipFill rotWithShape="1">
            <a:blip r:embed="rId6">
              <a:alphaModFix/>
            </a:blip>
            <a:srcRect b="0" l="0" r="0" t="0"/>
            <a:stretch/>
          </p:blipFill>
          <p:spPr>
            <a:xfrm>
              <a:off x="10287000" y="5457825"/>
              <a:ext cx="1524000" cy="1019100"/>
            </a:xfrm>
            <a:prstGeom prst="rect">
              <a:avLst/>
            </a:prstGeom>
            <a:noFill/>
            <a:ln>
              <a:noFill/>
            </a:ln>
          </p:spPr>
        </p:pic>
        <p:sp>
          <p:nvSpPr>
            <p:cNvPr id="631" name="Google Shape;631;p33"/>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5" name="Shape 635"/>
        <p:cNvGrpSpPr/>
        <p:nvPr/>
      </p:nvGrpSpPr>
      <p:grpSpPr>
        <a:xfrm>
          <a:off x="0" y="0"/>
          <a:ext cx="0" cy="0"/>
          <a:chOff x="0" y="0"/>
          <a:chExt cx="0" cy="0"/>
        </a:xfrm>
      </p:grpSpPr>
      <p:sp>
        <p:nvSpPr>
          <p:cNvPr id="636" name="Google Shape;636;p34"/>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37" name="Google Shape;637;p34"/>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638" name="Google Shape;638;p34"/>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Recursive Functions</a:t>
            </a:r>
            <a:endParaRPr b="0" sz="2700">
              <a:solidFill>
                <a:srgbClr val="045A36"/>
              </a:solidFill>
              <a:latin typeface="Montserrat SemiBold"/>
              <a:ea typeface="Montserrat SemiBold"/>
              <a:cs typeface="Montserrat SemiBold"/>
              <a:sym typeface="Montserrat SemiBold"/>
            </a:endParaRPr>
          </a:p>
        </p:txBody>
      </p:sp>
      <p:sp>
        <p:nvSpPr>
          <p:cNvPr id="639" name="Google Shape;639;p34"/>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40" name="Google Shape;640;p34"/>
          <p:cNvGrpSpPr/>
          <p:nvPr/>
        </p:nvGrpSpPr>
        <p:grpSpPr>
          <a:xfrm>
            <a:off x="762000" y="1524000"/>
            <a:ext cx="4381500" cy="3286125"/>
            <a:chOff x="0" y="0"/>
            <a:chExt cx="4381500" cy="3286125"/>
          </a:xfrm>
        </p:grpSpPr>
        <p:sp>
          <p:nvSpPr>
            <p:cNvPr id="641" name="Google Shape;641;p34"/>
            <p:cNvSpPr txBox="1"/>
            <p:nvPr/>
          </p:nvSpPr>
          <p:spPr>
            <a:xfrm>
              <a:off x="0" y="0"/>
              <a:ext cx="43815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600">
                  <a:solidFill>
                    <a:srgbClr val="045A36"/>
                  </a:solidFill>
                  <a:latin typeface="Inter SemiBold"/>
                  <a:ea typeface="Inter SemiBold"/>
                  <a:cs typeface="Inter SemiBold"/>
                  <a:sym typeface="Inter SemiBold"/>
                </a:rPr>
                <a:t>Functions that call themselves</a:t>
              </a:r>
              <a:endParaRPr b="0" sz="1600">
                <a:solidFill>
                  <a:srgbClr val="045A36"/>
                </a:solidFill>
                <a:latin typeface="Inter SemiBold"/>
                <a:ea typeface="Inter SemiBold"/>
                <a:cs typeface="Inter SemiBold"/>
                <a:sym typeface="Inter SemiBold"/>
              </a:endParaRPr>
            </a:p>
          </p:txBody>
        </p:sp>
        <p:sp>
          <p:nvSpPr>
            <p:cNvPr id="642" name="Google Shape;642;p34"/>
            <p:cNvSpPr txBox="1"/>
            <p:nvPr/>
          </p:nvSpPr>
          <p:spPr>
            <a:xfrm>
              <a:off x="0" y="571500"/>
              <a:ext cx="43815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Recursion occurs when a function calls itself to solve a smaller instance of the same problem.</a:t>
              </a:r>
              <a:endParaRPr b="0" sz="1500">
                <a:solidFill>
                  <a:srgbClr val="374151"/>
                </a:solidFill>
                <a:latin typeface="Inter"/>
                <a:ea typeface="Inter"/>
                <a:cs typeface="Inter"/>
                <a:sym typeface="Inter"/>
              </a:endParaRPr>
            </a:p>
            <a:p>
              <a:pPr indent="0" lvl="0" marL="0" rtl="0" algn="l">
                <a:spcBef>
                  <a:spcPts val="1125"/>
                </a:spcBef>
                <a:spcAft>
                  <a:spcPts val="0"/>
                </a:spcAft>
                <a:buNone/>
              </a:pPr>
              <a:r>
                <a:rPr b="0" lang="en" sz="1500">
                  <a:solidFill>
                    <a:srgbClr val="374151"/>
                  </a:solidFill>
                  <a:latin typeface="Inter"/>
                  <a:ea typeface="Inter"/>
                  <a:cs typeface="Inter"/>
                  <a:sym typeface="Inter"/>
                </a:rPr>
                <a:t>It must have a base case to stop the recursion and prevent an infinite loop.</a:t>
              </a:r>
              <a:endParaRPr b="0" sz="1500">
                <a:solidFill>
                  <a:srgbClr val="374151"/>
                </a:solidFill>
                <a:latin typeface="Inter"/>
                <a:ea typeface="Inter"/>
                <a:cs typeface="Inter"/>
                <a:sym typeface="Inter"/>
              </a:endParaRPr>
            </a:p>
          </p:txBody>
        </p:sp>
        <p:grpSp>
          <p:nvGrpSpPr>
            <p:cNvPr id="643" name="Google Shape;643;p34"/>
            <p:cNvGrpSpPr/>
            <p:nvPr/>
          </p:nvGrpSpPr>
          <p:grpSpPr>
            <a:xfrm>
              <a:off x="0" y="2286000"/>
              <a:ext cx="4381500" cy="1000125"/>
              <a:chOff x="0" y="0"/>
              <a:chExt cx="4381500" cy="1000125"/>
            </a:xfrm>
          </p:grpSpPr>
          <p:sp>
            <p:nvSpPr>
              <p:cNvPr id="644" name="Google Shape;644;p34"/>
              <p:cNvSpPr/>
              <p:nvPr/>
            </p:nvSpPr>
            <p:spPr>
              <a:xfrm>
                <a:off x="0" y="0"/>
                <a:ext cx="38100" cy="9525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45" name="Google Shape;645;p34"/>
              <p:cNvSpPr txBox="1"/>
              <p:nvPr/>
            </p:nvSpPr>
            <p:spPr>
              <a:xfrm>
                <a:off x="190500" y="0"/>
                <a:ext cx="3810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BASE CASE</a:t>
                </a:r>
                <a:endParaRPr b="1" sz="1200">
                  <a:solidFill>
                    <a:srgbClr val="D4A017"/>
                  </a:solidFill>
                  <a:latin typeface="Inter"/>
                  <a:ea typeface="Inter"/>
                  <a:cs typeface="Inter"/>
                  <a:sym typeface="Inter"/>
                </a:endParaRPr>
              </a:p>
            </p:txBody>
          </p:sp>
          <p:sp>
            <p:nvSpPr>
              <p:cNvPr id="646" name="Google Shape;646;p34"/>
              <p:cNvSpPr txBox="1"/>
              <p:nvPr/>
            </p:nvSpPr>
            <p:spPr>
              <a:xfrm>
                <a:off x="190500" y="238125"/>
                <a:ext cx="41910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The condition that terminates the recursive process. In the example, </a:t>
                </a:r>
                <a:r>
                  <a:rPr b="0" lang="en" sz="1500">
                    <a:solidFill>
                      <a:srgbClr val="1F2937"/>
                    </a:solidFill>
                    <a:latin typeface="Inter SemiBold"/>
                    <a:ea typeface="Inter SemiBold"/>
                    <a:cs typeface="Inter SemiBold"/>
                    <a:sym typeface="Inter SemiBold"/>
                  </a:rPr>
                  <a:t>n &lt;= 0</a:t>
                </a:r>
                <a:r>
                  <a:rPr b="0" lang="en" sz="1500">
                    <a:solidFill>
                      <a:srgbClr val="374151"/>
                    </a:solidFill>
                    <a:latin typeface="Inter"/>
                    <a:ea typeface="Inter"/>
                    <a:cs typeface="Inter"/>
                    <a:sym typeface="Inter"/>
                  </a:rPr>
                  <a:t> acts as the anchor.</a:t>
                </a:r>
                <a:endParaRPr b="0" sz="1500">
                  <a:solidFill>
                    <a:srgbClr val="374151"/>
                  </a:solidFill>
                  <a:latin typeface="Inter"/>
                  <a:ea typeface="Inter"/>
                  <a:cs typeface="Inter"/>
                  <a:sym typeface="Inter"/>
                </a:endParaRPr>
              </a:p>
            </p:txBody>
          </p:sp>
        </p:grpSp>
      </p:grpSp>
      <p:grpSp>
        <p:nvGrpSpPr>
          <p:cNvPr id="647" name="Google Shape;647;p34"/>
          <p:cNvGrpSpPr/>
          <p:nvPr/>
        </p:nvGrpSpPr>
        <p:grpSpPr>
          <a:xfrm>
            <a:off x="5905500" y="1524000"/>
            <a:ext cx="5524500" cy="4191150"/>
            <a:chOff x="0" y="0"/>
            <a:chExt cx="5524500" cy="4191150"/>
          </a:xfrm>
        </p:grpSpPr>
        <p:grpSp>
          <p:nvGrpSpPr>
            <p:cNvPr id="648" name="Google Shape;648;p34"/>
            <p:cNvGrpSpPr/>
            <p:nvPr/>
          </p:nvGrpSpPr>
          <p:grpSpPr>
            <a:xfrm>
              <a:off x="0" y="0"/>
              <a:ext cx="5524500" cy="2190900"/>
              <a:chOff x="0" y="0"/>
              <a:chExt cx="5524500" cy="2190900"/>
            </a:xfrm>
          </p:grpSpPr>
          <p:sp>
            <p:nvSpPr>
              <p:cNvPr id="649" name="Google Shape;649;p34"/>
              <p:cNvSpPr/>
              <p:nvPr/>
            </p:nvSpPr>
            <p:spPr>
              <a:xfrm>
                <a:off x="0" y="0"/>
                <a:ext cx="5524500" cy="2190900"/>
              </a:xfrm>
              <a:prstGeom prst="roundRect">
                <a:avLst>
                  <a:gd fmla="val 3478"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0" name="Google Shape;650;p34"/>
              <p:cNvSpPr/>
              <p:nvPr/>
            </p:nvSpPr>
            <p:spPr>
              <a:xfrm>
                <a:off x="0" y="0"/>
                <a:ext cx="57300" cy="21909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1" name="Google Shape;651;p34"/>
              <p:cNvSpPr txBox="1"/>
              <p:nvPr/>
            </p:nvSpPr>
            <p:spPr>
              <a:xfrm>
                <a:off x="238125" y="190500"/>
                <a:ext cx="5048400" cy="1809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B7A4B"/>
                    </a:solidFill>
                    <a:latin typeface="Courier New"/>
                    <a:ea typeface="Courier New"/>
                    <a:cs typeface="Courier New"/>
                    <a:sym typeface="Courier New"/>
                  </a:rPr>
                  <a:t>def </a:t>
                </a:r>
                <a:r>
                  <a:rPr b="0" lang="en" sz="1300">
                    <a:solidFill>
                      <a:srgbClr val="045A36"/>
                    </a:solidFill>
                    <a:latin typeface="Courier New"/>
                    <a:ea typeface="Courier New"/>
                    <a:cs typeface="Courier New"/>
                    <a:sym typeface="Courier New"/>
                  </a:rPr>
                  <a:t>countdown</a:t>
                </a:r>
                <a:r>
                  <a:rPr b="0" lang="en" sz="1300">
                    <a:solidFill>
                      <a:srgbClr val="0B7A4B"/>
                    </a:solidFill>
                    <a:latin typeface="Courier New"/>
                    <a:ea typeface="Courier New"/>
                    <a:cs typeface="Courier New"/>
                    <a:sym typeface="Courier New"/>
                  </a:rPr>
                  <a:t>(n):</a:t>
                </a:r>
                <a:endParaRPr b="0" sz="1300">
                  <a:solidFill>
                    <a:srgbClr val="0B7A4B"/>
                  </a:solidFill>
                  <a:latin typeface="Courier New"/>
                  <a:ea typeface="Courier New"/>
                  <a:cs typeface="Courier New"/>
                  <a:sym typeface="Courier New"/>
                </a:endParaRPr>
              </a:p>
              <a:p>
                <a:pPr indent="0" lvl="0" marL="0" rtl="0" algn="l">
                  <a:spcBef>
                    <a:spcPts val="0"/>
                  </a:spcBef>
                  <a:spcAft>
                    <a:spcPts val="0"/>
                  </a:spcAft>
                  <a:buNone/>
                </a:pPr>
                <a:r>
                  <a:rPr b="0" lang="en" sz="1300">
                    <a:solidFill>
                      <a:srgbClr val="1F2937"/>
                    </a:solidFill>
                    <a:latin typeface="Courier New"/>
                    <a:ea typeface="Courier New"/>
                    <a:cs typeface="Courier New"/>
                    <a:sym typeface="Courier New"/>
                  </a:rPr>
                  <a:t>if n &lt;= 0: </a:t>
                </a:r>
                <a:r>
                  <a:rPr b="0" lang="en" sz="1300">
                    <a:solidFill>
                      <a:srgbClr val="6B7280"/>
                    </a:solidFill>
                    <a:latin typeface="Courier New"/>
                    <a:ea typeface="Courier New"/>
                    <a:cs typeface="Courier New"/>
                    <a:sym typeface="Courier New"/>
                  </a:rPr>
                  <a:t># Base case</a:t>
                </a:r>
                <a:endParaRPr b="0" sz="1300">
                  <a:solidFill>
                    <a:srgbClr val="1F2937"/>
                  </a:solidFill>
                  <a:latin typeface="Courier New"/>
                  <a:ea typeface="Courier New"/>
                  <a:cs typeface="Courier New"/>
                  <a:sym typeface="Courier New"/>
                </a:endParaRPr>
              </a:p>
              <a:p>
                <a:pPr indent="0" lvl="0" marL="0" rtl="0" algn="l">
                  <a:spcBef>
                    <a:spcPts val="0"/>
                  </a:spcBef>
                  <a:spcAft>
                    <a:spcPts val="0"/>
                  </a:spcAft>
                  <a:buNone/>
                </a:pPr>
                <a:r>
                  <a:rPr b="0" lang="en" sz="1300">
                    <a:solidFill>
                      <a:srgbClr val="1F2937"/>
                    </a:solidFill>
                    <a:latin typeface="Courier New"/>
                    <a:ea typeface="Courier New"/>
                    <a:cs typeface="Courier New"/>
                    <a:sym typeface="Courier New"/>
                  </a:rPr>
                  <a:t>print(</a:t>
                </a:r>
                <a:r>
                  <a:rPr b="0" lang="en" sz="1300">
                    <a:solidFill>
                      <a:srgbClr val="0B7A4B"/>
                    </a:solidFill>
                    <a:latin typeface="Courier New"/>
                    <a:ea typeface="Courier New"/>
                    <a:cs typeface="Courier New"/>
                    <a:sym typeface="Courier New"/>
                  </a:rPr>
                  <a:t>"Blastoff!"</a:t>
                </a:r>
                <a:r>
                  <a:rPr b="0" lang="en" sz="1300">
                    <a:solidFill>
                      <a:srgbClr val="1F2937"/>
                    </a:solidFill>
                    <a:latin typeface="Courier New"/>
                    <a:ea typeface="Courier New"/>
                    <a:cs typeface="Courier New"/>
                    <a:sym typeface="Courier New"/>
                  </a:rPr>
                  <a:t>)</a:t>
                </a:r>
                <a:endParaRPr b="0" sz="1300">
                  <a:solidFill>
                    <a:srgbClr val="1F2937"/>
                  </a:solidFill>
                  <a:latin typeface="Courier New"/>
                  <a:ea typeface="Courier New"/>
                  <a:cs typeface="Courier New"/>
                  <a:sym typeface="Courier New"/>
                </a:endParaRPr>
              </a:p>
              <a:p>
                <a:pPr indent="0" lvl="0" marL="0" rtl="0" algn="l">
                  <a:spcBef>
                    <a:spcPts val="0"/>
                  </a:spcBef>
                  <a:spcAft>
                    <a:spcPts val="0"/>
                  </a:spcAft>
                  <a:buNone/>
                </a:pPr>
                <a:r>
                  <a:rPr b="0" lang="en" sz="1300">
                    <a:solidFill>
                      <a:srgbClr val="1F2937"/>
                    </a:solidFill>
                    <a:latin typeface="Courier New"/>
                    <a:ea typeface="Courier New"/>
                    <a:cs typeface="Courier New"/>
                    <a:sym typeface="Courier New"/>
                  </a:rPr>
                  <a:t>else:</a:t>
                </a:r>
                <a:endParaRPr b="0" sz="1300">
                  <a:solidFill>
                    <a:srgbClr val="1F2937"/>
                  </a:solidFill>
                  <a:latin typeface="Courier New"/>
                  <a:ea typeface="Courier New"/>
                  <a:cs typeface="Courier New"/>
                  <a:sym typeface="Courier New"/>
                </a:endParaRPr>
              </a:p>
              <a:p>
                <a:pPr indent="0" lvl="0" marL="0" rtl="0" algn="l">
                  <a:spcBef>
                    <a:spcPts val="0"/>
                  </a:spcBef>
                  <a:spcAft>
                    <a:spcPts val="0"/>
                  </a:spcAft>
                  <a:buNone/>
                </a:pPr>
                <a:r>
                  <a:rPr b="0" lang="en" sz="1300">
                    <a:solidFill>
                      <a:srgbClr val="1F2937"/>
                    </a:solidFill>
                    <a:latin typeface="Courier New"/>
                    <a:ea typeface="Courier New"/>
                    <a:cs typeface="Courier New"/>
                    <a:sym typeface="Courier New"/>
                  </a:rPr>
                  <a:t>print(n)</a:t>
                </a:r>
                <a:endParaRPr b="0" sz="1300">
                  <a:solidFill>
                    <a:srgbClr val="1F2937"/>
                  </a:solidFill>
                  <a:latin typeface="Courier New"/>
                  <a:ea typeface="Courier New"/>
                  <a:cs typeface="Courier New"/>
                  <a:sym typeface="Courier New"/>
                </a:endParaRPr>
              </a:p>
              <a:p>
                <a:pPr indent="0" lvl="0" marL="0" rtl="0" algn="l">
                  <a:spcBef>
                    <a:spcPts val="0"/>
                  </a:spcBef>
                  <a:spcAft>
                    <a:spcPts val="0"/>
                  </a:spcAft>
                  <a:buNone/>
                </a:pPr>
                <a:r>
                  <a:rPr b="0" lang="en" sz="1300">
                    <a:solidFill>
                      <a:srgbClr val="1F2937"/>
                    </a:solidFill>
                    <a:latin typeface="Courier New"/>
                    <a:ea typeface="Courier New"/>
                    <a:cs typeface="Courier New"/>
                    <a:sym typeface="Courier New"/>
                  </a:rPr>
                  <a:t>countdown(n - 1) </a:t>
                </a:r>
                <a:r>
                  <a:rPr b="0" lang="en" sz="1300">
                    <a:solidFill>
                      <a:srgbClr val="6B7280"/>
                    </a:solidFill>
                    <a:latin typeface="Courier New"/>
                    <a:ea typeface="Courier New"/>
                    <a:cs typeface="Courier New"/>
                    <a:sym typeface="Courier New"/>
                  </a:rPr>
                  <a:t># Recursive call</a:t>
                </a:r>
                <a:endParaRPr b="0" sz="1300">
                  <a:solidFill>
                    <a:srgbClr val="1F2937"/>
                  </a:solidFill>
                  <a:latin typeface="Courier New"/>
                  <a:ea typeface="Courier New"/>
                  <a:cs typeface="Courier New"/>
                  <a:sym typeface="Courier New"/>
                </a:endParaRPr>
              </a:p>
              <a:p>
                <a:pPr indent="0" lvl="0" marL="0" rtl="0" algn="l">
                  <a:spcBef>
                    <a:spcPts val="1125"/>
                  </a:spcBef>
                  <a:spcAft>
                    <a:spcPts val="0"/>
                  </a:spcAft>
                  <a:buNone/>
                </a:pPr>
                <a:r>
                  <a:rPr b="0" lang="en" sz="1300">
                    <a:solidFill>
                      <a:srgbClr val="1F2937"/>
                    </a:solidFill>
                    <a:latin typeface="Courier New"/>
                    <a:ea typeface="Courier New"/>
                    <a:cs typeface="Courier New"/>
                    <a:sym typeface="Courier New"/>
                  </a:rPr>
                  <a:t>countdown(3)</a:t>
                </a:r>
                <a:endParaRPr b="0" sz="1300">
                  <a:solidFill>
                    <a:srgbClr val="1F2937"/>
                  </a:solidFill>
                  <a:latin typeface="Courier New"/>
                  <a:ea typeface="Courier New"/>
                  <a:cs typeface="Courier New"/>
                  <a:sym typeface="Courier New"/>
                </a:endParaRPr>
              </a:p>
              <a:p>
                <a:pPr indent="0" lvl="0" marL="0" rtl="0" algn="l">
                  <a:spcBef>
                    <a:spcPts val="0"/>
                  </a:spcBef>
                  <a:spcAft>
                    <a:spcPts val="0"/>
                  </a:spcAft>
                  <a:buNone/>
                </a:pPr>
                <a:r>
                  <a:rPr b="0" lang="en" sz="1300">
                    <a:solidFill>
                      <a:srgbClr val="6B7280"/>
                    </a:solidFill>
                    <a:latin typeface="Courier New"/>
                    <a:ea typeface="Courier New"/>
                    <a:cs typeface="Courier New"/>
                    <a:sym typeface="Courier New"/>
                  </a:rPr>
                  <a:t># Output: 3, 2, 1, Blastoff!</a:t>
                </a:r>
                <a:endParaRPr b="0" sz="1300">
                  <a:solidFill>
                    <a:srgbClr val="6B7280"/>
                  </a:solidFill>
                  <a:latin typeface="Courier New"/>
                  <a:ea typeface="Courier New"/>
                  <a:cs typeface="Courier New"/>
                  <a:sym typeface="Courier New"/>
                </a:endParaRPr>
              </a:p>
            </p:txBody>
          </p:sp>
        </p:grpSp>
        <p:grpSp>
          <p:nvGrpSpPr>
            <p:cNvPr id="652" name="Google Shape;652;p34"/>
            <p:cNvGrpSpPr/>
            <p:nvPr/>
          </p:nvGrpSpPr>
          <p:grpSpPr>
            <a:xfrm>
              <a:off x="0" y="2476500"/>
              <a:ext cx="5524500" cy="1714650"/>
              <a:chOff x="0" y="0"/>
              <a:chExt cx="5524500" cy="1714650"/>
            </a:xfrm>
          </p:grpSpPr>
          <p:sp>
            <p:nvSpPr>
              <p:cNvPr id="653" name="Google Shape;653;p34"/>
              <p:cNvSpPr/>
              <p:nvPr/>
            </p:nvSpPr>
            <p:spPr>
              <a:xfrm>
                <a:off x="0" y="0"/>
                <a:ext cx="5524500" cy="1714500"/>
              </a:xfrm>
              <a:prstGeom prst="roundRect">
                <a:avLst>
                  <a:gd fmla="val 6666"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54" name="Google Shape;654;p34"/>
              <p:cNvPicPr preferRelativeResize="0"/>
              <p:nvPr/>
            </p:nvPicPr>
            <p:blipFill rotWithShape="1">
              <a:blip r:embed="rId4">
                <a:alphaModFix/>
              </a:blip>
              <a:srcRect b="23316" l="0" r="0" t="21512"/>
              <a:stretch/>
            </p:blipFill>
            <p:spPr>
              <a:xfrm>
                <a:off x="0" y="0"/>
                <a:ext cx="5524500" cy="1714500"/>
              </a:xfrm>
              <a:prstGeom prst="roundRect">
                <a:avLst>
                  <a:gd fmla="val 6666" name="adj"/>
                </a:avLst>
              </a:prstGeom>
              <a:noFill/>
              <a:ln>
                <a:noFill/>
              </a:ln>
            </p:spPr>
          </p:pic>
          <p:sp>
            <p:nvSpPr>
              <p:cNvPr id="655" name="Google Shape;655;p34"/>
              <p:cNvSpPr/>
              <p:nvPr/>
            </p:nvSpPr>
            <p:spPr>
              <a:xfrm>
                <a:off x="0" y="1428750"/>
                <a:ext cx="1714500" cy="285900"/>
              </a:xfrm>
              <a:prstGeom prst="roundRect">
                <a:avLst>
                  <a:gd fmla="val 0" name="adj"/>
                </a:avLst>
              </a:prstGeom>
              <a:solidFill>
                <a:srgbClr val="045A36">
                  <a:alpha val="89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56" name="Google Shape;656;p34"/>
              <p:cNvSpPr txBox="1"/>
              <p:nvPr/>
            </p:nvSpPr>
            <p:spPr>
              <a:xfrm>
                <a:off x="95250" y="1476375"/>
                <a:ext cx="1524000" cy="190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765">
                    <a:solidFill>
                      <a:srgbClr val="FFFFFF"/>
                    </a:solidFill>
                    <a:latin typeface="Inter"/>
                    <a:ea typeface="Inter"/>
                    <a:cs typeface="Inter"/>
                    <a:sym typeface="Inter"/>
                  </a:rPr>
                  <a:t>VISUAL ANALOGY: RECURSION</a:t>
                </a:r>
                <a:endParaRPr b="1" sz="765">
                  <a:solidFill>
                    <a:srgbClr val="FFFFFF"/>
                  </a:solidFill>
                  <a:latin typeface="Inter"/>
                  <a:ea typeface="Inter"/>
                  <a:cs typeface="Inter"/>
                  <a:sym typeface="Inter"/>
                </a:endParaRPr>
              </a:p>
            </p:txBody>
          </p:sp>
        </p:grpSp>
      </p:grpSp>
      <p:grpSp>
        <p:nvGrpSpPr>
          <p:cNvPr id="657" name="Google Shape;657;p34"/>
          <p:cNvGrpSpPr/>
          <p:nvPr/>
        </p:nvGrpSpPr>
        <p:grpSpPr>
          <a:xfrm>
            <a:off x="762000" y="5457825"/>
            <a:ext cx="11049000" cy="1019100"/>
            <a:chOff x="762000" y="5457825"/>
            <a:chExt cx="11049000" cy="1019100"/>
          </a:xfrm>
        </p:grpSpPr>
        <p:pic>
          <p:nvPicPr>
            <p:cNvPr id="658" name="Google Shape;658;p34"/>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659" name="Google Shape;659;p34"/>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3" name="Shape 663"/>
        <p:cNvGrpSpPr/>
        <p:nvPr/>
      </p:nvGrpSpPr>
      <p:grpSpPr>
        <a:xfrm>
          <a:off x="0" y="0"/>
          <a:ext cx="0" cy="0"/>
          <a:chOff x="0" y="0"/>
          <a:chExt cx="0" cy="0"/>
        </a:xfrm>
      </p:grpSpPr>
      <p:pic>
        <p:nvPicPr>
          <p:cNvPr id="664" name="Google Shape;664;p35"/>
          <p:cNvPicPr preferRelativeResize="0"/>
          <p:nvPr/>
        </p:nvPicPr>
        <p:blipFill rotWithShape="1">
          <a:blip r:embed="rId4">
            <a:alphaModFix/>
          </a:blip>
          <a:srcRect b="0" l="0" r="0" t="0"/>
          <a:stretch/>
        </p:blipFill>
        <p:spPr>
          <a:xfrm>
            <a:off x="0" y="0"/>
            <a:ext cx="12192000" cy="57300"/>
          </a:xfrm>
          <a:prstGeom prst="rect">
            <a:avLst/>
          </a:prstGeom>
          <a:noFill/>
          <a:ln>
            <a:noFill/>
          </a:ln>
        </p:spPr>
      </p:pic>
      <p:sp>
        <p:nvSpPr>
          <p:cNvPr id="665" name="Google Shape;665;p35"/>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Introduction to Lambda Functions</a:t>
            </a:r>
            <a:endParaRPr b="0" sz="2700">
              <a:solidFill>
                <a:srgbClr val="045A36"/>
              </a:solidFill>
              <a:latin typeface="Montserrat SemiBold"/>
              <a:ea typeface="Montserrat SemiBold"/>
              <a:cs typeface="Montserrat SemiBold"/>
              <a:sym typeface="Montserrat SemiBold"/>
            </a:endParaRPr>
          </a:p>
        </p:txBody>
      </p:sp>
      <p:sp>
        <p:nvSpPr>
          <p:cNvPr id="666" name="Google Shape;666;p35"/>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667" name="Google Shape;667;p35"/>
          <p:cNvGrpSpPr/>
          <p:nvPr/>
        </p:nvGrpSpPr>
        <p:grpSpPr>
          <a:xfrm>
            <a:off x="762000" y="1524000"/>
            <a:ext cx="5143650" cy="3333750"/>
            <a:chOff x="0" y="0"/>
            <a:chExt cx="5143650" cy="3333750"/>
          </a:xfrm>
        </p:grpSpPr>
        <p:sp>
          <p:nvSpPr>
            <p:cNvPr id="668" name="Google Shape;668;p35"/>
            <p:cNvSpPr txBox="1"/>
            <p:nvPr/>
          </p:nvSpPr>
          <p:spPr>
            <a:xfrm>
              <a:off x="0" y="0"/>
              <a:ext cx="51435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88">
                  <a:solidFill>
                    <a:srgbClr val="1F2937"/>
                  </a:solidFill>
                  <a:latin typeface="Inter SemiBold"/>
                  <a:ea typeface="Inter SemiBold"/>
                  <a:cs typeface="Inter SemiBold"/>
                  <a:sym typeface="Inter SemiBold"/>
                </a:rPr>
                <a:t>Small, anonymous, inline functions</a:t>
              </a:r>
              <a:endParaRPr b="0" sz="1388">
                <a:solidFill>
                  <a:srgbClr val="1F2937"/>
                </a:solidFill>
                <a:latin typeface="Inter SemiBold"/>
                <a:ea typeface="Inter SemiBold"/>
                <a:cs typeface="Inter SemiBold"/>
                <a:sym typeface="Inter SemiBold"/>
              </a:endParaRPr>
            </a:p>
            <a:p>
              <a:pPr indent="0" lvl="0" marL="0" rtl="0" algn="l">
                <a:spcBef>
                  <a:spcPts val="750"/>
                </a:spcBef>
                <a:spcAft>
                  <a:spcPts val="0"/>
                </a:spcAft>
                <a:buNone/>
              </a:pPr>
              <a:r>
                <a:rPr b="0" lang="en" sz="1388">
                  <a:solidFill>
                    <a:srgbClr val="374151"/>
                  </a:solidFill>
                  <a:latin typeface="Inter"/>
                  <a:ea typeface="Inter"/>
                  <a:cs typeface="Inter"/>
                  <a:sym typeface="Inter"/>
                </a:rPr>
                <a:t>A lambda function is a small anonymous function defined using the </a:t>
              </a:r>
              <a:r>
                <a:rPr b="0" lang="en" sz="1388">
                  <a:solidFill>
                    <a:srgbClr val="374151"/>
                  </a:solidFill>
                  <a:latin typeface="Arial"/>
                  <a:ea typeface="Arial"/>
                  <a:cs typeface="Arial"/>
                  <a:sym typeface="Arial"/>
                </a:rPr>
                <a:t>lambda</a:t>
              </a:r>
              <a:r>
                <a:rPr b="0" lang="en" sz="1388">
                  <a:solidFill>
                    <a:srgbClr val="374151"/>
                  </a:solidFill>
                  <a:latin typeface="Inter"/>
                  <a:ea typeface="Inter"/>
                  <a:cs typeface="Inter"/>
                  <a:sym typeface="Inter"/>
                </a:rPr>
                <a:t> keyword instead of </a:t>
              </a:r>
              <a:r>
                <a:rPr b="0" lang="en" sz="1388">
                  <a:solidFill>
                    <a:srgbClr val="374151"/>
                  </a:solidFill>
                  <a:latin typeface="Arial"/>
                  <a:ea typeface="Arial"/>
                  <a:cs typeface="Arial"/>
                  <a:sym typeface="Arial"/>
                </a:rPr>
                <a:t>def</a:t>
              </a:r>
              <a:r>
                <a:rPr b="0" lang="en" sz="1388">
                  <a:solidFill>
                    <a:srgbClr val="374151"/>
                  </a:solidFill>
                  <a:latin typeface="Inter"/>
                  <a:ea typeface="Inter"/>
                  <a:cs typeface="Inter"/>
                  <a:sym typeface="Inter"/>
                </a:rPr>
                <a:t>. They can take any number of arguments but can only have one expression.</a:t>
              </a:r>
              <a:endParaRPr b="0" sz="1388">
                <a:solidFill>
                  <a:srgbClr val="374151"/>
                </a:solidFill>
                <a:latin typeface="Inter"/>
                <a:ea typeface="Inter"/>
                <a:cs typeface="Inter"/>
                <a:sym typeface="Inter"/>
              </a:endParaRPr>
            </a:p>
          </p:txBody>
        </p:sp>
        <p:grpSp>
          <p:nvGrpSpPr>
            <p:cNvPr id="669" name="Google Shape;669;p35"/>
            <p:cNvGrpSpPr/>
            <p:nvPr/>
          </p:nvGrpSpPr>
          <p:grpSpPr>
            <a:xfrm>
              <a:off x="0" y="1333500"/>
              <a:ext cx="5143650" cy="2000250"/>
              <a:chOff x="0" y="0"/>
              <a:chExt cx="5143650" cy="2000250"/>
            </a:xfrm>
          </p:grpSpPr>
          <p:sp>
            <p:nvSpPr>
              <p:cNvPr id="670" name="Google Shape;670;p35"/>
              <p:cNvSpPr txBox="1"/>
              <p:nvPr/>
            </p:nvSpPr>
            <p:spPr>
              <a:xfrm>
                <a:off x="0" y="0"/>
                <a:ext cx="51435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Characteristics</a:t>
                </a:r>
                <a:endParaRPr b="1" sz="1200">
                  <a:solidFill>
                    <a:srgbClr val="D4A017"/>
                  </a:solidFill>
                  <a:latin typeface="Inter"/>
                  <a:ea typeface="Inter"/>
                  <a:cs typeface="Inter"/>
                  <a:sym typeface="Inter"/>
                </a:endParaRPr>
              </a:p>
            </p:txBody>
          </p:sp>
          <p:grpSp>
            <p:nvGrpSpPr>
              <p:cNvPr id="671" name="Google Shape;671;p35"/>
              <p:cNvGrpSpPr/>
              <p:nvPr/>
            </p:nvGrpSpPr>
            <p:grpSpPr>
              <a:xfrm>
                <a:off x="0" y="381000"/>
                <a:ext cx="5143650" cy="571500"/>
                <a:chOff x="0" y="0"/>
                <a:chExt cx="5143650" cy="571500"/>
              </a:xfrm>
            </p:grpSpPr>
            <p:grpSp>
              <p:nvGrpSpPr>
                <p:cNvPr id="672" name="Google Shape;672;p35"/>
                <p:cNvGrpSpPr/>
                <p:nvPr/>
              </p:nvGrpSpPr>
              <p:grpSpPr>
                <a:xfrm>
                  <a:off x="0" y="0"/>
                  <a:ext cx="5143650" cy="571500"/>
                  <a:chOff x="0" y="0"/>
                  <a:chExt cx="5143650" cy="571500"/>
                </a:xfrm>
              </p:grpSpPr>
              <p:sp>
                <p:nvSpPr>
                  <p:cNvPr id="673" name="Google Shape;673;p35"/>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4" name="Google Shape;674;p35"/>
                  <p:cNvSpPr txBox="1"/>
                  <p:nvPr/>
                </p:nvSpPr>
                <p:spPr>
                  <a:xfrm>
                    <a:off x="285750" y="0"/>
                    <a:ext cx="4857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375"/>
                      </a:spcAft>
                      <a:buNone/>
                    </a:pPr>
                    <a:r>
                      <a:rPr b="0" lang="en" sz="1500">
                        <a:solidFill>
                          <a:srgbClr val="374151"/>
                        </a:solidFill>
                        <a:latin typeface="Inter"/>
                        <a:ea typeface="Inter"/>
                        <a:cs typeface="Inter"/>
                        <a:sym typeface="Inter"/>
                      </a:rPr>
                      <a:t>[Bullet Point]</a:t>
                    </a:r>
                    <a:endParaRPr b="0" sz="1500">
                      <a:solidFill>
                        <a:srgbClr val="374151"/>
                      </a:solidFill>
                      <a:latin typeface="Inter"/>
                      <a:ea typeface="Inter"/>
                      <a:cs typeface="Inter"/>
                      <a:sym typeface="Inter"/>
                    </a:endParaRPr>
                  </a:p>
                </p:txBody>
              </p:sp>
            </p:grpSp>
            <p:sp>
              <p:nvSpPr>
                <p:cNvPr id="675" name="Google Shape;675;p35"/>
                <p:cNvSpPr txBox="1"/>
                <p:nvPr/>
              </p:nvSpPr>
              <p:spPr>
                <a:xfrm>
                  <a:off x="285750" y="0"/>
                  <a:ext cx="4857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SemiBold"/>
                      <a:ea typeface="Inter SemiBold"/>
                      <a:cs typeface="Inter SemiBold"/>
                      <a:sym typeface="Inter SemiBold"/>
                    </a:rPr>
                    <a:t>Anonymous:</a:t>
                  </a:r>
                  <a:r>
                    <a:rPr b="0" lang="en" sz="1500">
                      <a:solidFill>
                        <a:srgbClr val="374151"/>
                      </a:solidFill>
                      <a:latin typeface="Inter"/>
                      <a:ea typeface="Inter"/>
                      <a:cs typeface="Inter"/>
                      <a:sym typeface="Inter"/>
                    </a:rPr>
                    <a:t> They do not require a name.</a:t>
                  </a:r>
                  <a:endParaRPr b="0" sz="1500">
                    <a:solidFill>
                      <a:srgbClr val="374151"/>
                    </a:solidFill>
                    <a:latin typeface="Inter"/>
                    <a:ea typeface="Inter"/>
                    <a:cs typeface="Inter"/>
                    <a:sym typeface="Inter"/>
                  </a:endParaRPr>
                </a:p>
              </p:txBody>
            </p:sp>
          </p:grpSp>
          <p:grpSp>
            <p:nvGrpSpPr>
              <p:cNvPr id="676" name="Google Shape;676;p35"/>
              <p:cNvGrpSpPr/>
              <p:nvPr/>
            </p:nvGrpSpPr>
            <p:grpSpPr>
              <a:xfrm>
                <a:off x="0" y="809625"/>
                <a:ext cx="5143650" cy="571500"/>
                <a:chOff x="0" y="0"/>
                <a:chExt cx="5143650" cy="571500"/>
              </a:xfrm>
            </p:grpSpPr>
            <p:grpSp>
              <p:nvGrpSpPr>
                <p:cNvPr id="677" name="Google Shape;677;p35"/>
                <p:cNvGrpSpPr/>
                <p:nvPr/>
              </p:nvGrpSpPr>
              <p:grpSpPr>
                <a:xfrm>
                  <a:off x="0" y="0"/>
                  <a:ext cx="5143650" cy="571500"/>
                  <a:chOff x="0" y="0"/>
                  <a:chExt cx="5143650" cy="571500"/>
                </a:xfrm>
              </p:grpSpPr>
              <p:sp>
                <p:nvSpPr>
                  <p:cNvPr id="678" name="Google Shape;678;p35"/>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79" name="Google Shape;679;p35"/>
                  <p:cNvSpPr txBox="1"/>
                  <p:nvPr/>
                </p:nvSpPr>
                <p:spPr>
                  <a:xfrm>
                    <a:off x="285750" y="0"/>
                    <a:ext cx="4857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375"/>
                      </a:spcAft>
                      <a:buNone/>
                    </a:pPr>
                    <a:r>
                      <a:rPr b="0" lang="en" sz="1500">
                        <a:solidFill>
                          <a:srgbClr val="374151"/>
                        </a:solidFill>
                        <a:latin typeface="Inter"/>
                        <a:ea typeface="Inter"/>
                        <a:cs typeface="Inter"/>
                        <a:sym typeface="Inter"/>
                      </a:rPr>
                      <a:t>[Bullet Point]</a:t>
                    </a:r>
                    <a:endParaRPr b="0" sz="1500">
                      <a:solidFill>
                        <a:srgbClr val="374151"/>
                      </a:solidFill>
                      <a:latin typeface="Inter"/>
                      <a:ea typeface="Inter"/>
                      <a:cs typeface="Inter"/>
                      <a:sym typeface="Inter"/>
                    </a:endParaRPr>
                  </a:p>
                </p:txBody>
              </p:sp>
            </p:grpSp>
            <p:sp>
              <p:nvSpPr>
                <p:cNvPr id="680" name="Google Shape;680;p35"/>
                <p:cNvSpPr txBox="1"/>
                <p:nvPr/>
              </p:nvSpPr>
              <p:spPr>
                <a:xfrm>
                  <a:off x="285750" y="0"/>
                  <a:ext cx="4857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SemiBold"/>
                      <a:ea typeface="Inter SemiBold"/>
                      <a:cs typeface="Inter SemiBold"/>
                      <a:sym typeface="Inter SemiBold"/>
                    </a:rPr>
                    <a:t>Single Expression:</a:t>
                  </a:r>
                  <a:r>
                    <a:rPr b="0" lang="en" sz="1500">
                      <a:solidFill>
                        <a:srgbClr val="374151"/>
                      </a:solidFill>
                      <a:latin typeface="Inter"/>
                      <a:ea typeface="Inter"/>
                      <a:cs typeface="Inter"/>
                      <a:sym typeface="Inter"/>
                    </a:rPr>
                    <a:t> The body can only contain one evaluated expression, not a block of statements.</a:t>
                  </a:r>
                  <a:endParaRPr b="0" sz="1500">
                    <a:solidFill>
                      <a:srgbClr val="374151"/>
                    </a:solidFill>
                    <a:latin typeface="Inter"/>
                    <a:ea typeface="Inter"/>
                    <a:cs typeface="Inter"/>
                    <a:sym typeface="Inter"/>
                  </a:endParaRPr>
                </a:p>
              </p:txBody>
            </p:sp>
          </p:grpSp>
          <p:grpSp>
            <p:nvGrpSpPr>
              <p:cNvPr id="681" name="Google Shape;681;p35"/>
              <p:cNvGrpSpPr/>
              <p:nvPr/>
            </p:nvGrpSpPr>
            <p:grpSpPr>
              <a:xfrm>
                <a:off x="0" y="1428750"/>
                <a:ext cx="5143650" cy="571500"/>
                <a:chOff x="0" y="0"/>
                <a:chExt cx="5143650" cy="571500"/>
              </a:xfrm>
            </p:grpSpPr>
            <p:grpSp>
              <p:nvGrpSpPr>
                <p:cNvPr id="682" name="Google Shape;682;p35"/>
                <p:cNvGrpSpPr/>
                <p:nvPr/>
              </p:nvGrpSpPr>
              <p:grpSpPr>
                <a:xfrm>
                  <a:off x="0" y="0"/>
                  <a:ext cx="5143650" cy="571500"/>
                  <a:chOff x="0" y="0"/>
                  <a:chExt cx="5143650" cy="571500"/>
                </a:xfrm>
              </p:grpSpPr>
              <p:sp>
                <p:nvSpPr>
                  <p:cNvPr id="683" name="Google Shape;683;p35"/>
                  <p:cNvSpPr/>
                  <p:nvPr/>
                </p:nvSpPr>
                <p:spPr>
                  <a:xfrm>
                    <a:off x="0" y="7620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4" name="Google Shape;684;p35"/>
                  <p:cNvSpPr txBox="1"/>
                  <p:nvPr/>
                </p:nvSpPr>
                <p:spPr>
                  <a:xfrm>
                    <a:off x="285750" y="0"/>
                    <a:ext cx="48579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375"/>
                      </a:spcAft>
                      <a:buNone/>
                    </a:pPr>
                    <a:r>
                      <a:rPr b="0" lang="en" sz="1500">
                        <a:solidFill>
                          <a:srgbClr val="374151"/>
                        </a:solidFill>
                        <a:latin typeface="Inter"/>
                        <a:ea typeface="Inter"/>
                        <a:cs typeface="Inter"/>
                        <a:sym typeface="Inter"/>
                      </a:rPr>
                      <a:t>[Bullet Point]</a:t>
                    </a:r>
                    <a:endParaRPr b="0" sz="1500">
                      <a:solidFill>
                        <a:srgbClr val="374151"/>
                      </a:solidFill>
                      <a:latin typeface="Inter"/>
                      <a:ea typeface="Inter"/>
                      <a:cs typeface="Inter"/>
                      <a:sym typeface="Inter"/>
                    </a:endParaRPr>
                  </a:p>
                </p:txBody>
              </p:sp>
            </p:grpSp>
            <p:sp>
              <p:nvSpPr>
                <p:cNvPr id="685" name="Google Shape;685;p35"/>
                <p:cNvSpPr txBox="1"/>
                <p:nvPr/>
              </p:nvSpPr>
              <p:spPr>
                <a:xfrm>
                  <a:off x="285750" y="0"/>
                  <a:ext cx="48579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63">
                      <a:solidFill>
                        <a:srgbClr val="374151"/>
                      </a:solidFill>
                      <a:latin typeface="Inter SemiBold"/>
                      <a:ea typeface="Inter SemiBold"/>
                      <a:cs typeface="Inter SemiBold"/>
                      <a:sym typeface="Inter SemiBold"/>
                    </a:rPr>
                    <a:t>Implicit Return:</a:t>
                  </a:r>
                  <a:r>
                    <a:rPr b="0" lang="en" sz="1163">
                      <a:solidFill>
                        <a:srgbClr val="374151"/>
                      </a:solidFill>
                      <a:latin typeface="Inter"/>
                      <a:ea typeface="Inter"/>
                      <a:cs typeface="Inter"/>
                      <a:sym typeface="Inter"/>
                    </a:rPr>
                    <a:t> The result of the expression is automatically returned.</a:t>
                  </a:r>
                  <a:endParaRPr b="0" sz="1163">
                    <a:solidFill>
                      <a:srgbClr val="374151"/>
                    </a:solidFill>
                    <a:latin typeface="Inter"/>
                    <a:ea typeface="Inter"/>
                    <a:cs typeface="Inter"/>
                    <a:sym typeface="Inter"/>
                  </a:endParaRPr>
                </a:p>
              </p:txBody>
            </p:sp>
          </p:grpSp>
        </p:grpSp>
      </p:grpSp>
      <p:grpSp>
        <p:nvGrpSpPr>
          <p:cNvPr id="686" name="Google Shape;686;p35"/>
          <p:cNvGrpSpPr/>
          <p:nvPr/>
        </p:nvGrpSpPr>
        <p:grpSpPr>
          <a:xfrm>
            <a:off x="6286500" y="1524000"/>
            <a:ext cx="5143500" cy="3810150"/>
            <a:chOff x="0" y="0"/>
            <a:chExt cx="5143500" cy="3810150"/>
          </a:xfrm>
        </p:grpSpPr>
        <p:grpSp>
          <p:nvGrpSpPr>
            <p:cNvPr id="687" name="Google Shape;687;p35"/>
            <p:cNvGrpSpPr/>
            <p:nvPr/>
          </p:nvGrpSpPr>
          <p:grpSpPr>
            <a:xfrm>
              <a:off x="0" y="0"/>
              <a:ext cx="5143425" cy="952500"/>
              <a:chOff x="0" y="0"/>
              <a:chExt cx="5143425" cy="952500"/>
            </a:xfrm>
          </p:grpSpPr>
          <p:sp>
            <p:nvSpPr>
              <p:cNvPr id="688" name="Google Shape;688;p35"/>
              <p:cNvSpPr/>
              <p:nvPr/>
            </p:nvSpPr>
            <p:spPr>
              <a:xfrm>
                <a:off x="0" y="0"/>
                <a:ext cx="38100" cy="9525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9" name="Google Shape;689;p35"/>
              <p:cNvSpPr txBox="1"/>
              <p:nvPr/>
            </p:nvSpPr>
            <p:spPr>
              <a:xfrm>
                <a:off x="238125" y="0"/>
                <a:ext cx="49053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Syntax</a:t>
                </a:r>
                <a:endParaRPr b="1" sz="1200">
                  <a:solidFill>
                    <a:srgbClr val="D4A017"/>
                  </a:solidFill>
                  <a:latin typeface="Inter"/>
                  <a:ea typeface="Inter"/>
                  <a:cs typeface="Inter"/>
                  <a:sym typeface="Inter"/>
                </a:endParaRPr>
              </a:p>
            </p:txBody>
          </p:sp>
          <p:sp>
            <p:nvSpPr>
              <p:cNvPr id="690" name="Google Shape;690;p35"/>
              <p:cNvSpPr/>
              <p:nvPr/>
            </p:nvSpPr>
            <p:spPr>
              <a:xfrm>
                <a:off x="238125" y="285750"/>
                <a:ext cx="4905300" cy="571500"/>
              </a:xfrm>
              <a:prstGeom prst="roundRect">
                <a:avLst>
                  <a:gd fmla="val 13333"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91" name="Google Shape;691;p35"/>
              <p:cNvSpPr txBox="1"/>
              <p:nvPr/>
            </p:nvSpPr>
            <p:spPr>
              <a:xfrm>
                <a:off x="428625" y="428625"/>
                <a:ext cx="45243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600">
                    <a:solidFill>
                      <a:srgbClr val="045A36"/>
                    </a:solidFill>
                    <a:latin typeface="Inter"/>
                    <a:ea typeface="Inter"/>
                    <a:cs typeface="Inter"/>
                    <a:sym typeface="Inter"/>
                  </a:rPr>
                  <a:t>lambda</a:t>
                </a:r>
                <a:r>
                  <a:rPr b="0" lang="en" sz="1600">
                    <a:solidFill>
                      <a:srgbClr val="1F2937"/>
                    </a:solidFill>
                    <a:latin typeface="Inter Medium"/>
                    <a:ea typeface="Inter Medium"/>
                    <a:cs typeface="Inter Medium"/>
                    <a:sym typeface="Inter Medium"/>
                  </a:rPr>
                  <a:t> arguments : expression</a:t>
                </a:r>
                <a:endParaRPr b="0" sz="1600">
                  <a:solidFill>
                    <a:srgbClr val="1F2937"/>
                  </a:solidFill>
                  <a:latin typeface="Inter Medium"/>
                  <a:ea typeface="Inter Medium"/>
                  <a:cs typeface="Inter Medium"/>
                  <a:sym typeface="Inter Medium"/>
                </a:endParaRPr>
              </a:p>
            </p:txBody>
          </p:sp>
        </p:grpSp>
        <p:grpSp>
          <p:nvGrpSpPr>
            <p:cNvPr id="692" name="Google Shape;692;p35"/>
            <p:cNvGrpSpPr/>
            <p:nvPr/>
          </p:nvGrpSpPr>
          <p:grpSpPr>
            <a:xfrm>
              <a:off x="0" y="609600"/>
              <a:ext cx="5143500" cy="3200550"/>
              <a:chOff x="0" y="-628650"/>
              <a:chExt cx="5143500" cy="3200550"/>
            </a:xfrm>
          </p:grpSpPr>
          <p:sp>
            <p:nvSpPr>
              <p:cNvPr id="693" name="Google Shape;693;p35"/>
              <p:cNvSpPr/>
              <p:nvPr/>
            </p:nvSpPr>
            <p:spPr>
              <a:xfrm>
                <a:off x="0" y="0"/>
                <a:ext cx="5143500" cy="2571900"/>
              </a:xfrm>
              <a:prstGeom prst="roundRect">
                <a:avLst>
                  <a:gd fmla="val 4444"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694" name="Google Shape;694;p35"/>
              <p:cNvPicPr preferRelativeResize="0"/>
              <p:nvPr/>
            </p:nvPicPr>
            <p:blipFill rotWithShape="1">
              <a:blip r:embed="rId5">
                <a:alphaModFix/>
              </a:blip>
              <a:srcRect b="33581" l="0" r="0" t="0"/>
              <a:stretch/>
            </p:blipFill>
            <p:spPr>
              <a:xfrm>
                <a:off x="9525" y="-628650"/>
                <a:ext cx="5124600" cy="2552700"/>
              </a:xfrm>
              <a:prstGeom prst="roundRect">
                <a:avLst>
                  <a:gd fmla="val 4104" name="adj"/>
                </a:avLst>
              </a:prstGeom>
              <a:noFill/>
              <a:ln>
                <a:noFill/>
              </a:ln>
            </p:spPr>
          </p:pic>
          <p:pic>
            <p:nvPicPr>
              <p:cNvPr id="695" name="Google Shape;695;p35"/>
              <p:cNvPicPr preferRelativeResize="0"/>
              <p:nvPr/>
            </p:nvPicPr>
            <p:blipFill rotWithShape="1">
              <a:blip r:embed="rId6">
                <a:alphaModFix/>
              </a:blip>
              <a:srcRect b="0" l="0" r="0" t="0"/>
              <a:stretch/>
            </p:blipFill>
            <p:spPr>
              <a:xfrm>
                <a:off x="0" y="2190750"/>
                <a:ext cx="5143500" cy="381000"/>
              </a:xfrm>
              <a:prstGeom prst="rect">
                <a:avLst/>
              </a:prstGeom>
              <a:noFill/>
              <a:ln>
                <a:noFill/>
              </a:ln>
            </p:spPr>
          </p:pic>
          <p:sp>
            <p:nvSpPr>
              <p:cNvPr id="696" name="Google Shape;696;p35"/>
              <p:cNvSpPr txBox="1"/>
              <p:nvPr/>
            </p:nvSpPr>
            <p:spPr>
              <a:xfrm>
                <a:off x="190500" y="2266950"/>
                <a:ext cx="4762500" cy="2286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000">
                    <a:solidFill>
                      <a:srgbClr val="FFFFFF"/>
                    </a:solidFill>
                    <a:latin typeface="Inter"/>
                    <a:ea typeface="Inter"/>
                    <a:cs typeface="Inter"/>
                    <a:sym typeface="Inter"/>
                  </a:rPr>
                  <a:t>Fast Execution &amp; Functional Programming</a:t>
                </a:r>
                <a:endParaRPr b="1" sz="1000">
                  <a:solidFill>
                    <a:srgbClr val="FFFFFF"/>
                  </a:solidFill>
                  <a:latin typeface="Inter"/>
                  <a:ea typeface="Inter"/>
                  <a:cs typeface="Inter"/>
                  <a:sym typeface="Inter"/>
                </a:endParaRPr>
              </a:p>
            </p:txBody>
          </p:sp>
        </p:grpSp>
      </p:grpSp>
      <p:grpSp>
        <p:nvGrpSpPr>
          <p:cNvPr id="697" name="Google Shape;697;p35"/>
          <p:cNvGrpSpPr/>
          <p:nvPr/>
        </p:nvGrpSpPr>
        <p:grpSpPr>
          <a:xfrm>
            <a:off x="762000" y="5457825"/>
            <a:ext cx="11049000" cy="1019100"/>
            <a:chOff x="762000" y="5457825"/>
            <a:chExt cx="11049000" cy="1019100"/>
          </a:xfrm>
        </p:grpSpPr>
        <p:pic>
          <p:nvPicPr>
            <p:cNvPr id="698" name="Google Shape;698;p35"/>
            <p:cNvPicPr preferRelativeResize="0"/>
            <p:nvPr/>
          </p:nvPicPr>
          <p:blipFill rotWithShape="1">
            <a:blip r:embed="rId7">
              <a:alphaModFix/>
            </a:blip>
            <a:srcRect b="0" l="0" r="0" t="0"/>
            <a:stretch/>
          </p:blipFill>
          <p:spPr>
            <a:xfrm>
              <a:off x="10287000" y="5457825"/>
              <a:ext cx="1524000" cy="1019100"/>
            </a:xfrm>
            <a:prstGeom prst="rect">
              <a:avLst/>
            </a:prstGeom>
            <a:noFill/>
            <a:ln>
              <a:noFill/>
            </a:ln>
          </p:spPr>
        </p:pic>
        <p:sp>
          <p:nvSpPr>
            <p:cNvPr id="699" name="Google Shape;699;p35"/>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3" name="Shape 703"/>
        <p:cNvGrpSpPr/>
        <p:nvPr/>
      </p:nvGrpSpPr>
      <p:grpSpPr>
        <a:xfrm>
          <a:off x="0" y="0"/>
          <a:ext cx="0" cy="0"/>
          <a:chOff x="0" y="0"/>
          <a:chExt cx="0" cy="0"/>
        </a:xfrm>
      </p:grpSpPr>
      <p:sp>
        <p:nvSpPr>
          <p:cNvPr id="704" name="Google Shape;704;p36"/>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05" name="Google Shape;705;p36"/>
          <p:cNvGrpSpPr/>
          <p:nvPr/>
        </p:nvGrpSpPr>
        <p:grpSpPr>
          <a:xfrm>
            <a:off x="0" y="0"/>
            <a:ext cx="12192000" cy="6476925"/>
            <a:chOff x="0" y="0"/>
            <a:chExt cx="12192000" cy="6476925"/>
          </a:xfrm>
        </p:grpSpPr>
        <p:pic>
          <p:nvPicPr>
            <p:cNvPr id="706" name="Google Shape;706;p36"/>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707" name="Google Shape;707;p36"/>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Creating Lambda Functions</a:t>
              </a:r>
              <a:endParaRPr b="0" sz="2700">
                <a:solidFill>
                  <a:srgbClr val="045A36"/>
                </a:solidFill>
                <a:latin typeface="Montserrat SemiBold"/>
                <a:ea typeface="Montserrat SemiBold"/>
                <a:cs typeface="Montserrat SemiBold"/>
                <a:sym typeface="Montserrat SemiBold"/>
              </a:endParaRPr>
            </a:p>
          </p:txBody>
        </p:sp>
        <p:sp>
          <p:nvSpPr>
            <p:cNvPr id="708" name="Google Shape;708;p36"/>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09" name="Google Shape;709;p36"/>
            <p:cNvSpPr txBox="1"/>
            <p:nvPr/>
          </p:nvSpPr>
          <p:spPr>
            <a:xfrm>
              <a:off x="762000" y="1381125"/>
              <a:ext cx="10668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374151"/>
                  </a:solidFill>
                  <a:latin typeface="Inter"/>
                  <a:ea typeface="Inter"/>
                  <a:cs typeface="Inter"/>
                  <a:sym typeface="Inter"/>
                </a:rPr>
                <a:t>Lambda functions are often used when you need a simple function for a short period of time.</a:t>
              </a:r>
              <a:endParaRPr b="0" sz="1500">
                <a:solidFill>
                  <a:srgbClr val="374151"/>
                </a:solidFill>
                <a:latin typeface="Inter"/>
                <a:ea typeface="Inter"/>
                <a:cs typeface="Inter"/>
                <a:sym typeface="Inter"/>
              </a:endParaRPr>
            </a:p>
          </p:txBody>
        </p:sp>
        <p:grpSp>
          <p:nvGrpSpPr>
            <p:cNvPr id="710" name="Google Shape;710;p36"/>
            <p:cNvGrpSpPr/>
            <p:nvPr/>
          </p:nvGrpSpPr>
          <p:grpSpPr>
            <a:xfrm>
              <a:off x="762000" y="2095500"/>
              <a:ext cx="4953000" cy="2095500"/>
              <a:chOff x="0" y="0"/>
              <a:chExt cx="4953000" cy="2095500"/>
            </a:xfrm>
          </p:grpSpPr>
          <p:grpSp>
            <p:nvGrpSpPr>
              <p:cNvPr id="711" name="Google Shape;711;p36"/>
              <p:cNvGrpSpPr/>
              <p:nvPr/>
            </p:nvGrpSpPr>
            <p:grpSpPr>
              <a:xfrm>
                <a:off x="0" y="0"/>
                <a:ext cx="4905375" cy="238200"/>
                <a:chOff x="0" y="0"/>
                <a:chExt cx="4905375" cy="238200"/>
              </a:xfrm>
            </p:grpSpPr>
            <p:sp>
              <p:nvSpPr>
                <p:cNvPr id="712" name="Google Shape;712;p36"/>
                <p:cNvSpPr/>
                <p:nvPr/>
              </p:nvSpPr>
              <p:spPr>
                <a:xfrm>
                  <a:off x="0" y="0"/>
                  <a:ext cx="38100" cy="238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3" name="Google Shape;713;p36"/>
                <p:cNvSpPr txBox="1"/>
                <p:nvPr/>
              </p:nvSpPr>
              <p:spPr>
                <a:xfrm>
                  <a:off x="142875" y="0"/>
                  <a:ext cx="4762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Traditional Function</a:t>
                  </a:r>
                  <a:endParaRPr b="1" sz="1200">
                    <a:solidFill>
                      <a:srgbClr val="D4A017"/>
                    </a:solidFill>
                    <a:latin typeface="Inter"/>
                    <a:ea typeface="Inter"/>
                    <a:cs typeface="Inter"/>
                    <a:sym typeface="Inter"/>
                  </a:endParaRPr>
                </a:p>
              </p:txBody>
            </p:sp>
          </p:grpSp>
          <p:grpSp>
            <p:nvGrpSpPr>
              <p:cNvPr id="714" name="Google Shape;714;p36"/>
              <p:cNvGrpSpPr/>
              <p:nvPr/>
            </p:nvGrpSpPr>
            <p:grpSpPr>
              <a:xfrm>
                <a:off x="0" y="381000"/>
                <a:ext cx="4953000" cy="1714500"/>
                <a:chOff x="0" y="0"/>
                <a:chExt cx="4953000" cy="1714500"/>
              </a:xfrm>
            </p:grpSpPr>
            <p:grpSp>
              <p:nvGrpSpPr>
                <p:cNvPr id="715" name="Google Shape;715;p36"/>
                <p:cNvGrpSpPr/>
                <p:nvPr/>
              </p:nvGrpSpPr>
              <p:grpSpPr>
                <a:xfrm>
                  <a:off x="0" y="0"/>
                  <a:ext cx="4953000" cy="1714500"/>
                  <a:chOff x="0" y="0"/>
                  <a:chExt cx="4953000" cy="1714500"/>
                </a:xfrm>
              </p:grpSpPr>
              <p:sp>
                <p:nvSpPr>
                  <p:cNvPr id="716" name="Google Shape;716;p36"/>
                  <p:cNvSpPr/>
                  <p:nvPr/>
                </p:nvSpPr>
                <p:spPr>
                  <a:xfrm>
                    <a:off x="0" y="0"/>
                    <a:ext cx="4953000" cy="1714500"/>
                  </a:xfrm>
                  <a:prstGeom prst="roundRect">
                    <a:avLst>
                      <a:gd fmla="val 444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7" name="Google Shape;717;p36"/>
                  <p:cNvSpPr/>
                  <p:nvPr/>
                </p:nvSpPr>
                <p:spPr>
                  <a:xfrm>
                    <a:off x="0" y="0"/>
                    <a:ext cx="57300" cy="1714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18" name="Google Shape;718;p36"/>
                <p:cNvSpPr txBox="1"/>
                <p:nvPr/>
              </p:nvSpPr>
              <p:spPr>
                <a:xfrm>
                  <a:off x="238125" y="190500"/>
                  <a:ext cx="44769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045A36"/>
                      </a:solidFill>
                      <a:latin typeface="Inter Medium"/>
                      <a:ea typeface="Inter Medium"/>
                      <a:cs typeface="Inter Medium"/>
                      <a:sym typeface="Inter Medium"/>
                    </a:rPr>
                    <a:t>def </a:t>
                  </a:r>
                  <a:r>
                    <a:rPr b="0" lang="en" sz="1300">
                      <a:solidFill>
                        <a:srgbClr val="1F2937"/>
                      </a:solidFill>
                      <a:latin typeface="Inter Medium"/>
                      <a:ea typeface="Inter Medium"/>
                      <a:cs typeface="Inter Medium"/>
                      <a:sym typeface="Inter Medium"/>
                    </a:rPr>
                    <a:t>square(x):</a:t>
                  </a:r>
                  <a:endParaRPr b="0" sz="1300">
                    <a:solidFill>
                      <a:srgbClr val="045A36"/>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0B7A4B"/>
                      </a:solidFill>
                      <a:latin typeface="Inter Medium"/>
                      <a:ea typeface="Inter Medium"/>
                      <a:cs typeface="Inter Medium"/>
                      <a:sym typeface="Inter Medium"/>
                    </a:rPr>
                    <a:t>return </a:t>
                  </a:r>
                  <a:r>
                    <a:rPr b="0" lang="en" sz="1300">
                      <a:solidFill>
                        <a:srgbClr val="1F2937"/>
                      </a:solidFill>
                      <a:latin typeface="Inter Medium"/>
                      <a:ea typeface="Inter Medium"/>
                      <a:cs typeface="Inter Medium"/>
                      <a:sym typeface="Inter Medium"/>
                    </a:rPr>
                    <a:t>x * x</a:t>
                  </a:r>
                  <a:endParaRPr b="0" sz="1300">
                    <a:solidFill>
                      <a:srgbClr val="0B7A4B"/>
                    </a:solidFill>
                    <a:latin typeface="Inter Medium"/>
                    <a:ea typeface="Inter Medium"/>
                    <a:cs typeface="Inter Medium"/>
                    <a:sym typeface="Inter Medium"/>
                  </a:endParaRPr>
                </a:p>
                <a:p>
                  <a:pPr indent="0" lvl="0" marL="0" rtl="0" algn="l">
                    <a:spcBef>
                      <a:spcPts val="750"/>
                    </a:spcBef>
                    <a:spcAft>
                      <a:spcPts val="0"/>
                    </a:spcAft>
                    <a:buNone/>
                  </a:pPr>
                  <a:r>
                    <a:rPr b="0" lang="en" sz="1300">
                      <a:solidFill>
                        <a:srgbClr val="6B7280"/>
                      </a:solidFill>
                      <a:latin typeface="Inter Medium"/>
                      <a:ea typeface="Inter Medium"/>
                      <a:cs typeface="Inter Medium"/>
                      <a:sym typeface="Inter Medium"/>
                    </a:rPr>
                    <a:t>print</a:t>
                  </a:r>
                  <a:r>
                    <a:rPr b="0" lang="en" sz="1300">
                      <a:solidFill>
                        <a:srgbClr val="1F2937"/>
                      </a:solidFill>
                      <a:latin typeface="Inter Medium"/>
                      <a:ea typeface="Inter Medium"/>
                      <a:cs typeface="Inter Medium"/>
                      <a:sym typeface="Inter Medium"/>
                    </a:rPr>
                    <a:t>(square(5)) </a:t>
                  </a:r>
                  <a:r>
                    <a:rPr b="0" lang="en" sz="1300">
                      <a:solidFill>
                        <a:srgbClr val="6B7280"/>
                      </a:solidFill>
                      <a:latin typeface="Inter Medium"/>
                      <a:ea typeface="Inter Medium"/>
                      <a:cs typeface="Inter Medium"/>
                      <a:sym typeface="Inter Medium"/>
                    </a:rPr>
                    <a:t># Output: 25</a:t>
                  </a:r>
                  <a:endParaRPr b="0" sz="1300">
                    <a:solidFill>
                      <a:srgbClr val="6B7280"/>
                    </a:solidFill>
                    <a:latin typeface="Inter Medium"/>
                    <a:ea typeface="Inter Medium"/>
                    <a:cs typeface="Inter Medium"/>
                    <a:sym typeface="Inter Medium"/>
                  </a:endParaRPr>
                </a:p>
              </p:txBody>
            </p:sp>
          </p:grpSp>
        </p:grpSp>
        <p:sp>
          <p:nvSpPr>
            <p:cNvPr id="719" name="Google Shape;719;p36"/>
            <p:cNvSpPr/>
            <p:nvPr/>
          </p:nvSpPr>
          <p:spPr>
            <a:xfrm>
              <a:off x="6086475" y="2095500"/>
              <a:ext cx="19200" cy="3333900"/>
            </a:xfrm>
            <a:prstGeom prst="rect">
              <a:avLst/>
            </a:prstGeom>
            <a:solidFill>
              <a:srgbClr val="D4A017">
                <a:alpha val="5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20" name="Google Shape;720;p36"/>
            <p:cNvGrpSpPr/>
            <p:nvPr/>
          </p:nvGrpSpPr>
          <p:grpSpPr>
            <a:xfrm>
              <a:off x="6477000" y="2095500"/>
              <a:ext cx="4953000" cy="2095500"/>
              <a:chOff x="0" y="0"/>
              <a:chExt cx="4953000" cy="2095500"/>
            </a:xfrm>
          </p:grpSpPr>
          <p:grpSp>
            <p:nvGrpSpPr>
              <p:cNvPr id="721" name="Google Shape;721;p36"/>
              <p:cNvGrpSpPr/>
              <p:nvPr/>
            </p:nvGrpSpPr>
            <p:grpSpPr>
              <a:xfrm>
                <a:off x="0" y="0"/>
                <a:ext cx="4905375" cy="238200"/>
                <a:chOff x="0" y="0"/>
                <a:chExt cx="4905375" cy="238200"/>
              </a:xfrm>
            </p:grpSpPr>
            <p:sp>
              <p:nvSpPr>
                <p:cNvPr id="722" name="Google Shape;722;p36"/>
                <p:cNvSpPr/>
                <p:nvPr/>
              </p:nvSpPr>
              <p:spPr>
                <a:xfrm>
                  <a:off x="0" y="0"/>
                  <a:ext cx="38100" cy="2382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3" name="Google Shape;723;p36"/>
                <p:cNvSpPr txBox="1"/>
                <p:nvPr/>
              </p:nvSpPr>
              <p:spPr>
                <a:xfrm>
                  <a:off x="142875" y="0"/>
                  <a:ext cx="47625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Lambda Equivalent</a:t>
                  </a:r>
                  <a:endParaRPr b="1" sz="1200">
                    <a:solidFill>
                      <a:srgbClr val="D4A017"/>
                    </a:solidFill>
                    <a:latin typeface="Inter"/>
                    <a:ea typeface="Inter"/>
                    <a:cs typeface="Inter"/>
                    <a:sym typeface="Inter"/>
                  </a:endParaRPr>
                </a:p>
              </p:txBody>
            </p:sp>
          </p:grpSp>
          <p:grpSp>
            <p:nvGrpSpPr>
              <p:cNvPr id="724" name="Google Shape;724;p36"/>
              <p:cNvGrpSpPr/>
              <p:nvPr/>
            </p:nvGrpSpPr>
            <p:grpSpPr>
              <a:xfrm>
                <a:off x="0" y="381000"/>
                <a:ext cx="4953000" cy="1714500"/>
                <a:chOff x="0" y="0"/>
                <a:chExt cx="4953000" cy="1714500"/>
              </a:xfrm>
            </p:grpSpPr>
            <p:grpSp>
              <p:nvGrpSpPr>
                <p:cNvPr id="725" name="Google Shape;725;p36"/>
                <p:cNvGrpSpPr/>
                <p:nvPr/>
              </p:nvGrpSpPr>
              <p:grpSpPr>
                <a:xfrm>
                  <a:off x="0" y="0"/>
                  <a:ext cx="4953000" cy="1714500"/>
                  <a:chOff x="0" y="0"/>
                  <a:chExt cx="4953000" cy="1714500"/>
                </a:xfrm>
              </p:grpSpPr>
              <p:sp>
                <p:nvSpPr>
                  <p:cNvPr id="726" name="Google Shape;726;p36"/>
                  <p:cNvSpPr/>
                  <p:nvPr/>
                </p:nvSpPr>
                <p:spPr>
                  <a:xfrm>
                    <a:off x="0" y="0"/>
                    <a:ext cx="4953000" cy="1714500"/>
                  </a:xfrm>
                  <a:prstGeom prst="roundRect">
                    <a:avLst>
                      <a:gd fmla="val 444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7" name="Google Shape;727;p36"/>
                  <p:cNvSpPr/>
                  <p:nvPr/>
                </p:nvSpPr>
                <p:spPr>
                  <a:xfrm>
                    <a:off x="0" y="0"/>
                    <a:ext cx="57300" cy="1714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28" name="Google Shape;728;p36"/>
                <p:cNvSpPr txBox="1"/>
                <p:nvPr/>
              </p:nvSpPr>
              <p:spPr>
                <a:xfrm>
                  <a:off x="238125" y="190500"/>
                  <a:ext cx="44769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square_lambda = </a:t>
                  </a:r>
                  <a:r>
                    <a:rPr b="0" lang="en" sz="1300">
                      <a:solidFill>
                        <a:srgbClr val="045A36"/>
                      </a:solidFill>
                      <a:latin typeface="Inter Medium"/>
                      <a:ea typeface="Inter Medium"/>
                      <a:cs typeface="Inter Medium"/>
                      <a:sym typeface="Inter Medium"/>
                    </a:rPr>
                    <a:t>lambda</a:t>
                  </a:r>
                  <a:r>
                    <a:rPr b="0" lang="en" sz="1300">
                      <a:solidFill>
                        <a:srgbClr val="1F2937"/>
                      </a:solidFill>
                      <a:latin typeface="Inter Medium"/>
                      <a:ea typeface="Inter Medium"/>
                      <a:cs typeface="Inter Medium"/>
                      <a:sym typeface="Inter Medium"/>
                    </a:rPr>
                    <a:t> x: x * x</a:t>
                  </a:r>
                  <a:endParaRPr b="0" sz="1300">
                    <a:solidFill>
                      <a:srgbClr val="1F2937"/>
                    </a:solidFill>
                    <a:latin typeface="Inter Medium"/>
                    <a:ea typeface="Inter Medium"/>
                    <a:cs typeface="Inter Medium"/>
                    <a:sym typeface="Inter Medium"/>
                  </a:endParaRPr>
                </a:p>
                <a:p>
                  <a:pPr indent="0" lvl="0" marL="0" rtl="0" algn="l">
                    <a:spcBef>
                      <a:spcPts val="750"/>
                    </a:spcBef>
                    <a:spcAft>
                      <a:spcPts val="0"/>
                    </a:spcAft>
                    <a:buNone/>
                  </a:pPr>
                  <a:r>
                    <a:rPr b="0" lang="en" sz="1300">
                      <a:solidFill>
                        <a:srgbClr val="6B7280"/>
                      </a:solidFill>
                      <a:latin typeface="Inter Medium"/>
                      <a:ea typeface="Inter Medium"/>
                      <a:cs typeface="Inter Medium"/>
                      <a:sym typeface="Inter Medium"/>
                    </a:rPr>
                    <a:t>print</a:t>
                  </a:r>
                  <a:r>
                    <a:rPr b="0" lang="en" sz="1300">
                      <a:solidFill>
                        <a:srgbClr val="1F2937"/>
                      </a:solidFill>
                      <a:latin typeface="Inter Medium"/>
                      <a:ea typeface="Inter Medium"/>
                      <a:cs typeface="Inter Medium"/>
                      <a:sym typeface="Inter Medium"/>
                    </a:rPr>
                    <a:t>(square_lambda(5)) </a:t>
                  </a:r>
                  <a:r>
                    <a:rPr b="0" lang="en" sz="1300">
                      <a:solidFill>
                        <a:srgbClr val="6B7280"/>
                      </a:solidFill>
                      <a:latin typeface="Inter Medium"/>
                      <a:ea typeface="Inter Medium"/>
                      <a:cs typeface="Inter Medium"/>
                      <a:sym typeface="Inter Medium"/>
                    </a:rPr>
                    <a:t># Output: 25</a:t>
                  </a:r>
                  <a:endParaRPr b="0" sz="1300">
                    <a:solidFill>
                      <a:srgbClr val="6B7280"/>
                    </a:solidFill>
                    <a:latin typeface="Inter Medium"/>
                    <a:ea typeface="Inter Medium"/>
                    <a:cs typeface="Inter Medium"/>
                    <a:sym typeface="Inter Medium"/>
                  </a:endParaRPr>
                </a:p>
              </p:txBody>
            </p:sp>
          </p:grpSp>
        </p:grpSp>
        <p:grpSp>
          <p:nvGrpSpPr>
            <p:cNvPr id="729" name="Google Shape;729;p36"/>
            <p:cNvGrpSpPr/>
            <p:nvPr/>
          </p:nvGrpSpPr>
          <p:grpSpPr>
            <a:xfrm>
              <a:off x="4429125" y="4381500"/>
              <a:ext cx="3333900" cy="1428900"/>
              <a:chOff x="0" y="0"/>
              <a:chExt cx="3333900" cy="1428900"/>
            </a:xfrm>
          </p:grpSpPr>
          <p:sp>
            <p:nvSpPr>
              <p:cNvPr id="730" name="Google Shape;730;p36"/>
              <p:cNvSpPr/>
              <p:nvPr/>
            </p:nvSpPr>
            <p:spPr>
              <a:xfrm>
                <a:off x="0" y="0"/>
                <a:ext cx="3333900" cy="14289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31" name="Google Shape;731;p36"/>
              <p:cNvPicPr preferRelativeResize="0"/>
              <p:nvPr/>
            </p:nvPicPr>
            <p:blipFill rotWithShape="1">
              <a:blip r:embed="rId4">
                <a:alphaModFix/>
              </a:blip>
              <a:srcRect b="28569" l="0" r="0" t="28573"/>
              <a:stretch/>
            </p:blipFill>
            <p:spPr>
              <a:xfrm>
                <a:off x="0" y="0"/>
                <a:ext cx="3333900" cy="1428900"/>
              </a:xfrm>
              <a:prstGeom prst="roundRect">
                <a:avLst>
                  <a:gd fmla="val 8000" name="adj"/>
                </a:avLst>
              </a:prstGeom>
              <a:noFill/>
              <a:ln>
                <a:noFill/>
              </a:ln>
            </p:spPr>
          </p:pic>
          <p:sp>
            <p:nvSpPr>
              <p:cNvPr id="732" name="Google Shape;732;p36"/>
              <p:cNvSpPr/>
              <p:nvPr/>
            </p:nvSpPr>
            <p:spPr>
              <a:xfrm>
                <a:off x="0" y="1143000"/>
                <a:ext cx="3333900" cy="285900"/>
              </a:xfrm>
              <a:prstGeom prst="roundRect">
                <a:avLst>
                  <a:gd fmla="val 0" name="adj"/>
                </a:avLst>
              </a:prstGeom>
              <a:solidFill>
                <a:srgbClr val="045A36">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33" name="Google Shape;733;p36"/>
              <p:cNvSpPr txBox="1"/>
              <p:nvPr/>
            </p:nvSpPr>
            <p:spPr>
              <a:xfrm>
                <a:off x="0" y="1143000"/>
                <a:ext cx="33339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n" sz="900">
                    <a:solidFill>
                      <a:srgbClr val="FFFFFF"/>
                    </a:solidFill>
                    <a:latin typeface="Inter"/>
                    <a:ea typeface="Inter"/>
                    <a:cs typeface="Inter"/>
                    <a:sym typeface="Inter"/>
                  </a:rPr>
                  <a:t>Analogy: Specialized Tool vs. Multi-purpose Utility</a:t>
                </a:r>
                <a:endParaRPr sz="900">
                  <a:solidFill>
                    <a:srgbClr val="FFFFFF"/>
                  </a:solidFill>
                  <a:latin typeface="Inter"/>
                  <a:ea typeface="Inter"/>
                  <a:cs typeface="Inter"/>
                  <a:sym typeface="Inter"/>
                </a:endParaRPr>
              </a:p>
            </p:txBody>
          </p:sp>
        </p:grpSp>
        <p:grpSp>
          <p:nvGrpSpPr>
            <p:cNvPr id="734" name="Google Shape;734;p36"/>
            <p:cNvGrpSpPr/>
            <p:nvPr/>
          </p:nvGrpSpPr>
          <p:grpSpPr>
            <a:xfrm>
              <a:off x="762000" y="5457825"/>
              <a:ext cx="11049000" cy="1019100"/>
              <a:chOff x="762000" y="5457825"/>
              <a:chExt cx="11049000" cy="1019100"/>
            </a:xfrm>
          </p:grpSpPr>
          <p:pic>
            <p:nvPicPr>
              <p:cNvPr id="735" name="Google Shape;735;p36"/>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736" name="Google Shape;736;p36"/>
              <p:cNvSpPr txBox="1"/>
              <p:nvPr/>
            </p:nvSpPr>
            <p:spPr>
              <a:xfrm>
                <a:off x="762000" y="6134100"/>
                <a:ext cx="57150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Introduction of Electronics | Robotics and Automation Systems</a:t>
                </a:r>
                <a:endParaRPr b="0" sz="1000">
                  <a:solidFill>
                    <a:srgbClr val="6B7280"/>
                  </a:solidFill>
                  <a:latin typeface="Inter"/>
                  <a:ea typeface="Inter"/>
                  <a:cs typeface="Inter"/>
                  <a:sym typeface="Inter"/>
                </a:endParaRPr>
              </a:p>
            </p:txBody>
          </p:sp>
        </p:grpSp>
      </p:gr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0" name="Shape 740"/>
        <p:cNvGrpSpPr/>
        <p:nvPr/>
      </p:nvGrpSpPr>
      <p:grpSpPr>
        <a:xfrm>
          <a:off x="0" y="0"/>
          <a:ext cx="0" cy="0"/>
          <a:chOff x="0" y="0"/>
          <a:chExt cx="0" cy="0"/>
        </a:xfrm>
      </p:grpSpPr>
      <p:sp>
        <p:nvSpPr>
          <p:cNvPr id="741" name="Google Shape;741;p37"/>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42" name="Google Shape;742;p37"/>
          <p:cNvPicPr preferRelativeResize="0"/>
          <p:nvPr/>
        </p:nvPicPr>
        <p:blipFill rotWithShape="1">
          <a:blip r:embed="rId3">
            <a:alphaModFix/>
          </a:blip>
          <a:srcRect b="0" l="0" r="0" t="0"/>
          <a:stretch/>
        </p:blipFill>
        <p:spPr>
          <a:xfrm>
            <a:off x="0" y="0"/>
            <a:ext cx="12192000" cy="57300"/>
          </a:xfrm>
          <a:prstGeom prst="rect">
            <a:avLst/>
          </a:prstGeom>
          <a:noFill/>
          <a:ln>
            <a:noFill/>
          </a:ln>
        </p:spPr>
      </p:pic>
      <p:sp>
        <p:nvSpPr>
          <p:cNvPr id="743" name="Google Shape;743;p37"/>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Lambda with Higher-Order Functions</a:t>
            </a:r>
            <a:endParaRPr b="0" sz="2700">
              <a:solidFill>
                <a:srgbClr val="045A36"/>
              </a:solidFill>
              <a:latin typeface="Montserrat SemiBold"/>
              <a:ea typeface="Montserrat SemiBold"/>
              <a:cs typeface="Montserrat SemiBold"/>
              <a:sym typeface="Montserrat SemiBold"/>
            </a:endParaRPr>
          </a:p>
        </p:txBody>
      </p:sp>
      <p:sp>
        <p:nvSpPr>
          <p:cNvPr id="744" name="Google Shape;744;p37"/>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5" name="Google Shape;745;p37"/>
          <p:cNvSpPr txBox="1"/>
          <p:nvPr/>
        </p:nvSpPr>
        <p:spPr>
          <a:xfrm>
            <a:off x="762000" y="1381125"/>
            <a:ext cx="10668000" cy="381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163">
                <a:solidFill>
                  <a:srgbClr val="1F2937"/>
                </a:solidFill>
                <a:latin typeface="Inter SemiBold"/>
                <a:ea typeface="Inter SemiBold"/>
                <a:cs typeface="Inter SemiBold"/>
                <a:sym typeface="Inter SemiBold"/>
              </a:rPr>
              <a:t>Practical applications with map(), filter(), and sorted().</a:t>
            </a:r>
            <a:r>
              <a:rPr b="0" lang="en" sz="1163">
                <a:solidFill>
                  <a:srgbClr val="374151"/>
                </a:solidFill>
                <a:latin typeface="Inter"/>
                <a:ea typeface="Inter"/>
                <a:cs typeface="Inter"/>
                <a:sym typeface="Inter"/>
              </a:rPr>
              <a:t> Lambda functions shine when used inside functions that take other functions as arguments.</a:t>
            </a:r>
            <a:endParaRPr b="0" sz="1163">
              <a:solidFill>
                <a:srgbClr val="374151"/>
              </a:solidFill>
              <a:latin typeface="Inter"/>
              <a:ea typeface="Inter"/>
              <a:cs typeface="Inter"/>
              <a:sym typeface="Inter"/>
            </a:endParaRPr>
          </a:p>
        </p:txBody>
      </p:sp>
      <p:grpSp>
        <p:nvGrpSpPr>
          <p:cNvPr id="746" name="Google Shape;746;p37"/>
          <p:cNvGrpSpPr/>
          <p:nvPr/>
        </p:nvGrpSpPr>
        <p:grpSpPr>
          <a:xfrm>
            <a:off x="762000" y="2000250"/>
            <a:ext cx="4762500" cy="2143125"/>
            <a:chOff x="0" y="0"/>
            <a:chExt cx="4762500" cy="2143125"/>
          </a:xfrm>
        </p:grpSpPr>
        <p:grpSp>
          <p:nvGrpSpPr>
            <p:cNvPr id="747" name="Google Shape;747;p37"/>
            <p:cNvGrpSpPr/>
            <p:nvPr/>
          </p:nvGrpSpPr>
          <p:grpSpPr>
            <a:xfrm>
              <a:off x="0" y="0"/>
              <a:ext cx="4000500" cy="285900"/>
              <a:chOff x="0" y="0"/>
              <a:chExt cx="4000500" cy="285900"/>
            </a:xfrm>
          </p:grpSpPr>
          <p:sp>
            <p:nvSpPr>
              <p:cNvPr id="748" name="Google Shape;748;p37"/>
              <p:cNvSpPr/>
              <p:nvPr/>
            </p:nvSpPr>
            <p:spPr>
              <a:xfrm>
                <a:off x="0" y="0"/>
                <a:ext cx="38100" cy="2859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49" name="Google Shape;749;p37"/>
              <p:cNvSpPr txBox="1"/>
              <p:nvPr/>
            </p:nvSpPr>
            <p:spPr>
              <a:xfrm>
                <a:off x="190500" y="0"/>
                <a:ext cx="3810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USING FILTER() (KEEP EVEN NUMBERS)</a:t>
                </a:r>
                <a:endParaRPr b="1" sz="1200">
                  <a:solidFill>
                    <a:srgbClr val="D4A017"/>
                  </a:solidFill>
                  <a:latin typeface="Inter"/>
                  <a:ea typeface="Inter"/>
                  <a:cs typeface="Inter"/>
                  <a:sym typeface="Inter"/>
                </a:endParaRPr>
              </a:p>
            </p:txBody>
          </p:sp>
        </p:grpSp>
        <p:grpSp>
          <p:nvGrpSpPr>
            <p:cNvPr id="750" name="Google Shape;750;p37"/>
            <p:cNvGrpSpPr/>
            <p:nvPr/>
          </p:nvGrpSpPr>
          <p:grpSpPr>
            <a:xfrm>
              <a:off x="0" y="428625"/>
              <a:ext cx="4762500" cy="1714500"/>
              <a:chOff x="0" y="0"/>
              <a:chExt cx="4762500" cy="1714500"/>
            </a:xfrm>
          </p:grpSpPr>
          <p:grpSp>
            <p:nvGrpSpPr>
              <p:cNvPr id="751" name="Google Shape;751;p37"/>
              <p:cNvGrpSpPr/>
              <p:nvPr/>
            </p:nvGrpSpPr>
            <p:grpSpPr>
              <a:xfrm>
                <a:off x="0" y="0"/>
                <a:ext cx="4762500" cy="1714500"/>
                <a:chOff x="0" y="0"/>
                <a:chExt cx="4762500" cy="1714500"/>
              </a:xfrm>
            </p:grpSpPr>
            <p:sp>
              <p:nvSpPr>
                <p:cNvPr id="752" name="Google Shape;752;p37"/>
                <p:cNvSpPr/>
                <p:nvPr/>
              </p:nvSpPr>
              <p:spPr>
                <a:xfrm>
                  <a:off x="0" y="0"/>
                  <a:ext cx="4762500" cy="1714500"/>
                </a:xfrm>
                <a:prstGeom prst="roundRect">
                  <a:avLst>
                    <a:gd fmla="val 444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3" name="Google Shape;753;p37"/>
                <p:cNvSpPr/>
                <p:nvPr/>
              </p:nvSpPr>
              <p:spPr>
                <a:xfrm>
                  <a:off x="0" y="0"/>
                  <a:ext cx="57300" cy="1714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54" name="Google Shape;754;p37"/>
              <p:cNvSpPr txBox="1"/>
              <p:nvPr/>
            </p:nvSpPr>
            <p:spPr>
              <a:xfrm>
                <a:off x="238125" y="190500"/>
                <a:ext cx="4286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nums = [1, 2, 3, 4, 5, 6]</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evens = list(filter(lambda x: x % 2 == 0, nums))</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6B7280"/>
                    </a:solidFill>
                    <a:latin typeface="Inter Medium"/>
                    <a:ea typeface="Inter Medium"/>
                    <a:cs typeface="Inter Medium"/>
                    <a:sym typeface="Inter Medium"/>
                  </a:rPr>
                  <a:t># evens is [2, 4, 6]</a:t>
                </a:r>
                <a:endParaRPr b="0" sz="1300">
                  <a:solidFill>
                    <a:srgbClr val="6B7280"/>
                  </a:solidFill>
                  <a:latin typeface="Inter Medium"/>
                  <a:ea typeface="Inter Medium"/>
                  <a:cs typeface="Inter Medium"/>
                  <a:sym typeface="Inter Medium"/>
                </a:endParaRPr>
              </a:p>
            </p:txBody>
          </p:sp>
        </p:grpSp>
      </p:grpSp>
      <p:grpSp>
        <p:nvGrpSpPr>
          <p:cNvPr id="755" name="Google Shape;755;p37"/>
          <p:cNvGrpSpPr/>
          <p:nvPr/>
        </p:nvGrpSpPr>
        <p:grpSpPr>
          <a:xfrm>
            <a:off x="6286500" y="2000250"/>
            <a:ext cx="4762500" cy="2143125"/>
            <a:chOff x="0" y="0"/>
            <a:chExt cx="4762500" cy="2143125"/>
          </a:xfrm>
        </p:grpSpPr>
        <p:grpSp>
          <p:nvGrpSpPr>
            <p:cNvPr id="756" name="Google Shape;756;p37"/>
            <p:cNvGrpSpPr/>
            <p:nvPr/>
          </p:nvGrpSpPr>
          <p:grpSpPr>
            <a:xfrm>
              <a:off x="0" y="0"/>
              <a:ext cx="4000500" cy="285900"/>
              <a:chOff x="0" y="0"/>
              <a:chExt cx="4000500" cy="285900"/>
            </a:xfrm>
          </p:grpSpPr>
          <p:sp>
            <p:nvSpPr>
              <p:cNvPr id="757" name="Google Shape;757;p37"/>
              <p:cNvSpPr/>
              <p:nvPr/>
            </p:nvSpPr>
            <p:spPr>
              <a:xfrm>
                <a:off x="0" y="0"/>
                <a:ext cx="38100" cy="2859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58" name="Google Shape;758;p37"/>
              <p:cNvSpPr txBox="1"/>
              <p:nvPr/>
            </p:nvSpPr>
            <p:spPr>
              <a:xfrm>
                <a:off x="190500" y="0"/>
                <a:ext cx="3810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 sz="1200">
                    <a:solidFill>
                      <a:srgbClr val="D4A017"/>
                    </a:solidFill>
                    <a:latin typeface="Inter"/>
                    <a:ea typeface="Inter"/>
                    <a:cs typeface="Inter"/>
                    <a:sym typeface="Inter"/>
                  </a:rPr>
                  <a:t>USING MAP() (DOUBLE THE NUMBERS)</a:t>
                </a:r>
                <a:endParaRPr b="1" sz="1200">
                  <a:solidFill>
                    <a:srgbClr val="D4A017"/>
                  </a:solidFill>
                  <a:latin typeface="Inter"/>
                  <a:ea typeface="Inter"/>
                  <a:cs typeface="Inter"/>
                  <a:sym typeface="Inter"/>
                </a:endParaRPr>
              </a:p>
            </p:txBody>
          </p:sp>
        </p:grpSp>
        <p:grpSp>
          <p:nvGrpSpPr>
            <p:cNvPr id="759" name="Google Shape;759;p37"/>
            <p:cNvGrpSpPr/>
            <p:nvPr/>
          </p:nvGrpSpPr>
          <p:grpSpPr>
            <a:xfrm>
              <a:off x="0" y="428625"/>
              <a:ext cx="4762500" cy="1714500"/>
              <a:chOff x="0" y="0"/>
              <a:chExt cx="4762500" cy="1714500"/>
            </a:xfrm>
          </p:grpSpPr>
          <p:grpSp>
            <p:nvGrpSpPr>
              <p:cNvPr id="760" name="Google Shape;760;p37"/>
              <p:cNvGrpSpPr/>
              <p:nvPr/>
            </p:nvGrpSpPr>
            <p:grpSpPr>
              <a:xfrm>
                <a:off x="0" y="0"/>
                <a:ext cx="4762500" cy="1714500"/>
                <a:chOff x="0" y="0"/>
                <a:chExt cx="4762500" cy="1714500"/>
              </a:xfrm>
            </p:grpSpPr>
            <p:sp>
              <p:nvSpPr>
                <p:cNvPr id="761" name="Google Shape;761;p37"/>
                <p:cNvSpPr/>
                <p:nvPr/>
              </p:nvSpPr>
              <p:spPr>
                <a:xfrm>
                  <a:off x="0" y="0"/>
                  <a:ext cx="4762500" cy="1714500"/>
                </a:xfrm>
                <a:prstGeom prst="roundRect">
                  <a:avLst>
                    <a:gd fmla="val 4444" name="adj"/>
                  </a:avLst>
                </a:prstGeom>
                <a:solidFill>
                  <a:srgbClr val="F1F5F9"/>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2" name="Google Shape;762;p37"/>
                <p:cNvSpPr/>
                <p:nvPr/>
              </p:nvSpPr>
              <p:spPr>
                <a:xfrm>
                  <a:off x="0" y="0"/>
                  <a:ext cx="57300" cy="1714500"/>
                </a:xfrm>
                <a:prstGeom prst="roundRect">
                  <a:avLst>
                    <a:gd fmla="val 50000" name="adj"/>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sp>
            <p:nvSpPr>
              <p:cNvPr id="763" name="Google Shape;763;p37"/>
              <p:cNvSpPr txBox="1"/>
              <p:nvPr/>
            </p:nvSpPr>
            <p:spPr>
              <a:xfrm>
                <a:off x="238125" y="190500"/>
                <a:ext cx="4286400" cy="1333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300">
                    <a:solidFill>
                      <a:srgbClr val="1F2937"/>
                    </a:solidFill>
                    <a:latin typeface="Inter Medium"/>
                    <a:ea typeface="Inter Medium"/>
                    <a:cs typeface="Inter Medium"/>
                    <a:sym typeface="Inter Medium"/>
                  </a:rPr>
                  <a:t>nums = [1, 2, 3, 4, 5, 6]</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1F2937"/>
                    </a:solidFill>
                    <a:latin typeface="Inter Medium"/>
                    <a:ea typeface="Inter Medium"/>
                    <a:cs typeface="Inter Medium"/>
                    <a:sym typeface="Inter Medium"/>
                  </a:rPr>
                  <a:t>doubled = list(map(lambda x: x * 2, nums))</a:t>
                </a:r>
                <a:endParaRPr b="0" sz="1300">
                  <a:solidFill>
                    <a:srgbClr val="1F2937"/>
                  </a:solidFill>
                  <a:latin typeface="Inter Medium"/>
                  <a:ea typeface="Inter Medium"/>
                  <a:cs typeface="Inter Medium"/>
                  <a:sym typeface="Inter Medium"/>
                </a:endParaRPr>
              </a:p>
              <a:p>
                <a:pPr indent="0" lvl="0" marL="0" rtl="0" algn="l">
                  <a:spcBef>
                    <a:spcPts val="600"/>
                  </a:spcBef>
                  <a:spcAft>
                    <a:spcPts val="0"/>
                  </a:spcAft>
                  <a:buNone/>
                </a:pPr>
                <a:r>
                  <a:rPr b="0" lang="en" sz="1300">
                    <a:solidFill>
                      <a:srgbClr val="6B7280"/>
                    </a:solidFill>
                    <a:latin typeface="Inter Medium"/>
                    <a:ea typeface="Inter Medium"/>
                    <a:cs typeface="Inter Medium"/>
                    <a:sym typeface="Inter Medium"/>
                  </a:rPr>
                  <a:t># doubled is [2, 4, 6, 8, 10, 12]</a:t>
                </a:r>
                <a:endParaRPr b="0" sz="1300">
                  <a:solidFill>
                    <a:srgbClr val="6B7280"/>
                  </a:solidFill>
                  <a:latin typeface="Inter Medium"/>
                  <a:ea typeface="Inter Medium"/>
                  <a:cs typeface="Inter Medium"/>
                  <a:sym typeface="Inter Medium"/>
                </a:endParaRPr>
              </a:p>
            </p:txBody>
          </p:sp>
        </p:grpSp>
      </p:grpSp>
      <p:pic>
        <p:nvPicPr>
          <p:cNvPr id="764" name="Google Shape;764;p37"/>
          <p:cNvPicPr preferRelativeResize="0"/>
          <p:nvPr/>
        </p:nvPicPr>
        <p:blipFill rotWithShape="1">
          <a:blip r:embed="rId4">
            <a:alphaModFix/>
          </a:blip>
          <a:srcRect b="0" l="0" r="0" t="0"/>
          <a:stretch/>
        </p:blipFill>
        <p:spPr>
          <a:xfrm>
            <a:off x="3810000" y="4095750"/>
            <a:ext cx="4572000" cy="2571900"/>
          </a:xfrm>
          <a:prstGeom prst="rect">
            <a:avLst/>
          </a:prstGeom>
          <a:noFill/>
          <a:ln>
            <a:noFill/>
          </a:ln>
        </p:spPr>
      </p:pic>
      <p:grpSp>
        <p:nvGrpSpPr>
          <p:cNvPr id="765" name="Google Shape;765;p37"/>
          <p:cNvGrpSpPr/>
          <p:nvPr/>
        </p:nvGrpSpPr>
        <p:grpSpPr>
          <a:xfrm>
            <a:off x="762000" y="5457825"/>
            <a:ext cx="11049000" cy="1019100"/>
            <a:chOff x="762000" y="5457825"/>
            <a:chExt cx="11049000" cy="1019100"/>
          </a:xfrm>
        </p:grpSpPr>
        <p:pic>
          <p:nvPicPr>
            <p:cNvPr id="766" name="Google Shape;766;p37"/>
            <p:cNvPicPr preferRelativeResize="0"/>
            <p:nvPr/>
          </p:nvPicPr>
          <p:blipFill rotWithShape="1">
            <a:blip r:embed="rId5">
              <a:alphaModFix/>
            </a:blip>
            <a:srcRect b="0" l="0" r="0" t="0"/>
            <a:stretch/>
          </p:blipFill>
          <p:spPr>
            <a:xfrm>
              <a:off x="10287000" y="5457825"/>
              <a:ext cx="1524000" cy="1019100"/>
            </a:xfrm>
            <a:prstGeom prst="rect">
              <a:avLst/>
            </a:prstGeom>
            <a:noFill/>
            <a:ln>
              <a:noFill/>
            </a:ln>
          </p:spPr>
        </p:pic>
        <p:sp>
          <p:nvSpPr>
            <p:cNvPr id="767" name="Google Shape;767;p37"/>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p38"/>
          <p:cNvSpPr/>
          <p:nvPr/>
        </p:nvSpPr>
        <p:spPr>
          <a:xfrm>
            <a:off x="0" y="0"/>
            <a:ext cx="12192000" cy="6858000"/>
          </a:xfrm>
          <a:prstGeom prst="rect">
            <a:avLst/>
          </a:prstGeom>
          <a:solidFill>
            <a:srgbClr val="F8FAFC"/>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3" name="Google Shape;773;p38"/>
          <p:cNvSpPr/>
          <p:nvPr/>
        </p:nvSpPr>
        <p:spPr>
          <a:xfrm>
            <a:off x="0" y="0"/>
            <a:ext cx="12192000" cy="57300"/>
          </a:xfrm>
          <a:prstGeom prst="rect">
            <a:avLst/>
          </a:prstGeom>
          <a:solidFill>
            <a:srgbClr val="045A3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4" name="Google Shape;774;p38"/>
          <p:cNvSpPr txBox="1"/>
          <p:nvPr/>
        </p:nvSpPr>
        <p:spPr>
          <a:xfrm>
            <a:off x="762000" y="571500"/>
            <a:ext cx="9525000" cy="428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2700">
                <a:solidFill>
                  <a:srgbClr val="045A36"/>
                </a:solidFill>
                <a:latin typeface="Montserrat SemiBold"/>
                <a:ea typeface="Montserrat SemiBold"/>
                <a:cs typeface="Montserrat SemiBold"/>
                <a:sym typeface="Montserrat SemiBold"/>
              </a:rPr>
              <a:t>Summary &amp; Key Takeaways</a:t>
            </a:r>
            <a:endParaRPr b="0" sz="2700">
              <a:solidFill>
                <a:srgbClr val="045A36"/>
              </a:solidFill>
              <a:latin typeface="Montserrat SemiBold"/>
              <a:ea typeface="Montserrat SemiBold"/>
              <a:cs typeface="Montserrat SemiBold"/>
              <a:sym typeface="Montserrat SemiBold"/>
            </a:endParaRPr>
          </a:p>
        </p:txBody>
      </p:sp>
      <p:sp>
        <p:nvSpPr>
          <p:cNvPr id="775" name="Google Shape;775;p38"/>
          <p:cNvSpPr/>
          <p:nvPr/>
        </p:nvSpPr>
        <p:spPr>
          <a:xfrm>
            <a:off x="762000" y="1123950"/>
            <a:ext cx="10668000" cy="19200"/>
          </a:xfrm>
          <a:prstGeom prst="rect">
            <a:avLst/>
          </a:prstGeom>
          <a:solidFill>
            <a:srgbClr val="E2E8F0"/>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776" name="Google Shape;776;p38"/>
          <p:cNvGrpSpPr/>
          <p:nvPr/>
        </p:nvGrpSpPr>
        <p:grpSpPr>
          <a:xfrm>
            <a:off x="762000" y="1524000"/>
            <a:ext cx="5429250" cy="3238500"/>
            <a:chOff x="0" y="0"/>
            <a:chExt cx="5429250" cy="3238500"/>
          </a:xfrm>
        </p:grpSpPr>
        <p:grpSp>
          <p:nvGrpSpPr>
            <p:cNvPr id="777" name="Google Shape;777;p38"/>
            <p:cNvGrpSpPr/>
            <p:nvPr/>
          </p:nvGrpSpPr>
          <p:grpSpPr>
            <a:xfrm>
              <a:off x="0" y="0"/>
              <a:ext cx="5429250" cy="762000"/>
              <a:chOff x="0" y="0"/>
              <a:chExt cx="5429250" cy="762000"/>
            </a:xfrm>
          </p:grpSpPr>
          <p:sp>
            <p:nvSpPr>
              <p:cNvPr id="778" name="Google Shape;778;p38"/>
              <p:cNvSpPr/>
              <p:nvPr/>
            </p:nvSpPr>
            <p:spPr>
              <a:xfrm>
                <a:off x="0" y="952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9" name="Google Shape;779;p38"/>
              <p:cNvSpPr txBox="1"/>
              <p:nvPr/>
            </p:nvSpPr>
            <p:spPr>
              <a:xfrm>
                <a:off x="285750" y="0"/>
                <a:ext cx="5143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Core Concept:</a:t>
                </a:r>
                <a:r>
                  <a:rPr b="0" lang="en" sz="1500">
                    <a:solidFill>
                      <a:srgbClr val="374151"/>
                    </a:solidFill>
                    <a:latin typeface="Inter"/>
                    <a:ea typeface="Inter"/>
                    <a:cs typeface="Inter"/>
                    <a:sym typeface="Inter"/>
                  </a:rPr>
                  <a:t> Functions are reusable blocks of code that improve organization and reduce duplication.</a:t>
                </a:r>
                <a:endParaRPr b="0" sz="1500">
                  <a:solidFill>
                    <a:srgbClr val="374151"/>
                  </a:solidFill>
                  <a:latin typeface="Inter"/>
                  <a:ea typeface="Inter"/>
                  <a:cs typeface="Inter"/>
                  <a:sym typeface="Inter"/>
                </a:endParaRPr>
              </a:p>
            </p:txBody>
          </p:sp>
        </p:grpSp>
        <p:grpSp>
          <p:nvGrpSpPr>
            <p:cNvPr id="780" name="Google Shape;780;p38"/>
            <p:cNvGrpSpPr/>
            <p:nvPr/>
          </p:nvGrpSpPr>
          <p:grpSpPr>
            <a:xfrm>
              <a:off x="0" y="952500"/>
              <a:ext cx="5429250" cy="571500"/>
              <a:chOff x="0" y="0"/>
              <a:chExt cx="5429250" cy="571500"/>
            </a:xfrm>
          </p:grpSpPr>
          <p:sp>
            <p:nvSpPr>
              <p:cNvPr id="781" name="Google Shape;781;p38"/>
              <p:cNvSpPr/>
              <p:nvPr/>
            </p:nvSpPr>
            <p:spPr>
              <a:xfrm>
                <a:off x="0" y="952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2" name="Google Shape;782;p38"/>
              <p:cNvSpPr txBox="1"/>
              <p:nvPr/>
            </p:nvSpPr>
            <p:spPr>
              <a:xfrm>
                <a:off x="285750" y="0"/>
                <a:ext cx="5143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Creation:</a:t>
                </a:r>
                <a:r>
                  <a:rPr b="0" lang="en" sz="1500">
                    <a:solidFill>
                      <a:srgbClr val="374151"/>
                    </a:solidFill>
                    <a:latin typeface="Inter"/>
                    <a:ea typeface="Inter"/>
                    <a:cs typeface="Inter"/>
                    <a:sym typeface="Inter"/>
                  </a:rPr>
                  <a:t> Defined using the </a:t>
                </a:r>
                <a:r>
                  <a:rPr b="0" lang="en" sz="1500">
                    <a:solidFill>
                      <a:srgbClr val="374151"/>
                    </a:solidFill>
                    <a:latin typeface="Arial"/>
                    <a:ea typeface="Arial"/>
                    <a:cs typeface="Arial"/>
                    <a:sym typeface="Arial"/>
                  </a:rPr>
                  <a:t>def</a:t>
                </a:r>
                <a:r>
                  <a:rPr b="0" lang="en" sz="1500">
                    <a:solidFill>
                      <a:srgbClr val="374151"/>
                    </a:solidFill>
                    <a:latin typeface="Inter"/>
                    <a:ea typeface="Inter"/>
                    <a:cs typeface="Inter"/>
                    <a:sym typeface="Inter"/>
                  </a:rPr>
                  <a:t> keyword, executed via function calls.</a:t>
                </a:r>
                <a:endParaRPr b="0" sz="1500">
                  <a:solidFill>
                    <a:srgbClr val="374151"/>
                  </a:solidFill>
                  <a:latin typeface="Inter"/>
                  <a:ea typeface="Inter"/>
                  <a:cs typeface="Inter"/>
                  <a:sym typeface="Inter"/>
                </a:endParaRPr>
              </a:p>
            </p:txBody>
          </p:sp>
        </p:grpSp>
        <p:grpSp>
          <p:nvGrpSpPr>
            <p:cNvPr id="783" name="Google Shape;783;p38"/>
            <p:cNvGrpSpPr/>
            <p:nvPr/>
          </p:nvGrpSpPr>
          <p:grpSpPr>
            <a:xfrm>
              <a:off x="0" y="1714500"/>
              <a:ext cx="5429250" cy="571500"/>
              <a:chOff x="0" y="0"/>
              <a:chExt cx="5429250" cy="571500"/>
            </a:xfrm>
          </p:grpSpPr>
          <p:sp>
            <p:nvSpPr>
              <p:cNvPr id="784" name="Google Shape;784;p38"/>
              <p:cNvSpPr/>
              <p:nvPr/>
            </p:nvSpPr>
            <p:spPr>
              <a:xfrm>
                <a:off x="0" y="952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5" name="Google Shape;785;p38"/>
              <p:cNvSpPr txBox="1"/>
              <p:nvPr/>
            </p:nvSpPr>
            <p:spPr>
              <a:xfrm>
                <a:off x="285750" y="0"/>
                <a:ext cx="51435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Data Flow:</a:t>
                </a:r>
                <a:r>
                  <a:rPr b="0" lang="en" sz="1500">
                    <a:solidFill>
                      <a:srgbClr val="374151"/>
                    </a:solidFill>
                    <a:latin typeface="Inter"/>
                    <a:ea typeface="Inter"/>
                    <a:cs typeface="Inter"/>
                    <a:sym typeface="Inter"/>
                  </a:rPr>
                  <a:t> Use parameters to pass data in, and return statements to get data out.</a:t>
                </a:r>
                <a:endParaRPr b="0" sz="1500">
                  <a:solidFill>
                    <a:srgbClr val="374151"/>
                  </a:solidFill>
                  <a:latin typeface="Inter"/>
                  <a:ea typeface="Inter"/>
                  <a:cs typeface="Inter"/>
                  <a:sym typeface="Inter"/>
                </a:endParaRPr>
              </a:p>
            </p:txBody>
          </p:sp>
        </p:grpSp>
        <p:grpSp>
          <p:nvGrpSpPr>
            <p:cNvPr id="786" name="Google Shape;786;p38"/>
            <p:cNvGrpSpPr/>
            <p:nvPr/>
          </p:nvGrpSpPr>
          <p:grpSpPr>
            <a:xfrm>
              <a:off x="0" y="2476500"/>
              <a:ext cx="5429250" cy="762000"/>
              <a:chOff x="0" y="0"/>
              <a:chExt cx="5429250" cy="762000"/>
            </a:xfrm>
          </p:grpSpPr>
          <p:sp>
            <p:nvSpPr>
              <p:cNvPr id="787" name="Google Shape;787;p38"/>
              <p:cNvSpPr/>
              <p:nvPr/>
            </p:nvSpPr>
            <p:spPr>
              <a:xfrm>
                <a:off x="0" y="952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8" name="Google Shape;788;p38"/>
              <p:cNvSpPr txBox="1"/>
              <p:nvPr/>
            </p:nvSpPr>
            <p:spPr>
              <a:xfrm>
                <a:off x="285750" y="0"/>
                <a:ext cx="5143500" cy="762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Flexibility:</a:t>
                </a:r>
                <a:r>
                  <a:rPr b="0" lang="en" sz="1500">
                    <a:solidFill>
                      <a:srgbClr val="374151"/>
                    </a:solidFill>
                    <a:latin typeface="Inter"/>
                    <a:ea typeface="Inter"/>
                    <a:cs typeface="Inter"/>
                    <a:sym typeface="Inter"/>
                  </a:rPr>
                  <a:t> Python supports positional, keyword, default, and arbitrary arguments (*args, **kwargs).</a:t>
                </a:r>
                <a:endParaRPr b="0" sz="1500">
                  <a:solidFill>
                    <a:srgbClr val="374151"/>
                  </a:solidFill>
                  <a:latin typeface="Inter"/>
                  <a:ea typeface="Inter"/>
                  <a:cs typeface="Inter"/>
                  <a:sym typeface="Inter"/>
                </a:endParaRPr>
              </a:p>
            </p:txBody>
          </p:sp>
        </p:grpSp>
      </p:grpSp>
      <p:grpSp>
        <p:nvGrpSpPr>
          <p:cNvPr id="789" name="Google Shape;789;p38"/>
          <p:cNvGrpSpPr/>
          <p:nvPr/>
        </p:nvGrpSpPr>
        <p:grpSpPr>
          <a:xfrm>
            <a:off x="6477000" y="1524000"/>
            <a:ext cx="4953150" cy="3810000"/>
            <a:chOff x="0" y="0"/>
            <a:chExt cx="4953150" cy="3810000"/>
          </a:xfrm>
        </p:grpSpPr>
        <p:sp>
          <p:nvSpPr>
            <p:cNvPr id="790" name="Google Shape;790;p38"/>
            <p:cNvSpPr/>
            <p:nvPr/>
          </p:nvSpPr>
          <p:spPr>
            <a:xfrm>
              <a:off x="0" y="0"/>
              <a:ext cx="4953000" cy="1905000"/>
            </a:xfrm>
            <a:prstGeom prst="roundRect">
              <a:avLst>
                <a:gd fmla="val 6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791" name="Google Shape;791;p38"/>
            <p:cNvPicPr preferRelativeResize="0"/>
            <p:nvPr/>
          </p:nvPicPr>
          <p:blipFill rotWithShape="1">
            <a:blip r:embed="rId3">
              <a:alphaModFix/>
            </a:blip>
            <a:srcRect b="25997" l="0" r="0" t="26002"/>
            <a:stretch/>
          </p:blipFill>
          <p:spPr>
            <a:xfrm>
              <a:off x="95250" y="95250"/>
              <a:ext cx="4762500" cy="1714500"/>
            </a:xfrm>
            <a:prstGeom prst="roundRect">
              <a:avLst>
                <a:gd fmla="val 4444" name="adj"/>
              </a:avLst>
            </a:prstGeom>
            <a:noFill/>
            <a:ln>
              <a:noFill/>
            </a:ln>
          </p:spPr>
        </p:pic>
        <p:grpSp>
          <p:nvGrpSpPr>
            <p:cNvPr id="792" name="Google Shape;792;p38"/>
            <p:cNvGrpSpPr/>
            <p:nvPr/>
          </p:nvGrpSpPr>
          <p:grpSpPr>
            <a:xfrm>
              <a:off x="0" y="2095500"/>
              <a:ext cx="4953150" cy="571500"/>
              <a:chOff x="0" y="0"/>
              <a:chExt cx="4953150" cy="571500"/>
            </a:xfrm>
          </p:grpSpPr>
          <p:sp>
            <p:nvSpPr>
              <p:cNvPr id="793" name="Google Shape;793;p38"/>
              <p:cNvSpPr/>
              <p:nvPr/>
            </p:nvSpPr>
            <p:spPr>
              <a:xfrm>
                <a:off x="0" y="952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4" name="Google Shape;794;p38"/>
              <p:cNvSpPr txBox="1"/>
              <p:nvPr/>
            </p:nvSpPr>
            <p:spPr>
              <a:xfrm>
                <a:off x="285750" y="0"/>
                <a:ext cx="46674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Scope:</a:t>
                </a:r>
                <a:r>
                  <a:rPr b="0" lang="en" sz="1500">
                    <a:solidFill>
                      <a:srgbClr val="374151"/>
                    </a:solidFill>
                    <a:latin typeface="Inter"/>
                    <a:ea typeface="Inter"/>
                    <a:cs typeface="Inter"/>
                    <a:sym typeface="Inter"/>
                  </a:rPr>
                  <a:t> Variables can be local (inside a function) or global (script-wide).</a:t>
                </a:r>
                <a:endParaRPr b="0" sz="1500">
                  <a:solidFill>
                    <a:srgbClr val="374151"/>
                  </a:solidFill>
                  <a:latin typeface="Inter"/>
                  <a:ea typeface="Inter"/>
                  <a:cs typeface="Inter"/>
                  <a:sym typeface="Inter"/>
                </a:endParaRPr>
              </a:p>
            </p:txBody>
          </p:sp>
        </p:grpSp>
        <p:grpSp>
          <p:nvGrpSpPr>
            <p:cNvPr id="795" name="Google Shape;795;p38"/>
            <p:cNvGrpSpPr/>
            <p:nvPr/>
          </p:nvGrpSpPr>
          <p:grpSpPr>
            <a:xfrm>
              <a:off x="0" y="2857500"/>
              <a:ext cx="4953150" cy="952500"/>
              <a:chOff x="0" y="0"/>
              <a:chExt cx="4953150" cy="952500"/>
            </a:xfrm>
          </p:grpSpPr>
          <p:sp>
            <p:nvSpPr>
              <p:cNvPr id="796" name="Google Shape;796;p38"/>
              <p:cNvSpPr/>
              <p:nvPr/>
            </p:nvSpPr>
            <p:spPr>
              <a:xfrm>
                <a:off x="0" y="95250"/>
                <a:ext cx="114300" cy="114300"/>
              </a:xfrm>
              <a:prstGeom prst="rect">
                <a:avLst/>
              </a:prstGeom>
              <a:solidFill>
                <a:srgbClr val="D4A017"/>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97" name="Google Shape;797;p38"/>
              <p:cNvSpPr txBox="1"/>
              <p:nvPr/>
            </p:nvSpPr>
            <p:spPr>
              <a:xfrm>
                <a:off x="285750" y="0"/>
                <a:ext cx="4667400" cy="952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n" sz="1500">
                    <a:solidFill>
                      <a:srgbClr val="045A36"/>
                    </a:solidFill>
                    <a:latin typeface="Inter SemiBold"/>
                    <a:ea typeface="Inter SemiBold"/>
                    <a:cs typeface="Inter SemiBold"/>
                    <a:sym typeface="Inter SemiBold"/>
                  </a:rPr>
                  <a:t>Advanced:</a:t>
                </a:r>
                <a:r>
                  <a:rPr b="0" lang="en" sz="1500">
                    <a:solidFill>
                      <a:srgbClr val="374151"/>
                    </a:solidFill>
                    <a:latin typeface="Inter"/>
                    <a:ea typeface="Inter"/>
                    <a:cs typeface="Inter"/>
                    <a:sym typeface="Inter"/>
                  </a:rPr>
                  <a:t> Recursion allows functions to call themselves, while lambdas provide quick, anonymous, single-expression functions.</a:t>
                </a:r>
                <a:endParaRPr b="0" sz="1500">
                  <a:solidFill>
                    <a:srgbClr val="374151"/>
                  </a:solidFill>
                  <a:latin typeface="Inter"/>
                  <a:ea typeface="Inter"/>
                  <a:cs typeface="Inter"/>
                  <a:sym typeface="Inter"/>
                </a:endParaRPr>
              </a:p>
            </p:txBody>
          </p:sp>
        </p:grpSp>
      </p:grpSp>
      <p:grpSp>
        <p:nvGrpSpPr>
          <p:cNvPr id="798" name="Google Shape;798;p38"/>
          <p:cNvGrpSpPr/>
          <p:nvPr/>
        </p:nvGrpSpPr>
        <p:grpSpPr>
          <a:xfrm>
            <a:off x="762000" y="5457825"/>
            <a:ext cx="11049000" cy="1019100"/>
            <a:chOff x="762000" y="5457825"/>
            <a:chExt cx="11049000" cy="1019100"/>
          </a:xfrm>
        </p:grpSpPr>
        <p:pic>
          <p:nvPicPr>
            <p:cNvPr id="799" name="Google Shape;799;p38"/>
            <p:cNvPicPr preferRelativeResize="0"/>
            <p:nvPr/>
          </p:nvPicPr>
          <p:blipFill rotWithShape="1">
            <a:blip r:embed="rId4">
              <a:alphaModFix/>
            </a:blip>
            <a:srcRect b="0" l="0" r="0" t="0"/>
            <a:stretch/>
          </p:blipFill>
          <p:spPr>
            <a:xfrm>
              <a:off x="10287000" y="5457825"/>
              <a:ext cx="1524000" cy="1019100"/>
            </a:xfrm>
            <a:prstGeom prst="rect">
              <a:avLst/>
            </a:prstGeom>
            <a:noFill/>
            <a:ln>
              <a:noFill/>
            </a:ln>
          </p:spPr>
        </p:pic>
        <p:sp>
          <p:nvSpPr>
            <p:cNvPr id="800" name="Google Shape;800;p38"/>
            <p:cNvSpPr txBox="1"/>
            <p:nvPr/>
          </p:nvSpPr>
          <p:spPr>
            <a:xfrm>
              <a:off x="762000" y="6134100"/>
              <a:ext cx="4762500" cy="1905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 sz="1000">
                  <a:solidFill>
                    <a:srgbClr val="6B7280"/>
                  </a:solidFill>
                  <a:latin typeface="Inter"/>
                  <a:ea typeface="Inter"/>
                  <a:cs typeface="Inter"/>
                  <a:sym typeface="Inter"/>
                </a:rPr>
                <a:t>Functions in Python | Building Reusable and Efficient Programs</a:t>
              </a:r>
              <a:endParaRPr b="0" sz="1000">
                <a:solidFill>
                  <a:srgbClr val="6B7280"/>
                </a:solidFill>
                <a:latin typeface="Inter"/>
                <a:ea typeface="Inter"/>
                <a:cs typeface="Inter"/>
                <a:sym typeface="Inter"/>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