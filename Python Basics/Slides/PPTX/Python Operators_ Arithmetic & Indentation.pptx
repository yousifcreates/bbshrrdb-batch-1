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layfair Display"/>
      <p:bold r:id="rId10"/>
      <p:boldItalic r:id="rId11"/>
    </p:embeddedFont>
    <p:embeddedFont>
      <p:font typeface="Inter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boldItalic.fntdata"/><Relationship Id="rId10" Type="http://schemas.openxmlformats.org/officeDocument/2006/relationships/font" Target="fonts/PlayfairDisplay-bold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f25bef83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f25bef8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f25bef83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f25bef8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bf25bef83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bf25bef8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bf25bef83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bf25bef8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f25bef83_9_0)">
  <p:cSld name="Generated (g3ebf25bef83_9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1333500"/>
            <a:ext cx="9144000" cy="3810000"/>
            <a:chOff x="0" y="1333500"/>
            <a:chExt cx="9144000" cy="3810000"/>
          </a:xfrm>
        </p:grpSpPr>
        <p:sp>
          <p:nvSpPr>
            <p:cNvPr id="56" name="Google Shape;56;p14"/>
            <p:cNvSpPr txBox="1"/>
            <p:nvPr/>
          </p:nvSpPr>
          <p:spPr>
            <a:xfrm>
              <a:off x="762000" y="1333500"/>
              <a:ext cx="762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Introduction to</a:t>
              </a:r>
              <a:endParaRPr b="1" sz="24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D4AF3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Python Operators</a:t>
              </a:r>
              <a:endParaRPr b="1" sz="320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3619500" y="3190875"/>
              <a:ext cx="1905000" cy="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762000" y="3381375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Mastering Arithmetic, Comparison &amp; Indentation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This slide sets the stage for learning fundamental Python building blocks.</a:t>
              </a:r>
              <a:endParaRPr b="0" sz="105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Instructor: Muhammd Yousif Memon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0" y="4762500"/>
              <a:ext cx="9144000" cy="381000"/>
              <a:chOff x="0" y="4762500"/>
              <a:chExt cx="9144000" cy="381000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0" y="4762500"/>
                <a:ext cx="9144000" cy="381000"/>
              </a:xfrm>
              <a:prstGeom prst="rect">
                <a:avLst/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 txBox="1"/>
              <p:nvPr/>
            </p:nvSpPr>
            <p:spPr>
              <a:xfrm>
                <a:off x="381000" y="4762500"/>
                <a:ext cx="838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MUHAMMD YOUSIF MEMON | INTRODUCTION TO PYTHON OPERATORS | JUNE 14, 2026</a:t>
                </a:r>
                <a:endParaRPr b="0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1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Arithmetic Operators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381000" y="952500"/>
            <a:ext cx="4000500" cy="762000"/>
            <a:chOff x="0" y="0"/>
            <a:chExt cx="4000500" cy="762000"/>
          </a:xfrm>
        </p:grpSpPr>
        <p:grpSp>
          <p:nvGrpSpPr>
            <p:cNvPr id="75" name="Google Shape;75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76" name="Google Shape;76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" name="Google Shape;78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Addition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Adds operands (e.g., 5 + 3 = 8)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381000" y="1857375"/>
            <a:ext cx="4000500" cy="762000"/>
            <a:chOff x="0" y="0"/>
            <a:chExt cx="4000500" cy="762000"/>
          </a:xfrm>
        </p:grpSpPr>
        <p:grpSp>
          <p:nvGrpSpPr>
            <p:cNvPr id="81" name="Google Shape;81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82" name="Google Shape;82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" name="Google Shape;84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Multiplication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Multiplies operands (e.g., 7 * 2 = 14)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381000" y="2762250"/>
            <a:ext cx="4000500" cy="762000"/>
            <a:chOff x="0" y="0"/>
            <a:chExt cx="4000500" cy="76200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**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Exponentiation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Power function (e.g., 2 ** 3 = 8)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4762500" y="952500"/>
            <a:ext cx="4000500" cy="762000"/>
            <a:chOff x="0" y="0"/>
            <a:chExt cx="4000500" cy="762000"/>
          </a:xfrm>
        </p:grpSpPr>
        <p:grpSp>
          <p:nvGrpSpPr>
            <p:cNvPr id="93" name="Google Shape;93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Subtraction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Subtracts right from left (e.g., 10 - 4 = 6)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4762500" y="1857375"/>
            <a:ext cx="4000500" cy="762000"/>
            <a:chOff x="0" y="0"/>
            <a:chExt cx="4000500" cy="762000"/>
          </a:xfrm>
        </p:grpSpPr>
        <p:grpSp>
          <p:nvGrpSpPr>
            <p:cNvPr id="99" name="Google Shape;99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00" name="Google Shape;100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" name="Google Shape;102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Division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float (e.g., 15 / 2 = 7.5)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4762500" y="2762250"/>
            <a:ext cx="4000500" cy="762000"/>
            <a:chOff x="0" y="0"/>
            <a:chExt cx="4000500" cy="762000"/>
          </a:xfrm>
        </p:grpSpPr>
        <p:grpSp>
          <p:nvGrpSpPr>
            <p:cNvPr id="105" name="Google Shape;105;p15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06" name="Google Shape;106;p15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" name="Google Shape;108;p15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Modulo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Remainder of division (e.g., 10 % 3 = 1)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381000" y="3667125"/>
            <a:ext cx="8382000" cy="762000"/>
            <a:chOff x="0" y="0"/>
            <a:chExt cx="8382000" cy="762000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905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Pro Tip: Operator Precedence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Python follows PEMDAS order. Use parentheses </a:t>
              </a: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 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group expressions and control evaluation order.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MASTERING PYTHON OPERATORS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 to Comparison Operators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381000" y="857250"/>
            <a:ext cx="4000500" cy="762000"/>
            <a:chOff x="0" y="0"/>
            <a:chExt cx="4000500" cy="762000"/>
          </a:xfrm>
        </p:grpSpPr>
        <p:grpSp>
          <p:nvGrpSpPr>
            <p:cNvPr id="129" name="Google Shape;129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" name="Google Shape;132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Equal to: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Identical values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== 5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4762500" y="857250"/>
            <a:ext cx="4000500" cy="762000"/>
            <a:chOff x="0" y="0"/>
            <a:chExt cx="4000500" cy="762000"/>
          </a:xfrm>
        </p:grpSpPr>
        <p:grpSp>
          <p:nvGrpSpPr>
            <p:cNvPr id="135" name="Google Shape;135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" name="Google Shape;138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!=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Not equal to: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Different values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!= 3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381000" y="1762125"/>
            <a:ext cx="4000500" cy="762000"/>
            <a:chOff x="0" y="0"/>
            <a:chExt cx="4000500" cy="762000"/>
          </a:xfrm>
        </p:grpSpPr>
        <p:grpSp>
          <p:nvGrpSpPr>
            <p:cNvPr id="141" name="Google Shape;141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" name="Google Shape;144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Greater than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 &gt; 5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4762500" y="1762125"/>
            <a:ext cx="4000500" cy="762000"/>
            <a:chOff x="0" y="0"/>
            <a:chExt cx="4000500" cy="762000"/>
          </a:xfrm>
        </p:grpSpPr>
        <p:grpSp>
          <p:nvGrpSpPr>
            <p:cNvPr id="147" name="Google Shape;147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48" name="Google Shape;148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" name="Google Shape;150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Less than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 &lt; 8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381000" y="2667000"/>
            <a:ext cx="4000500" cy="762000"/>
            <a:chOff x="0" y="0"/>
            <a:chExt cx="4000500" cy="762000"/>
          </a:xfrm>
        </p:grpSpPr>
        <p:grpSp>
          <p:nvGrpSpPr>
            <p:cNvPr id="153" name="Google Shape;153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" name="Google Shape;156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&gt;=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Greater than or equal to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&gt;= 5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4762500" y="2667000"/>
            <a:ext cx="4000500" cy="762000"/>
            <a:chOff x="0" y="0"/>
            <a:chExt cx="4000500" cy="762000"/>
          </a:xfrm>
        </p:grpSpPr>
        <p:grpSp>
          <p:nvGrpSpPr>
            <p:cNvPr id="159" name="Google Shape;159;p16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160" name="Google Shape;160;p16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114300" y="114300"/>
                <a:ext cx="571500" cy="533400"/>
              </a:xfrm>
              <a:prstGeom prst="roundRect">
                <a:avLst>
                  <a:gd fmla="val 7142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" name="Google Shape;162;p16"/>
            <p:cNvSpPr txBox="1"/>
            <p:nvPr/>
          </p:nvSpPr>
          <p:spPr>
            <a:xfrm>
              <a:off x="114300" y="114300"/>
              <a:ext cx="571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&lt;=</a:t>
              </a:r>
              <a:endParaRPr b="1" sz="12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809625" y="114300"/>
              <a:ext cx="30480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Less than or equal to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 &lt;= 10 (True)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381000" y="3762375"/>
            <a:ext cx="8382000" cy="666900"/>
            <a:chOff x="0" y="0"/>
            <a:chExt cx="8382000" cy="6669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8382000" cy="666900"/>
            </a:xfrm>
            <a:prstGeom prst="roundRect">
              <a:avLst>
                <a:gd fmla="val 17142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190500" y="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Pro Tip: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The result of a comparison is always a Boolean value: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MASTERING PYTHON OPERATORS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1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Indentation in Python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82" name="Google Shape;182;p17"/>
          <p:cNvGrpSpPr/>
          <p:nvPr/>
        </p:nvGrpSpPr>
        <p:grpSpPr>
          <a:xfrm>
            <a:off x="381000" y="952500"/>
            <a:ext cx="4000500" cy="2476500"/>
            <a:chOff x="0" y="0"/>
            <a:chExt cx="4000500" cy="2476500"/>
          </a:xfrm>
        </p:grpSpPr>
        <p:sp>
          <p:nvSpPr>
            <p:cNvPr id="183" name="Google Shape;183;p17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190500" y="190500"/>
              <a:ext cx="3619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Structural Foundation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Colon (:):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Mandatory marker starting a new code block (e.g., after if/else).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1A1A"/>
                </a:buClr>
                <a:buSzPts val="1050"/>
                <a:buFont typeface="Inter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Indentation: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Usually 4 spaces; defines code block structure. Python relies on spacing instead of curly braces.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17"/>
          <p:cNvGrpSpPr/>
          <p:nvPr/>
        </p:nvGrpSpPr>
        <p:grpSpPr>
          <a:xfrm>
            <a:off x="4762500" y="952500"/>
            <a:ext cx="4000500" cy="2476500"/>
            <a:chOff x="0" y="0"/>
            <a:chExt cx="4000500" cy="247650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4615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190500" y="190500"/>
              <a:ext cx="3619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Correct vs. Incorrect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E7D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Correct</a:t>
              </a:r>
              <a:endParaRPr b="1" sz="1000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True: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print("Spaced correctly")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Incorrect (Syntax Error)</a:t>
              </a:r>
              <a:endParaRPr b="1" sz="10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True: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print("Missing space")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88" name="Google Shape;188;p17"/>
          <p:cNvGrpSpPr/>
          <p:nvPr/>
        </p:nvGrpSpPr>
        <p:grpSpPr>
          <a:xfrm>
            <a:off x="381000" y="3619500"/>
            <a:ext cx="8382000" cy="762000"/>
            <a:chOff x="0" y="0"/>
            <a:chExt cx="8382000" cy="762000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1905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Warning: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Wrong indentation causes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Syntax Errors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or subtle logic bugs that are extremely difficult to debug.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1" name="Google Shape;191;p1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92" name="Google Shape;192;p1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MASTERING PYTHON OPERATORS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