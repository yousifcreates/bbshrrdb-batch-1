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Montserrat"/>
      <p:bold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.fntdata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00ebde9ca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00ebde9ca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00ebde9ca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00ebde9ca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00ebde9ca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00ebde9ca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00ebde9ca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00ebde9ca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00ebde9ca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00ebde9ca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00ebde9ca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00ebde9ca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00ebde9ca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00ebde9ca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00ebde9ca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00ebde9ca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00ebde9ca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00ebde9ca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00ebde9ca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00ebde9ca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00ebde9ca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00ebde9ca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00ebde9ca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00ebde9ca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00ebde9ca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f00ebde9ca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00ebde9ca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f00ebde9ca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00ebde9ca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00ebde9ca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00ebde9ca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00ebde9ca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00ebde9ca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f00ebde9ca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00ebde9ca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f00ebde9c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00ebde9ca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00ebde9c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00ebde9ca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f00ebde9ca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00ebde9ca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f00ebde9c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00ebde9ca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00ebde9ca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f00ebde9ca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f00ebde9ca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00ebde9ca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f00ebde9ca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00ebde9ca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f00ebde9c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00ebde9ca_7_0)">
  <p:cSld name="Generated (g3f00ebde9ca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-20" l="0" r="0" t="20"/>
          <a:stretch/>
        </p:blipFill>
        <p:spPr>
          <a:xfrm>
            <a:off x="762000" y="571500"/>
            <a:ext cx="2533800" cy="8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-5320" l="0" r="0" t="5320"/>
          <a:stretch/>
        </p:blipFill>
        <p:spPr>
          <a:xfrm>
            <a:off x="10144125" y="428625"/>
            <a:ext cx="1143000" cy="12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762000" y="171450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PYTHON PROGRAMMING COURSE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762000" y="2143125"/>
            <a:ext cx="1066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Python Virtual Environment (venv)</a:t>
            </a:r>
            <a:endParaRPr b="1" sz="340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in Windows</a:t>
            </a:r>
            <a:endParaRPr b="1" sz="340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5381625" y="3476625"/>
            <a:ext cx="1428900" cy="38100"/>
          </a:xfrm>
          <a:prstGeom prst="roundRect">
            <a:avLst>
              <a:gd fmla="val 5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1333500" y="3905250"/>
            <a:ext cx="4333875" cy="523800"/>
            <a:chOff x="0" y="0"/>
            <a:chExt cx="4333875" cy="523800"/>
          </a:xfrm>
        </p:grpSpPr>
        <p:grpSp>
          <p:nvGrpSpPr>
            <p:cNvPr id="62" name="Google Shape;62;p14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" name="Google Shape;65;p14"/>
            <p:cNvSpPr txBox="1"/>
            <p:nvPr/>
          </p:nvSpPr>
          <p:spPr>
            <a:xfrm>
              <a:off x="333375" y="0"/>
              <a:ext cx="4000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Understanding Python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Virtual Environments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1333500" y="4619625"/>
            <a:ext cx="4333875" cy="523800"/>
            <a:chOff x="0" y="0"/>
            <a:chExt cx="4333875" cy="523800"/>
          </a:xfrm>
        </p:grpSpPr>
        <p:grpSp>
          <p:nvGrpSpPr>
            <p:cNvPr id="67" name="Google Shape;67;p14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68" name="Google Shape;68;p14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" name="Google Shape;70;p14"/>
            <p:cNvSpPr txBox="1"/>
            <p:nvPr/>
          </p:nvSpPr>
          <p:spPr>
            <a:xfrm>
              <a:off x="333375" y="0"/>
              <a:ext cx="4000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Creating isolated Python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environments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477000" y="3905250"/>
            <a:ext cx="4333875" cy="523800"/>
            <a:chOff x="0" y="0"/>
            <a:chExt cx="4333875" cy="523800"/>
          </a:xfrm>
        </p:grpSpPr>
        <p:grpSp>
          <p:nvGrpSpPr>
            <p:cNvPr id="72" name="Google Shape;72;p14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" name="Google Shape;75;p14"/>
            <p:cNvSpPr txBox="1"/>
            <p:nvPr/>
          </p:nvSpPr>
          <p:spPr>
            <a:xfrm>
              <a:off x="333375" y="0"/>
              <a:ext cx="4000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Managing project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dependencies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6477000" y="4619625"/>
            <a:ext cx="4333875" cy="523800"/>
            <a:chOff x="0" y="0"/>
            <a:chExt cx="4333875" cy="523800"/>
          </a:xfrm>
        </p:grpSpPr>
        <p:grpSp>
          <p:nvGrpSpPr>
            <p:cNvPr id="77" name="Google Shape;77;p14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" name="Google Shape;80;p14"/>
            <p:cNvSpPr txBox="1"/>
            <p:nvPr/>
          </p:nvSpPr>
          <p:spPr>
            <a:xfrm>
              <a:off x="333375" y="0"/>
              <a:ext cx="4000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Working with venv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 Windows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762000" y="5829300"/>
            <a:ext cx="3105300" cy="523800"/>
            <a:chOff x="0" y="0"/>
            <a:chExt cx="3105300" cy="523800"/>
          </a:xfrm>
        </p:grpSpPr>
        <p:sp>
          <p:nvSpPr>
            <p:cNvPr id="82" name="Google Shape;82;p14"/>
            <p:cNvSpPr txBox="1"/>
            <p:nvPr/>
          </p:nvSpPr>
          <p:spPr>
            <a:xfrm>
              <a:off x="0" y="0"/>
              <a:ext cx="3105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0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0" y="190500"/>
              <a:ext cx="31053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Muhammad Yousif Memon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8382000" y="5829300"/>
            <a:ext cx="3048000" cy="523800"/>
            <a:chOff x="0" y="0"/>
            <a:chExt cx="3048000" cy="523800"/>
          </a:xfrm>
        </p:grpSpPr>
        <p:sp>
          <p:nvSpPr>
            <p:cNvPr id="85" name="Google Shape;85;p14"/>
            <p:cNvSpPr txBox="1"/>
            <p:nvPr/>
          </p:nvSpPr>
          <p:spPr>
            <a:xfrm>
              <a:off x="0" y="0"/>
              <a:ext cx="3048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DATE OF SESSION</a:t>
              </a:r>
              <a:endParaRPr b="0" sz="10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0" y="190500"/>
              <a:ext cx="3048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June 2026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Learning Objectives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After this session, students will be able to: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96" name="Google Shape;96;p15"/>
          <p:cNvGrpSpPr/>
          <p:nvPr/>
        </p:nvGrpSpPr>
        <p:grpSpPr>
          <a:xfrm>
            <a:off x="762000" y="1762125"/>
            <a:ext cx="5572275" cy="3905250"/>
            <a:chOff x="0" y="0"/>
            <a:chExt cx="5572275" cy="3905250"/>
          </a:xfrm>
        </p:grpSpPr>
        <p:grpSp>
          <p:nvGrpSpPr>
            <p:cNvPr id="97" name="Google Shape;97;p15"/>
            <p:cNvGrpSpPr/>
            <p:nvPr/>
          </p:nvGrpSpPr>
          <p:grpSpPr>
            <a:xfrm>
              <a:off x="0" y="0"/>
              <a:ext cx="5572275" cy="571500"/>
              <a:chOff x="0" y="0"/>
              <a:chExt cx="5572275" cy="571500"/>
            </a:xfrm>
          </p:grpSpPr>
          <p:grpSp>
            <p:nvGrpSpPr>
              <p:cNvPr id="98" name="Google Shape;98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1" name="Google Shape;101;p15"/>
              <p:cNvSpPr txBox="1"/>
              <p:nvPr/>
            </p:nvSpPr>
            <p:spPr>
              <a:xfrm>
                <a:off x="333375" y="0"/>
                <a:ext cx="52389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Understand what a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virtual environment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2" name="Google Shape;102;p15"/>
            <p:cNvGrpSpPr/>
            <p:nvPr/>
          </p:nvGrpSpPr>
          <p:grpSpPr>
            <a:xfrm>
              <a:off x="0" y="666750"/>
              <a:ext cx="5572275" cy="571500"/>
              <a:chOff x="0" y="0"/>
              <a:chExt cx="5572275" cy="571500"/>
            </a:xfrm>
          </p:grpSpPr>
          <p:grpSp>
            <p:nvGrpSpPr>
              <p:cNvPr id="103" name="Google Shape;103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04" name="Google Shape;104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" name="Google Shape;106;p15"/>
              <p:cNvSpPr txBox="1"/>
              <p:nvPr/>
            </p:nvSpPr>
            <p:spPr>
              <a:xfrm>
                <a:off x="333375" y="0"/>
                <a:ext cx="52389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Explain why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virtual environments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are important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7" name="Google Shape;107;p15"/>
            <p:cNvGrpSpPr/>
            <p:nvPr/>
          </p:nvGrpSpPr>
          <p:grpSpPr>
            <a:xfrm>
              <a:off x="0" y="1333500"/>
              <a:ext cx="5572275" cy="571500"/>
              <a:chOff x="0" y="0"/>
              <a:chExt cx="5572275" cy="571500"/>
            </a:xfrm>
          </p:grpSpPr>
          <p:grpSp>
            <p:nvGrpSpPr>
              <p:cNvPr id="108" name="Google Shape;108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09" name="Google Shape;109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1" name="Google Shape;111;p15"/>
              <p:cNvSpPr txBox="1"/>
              <p:nvPr/>
            </p:nvSpPr>
            <p:spPr>
              <a:xfrm>
                <a:off x="333375" y="0"/>
                <a:ext cx="52389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Create and activate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virtual environments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0" y="2000250"/>
              <a:ext cx="5572275" cy="571500"/>
              <a:chOff x="0" y="0"/>
              <a:chExt cx="5572275" cy="571500"/>
            </a:xfrm>
          </p:grpSpPr>
          <p:grpSp>
            <p:nvGrpSpPr>
              <p:cNvPr id="113" name="Google Shape;113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14" name="Google Shape;114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6" name="Google Shape;116;p15"/>
              <p:cNvSpPr txBox="1"/>
              <p:nvPr/>
            </p:nvSpPr>
            <p:spPr>
              <a:xfrm>
                <a:off x="333375" y="0"/>
                <a:ext cx="52389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Install packages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inside a virtual environment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7" name="Google Shape;117;p15"/>
            <p:cNvGrpSpPr/>
            <p:nvPr/>
          </p:nvGrpSpPr>
          <p:grpSpPr>
            <a:xfrm>
              <a:off x="0" y="2667000"/>
              <a:ext cx="5572275" cy="571500"/>
              <a:chOff x="0" y="0"/>
              <a:chExt cx="5572275" cy="571500"/>
            </a:xfrm>
          </p:grpSpPr>
          <p:grpSp>
            <p:nvGrpSpPr>
              <p:cNvPr id="118" name="Google Shape;118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19" name="Google Shape;119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" name="Google Shape;120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1" name="Google Shape;121;p15"/>
              <p:cNvSpPr txBox="1"/>
              <p:nvPr/>
            </p:nvSpPr>
            <p:spPr>
              <a:xfrm>
                <a:off x="333375" y="0"/>
                <a:ext cx="52389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Deactivate and remove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virtual environments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2" name="Google Shape;122;p15"/>
            <p:cNvGrpSpPr/>
            <p:nvPr/>
          </p:nvGrpSpPr>
          <p:grpSpPr>
            <a:xfrm>
              <a:off x="0" y="3333750"/>
              <a:ext cx="5572275" cy="571500"/>
              <a:chOff x="0" y="0"/>
              <a:chExt cx="5572275" cy="571500"/>
            </a:xfrm>
          </p:grpSpPr>
          <p:grpSp>
            <p:nvGrpSpPr>
              <p:cNvPr id="123" name="Google Shape;123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24" name="Google Shape;124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" name="Google Shape;125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6" name="Google Shape;126;p15"/>
              <p:cNvSpPr txBox="1"/>
              <p:nvPr/>
            </p:nvSpPr>
            <p:spPr>
              <a:xfrm>
                <a:off x="333375" y="0"/>
                <a:ext cx="52389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Manage project dependencies using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requirements.txt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7" name="Google Shape;127;p15"/>
          <p:cNvGrpSpPr/>
          <p:nvPr/>
        </p:nvGrpSpPr>
        <p:grpSpPr>
          <a:xfrm>
            <a:off x="6667500" y="1714500"/>
            <a:ext cx="4762500" cy="3571800"/>
            <a:chOff x="0" y="0"/>
            <a:chExt cx="4762500" cy="3571800"/>
          </a:xfrm>
        </p:grpSpPr>
        <p:sp>
          <p:nvSpPr>
            <p:cNvPr id="128" name="Google Shape;128;p15"/>
            <p:cNvSpPr/>
            <p:nvPr/>
          </p:nvSpPr>
          <p:spPr>
            <a:xfrm>
              <a:off x="0" y="0"/>
              <a:ext cx="4762500" cy="35718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" name="Google Shape;12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762500" cy="3571800"/>
            </a:xfrm>
            <a:prstGeom prst="roundRect">
              <a:avLst>
                <a:gd fmla="val 3200" name="adj"/>
              </a:avLst>
            </a:prstGeom>
            <a:noFill/>
            <a:ln>
              <a:noFill/>
            </a:ln>
          </p:spPr>
        </p:pic>
      </p:grpSp>
      <p:sp>
        <p:nvSpPr>
          <p:cNvPr id="130" name="Google Shape;130;p1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Virtual Environment?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0" name="Google Shape;140;p16"/>
          <p:cNvGrpSpPr/>
          <p:nvPr/>
        </p:nvGrpSpPr>
        <p:grpSpPr>
          <a:xfrm>
            <a:off x="762000" y="1524000"/>
            <a:ext cx="5143650" cy="476400"/>
            <a:chOff x="0" y="0"/>
            <a:chExt cx="5143650" cy="4764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762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285750" y="0"/>
              <a:ext cx="4857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 isolated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Python environment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p16"/>
          <p:cNvGrpSpPr/>
          <p:nvPr/>
        </p:nvGrpSpPr>
        <p:grpSpPr>
          <a:xfrm>
            <a:off x="762000" y="2143125"/>
            <a:ext cx="5143650" cy="476400"/>
            <a:chOff x="0" y="0"/>
            <a:chExt cx="5143650" cy="476400"/>
          </a:xfrm>
        </p:grpSpPr>
        <p:sp>
          <p:nvSpPr>
            <p:cNvPr id="144" name="Google Shape;144;p16"/>
            <p:cNvSpPr/>
            <p:nvPr/>
          </p:nvSpPr>
          <p:spPr>
            <a:xfrm>
              <a:off x="0" y="762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285750" y="0"/>
              <a:ext cx="4857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Contains its own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Python interpreter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762000" y="2762250"/>
            <a:ext cx="5143650" cy="476400"/>
            <a:chOff x="0" y="0"/>
            <a:chExt cx="5143650" cy="47640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762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285750" y="0"/>
              <a:ext cx="4857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Has its own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installed packages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762000" y="3381375"/>
            <a:ext cx="5143650" cy="476400"/>
            <a:chOff x="0" y="0"/>
            <a:chExt cx="5143650" cy="4764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762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285750" y="0"/>
              <a:ext cx="4857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Independent from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system-wide Python installation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762000" y="4143375"/>
            <a:ext cx="5143500" cy="809700"/>
            <a:chOff x="0" y="0"/>
            <a:chExt cx="5143500" cy="809700"/>
          </a:xfrm>
        </p:grpSpPr>
        <p:sp>
          <p:nvSpPr>
            <p:cNvPr id="153" name="Google Shape;153;p16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190500" y="0"/>
              <a:ext cx="4953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WORKSPACE ANALOGY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190500" y="285750"/>
              <a:ext cx="4953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Think of it as a separate workspace for every Python project.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6286500" y="1524000"/>
            <a:ext cx="5143500" cy="3857700"/>
            <a:chOff x="0" y="0"/>
            <a:chExt cx="5143500" cy="38577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" name="Google Shape;15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Do We Need Virtual Environments?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Without virtual environments, managing multiple Python dependencies becomes highly unstable.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68" name="Google Shape;168;p17"/>
          <p:cNvGrpSpPr/>
          <p:nvPr/>
        </p:nvGrpSpPr>
        <p:grpSpPr>
          <a:xfrm>
            <a:off x="762000" y="1714500"/>
            <a:ext cx="3286200" cy="4095900"/>
            <a:chOff x="0" y="0"/>
            <a:chExt cx="3286200" cy="40959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3286200" cy="4095900"/>
            </a:xfrm>
            <a:prstGeom prst="roundRect">
              <a:avLst>
                <a:gd fmla="val 3478" name="adj"/>
              </a:avLst>
            </a:prstGeom>
            <a:solidFill>
              <a:srgbClr val="FEE2E2"/>
            </a:solidFill>
            <a:ln cap="flat" cmpd="sng" w="14300">
              <a:solidFill>
                <a:srgbClr val="F871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0" y="0"/>
              <a:ext cx="57300" cy="4095900"/>
            </a:xfrm>
            <a:prstGeom prst="roundRect">
              <a:avLst>
                <a:gd fmla="val 50000" name="adj"/>
              </a:avLst>
            </a:prstGeom>
            <a:solidFill>
              <a:srgbClr val="B9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238125" y="238125"/>
              <a:ext cx="2809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THE PROBLEM</a:t>
              </a:r>
              <a:endParaRPr b="1" sz="12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38125" y="523875"/>
              <a:ext cx="2809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Global Dependency Conflicts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73" name="Google Shape;173;p17"/>
            <p:cNvGrpSpPr/>
            <p:nvPr/>
          </p:nvGrpSpPr>
          <p:grpSpPr>
            <a:xfrm>
              <a:off x="238125" y="1000125"/>
              <a:ext cx="2809800" cy="523800"/>
              <a:chOff x="0" y="0"/>
              <a:chExt cx="2809800" cy="523800"/>
            </a:xfrm>
          </p:grpSpPr>
          <p:sp>
            <p:nvSpPr>
              <p:cNvPr id="174" name="Google Shape;174;p17"/>
              <p:cNvSpPr/>
              <p:nvPr/>
            </p:nvSpPr>
            <p:spPr>
              <a:xfrm>
                <a:off x="0" y="3810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7"/>
              <p:cNvSpPr txBox="1"/>
              <p:nvPr/>
            </p:nvSpPr>
            <p:spPr>
              <a:xfrm>
                <a:off x="190500" y="0"/>
                <a:ext cx="2619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3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Version Conflicts:</a:t>
                </a:r>
                <a:r>
                  <a:rPr b="0" lang="en" sz="1203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 Package version conflicts can crash system tools.</a:t>
                </a:r>
                <a:endParaRPr b="0" sz="1203">
                  <a:solidFill>
                    <a:srgbClr val="B91C1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76" name="Google Shape;176;p17"/>
            <p:cNvGrpSpPr/>
            <p:nvPr/>
          </p:nvGrpSpPr>
          <p:grpSpPr>
            <a:xfrm>
              <a:off x="238125" y="1619250"/>
              <a:ext cx="2809800" cy="523800"/>
              <a:chOff x="0" y="0"/>
              <a:chExt cx="2809800" cy="523800"/>
            </a:xfrm>
          </p:grpSpPr>
          <p:sp>
            <p:nvSpPr>
              <p:cNvPr id="177" name="Google Shape;177;p17"/>
              <p:cNvSpPr/>
              <p:nvPr/>
            </p:nvSpPr>
            <p:spPr>
              <a:xfrm>
                <a:off x="0" y="3810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7"/>
              <p:cNvSpPr txBox="1"/>
              <p:nvPr/>
            </p:nvSpPr>
            <p:spPr>
              <a:xfrm>
                <a:off x="190500" y="0"/>
                <a:ext cx="2619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3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Varying Needs:</a:t>
                </a:r>
                <a:r>
                  <a:rPr b="0" lang="en" sz="1203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 Different projects requiring different library versions.</a:t>
                </a:r>
                <a:endParaRPr b="0" sz="1203">
                  <a:solidFill>
                    <a:srgbClr val="B91C1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79" name="Google Shape;179;p17"/>
            <p:cNvGrpSpPr/>
            <p:nvPr/>
          </p:nvGrpSpPr>
          <p:grpSpPr>
            <a:xfrm>
              <a:off x="238125" y="2238375"/>
              <a:ext cx="2809800" cy="523800"/>
              <a:chOff x="0" y="0"/>
              <a:chExt cx="2809800" cy="523800"/>
            </a:xfrm>
          </p:grpSpPr>
          <p:sp>
            <p:nvSpPr>
              <p:cNvPr id="180" name="Google Shape;180;p17"/>
              <p:cNvSpPr/>
              <p:nvPr/>
            </p:nvSpPr>
            <p:spPr>
              <a:xfrm>
                <a:off x="0" y="3810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7"/>
              <p:cNvSpPr txBox="1"/>
              <p:nvPr/>
            </p:nvSpPr>
            <p:spPr>
              <a:xfrm>
                <a:off x="190500" y="0"/>
                <a:ext cx="2619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5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Dependency Mess:</a:t>
                </a:r>
                <a:r>
                  <a:rPr b="0" lang="en" sz="1105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 Complex, manual, and difficult dependency tracking.</a:t>
                </a:r>
                <a:endParaRPr b="0" sz="1105">
                  <a:solidFill>
                    <a:srgbClr val="B91C1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82" name="Google Shape;182;p17"/>
            <p:cNvGrpSpPr/>
            <p:nvPr/>
          </p:nvGrpSpPr>
          <p:grpSpPr>
            <a:xfrm>
              <a:off x="238125" y="2857500"/>
              <a:ext cx="2809800" cy="523800"/>
              <a:chOff x="0" y="0"/>
              <a:chExt cx="2809800" cy="523800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0" y="3810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7"/>
              <p:cNvSpPr txBox="1"/>
              <p:nvPr/>
            </p:nvSpPr>
            <p:spPr>
              <a:xfrm>
                <a:off x="190500" y="0"/>
                <a:ext cx="2619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5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 Risk:</a:t>
                </a:r>
                <a:r>
                  <a:rPr b="0" lang="en" sz="1105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 Continuous risk of accidentally breaking other projects.</a:t>
                </a:r>
                <a:endParaRPr b="0" sz="1105">
                  <a:solidFill>
                    <a:srgbClr val="B91C1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85" name="Google Shape;185;p17"/>
          <p:cNvGrpSpPr/>
          <p:nvPr/>
        </p:nvGrpSpPr>
        <p:grpSpPr>
          <a:xfrm>
            <a:off x="4286250" y="1714500"/>
            <a:ext cx="3286200" cy="4095900"/>
            <a:chOff x="0" y="0"/>
            <a:chExt cx="3286200" cy="4095900"/>
          </a:xfrm>
        </p:grpSpPr>
        <p:sp>
          <p:nvSpPr>
            <p:cNvPr id="186" name="Google Shape;186;p17"/>
            <p:cNvSpPr/>
            <p:nvPr/>
          </p:nvSpPr>
          <p:spPr>
            <a:xfrm>
              <a:off x="0" y="0"/>
              <a:ext cx="3286200" cy="4095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0" y="0"/>
              <a:ext cx="57300" cy="4095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238125" y="238125"/>
              <a:ext cx="2809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THE SOLUTION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238125" y="523875"/>
              <a:ext cx="2809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Isolated Virtual Environments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238125" y="1000125"/>
              <a:ext cx="2810025" cy="523800"/>
              <a:chOff x="0" y="0"/>
              <a:chExt cx="2810025" cy="523800"/>
            </a:xfrm>
          </p:grpSpPr>
          <p:grpSp>
            <p:nvGrpSpPr>
              <p:cNvPr id="191" name="Google Shape;191;p17"/>
              <p:cNvGrpSpPr/>
              <p:nvPr/>
            </p:nvGrpSpPr>
            <p:grpSpPr>
              <a:xfrm>
                <a:off x="0" y="19050"/>
                <a:ext cx="152400" cy="152400"/>
                <a:chOff x="0" y="0"/>
                <a:chExt cx="152400" cy="152400"/>
              </a:xfrm>
            </p:grpSpPr>
            <p:sp>
              <p:nvSpPr>
                <p:cNvPr id="192" name="Google Shape;192;p17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" name="Google Shape;193;p17"/>
                <p:cNvSpPr/>
                <p:nvPr/>
              </p:nvSpPr>
              <p:spPr>
                <a:xfrm>
                  <a:off x="38100" y="38100"/>
                  <a:ext cx="60900" cy="53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4" name="Google Shape;194;p17"/>
              <p:cNvSpPr txBox="1"/>
              <p:nvPr/>
            </p:nvSpPr>
            <p:spPr>
              <a:xfrm>
                <a:off x="238125" y="0"/>
                <a:ext cx="2571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3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Total Isolation:</a:t>
                </a:r>
                <a:r>
                  <a:rPr b="0" lang="en" sz="1203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Clean, separate environments created per-project.</a:t>
                </a:r>
                <a:endParaRPr b="0" sz="1203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95" name="Google Shape;195;p17"/>
            <p:cNvGrpSpPr/>
            <p:nvPr/>
          </p:nvGrpSpPr>
          <p:grpSpPr>
            <a:xfrm>
              <a:off x="238125" y="1619250"/>
              <a:ext cx="2810025" cy="523800"/>
              <a:chOff x="0" y="0"/>
              <a:chExt cx="2810025" cy="523800"/>
            </a:xfrm>
          </p:grpSpPr>
          <p:grpSp>
            <p:nvGrpSpPr>
              <p:cNvPr id="196" name="Google Shape;196;p17"/>
              <p:cNvGrpSpPr/>
              <p:nvPr/>
            </p:nvGrpSpPr>
            <p:grpSpPr>
              <a:xfrm>
                <a:off x="0" y="19050"/>
                <a:ext cx="152400" cy="152400"/>
                <a:chOff x="0" y="0"/>
                <a:chExt cx="152400" cy="152400"/>
              </a:xfrm>
            </p:grpSpPr>
            <p:sp>
              <p:nvSpPr>
                <p:cNvPr id="197" name="Google Shape;197;p17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7"/>
                <p:cNvSpPr/>
                <p:nvPr/>
              </p:nvSpPr>
              <p:spPr>
                <a:xfrm>
                  <a:off x="38100" y="38100"/>
                  <a:ext cx="60900" cy="53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9" name="Google Shape;199;p17"/>
              <p:cNvSpPr txBox="1"/>
              <p:nvPr/>
            </p:nvSpPr>
            <p:spPr>
              <a:xfrm>
                <a:off x="238125" y="0"/>
                <a:ext cx="2571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5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Flexible Versions:</a:t>
                </a:r>
                <a:r>
                  <a:rPr b="0" lang="en" sz="110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Smoothly run multiple versions of the same package.</a:t>
                </a:r>
                <a:endParaRPr b="0" sz="1105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0" name="Google Shape;200;p17"/>
            <p:cNvGrpSpPr/>
            <p:nvPr/>
          </p:nvGrpSpPr>
          <p:grpSpPr>
            <a:xfrm>
              <a:off x="238125" y="2238375"/>
              <a:ext cx="2810025" cy="523800"/>
              <a:chOff x="0" y="0"/>
              <a:chExt cx="2810025" cy="523800"/>
            </a:xfrm>
          </p:grpSpPr>
          <p:grpSp>
            <p:nvGrpSpPr>
              <p:cNvPr id="201" name="Google Shape;201;p17"/>
              <p:cNvGrpSpPr/>
              <p:nvPr/>
            </p:nvGrpSpPr>
            <p:grpSpPr>
              <a:xfrm>
                <a:off x="0" y="19050"/>
                <a:ext cx="152400" cy="152400"/>
                <a:chOff x="0" y="0"/>
                <a:chExt cx="152400" cy="152400"/>
              </a:xfrm>
            </p:grpSpPr>
            <p:sp>
              <p:nvSpPr>
                <p:cNvPr id="202" name="Google Shape;202;p17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" name="Google Shape;203;p17"/>
                <p:cNvSpPr/>
                <p:nvPr/>
              </p:nvSpPr>
              <p:spPr>
                <a:xfrm>
                  <a:off x="38100" y="38100"/>
                  <a:ext cx="60900" cy="53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4" name="Google Shape;204;p17"/>
              <p:cNvSpPr txBox="1"/>
              <p:nvPr/>
            </p:nvSpPr>
            <p:spPr>
              <a:xfrm>
                <a:off x="238125" y="0"/>
                <a:ext cx="2571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5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Easy Tracking:</a:t>
                </a:r>
                <a:r>
                  <a:rPr b="0" lang="en" sz="110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Standardized requirements files lock package state.</a:t>
                </a:r>
                <a:endParaRPr b="0" sz="1105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5" name="Google Shape;205;p17"/>
            <p:cNvGrpSpPr/>
            <p:nvPr/>
          </p:nvGrpSpPr>
          <p:grpSpPr>
            <a:xfrm>
              <a:off x="238125" y="2857500"/>
              <a:ext cx="2810025" cy="523800"/>
              <a:chOff x="0" y="0"/>
              <a:chExt cx="2810025" cy="523800"/>
            </a:xfrm>
          </p:grpSpPr>
          <p:grpSp>
            <p:nvGrpSpPr>
              <p:cNvPr id="206" name="Google Shape;206;p17"/>
              <p:cNvGrpSpPr/>
              <p:nvPr/>
            </p:nvGrpSpPr>
            <p:grpSpPr>
              <a:xfrm>
                <a:off x="0" y="19050"/>
                <a:ext cx="152400" cy="152400"/>
                <a:chOff x="0" y="0"/>
                <a:chExt cx="152400" cy="152400"/>
              </a:xfrm>
            </p:grpSpPr>
            <p:sp>
              <p:nvSpPr>
                <p:cNvPr id="207" name="Google Shape;207;p17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" name="Google Shape;208;p17"/>
                <p:cNvSpPr/>
                <p:nvPr/>
              </p:nvSpPr>
              <p:spPr>
                <a:xfrm>
                  <a:off x="38100" y="38100"/>
                  <a:ext cx="60900" cy="53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9" name="Google Shape;209;p17"/>
              <p:cNvSpPr txBox="1"/>
              <p:nvPr/>
            </p:nvSpPr>
            <p:spPr>
              <a:xfrm>
                <a:off x="238125" y="0"/>
                <a:ext cx="25719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3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Zero Risk:</a:t>
                </a:r>
                <a:r>
                  <a:rPr b="0" lang="en" sz="1203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Modifying dependencies in one folder never affects others.</a:t>
                </a:r>
                <a:endParaRPr b="0" sz="1203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10" name="Google Shape;210;p17"/>
          <p:cNvGrpSpPr/>
          <p:nvPr/>
        </p:nvGrpSpPr>
        <p:grpSpPr>
          <a:xfrm>
            <a:off x="7810500" y="1714500"/>
            <a:ext cx="3619500" cy="4095900"/>
            <a:chOff x="0" y="0"/>
            <a:chExt cx="3619500" cy="4095900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3619500" cy="40959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0"/>
              <a:ext cx="57300" cy="40959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238125" y="238125"/>
              <a:ext cx="3143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VISUAL COMPARISON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238125" y="523875"/>
              <a:ext cx="3143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Django Project Isolation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215" name="Google Shape;21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904875"/>
              <a:ext cx="3238500" cy="24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7"/>
            <p:cNvSpPr txBox="1"/>
            <p:nvPr/>
          </p:nvSpPr>
          <p:spPr>
            <a:xfrm>
              <a:off x="190500" y="3429000"/>
              <a:ext cx="323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Example: Project A needs Django 4.2, while Project B needs Django 5.2. Both can exist safely using separate virtual environments.</a:t>
              </a:r>
              <a:endParaRPr b="0" sz="11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17" name="Google Shape;217;p1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 | Dependency Isolation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Benefits of Using venv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6" name="Google Shape;226;p18"/>
          <p:cNvGrpSpPr/>
          <p:nvPr/>
        </p:nvGrpSpPr>
        <p:grpSpPr>
          <a:xfrm>
            <a:off x="762000" y="1714500"/>
            <a:ext cx="5143500" cy="3953025"/>
            <a:chOff x="762000" y="1714500"/>
            <a:chExt cx="5143500" cy="3953025"/>
          </a:xfrm>
        </p:grpSpPr>
        <p:grpSp>
          <p:nvGrpSpPr>
            <p:cNvPr id="227" name="Google Shape;227;p18"/>
            <p:cNvGrpSpPr/>
            <p:nvPr/>
          </p:nvGrpSpPr>
          <p:grpSpPr>
            <a:xfrm>
              <a:off x="762000" y="1714500"/>
              <a:ext cx="5143500" cy="238200"/>
              <a:chOff x="0" y="0"/>
              <a:chExt cx="5143500" cy="238200"/>
            </a:xfrm>
          </p:grpSpPr>
          <p:sp>
            <p:nvSpPr>
              <p:cNvPr id="228" name="Google Shape;228;p18"/>
              <p:cNvSpPr/>
              <p:nvPr/>
            </p:nvSpPr>
            <p:spPr>
              <a:xfrm>
                <a:off x="0" y="0"/>
                <a:ext cx="5143500" cy="238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8"/>
              <p:cNvSpPr txBox="1"/>
              <p:nvPr/>
            </p:nvSpPr>
            <p:spPr>
              <a:xfrm>
                <a:off x="0" y="0"/>
                <a:ext cx="5143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CORE BENEFITS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0" name="Google Shape;230;p18"/>
            <p:cNvGrpSpPr/>
            <p:nvPr/>
          </p:nvGrpSpPr>
          <p:grpSpPr>
            <a:xfrm>
              <a:off x="762000" y="2095500"/>
              <a:ext cx="5095875" cy="476400"/>
              <a:chOff x="0" y="0"/>
              <a:chExt cx="5095875" cy="476400"/>
            </a:xfrm>
          </p:grpSpPr>
          <p:grpSp>
            <p:nvGrpSpPr>
              <p:cNvPr id="231" name="Google Shape;231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32" name="Google Shape;232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" name="Google Shape;233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4" name="Google Shape;234;p18"/>
              <p:cNvGrpSpPr/>
              <p:nvPr/>
            </p:nvGrpSpPr>
            <p:grpSpPr>
              <a:xfrm>
                <a:off x="333375" y="0"/>
                <a:ext cx="4762500" cy="476400"/>
                <a:chOff x="0" y="0"/>
                <a:chExt cx="4762500" cy="476400"/>
              </a:xfrm>
            </p:grpSpPr>
            <p:sp>
              <p:nvSpPr>
                <p:cNvPr id="235" name="Google Shape;235;p18"/>
                <p:cNvSpPr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8"/>
                <p:cNvSpPr txBox="1"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Isolated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packages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237" name="Google Shape;237;p18"/>
            <p:cNvGrpSpPr/>
            <p:nvPr/>
          </p:nvGrpSpPr>
          <p:grpSpPr>
            <a:xfrm>
              <a:off x="762000" y="2714625"/>
              <a:ext cx="5095875" cy="476400"/>
              <a:chOff x="0" y="0"/>
              <a:chExt cx="5095875" cy="476400"/>
            </a:xfrm>
          </p:grpSpPr>
          <p:grpSp>
            <p:nvGrpSpPr>
              <p:cNvPr id="238" name="Google Shape;238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39" name="Google Shape;239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" name="Google Shape;240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1" name="Google Shape;241;p18"/>
              <p:cNvGrpSpPr/>
              <p:nvPr/>
            </p:nvGrpSpPr>
            <p:grpSpPr>
              <a:xfrm>
                <a:off x="333375" y="0"/>
                <a:ext cx="4762500" cy="476400"/>
                <a:chOff x="0" y="0"/>
                <a:chExt cx="4762500" cy="476400"/>
              </a:xfrm>
            </p:grpSpPr>
            <p:sp>
              <p:nvSpPr>
                <p:cNvPr id="242" name="Google Shape;242;p18"/>
                <p:cNvSpPr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18"/>
                <p:cNvSpPr txBox="1"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Cleaner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projects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244" name="Google Shape;244;p18"/>
            <p:cNvGrpSpPr/>
            <p:nvPr/>
          </p:nvGrpSpPr>
          <p:grpSpPr>
            <a:xfrm>
              <a:off x="762000" y="3333750"/>
              <a:ext cx="5095875" cy="476400"/>
              <a:chOff x="0" y="0"/>
              <a:chExt cx="5095875" cy="476400"/>
            </a:xfrm>
          </p:grpSpPr>
          <p:grpSp>
            <p:nvGrpSpPr>
              <p:cNvPr id="245" name="Google Shape;245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46" name="Google Shape;246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8" name="Google Shape;248;p18"/>
              <p:cNvGrpSpPr/>
              <p:nvPr/>
            </p:nvGrpSpPr>
            <p:grpSpPr>
              <a:xfrm>
                <a:off x="333375" y="0"/>
                <a:ext cx="4762500" cy="476400"/>
                <a:chOff x="0" y="0"/>
                <a:chExt cx="4762500" cy="476400"/>
              </a:xfrm>
            </p:grpSpPr>
            <p:sp>
              <p:nvSpPr>
                <p:cNvPr id="249" name="Google Shape;249;p18"/>
                <p:cNvSpPr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18"/>
                <p:cNvSpPr txBox="1"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Easy dependency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management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251" name="Google Shape;251;p18"/>
            <p:cNvGrpSpPr/>
            <p:nvPr/>
          </p:nvGrpSpPr>
          <p:grpSpPr>
            <a:xfrm>
              <a:off x="762000" y="3952875"/>
              <a:ext cx="5095875" cy="476400"/>
              <a:chOff x="0" y="0"/>
              <a:chExt cx="5095875" cy="476400"/>
            </a:xfrm>
          </p:grpSpPr>
          <p:grpSp>
            <p:nvGrpSpPr>
              <p:cNvPr id="252" name="Google Shape;252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53" name="Google Shape;253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5" name="Google Shape;255;p18"/>
              <p:cNvGrpSpPr/>
              <p:nvPr/>
            </p:nvGrpSpPr>
            <p:grpSpPr>
              <a:xfrm>
                <a:off x="333375" y="0"/>
                <a:ext cx="4762500" cy="476400"/>
                <a:chOff x="0" y="0"/>
                <a:chExt cx="4762500" cy="476400"/>
              </a:xfrm>
            </p:grpSpPr>
            <p:sp>
              <p:nvSpPr>
                <p:cNvPr id="256" name="Google Shape;256;p18"/>
                <p:cNvSpPr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18"/>
                <p:cNvSpPr txBox="1"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Easy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collaboration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258" name="Google Shape;258;p18"/>
            <p:cNvGrpSpPr/>
            <p:nvPr/>
          </p:nvGrpSpPr>
          <p:grpSpPr>
            <a:xfrm>
              <a:off x="762000" y="4572000"/>
              <a:ext cx="5095875" cy="476400"/>
              <a:chOff x="0" y="0"/>
              <a:chExt cx="5095875" cy="476400"/>
            </a:xfrm>
          </p:grpSpPr>
          <p:grpSp>
            <p:nvGrpSpPr>
              <p:cNvPr id="259" name="Google Shape;259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60" name="Google Shape;260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2" name="Google Shape;262;p18"/>
              <p:cNvGrpSpPr/>
              <p:nvPr/>
            </p:nvGrpSpPr>
            <p:grpSpPr>
              <a:xfrm>
                <a:off x="333375" y="0"/>
                <a:ext cx="4762500" cy="476400"/>
                <a:chOff x="0" y="0"/>
                <a:chExt cx="4762500" cy="476400"/>
              </a:xfrm>
            </p:grpSpPr>
            <p:sp>
              <p:nvSpPr>
                <p:cNvPr id="263" name="Google Shape;263;p18"/>
                <p:cNvSpPr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18"/>
                <p:cNvSpPr txBox="1"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Prevents version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conflicts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265" name="Google Shape;265;p18"/>
            <p:cNvGrpSpPr/>
            <p:nvPr/>
          </p:nvGrpSpPr>
          <p:grpSpPr>
            <a:xfrm>
              <a:off x="762000" y="5191125"/>
              <a:ext cx="5095875" cy="476400"/>
              <a:chOff x="0" y="0"/>
              <a:chExt cx="5095875" cy="476400"/>
            </a:xfrm>
          </p:grpSpPr>
          <p:grpSp>
            <p:nvGrpSpPr>
              <p:cNvPr id="266" name="Google Shape;266;p1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267" name="Google Shape;267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/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9" name="Google Shape;269;p18"/>
              <p:cNvGrpSpPr/>
              <p:nvPr/>
            </p:nvGrpSpPr>
            <p:grpSpPr>
              <a:xfrm>
                <a:off x="333375" y="0"/>
                <a:ext cx="4762500" cy="476400"/>
                <a:chOff x="0" y="0"/>
                <a:chExt cx="4762500" cy="476400"/>
              </a:xfrm>
            </p:grpSpPr>
            <p:sp>
              <p:nvSpPr>
                <p:cNvPr id="270" name="Google Shape;270;p18"/>
                <p:cNvSpPr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18"/>
                <p:cNvSpPr txBox="1"/>
                <p:nvPr/>
              </p:nvSpPr>
              <p:spPr>
                <a:xfrm>
                  <a:off x="0" y="0"/>
                  <a:ext cx="47625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Professional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development practice</a:t>
                  </a:r>
                  <a:endParaRPr b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272" name="Google Shape;272;p18"/>
          <p:cNvGrpSpPr/>
          <p:nvPr/>
        </p:nvGrpSpPr>
        <p:grpSpPr>
          <a:xfrm>
            <a:off x="6477000" y="1714500"/>
            <a:ext cx="4953000" cy="3952800"/>
            <a:chOff x="0" y="0"/>
            <a:chExt cx="4953000" cy="3952800"/>
          </a:xfrm>
        </p:grpSpPr>
        <p:sp>
          <p:nvSpPr>
            <p:cNvPr id="273" name="Google Shape;273;p18"/>
            <p:cNvSpPr/>
            <p:nvPr/>
          </p:nvSpPr>
          <p:spPr>
            <a:xfrm>
              <a:off x="0" y="0"/>
              <a:ext cx="4953000" cy="3952800"/>
            </a:xfrm>
            <a:prstGeom prst="roundRect">
              <a:avLst>
                <a:gd fmla="val 289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0" y="0"/>
              <a:ext cx="4953000" cy="47700"/>
            </a:xfrm>
            <a:prstGeom prst="roundRect">
              <a:avLst>
                <a:gd fmla="val 4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8"/>
            <p:cNvSpPr txBox="1"/>
            <p:nvPr/>
          </p:nvSpPr>
          <p:spPr>
            <a:xfrm>
              <a:off x="285750" y="238125"/>
              <a:ext cx="438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ENVIRONMENT ENCAPSULATION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76" name="Google Shape;2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619125"/>
              <a:ext cx="4191000" cy="314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venv?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86" name="Google Shape;286;p19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287" name="Google Shape;287;p19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8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python </a:t>
              </a:r>
              <a:r>
                <a:rPr b="0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-m venv environment_name</a:t>
              </a:r>
              <a:endParaRPr b="0" sz="130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292" name="Google Shape;292;p19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EXPLANATION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Official &amp; Built-in Module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238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74151"/>
                </a:buClr>
                <a:buSzPts val="1500"/>
                <a:buFont typeface="Inter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Built into Python (standard library)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4151"/>
                </a:buClr>
                <a:buSzPts val="1500"/>
                <a:buFont typeface="Inter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Official virtual environment module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4151"/>
                </a:buClr>
                <a:buSzPts val="1500"/>
                <a:buFont typeface="Inter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Available from Python 3.3+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74151"/>
                </a:buClr>
                <a:buSzPts val="1500"/>
                <a:buFont typeface="Inter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No installation required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Checking Python Installation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Before creating a virtual environment, verify installation. Open Command Prompt and type commands.</a:t>
            </a:r>
            <a:endParaRPr b="0" i="0" sz="1600" u="none" strike="noStrike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06" name="Google Shape;306;p20"/>
          <p:cNvGrpSpPr/>
          <p:nvPr/>
        </p:nvGrpSpPr>
        <p:grpSpPr>
          <a:xfrm>
            <a:off x="762000" y="1905000"/>
            <a:ext cx="10668000" cy="2286000"/>
            <a:chOff x="0" y="0"/>
            <a:chExt cx="10668000" cy="2286000"/>
          </a:xfrm>
        </p:grpSpPr>
        <p:sp>
          <p:nvSpPr>
            <p:cNvPr id="307" name="Google Shape;307;p20"/>
            <p:cNvSpPr/>
            <p:nvPr/>
          </p:nvSpPr>
          <p:spPr>
            <a:xfrm>
              <a:off x="0" y="0"/>
              <a:ext cx="10668000" cy="2286000"/>
            </a:xfrm>
            <a:prstGeom prst="roundRect">
              <a:avLst>
                <a:gd fmla="val 3333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381000" y="238125"/>
              <a:ext cx="9906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VERIFICATION COMMANDS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381000" y="666750"/>
              <a:ext cx="9906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C:\&gt;</a:t>
              </a:r>
              <a:r>
                <a:rPr b="0" lang="en" sz="13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 python --version</a:t>
              </a:r>
              <a:endParaRPr b="0" sz="130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Python 3.12.2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(or similar 3.x version)</a:t>
              </a:r>
              <a:endParaRPr b="0" sz="13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C:\&gt;</a:t>
              </a:r>
              <a:r>
                <a:rPr b="0" lang="en" sz="13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 py --version</a:t>
              </a:r>
              <a:endParaRPr b="0" sz="130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Python 3.12.2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(or similar 3.x version)</a:t>
              </a:r>
              <a:endParaRPr b="0" sz="13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762000" y="4524375"/>
            <a:ext cx="10668000" cy="809700"/>
            <a:chOff x="0" y="0"/>
            <a:chExt cx="10668000" cy="809700"/>
          </a:xfrm>
        </p:grpSpPr>
        <p:sp>
          <p:nvSpPr>
            <p:cNvPr id="312" name="Google Shape;312;p20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90500" y="0"/>
              <a:ext cx="10477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4" name="Google Shape;314;p20"/>
            <p:cNvSpPr txBox="1"/>
            <p:nvPr/>
          </p:nvSpPr>
          <p:spPr>
            <a:xfrm>
              <a:off x="190500" y="285750"/>
              <a:ext cx="10477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Always verify your Python path first.</a:t>
              </a:r>
              <a:endParaRPr b="0" sz="18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Creating a Virtual Environment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762000" y="128587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 the creation command in your project directory.</a:t>
            </a:r>
            <a:endParaRPr b="0" i="0" sz="1600" u="none" strike="noStrike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24" name="Google Shape;324;p21"/>
          <p:cNvGrpSpPr/>
          <p:nvPr/>
        </p:nvGrpSpPr>
        <p:grpSpPr>
          <a:xfrm>
            <a:off x="762000" y="2047875"/>
            <a:ext cx="5143500" cy="2571900"/>
            <a:chOff x="0" y="0"/>
            <a:chExt cx="5143500" cy="2571900"/>
          </a:xfrm>
        </p:grpSpPr>
        <p:sp>
          <p:nvSpPr>
            <p:cNvPr id="325" name="Google Shape;325;p21"/>
            <p:cNvSpPr/>
            <p:nvPr/>
          </p:nvSpPr>
          <p:spPr>
            <a:xfrm>
              <a:off x="0" y="0"/>
              <a:ext cx="5143500" cy="2571900"/>
            </a:xfrm>
            <a:prstGeom prst="roundRect">
              <a:avLst>
                <a:gd fmla="val 2962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0" y="0"/>
              <a:ext cx="57300" cy="2571900"/>
            </a:xfrm>
            <a:prstGeom prst="roundRect">
              <a:avLst>
                <a:gd fmla="val 49998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238125" y="238125"/>
              <a:ext cx="4667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CREATION COMMANDS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238125" y="714375"/>
              <a:ext cx="4667400" cy="16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python -m venv myenv</a:t>
              </a:r>
              <a:endParaRPr b="0" sz="130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OR</a:t>
              </a:r>
              <a:endParaRPr b="0" sz="1100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py -m venv myenv</a:t>
              </a:r>
              <a:endParaRPr b="0" sz="130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329" name="Google Shape;329;p21"/>
          <p:cNvGrpSpPr/>
          <p:nvPr/>
        </p:nvGrpSpPr>
        <p:grpSpPr>
          <a:xfrm>
            <a:off x="6286500" y="2047875"/>
            <a:ext cx="5143500" cy="2571900"/>
            <a:chOff x="0" y="0"/>
            <a:chExt cx="5143500" cy="2571900"/>
          </a:xfrm>
        </p:grpSpPr>
        <p:sp>
          <p:nvSpPr>
            <p:cNvPr id="330" name="Google Shape;330;p21"/>
            <p:cNvSpPr/>
            <p:nvPr/>
          </p:nvSpPr>
          <p:spPr>
            <a:xfrm>
              <a:off x="0" y="0"/>
              <a:ext cx="5143500" cy="2571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1"/>
            <p:cNvSpPr txBox="1"/>
            <p:nvPr/>
          </p:nvSpPr>
          <p:spPr>
            <a:xfrm>
              <a:off x="238125" y="238125"/>
              <a:ext cx="4667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ENVIRONMENT ISOLATION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>
              <a:off x="238125" y="714375"/>
              <a:ext cx="4667400" cy="16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Folder Created: </a:t>
              </a:r>
              <a:r>
                <a:rPr b="1" lang="en" sz="14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myenv/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 creates a folder named 'myenv/' containing everything needed for the isolated environment.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>
            <a:off x="762000" y="4905375"/>
            <a:ext cx="10668000" cy="809700"/>
            <a:chOff x="0" y="0"/>
            <a:chExt cx="10668000" cy="809700"/>
          </a:xfrm>
        </p:grpSpPr>
        <p:sp>
          <p:nvSpPr>
            <p:cNvPr id="335" name="Google Shape;335;p21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190500" y="0"/>
              <a:ext cx="10477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190500" y="285750"/>
              <a:ext cx="104775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By creating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'myenv/'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inside your project directory, you construct a standalone playground containing a local Python executable and separate package list.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38" name="Google Shape;338;p21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Folder Structure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47" name="Google Shape;347;p22"/>
          <p:cNvGrpSpPr/>
          <p:nvPr/>
        </p:nvGrpSpPr>
        <p:grpSpPr>
          <a:xfrm>
            <a:off x="762000" y="1619250"/>
            <a:ext cx="5143500" cy="4000500"/>
            <a:chOff x="0" y="0"/>
            <a:chExt cx="5143500" cy="4000500"/>
          </a:xfrm>
        </p:grpSpPr>
        <p:sp>
          <p:nvSpPr>
            <p:cNvPr id="348" name="Google Shape;348;p22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1904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9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238125" y="238125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DIRECTORY STRUCTURE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1" name="Google Shape;351;p22"/>
            <p:cNvSpPr txBox="1"/>
            <p:nvPr/>
          </p:nvSpPr>
          <p:spPr>
            <a:xfrm>
              <a:off x="238125" y="666750"/>
              <a:ext cx="46674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Project/</a:t>
              </a:r>
              <a:endParaRPr b="1" sz="1350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</a:t>
              </a:r>
              <a:r>
                <a:rPr b="1" lang="en" sz="1350">
                  <a:solidFill>
                    <a:srgbClr val="045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myenv/</a:t>
              </a:r>
              <a:r>
                <a:rPr b="0" lang="en" sz="135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(Virtual Env)</a:t>
              </a:r>
              <a:endParaRPr b="0" sz="135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├── Scripts/</a:t>
              </a:r>
              <a:endParaRPr b="0" sz="135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├── Lib/</a:t>
              </a:r>
              <a:endParaRPr b="0" sz="135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├── Include/</a:t>
              </a:r>
              <a:endParaRPr b="0" sz="135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│ └── pyvenv.cfg</a:t>
              </a:r>
              <a:endParaRPr b="0" sz="135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</a:t>
              </a:r>
              <a:r>
                <a:rPr b="1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main.py</a:t>
              </a:r>
              <a:r>
                <a:rPr b="0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(Your Code)</a:t>
              </a:r>
              <a:endParaRPr b="0" sz="1350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</a:t>
              </a:r>
              <a:r>
                <a:rPr b="1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requirements.txt</a:t>
              </a:r>
              <a:r>
                <a:rPr b="0" lang="en" sz="135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(Dependencies)</a:t>
              </a:r>
              <a:endParaRPr b="0" sz="1350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2" name="Google Shape;352;p22"/>
          <p:cNvGrpSpPr/>
          <p:nvPr/>
        </p:nvGrpSpPr>
        <p:grpSpPr>
          <a:xfrm>
            <a:off x="6286500" y="1619250"/>
            <a:ext cx="5143500" cy="1905000"/>
            <a:chOff x="0" y="0"/>
            <a:chExt cx="5143500" cy="1905000"/>
          </a:xfrm>
        </p:grpSpPr>
        <p:sp>
          <p:nvSpPr>
            <p:cNvPr id="353" name="Google Shape;353;p22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fmla="val 599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PROJECT ROOT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238125" y="666750"/>
              <a:ext cx="4667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Your main project files, like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main.py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requirements.txt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reside directly in the root directory alongside the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myenv/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folder.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7" name="Google Shape;357;p22"/>
          <p:cNvGrpSpPr/>
          <p:nvPr/>
        </p:nvGrpSpPr>
        <p:grpSpPr>
          <a:xfrm>
            <a:off x="6286500" y="3714750"/>
            <a:ext cx="5143500" cy="1905000"/>
            <a:chOff x="0" y="0"/>
            <a:chExt cx="5143500" cy="1905000"/>
          </a:xfrm>
        </p:grpSpPr>
        <p:sp>
          <p:nvSpPr>
            <p:cNvPr id="358" name="Google Shape;358;p22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fmla="val 599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ENVIRONMENT ISOLATION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1" name="Google Shape;361;p22"/>
            <p:cNvSpPr txBox="1"/>
            <p:nvPr/>
          </p:nvSpPr>
          <p:spPr>
            <a:xfrm>
              <a:off x="238125" y="666750"/>
              <a:ext cx="4667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myenv/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folder is a self-contained environment. You should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never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modify files inside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myenv/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directly; keep your personal code separate in the project root.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62" name="Google Shape;362;p22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Important Folders Inside venv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71" name="Google Shape;371;p23"/>
          <p:cNvGrpSpPr/>
          <p:nvPr/>
        </p:nvGrpSpPr>
        <p:grpSpPr>
          <a:xfrm>
            <a:off x="762000" y="1714500"/>
            <a:ext cx="3295800" cy="3619500"/>
            <a:chOff x="0" y="0"/>
            <a:chExt cx="3295800" cy="3619500"/>
          </a:xfrm>
        </p:grpSpPr>
        <p:sp>
          <p:nvSpPr>
            <p:cNvPr id="372" name="Google Shape;372;p23"/>
            <p:cNvSpPr/>
            <p:nvPr/>
          </p:nvSpPr>
          <p:spPr>
            <a:xfrm>
              <a:off x="0" y="0"/>
              <a:ext cx="3295800" cy="3619500"/>
            </a:xfrm>
            <a:prstGeom prst="roundRect">
              <a:avLst>
                <a:gd fmla="val 346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4" name="Google Shape;374;p23"/>
            <p:cNvGrpSpPr/>
            <p:nvPr/>
          </p:nvGrpSpPr>
          <p:grpSpPr>
            <a:xfrm>
              <a:off x="238125" y="238125"/>
              <a:ext cx="2819400" cy="285900"/>
              <a:chOff x="0" y="0"/>
              <a:chExt cx="2819400" cy="285900"/>
            </a:xfrm>
          </p:grpSpPr>
          <p:sp>
            <p:nvSpPr>
              <p:cNvPr id="375" name="Google Shape;375;p23"/>
              <p:cNvSpPr/>
              <p:nvPr/>
            </p:nvSpPr>
            <p:spPr>
              <a:xfrm>
                <a:off x="0" y="0"/>
                <a:ext cx="28194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3"/>
              <p:cNvSpPr txBox="1"/>
              <p:nvPr/>
            </p:nvSpPr>
            <p:spPr>
              <a:xfrm>
                <a:off x="0" y="0"/>
                <a:ext cx="2819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ENVIRONMENT BINARIES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7" name="Google Shape;377;p23"/>
            <p:cNvGrpSpPr/>
            <p:nvPr/>
          </p:nvGrpSpPr>
          <p:grpSpPr>
            <a:xfrm>
              <a:off x="238125" y="666750"/>
              <a:ext cx="2819400" cy="2667000"/>
              <a:chOff x="0" y="0"/>
              <a:chExt cx="2819400" cy="2667000"/>
            </a:xfrm>
          </p:grpSpPr>
          <p:sp>
            <p:nvSpPr>
              <p:cNvPr id="378" name="Google Shape;378;p23"/>
              <p:cNvSpPr/>
              <p:nvPr/>
            </p:nvSpPr>
            <p:spPr>
              <a:xfrm>
                <a:off x="0" y="0"/>
                <a:ext cx="28194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3"/>
              <p:cNvSpPr txBox="1"/>
              <p:nvPr/>
            </p:nvSpPr>
            <p:spPr>
              <a:xfrm>
                <a:off x="0" y="0"/>
                <a:ext cx="28194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700">
                    <a:solidFill>
                      <a:srgbClr val="1F2937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/Scripts</a:t>
                </a:r>
                <a:endParaRPr b="1" sz="17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Contains essential execution files and environment scripts.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Files Included:</a:t>
                </a:r>
                <a:endParaRPr b="0" sz="11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B7A4B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activate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Script to start the environment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B7A4B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python.exe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Local interpreter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B7A4B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pip.exe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Package installer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80" name="Google Shape;380;p23"/>
          <p:cNvGrpSpPr/>
          <p:nvPr/>
        </p:nvGrpSpPr>
        <p:grpSpPr>
          <a:xfrm>
            <a:off x="4438650" y="1714500"/>
            <a:ext cx="3295800" cy="3619500"/>
            <a:chOff x="0" y="0"/>
            <a:chExt cx="3295800" cy="3619500"/>
          </a:xfrm>
        </p:grpSpPr>
        <p:sp>
          <p:nvSpPr>
            <p:cNvPr id="381" name="Google Shape;381;p23"/>
            <p:cNvSpPr/>
            <p:nvPr/>
          </p:nvSpPr>
          <p:spPr>
            <a:xfrm>
              <a:off x="0" y="0"/>
              <a:ext cx="3295800" cy="3619500"/>
            </a:xfrm>
            <a:prstGeom prst="roundRect">
              <a:avLst>
                <a:gd fmla="val 346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3" name="Google Shape;383;p23"/>
            <p:cNvGrpSpPr/>
            <p:nvPr/>
          </p:nvGrpSpPr>
          <p:grpSpPr>
            <a:xfrm>
              <a:off x="238125" y="238125"/>
              <a:ext cx="2819400" cy="285900"/>
              <a:chOff x="0" y="0"/>
              <a:chExt cx="2819400" cy="285900"/>
            </a:xfrm>
          </p:grpSpPr>
          <p:sp>
            <p:nvSpPr>
              <p:cNvPr id="384" name="Google Shape;384;p23"/>
              <p:cNvSpPr/>
              <p:nvPr/>
            </p:nvSpPr>
            <p:spPr>
              <a:xfrm>
                <a:off x="0" y="0"/>
                <a:ext cx="28194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3"/>
              <p:cNvSpPr txBox="1"/>
              <p:nvPr/>
            </p:nvSpPr>
            <p:spPr>
              <a:xfrm>
                <a:off x="0" y="0"/>
                <a:ext cx="2819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EXTERNAL PACKAGES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6" name="Google Shape;386;p23"/>
            <p:cNvGrpSpPr/>
            <p:nvPr/>
          </p:nvGrpSpPr>
          <p:grpSpPr>
            <a:xfrm>
              <a:off x="238125" y="666750"/>
              <a:ext cx="2819400" cy="2667000"/>
              <a:chOff x="0" y="0"/>
              <a:chExt cx="2819400" cy="2667000"/>
            </a:xfrm>
          </p:grpSpPr>
          <p:sp>
            <p:nvSpPr>
              <p:cNvPr id="387" name="Google Shape;387;p23"/>
              <p:cNvSpPr/>
              <p:nvPr/>
            </p:nvSpPr>
            <p:spPr>
              <a:xfrm>
                <a:off x="0" y="0"/>
                <a:ext cx="28194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3"/>
              <p:cNvSpPr txBox="1"/>
              <p:nvPr/>
            </p:nvSpPr>
            <p:spPr>
              <a:xfrm>
                <a:off x="0" y="0"/>
                <a:ext cx="28194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700">
                    <a:solidFill>
                      <a:srgbClr val="1F2937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/Lib</a:t>
                </a:r>
                <a:endParaRPr b="1" sz="17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storage hub for all external dependencies installed via pip.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Key Directory Details:</a:t>
                </a:r>
                <a:endParaRPr b="0" sz="11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Contains all isolated </a:t>
                </a:r>
                <a:r>
                  <a:rPr b="0" lang="en" sz="14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third-party packages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required for the project.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Ensures project-level libraries do not interfere with the global Python setup.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89" name="Google Shape;389;p23"/>
          <p:cNvGrpSpPr/>
          <p:nvPr/>
        </p:nvGrpSpPr>
        <p:grpSpPr>
          <a:xfrm>
            <a:off x="8124825" y="1714500"/>
            <a:ext cx="3295800" cy="3619500"/>
            <a:chOff x="0" y="0"/>
            <a:chExt cx="3295800" cy="3619500"/>
          </a:xfrm>
        </p:grpSpPr>
        <p:sp>
          <p:nvSpPr>
            <p:cNvPr id="390" name="Google Shape;390;p23"/>
            <p:cNvSpPr/>
            <p:nvPr/>
          </p:nvSpPr>
          <p:spPr>
            <a:xfrm>
              <a:off x="0" y="0"/>
              <a:ext cx="3295800" cy="3619500"/>
            </a:xfrm>
            <a:prstGeom prst="roundRect">
              <a:avLst>
                <a:gd fmla="val 346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23"/>
            <p:cNvGrpSpPr/>
            <p:nvPr/>
          </p:nvGrpSpPr>
          <p:grpSpPr>
            <a:xfrm>
              <a:off x="238125" y="238125"/>
              <a:ext cx="2819400" cy="285900"/>
              <a:chOff x="0" y="0"/>
              <a:chExt cx="2819400" cy="285900"/>
            </a:xfrm>
          </p:grpSpPr>
          <p:sp>
            <p:nvSpPr>
              <p:cNvPr id="393" name="Google Shape;393;p23"/>
              <p:cNvSpPr/>
              <p:nvPr/>
            </p:nvSpPr>
            <p:spPr>
              <a:xfrm>
                <a:off x="0" y="0"/>
                <a:ext cx="28194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3"/>
              <p:cNvSpPr txBox="1"/>
              <p:nvPr/>
            </p:nvSpPr>
            <p:spPr>
              <a:xfrm>
                <a:off x="0" y="0"/>
                <a:ext cx="2819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CONFIGURATION FILE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5" name="Google Shape;395;p23"/>
            <p:cNvGrpSpPr/>
            <p:nvPr/>
          </p:nvGrpSpPr>
          <p:grpSpPr>
            <a:xfrm>
              <a:off x="238125" y="666750"/>
              <a:ext cx="2819400" cy="2667000"/>
              <a:chOff x="0" y="0"/>
              <a:chExt cx="2819400" cy="2667000"/>
            </a:xfrm>
          </p:grpSpPr>
          <p:sp>
            <p:nvSpPr>
              <p:cNvPr id="396" name="Google Shape;396;p23"/>
              <p:cNvSpPr/>
              <p:nvPr/>
            </p:nvSpPr>
            <p:spPr>
              <a:xfrm>
                <a:off x="0" y="0"/>
                <a:ext cx="28194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3"/>
              <p:cNvSpPr txBox="1"/>
              <p:nvPr/>
            </p:nvSpPr>
            <p:spPr>
              <a:xfrm>
                <a:off x="0" y="0"/>
                <a:ext cx="28194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73">
                    <a:solidFill>
                      <a:srgbClr val="1F2937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pyvenv.cfg</a:t>
                </a:r>
                <a:endParaRPr b="1" sz="1573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29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vital configuration meta-file located in the root of the venv folder.</a:t>
                </a:r>
                <a:endParaRPr b="0" sz="129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Functionality:</a:t>
                </a:r>
                <a:endParaRPr b="0" sz="1018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9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Stores properties pointing directly back to the base Python installation.</a:t>
                </a:r>
                <a:endParaRPr b="0" sz="129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9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Controls whether global system site-packages are accessible in the environment.</a:t>
                </a:r>
                <a:endParaRPr b="0" sz="129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98" name="Google Shape;398;p23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 | Important Folders Inside venv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Activating venv (Command Prompt)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762000" y="1619250"/>
            <a:ext cx="10668000" cy="2571900"/>
            <a:chOff x="0" y="0"/>
            <a:chExt cx="10668000" cy="2571900"/>
          </a:xfrm>
        </p:grpSpPr>
        <p:sp>
          <p:nvSpPr>
            <p:cNvPr id="409" name="Google Shape;409;p24"/>
            <p:cNvSpPr/>
            <p:nvPr/>
          </p:nvSpPr>
          <p:spPr>
            <a:xfrm>
              <a:off x="0" y="0"/>
              <a:ext cx="10668000" cy="2571900"/>
            </a:xfrm>
            <a:prstGeom prst="roundRect">
              <a:avLst>
                <a:gd fmla="val 2962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0" y="0"/>
              <a:ext cx="76200" cy="25719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 txBox="1"/>
            <p:nvPr/>
          </p:nvSpPr>
          <p:spPr>
            <a:xfrm>
              <a:off x="381000" y="238125"/>
              <a:ext cx="9906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COMMANDS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24"/>
            <p:cNvSpPr txBox="1"/>
            <p:nvPr/>
          </p:nvSpPr>
          <p:spPr>
            <a:xfrm>
              <a:off x="381000" y="619125"/>
              <a:ext cx="99060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cd Project</a:t>
              </a:r>
              <a:endParaRPr b="0" sz="130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myenv\Scripts\activate</a:t>
              </a:r>
              <a:endParaRPr b="0" sz="1300">
                <a:solidFill>
                  <a:srgbClr val="0B7A4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13" name="Google Shape;413;p24"/>
          <p:cNvGrpSpPr/>
          <p:nvPr/>
        </p:nvGrpSpPr>
        <p:grpSpPr>
          <a:xfrm>
            <a:off x="762000" y="4572000"/>
            <a:ext cx="10668000" cy="1143000"/>
            <a:chOff x="0" y="0"/>
            <a:chExt cx="10668000" cy="1143000"/>
          </a:xfrm>
        </p:grpSpPr>
        <p:sp>
          <p:nvSpPr>
            <p:cNvPr id="414" name="Google Shape;414;p24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fmla="val 666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0" y="0"/>
              <a:ext cx="76200" cy="11430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4"/>
            <p:cNvSpPr txBox="1"/>
            <p:nvPr/>
          </p:nvSpPr>
          <p:spPr>
            <a:xfrm>
              <a:off x="381000" y="190500"/>
              <a:ext cx="9906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EXPECTED PROMPT CHANGES TO INDICATE SUCCESS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7" name="Google Shape;417;p24"/>
            <p:cNvSpPr txBox="1"/>
            <p:nvPr/>
          </p:nvSpPr>
          <p:spPr>
            <a:xfrm>
              <a:off x="381000" y="523875"/>
              <a:ext cx="9906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(myenv) C:\Project&gt;</a:t>
              </a:r>
              <a:endParaRPr b="0" sz="1300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 | PowerShell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2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Activating venv (PowerShell)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7" name="Google Shape;427;p25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Initializing isolation and environment states within PowerShell.</a:t>
            </a:r>
            <a:endParaRPr b="0" i="0" sz="1600" u="none" strike="noStrike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28" name="Google Shape;428;p25"/>
          <p:cNvGrpSpPr/>
          <p:nvPr/>
        </p:nvGrpSpPr>
        <p:grpSpPr>
          <a:xfrm>
            <a:off x="762000" y="1905000"/>
            <a:ext cx="5143500" cy="3714900"/>
            <a:chOff x="0" y="0"/>
            <a:chExt cx="5143500" cy="3714900"/>
          </a:xfrm>
        </p:grpSpPr>
        <p:sp>
          <p:nvSpPr>
            <p:cNvPr id="429" name="Google Shape;429;p25"/>
            <p:cNvSpPr/>
            <p:nvPr/>
          </p:nvSpPr>
          <p:spPr>
            <a:xfrm>
              <a:off x="0" y="0"/>
              <a:ext cx="5143500" cy="3714900"/>
            </a:xfrm>
            <a:prstGeom prst="roundRect">
              <a:avLst>
                <a:gd fmla="val 307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0" y="0"/>
              <a:ext cx="57300" cy="37149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5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POWERSHELL ACTIVATION COMMAND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238125" y="619125"/>
              <a:ext cx="4667400" cy="8097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5"/>
            <p:cNvSpPr txBox="1"/>
            <p:nvPr/>
          </p:nvSpPr>
          <p:spPr>
            <a:xfrm>
              <a:off x="428625" y="762000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94A3B8"/>
                  </a:solidFill>
                  <a:latin typeface="Courier"/>
                  <a:ea typeface="Courier"/>
                  <a:cs typeface="Courier"/>
                  <a:sym typeface="Courier"/>
                </a:rPr>
                <a:t>PS C:\Project&gt;</a:t>
              </a:r>
              <a:r>
                <a:rPr b="1" lang="en" sz="1300">
                  <a:solidFill>
                    <a:srgbClr val="38BDF8"/>
                  </a:solidFill>
                  <a:latin typeface="Courier"/>
                  <a:ea typeface="Courier"/>
                  <a:cs typeface="Courier"/>
                  <a:sym typeface="Courier"/>
                </a:rPr>
                <a:t> .\myenv\Scripts\Activate.ps1</a:t>
              </a:r>
              <a:endParaRPr b="1" sz="1300">
                <a:solidFill>
                  <a:srgbClr val="38BDF8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434" name="Google Shape;434;p25"/>
            <p:cNvSpPr txBox="1"/>
            <p:nvPr/>
          </p:nvSpPr>
          <p:spPr>
            <a:xfrm>
              <a:off x="238125" y="1666875"/>
              <a:ext cx="4667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Relative Script Execution</a:t>
              </a:r>
              <a:endParaRPr b="0" sz="13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PowerShell uses dot-slash (</a:t>
              </a:r>
              <a:r>
                <a:rPr b="1" lang="en" sz="10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.\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) to execute the activation script in the current active working directory path.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Execution Policy Warning: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If scripts are disabled, open an elevated PowerShell window and execute: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F2937"/>
                  </a:solidFill>
                  <a:highlight>
                    <a:srgbClr val="F8F9FA"/>
                  </a:highlight>
                  <a:latin typeface="Courier"/>
                  <a:ea typeface="Courier"/>
                  <a:cs typeface="Courier"/>
                  <a:sym typeface="Courier"/>
                </a:rPr>
                <a:t>Set-ExecutionPolicy RemoteSigned -Scope Process</a:t>
              </a:r>
              <a:endParaRPr b="1" sz="1150">
                <a:solidFill>
                  <a:srgbClr val="1F2937"/>
                </a:solidFill>
                <a:highlight>
                  <a:srgbClr val="F8F9FA"/>
                </a:highlight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435" name="Google Shape;435;p25"/>
          <p:cNvGrpSpPr/>
          <p:nvPr/>
        </p:nvGrpSpPr>
        <p:grpSpPr>
          <a:xfrm>
            <a:off x="6286500" y="1905000"/>
            <a:ext cx="5143500" cy="3714900"/>
            <a:chOff x="0" y="0"/>
            <a:chExt cx="5143500" cy="3714900"/>
          </a:xfrm>
        </p:grpSpPr>
        <p:sp>
          <p:nvSpPr>
            <p:cNvPr id="436" name="Google Shape;436;p25"/>
            <p:cNvSpPr/>
            <p:nvPr/>
          </p:nvSpPr>
          <p:spPr>
            <a:xfrm>
              <a:off x="0" y="0"/>
              <a:ext cx="5143500" cy="3714900"/>
            </a:xfrm>
            <a:prstGeom prst="roundRect">
              <a:avLst>
                <a:gd fmla="val 3076" name="adj"/>
              </a:avLst>
            </a:prstGeom>
            <a:solidFill>
              <a:srgbClr val="EAF2EE"/>
            </a:solidFill>
            <a:ln cap="flat" cmpd="sng" w="9525">
              <a:solidFill>
                <a:srgbClr val="C3DF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5"/>
            <p:cNvSpPr/>
            <p:nvPr/>
          </p:nvSpPr>
          <p:spPr>
            <a:xfrm>
              <a:off x="0" y="0"/>
              <a:ext cx="57300" cy="3714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5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EXPECTED PROMPT CHANGES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238125" y="619125"/>
              <a:ext cx="4667400" cy="8097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5"/>
            <p:cNvSpPr txBox="1"/>
            <p:nvPr/>
          </p:nvSpPr>
          <p:spPr>
            <a:xfrm>
              <a:off x="428625" y="762000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BF24"/>
                  </a:solidFill>
                  <a:latin typeface="Courier"/>
                  <a:ea typeface="Courier"/>
                  <a:cs typeface="Courier"/>
                  <a:sym typeface="Courier"/>
                </a:rPr>
                <a:t>(myenv)</a:t>
              </a:r>
              <a:r>
                <a:rPr b="1" lang="en" sz="1300">
                  <a:solidFill>
                    <a:srgbClr val="34D399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1" lang="en" sz="1300">
                  <a:solidFill>
                    <a:srgbClr val="94A3B8"/>
                  </a:solidFill>
                  <a:latin typeface="Courier"/>
                  <a:ea typeface="Courier"/>
                  <a:cs typeface="Courier"/>
                  <a:sym typeface="Courier"/>
                </a:rPr>
                <a:t>PS C:\Project&gt;</a:t>
              </a:r>
              <a:r>
                <a:rPr b="1" lang="en" sz="1300">
                  <a:solidFill>
                    <a:srgbClr val="34D399"/>
                  </a:solidFill>
                  <a:latin typeface="Courier"/>
                  <a:ea typeface="Courier"/>
                  <a:cs typeface="Courier"/>
                  <a:sym typeface="Courier"/>
                </a:rPr>
                <a:t> _</a:t>
              </a:r>
              <a:endParaRPr b="1" sz="1300">
                <a:solidFill>
                  <a:srgbClr val="34D399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grpSp>
          <p:nvGrpSpPr>
            <p:cNvPr id="441" name="Google Shape;441;p25"/>
            <p:cNvGrpSpPr/>
            <p:nvPr/>
          </p:nvGrpSpPr>
          <p:grpSpPr>
            <a:xfrm>
              <a:off x="238125" y="1638300"/>
              <a:ext cx="4667175" cy="523800"/>
              <a:chOff x="0" y="-28575"/>
              <a:chExt cx="4667175" cy="523800"/>
            </a:xfrm>
          </p:grpSpPr>
          <p:grpSp>
            <p:nvGrpSpPr>
              <p:cNvPr id="442" name="Google Shape;442;p25"/>
              <p:cNvGrpSpPr/>
              <p:nvPr/>
            </p:nvGrpSpPr>
            <p:grpSpPr>
              <a:xfrm>
                <a:off x="0" y="0"/>
                <a:ext cx="190500" cy="190500"/>
                <a:chOff x="0" y="0"/>
                <a:chExt cx="190500" cy="190500"/>
              </a:xfrm>
            </p:grpSpPr>
            <p:sp>
              <p:nvSpPr>
                <p:cNvPr id="443" name="Google Shape;443;p2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2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45" name="Google Shape;445;p25"/>
              <p:cNvSpPr txBox="1"/>
              <p:nvPr/>
            </p:nvSpPr>
            <p:spPr>
              <a:xfrm>
                <a:off x="333375" y="-28575"/>
                <a:ext cx="4333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Prompt Prefix:</a:t>
                </a:r>
                <a:r>
                  <a:rPr b="0" lang="en" sz="12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b="1" lang="en" sz="1100">
                    <a:solidFill>
                      <a:srgbClr val="1F2937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(myenv)</a:t>
                </a:r>
                <a:r>
                  <a:rPr b="0" lang="en" sz="12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is prepended to the command line, confirming the environment is loaded.</a:t>
                </a:r>
                <a:endParaRPr b="0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46" name="Google Shape;446;p25"/>
            <p:cNvGrpSpPr/>
            <p:nvPr/>
          </p:nvGrpSpPr>
          <p:grpSpPr>
            <a:xfrm>
              <a:off x="238125" y="2257425"/>
              <a:ext cx="4667175" cy="523800"/>
              <a:chOff x="0" y="-28575"/>
              <a:chExt cx="4667175" cy="523800"/>
            </a:xfrm>
          </p:grpSpPr>
          <p:grpSp>
            <p:nvGrpSpPr>
              <p:cNvPr id="447" name="Google Shape;447;p25"/>
              <p:cNvGrpSpPr/>
              <p:nvPr/>
            </p:nvGrpSpPr>
            <p:grpSpPr>
              <a:xfrm>
                <a:off x="0" y="0"/>
                <a:ext cx="190500" cy="190500"/>
                <a:chOff x="0" y="0"/>
                <a:chExt cx="190500" cy="190500"/>
              </a:xfrm>
            </p:grpSpPr>
            <p:sp>
              <p:nvSpPr>
                <p:cNvPr id="448" name="Google Shape;448;p2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50" name="Google Shape;450;p25"/>
              <p:cNvSpPr txBox="1"/>
              <p:nvPr/>
            </p:nvSpPr>
            <p:spPr>
              <a:xfrm>
                <a:off x="333375" y="-28575"/>
                <a:ext cx="4333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Isolated Scope:</a:t>
                </a:r>
                <a:r>
                  <a:rPr b="0" lang="en" sz="111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Subsequent commands run isolated Python binaries and packages directly from inside the sandbox environment.</a:t>
                </a:r>
                <a:endParaRPr b="0" sz="111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51" name="Google Shape;451;p25"/>
            <p:cNvGrpSpPr/>
            <p:nvPr/>
          </p:nvGrpSpPr>
          <p:grpSpPr>
            <a:xfrm>
              <a:off x="238125" y="2876550"/>
              <a:ext cx="4667175" cy="523800"/>
              <a:chOff x="0" y="-28575"/>
              <a:chExt cx="4667175" cy="523800"/>
            </a:xfrm>
          </p:grpSpPr>
          <p:grpSp>
            <p:nvGrpSpPr>
              <p:cNvPr id="452" name="Google Shape;452;p25"/>
              <p:cNvGrpSpPr/>
              <p:nvPr/>
            </p:nvGrpSpPr>
            <p:grpSpPr>
              <a:xfrm>
                <a:off x="0" y="0"/>
                <a:ext cx="190500" cy="190500"/>
                <a:chOff x="0" y="0"/>
                <a:chExt cx="190500" cy="190500"/>
              </a:xfrm>
            </p:grpSpPr>
            <p:sp>
              <p:nvSpPr>
                <p:cNvPr id="453" name="Google Shape;453;p2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2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55" name="Google Shape;455;p25"/>
              <p:cNvSpPr txBox="1"/>
              <p:nvPr/>
            </p:nvSpPr>
            <p:spPr>
              <a:xfrm>
                <a:off x="333375" y="-28575"/>
                <a:ext cx="43338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Clean Exit:</a:t>
                </a:r>
                <a:r>
                  <a:rPr b="0" lang="en" sz="12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Run </a:t>
                </a:r>
                <a:r>
                  <a:rPr b="1" lang="en" sz="1100">
                    <a:solidFill>
                      <a:srgbClr val="1F2937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deactivate</a:t>
                </a:r>
                <a:r>
                  <a:rPr b="0" lang="en" sz="12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at any time in the same terminal state to cleanly restore regular global system shells.</a:t>
                </a:r>
                <a:endParaRPr b="0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PowerShell Environment Setup | Security &amp; Execution Policies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Troubleshooting PowerShell Execution Policy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Adjust the system execution policy to enable running local scripts and virtual environments.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6086475" y="1809750"/>
            <a:ext cx="19200" cy="4000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26"/>
          <p:cNvGrpSpPr/>
          <p:nvPr/>
        </p:nvGrpSpPr>
        <p:grpSpPr>
          <a:xfrm>
            <a:off x="762000" y="1809750"/>
            <a:ext cx="5143500" cy="3762375"/>
            <a:chOff x="0" y="0"/>
            <a:chExt cx="5143500" cy="3762375"/>
          </a:xfrm>
        </p:grpSpPr>
        <p:sp>
          <p:nvSpPr>
            <p:cNvPr id="467" name="Google Shape;467;p26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POWERSHELL CONFIGURATION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68" name="Google Shape;468;p26"/>
            <p:cNvGrpSpPr/>
            <p:nvPr/>
          </p:nvGrpSpPr>
          <p:grpSpPr>
            <a:xfrm>
              <a:off x="0" y="333375"/>
              <a:ext cx="5143500" cy="3429000"/>
              <a:chOff x="0" y="0"/>
              <a:chExt cx="5143500" cy="3429000"/>
            </a:xfrm>
          </p:grpSpPr>
          <p:sp>
            <p:nvSpPr>
              <p:cNvPr id="469" name="Google Shape;469;p26"/>
              <p:cNvSpPr/>
              <p:nvPr/>
            </p:nvSpPr>
            <p:spPr>
              <a:xfrm>
                <a:off x="0" y="0"/>
                <a:ext cx="5143500" cy="3429000"/>
              </a:xfrm>
              <a:prstGeom prst="roundRect">
                <a:avLst>
                  <a:gd fmla="val 2222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6"/>
              <p:cNvSpPr/>
              <p:nvPr/>
            </p:nvSpPr>
            <p:spPr>
              <a:xfrm>
                <a:off x="0" y="0"/>
                <a:ext cx="57300" cy="3429000"/>
              </a:xfrm>
              <a:prstGeom prst="roundRect">
                <a:avLst>
                  <a:gd fmla="val 49998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6"/>
              <p:cNvSpPr txBox="1"/>
              <p:nvPr/>
            </p:nvSpPr>
            <p:spPr>
              <a:xfrm>
                <a:off x="238125" y="238125"/>
                <a:ext cx="4667400" cy="295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# Step 1: Run the policy override command</a:t>
                </a:r>
                <a:endParaRPr b="0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Set-ExecutionPolicy RemoteSigned -Scope CurrentUser</a:t>
                </a:r>
                <a:endParaRPr b="0" sz="115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# Step 2: Activate the virtual environment</a:t>
                </a:r>
                <a:endParaRPr b="0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045A36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.\venv\Scripts\Activate.ps1</a:t>
                </a:r>
                <a:endParaRPr b="0" sz="115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16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Execution Success:</a:t>
                </a:r>
                <a:endParaRPr b="0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execution policy is successfully updated for the current user session, allowing local scripts to execute safely.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72" name="Google Shape;472;p26"/>
          <p:cNvGrpSpPr/>
          <p:nvPr/>
        </p:nvGrpSpPr>
        <p:grpSpPr>
          <a:xfrm>
            <a:off x="6477000" y="1809750"/>
            <a:ext cx="4953000" cy="3762225"/>
            <a:chOff x="0" y="0"/>
            <a:chExt cx="4953000" cy="3762225"/>
          </a:xfrm>
        </p:grpSpPr>
        <p:sp>
          <p:nvSpPr>
            <p:cNvPr id="473" name="Google Shape;473;p26"/>
            <p:cNvSpPr txBox="1"/>
            <p:nvPr/>
          </p:nvSpPr>
          <p:spPr>
            <a:xfrm>
              <a:off x="0" y="0"/>
              <a:ext cx="4953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SECURITY RESTRICTION</a:t>
              </a:r>
              <a:endParaRPr b="1" sz="12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4" name="Google Shape;474;p26"/>
            <p:cNvSpPr txBox="1"/>
            <p:nvPr/>
          </p:nvSpPr>
          <p:spPr>
            <a:xfrm>
              <a:off x="0" y="333375"/>
              <a:ext cx="4953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Script Execution Blocked:</a:t>
              </a:r>
              <a:endParaRPr b="0" sz="1275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By default, Windows restricts script execution to protect systems from untrusted commands. This safety measure triggers a standard error during venv activation.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system blocks the execution of the </a:t>
              </a:r>
              <a:r>
                <a:rPr b="0" lang="en" sz="893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Activate.ps1</a:t>
              </a: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script.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5" name="Google Shape;475;p26"/>
            <p:cNvGrpSpPr/>
            <p:nvPr/>
          </p:nvGrpSpPr>
          <p:grpSpPr>
            <a:xfrm>
              <a:off x="0" y="1762125"/>
              <a:ext cx="4953000" cy="2000100"/>
              <a:chOff x="0" y="0"/>
              <a:chExt cx="4953000" cy="2000100"/>
            </a:xfrm>
          </p:grpSpPr>
          <p:sp>
            <p:nvSpPr>
              <p:cNvPr id="476" name="Google Shape;476;p26"/>
              <p:cNvSpPr/>
              <p:nvPr/>
            </p:nvSpPr>
            <p:spPr>
              <a:xfrm>
                <a:off x="0" y="0"/>
                <a:ext cx="4953000" cy="2000100"/>
              </a:xfrm>
              <a:prstGeom prst="roundRect">
                <a:avLst>
                  <a:gd fmla="val 3808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6"/>
              <p:cNvSpPr/>
              <p:nvPr/>
            </p:nvSpPr>
            <p:spPr>
              <a:xfrm>
                <a:off x="0" y="0"/>
                <a:ext cx="57300" cy="2000100"/>
              </a:xfrm>
              <a:prstGeom prst="roundRect">
                <a:avLst>
                  <a:gd fmla="val 49998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6"/>
              <p:cNvSpPr txBox="1"/>
              <p:nvPr/>
            </p:nvSpPr>
            <p:spPr>
              <a:xfrm>
                <a:off x="238125" y="190500"/>
                <a:ext cx="4476900" cy="16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B91C1C"/>
                    </a:solidFill>
                    <a:latin typeface="Inter"/>
                    <a:ea typeface="Inter"/>
                    <a:cs typeface="Inter"/>
                    <a:sym typeface="Inter"/>
                  </a:rPr>
                  <a:t>Console Output (Execution Error)</a:t>
                </a:r>
                <a:endParaRPr b="1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7F1D1D"/>
                    </a:solidFill>
                    <a:highlight>
                      <a:srgbClr val="FFF1F1"/>
                    </a:highlight>
                    <a:latin typeface="Courier"/>
                    <a:ea typeface="Courier"/>
                    <a:cs typeface="Courier"/>
                    <a:sym typeface="Courier"/>
                  </a:rPr>
                  <a:t>CategoryInfo: SecurityError: (:) [], ParentContainsErrorRecordException</a:t>
                </a:r>
                <a:endParaRPr b="0" sz="1150">
                  <a:solidFill>
                    <a:srgbClr val="7F1D1D"/>
                  </a:solidFill>
                  <a:highlight>
                    <a:srgbClr val="FFF1F1"/>
                  </a:highlight>
                  <a:latin typeface="Courier"/>
                  <a:ea typeface="Courier"/>
                  <a:cs typeface="Courier"/>
                  <a:sym typeface="Courier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Error Message:</a:t>
                </a:r>
                <a:endParaRPr b="0" sz="11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"Running scripts is disabled on this system"</a:t>
                </a:r>
                <a:endParaRPr b="0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Installing Packages with pip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88" name="Google Shape;488;p27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489" name="Google Shape;489;p27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8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7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TERMINAL COMMANDS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2" name="Google Shape;492;p27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INSTALL SINGLE PACKAGE</a:t>
              </a:r>
              <a:endParaRPr b="1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highlight>
                    <a:srgbClr val="E2E8F0"/>
                  </a:highlight>
                  <a:latin typeface="Courier"/>
                  <a:ea typeface="Courier"/>
                  <a:cs typeface="Courier"/>
                  <a:sym typeface="Courier"/>
                </a:rPr>
                <a:t>(myenv) &gt; </a:t>
              </a:r>
              <a:r>
                <a:rPr b="0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install numpy</a:t>
              </a:r>
              <a:endParaRPr b="0" sz="1350">
                <a:solidFill>
                  <a:srgbClr val="1F2937"/>
                </a:solidFill>
                <a:highlight>
                  <a:srgbClr val="E2E8F0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INSTALL MULTIPLE PACKAGES</a:t>
              </a:r>
              <a:endParaRPr b="1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highlight>
                    <a:srgbClr val="E2E8F0"/>
                  </a:highlight>
                  <a:latin typeface="Courier"/>
                  <a:ea typeface="Courier"/>
                  <a:cs typeface="Courier"/>
                  <a:sym typeface="Courier"/>
                </a:rPr>
                <a:t>(myenv) &gt; </a:t>
              </a:r>
              <a:r>
                <a:rPr b="0" lang="en" sz="13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install pandas matplotlib</a:t>
              </a:r>
              <a:endParaRPr b="0" sz="1350">
                <a:solidFill>
                  <a:srgbClr val="1F2937"/>
                </a:solidFill>
                <a:highlight>
                  <a:srgbClr val="E2E8F0"/>
                </a:highlight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493" name="Google Shape;493;p27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494" name="Google Shape;494;p27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7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EXPLANATION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7" name="Google Shape;497;p27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Isolated Installation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Packages are installed </a:t>
              </a:r>
              <a:r>
                <a:rPr b="0" lang="en" sz="13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only inside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active virtual environment. This keeps project dependencies isolated and prevents global system pollution.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Local Directory Structure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pip dynamically downloads the library binaries locally into the </a:t>
              </a:r>
              <a:r>
                <a:rPr b="0" lang="en" sz="125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myenv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directory structure, preserving the system path.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Google Shape;506;p2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Checking Installed Packages</a:t>
            </a:r>
            <a:endParaRPr b="0" i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7" name="Google Shape;507;p28"/>
          <p:cNvSpPr txBox="1"/>
          <p:nvPr/>
        </p:nvSpPr>
        <p:spPr>
          <a:xfrm>
            <a:off x="762000" y="1428750"/>
            <a:ext cx="51435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COMMAND EXECUTION</a:t>
            </a:r>
            <a:endParaRPr b="1" i="0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08" name="Google Shape;508;p28"/>
          <p:cNvGrpSpPr/>
          <p:nvPr/>
        </p:nvGrpSpPr>
        <p:grpSpPr>
          <a:xfrm>
            <a:off x="762000" y="1762125"/>
            <a:ext cx="5143500" cy="3905400"/>
            <a:chOff x="0" y="0"/>
            <a:chExt cx="5143500" cy="3905400"/>
          </a:xfrm>
        </p:grpSpPr>
        <p:sp>
          <p:nvSpPr>
            <p:cNvPr id="509" name="Google Shape;509;p28"/>
            <p:cNvSpPr/>
            <p:nvPr/>
          </p:nvSpPr>
          <p:spPr>
            <a:xfrm>
              <a:off x="0" y="0"/>
              <a:ext cx="5143500" cy="3905400"/>
            </a:xfrm>
            <a:prstGeom prst="roundRect">
              <a:avLst>
                <a:gd fmla="val 1951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0" y="0"/>
              <a:ext cx="57300" cy="3905400"/>
            </a:xfrm>
            <a:prstGeom prst="roundRect">
              <a:avLst>
                <a:gd fmla="val 49869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8"/>
            <p:cNvSpPr txBox="1"/>
            <p:nvPr/>
          </p:nvSpPr>
          <p:spPr>
            <a:xfrm>
              <a:off x="238125" y="238125"/>
              <a:ext cx="4667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0B981"/>
                  </a:solidFill>
                  <a:highlight>
                    <a:srgbClr val="0F172A"/>
                  </a:highlight>
                  <a:latin typeface="Courier"/>
                  <a:ea typeface="Courier"/>
                  <a:cs typeface="Courier"/>
                  <a:sym typeface="Courier"/>
                </a:rPr>
                <a:t>(my_env) C:\Project&gt;</a:t>
              </a:r>
              <a:r>
                <a:rPr b="1" lang="en" sz="1300">
                  <a:solidFill>
                    <a:srgbClr val="38BDF8"/>
                  </a:solidFill>
                  <a:highlight>
                    <a:srgbClr val="0F172A"/>
                  </a:highlight>
                  <a:latin typeface="Courier"/>
                  <a:ea typeface="Courier"/>
                  <a:cs typeface="Courier"/>
                  <a:sym typeface="Courier"/>
                </a:rPr>
                <a:t> pip list</a:t>
              </a:r>
              <a:endParaRPr b="1" sz="1300">
                <a:solidFill>
                  <a:srgbClr val="38BDF8"/>
                </a:solidFill>
                <a:highlight>
                  <a:srgbClr val="0F172A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Verifying Your Environment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command inspects the active environment to list all currently installed libraries and their exact versions.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b="0" lang="en" sz="11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Isolation Check: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Confirm that your dependencies are safely contained inside the virtual environment.</a:t>
              </a:r>
              <a:endParaRPr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b="0" lang="en" sz="11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Default Packages: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Core utilities like </a:t>
              </a:r>
              <a:r>
                <a:rPr b="0" lang="en" sz="115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pip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0" lang="en" sz="115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setuptools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are always listed.</a:t>
              </a:r>
              <a:endParaRPr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b="0" lang="en" sz="11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Dependency Audit:</a:t>
              </a:r>
              <a:r>
                <a:rPr lang="en" sz="11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Easily audit version numbers to prevent library mismatch errors during execution.</a:t>
              </a:r>
              <a:endParaRPr sz="11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2" name="Google Shape;512;p28"/>
          <p:cNvSpPr txBox="1"/>
          <p:nvPr/>
        </p:nvSpPr>
        <p:spPr>
          <a:xfrm>
            <a:off x="6286500" y="1428750"/>
            <a:ext cx="51435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SIMULATED OUTPUT</a:t>
            </a:r>
            <a:endParaRPr b="1" i="0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13" name="Google Shape;513;p28"/>
          <p:cNvGrpSpPr/>
          <p:nvPr/>
        </p:nvGrpSpPr>
        <p:grpSpPr>
          <a:xfrm>
            <a:off x="6286500" y="1762125"/>
            <a:ext cx="5143500" cy="3905400"/>
            <a:chOff x="0" y="0"/>
            <a:chExt cx="5143500" cy="3905400"/>
          </a:xfrm>
        </p:grpSpPr>
        <p:sp>
          <p:nvSpPr>
            <p:cNvPr id="514" name="Google Shape;514;p28"/>
            <p:cNvSpPr/>
            <p:nvPr/>
          </p:nvSpPr>
          <p:spPr>
            <a:xfrm>
              <a:off x="0" y="0"/>
              <a:ext cx="5143500" cy="3905400"/>
            </a:xfrm>
            <a:prstGeom prst="roundRect">
              <a:avLst>
                <a:gd fmla="val 292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8"/>
            <p:cNvSpPr txBox="1"/>
            <p:nvPr/>
          </p:nvSpPr>
          <p:spPr>
            <a:xfrm>
              <a:off x="238125" y="238125"/>
              <a:ext cx="4667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ENVIRONMENT PACKAGES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Package Version</a:t>
              </a:r>
              <a:endParaRPr b="1" sz="1300">
                <a:solidFill>
                  <a:srgbClr val="045A36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9CA3AF"/>
                  </a:solidFill>
                  <a:latin typeface="Courier"/>
                  <a:ea typeface="Courier"/>
                  <a:cs typeface="Courier"/>
                  <a:sym typeface="Courier"/>
                </a:rPr>
                <a:t>----------- -------</a:t>
              </a:r>
              <a:endParaRPr sz="1300">
                <a:solidFill>
                  <a:srgbClr val="9CA3AF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matplotlib 3.8.2</a:t>
              </a:r>
              <a:endParaRPr sz="13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numpy 1.26.2</a:t>
              </a:r>
              <a:endParaRPr sz="13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pandas 2.1.4</a:t>
              </a:r>
              <a:endParaRPr sz="13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pip 23.3.1</a:t>
              </a:r>
              <a:endParaRPr sz="13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setuptools 68.2.2</a:t>
              </a:r>
              <a:endParaRPr sz="13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✓ Core Dependencies Successfully Loaded</a:t>
              </a:r>
              <a:endParaRPr b="0" sz="125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These packages represent the completely isolated installation stack, ensuring standard scientific environments compile correctly without cross-project collisions.</a:t>
              </a:r>
              <a:endParaRPr b="0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Viewing Detailed Package Info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Using pip show to retrieve comprehensive metadata about installed Python packages.</a:t>
            </a:r>
            <a:endParaRPr b="0" i="0" sz="1600" u="none" strike="noStrike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26" name="Google Shape;526;p29"/>
          <p:cNvGrpSpPr/>
          <p:nvPr/>
        </p:nvGrpSpPr>
        <p:grpSpPr>
          <a:xfrm>
            <a:off x="762000" y="1857375"/>
            <a:ext cx="5143500" cy="4000500"/>
            <a:chOff x="0" y="0"/>
            <a:chExt cx="5143500" cy="4000500"/>
          </a:xfrm>
        </p:grpSpPr>
        <p:sp>
          <p:nvSpPr>
            <p:cNvPr id="527" name="Google Shape;527;p29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 txBox="1"/>
            <p:nvPr/>
          </p:nvSpPr>
          <p:spPr>
            <a:xfrm>
              <a:off x="238125" y="238125"/>
              <a:ext cx="46674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TERMINAL COMMAND &amp; OUTPUT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0" name="Google Shape;530;p29"/>
            <p:cNvSpPr txBox="1"/>
            <p:nvPr/>
          </p:nvSpPr>
          <p:spPr>
            <a:xfrm>
              <a:off x="238125" y="666750"/>
              <a:ext cx="4667400" cy="309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D4A017"/>
                  </a:solidFill>
                  <a:latin typeface="Courier"/>
                  <a:ea typeface="Courier"/>
                  <a:cs typeface="Courier"/>
                  <a:sym typeface="Courier"/>
                </a:rPr>
                <a:t>$ </a:t>
              </a:r>
              <a:r>
                <a:rPr b="1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pip show pandas</a:t>
              </a:r>
              <a:endParaRPr b="0" sz="1300">
                <a:solidFill>
                  <a:srgbClr val="D4A01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Courier"/>
                  <a:ea typeface="Courier"/>
                  <a:cs typeface="Courier"/>
                  <a:sym typeface="Courier"/>
                </a:rPr>
                <a:t>Name: </a:t>
              </a:r>
              <a:r>
                <a:rPr b="0" lang="en" sz="11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pandas</a:t>
              </a:r>
              <a:endParaRPr b="0" sz="1150">
                <a:solidFill>
                  <a:srgbClr val="4B5563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Courier"/>
                  <a:ea typeface="Courier"/>
                  <a:cs typeface="Courier"/>
                  <a:sym typeface="Courier"/>
                </a:rPr>
                <a:t>Version: </a:t>
              </a:r>
              <a:r>
                <a:rPr b="0" lang="en" sz="11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2.2.2</a:t>
              </a:r>
              <a:endParaRPr b="0" sz="1150">
                <a:solidFill>
                  <a:srgbClr val="4B5563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Courier"/>
                  <a:ea typeface="Courier"/>
                  <a:cs typeface="Courier"/>
                  <a:sym typeface="Courier"/>
                </a:rPr>
                <a:t>Summary: </a:t>
              </a:r>
              <a:r>
                <a:rPr b="0" lang="en" sz="11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Powerful data structures for data analysis...</a:t>
              </a:r>
              <a:endParaRPr b="0" sz="1150">
                <a:solidFill>
                  <a:srgbClr val="4B5563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Courier"/>
                  <a:ea typeface="Courier"/>
                  <a:cs typeface="Courier"/>
                  <a:sym typeface="Courier"/>
                </a:rPr>
                <a:t>Author: </a:t>
              </a:r>
              <a:r>
                <a:rPr b="0" lang="en" sz="11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The Pandas Development Team</a:t>
              </a:r>
              <a:endParaRPr b="0" sz="1150">
                <a:solidFill>
                  <a:srgbClr val="4B5563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Courier"/>
                  <a:ea typeface="Courier"/>
                  <a:cs typeface="Courier"/>
                  <a:sym typeface="Courier"/>
                </a:rPr>
                <a:t>Location: </a:t>
              </a:r>
              <a:r>
                <a:rPr b="0" lang="en" sz="11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c:\python311\lib\site-packages</a:t>
              </a:r>
              <a:endParaRPr b="0" sz="1150">
                <a:solidFill>
                  <a:srgbClr val="4B5563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B5563"/>
                  </a:solidFill>
                  <a:latin typeface="Courier"/>
                  <a:ea typeface="Courier"/>
                  <a:cs typeface="Courier"/>
                  <a:sym typeface="Courier"/>
                </a:rPr>
                <a:t>Requires: </a:t>
              </a:r>
              <a:r>
                <a:rPr b="0" lang="en" sz="11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numpy, python-dateutil, pytz</a:t>
              </a:r>
              <a:endParaRPr b="0" sz="1150">
                <a:solidFill>
                  <a:srgbClr val="4B5563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531" name="Google Shape;531;p29"/>
          <p:cNvGrpSpPr/>
          <p:nvPr/>
        </p:nvGrpSpPr>
        <p:grpSpPr>
          <a:xfrm>
            <a:off x="6286500" y="1857375"/>
            <a:ext cx="5143500" cy="4000500"/>
            <a:chOff x="0" y="0"/>
            <a:chExt cx="5143500" cy="4000500"/>
          </a:xfrm>
        </p:grpSpPr>
        <p:sp>
          <p:nvSpPr>
            <p:cNvPr id="532" name="Google Shape;532;p29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EXPECTED INFO DISPLAYED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5" name="Google Shape;535;p29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Metadata Attributes Explained</a:t>
              </a:r>
              <a:endParaRPr b="0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• Name &amp; Version: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Identifies the exact package and its installed release version.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• Summary &amp; Author: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 brief description of the package's purpose and its developers.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• Location: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file system path where the package's source code is stored on your machine.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• Dependencies (Requires):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Other prerequisite libraries required by this package to run correctly.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36" name="Google Shape;536;p29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Package Management | Managing Dependencies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Freezing Dependencies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strike="noStrike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rPr>
              <a:t>Save the list</a:t>
            </a:r>
            <a:r>
              <a:rPr b="0" i="0" lang="en" sz="160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of installed packages to share with others.</a:t>
            </a:r>
            <a:endParaRPr b="1" i="0" sz="1600" u="none" strike="noStrike">
              <a:solidFill>
                <a:srgbClr val="045A3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762000" y="1905000"/>
            <a:ext cx="5143500" cy="3619500"/>
            <a:chOff x="0" y="0"/>
            <a:chExt cx="5143500" cy="3619500"/>
          </a:xfrm>
        </p:grpSpPr>
        <p:sp>
          <p:nvSpPr>
            <p:cNvPr id="547" name="Google Shape;547;p30"/>
            <p:cNvSpPr/>
            <p:nvPr/>
          </p:nvSpPr>
          <p:spPr>
            <a:xfrm>
              <a:off x="0" y="0"/>
              <a:ext cx="5143500" cy="3619500"/>
            </a:xfrm>
            <a:prstGeom prst="roundRect">
              <a:avLst>
                <a:gd fmla="val 31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0" y="0"/>
              <a:ext cx="57300" cy="3619500"/>
            </a:xfrm>
            <a:prstGeom prst="roundRect">
              <a:avLst>
                <a:gd fmla="val 49869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0"/>
            <p:cNvSpPr txBox="1"/>
            <p:nvPr/>
          </p:nvSpPr>
          <p:spPr>
            <a:xfrm>
              <a:off x="238125" y="238125"/>
              <a:ext cx="4667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FREEZE COMMAND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Export Environment State</a:t>
              </a:r>
              <a:endParaRPr b="0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freeze &gt; requirements.txt</a:t>
              </a:r>
              <a:endParaRPr b="1" sz="140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 writes a complete, ordered list of all currently installed libraries and their exact active versions to a sharing-ready file.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0" name="Google Shape;550;p30"/>
          <p:cNvGrpSpPr/>
          <p:nvPr/>
        </p:nvGrpSpPr>
        <p:grpSpPr>
          <a:xfrm>
            <a:off x="6286500" y="1905000"/>
            <a:ext cx="5143500" cy="3619500"/>
            <a:chOff x="0" y="0"/>
            <a:chExt cx="5143500" cy="3619500"/>
          </a:xfrm>
        </p:grpSpPr>
        <p:sp>
          <p:nvSpPr>
            <p:cNvPr id="551" name="Google Shape;551;p30"/>
            <p:cNvSpPr/>
            <p:nvPr/>
          </p:nvSpPr>
          <p:spPr>
            <a:xfrm>
              <a:off x="0" y="0"/>
              <a:ext cx="5143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0"/>
            <p:cNvSpPr txBox="1"/>
            <p:nvPr/>
          </p:nvSpPr>
          <p:spPr>
            <a:xfrm>
              <a:off x="238125" y="238125"/>
              <a:ext cx="4667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OUTPUT FILE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Inside requirements.txt</a:t>
              </a:r>
              <a:endParaRPr b="0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numpy==2.1.0</a:t>
              </a:r>
              <a:endParaRPr b="1" sz="14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2937"/>
                  </a:solidFill>
                  <a:highlight>
                    <a:srgbClr val="F8FAFC"/>
                  </a:highlight>
                  <a:latin typeface="Courier"/>
                  <a:ea typeface="Courier"/>
                  <a:cs typeface="Courier"/>
                  <a:sym typeface="Courier"/>
                </a:rPr>
                <a:t>pandas==2.2.3</a:t>
              </a:r>
              <a:endParaRPr b="1" sz="1400">
                <a:solidFill>
                  <a:srgbClr val="1F2937"/>
                </a:solidFill>
                <a:highlight>
                  <a:srgbClr val="F8FAFC"/>
                </a:highlight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double equals </a:t>
              </a:r>
              <a:r>
                <a:rPr b="1" lang="en" sz="135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==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locks (pins) the exact version, ensuring identical environment setups across different machines.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54" name="Google Shape;554;p30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31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562" name="Google Shape;562;p31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Recreating Environments from requirements.txt</a:t>
              </a:r>
              <a:endParaRPr b="0" i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31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566" name="Google Shape;566;p31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8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8" name="Google Shape;568;p31"/>
            <p:cNvGrpSpPr/>
            <p:nvPr/>
          </p:nvGrpSpPr>
          <p:grpSpPr>
            <a:xfrm>
              <a:off x="238125" y="238125"/>
              <a:ext cx="4667400" cy="285900"/>
              <a:chOff x="0" y="0"/>
              <a:chExt cx="4667400" cy="285900"/>
            </a:xfrm>
          </p:grpSpPr>
          <p:sp>
            <p:nvSpPr>
              <p:cNvPr id="569" name="Google Shape;569;p31"/>
              <p:cNvSpPr/>
              <p:nvPr/>
            </p:nvSpPr>
            <p:spPr>
              <a:xfrm>
                <a:off x="0" y="0"/>
                <a:ext cx="46674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31"/>
              <p:cNvSpPr txBox="1"/>
              <p:nvPr/>
            </p:nvSpPr>
            <p:spPr>
              <a:xfrm>
                <a:off x="0" y="0"/>
                <a:ext cx="466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TERMINAL COMMAND</a:t>
                </a:r>
                <a:endParaRPr b="1" i="0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71" name="Google Shape;571;p31"/>
            <p:cNvGrpSpPr/>
            <p:nvPr/>
          </p:nvGrpSpPr>
          <p:grpSpPr>
            <a:xfrm>
              <a:off x="238125" y="714375"/>
              <a:ext cx="4667400" cy="3000300"/>
              <a:chOff x="0" y="0"/>
              <a:chExt cx="4667400" cy="3000300"/>
            </a:xfrm>
          </p:grpSpPr>
          <p:sp>
            <p:nvSpPr>
              <p:cNvPr id="572" name="Google Shape;572;p31"/>
              <p:cNvSpPr/>
              <p:nvPr/>
            </p:nvSpPr>
            <p:spPr>
              <a:xfrm>
                <a:off x="0" y="0"/>
                <a:ext cx="4667400" cy="3000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31"/>
              <p:cNvSpPr txBox="1"/>
              <p:nvPr/>
            </p:nvSpPr>
            <p:spPr>
              <a:xfrm>
                <a:off x="0" y="0"/>
                <a:ext cx="4667400" cy="30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750"/>
                  </a:spcAft>
                  <a:buNone/>
                </a:pPr>
                <a:r>
                  <a:rPr b="0" i="0" lang="en" sz="1500">
                    <a:solidFill>
                      <a:srgbClr val="0B7A4B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pip</a:t>
                </a:r>
                <a:r>
                  <a:rPr b="0" i="0" lang="en" sz="1500">
                    <a:solidFill>
                      <a:srgbClr val="1F2937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 install -r requirements.txt</a:t>
                </a:r>
                <a:endParaRPr b="0" i="0" sz="15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</p:txBody>
          </p:sp>
        </p:grpSp>
      </p:grpSp>
      <p:grpSp>
        <p:nvGrpSpPr>
          <p:cNvPr id="574" name="Google Shape;574;p31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575" name="Google Shape;575;p31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7" name="Google Shape;577;p31"/>
            <p:cNvGrpSpPr/>
            <p:nvPr/>
          </p:nvGrpSpPr>
          <p:grpSpPr>
            <a:xfrm>
              <a:off x="238125" y="238125"/>
              <a:ext cx="4667400" cy="285900"/>
              <a:chOff x="0" y="0"/>
              <a:chExt cx="4667400" cy="285900"/>
            </a:xfrm>
          </p:grpSpPr>
          <p:sp>
            <p:nvSpPr>
              <p:cNvPr id="578" name="Google Shape;578;p31"/>
              <p:cNvSpPr/>
              <p:nvPr/>
            </p:nvSpPr>
            <p:spPr>
              <a:xfrm>
                <a:off x="0" y="0"/>
                <a:ext cx="4667400" cy="285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31"/>
              <p:cNvSpPr txBox="1"/>
              <p:nvPr/>
            </p:nvSpPr>
            <p:spPr>
              <a:xfrm>
                <a:off x="0" y="0"/>
                <a:ext cx="466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EXPLANATION</a:t>
                </a:r>
                <a:endParaRPr b="1" i="0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0" name="Google Shape;580;p31"/>
            <p:cNvGrpSpPr/>
            <p:nvPr/>
          </p:nvGrpSpPr>
          <p:grpSpPr>
            <a:xfrm>
              <a:off x="238125" y="714375"/>
              <a:ext cx="4667400" cy="3000300"/>
              <a:chOff x="0" y="0"/>
              <a:chExt cx="4667400" cy="3000300"/>
            </a:xfrm>
          </p:grpSpPr>
          <p:sp>
            <p:nvSpPr>
              <p:cNvPr id="581" name="Google Shape;581;p31"/>
              <p:cNvSpPr/>
              <p:nvPr/>
            </p:nvSpPr>
            <p:spPr>
              <a:xfrm>
                <a:off x="0" y="0"/>
                <a:ext cx="4667400" cy="3000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1"/>
              <p:cNvSpPr txBox="1"/>
              <p:nvPr/>
            </p:nvSpPr>
            <p:spPr>
              <a:xfrm>
                <a:off x="0" y="0"/>
                <a:ext cx="4667400" cy="30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6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Environment Reproduction</a:t>
                </a:r>
                <a:endParaRPr b="0" i="0" sz="16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Easy Replication</a:t>
                </a:r>
                <a:endParaRPr b="0" i="0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i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Another user can replicate your exact environment easily.</a:t>
                </a:r>
                <a:endParaRPr b="0" i="0" sz="13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800"/>
                  </a:spcBef>
                  <a:spcAft>
                    <a:spcPts val="0"/>
                  </a:spcAft>
                  <a:buNone/>
                </a:pPr>
                <a:r>
                  <a:rPr b="0" i="0" lang="en" sz="14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Recreate Workspace</a:t>
                </a:r>
                <a:endParaRPr b="0" i="0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1500"/>
                  </a:spcAft>
                  <a:buNone/>
                </a:pPr>
                <a:r>
                  <a:rPr b="0" i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Install all listed packages seamlessly from the </a:t>
                </a:r>
                <a:r>
                  <a:rPr b="0" i="0" lang="en" sz="1250">
                    <a:solidFill>
                      <a:srgbClr val="374151"/>
                    </a:solidFill>
                    <a:highlight>
                      <a:srgbClr val="F1F5F9"/>
                    </a:highlight>
                    <a:latin typeface="Arial"/>
                    <a:ea typeface="Arial"/>
                    <a:cs typeface="Arial"/>
                    <a:sym typeface="Arial"/>
                  </a:rPr>
                  <a:t>requirements.txt</a:t>
                </a:r>
                <a:r>
                  <a:rPr b="0" i="0" lang="en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specification.</a:t>
                </a:r>
                <a:endParaRPr b="0" i="0" sz="13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583" name="Google Shape;583;p31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584" name="Google Shape;584;p31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1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Virtual Environment (venv) in Windows</a:t>
              </a:r>
              <a:endParaRPr b="0" i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2" name="Google Shape;592;p32"/>
          <p:cNvGrpSpPr/>
          <p:nvPr/>
        </p:nvGrpSpPr>
        <p:grpSpPr>
          <a:xfrm>
            <a:off x="762000" y="571500"/>
            <a:ext cx="9525000" cy="428700"/>
            <a:chOff x="0" y="0"/>
            <a:chExt cx="9525000" cy="428700"/>
          </a:xfrm>
        </p:grpSpPr>
        <p:sp>
          <p:nvSpPr>
            <p:cNvPr id="593" name="Google Shape;593;p32"/>
            <p:cNvSpPr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2"/>
            <p:cNvSpPr txBox="1"/>
            <p:nvPr/>
          </p:nvSpPr>
          <p:spPr>
            <a:xfrm>
              <a:off x="0" y="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Deactivating Virtual Environment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95" name="Google Shape;595;p32"/>
          <p:cNvGrpSpPr/>
          <p:nvPr/>
        </p:nvGrpSpPr>
        <p:grpSpPr>
          <a:xfrm>
            <a:off x="762000" y="1524000"/>
            <a:ext cx="4953000" cy="3810000"/>
            <a:chOff x="0" y="0"/>
            <a:chExt cx="4953000" cy="3810000"/>
          </a:xfrm>
        </p:grpSpPr>
        <p:sp>
          <p:nvSpPr>
            <p:cNvPr id="596" name="Google Shape;596;p32"/>
            <p:cNvSpPr/>
            <p:nvPr/>
          </p:nvSpPr>
          <p:spPr>
            <a:xfrm>
              <a:off x="0" y="0"/>
              <a:ext cx="4953000" cy="3810000"/>
            </a:xfrm>
            <a:prstGeom prst="roundRect">
              <a:avLst>
                <a:gd fmla="val 3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0" y="0"/>
              <a:ext cx="57300" cy="3810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2"/>
            <p:cNvSpPr txBox="1"/>
            <p:nvPr/>
          </p:nvSpPr>
          <p:spPr>
            <a:xfrm>
              <a:off x="285750" y="285750"/>
              <a:ext cx="438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9" name="Google Shape;599;p32"/>
            <p:cNvSpPr txBox="1"/>
            <p:nvPr/>
          </p:nvSpPr>
          <p:spPr>
            <a:xfrm>
              <a:off x="285750" y="857250"/>
              <a:ext cx="4381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Run the deactivate command inside your terminal</a:t>
              </a:r>
              <a:endParaRPr b="0" sz="1300">
                <a:solidFill>
                  <a:srgbClr val="6B7280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(myenv) C:\Project&gt; </a:t>
              </a:r>
              <a:r>
                <a:rPr b="1" lang="en" sz="15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deactivate</a:t>
              </a:r>
              <a:endParaRPr b="0" sz="15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600" name="Google Shape;600;p32"/>
          <p:cNvGrpSpPr/>
          <p:nvPr/>
        </p:nvGrpSpPr>
        <p:grpSpPr>
          <a:xfrm>
            <a:off x="6477000" y="1524000"/>
            <a:ext cx="4667250" cy="3810000"/>
            <a:chOff x="0" y="0"/>
            <a:chExt cx="4667250" cy="3810000"/>
          </a:xfrm>
        </p:grpSpPr>
        <p:sp>
          <p:nvSpPr>
            <p:cNvPr id="601" name="Google Shape;601;p32"/>
            <p:cNvSpPr/>
            <p:nvPr/>
          </p:nvSpPr>
          <p:spPr>
            <a:xfrm>
              <a:off x="0" y="0"/>
              <a:ext cx="57300" cy="38100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2"/>
            <p:cNvSpPr txBox="1"/>
            <p:nvPr/>
          </p:nvSpPr>
          <p:spPr>
            <a:xfrm>
              <a:off x="285750" y="285750"/>
              <a:ext cx="438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EXPECTED PROMPT BEHAVIOR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3" name="Google Shape;603;p32"/>
            <p:cNvSpPr txBox="1"/>
            <p:nvPr/>
          </p:nvSpPr>
          <p:spPr>
            <a:xfrm>
              <a:off x="285750" y="714375"/>
              <a:ext cx="438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Changes from </a:t>
              </a:r>
              <a:r>
                <a:rPr b="1" lang="en" sz="12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(myenv) C:\Project&gt;</a:t>
              </a: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back to </a:t>
              </a:r>
              <a:r>
                <a:rPr b="1" lang="en" sz="12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C:\Project&gt;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04" name="Google Shape;604;p32"/>
            <p:cNvGrpSpPr/>
            <p:nvPr/>
          </p:nvGrpSpPr>
          <p:grpSpPr>
            <a:xfrm>
              <a:off x="285750" y="1476375"/>
              <a:ext cx="4381500" cy="571500"/>
              <a:chOff x="285750" y="1476375"/>
              <a:chExt cx="4381500" cy="571500"/>
            </a:xfrm>
          </p:grpSpPr>
          <p:sp>
            <p:nvSpPr>
              <p:cNvPr id="605" name="Google Shape;605;p32"/>
              <p:cNvSpPr/>
              <p:nvPr/>
            </p:nvSpPr>
            <p:spPr>
              <a:xfrm>
                <a:off x="285750" y="1476375"/>
                <a:ext cx="438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2"/>
              <p:cNvSpPr txBox="1"/>
              <p:nvPr/>
            </p:nvSpPr>
            <p:spPr>
              <a:xfrm>
                <a:off x="476250" y="161925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B728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(myenv) C:\Project&gt;</a:t>
                </a:r>
                <a:endParaRPr b="0" sz="120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</p:txBody>
          </p:sp>
        </p:grpSp>
        <p:sp>
          <p:nvSpPr>
            <p:cNvPr id="607" name="Google Shape;607;p32"/>
            <p:cNvSpPr/>
            <p:nvPr/>
          </p:nvSpPr>
          <p:spPr>
            <a:xfrm>
              <a:off x="2419350" y="2143125"/>
              <a:ext cx="114300" cy="2859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92000"/>
                  </a:moveTo>
                  <a:lnTo>
                    <a:pt x="60000" y="120000"/>
                  </a:lnTo>
                  <a:lnTo>
                    <a:pt x="120000" y="92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45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8" name="Google Shape;608;p32"/>
            <p:cNvGrpSpPr/>
            <p:nvPr/>
          </p:nvGrpSpPr>
          <p:grpSpPr>
            <a:xfrm>
              <a:off x="285750" y="2524125"/>
              <a:ext cx="4381500" cy="571500"/>
              <a:chOff x="285750" y="2524125"/>
              <a:chExt cx="4381500" cy="571500"/>
            </a:xfrm>
          </p:grpSpPr>
          <p:sp>
            <p:nvSpPr>
              <p:cNvPr id="609" name="Google Shape;609;p32"/>
              <p:cNvSpPr/>
              <p:nvPr/>
            </p:nvSpPr>
            <p:spPr>
              <a:xfrm>
                <a:off x="285750" y="2524125"/>
                <a:ext cx="438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EAF2EE"/>
              </a:solidFill>
              <a:ln cap="flat" cmpd="sng" w="9525">
                <a:solidFill>
                  <a:srgbClr val="C3DF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2"/>
              <p:cNvSpPr/>
              <p:nvPr/>
            </p:nvSpPr>
            <p:spPr>
              <a:xfrm>
                <a:off x="285750" y="2524125"/>
                <a:ext cx="573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2"/>
              <p:cNvSpPr txBox="1"/>
              <p:nvPr/>
            </p:nvSpPr>
            <p:spPr>
              <a:xfrm>
                <a:off x="476250" y="266700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C:\Project&gt;</a:t>
                </a:r>
                <a:endParaRPr b="1" sz="130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</p:txBody>
          </p:sp>
        </p:grpSp>
      </p:grpSp>
      <p:grpSp>
        <p:nvGrpSpPr>
          <p:cNvPr id="612" name="Google Shape;612;p32"/>
          <p:cNvGrpSpPr/>
          <p:nvPr/>
        </p:nvGrpSpPr>
        <p:grpSpPr>
          <a:xfrm>
            <a:off x="762000" y="6134100"/>
            <a:ext cx="7620000" cy="190500"/>
            <a:chOff x="0" y="0"/>
            <a:chExt cx="7620000" cy="190500"/>
          </a:xfrm>
        </p:grpSpPr>
        <p:sp>
          <p:nvSpPr>
            <p:cNvPr id="613" name="Google Shape;613;p32"/>
            <p:cNvSpPr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2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Python Virtual Environment (venv) in Windows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Deleting a Virtual Environment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3" name="Google Shape;623;p33"/>
          <p:cNvSpPr txBox="1"/>
          <p:nvPr/>
        </p:nvSpPr>
        <p:spPr>
          <a:xfrm>
            <a:off x="762000" y="1285875"/>
            <a:ext cx="10668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6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complex uninstallation needed. Simply delete the environment folder 'myenv/' via File Explorer or Command Prompt.</a:t>
            </a:r>
            <a:endParaRPr b="0" i="0" sz="1360" u="none" strike="noStrike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24" name="Google Shape;624;p33"/>
          <p:cNvGrpSpPr/>
          <p:nvPr/>
        </p:nvGrpSpPr>
        <p:grpSpPr>
          <a:xfrm>
            <a:off x="762000" y="1809750"/>
            <a:ext cx="5143500" cy="4000500"/>
            <a:chOff x="0" y="0"/>
            <a:chExt cx="5143500" cy="4000500"/>
          </a:xfrm>
        </p:grpSpPr>
        <p:sp>
          <p:nvSpPr>
            <p:cNvPr id="625" name="Google Shape;625;p33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3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METHOD 1: GUI DELETION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8" name="Google Shape;628;p33"/>
            <p:cNvSpPr txBox="1"/>
            <p:nvPr/>
          </p:nvSpPr>
          <p:spPr>
            <a:xfrm>
              <a:off x="238125" y="571500"/>
              <a:ext cx="466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Using Windows File Explorer</a:t>
              </a:r>
              <a:endParaRPr b="0" sz="18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238125" y="1152525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3"/>
            <p:cNvSpPr txBox="1"/>
            <p:nvPr/>
          </p:nvSpPr>
          <p:spPr>
            <a:xfrm>
              <a:off x="495300" y="1095375"/>
              <a:ext cx="44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Locate the </a:t>
              </a:r>
              <a:r>
                <a:rPr b="0" lang="en" sz="1500">
                  <a:solidFill>
                    <a:srgbClr val="045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myenv/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folder inside your project directory.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238125" y="18669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3"/>
            <p:cNvSpPr txBox="1"/>
            <p:nvPr/>
          </p:nvSpPr>
          <p:spPr>
            <a:xfrm>
              <a:off x="495300" y="1809750"/>
              <a:ext cx="44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Right-click the folder and select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Delete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or press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Shift + Delete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to permanently erase it from your system.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238125" y="272415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3"/>
            <p:cNvSpPr txBox="1"/>
            <p:nvPr/>
          </p:nvSpPr>
          <p:spPr>
            <a:xfrm>
              <a:off x="495300" y="2667000"/>
              <a:ext cx="44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 instantly removes all package files and executables. No registry cleanups or deep uninstallation is necessary.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5" name="Google Shape;635;p33"/>
          <p:cNvGrpSpPr/>
          <p:nvPr/>
        </p:nvGrpSpPr>
        <p:grpSpPr>
          <a:xfrm>
            <a:off x="6286500" y="1809750"/>
            <a:ext cx="5143500" cy="4000500"/>
            <a:chOff x="0" y="0"/>
            <a:chExt cx="5143500" cy="4000500"/>
          </a:xfrm>
        </p:grpSpPr>
        <p:sp>
          <p:nvSpPr>
            <p:cNvPr id="636" name="Google Shape;636;p33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3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METHOD 2: CLI DELETION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9" name="Google Shape;639;p33"/>
            <p:cNvSpPr txBox="1"/>
            <p:nvPr/>
          </p:nvSpPr>
          <p:spPr>
            <a:xfrm>
              <a:off x="238125" y="571500"/>
              <a:ext cx="466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Using Command Line (CMD)</a:t>
              </a:r>
              <a:endParaRPr b="0" sz="18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238125" y="1152525"/>
              <a:ext cx="114300" cy="1143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3"/>
            <p:cNvSpPr txBox="1"/>
            <p:nvPr/>
          </p:nvSpPr>
          <p:spPr>
            <a:xfrm>
              <a:off x="495300" y="1095375"/>
              <a:ext cx="44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Open Command Prompt and navigate to the project directory containing your environment.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42" name="Google Shape;642;p33"/>
            <p:cNvGrpSpPr/>
            <p:nvPr/>
          </p:nvGrpSpPr>
          <p:grpSpPr>
            <a:xfrm>
              <a:off x="238125" y="1666875"/>
              <a:ext cx="4667400" cy="1190700"/>
              <a:chOff x="0" y="0"/>
              <a:chExt cx="4667400" cy="1190700"/>
            </a:xfrm>
          </p:grpSpPr>
          <p:sp>
            <p:nvSpPr>
              <p:cNvPr id="643" name="Google Shape;643;p33"/>
              <p:cNvSpPr/>
              <p:nvPr/>
            </p:nvSpPr>
            <p:spPr>
              <a:xfrm>
                <a:off x="0" y="0"/>
                <a:ext cx="46674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0" y="0"/>
                <a:ext cx="57300" cy="11907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3"/>
              <p:cNvSpPr txBox="1"/>
              <p:nvPr/>
            </p:nvSpPr>
            <p:spPr>
              <a:xfrm>
                <a:off x="238125" y="171450"/>
                <a:ext cx="4191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45A3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rmdir /s myenv</a:t>
                </a:r>
                <a:endParaRPr b="1" sz="1500">
                  <a:solidFill>
                    <a:srgbClr val="045A3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Runs the Windows directory removal tool. The </a:t>
                </a:r>
                <a:r>
                  <a:rPr b="0" lang="en" sz="115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/s</a:t>
                </a:r>
                <a:r>
                  <a:rPr b="0" lang="en" sz="11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flag ensures all nested files and subfolders are wiped completely.</a:t>
                </a:r>
                <a:endParaRPr b="0" sz="11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646" name="Google Shape;646;p33"/>
            <p:cNvSpPr/>
            <p:nvPr/>
          </p:nvSpPr>
          <p:spPr>
            <a:xfrm>
              <a:off x="238125" y="3105150"/>
              <a:ext cx="114300" cy="1143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3"/>
            <p:cNvSpPr txBox="1"/>
            <p:nvPr/>
          </p:nvSpPr>
          <p:spPr>
            <a:xfrm>
              <a:off x="495300" y="3048000"/>
              <a:ext cx="44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Press </a:t>
              </a: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Y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when prompted by CMD to confirm the environment directory deletion.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8" name="Google Shape;648;p33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 | Environment Lifecycle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4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7" name="Google Shape;657;p3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Best Practices for Virtual Environments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658" name="Google Shape;658;p34"/>
          <p:cNvGrpSpPr/>
          <p:nvPr/>
        </p:nvGrpSpPr>
        <p:grpSpPr>
          <a:xfrm>
            <a:off x="762000" y="1714500"/>
            <a:ext cx="5143575" cy="3143250"/>
            <a:chOff x="0" y="0"/>
            <a:chExt cx="5143575" cy="3143250"/>
          </a:xfrm>
        </p:grpSpPr>
        <p:sp>
          <p:nvSpPr>
            <p:cNvPr id="659" name="Google Shape;659;p34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RECOMMENDED GUIDELINES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0" name="Google Shape;660;p34"/>
            <p:cNvGrpSpPr/>
            <p:nvPr/>
          </p:nvGrpSpPr>
          <p:grpSpPr>
            <a:xfrm>
              <a:off x="0" y="428625"/>
              <a:ext cx="5143575" cy="571500"/>
              <a:chOff x="0" y="0"/>
              <a:chExt cx="5143575" cy="571500"/>
            </a:xfrm>
          </p:grpSpPr>
          <p:grpSp>
            <p:nvGrpSpPr>
              <p:cNvPr id="661" name="Google Shape;661;p34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62" name="Google Shape;662;p34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34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64" name="Google Shape;664;p34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One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virtual environment per project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65" name="Google Shape;665;p34"/>
            <p:cNvGrpSpPr/>
            <p:nvPr/>
          </p:nvGrpSpPr>
          <p:grpSpPr>
            <a:xfrm>
              <a:off x="0" y="1143000"/>
              <a:ext cx="5143575" cy="571500"/>
              <a:chOff x="0" y="0"/>
              <a:chExt cx="5143575" cy="571500"/>
            </a:xfrm>
          </p:grpSpPr>
          <p:grpSp>
            <p:nvGrpSpPr>
              <p:cNvPr id="666" name="Google Shape;666;p34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67" name="Google Shape;667;p34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34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69" name="Google Shape;669;p34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Use meaningful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standard names (like venv or env)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70" name="Google Shape;670;p34"/>
            <p:cNvGrpSpPr/>
            <p:nvPr/>
          </p:nvGrpSpPr>
          <p:grpSpPr>
            <a:xfrm>
              <a:off x="0" y="1857375"/>
              <a:ext cx="5143575" cy="571500"/>
              <a:chOff x="0" y="0"/>
              <a:chExt cx="5143575" cy="571500"/>
            </a:xfrm>
          </p:grpSpPr>
          <p:grpSp>
            <p:nvGrpSpPr>
              <p:cNvPr id="671" name="Google Shape;671;p34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72" name="Google Shape;672;p34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34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74" name="Google Shape;674;p34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Always save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and update your requirements.txt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75" name="Google Shape;675;p34"/>
            <p:cNvGrpSpPr/>
            <p:nvPr/>
          </p:nvGrpSpPr>
          <p:grpSpPr>
            <a:xfrm>
              <a:off x="0" y="2571750"/>
              <a:ext cx="5143575" cy="571500"/>
              <a:chOff x="0" y="0"/>
              <a:chExt cx="5143575" cy="571500"/>
            </a:xfrm>
          </p:grpSpPr>
          <p:grpSp>
            <p:nvGrpSpPr>
              <p:cNvPr id="676" name="Google Shape;676;p34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77" name="Google Shape;677;p34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34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79" name="Google Shape;679;p34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Do not install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unnecessary packages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680" name="Google Shape;680;p34"/>
          <p:cNvGrpSpPr/>
          <p:nvPr/>
        </p:nvGrpSpPr>
        <p:grpSpPr>
          <a:xfrm>
            <a:off x="6667500" y="1714500"/>
            <a:ext cx="4762500" cy="3810000"/>
            <a:chOff x="0" y="0"/>
            <a:chExt cx="4762500" cy="3810000"/>
          </a:xfrm>
        </p:grpSpPr>
        <p:sp>
          <p:nvSpPr>
            <p:cNvPr id="681" name="Google Shape;681;p34"/>
            <p:cNvSpPr/>
            <p:nvPr/>
          </p:nvSpPr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0" y="0"/>
              <a:ext cx="4762500" cy="47700"/>
            </a:xfrm>
            <a:prstGeom prst="roundRect">
              <a:avLst>
                <a:gd fmla="val 4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4"/>
            <p:cNvSpPr txBox="1"/>
            <p:nvPr/>
          </p:nvSpPr>
          <p:spPr>
            <a:xfrm>
              <a:off x="285750" y="238125"/>
              <a:ext cx="41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PROJECT DIRECTORY TAXONOMY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84" name="Google Shape;684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6250" y="714375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3" name="Google Shape;693;p3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Version Control Best Practices (.gitignore)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4" name="Google Shape;694;p35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Exclude temporary files and local environments from your shared repository.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5" name="Google Shape;695;p35"/>
          <p:cNvSpPr txBox="1"/>
          <p:nvPr/>
        </p:nvSpPr>
        <p:spPr>
          <a:xfrm>
            <a:off x="762000" y="1809750"/>
            <a:ext cx="4953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GIT IGNORE STANDARDS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96" name="Google Shape;696;p35"/>
          <p:cNvGrpSpPr/>
          <p:nvPr/>
        </p:nvGrpSpPr>
        <p:grpSpPr>
          <a:xfrm>
            <a:off x="762000" y="2190750"/>
            <a:ext cx="4953075" cy="1047900"/>
            <a:chOff x="0" y="0"/>
            <a:chExt cx="4953075" cy="1047900"/>
          </a:xfrm>
        </p:grpSpPr>
        <p:grpSp>
          <p:nvGrpSpPr>
            <p:cNvPr id="697" name="Google Shape;697;p3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698" name="Google Shape;698;p3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3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0" name="Google Shape;700;p35"/>
            <p:cNvSpPr txBox="1"/>
            <p:nvPr/>
          </p:nvSpPr>
          <p:spPr>
            <a:xfrm>
              <a:off x="333375" y="0"/>
              <a:ext cx="46197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Never Upload Virtual Environments</a:t>
              </a:r>
              <a:endParaRPr b="0" sz="1275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Virtual environments (like </a:t>
              </a:r>
              <a:r>
                <a:rPr b="1" lang="en" sz="1105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venv/</a:t>
              </a:r>
              <a:r>
                <a:rPr b="0" lang="en" sz="12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1105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env/</a:t>
              </a:r>
              <a:r>
                <a:rPr b="0" lang="en" sz="12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) contain external libraries and local paths. They should always be recreated on other machines using a configuration file.</a:t>
              </a:r>
              <a:endParaRPr b="0" sz="12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1" name="Google Shape;701;p35"/>
          <p:cNvGrpSpPr/>
          <p:nvPr/>
        </p:nvGrpSpPr>
        <p:grpSpPr>
          <a:xfrm>
            <a:off x="762000" y="3381375"/>
            <a:ext cx="4953075" cy="1047900"/>
            <a:chOff x="0" y="0"/>
            <a:chExt cx="4953075" cy="1047900"/>
          </a:xfrm>
        </p:grpSpPr>
        <p:grpSp>
          <p:nvGrpSpPr>
            <p:cNvPr id="702" name="Google Shape;702;p35"/>
            <p:cNvGrpSpPr/>
            <p:nvPr/>
          </p:nvGrpSpPr>
          <p:grpSpPr>
            <a:xfrm>
              <a:off x="0" y="38100"/>
              <a:ext cx="190500" cy="190500"/>
              <a:chOff x="0" y="0"/>
              <a:chExt cx="190500" cy="190500"/>
            </a:xfrm>
          </p:grpSpPr>
          <p:sp>
            <p:nvSpPr>
              <p:cNvPr id="703" name="Google Shape;703;p35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5"/>
              <p:cNvSpPr/>
              <p:nvPr/>
            </p:nvSpPr>
            <p:spPr>
              <a:xfrm>
                <a:off x="57150" y="57150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5" name="Google Shape;705;p35"/>
            <p:cNvSpPr txBox="1"/>
            <p:nvPr/>
          </p:nvSpPr>
          <p:spPr>
            <a:xfrm>
              <a:off x="333375" y="0"/>
              <a:ext cx="46197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Create a .gitignore File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Create a plain text file named </a:t>
              </a:r>
              <a:r>
                <a:rPr b="1" lang="en" sz="13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.gitignore</a:t>
              </a:r>
              <a:r>
                <a:rPr b="0" lang="en" sz="15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in your project's root directory. List the files and directories Git should completely ignore.</a:t>
              </a:r>
              <a:endParaRPr b="0"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06" name="Google Shape;706;p35"/>
          <p:cNvSpPr txBox="1"/>
          <p:nvPr/>
        </p:nvSpPr>
        <p:spPr>
          <a:xfrm>
            <a:off x="6286500" y="1809750"/>
            <a:ext cx="51435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RECOMMENDED .GITIGNORE CONFIGURATION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7" name="Google Shape;707;p35"/>
          <p:cNvGrpSpPr/>
          <p:nvPr/>
        </p:nvGrpSpPr>
        <p:grpSpPr>
          <a:xfrm>
            <a:off x="6286500" y="2143125"/>
            <a:ext cx="5143500" cy="2381400"/>
            <a:chOff x="0" y="0"/>
            <a:chExt cx="5143500" cy="2381400"/>
          </a:xfrm>
        </p:grpSpPr>
        <p:sp>
          <p:nvSpPr>
            <p:cNvPr id="708" name="Google Shape;708;p35"/>
            <p:cNvSpPr/>
            <p:nvPr/>
          </p:nvSpPr>
          <p:spPr>
            <a:xfrm>
              <a:off x="0" y="0"/>
              <a:ext cx="5143500" cy="2381400"/>
            </a:xfrm>
            <a:prstGeom prst="roundRect">
              <a:avLst>
                <a:gd fmla="val 32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0" y="0"/>
              <a:ext cx="57300" cy="2381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5"/>
            <p:cNvSpPr txBox="1"/>
            <p:nvPr/>
          </p:nvSpPr>
          <p:spPr>
            <a:xfrm>
              <a:off x="238125" y="238125"/>
              <a:ext cx="46674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Ignore virtual environments</a:t>
              </a:r>
              <a:endParaRPr b="0" i="1" sz="1300">
                <a:solidFill>
                  <a:srgbClr val="6B7280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venv/</a:t>
              </a:r>
              <a:endParaRPr b="1" sz="1300">
                <a:solidFill>
                  <a:srgbClr val="045A36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env/</a:t>
              </a:r>
              <a:endParaRPr b="1" sz="1300">
                <a:solidFill>
                  <a:srgbClr val="045A36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Ignore Python bytecode caches</a:t>
              </a:r>
              <a:endParaRPr b="0" i="1" sz="1300">
                <a:solidFill>
                  <a:srgbClr val="6B7280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1" lang="en" sz="1300">
                  <a:solidFill>
                    <a:srgbClr val="045A36"/>
                  </a:solidFill>
                  <a:latin typeface="Courier"/>
                  <a:ea typeface="Courier"/>
                  <a:cs typeface="Courier"/>
                  <a:sym typeface="Courier"/>
                </a:rPr>
                <a:t>__pycache__/</a:t>
              </a:r>
              <a:endParaRPr b="1" sz="1300">
                <a:solidFill>
                  <a:srgbClr val="045A36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11" name="Google Shape;711;p35"/>
          <p:cNvGrpSpPr/>
          <p:nvPr/>
        </p:nvGrpSpPr>
        <p:grpSpPr>
          <a:xfrm>
            <a:off x="762000" y="4762500"/>
            <a:ext cx="10668000" cy="1000200"/>
            <a:chOff x="0" y="0"/>
            <a:chExt cx="10668000" cy="1000200"/>
          </a:xfrm>
        </p:grpSpPr>
        <p:sp>
          <p:nvSpPr>
            <p:cNvPr id="712" name="Google Shape;712;p35"/>
            <p:cNvSpPr/>
            <p:nvPr/>
          </p:nvSpPr>
          <p:spPr>
            <a:xfrm>
              <a:off x="0" y="0"/>
              <a:ext cx="10668000" cy="1000200"/>
            </a:xfrm>
            <a:prstGeom prst="roundRect">
              <a:avLst>
                <a:gd fmla="val 7619" name="adj"/>
              </a:avLst>
            </a:prstGeom>
            <a:solidFill>
              <a:srgbClr val="FEE2E2"/>
            </a:solidFill>
            <a:ln cap="flat" cmpd="sng" w="9525">
              <a:solidFill>
                <a:srgbClr val="F871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0" y="0"/>
              <a:ext cx="57300" cy="1000200"/>
            </a:xfrm>
            <a:prstGeom prst="roundRect">
              <a:avLst>
                <a:gd fmla="val 50000" name="adj"/>
              </a:avLst>
            </a:prstGeom>
            <a:solidFill>
              <a:srgbClr val="B9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5"/>
            <p:cNvSpPr txBox="1"/>
            <p:nvPr/>
          </p:nvSpPr>
          <p:spPr>
            <a:xfrm>
              <a:off x="238125" y="190500"/>
              <a:ext cx="101919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CRITICAL BEST PRACTICE</a:t>
              </a:r>
              <a:endParaRPr b="1" sz="102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7F1D1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Keep in mind: Only upload source code files (such as </a:t>
              </a:r>
              <a:r>
                <a:rPr b="1" lang="en" sz="1275">
                  <a:solidFill>
                    <a:srgbClr val="7F1D1D"/>
                  </a:solidFill>
                  <a:highlight>
                    <a:srgbClr val="FFF1F1"/>
                  </a:highlight>
                  <a:latin typeface="Courier"/>
                  <a:ea typeface="Courier"/>
                  <a:cs typeface="Courier"/>
                  <a:sym typeface="Courier"/>
                </a:rPr>
                <a:t>main.py</a:t>
              </a:r>
              <a:r>
                <a:rPr b="0" lang="en" sz="1275">
                  <a:solidFill>
                    <a:srgbClr val="7F1D1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 and requirements manifests like </a:t>
              </a:r>
              <a:r>
                <a:rPr b="1" lang="en" sz="1275">
                  <a:solidFill>
                    <a:srgbClr val="7F1D1D"/>
                  </a:solidFill>
                  <a:highlight>
                    <a:srgbClr val="FFF1F1"/>
                  </a:highlight>
                  <a:latin typeface="Courier"/>
                  <a:ea typeface="Courier"/>
                  <a:cs typeface="Courier"/>
                  <a:sym typeface="Courier"/>
                </a:rPr>
                <a:t>requirements.txt</a:t>
              </a:r>
              <a:r>
                <a:rPr b="0" lang="en" sz="1275">
                  <a:solidFill>
                    <a:srgbClr val="7F1D1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 Never track dependencies.</a:t>
              </a:r>
              <a:endParaRPr b="0" sz="1275">
                <a:solidFill>
                  <a:srgbClr val="7F1D1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Full Setup-to-Execution Workflow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23" name="Google Shape;723;p36"/>
          <p:cNvCxnSpPr/>
          <p:nvPr/>
        </p:nvCxnSpPr>
        <p:spPr>
          <a:xfrm>
            <a:off x="1095375" y="1666875"/>
            <a:ext cx="0" cy="333390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4" name="Google Shape;724;p36"/>
          <p:cNvGrpSpPr/>
          <p:nvPr/>
        </p:nvGrpSpPr>
        <p:grpSpPr>
          <a:xfrm>
            <a:off x="952500" y="1476375"/>
            <a:ext cx="4762650" cy="381000"/>
            <a:chOff x="952500" y="1476375"/>
            <a:chExt cx="4762650" cy="381000"/>
          </a:xfrm>
        </p:grpSpPr>
        <p:sp>
          <p:nvSpPr>
            <p:cNvPr id="725" name="Google Shape;725;p36"/>
            <p:cNvSpPr/>
            <p:nvPr/>
          </p:nvSpPr>
          <p:spPr>
            <a:xfrm>
              <a:off x="952500" y="1524000"/>
              <a:ext cx="285900" cy="285900"/>
            </a:xfrm>
            <a:prstGeom prst="ellipse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 txBox="1"/>
            <p:nvPr/>
          </p:nvSpPr>
          <p:spPr>
            <a:xfrm>
              <a:off x="952500" y="1524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27" name="Google Shape;727;p36"/>
            <p:cNvSpPr txBox="1"/>
            <p:nvPr/>
          </p:nvSpPr>
          <p:spPr>
            <a:xfrm>
              <a:off x="1428750" y="14763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mkdir Project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28" name="Google Shape;728;p36"/>
          <p:cNvGrpSpPr/>
          <p:nvPr/>
        </p:nvGrpSpPr>
        <p:grpSpPr>
          <a:xfrm>
            <a:off x="952500" y="2143125"/>
            <a:ext cx="4762650" cy="381000"/>
            <a:chOff x="952500" y="2143125"/>
            <a:chExt cx="4762650" cy="381000"/>
          </a:xfrm>
        </p:grpSpPr>
        <p:sp>
          <p:nvSpPr>
            <p:cNvPr id="729" name="Google Shape;729;p36"/>
            <p:cNvSpPr/>
            <p:nvPr/>
          </p:nvSpPr>
          <p:spPr>
            <a:xfrm>
              <a:off x="952500" y="2190750"/>
              <a:ext cx="285900" cy="285900"/>
            </a:xfrm>
            <a:prstGeom prst="ellipse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 txBox="1"/>
            <p:nvPr/>
          </p:nvSpPr>
          <p:spPr>
            <a:xfrm>
              <a:off x="952500" y="21907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1" name="Google Shape;731;p36"/>
            <p:cNvSpPr txBox="1"/>
            <p:nvPr/>
          </p:nvSpPr>
          <p:spPr>
            <a:xfrm>
              <a:off x="1428750" y="214312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cd Project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32" name="Google Shape;732;p36"/>
          <p:cNvGrpSpPr/>
          <p:nvPr/>
        </p:nvGrpSpPr>
        <p:grpSpPr>
          <a:xfrm>
            <a:off x="952500" y="2809875"/>
            <a:ext cx="4762650" cy="381000"/>
            <a:chOff x="952500" y="2809875"/>
            <a:chExt cx="4762650" cy="381000"/>
          </a:xfrm>
        </p:grpSpPr>
        <p:sp>
          <p:nvSpPr>
            <p:cNvPr id="733" name="Google Shape;733;p36"/>
            <p:cNvSpPr/>
            <p:nvPr/>
          </p:nvSpPr>
          <p:spPr>
            <a:xfrm>
              <a:off x="952500" y="2857500"/>
              <a:ext cx="285900" cy="285900"/>
            </a:xfrm>
            <a:prstGeom prst="ellipse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 txBox="1"/>
            <p:nvPr/>
          </p:nvSpPr>
          <p:spPr>
            <a:xfrm>
              <a:off x="952500" y="28575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5" name="Google Shape;735;p36"/>
            <p:cNvSpPr txBox="1"/>
            <p:nvPr/>
          </p:nvSpPr>
          <p:spPr>
            <a:xfrm>
              <a:off x="1428750" y="28098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python -m venv venv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36" name="Google Shape;736;p36"/>
          <p:cNvGrpSpPr/>
          <p:nvPr/>
        </p:nvGrpSpPr>
        <p:grpSpPr>
          <a:xfrm>
            <a:off x="952500" y="3476625"/>
            <a:ext cx="4762650" cy="381000"/>
            <a:chOff x="952500" y="3476625"/>
            <a:chExt cx="4762650" cy="381000"/>
          </a:xfrm>
        </p:grpSpPr>
        <p:sp>
          <p:nvSpPr>
            <p:cNvPr id="737" name="Google Shape;737;p36"/>
            <p:cNvSpPr/>
            <p:nvPr/>
          </p:nvSpPr>
          <p:spPr>
            <a:xfrm>
              <a:off x="952500" y="3524250"/>
              <a:ext cx="285900" cy="285900"/>
            </a:xfrm>
            <a:prstGeom prst="ellipse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6"/>
            <p:cNvSpPr txBox="1"/>
            <p:nvPr/>
          </p:nvSpPr>
          <p:spPr>
            <a:xfrm>
              <a:off x="952500" y="3524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9" name="Google Shape;739;p36"/>
            <p:cNvSpPr txBox="1"/>
            <p:nvPr/>
          </p:nvSpPr>
          <p:spPr>
            <a:xfrm>
              <a:off x="1428750" y="347662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venv\Scripts\activate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40" name="Google Shape;740;p36"/>
          <p:cNvGrpSpPr/>
          <p:nvPr/>
        </p:nvGrpSpPr>
        <p:grpSpPr>
          <a:xfrm>
            <a:off x="952500" y="4143375"/>
            <a:ext cx="4762650" cy="381000"/>
            <a:chOff x="952500" y="4143375"/>
            <a:chExt cx="4762650" cy="381000"/>
          </a:xfrm>
        </p:grpSpPr>
        <p:sp>
          <p:nvSpPr>
            <p:cNvPr id="741" name="Google Shape;741;p36"/>
            <p:cNvSpPr/>
            <p:nvPr/>
          </p:nvSpPr>
          <p:spPr>
            <a:xfrm>
              <a:off x="952500" y="4191000"/>
              <a:ext cx="285900" cy="285900"/>
            </a:xfrm>
            <a:prstGeom prst="ellipse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 txBox="1"/>
            <p:nvPr/>
          </p:nvSpPr>
          <p:spPr>
            <a:xfrm>
              <a:off x="952500" y="4191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3" name="Google Shape;743;p36"/>
            <p:cNvSpPr txBox="1"/>
            <p:nvPr/>
          </p:nvSpPr>
          <p:spPr>
            <a:xfrm>
              <a:off x="1428750" y="41433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pip install pandas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44" name="Google Shape;744;p36"/>
          <p:cNvGrpSpPr/>
          <p:nvPr/>
        </p:nvGrpSpPr>
        <p:grpSpPr>
          <a:xfrm>
            <a:off x="952500" y="4810125"/>
            <a:ext cx="4762650" cy="381000"/>
            <a:chOff x="952500" y="4810125"/>
            <a:chExt cx="4762650" cy="381000"/>
          </a:xfrm>
        </p:grpSpPr>
        <p:sp>
          <p:nvSpPr>
            <p:cNvPr id="745" name="Google Shape;745;p36"/>
            <p:cNvSpPr/>
            <p:nvPr/>
          </p:nvSpPr>
          <p:spPr>
            <a:xfrm>
              <a:off x="952500" y="4857750"/>
              <a:ext cx="285900" cy="285900"/>
            </a:xfrm>
            <a:prstGeom prst="ellipse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6"/>
            <p:cNvSpPr txBox="1"/>
            <p:nvPr/>
          </p:nvSpPr>
          <p:spPr>
            <a:xfrm>
              <a:off x="952500" y="48577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7" name="Google Shape;747;p36"/>
            <p:cNvSpPr txBox="1"/>
            <p:nvPr/>
          </p:nvSpPr>
          <p:spPr>
            <a:xfrm>
              <a:off x="1428750" y="481012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highlight>
                    <a:srgbClr val="F1F5F9"/>
                  </a:highlight>
                  <a:latin typeface="Courier"/>
                  <a:ea typeface="Courier"/>
                  <a:cs typeface="Courier"/>
                  <a:sym typeface="Courier"/>
                </a:rPr>
                <a:t>python main.py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748" name="Google Shape;748;p36"/>
          <p:cNvGrpSpPr/>
          <p:nvPr/>
        </p:nvGrpSpPr>
        <p:grpSpPr>
          <a:xfrm>
            <a:off x="6286500" y="1428750"/>
            <a:ext cx="5143500" cy="4000500"/>
            <a:chOff x="6286500" y="1428750"/>
            <a:chExt cx="5143500" cy="4000500"/>
          </a:xfrm>
        </p:grpSpPr>
        <p:sp>
          <p:nvSpPr>
            <p:cNvPr id="749" name="Google Shape;749;p36"/>
            <p:cNvSpPr/>
            <p:nvPr/>
          </p:nvSpPr>
          <p:spPr>
            <a:xfrm>
              <a:off x="6286500" y="142875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6286500" y="1428750"/>
              <a:ext cx="76200" cy="4000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6"/>
            <p:cNvSpPr txBox="1"/>
            <p:nvPr/>
          </p:nvSpPr>
          <p:spPr>
            <a:xfrm>
              <a:off x="6619875" y="1666875"/>
              <a:ext cx="447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EXECUTION CONSOLE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2" name="Google Shape;752;p36"/>
            <p:cNvSpPr txBox="1"/>
            <p:nvPr/>
          </p:nvSpPr>
          <p:spPr>
            <a:xfrm>
              <a:off x="6619875" y="2047875"/>
              <a:ext cx="4476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Create &amp; enter project folder</a:t>
              </a:r>
              <a:endParaRPr b="0" sz="1250">
                <a:solidFill>
                  <a:srgbClr val="6B7280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$ mkdir Project</a:t>
              </a:r>
              <a:endParaRPr b="0" sz="12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$ cd Project</a:t>
              </a:r>
              <a:endParaRPr b="0" sz="12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Configure &amp; activate virtualenv</a:t>
              </a:r>
              <a:endParaRPr b="0" sz="1250">
                <a:solidFill>
                  <a:srgbClr val="6B7280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$ python -m venv venv</a:t>
              </a:r>
              <a:endParaRPr b="0" sz="12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$ venv\Scripts\activate</a:t>
              </a:r>
              <a:endParaRPr b="0" sz="125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6B7280"/>
                  </a:solidFill>
                  <a:latin typeface="Courier"/>
                  <a:ea typeface="Courier"/>
                  <a:cs typeface="Courier"/>
                  <a:sym typeface="Courier"/>
                </a:rPr>
                <a:t># Install package &amp; execute script</a:t>
              </a:r>
              <a:endParaRPr b="0" sz="1250">
                <a:solidFill>
                  <a:srgbClr val="6B7280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(venv) $ pip install pandas</a:t>
              </a:r>
              <a:endParaRPr b="0" sz="125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(venv) $ python main.py</a:t>
              </a:r>
              <a:endParaRPr b="0" sz="1250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753" name="Google Shape;753;p3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Quick Reference Guide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762" name="Google Shape;762;p37"/>
          <p:cNvGrpSpPr/>
          <p:nvPr/>
        </p:nvGrpSpPr>
        <p:grpSpPr>
          <a:xfrm>
            <a:off x="762000" y="1476375"/>
            <a:ext cx="10668000" cy="381150"/>
            <a:chOff x="0" y="0"/>
            <a:chExt cx="10668000" cy="381150"/>
          </a:xfrm>
        </p:grpSpPr>
        <p:sp>
          <p:nvSpPr>
            <p:cNvPr id="763" name="Google Shape;763;p37"/>
            <p:cNvSpPr/>
            <p:nvPr/>
          </p:nvSpPr>
          <p:spPr>
            <a:xfrm>
              <a:off x="0" y="0"/>
              <a:ext cx="10668000" cy="3810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7"/>
            <p:cNvSpPr/>
            <p:nvPr/>
          </p:nvSpPr>
          <p:spPr>
            <a:xfrm>
              <a:off x="0" y="361950"/>
              <a:ext cx="10668000" cy="192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7"/>
            <p:cNvSpPr txBox="1"/>
            <p:nvPr/>
          </p:nvSpPr>
          <p:spPr>
            <a:xfrm>
              <a:off x="190500" y="95250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TASK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6" name="Google Shape;766;p37"/>
            <p:cNvSpPr txBox="1"/>
            <p:nvPr/>
          </p:nvSpPr>
          <p:spPr>
            <a:xfrm>
              <a:off x="3238500" y="95250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67" name="Google Shape;767;p37"/>
          <p:cNvGrpSpPr/>
          <p:nvPr/>
        </p:nvGrpSpPr>
        <p:grpSpPr>
          <a:xfrm>
            <a:off x="762000" y="1857375"/>
            <a:ext cx="10668000" cy="476400"/>
            <a:chOff x="0" y="0"/>
            <a:chExt cx="10668000" cy="476400"/>
          </a:xfrm>
        </p:grpSpPr>
        <p:sp>
          <p:nvSpPr>
            <p:cNvPr id="768" name="Google Shape;768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Create venv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71" name="Google Shape;771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python -m venv venv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72" name="Google Shape;772;p37"/>
          <p:cNvGrpSpPr/>
          <p:nvPr/>
        </p:nvGrpSpPr>
        <p:grpSpPr>
          <a:xfrm>
            <a:off x="762000" y="2333625"/>
            <a:ext cx="10668000" cy="476400"/>
            <a:chOff x="0" y="0"/>
            <a:chExt cx="10668000" cy="476400"/>
          </a:xfrm>
        </p:grpSpPr>
        <p:sp>
          <p:nvSpPr>
            <p:cNvPr id="773" name="Google Shape;773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Activate (CMD)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76" name="Google Shape;776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venv\Scripts\activate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77" name="Google Shape;777;p37"/>
          <p:cNvGrpSpPr/>
          <p:nvPr/>
        </p:nvGrpSpPr>
        <p:grpSpPr>
          <a:xfrm>
            <a:off x="762000" y="2809875"/>
            <a:ext cx="10668000" cy="476400"/>
            <a:chOff x="0" y="0"/>
            <a:chExt cx="10668000" cy="476400"/>
          </a:xfrm>
        </p:grpSpPr>
        <p:sp>
          <p:nvSpPr>
            <p:cNvPr id="778" name="Google Shape;778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Activate (PowerShell)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81" name="Google Shape;781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.\venv\Scripts\Activate.ps1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82" name="Google Shape;782;p37"/>
          <p:cNvGrpSpPr/>
          <p:nvPr/>
        </p:nvGrpSpPr>
        <p:grpSpPr>
          <a:xfrm>
            <a:off x="762000" y="3286125"/>
            <a:ext cx="10668000" cy="476400"/>
            <a:chOff x="0" y="0"/>
            <a:chExt cx="10668000" cy="476400"/>
          </a:xfrm>
        </p:grpSpPr>
        <p:sp>
          <p:nvSpPr>
            <p:cNvPr id="783" name="Google Shape;783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Install package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86" name="Google Shape;786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install &lt;package&gt;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87" name="Google Shape;787;p37"/>
          <p:cNvGrpSpPr/>
          <p:nvPr/>
        </p:nvGrpSpPr>
        <p:grpSpPr>
          <a:xfrm>
            <a:off x="762000" y="3762375"/>
            <a:ext cx="10668000" cy="476400"/>
            <a:chOff x="0" y="0"/>
            <a:chExt cx="10668000" cy="476400"/>
          </a:xfrm>
        </p:grpSpPr>
        <p:sp>
          <p:nvSpPr>
            <p:cNvPr id="788" name="Google Shape;788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List packages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91" name="Google Shape;791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list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92" name="Google Shape;792;p37"/>
          <p:cNvGrpSpPr/>
          <p:nvPr/>
        </p:nvGrpSpPr>
        <p:grpSpPr>
          <a:xfrm>
            <a:off x="762000" y="4238625"/>
            <a:ext cx="10668000" cy="476400"/>
            <a:chOff x="0" y="0"/>
            <a:chExt cx="10668000" cy="476400"/>
          </a:xfrm>
        </p:grpSpPr>
        <p:sp>
          <p:nvSpPr>
            <p:cNvPr id="793" name="Google Shape;793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Freeze dependencies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96" name="Google Shape;796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freeze &gt; requirements.txt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797" name="Google Shape;797;p37"/>
          <p:cNvGrpSpPr/>
          <p:nvPr/>
        </p:nvGrpSpPr>
        <p:grpSpPr>
          <a:xfrm>
            <a:off x="762000" y="4714875"/>
            <a:ext cx="10668000" cy="476400"/>
            <a:chOff x="0" y="0"/>
            <a:chExt cx="10668000" cy="476400"/>
          </a:xfrm>
        </p:grpSpPr>
        <p:sp>
          <p:nvSpPr>
            <p:cNvPr id="798" name="Google Shape;798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Install from requirements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801" name="Google Shape;801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pip install -r requirements.txt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802" name="Google Shape;802;p37"/>
          <p:cNvGrpSpPr/>
          <p:nvPr/>
        </p:nvGrpSpPr>
        <p:grpSpPr>
          <a:xfrm>
            <a:off x="762000" y="5191125"/>
            <a:ext cx="10668000" cy="476400"/>
            <a:chOff x="0" y="0"/>
            <a:chExt cx="10668000" cy="476400"/>
          </a:xfrm>
        </p:grpSpPr>
        <p:sp>
          <p:nvSpPr>
            <p:cNvPr id="803" name="Google Shape;803;p37"/>
            <p:cNvSpPr/>
            <p:nvPr/>
          </p:nvSpPr>
          <p:spPr>
            <a:xfrm>
              <a:off x="0" y="0"/>
              <a:ext cx="10668000" cy="476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0" y="466725"/>
              <a:ext cx="10668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7"/>
            <p:cNvSpPr txBox="1"/>
            <p:nvPr/>
          </p:nvSpPr>
          <p:spPr>
            <a:xfrm>
              <a:off x="190500" y="142875"/>
              <a:ext cx="2857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Deactivate</a:t>
              </a:r>
              <a:endParaRPr b="0" sz="1163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806" name="Google Shape;806;p37"/>
            <p:cNvSpPr txBox="1"/>
            <p:nvPr/>
          </p:nvSpPr>
          <p:spPr>
            <a:xfrm>
              <a:off x="3238500" y="142875"/>
              <a:ext cx="723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deactivate</a:t>
              </a:r>
              <a:endParaRPr b="0" sz="1203">
                <a:solidFill>
                  <a:srgbClr val="0B7A4B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807" name="Google Shape;807;p3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Virtual Environment (venv) in Windows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6" name="Google Shape;816;p3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Takeaways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17" name="Google Shape;817;p38"/>
          <p:cNvGrpSpPr/>
          <p:nvPr/>
        </p:nvGrpSpPr>
        <p:grpSpPr>
          <a:xfrm>
            <a:off x="762000" y="1428750"/>
            <a:ext cx="5143575" cy="3000450"/>
            <a:chOff x="0" y="0"/>
            <a:chExt cx="5143575" cy="3000450"/>
          </a:xfrm>
        </p:grpSpPr>
        <p:grpSp>
          <p:nvGrpSpPr>
            <p:cNvPr id="818" name="Google Shape;818;p38"/>
            <p:cNvGrpSpPr/>
            <p:nvPr/>
          </p:nvGrpSpPr>
          <p:grpSpPr>
            <a:xfrm>
              <a:off x="0" y="0"/>
              <a:ext cx="5143575" cy="428700"/>
              <a:chOff x="0" y="0"/>
              <a:chExt cx="5143575" cy="428700"/>
            </a:xfrm>
          </p:grpSpPr>
          <p:grpSp>
            <p:nvGrpSpPr>
              <p:cNvPr id="819" name="Google Shape;819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20" name="Google Shape;820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22" name="Google Shape;822;p38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Virtual environments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isolate project dependencies.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3" name="Google Shape;823;p38"/>
            <p:cNvGrpSpPr/>
            <p:nvPr/>
          </p:nvGrpSpPr>
          <p:grpSpPr>
            <a:xfrm>
              <a:off x="0" y="514350"/>
              <a:ext cx="5143575" cy="428700"/>
              <a:chOff x="0" y="0"/>
              <a:chExt cx="5143575" cy="428700"/>
            </a:xfrm>
          </p:grpSpPr>
          <p:grpSp>
            <p:nvGrpSpPr>
              <p:cNvPr id="824" name="Google Shape;824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25" name="Google Shape;825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6" name="Google Shape;826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27" name="Google Shape;827;p38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Every project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should have its own environment.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8" name="Google Shape;828;p38"/>
            <p:cNvGrpSpPr/>
            <p:nvPr/>
          </p:nvGrpSpPr>
          <p:grpSpPr>
            <a:xfrm>
              <a:off x="0" y="1028700"/>
              <a:ext cx="5143575" cy="428700"/>
              <a:chOff x="0" y="0"/>
              <a:chExt cx="5143575" cy="428700"/>
            </a:xfrm>
          </p:grpSpPr>
          <p:grpSp>
            <p:nvGrpSpPr>
              <p:cNvPr id="829" name="Google Shape;829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30" name="Google Shape;830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1" name="Google Shape;831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2" name="Google Shape;832;p38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venv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is built into Python.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33" name="Google Shape;833;p38"/>
            <p:cNvGrpSpPr/>
            <p:nvPr/>
          </p:nvGrpSpPr>
          <p:grpSpPr>
            <a:xfrm>
              <a:off x="0" y="1543050"/>
              <a:ext cx="5143575" cy="428700"/>
              <a:chOff x="0" y="0"/>
              <a:chExt cx="5143575" cy="428700"/>
            </a:xfrm>
          </p:grpSpPr>
          <p:grpSp>
            <p:nvGrpSpPr>
              <p:cNvPr id="834" name="Google Shape;834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35" name="Google Shape;835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6" name="Google Shape;836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7" name="Google Shape;837;p38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Use pip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to install packages.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38" name="Google Shape;838;p38"/>
            <p:cNvGrpSpPr/>
            <p:nvPr/>
          </p:nvGrpSpPr>
          <p:grpSpPr>
            <a:xfrm>
              <a:off x="0" y="2057400"/>
              <a:ext cx="5143575" cy="428700"/>
              <a:chOff x="0" y="0"/>
              <a:chExt cx="5143575" cy="428700"/>
            </a:xfrm>
          </p:grpSpPr>
          <p:grpSp>
            <p:nvGrpSpPr>
              <p:cNvPr id="839" name="Google Shape;839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40" name="Google Shape;840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1" name="Google Shape;841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42" name="Google Shape;842;p38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Share dependencies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via requirements.txt.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43" name="Google Shape;843;p38"/>
            <p:cNvGrpSpPr/>
            <p:nvPr/>
          </p:nvGrpSpPr>
          <p:grpSpPr>
            <a:xfrm>
              <a:off x="0" y="2571750"/>
              <a:ext cx="5143575" cy="428700"/>
              <a:chOff x="0" y="0"/>
              <a:chExt cx="5143575" cy="428700"/>
            </a:xfrm>
          </p:grpSpPr>
          <p:grpSp>
            <p:nvGrpSpPr>
              <p:cNvPr id="844" name="Google Shape;844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45" name="Google Shape;845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6" name="Google Shape;846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47" name="Google Shape;847;p38"/>
              <p:cNvSpPr txBox="1"/>
              <p:nvPr/>
            </p:nvSpPr>
            <p:spPr>
              <a:xfrm>
                <a:off x="333375" y="0"/>
                <a:ext cx="48102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Standard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professional practice.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48" name="Google Shape;848;p38"/>
          <p:cNvGrpSpPr/>
          <p:nvPr/>
        </p:nvGrpSpPr>
        <p:grpSpPr>
          <a:xfrm>
            <a:off x="6286500" y="1428750"/>
            <a:ext cx="5143500" cy="3143400"/>
            <a:chOff x="0" y="0"/>
            <a:chExt cx="5143500" cy="3143400"/>
          </a:xfrm>
        </p:grpSpPr>
        <p:sp>
          <p:nvSpPr>
            <p:cNvPr id="849" name="Google Shape;849;p38"/>
            <p:cNvSpPr/>
            <p:nvPr/>
          </p:nvSpPr>
          <p:spPr>
            <a:xfrm>
              <a:off x="0" y="0"/>
              <a:ext cx="5143500" cy="3143400"/>
            </a:xfrm>
            <a:prstGeom prst="roundRect">
              <a:avLst>
                <a:gd fmla="val 363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0" y="0"/>
              <a:ext cx="76200" cy="3143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8"/>
            <p:cNvSpPr txBox="1"/>
            <p:nvPr/>
          </p:nvSpPr>
          <p:spPr>
            <a:xfrm>
              <a:off x="285750" y="190500"/>
              <a:ext cx="457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Environment Architecture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2" name="Google Shape;852;p38"/>
            <p:cNvGrpSpPr/>
            <p:nvPr/>
          </p:nvGrpSpPr>
          <p:grpSpPr>
            <a:xfrm>
              <a:off x="285750" y="571500"/>
              <a:ext cx="4572000" cy="2286000"/>
              <a:chOff x="0" y="0"/>
              <a:chExt cx="4572000" cy="2286000"/>
            </a:xfrm>
          </p:grpSpPr>
          <p:sp>
            <p:nvSpPr>
              <p:cNvPr id="853" name="Google Shape;853;p38"/>
              <p:cNvSpPr/>
              <p:nvPr/>
            </p:nvSpPr>
            <p:spPr>
              <a:xfrm>
                <a:off x="0" y="0"/>
                <a:ext cx="4572000" cy="2286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8"/>
              <p:cNvSpPr txBox="1"/>
              <p:nvPr/>
            </p:nvSpPr>
            <p:spPr>
              <a:xfrm>
                <a:off x="190500" y="142875"/>
                <a:ext cx="419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📁 my_project/ </a:t>
                </a:r>
                <a:r>
                  <a:rPr b="0" lang="en" sz="11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(Project Root)</a:t>
                </a:r>
                <a:endParaRPr b="0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855" name="Google Shape;855;p38"/>
              <p:cNvGrpSpPr/>
              <p:nvPr/>
            </p:nvGrpSpPr>
            <p:grpSpPr>
              <a:xfrm>
                <a:off x="190500" y="476250"/>
                <a:ext cx="2190900" cy="1619100"/>
                <a:chOff x="0" y="0"/>
                <a:chExt cx="2190900" cy="1619100"/>
              </a:xfrm>
            </p:grpSpPr>
            <p:sp>
              <p:nvSpPr>
                <p:cNvPr id="856" name="Google Shape;856;p38"/>
                <p:cNvSpPr/>
                <p:nvPr/>
              </p:nvSpPr>
              <p:spPr>
                <a:xfrm>
                  <a:off x="0" y="0"/>
                  <a:ext cx="2190900" cy="1619100"/>
                </a:xfrm>
                <a:prstGeom prst="roundRect">
                  <a:avLst>
                    <a:gd fmla="val 3529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C3DFD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7" name="Google Shape;857;p38"/>
                <p:cNvSpPr/>
                <p:nvPr/>
              </p:nvSpPr>
              <p:spPr>
                <a:xfrm>
                  <a:off x="0" y="0"/>
                  <a:ext cx="2190900" cy="381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8" name="Google Shape;858;p38"/>
                <p:cNvSpPr txBox="1"/>
                <p:nvPr/>
              </p:nvSpPr>
              <p:spPr>
                <a:xfrm>
                  <a:off x="142875" y="142875"/>
                  <a:ext cx="19050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📁 venv/</a:t>
                  </a:r>
                  <a:endParaRPr b="0" sz="11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142875" marR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📁 Include/</a:t>
                  </a:r>
                  <a:endParaRPr b="0" sz="11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142875" marR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📁 Lib/site-packages/</a:t>
                  </a:r>
                  <a:endParaRPr b="0" sz="11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indent="0" lvl="0" marL="142875" marR="0" rtl="0" algn="l">
                    <a:spcBef>
                      <a:spcPts val="375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➔ Isolated Packages</a:t>
                  </a:r>
                  <a:endParaRPr b="0" sz="11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142875" marR="0" rtl="0" algn="l">
                    <a:spcBef>
                      <a:spcPts val="375"/>
                    </a:spcBef>
                    <a:spcAft>
                      <a:spcPts val="375"/>
                    </a:spcAft>
                    <a:buNone/>
                  </a:pPr>
                  <a:r>
                    <a:rPr b="0" lang="en" sz="11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📁 Scripts/</a:t>
                  </a:r>
                  <a:endParaRPr b="0" sz="11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59" name="Google Shape;859;p38"/>
              <p:cNvGrpSpPr/>
              <p:nvPr/>
            </p:nvGrpSpPr>
            <p:grpSpPr>
              <a:xfrm>
                <a:off x="2571750" y="476250"/>
                <a:ext cx="1809600" cy="762000"/>
                <a:chOff x="0" y="0"/>
                <a:chExt cx="1809600" cy="762000"/>
              </a:xfrm>
            </p:grpSpPr>
            <p:sp>
              <p:nvSpPr>
                <p:cNvPr id="860" name="Google Shape;860;p38"/>
                <p:cNvSpPr/>
                <p:nvPr/>
              </p:nvSpPr>
              <p:spPr>
                <a:xfrm>
                  <a:off x="0" y="0"/>
                  <a:ext cx="1809600" cy="762000"/>
                </a:xfrm>
                <a:prstGeom prst="roundRect">
                  <a:avLst>
                    <a:gd fmla="val 75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1" name="Google Shape;861;p38"/>
                <p:cNvSpPr txBox="1"/>
                <p:nvPr/>
              </p:nvSpPr>
              <p:spPr>
                <a:xfrm>
                  <a:off x="142875" y="114300"/>
                  <a:ext cx="1524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📄 requirements.txt</a:t>
                  </a:r>
                  <a:endParaRPr b="0" sz="11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142875" marR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6B728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Lists dependencies to share with others</a:t>
                  </a:r>
                  <a:endParaRPr b="0" sz="10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62" name="Google Shape;862;p38"/>
              <p:cNvGrpSpPr/>
              <p:nvPr/>
            </p:nvGrpSpPr>
            <p:grpSpPr>
              <a:xfrm>
                <a:off x="2571750" y="1333500"/>
                <a:ext cx="1809600" cy="762000"/>
                <a:chOff x="0" y="0"/>
                <a:chExt cx="1809600" cy="762000"/>
              </a:xfrm>
            </p:grpSpPr>
            <p:sp>
              <p:nvSpPr>
                <p:cNvPr id="863" name="Google Shape;863;p38"/>
                <p:cNvSpPr/>
                <p:nvPr/>
              </p:nvSpPr>
              <p:spPr>
                <a:xfrm>
                  <a:off x="0" y="0"/>
                  <a:ext cx="1809600" cy="762000"/>
                </a:xfrm>
                <a:prstGeom prst="roundRect">
                  <a:avLst>
                    <a:gd fmla="val 75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4" name="Google Shape;864;p38"/>
                <p:cNvSpPr txBox="1"/>
                <p:nvPr/>
              </p:nvSpPr>
              <p:spPr>
                <a:xfrm>
                  <a:off x="142875" y="114300"/>
                  <a:ext cx="1524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📄 app.py</a:t>
                  </a:r>
                  <a:endParaRPr b="0" sz="11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142875" marR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6B728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Your main python application file</a:t>
                  </a:r>
                  <a:endParaRPr b="0" sz="10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865" name="Google Shape;865;p38"/>
          <p:cNvGrpSpPr/>
          <p:nvPr/>
        </p:nvGrpSpPr>
        <p:grpSpPr>
          <a:xfrm>
            <a:off x="762000" y="4762500"/>
            <a:ext cx="10668000" cy="1047900"/>
            <a:chOff x="0" y="0"/>
            <a:chExt cx="10668000" cy="1047900"/>
          </a:xfrm>
        </p:grpSpPr>
        <p:sp>
          <p:nvSpPr>
            <p:cNvPr id="866" name="Google Shape;866;p38"/>
            <p:cNvSpPr/>
            <p:nvPr/>
          </p:nvSpPr>
          <p:spPr>
            <a:xfrm>
              <a:off x="0" y="0"/>
              <a:ext cx="10668000" cy="1047900"/>
            </a:xfrm>
            <a:prstGeom prst="roundRect">
              <a:avLst>
                <a:gd fmla="val 10910" name="adj"/>
              </a:avLst>
            </a:prstGeom>
            <a:solidFill>
              <a:srgbClr val="EAF2EE"/>
            </a:solidFill>
            <a:ln cap="flat" cmpd="sng" w="9525">
              <a:solidFill>
                <a:srgbClr val="C3DF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0" y="0"/>
              <a:ext cx="76200" cy="1047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8"/>
            <p:cNvSpPr txBox="1"/>
            <p:nvPr/>
          </p:nvSpPr>
          <p:spPr>
            <a:xfrm>
              <a:off x="285750" y="190500"/>
              <a:ext cx="10096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VENV BEST PRACTICES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9" name="Google Shape;869;p38"/>
            <p:cNvSpPr txBox="1"/>
            <p:nvPr/>
          </p:nvSpPr>
          <p:spPr>
            <a:xfrm>
              <a:off x="285750" y="476250"/>
              <a:ext cx="100965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Thank You! 😊</a:t>
              </a:r>
              <a:r>
                <a:rPr b="0" lang="en" sz="1388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— Implementing virtual environments guarantees robust, conflicts-free Python development workflows.</a:t>
              </a:r>
              <a:endParaRPr b="0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