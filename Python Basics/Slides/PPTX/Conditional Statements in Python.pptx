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Playfair Display"/>
      <p:bold r:id="rId31"/>
      <p:boldItalic r:id="rId32"/>
    </p:embeddedFont>
    <p:embeddedFont>
      <p:font typeface="Inter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bold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bf1091b81_3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bf1091b81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f1091b81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bf1091b81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bf1091b81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bf1091b81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bf1091b81_2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bf1091b81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bf1091b81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bf1091b81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bf1091b81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bf1091b81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bf1091b81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bf1091b81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bf1091b81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bf1091b81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bf1091b81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bf1091b81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bf1091b81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ebf1091b81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bf1091b81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bf1091b81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bf1091b81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ebf1091b81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bf1091b81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ebf1091b81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bf1091b81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ebf1091b81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bf1091b81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ebf1091b81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ebf1091b81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ebf1091b81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bf1091b81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ebf1091b81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ebf1091b81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ebf1091b81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bf1091b81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ebf1091b81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bf1091b81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ebf1091b81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ebf1091b81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ebf1091b81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ebf1091b81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ebf1091b81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ebf1091b81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ebf1091b81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ebf1091b81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ebf1091b81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ebf1091b81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ebf1091b81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f1091b81_7_0)">
  <p:cSld name="Generated (g3ebf1091b81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762000" y="1333500"/>
            <a:ext cx="762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Module 3</a:t>
            </a:r>
            <a:endParaRPr b="1" sz="24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D4AF3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Conditional Statements in Python</a:t>
            </a:r>
            <a:endParaRPr b="1" sz="3150">
              <a:solidFill>
                <a:srgbClr val="D4AF37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3619500" y="3190875"/>
            <a:ext cx="1905000" cy="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 txBox="1"/>
          <p:nvPr/>
        </p:nvSpPr>
        <p:spPr>
          <a:xfrm>
            <a:off x="762000" y="3381375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Decision Making in Python Programming</a:t>
            </a:r>
            <a:endParaRPr b="1"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rPr>
              <a:t>BBSHRRDB and IMCS, University of Sindh, Jamshoro</a:t>
            </a:r>
            <a:endParaRPr b="0" sz="1050">
              <a:solidFill>
                <a:srgbClr val="E0E0E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Instructor: Muhammd Yousif Memon</a:t>
            </a:r>
            <a:endParaRPr b="1" sz="1350">
              <a:solidFill>
                <a:srgbClr val="D4AF3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60" name="Google Shape;60;p14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15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68" name="Google Shape;68;p15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" name="Google Shape;70;p15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71" name="Google Shape;71;p15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5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Learning Objectives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74" name="Google Shape;74;p15"/>
          <p:cNvGrpSpPr/>
          <p:nvPr/>
        </p:nvGrpSpPr>
        <p:grpSpPr>
          <a:xfrm>
            <a:off x="381000" y="1047750"/>
            <a:ext cx="8382000" cy="3524250"/>
            <a:chOff x="0" y="0"/>
            <a:chExt cx="8382000" cy="3524250"/>
          </a:xfrm>
        </p:grpSpPr>
        <p:sp>
          <p:nvSpPr>
            <p:cNvPr id="75" name="Google Shape;75;p15"/>
            <p:cNvSpPr txBox="1"/>
            <p:nvPr/>
          </p:nvSpPr>
          <p:spPr>
            <a:xfrm>
              <a:off x="0" y="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By the end of this session, you will understand: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0" y="476250"/>
              <a:ext cx="8382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Core Concepts: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What conditional statements are and why decision-making is essential in programming.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Basic Statements: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How to use the </a:t>
              </a:r>
              <a:r>
                <a:rPr b="1" lang="en" sz="105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105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if-else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statements.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Advanced Logic: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Structuring multiple conditions using the </a:t>
              </a:r>
              <a:r>
                <a:rPr b="1" lang="en" sz="105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if-elif-else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ladder.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Complex Decisions: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Implementing nested </a:t>
              </a:r>
              <a:r>
                <a:rPr b="1" lang="en" sz="105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statements.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Operators: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Utilizing comparison and logical operators to evaluate conditions.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120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Debugging: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Identifying common mistakes and practicing with real-world examples.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16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86" name="Google Shape;86;p16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6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89" name="Google Shape;89;p16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6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are Conditional Statements?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92" name="Google Shape;92;p16"/>
          <p:cNvGrpSpPr/>
          <p:nvPr/>
        </p:nvGrpSpPr>
        <p:grpSpPr>
          <a:xfrm>
            <a:off x="381000" y="952500"/>
            <a:ext cx="4000500" cy="3619500"/>
            <a:chOff x="0" y="0"/>
            <a:chExt cx="4000500" cy="3619500"/>
          </a:xfrm>
        </p:grpSpPr>
        <p:sp>
          <p:nvSpPr>
            <p:cNvPr id="93" name="Google Shape;93;p16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190500" y="238125"/>
              <a:ext cx="3619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Conditional statements allow a program to execute specific blocks of code only when certain conditions are met. They introduce decision-making capabilities to your scripts.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The Concept</a:t>
              </a:r>
              <a:endParaRPr b="1" sz="110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program evaluates a condition. If the condition is true, it takes one action; if false, it may take another or do nothing.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In Programming</a:t>
              </a:r>
              <a:endParaRPr b="1" sz="110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This prevents code from running linearly from top to bottom every time, allowing for dynamic and intelligent software behavior.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4762500" y="952500"/>
            <a:ext cx="4000500" cy="3619500"/>
            <a:chOff x="0" y="0"/>
            <a:chExt cx="4000500" cy="36195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 txBox="1"/>
            <p:nvPr/>
          </p:nvSpPr>
          <p:spPr>
            <a:xfrm>
              <a:off x="190500" y="190500"/>
              <a:ext cx="361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Everyday Example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"If a student's marks are greater than 50, then the student passes the exam."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8" name="Google Shape;98;p16"/>
            <p:cNvGrpSpPr/>
            <p:nvPr/>
          </p:nvGrpSpPr>
          <p:grpSpPr>
            <a:xfrm>
              <a:off x="190500" y="952500"/>
              <a:ext cx="3619500" cy="2476500"/>
              <a:chOff x="0" y="0"/>
              <a:chExt cx="3619500" cy="2476500"/>
            </a:xfrm>
          </p:grpSpPr>
          <p:sp>
            <p:nvSpPr>
              <p:cNvPr id="99" name="Google Shape;99;p16"/>
              <p:cNvSpPr/>
              <p:nvPr/>
            </p:nvSpPr>
            <p:spPr>
              <a:xfrm>
                <a:off x="0" y="0"/>
                <a:ext cx="3619500" cy="2476500"/>
              </a:xfrm>
              <a:prstGeom prst="roundRect">
                <a:avLst>
                  <a:gd fmla="val 4615" name="adj"/>
                </a:avLst>
              </a:prstGeom>
              <a:solidFill>
                <a:srgbClr val="000000">
                  <a:alpha val="0"/>
                </a:srgbClr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0" name="Google Shape;100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90500" y="23813"/>
                <a:ext cx="3238500" cy="2428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1" name="Google Shape;101;p16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02" name="Google Shape;102;p16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7"/>
          <p:cNvGrpSpPr/>
          <p:nvPr/>
        </p:nvGrpSpPr>
        <p:grpSpPr>
          <a:xfrm>
            <a:off x="381000" y="952500"/>
            <a:ext cx="8572500" cy="381000"/>
            <a:chOff x="0" y="0"/>
            <a:chExt cx="8572500" cy="381000"/>
          </a:xfrm>
        </p:grpSpPr>
        <p:sp>
          <p:nvSpPr>
            <p:cNvPr id="109" name="Google Shape;109;p17"/>
            <p:cNvSpPr/>
            <p:nvPr/>
          </p:nvSpPr>
          <p:spPr>
            <a:xfrm>
              <a:off x="0" y="0"/>
              <a:ext cx="38100" cy="3810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 txBox="1"/>
            <p:nvPr/>
          </p:nvSpPr>
          <p:spPr>
            <a:xfrm>
              <a:off x="190500" y="0"/>
              <a:ext cx="8382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20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Real-world scenarios require dynamic responses. Conditional logic mimics human decision-making.</a:t>
              </a:r>
              <a:endParaRPr b="0" i="1" sz="120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1" name="Google Shape;111;p17"/>
          <p:cNvGrpSpPr/>
          <p:nvPr/>
        </p:nvGrpSpPr>
        <p:grpSpPr>
          <a:xfrm>
            <a:off x="381000" y="1524000"/>
            <a:ext cx="4000500" cy="952500"/>
            <a:chOff x="0" y="0"/>
            <a:chExt cx="4000500" cy="952500"/>
          </a:xfrm>
        </p:grpSpPr>
        <p:grpSp>
          <p:nvGrpSpPr>
            <p:cNvPr id="112" name="Google Shape;112;p17"/>
            <p:cNvGrpSpPr/>
            <p:nvPr/>
          </p:nvGrpSpPr>
          <p:grpSpPr>
            <a:xfrm>
              <a:off x="0" y="0"/>
              <a:ext cx="4000500" cy="952500"/>
              <a:chOff x="0" y="0"/>
              <a:chExt cx="4000500" cy="952500"/>
            </a:xfrm>
          </p:grpSpPr>
          <p:sp>
            <p:nvSpPr>
              <p:cNvPr id="113" name="Google Shape;113;p17"/>
              <p:cNvSpPr/>
              <p:nvPr/>
            </p:nvSpPr>
            <p:spPr>
              <a:xfrm>
                <a:off x="0" y="0"/>
                <a:ext cx="4000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7"/>
              <p:cNvSpPr/>
              <p:nvPr/>
            </p:nvSpPr>
            <p:spPr>
              <a:xfrm>
                <a:off x="142875" y="28575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" name="Google Shape;115;p17"/>
            <p:cNvSpPr txBox="1"/>
            <p:nvPr/>
          </p:nvSpPr>
          <p:spPr>
            <a:xfrm>
              <a:off x="142875" y="30619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</a:t>
              </a:r>
              <a:endParaRPr b="0" sz="1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666750" y="190500"/>
              <a:ext cx="3143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Weather Decisions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If it rains, take an umbrella. Otherwise, wear sunglasses.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" name="Google Shape;117;p17"/>
          <p:cNvGrpSpPr/>
          <p:nvPr/>
        </p:nvGrpSpPr>
        <p:grpSpPr>
          <a:xfrm>
            <a:off x="4762500" y="1524000"/>
            <a:ext cx="4000500" cy="952500"/>
            <a:chOff x="0" y="0"/>
            <a:chExt cx="4000500" cy="952500"/>
          </a:xfrm>
        </p:grpSpPr>
        <p:grpSp>
          <p:nvGrpSpPr>
            <p:cNvPr id="118" name="Google Shape;118;p17"/>
            <p:cNvGrpSpPr/>
            <p:nvPr/>
          </p:nvGrpSpPr>
          <p:grpSpPr>
            <a:xfrm>
              <a:off x="0" y="0"/>
              <a:ext cx="4000500" cy="952500"/>
              <a:chOff x="0" y="0"/>
              <a:chExt cx="4000500" cy="952500"/>
            </a:xfrm>
          </p:grpSpPr>
          <p:sp>
            <p:nvSpPr>
              <p:cNvPr id="119" name="Google Shape;119;p17"/>
              <p:cNvSpPr/>
              <p:nvPr/>
            </p:nvSpPr>
            <p:spPr>
              <a:xfrm>
                <a:off x="0" y="0"/>
                <a:ext cx="4000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7"/>
              <p:cNvSpPr/>
              <p:nvPr/>
            </p:nvSpPr>
            <p:spPr>
              <a:xfrm>
                <a:off x="142875" y="28575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1" name="Google Shape;121;p17"/>
            <p:cNvSpPr txBox="1"/>
            <p:nvPr/>
          </p:nvSpPr>
          <p:spPr>
            <a:xfrm>
              <a:off x="142875" y="30619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 b="0" sz="1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2" name="Google Shape;122;p17"/>
            <p:cNvSpPr txBox="1"/>
            <p:nvPr/>
          </p:nvSpPr>
          <p:spPr>
            <a:xfrm>
              <a:off x="666750" y="190500"/>
              <a:ext cx="3143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Security Systems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If the entered password is correct, log in successfully. Otherwise, deny access.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3" name="Google Shape;123;p17"/>
          <p:cNvGrpSpPr/>
          <p:nvPr/>
        </p:nvGrpSpPr>
        <p:grpSpPr>
          <a:xfrm>
            <a:off x="381000" y="2667000"/>
            <a:ext cx="4000500" cy="952500"/>
            <a:chOff x="0" y="0"/>
            <a:chExt cx="4000500" cy="952500"/>
          </a:xfrm>
        </p:grpSpPr>
        <p:grpSp>
          <p:nvGrpSpPr>
            <p:cNvPr id="124" name="Google Shape;124;p17"/>
            <p:cNvGrpSpPr/>
            <p:nvPr/>
          </p:nvGrpSpPr>
          <p:grpSpPr>
            <a:xfrm>
              <a:off x="0" y="0"/>
              <a:ext cx="4000500" cy="952500"/>
              <a:chOff x="0" y="0"/>
              <a:chExt cx="4000500" cy="952500"/>
            </a:xfrm>
          </p:grpSpPr>
          <p:sp>
            <p:nvSpPr>
              <p:cNvPr id="125" name="Google Shape;125;p17"/>
              <p:cNvSpPr/>
              <p:nvPr/>
            </p:nvSpPr>
            <p:spPr>
              <a:xfrm>
                <a:off x="0" y="0"/>
                <a:ext cx="4000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7"/>
              <p:cNvSpPr/>
              <p:nvPr/>
            </p:nvSpPr>
            <p:spPr>
              <a:xfrm>
                <a:off x="142875" y="28575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7" name="Google Shape;127;p17"/>
            <p:cNvSpPr txBox="1"/>
            <p:nvPr/>
          </p:nvSpPr>
          <p:spPr>
            <a:xfrm>
              <a:off x="142875" y="30619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grade</a:t>
              </a:r>
              <a:endParaRPr b="0" sz="1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666750" y="190500"/>
              <a:ext cx="3143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Grading Systems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If marks are exceptionally high, assign a grade of 'A'.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" name="Google Shape;129;p17"/>
          <p:cNvGrpSpPr/>
          <p:nvPr/>
        </p:nvGrpSpPr>
        <p:grpSpPr>
          <a:xfrm>
            <a:off x="4762500" y="2667000"/>
            <a:ext cx="4000500" cy="952500"/>
            <a:chOff x="0" y="0"/>
            <a:chExt cx="4000500" cy="952500"/>
          </a:xfrm>
        </p:grpSpPr>
        <p:grpSp>
          <p:nvGrpSpPr>
            <p:cNvPr id="130" name="Google Shape;130;p17"/>
            <p:cNvGrpSpPr/>
            <p:nvPr/>
          </p:nvGrpSpPr>
          <p:grpSpPr>
            <a:xfrm>
              <a:off x="0" y="0"/>
              <a:ext cx="4000500" cy="952500"/>
              <a:chOff x="0" y="0"/>
              <a:chExt cx="4000500" cy="952500"/>
            </a:xfrm>
          </p:grpSpPr>
          <p:sp>
            <p:nvSpPr>
              <p:cNvPr id="131" name="Google Shape;131;p17"/>
              <p:cNvSpPr/>
              <p:nvPr/>
            </p:nvSpPr>
            <p:spPr>
              <a:xfrm>
                <a:off x="0" y="0"/>
                <a:ext cx="4000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7"/>
              <p:cNvSpPr/>
              <p:nvPr/>
            </p:nvSpPr>
            <p:spPr>
              <a:xfrm>
                <a:off x="142875" y="28575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3" name="Google Shape;133;p17"/>
            <p:cNvSpPr txBox="1"/>
            <p:nvPr/>
          </p:nvSpPr>
          <p:spPr>
            <a:xfrm>
              <a:off x="142875" y="30619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badge</a:t>
              </a:r>
              <a:endParaRPr b="0" sz="1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666750" y="190500"/>
              <a:ext cx="3143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Legal Requirements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If age is 18 or above, the person is eligible for a driver's license or ID card.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5" name="Google Shape;135;p17"/>
          <p:cNvGrpSpPr/>
          <p:nvPr/>
        </p:nvGrpSpPr>
        <p:grpSpPr>
          <a:xfrm>
            <a:off x="2667000" y="3810000"/>
            <a:ext cx="3810000" cy="857400"/>
            <a:chOff x="0" y="0"/>
            <a:chExt cx="3810000" cy="857400"/>
          </a:xfrm>
        </p:grpSpPr>
        <p:sp>
          <p:nvSpPr>
            <p:cNvPr id="136" name="Google Shape;136;p17"/>
            <p:cNvSpPr/>
            <p:nvPr/>
          </p:nvSpPr>
          <p:spPr>
            <a:xfrm>
              <a:off x="0" y="0"/>
              <a:ext cx="38100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7" name="Google Shape;137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500" y="952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17"/>
            <p:cNvSpPr txBox="1"/>
            <p:nvPr/>
          </p:nvSpPr>
          <p:spPr>
            <a:xfrm>
              <a:off x="857250" y="47625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rPr>
                <a:t>Logical conditions allow programs to branch based on external inputs, just like our daily choices.</a:t>
              </a:r>
              <a:endParaRPr b="0" i="1" sz="10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9" name="Google Shape;139;p17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40" name="Google Shape;140;p17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17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143" name="Google Shape;143;p17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17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Do We Need Conditional Statements?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46" name="Google Shape;146;p17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47" name="Google Shape;147;p17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18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55" name="Google Shape;155;p18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18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158" name="Google Shape;158;p18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18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Basic Syntax of the 'if' Statement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61" name="Google Shape;161;p18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162" name="Google Shape;162;p18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Overview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if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statement is the simplest form of decision-making in Python.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The Condition: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Python evaluates the expression next to the keyword. Result must be True or False.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The Colon (:):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Mandatory marker. Tells Python a code block is about to start.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60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Indentation: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Uses spaces (usually 4). The indented statement only runs if the condition is True.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4" name="Google Shape;164;p18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165" name="Google Shape;165;p18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Syntax Structure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6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condition:</a:t>
              </a:r>
              <a:endParaRPr b="1" sz="1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810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statement</a:t>
              </a:r>
              <a:endParaRPr b="1" sz="1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b="0" i="1" lang="en" sz="105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Example Implementation:</a:t>
              </a:r>
              <a:endParaRPr b="0" i="1" sz="105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age &gt;= 18: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85750" marR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print("Eligible to vote")</a:t>
              </a:r>
              <a:endParaRPr b="1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67" name="Google Shape;167;p18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68" name="Google Shape;168;p18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" name="Google Shape;175;p19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76" name="Google Shape;176;p19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19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179" name="Google Shape;179;p19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19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Example: Simple 'if' Statement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82" name="Google Shape;182;p19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183" name="Google Shape;183;p19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age = 18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age &gt;= 18: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</a:t>
              </a: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"You are eligible to vote"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85" name="Google Shape;185;p19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186" name="Google Shape;186;p19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Implementation Detail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Let's look at a practical implementation of a single condition.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highlight>
                    <a:srgbClr val="F8F8F5"/>
                  </a:highlight>
                  <a:latin typeface="Inter"/>
                  <a:ea typeface="Inter"/>
                  <a:cs typeface="Inter"/>
                  <a:sym typeface="Inter"/>
                </a:rPr>
                <a:t>Expected Output:</a:t>
              </a:r>
              <a:endParaRPr b="1" sz="1050">
                <a:solidFill>
                  <a:srgbClr val="002147"/>
                </a:solidFill>
                <a:highlight>
                  <a:srgbClr val="F8F8F5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You are eligible to vote</a:t>
              </a:r>
              <a:endParaRPr b="1" sz="1200">
                <a:solidFill>
                  <a:srgbClr val="002147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88" name="Google Shape;188;p19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189" name="Google Shape;189;p19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" name="Google Shape;196;p20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197" name="Google Shape;197;p20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" name="Google Shape;199;p20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200" name="Google Shape;200;p20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2" name="Google Shape;202;p20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203" name="Google Shape;203;p20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" name="Google Shape;205;p20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Explanation of the 'if' Example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06" name="Google Shape;206;p20"/>
          <p:cNvGrpSpPr/>
          <p:nvPr/>
        </p:nvGrpSpPr>
        <p:grpSpPr>
          <a:xfrm>
            <a:off x="381000" y="952500"/>
            <a:ext cx="4000500" cy="1047900"/>
            <a:chOff x="0" y="0"/>
            <a:chExt cx="4000500" cy="1047900"/>
          </a:xfrm>
        </p:grpSpPr>
        <p:grpSp>
          <p:nvGrpSpPr>
            <p:cNvPr id="207" name="Google Shape;207;p20"/>
            <p:cNvGrpSpPr/>
            <p:nvPr/>
          </p:nvGrpSpPr>
          <p:grpSpPr>
            <a:xfrm>
              <a:off x="0" y="0"/>
              <a:ext cx="4000500" cy="1047900"/>
              <a:chOff x="0" y="0"/>
              <a:chExt cx="4000500" cy="1047900"/>
            </a:xfrm>
          </p:grpSpPr>
          <p:sp>
            <p:nvSpPr>
              <p:cNvPr id="208" name="Google Shape;208;p20"/>
              <p:cNvSpPr/>
              <p:nvPr/>
            </p:nvSpPr>
            <p:spPr>
              <a:xfrm>
                <a:off x="0" y="0"/>
                <a:ext cx="4000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0"/>
              <p:cNvSpPr/>
              <p:nvPr/>
            </p:nvSpPr>
            <p:spPr>
              <a:xfrm>
                <a:off x="142875" y="142875"/>
                <a:ext cx="342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0" name="Google Shape;210;p20"/>
            <p:cNvSpPr txBox="1"/>
            <p:nvPr/>
          </p:nvSpPr>
          <p:spPr>
            <a:xfrm>
              <a:off x="142875" y="14287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b="1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619125" y="142875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Variable Assignment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variable </a:t>
              </a:r>
              <a:r>
                <a:rPr b="1" lang="en" sz="9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age</a:t>
              </a: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is assigned the integer value </a:t>
              </a:r>
              <a:r>
                <a:rPr b="1" lang="en" sz="9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18</a:t>
              </a: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2" name="Google Shape;212;p20"/>
          <p:cNvGrpSpPr/>
          <p:nvPr/>
        </p:nvGrpSpPr>
        <p:grpSpPr>
          <a:xfrm>
            <a:off x="4762500" y="952500"/>
            <a:ext cx="4000500" cy="1047900"/>
            <a:chOff x="0" y="0"/>
            <a:chExt cx="4000500" cy="1047900"/>
          </a:xfrm>
        </p:grpSpPr>
        <p:grpSp>
          <p:nvGrpSpPr>
            <p:cNvPr id="213" name="Google Shape;213;p20"/>
            <p:cNvGrpSpPr/>
            <p:nvPr/>
          </p:nvGrpSpPr>
          <p:grpSpPr>
            <a:xfrm>
              <a:off x="0" y="0"/>
              <a:ext cx="4000500" cy="1047900"/>
              <a:chOff x="0" y="0"/>
              <a:chExt cx="4000500" cy="1047900"/>
            </a:xfrm>
          </p:grpSpPr>
          <p:sp>
            <p:nvSpPr>
              <p:cNvPr id="214" name="Google Shape;214;p20"/>
              <p:cNvSpPr/>
              <p:nvPr/>
            </p:nvSpPr>
            <p:spPr>
              <a:xfrm>
                <a:off x="0" y="0"/>
                <a:ext cx="4000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>
                <a:off x="142875" y="142875"/>
                <a:ext cx="342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6" name="Google Shape;216;p20"/>
            <p:cNvSpPr txBox="1"/>
            <p:nvPr/>
          </p:nvSpPr>
          <p:spPr>
            <a:xfrm>
              <a:off x="142875" y="14287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 b="1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619125" y="142875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Condition Evaluation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program substitutes </a:t>
              </a:r>
              <a:r>
                <a:rPr b="1" lang="en" sz="9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18</a:t>
              </a: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for </a:t>
              </a:r>
              <a:r>
                <a:rPr b="1" lang="en" sz="9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age</a:t>
              </a: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and evaluates </a:t>
              </a:r>
              <a:r>
                <a:rPr b="1" lang="en" sz="9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18 &gt;= 18</a:t>
              </a: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>
            <a:off x="381000" y="2143125"/>
            <a:ext cx="4000500" cy="1047900"/>
            <a:chOff x="0" y="0"/>
            <a:chExt cx="4000500" cy="1047900"/>
          </a:xfrm>
        </p:grpSpPr>
        <p:grpSp>
          <p:nvGrpSpPr>
            <p:cNvPr id="219" name="Google Shape;219;p20"/>
            <p:cNvGrpSpPr/>
            <p:nvPr/>
          </p:nvGrpSpPr>
          <p:grpSpPr>
            <a:xfrm>
              <a:off x="0" y="0"/>
              <a:ext cx="4000500" cy="1047900"/>
              <a:chOff x="0" y="0"/>
              <a:chExt cx="4000500" cy="1047900"/>
            </a:xfrm>
          </p:grpSpPr>
          <p:sp>
            <p:nvSpPr>
              <p:cNvPr id="220" name="Google Shape;220;p20"/>
              <p:cNvSpPr/>
              <p:nvPr/>
            </p:nvSpPr>
            <p:spPr>
              <a:xfrm>
                <a:off x="0" y="0"/>
                <a:ext cx="4000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0"/>
              <p:cNvSpPr/>
              <p:nvPr/>
            </p:nvSpPr>
            <p:spPr>
              <a:xfrm>
                <a:off x="142875" y="142875"/>
                <a:ext cx="342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2" name="Google Shape;222;p20"/>
            <p:cNvSpPr txBox="1"/>
            <p:nvPr/>
          </p:nvSpPr>
          <p:spPr>
            <a:xfrm>
              <a:off x="142875" y="14287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b="1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619125" y="142875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Boolean Result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evaluation results in the boolean value </a:t>
              </a:r>
              <a:r>
                <a:rPr b="1" lang="en" sz="9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4" name="Google Shape;224;p20"/>
          <p:cNvGrpSpPr/>
          <p:nvPr/>
        </p:nvGrpSpPr>
        <p:grpSpPr>
          <a:xfrm>
            <a:off x="4762500" y="2143125"/>
            <a:ext cx="4000500" cy="1047900"/>
            <a:chOff x="0" y="0"/>
            <a:chExt cx="4000500" cy="1047900"/>
          </a:xfrm>
        </p:grpSpPr>
        <p:grpSp>
          <p:nvGrpSpPr>
            <p:cNvPr id="225" name="Google Shape;225;p20"/>
            <p:cNvGrpSpPr/>
            <p:nvPr/>
          </p:nvGrpSpPr>
          <p:grpSpPr>
            <a:xfrm>
              <a:off x="0" y="0"/>
              <a:ext cx="4000500" cy="1047900"/>
              <a:chOff x="0" y="0"/>
              <a:chExt cx="4000500" cy="1047900"/>
            </a:xfrm>
          </p:grpSpPr>
          <p:sp>
            <p:nvSpPr>
              <p:cNvPr id="226" name="Google Shape;226;p20"/>
              <p:cNvSpPr/>
              <p:nvPr/>
            </p:nvSpPr>
            <p:spPr>
              <a:xfrm>
                <a:off x="0" y="0"/>
                <a:ext cx="4000500" cy="1047900"/>
              </a:xfrm>
              <a:prstGeom prst="roundRect">
                <a:avLst>
                  <a:gd fmla="val 1090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0"/>
              <p:cNvSpPr/>
              <p:nvPr/>
            </p:nvSpPr>
            <p:spPr>
              <a:xfrm>
                <a:off x="142875" y="142875"/>
                <a:ext cx="342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8" name="Google Shape;228;p20"/>
            <p:cNvSpPr txBox="1"/>
            <p:nvPr/>
          </p:nvSpPr>
          <p:spPr>
            <a:xfrm>
              <a:off x="142875" y="142875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 b="1" sz="13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9" name="Google Shape;229;p20"/>
            <p:cNvSpPr txBox="1"/>
            <p:nvPr/>
          </p:nvSpPr>
          <p:spPr>
            <a:xfrm>
              <a:off x="619125" y="142875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Execution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Because the condition is True, the indented block (</a:t>
              </a:r>
              <a:r>
                <a:rPr b="1" lang="en" sz="9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</a:t>
              </a: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statement) runs.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0" name="Google Shape;230;p20"/>
          <p:cNvGrpSpPr/>
          <p:nvPr/>
        </p:nvGrpSpPr>
        <p:grpSpPr>
          <a:xfrm>
            <a:off x="381000" y="3333750"/>
            <a:ext cx="8382000" cy="1047900"/>
            <a:chOff x="0" y="0"/>
            <a:chExt cx="8382000" cy="1047900"/>
          </a:xfrm>
        </p:grpSpPr>
        <p:sp>
          <p:nvSpPr>
            <p:cNvPr id="231" name="Google Shape;231;p20"/>
            <p:cNvSpPr/>
            <p:nvPr/>
          </p:nvSpPr>
          <p:spPr>
            <a:xfrm>
              <a:off x="0" y="0"/>
              <a:ext cx="8382000" cy="1047900"/>
            </a:xfrm>
            <a:prstGeom prst="roundRect">
              <a:avLst>
                <a:gd fmla="val 10909" name="adj"/>
              </a:avLst>
            </a:prstGeom>
            <a:solidFill>
              <a:srgbClr val="FFF8E1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190500" y="17208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5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</a:t>
              </a:r>
              <a:endParaRPr b="0" sz="1850">
                <a:solidFill>
                  <a:srgbClr val="D4AF3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3" name="Google Shape;233;p20"/>
            <p:cNvSpPr txBox="1"/>
            <p:nvPr/>
          </p:nvSpPr>
          <p:spPr>
            <a:xfrm>
              <a:off x="666750" y="142875"/>
              <a:ext cx="7524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Alternative Scenario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If the variable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age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had been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16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, the condition would be </a:t>
              </a: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, the indented block would be skipped, and nothing would happen.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21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240" name="Google Shape;240;p21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21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243" name="Google Shape;243;p21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21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'if-else' Statement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46" name="Google Shape;246;p21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247" name="Google Shape;247;p21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</a:t>
              </a: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if-else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statement is used when you want one block of code to run if a condition is </a:t>
              </a: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, and a completely different block to run if it is </a:t>
              </a: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Key Points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else Keyword: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Notice that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does not take a condition. It acts as a catch-all for any situation where the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condition fails.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60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Alignment: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The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keyword must be aligned perfectly with its corresponding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keyword.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" name="Google Shape;249;p21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250" name="Google Shape;250;p21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Syntax Structure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condition: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statement_if_true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statement_if_false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600"/>
                </a:spcAft>
                <a:buNone/>
              </a:pPr>
              <a:r>
                <a:rPr b="0" i="1" lang="en" sz="90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Note: Indentation is mandatory in Python to define the code blocks.</a:t>
              </a:r>
              <a:endParaRPr b="0" i="1" sz="90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2" name="Google Shape;252;p21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253" name="Google Shape;253;p21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1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" name="Google Shape;260;p22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261" name="Google Shape;261;p22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22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264" name="Google Shape;264;p22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2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" name="Google Shape;266;p22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Example: 'if-else'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67" name="Google Shape;267;p22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268" name="Google Shape;268;p22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2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marks = 45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marks &gt;= 50: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print("Pass")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print("Fail")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70" name="Google Shape;270;p22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271" name="Google Shape;271;p22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2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Concept &amp; Result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Applying a fallback action when a condition is not met.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Expected Output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Fail</a:t>
              </a:r>
              <a:endParaRPr b="1" sz="1200">
                <a:solidFill>
                  <a:srgbClr val="0021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73" name="Google Shape;273;p22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274" name="Google Shape;274;p22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2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1" name="Google Shape;281;p23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282" name="Google Shape;282;p23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23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285" name="Google Shape;285;p23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3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23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Explanation of 'if-else' Example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381000" y="809625"/>
            <a:ext cx="8382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rPr>
              <a:t>How the dual-path logic executes:</a:t>
            </a:r>
            <a:endParaRPr b="1" sz="1050">
              <a:solidFill>
                <a:srgbClr val="00214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9" name="Google Shape;289;p23"/>
          <p:cNvGrpSpPr/>
          <p:nvPr/>
        </p:nvGrpSpPr>
        <p:grpSpPr>
          <a:xfrm>
            <a:off x="381000" y="1095375"/>
            <a:ext cx="2600400" cy="2238525"/>
            <a:chOff x="0" y="0"/>
            <a:chExt cx="2600400" cy="2238525"/>
          </a:xfrm>
        </p:grpSpPr>
        <p:grpSp>
          <p:nvGrpSpPr>
            <p:cNvPr id="290" name="Google Shape;290;p23"/>
            <p:cNvGrpSpPr/>
            <p:nvPr/>
          </p:nvGrpSpPr>
          <p:grpSpPr>
            <a:xfrm>
              <a:off x="0" y="0"/>
              <a:ext cx="2600400" cy="1047900"/>
              <a:chOff x="0" y="0"/>
              <a:chExt cx="2600400" cy="1047900"/>
            </a:xfrm>
          </p:grpSpPr>
          <p:grpSp>
            <p:nvGrpSpPr>
              <p:cNvPr id="291" name="Google Shape;291;p23"/>
              <p:cNvGrpSpPr/>
              <p:nvPr/>
            </p:nvGrpSpPr>
            <p:grpSpPr>
              <a:xfrm>
                <a:off x="0" y="0"/>
                <a:ext cx="2600400" cy="1047900"/>
                <a:chOff x="0" y="0"/>
                <a:chExt cx="2600400" cy="1047900"/>
              </a:xfrm>
            </p:grpSpPr>
            <p:sp>
              <p:nvSpPr>
                <p:cNvPr id="292" name="Google Shape;292;p23"/>
                <p:cNvSpPr/>
                <p:nvPr/>
              </p:nvSpPr>
              <p:spPr>
                <a:xfrm>
                  <a:off x="0" y="0"/>
                  <a:ext cx="2600400" cy="1047900"/>
                </a:xfrm>
                <a:prstGeom prst="roundRect">
                  <a:avLst>
                    <a:gd fmla="val 1090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0E0E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" name="Google Shape;293;p23"/>
                <p:cNvSpPr/>
                <p:nvPr/>
              </p:nvSpPr>
              <p:spPr>
                <a:xfrm>
                  <a:off x="142875" y="190500"/>
                  <a:ext cx="381000" cy="381000"/>
                </a:xfrm>
                <a:prstGeom prst="ellipse">
                  <a:avLst/>
                </a:prstGeom>
                <a:solidFill>
                  <a:srgbClr val="D4AF3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4" name="Google Shape;294;p23"/>
              <p:cNvSpPr txBox="1"/>
              <p:nvPr/>
            </p:nvSpPr>
            <p:spPr>
              <a:xfrm>
                <a:off x="142875" y="1905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01</a:t>
                </a:r>
                <a:endParaRPr b="1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5" name="Google Shape;295;p23"/>
              <p:cNvSpPr txBox="1"/>
              <p:nvPr/>
            </p:nvSpPr>
            <p:spPr>
              <a:xfrm>
                <a:off x="619125" y="95250"/>
                <a:ext cx="1886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Variable Assignment</a:t>
                </a:r>
                <a:endParaRPr b="1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The variable </a:t>
                </a:r>
                <a:r>
                  <a:rPr b="1" lang="en" sz="90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marks</a:t>
                </a: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 is set to </a:t>
                </a:r>
                <a:r>
                  <a:rPr b="1" lang="en" sz="90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45</a:t>
                </a: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6" name="Google Shape;296;p23"/>
            <p:cNvGrpSpPr/>
            <p:nvPr/>
          </p:nvGrpSpPr>
          <p:grpSpPr>
            <a:xfrm>
              <a:off x="0" y="1190625"/>
              <a:ext cx="2600400" cy="1047900"/>
              <a:chOff x="0" y="0"/>
              <a:chExt cx="2600400" cy="1047900"/>
            </a:xfrm>
          </p:grpSpPr>
          <p:grpSp>
            <p:nvGrpSpPr>
              <p:cNvPr id="297" name="Google Shape;297;p23"/>
              <p:cNvGrpSpPr/>
              <p:nvPr/>
            </p:nvGrpSpPr>
            <p:grpSpPr>
              <a:xfrm>
                <a:off x="0" y="0"/>
                <a:ext cx="2600400" cy="1047900"/>
                <a:chOff x="0" y="0"/>
                <a:chExt cx="2600400" cy="1047900"/>
              </a:xfrm>
            </p:grpSpPr>
            <p:sp>
              <p:nvSpPr>
                <p:cNvPr id="298" name="Google Shape;298;p23"/>
                <p:cNvSpPr/>
                <p:nvPr/>
              </p:nvSpPr>
              <p:spPr>
                <a:xfrm>
                  <a:off x="0" y="0"/>
                  <a:ext cx="2600400" cy="1047900"/>
                </a:xfrm>
                <a:prstGeom prst="roundRect">
                  <a:avLst>
                    <a:gd fmla="val 1090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0E0E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" name="Google Shape;299;p23"/>
                <p:cNvSpPr/>
                <p:nvPr/>
              </p:nvSpPr>
              <p:spPr>
                <a:xfrm>
                  <a:off x="142875" y="190500"/>
                  <a:ext cx="381000" cy="381000"/>
                </a:xfrm>
                <a:prstGeom prst="ellipse">
                  <a:avLst/>
                </a:prstGeom>
                <a:solidFill>
                  <a:srgbClr val="D4AF3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0" name="Google Shape;300;p23"/>
              <p:cNvSpPr txBox="1"/>
              <p:nvPr/>
            </p:nvSpPr>
            <p:spPr>
              <a:xfrm>
                <a:off x="142875" y="1905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02</a:t>
                </a:r>
                <a:endParaRPr b="1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1" name="Google Shape;301;p23"/>
              <p:cNvSpPr txBox="1"/>
              <p:nvPr/>
            </p:nvSpPr>
            <p:spPr>
              <a:xfrm>
                <a:off x="619125" y="95250"/>
                <a:ext cx="1886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Condition Evaluation</a:t>
                </a:r>
                <a:endParaRPr b="1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Evaluates </a:t>
                </a:r>
                <a:r>
                  <a:rPr b="1" lang="en" sz="90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 marks &gt;= 50:</a:t>
                </a: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, translating to </a:t>
                </a:r>
                <a:r>
                  <a:rPr b="1" lang="en" sz="90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45 &gt;= 50</a:t>
                </a: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02" name="Google Shape;302;p23"/>
          <p:cNvGrpSpPr/>
          <p:nvPr/>
        </p:nvGrpSpPr>
        <p:grpSpPr>
          <a:xfrm>
            <a:off x="3267075" y="1095375"/>
            <a:ext cx="2600400" cy="2238525"/>
            <a:chOff x="0" y="0"/>
            <a:chExt cx="2600400" cy="2238525"/>
          </a:xfrm>
        </p:grpSpPr>
        <p:grpSp>
          <p:nvGrpSpPr>
            <p:cNvPr id="303" name="Google Shape;303;p23"/>
            <p:cNvGrpSpPr/>
            <p:nvPr/>
          </p:nvGrpSpPr>
          <p:grpSpPr>
            <a:xfrm>
              <a:off x="0" y="0"/>
              <a:ext cx="2600400" cy="1047900"/>
              <a:chOff x="0" y="0"/>
              <a:chExt cx="2600400" cy="1047900"/>
            </a:xfrm>
          </p:grpSpPr>
          <p:grpSp>
            <p:nvGrpSpPr>
              <p:cNvPr id="304" name="Google Shape;304;p23"/>
              <p:cNvGrpSpPr/>
              <p:nvPr/>
            </p:nvGrpSpPr>
            <p:grpSpPr>
              <a:xfrm>
                <a:off x="0" y="0"/>
                <a:ext cx="2600400" cy="1047900"/>
                <a:chOff x="0" y="0"/>
                <a:chExt cx="2600400" cy="1047900"/>
              </a:xfrm>
            </p:grpSpPr>
            <p:sp>
              <p:nvSpPr>
                <p:cNvPr id="305" name="Google Shape;305;p23"/>
                <p:cNvSpPr/>
                <p:nvPr/>
              </p:nvSpPr>
              <p:spPr>
                <a:xfrm>
                  <a:off x="0" y="0"/>
                  <a:ext cx="2600400" cy="1047900"/>
                </a:xfrm>
                <a:prstGeom prst="roundRect">
                  <a:avLst>
                    <a:gd fmla="val 1090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0E0E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" name="Google Shape;306;p23"/>
                <p:cNvSpPr/>
                <p:nvPr/>
              </p:nvSpPr>
              <p:spPr>
                <a:xfrm>
                  <a:off x="142875" y="190500"/>
                  <a:ext cx="381000" cy="381000"/>
                </a:xfrm>
                <a:prstGeom prst="ellipse">
                  <a:avLst/>
                </a:prstGeom>
                <a:solidFill>
                  <a:srgbClr val="D4AF3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7" name="Google Shape;307;p23"/>
              <p:cNvSpPr txBox="1"/>
              <p:nvPr/>
            </p:nvSpPr>
            <p:spPr>
              <a:xfrm>
                <a:off x="142875" y="1905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03</a:t>
                </a:r>
                <a:endParaRPr b="1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8" name="Google Shape;308;p23"/>
              <p:cNvSpPr txBox="1"/>
              <p:nvPr/>
            </p:nvSpPr>
            <p:spPr>
              <a:xfrm>
                <a:off x="619125" y="95250"/>
                <a:ext cx="1886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Boolean Result</a:t>
                </a:r>
                <a:endParaRPr b="1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The evaluation result for this specific statement is </a:t>
                </a:r>
                <a:r>
                  <a:rPr b="1" lang="en" sz="900">
                    <a:solidFill>
                      <a:srgbClr val="D4AF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False</a:t>
                </a: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09" name="Google Shape;309;p23"/>
            <p:cNvGrpSpPr/>
            <p:nvPr/>
          </p:nvGrpSpPr>
          <p:grpSpPr>
            <a:xfrm>
              <a:off x="0" y="1190625"/>
              <a:ext cx="2600400" cy="1047900"/>
              <a:chOff x="0" y="0"/>
              <a:chExt cx="2600400" cy="1047900"/>
            </a:xfrm>
          </p:grpSpPr>
          <p:grpSp>
            <p:nvGrpSpPr>
              <p:cNvPr id="310" name="Google Shape;310;p23"/>
              <p:cNvGrpSpPr/>
              <p:nvPr/>
            </p:nvGrpSpPr>
            <p:grpSpPr>
              <a:xfrm>
                <a:off x="0" y="0"/>
                <a:ext cx="2600400" cy="1047900"/>
                <a:chOff x="0" y="0"/>
                <a:chExt cx="2600400" cy="1047900"/>
              </a:xfrm>
            </p:grpSpPr>
            <p:sp>
              <p:nvSpPr>
                <p:cNvPr id="311" name="Google Shape;311;p23"/>
                <p:cNvSpPr/>
                <p:nvPr/>
              </p:nvSpPr>
              <p:spPr>
                <a:xfrm>
                  <a:off x="0" y="0"/>
                  <a:ext cx="2600400" cy="1047900"/>
                </a:xfrm>
                <a:prstGeom prst="roundRect">
                  <a:avLst>
                    <a:gd fmla="val 1090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0E0E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" name="Google Shape;312;p23"/>
                <p:cNvSpPr/>
                <p:nvPr/>
              </p:nvSpPr>
              <p:spPr>
                <a:xfrm>
                  <a:off x="142875" y="190500"/>
                  <a:ext cx="381000" cy="381000"/>
                </a:xfrm>
                <a:prstGeom prst="ellipse">
                  <a:avLst/>
                </a:prstGeom>
                <a:solidFill>
                  <a:srgbClr val="D4AF3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3" name="Google Shape;313;p23"/>
              <p:cNvSpPr txBox="1"/>
              <p:nvPr/>
            </p:nvSpPr>
            <p:spPr>
              <a:xfrm>
                <a:off x="142875" y="1905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04</a:t>
                </a:r>
                <a:endParaRPr b="1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4" name="Google Shape;314;p23"/>
              <p:cNvSpPr txBox="1"/>
              <p:nvPr/>
            </p:nvSpPr>
            <p:spPr>
              <a:xfrm>
                <a:off x="619125" y="95250"/>
                <a:ext cx="1886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Path Selection</a:t>
                </a:r>
                <a:endParaRPr b="1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Python skips the indented block under the </a:t>
                </a:r>
                <a:r>
                  <a:rPr b="1" lang="en" sz="90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</a:t>
                </a: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 statement.</a:t>
                </a:r>
                <a:endParaRPr b="0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15" name="Google Shape;315;p23"/>
          <p:cNvGrpSpPr/>
          <p:nvPr/>
        </p:nvGrpSpPr>
        <p:grpSpPr>
          <a:xfrm>
            <a:off x="6153150" y="1095375"/>
            <a:ext cx="2600400" cy="3428925"/>
            <a:chOff x="0" y="0"/>
            <a:chExt cx="2600400" cy="3428925"/>
          </a:xfrm>
        </p:grpSpPr>
        <p:grpSp>
          <p:nvGrpSpPr>
            <p:cNvPr id="316" name="Google Shape;316;p23"/>
            <p:cNvGrpSpPr/>
            <p:nvPr/>
          </p:nvGrpSpPr>
          <p:grpSpPr>
            <a:xfrm>
              <a:off x="0" y="0"/>
              <a:ext cx="2600400" cy="1047900"/>
              <a:chOff x="0" y="0"/>
              <a:chExt cx="2600400" cy="1047900"/>
            </a:xfrm>
          </p:grpSpPr>
          <p:grpSp>
            <p:nvGrpSpPr>
              <p:cNvPr id="317" name="Google Shape;317;p23"/>
              <p:cNvGrpSpPr/>
              <p:nvPr/>
            </p:nvGrpSpPr>
            <p:grpSpPr>
              <a:xfrm>
                <a:off x="0" y="0"/>
                <a:ext cx="2600400" cy="1047900"/>
                <a:chOff x="0" y="0"/>
                <a:chExt cx="2600400" cy="1047900"/>
              </a:xfrm>
            </p:grpSpPr>
            <p:sp>
              <p:nvSpPr>
                <p:cNvPr id="318" name="Google Shape;318;p23"/>
                <p:cNvSpPr/>
                <p:nvPr/>
              </p:nvSpPr>
              <p:spPr>
                <a:xfrm>
                  <a:off x="0" y="0"/>
                  <a:ext cx="2600400" cy="1047900"/>
                </a:xfrm>
                <a:prstGeom prst="roundRect">
                  <a:avLst>
                    <a:gd fmla="val 10909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0E0E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" name="Google Shape;319;p23"/>
                <p:cNvSpPr/>
                <p:nvPr/>
              </p:nvSpPr>
              <p:spPr>
                <a:xfrm>
                  <a:off x="142875" y="190500"/>
                  <a:ext cx="381000" cy="381000"/>
                </a:xfrm>
                <a:prstGeom prst="ellipse">
                  <a:avLst/>
                </a:prstGeom>
                <a:solidFill>
                  <a:srgbClr val="D4AF3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20" name="Google Shape;320;p23"/>
              <p:cNvSpPr txBox="1"/>
              <p:nvPr/>
            </p:nvSpPr>
            <p:spPr>
              <a:xfrm>
                <a:off x="142875" y="19050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05</a:t>
                </a:r>
                <a:endParaRPr b="1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1" name="Google Shape;321;p23"/>
              <p:cNvSpPr txBox="1"/>
              <p:nvPr/>
            </p:nvSpPr>
            <p:spPr>
              <a:xfrm>
                <a:off x="619125" y="95250"/>
                <a:ext cx="1886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Fallback Execution</a:t>
                </a:r>
                <a:endParaRPr b="1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Python jumps to the </a:t>
                </a:r>
                <a:r>
                  <a:rPr b="1" lang="en" sz="90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else</a:t>
                </a: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 block and executes it, outputting </a:t>
                </a:r>
                <a:r>
                  <a:rPr b="1" lang="en" sz="90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Fail</a:t>
                </a: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2" name="Google Shape;322;p23"/>
            <p:cNvGrpSpPr/>
            <p:nvPr/>
          </p:nvGrpSpPr>
          <p:grpSpPr>
            <a:xfrm>
              <a:off x="0" y="1190625"/>
              <a:ext cx="2600400" cy="2238300"/>
              <a:chOff x="0" y="0"/>
              <a:chExt cx="2600400" cy="2238300"/>
            </a:xfrm>
          </p:grpSpPr>
          <p:sp>
            <p:nvSpPr>
              <p:cNvPr id="323" name="Google Shape;323;p23"/>
              <p:cNvSpPr/>
              <p:nvPr/>
            </p:nvSpPr>
            <p:spPr>
              <a:xfrm>
                <a:off x="0" y="0"/>
                <a:ext cx="2600400" cy="2238300"/>
              </a:xfrm>
              <a:prstGeom prst="roundRect">
                <a:avLst>
                  <a:gd fmla="val 5106" name="adj"/>
                </a:avLst>
              </a:prstGeom>
              <a:solidFill>
                <a:srgbClr val="002147"/>
              </a:solidFill>
              <a:ln cap="flat" cmpd="sng" w="190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23"/>
              <p:cNvSpPr txBox="1"/>
              <p:nvPr/>
            </p:nvSpPr>
            <p:spPr>
              <a:xfrm>
                <a:off x="190500" y="190500"/>
                <a:ext cx="2219400" cy="18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D4AF37"/>
                    </a:solidFill>
                    <a:latin typeface="Inter"/>
                    <a:ea typeface="Inter"/>
                    <a:cs typeface="Inter"/>
                    <a:sym typeface="Inter"/>
                  </a:rPr>
                  <a:t>Logic Result</a:t>
                </a:r>
                <a:endParaRPr b="1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marks = 45</a:t>
                </a:r>
                <a:endParaRPr b="1" sz="14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 marks &gt;= 50:</a:t>
                </a:r>
                <a:endParaRPr b="1" sz="14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E0E0E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 Skipped</a:t>
                </a:r>
                <a:endParaRPr b="1" sz="1400">
                  <a:solidFill>
                    <a:srgbClr val="E0E0E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else:</a:t>
                </a:r>
                <a:endParaRPr b="1" sz="14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1" lang="en" sz="1400">
                    <a:solidFill>
                      <a:srgbClr val="D4AF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print("Fail")</a:t>
                </a:r>
                <a:endParaRPr b="1" sz="14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pic>
        <p:nvPicPr>
          <p:cNvPr id="325" name="Google Shape;3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1325" y="1552575"/>
            <a:ext cx="476400" cy="1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3"/>
          <p:cNvSpPr/>
          <p:nvPr/>
        </p:nvSpPr>
        <p:spPr>
          <a:xfrm>
            <a:off x="5867400" y="1619250"/>
            <a:ext cx="2859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23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28" name="Google Shape;328;p23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3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5" name="Google Shape;335;p24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36" name="Google Shape;336;p24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8" name="Google Shape;338;p24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339" name="Google Shape;339;p24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1" name="Google Shape;341;p24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Taking Input with 'if-else'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342" name="Google Shape;342;p24"/>
          <p:cNvGrpSpPr/>
          <p:nvPr/>
        </p:nvGrpSpPr>
        <p:grpSpPr>
          <a:xfrm>
            <a:off x="381000" y="952500"/>
            <a:ext cx="4000500" cy="3429150"/>
            <a:chOff x="0" y="0"/>
            <a:chExt cx="4000500" cy="3429150"/>
          </a:xfrm>
        </p:grpSpPr>
        <p:grpSp>
          <p:nvGrpSpPr>
            <p:cNvPr id="343" name="Google Shape;343;p24"/>
            <p:cNvGrpSpPr/>
            <p:nvPr/>
          </p:nvGrpSpPr>
          <p:grpSpPr>
            <a:xfrm>
              <a:off x="0" y="0"/>
              <a:ext cx="4000500" cy="2000100"/>
              <a:chOff x="0" y="0"/>
              <a:chExt cx="4000500" cy="2000100"/>
            </a:xfrm>
          </p:grpSpPr>
          <p:sp>
            <p:nvSpPr>
              <p:cNvPr id="344" name="Google Shape;344;p24"/>
              <p:cNvSpPr/>
              <p:nvPr/>
            </p:nvSpPr>
            <p:spPr>
              <a:xfrm>
                <a:off x="0" y="0"/>
                <a:ext cx="4000500" cy="2000100"/>
              </a:xfrm>
              <a:prstGeom prst="roundRect">
                <a:avLst>
                  <a:gd fmla="val 5714" name="adj"/>
                </a:avLst>
              </a:prstGeom>
              <a:solidFill>
                <a:srgbClr val="002147"/>
              </a:solidFill>
              <a:ln cap="flat" cmpd="sng" w="190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4"/>
              <p:cNvSpPr txBox="1"/>
              <p:nvPr/>
            </p:nvSpPr>
            <p:spPr>
              <a:xfrm>
                <a:off x="190500" y="190500"/>
                <a:ext cx="36195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D4AF37"/>
                    </a:solidFill>
                    <a:latin typeface="Inter"/>
                    <a:ea typeface="Inter"/>
                    <a:cs typeface="Inter"/>
                    <a:sym typeface="Inter"/>
                  </a:rPr>
                  <a:t>Python Code</a:t>
                </a:r>
                <a:endParaRPr b="1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600"/>
                  </a:spcAft>
                  <a:buNone/>
                </a:pPr>
                <a:r>
                  <a:rPr b="1" lang="en" sz="1200">
                    <a:solidFill>
                      <a:srgbClr val="D4AF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age</a:t>
                </a:r>
                <a:r>
                  <a:rPr b="1" lang="en" sz="12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= int(input("Enter your age: "))</a:t>
                </a:r>
                <a:br>
                  <a:rPr b="1" lang="en" sz="12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1" lang="en" sz="1200">
                    <a:solidFill>
                      <a:srgbClr val="D4AF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</a:t>
                </a:r>
                <a:r>
                  <a:rPr b="1" lang="en" sz="12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age &gt;= 18:</a:t>
                </a:r>
                <a:br>
                  <a:rPr b="1" lang="en" sz="12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1" lang="en" sz="12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  print("You are an adult")</a:t>
                </a:r>
                <a:br>
                  <a:rPr b="1" lang="en" sz="12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1" lang="en" sz="1200">
                    <a:solidFill>
                      <a:srgbClr val="D4AF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else</a:t>
                </a:r>
                <a:r>
                  <a:rPr b="1" lang="en" sz="12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:</a:t>
                </a:r>
                <a:br>
                  <a:rPr b="1" lang="en" sz="12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1" lang="en" sz="1200">
                    <a:solidFill>
                      <a:srgbClr val="FFFF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    print("You are a minor")</a:t>
                </a:r>
                <a:endParaRPr b="1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46" name="Google Shape;346;p24"/>
            <p:cNvGrpSpPr/>
            <p:nvPr/>
          </p:nvGrpSpPr>
          <p:grpSpPr>
            <a:xfrm>
              <a:off x="0" y="2190750"/>
              <a:ext cx="4000500" cy="1238400"/>
              <a:chOff x="0" y="0"/>
              <a:chExt cx="4000500" cy="1238400"/>
            </a:xfrm>
          </p:grpSpPr>
          <p:sp>
            <p:nvSpPr>
              <p:cNvPr id="347" name="Google Shape;347;p24"/>
              <p:cNvSpPr/>
              <p:nvPr/>
            </p:nvSpPr>
            <p:spPr>
              <a:xfrm>
                <a:off x="0" y="0"/>
                <a:ext cx="40005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4"/>
              <p:cNvSpPr txBox="1"/>
              <p:nvPr/>
            </p:nvSpPr>
            <p:spPr>
              <a:xfrm>
                <a:off x="190500" y="142875"/>
                <a:ext cx="3619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Example Interaction</a:t>
                </a:r>
                <a:endParaRPr b="1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1" lang="en" sz="110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Enter your age: 20</a:t>
                </a:r>
                <a:br>
                  <a:rPr b="1" lang="en" sz="110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</a:br>
                <a:r>
                  <a:rPr b="1" lang="en" sz="1100">
                    <a:solidFill>
                      <a:srgbClr val="0021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You are an adult</a:t>
                </a:r>
                <a:endParaRPr b="1" sz="11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349" name="Google Shape;349;p24"/>
          <p:cNvGrpSpPr/>
          <p:nvPr/>
        </p:nvGrpSpPr>
        <p:grpSpPr>
          <a:xfrm>
            <a:off x="4762500" y="952500"/>
            <a:ext cx="4000500" cy="3428850"/>
            <a:chOff x="0" y="0"/>
            <a:chExt cx="4000500" cy="3428850"/>
          </a:xfrm>
        </p:grpSpPr>
        <p:grpSp>
          <p:nvGrpSpPr>
            <p:cNvPr id="350" name="Google Shape;350;p24"/>
            <p:cNvGrpSpPr/>
            <p:nvPr/>
          </p:nvGrpSpPr>
          <p:grpSpPr>
            <a:xfrm>
              <a:off x="0" y="0"/>
              <a:ext cx="4000500" cy="1238400"/>
              <a:chOff x="0" y="0"/>
              <a:chExt cx="4000500" cy="1238400"/>
            </a:xfrm>
          </p:grpSpPr>
          <p:sp>
            <p:nvSpPr>
              <p:cNvPr id="351" name="Google Shape;351;p24"/>
              <p:cNvSpPr/>
              <p:nvPr/>
            </p:nvSpPr>
            <p:spPr>
              <a:xfrm>
                <a:off x="0" y="0"/>
                <a:ext cx="4000500" cy="1238400"/>
              </a:xfrm>
              <a:prstGeom prst="roundRect">
                <a:avLst>
                  <a:gd fmla="val 923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4"/>
              <p:cNvSpPr txBox="1"/>
              <p:nvPr/>
            </p:nvSpPr>
            <p:spPr>
              <a:xfrm>
                <a:off x="190500" y="190500"/>
                <a:ext cx="36195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Interactive Logic</a:t>
                </a:r>
                <a:endParaRPr b="1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Making programs interactive by evaluating user input. The </a:t>
                </a:r>
                <a:r>
                  <a:rPr b="1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input()</a:t>
                </a:r>
                <a:r>
                  <a:rPr b="0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 function captures strings, while </a:t>
                </a:r>
                <a:r>
                  <a:rPr b="1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if-else</a:t>
                </a:r>
                <a:r>
                  <a:rPr b="0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 handles the branching logic.</a:t>
                </a:r>
                <a:endParaRPr b="0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53" name="Google Shape;353;p24"/>
            <p:cNvGrpSpPr/>
            <p:nvPr/>
          </p:nvGrpSpPr>
          <p:grpSpPr>
            <a:xfrm>
              <a:off x="0" y="1428750"/>
              <a:ext cx="4000500" cy="2000100"/>
              <a:chOff x="0" y="0"/>
              <a:chExt cx="4000500" cy="2000100"/>
            </a:xfrm>
          </p:grpSpPr>
          <p:sp>
            <p:nvSpPr>
              <p:cNvPr id="354" name="Google Shape;354;p24"/>
              <p:cNvSpPr/>
              <p:nvPr/>
            </p:nvSpPr>
            <p:spPr>
              <a:xfrm>
                <a:off x="0" y="0"/>
                <a:ext cx="4000500" cy="2000100"/>
              </a:xfrm>
              <a:prstGeom prst="roundRect">
                <a:avLst>
                  <a:gd fmla="val 3809" name="adj"/>
                </a:avLst>
              </a:prstGeom>
              <a:solidFill>
                <a:srgbClr val="FFF8E1"/>
              </a:solidFill>
              <a:ln cap="flat" cmpd="sng" w="19050">
                <a:solidFill>
                  <a:srgbClr val="D4AF3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4"/>
              <p:cNvSpPr txBox="1"/>
              <p:nvPr/>
            </p:nvSpPr>
            <p:spPr>
              <a:xfrm>
                <a:off x="142875" y="169164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D4AF3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warning</a:t>
                </a:r>
                <a:endParaRPr b="0" sz="18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56" name="Google Shape;356;p24"/>
              <p:cNvSpPr txBox="1"/>
              <p:nvPr/>
            </p:nvSpPr>
            <p:spPr>
              <a:xfrm>
                <a:off x="523875" y="142875"/>
                <a:ext cx="32862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D4AF37"/>
                    </a:solidFill>
                    <a:latin typeface="Inter"/>
                    <a:ea typeface="Inter"/>
                    <a:cs typeface="Inter"/>
                    <a:sym typeface="Inter"/>
                  </a:rPr>
                  <a:t>The 'int()' Tip</a:t>
                </a:r>
                <a:endParaRPr b="1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The </a:t>
                </a:r>
                <a:r>
                  <a:rPr b="1" lang="en" sz="105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input()</a:t>
                </a:r>
                <a:r>
                  <a:rPr b="0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 function always returns a </a:t>
                </a:r>
                <a:r>
                  <a:rPr b="1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string</a:t>
                </a:r>
                <a:r>
                  <a:rPr b="0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To perform mathematical comparisons (like </a:t>
                </a:r>
                <a:r>
                  <a:rPr b="0" lang="en" sz="105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&gt;= 18</a:t>
                </a:r>
                <a:r>
                  <a:rPr b="0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), you must wrap the input in </a:t>
                </a:r>
                <a:r>
                  <a:rPr b="1" lang="en" sz="1050">
                    <a:solidFill>
                      <a:srgbClr val="0021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int()</a:t>
                </a:r>
                <a:r>
                  <a:rPr b="0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 to convert it into an integer.</a:t>
                </a:r>
                <a:endParaRPr b="0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57" name="Google Shape;357;p24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58" name="Google Shape;358;p24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4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" name="Google Shape;365;p25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366" name="Google Shape;366;p25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5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" name="Google Shape;368;p25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369" name="Google Shape;369;p25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25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Comparison Operators in Conditions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72" name="Google Shape;372;p25"/>
          <p:cNvSpPr txBox="1"/>
          <p:nvPr/>
        </p:nvSpPr>
        <p:spPr>
          <a:xfrm>
            <a:off x="381000" y="80962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rPr>
              <a:t>Operators used to compare values and return </a:t>
            </a:r>
            <a:r>
              <a:rPr b="1" lang="en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True</a:t>
            </a:r>
            <a:r>
              <a:rPr b="1" lang="en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1" lang="en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rPr>
              <a:t>False</a:t>
            </a:r>
            <a:r>
              <a:rPr b="1" lang="en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1" sz="1050">
              <a:solidFill>
                <a:srgbClr val="00214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3" name="Google Shape;373;p25"/>
          <p:cNvGrpSpPr/>
          <p:nvPr/>
        </p:nvGrpSpPr>
        <p:grpSpPr>
          <a:xfrm>
            <a:off x="0" y="0"/>
            <a:ext cx="4191000" cy="666900"/>
            <a:chOff x="0" y="0"/>
            <a:chExt cx="4191000" cy="666900"/>
          </a:xfrm>
        </p:grpSpPr>
        <p:sp>
          <p:nvSpPr>
            <p:cNvPr id="374" name="Google Shape;374;p25"/>
            <p:cNvSpPr/>
            <p:nvPr/>
          </p:nvSpPr>
          <p:spPr>
            <a:xfrm>
              <a:off x="0" y="0"/>
              <a:ext cx="4191000" cy="666900"/>
            </a:xfrm>
            <a:prstGeom prst="roundRect">
              <a:avLst>
                <a:gd fmla="val 17142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114300" y="114300"/>
              <a:ext cx="571500" cy="438300"/>
            </a:xfrm>
            <a:prstGeom prst="roundRect">
              <a:avLst>
                <a:gd fmla="val 8695" name="adj"/>
              </a:avLst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5"/>
            <p:cNvSpPr txBox="1"/>
            <p:nvPr/>
          </p:nvSpPr>
          <p:spPr>
            <a:xfrm>
              <a:off x="114300" y="114300"/>
              <a:ext cx="5715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==</a:t>
              </a:r>
              <a:endParaRPr b="1" sz="16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7" name="Google Shape;377;p25"/>
            <p:cNvSpPr txBox="1"/>
            <p:nvPr/>
          </p:nvSpPr>
          <p:spPr>
            <a:xfrm>
              <a:off x="809625" y="95250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Equal to: </a:t>
              </a:r>
              <a:r>
                <a:rPr b="0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Identical values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 == 5 (True)</a:t>
              </a:r>
              <a:endParaRPr b="1" sz="1000">
                <a:solidFill>
                  <a:srgbClr val="D4AF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8" name="Google Shape;378;p25"/>
          <p:cNvGrpSpPr/>
          <p:nvPr/>
        </p:nvGrpSpPr>
        <p:grpSpPr>
          <a:xfrm>
            <a:off x="4667250" y="1238250"/>
            <a:ext cx="4191000" cy="2286150"/>
            <a:chOff x="0" y="0"/>
            <a:chExt cx="4191000" cy="2286150"/>
          </a:xfrm>
        </p:grpSpPr>
        <p:grpSp>
          <p:nvGrpSpPr>
            <p:cNvPr id="379" name="Google Shape;379;p25"/>
            <p:cNvGrpSpPr/>
            <p:nvPr/>
          </p:nvGrpSpPr>
          <p:grpSpPr>
            <a:xfrm>
              <a:off x="0" y="0"/>
              <a:ext cx="4191000" cy="666900"/>
              <a:chOff x="0" y="0"/>
              <a:chExt cx="4191000" cy="666900"/>
            </a:xfrm>
          </p:grpSpPr>
          <p:sp>
            <p:nvSpPr>
              <p:cNvPr id="380" name="Google Shape;380;p25"/>
              <p:cNvSpPr/>
              <p:nvPr/>
            </p:nvSpPr>
            <p:spPr>
              <a:xfrm>
                <a:off x="0" y="0"/>
                <a:ext cx="4191000" cy="666900"/>
              </a:xfrm>
              <a:prstGeom prst="roundRect">
                <a:avLst>
                  <a:gd fmla="val 171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5"/>
              <p:cNvSpPr/>
              <p:nvPr/>
            </p:nvSpPr>
            <p:spPr>
              <a:xfrm>
                <a:off x="114300" y="114300"/>
                <a:ext cx="571500" cy="438300"/>
              </a:xfrm>
              <a:prstGeom prst="roundRect">
                <a:avLst>
                  <a:gd fmla="val 8695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5"/>
              <p:cNvSpPr txBox="1"/>
              <p:nvPr/>
            </p:nvSpPr>
            <p:spPr>
              <a:xfrm>
                <a:off x="114300" y="114300"/>
                <a:ext cx="5715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D4AF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!=</a:t>
                </a:r>
                <a:endParaRPr b="1" sz="16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83" name="Google Shape;383;p25"/>
              <p:cNvSpPr txBox="1"/>
              <p:nvPr/>
            </p:nvSpPr>
            <p:spPr>
              <a:xfrm>
                <a:off x="809625" y="95250"/>
                <a:ext cx="3238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Not equal to: </a:t>
                </a:r>
                <a:r>
                  <a:rPr b="0" lang="en" sz="10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Different values</a:t>
                </a:r>
                <a:endParaRPr b="1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D4AF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5 != 3 (True)</a:t>
                </a:r>
                <a:endParaRPr b="1" sz="10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84" name="Google Shape;384;p25"/>
            <p:cNvGrpSpPr/>
            <p:nvPr/>
          </p:nvGrpSpPr>
          <p:grpSpPr>
            <a:xfrm>
              <a:off x="0" y="809625"/>
              <a:ext cx="4191000" cy="666900"/>
              <a:chOff x="0" y="0"/>
              <a:chExt cx="4191000" cy="666900"/>
            </a:xfrm>
          </p:grpSpPr>
          <p:sp>
            <p:nvSpPr>
              <p:cNvPr id="385" name="Google Shape;385;p25"/>
              <p:cNvSpPr/>
              <p:nvPr/>
            </p:nvSpPr>
            <p:spPr>
              <a:xfrm>
                <a:off x="0" y="0"/>
                <a:ext cx="4191000" cy="666900"/>
              </a:xfrm>
              <a:prstGeom prst="roundRect">
                <a:avLst>
                  <a:gd fmla="val 171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5"/>
              <p:cNvSpPr/>
              <p:nvPr/>
            </p:nvSpPr>
            <p:spPr>
              <a:xfrm>
                <a:off x="114300" y="114300"/>
                <a:ext cx="571500" cy="438300"/>
              </a:xfrm>
              <a:prstGeom prst="roundRect">
                <a:avLst>
                  <a:gd fmla="val 8695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5"/>
              <p:cNvSpPr txBox="1"/>
              <p:nvPr/>
            </p:nvSpPr>
            <p:spPr>
              <a:xfrm>
                <a:off x="114300" y="114300"/>
                <a:ext cx="5715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D4AF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&lt;</a:t>
                </a:r>
                <a:endParaRPr b="1" sz="16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88" name="Google Shape;388;p25"/>
              <p:cNvSpPr txBox="1"/>
              <p:nvPr/>
            </p:nvSpPr>
            <p:spPr>
              <a:xfrm>
                <a:off x="809625" y="95250"/>
                <a:ext cx="3238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Less than</a:t>
                </a:r>
                <a:endParaRPr b="1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D4AF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 &lt; 8 (True)</a:t>
                </a:r>
                <a:endParaRPr b="1" sz="10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89" name="Google Shape;389;p25"/>
            <p:cNvGrpSpPr/>
            <p:nvPr/>
          </p:nvGrpSpPr>
          <p:grpSpPr>
            <a:xfrm>
              <a:off x="0" y="1619250"/>
              <a:ext cx="4191000" cy="666900"/>
              <a:chOff x="0" y="0"/>
              <a:chExt cx="4191000" cy="666900"/>
            </a:xfrm>
          </p:grpSpPr>
          <p:sp>
            <p:nvSpPr>
              <p:cNvPr id="390" name="Google Shape;390;p25"/>
              <p:cNvSpPr/>
              <p:nvPr/>
            </p:nvSpPr>
            <p:spPr>
              <a:xfrm>
                <a:off x="0" y="0"/>
                <a:ext cx="4191000" cy="666900"/>
              </a:xfrm>
              <a:prstGeom prst="roundRect">
                <a:avLst>
                  <a:gd fmla="val 1714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5"/>
              <p:cNvSpPr/>
              <p:nvPr/>
            </p:nvSpPr>
            <p:spPr>
              <a:xfrm>
                <a:off x="114300" y="114300"/>
                <a:ext cx="571500" cy="438300"/>
              </a:xfrm>
              <a:prstGeom prst="roundRect">
                <a:avLst>
                  <a:gd fmla="val 8695" name="adj"/>
                </a:avLst>
              </a:prstGeom>
              <a:solidFill>
                <a:srgbClr val="00214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5"/>
              <p:cNvSpPr txBox="1"/>
              <p:nvPr/>
            </p:nvSpPr>
            <p:spPr>
              <a:xfrm>
                <a:off x="114300" y="114300"/>
                <a:ext cx="5715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D4AF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&lt;=</a:t>
                </a:r>
                <a:endParaRPr b="1" sz="16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93" name="Google Shape;393;p25"/>
              <p:cNvSpPr txBox="1"/>
              <p:nvPr/>
            </p:nvSpPr>
            <p:spPr>
              <a:xfrm>
                <a:off x="809625" y="95250"/>
                <a:ext cx="3238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Less than or equal to</a:t>
                </a:r>
                <a:endParaRPr b="1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D4AF3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4 &lt;= 10 (True)</a:t>
                </a:r>
                <a:endParaRPr b="1" sz="10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394" name="Google Shape;394;p25"/>
          <p:cNvGrpSpPr/>
          <p:nvPr/>
        </p:nvGrpSpPr>
        <p:grpSpPr>
          <a:xfrm>
            <a:off x="285750" y="3810000"/>
            <a:ext cx="8572500" cy="666900"/>
            <a:chOff x="0" y="0"/>
            <a:chExt cx="8572500" cy="666900"/>
          </a:xfrm>
        </p:grpSpPr>
        <p:sp>
          <p:nvSpPr>
            <p:cNvPr id="395" name="Google Shape;395;p25"/>
            <p:cNvSpPr/>
            <p:nvPr/>
          </p:nvSpPr>
          <p:spPr>
            <a:xfrm>
              <a:off x="0" y="0"/>
              <a:ext cx="8572500" cy="666900"/>
            </a:xfrm>
            <a:prstGeom prst="roundRect">
              <a:avLst>
                <a:gd fmla="val 17142" name="adj"/>
              </a:avLst>
            </a:prstGeom>
            <a:solidFill>
              <a:srgbClr val="FFF8E1"/>
            </a:solidFill>
            <a:ln cap="flat" cmpd="sng" w="9525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5"/>
            <p:cNvSpPr txBox="1"/>
            <p:nvPr/>
          </p:nvSpPr>
          <p:spPr>
            <a:xfrm>
              <a:off x="190500" y="0"/>
              <a:ext cx="8191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Pro Tip: </a:t>
              </a:r>
              <a:r>
                <a:rPr b="0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The result of a comparison is always a Boolean value: 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 or 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b="0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7" name="Google Shape;397;p25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398" name="Google Shape;398;p25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5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5" name="Google Shape;405;p26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06" name="Google Shape;406;p26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8" name="Google Shape;408;p26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409" name="Google Shape;409;p26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1" name="Google Shape;411;p26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Logical Operators in Conditions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12" name="Google Shape;412;p26"/>
          <p:cNvGrpSpPr/>
          <p:nvPr/>
        </p:nvGrpSpPr>
        <p:grpSpPr>
          <a:xfrm>
            <a:off x="381000" y="1047750"/>
            <a:ext cx="2600400" cy="3429000"/>
            <a:chOff x="0" y="0"/>
            <a:chExt cx="2600400" cy="3429000"/>
          </a:xfrm>
        </p:grpSpPr>
        <p:sp>
          <p:nvSpPr>
            <p:cNvPr id="413" name="Google Shape;413;p26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6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Operator: </a:t>
              </a: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and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Returns 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ONLY if 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all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combined conditions are True.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Example Usage: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age &gt;= 18 and age &lt;= 60</a:t>
              </a:r>
              <a:endParaRPr b="1" sz="1200">
                <a:solidFill>
                  <a:srgbClr val="002147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i="1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Checks if age is between 18 and 60.</a:t>
              </a:r>
              <a:endParaRPr b="0" i="1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5" name="Google Shape;415;p26"/>
          <p:cNvGrpSpPr/>
          <p:nvPr/>
        </p:nvGrpSpPr>
        <p:grpSpPr>
          <a:xfrm>
            <a:off x="3267075" y="1047750"/>
            <a:ext cx="2600400" cy="3429000"/>
            <a:chOff x="0" y="0"/>
            <a:chExt cx="2600400" cy="3429000"/>
          </a:xfrm>
        </p:grpSpPr>
        <p:sp>
          <p:nvSpPr>
            <p:cNvPr id="416" name="Google Shape;416;p26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6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Operator: </a:t>
              </a: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or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Returns 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if 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at least one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of the conditions is True.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Example Usage: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marks &gt;= 50 or attendance &gt;= 75</a:t>
              </a:r>
              <a:endParaRPr b="1" sz="1200">
                <a:solidFill>
                  <a:srgbClr val="002147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i="1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Passes if either marks OR attendance is high enough.</a:t>
              </a:r>
              <a:endParaRPr b="0" i="1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8" name="Google Shape;418;p26"/>
          <p:cNvGrpSpPr/>
          <p:nvPr/>
        </p:nvGrpSpPr>
        <p:grpSpPr>
          <a:xfrm>
            <a:off x="6153150" y="1047750"/>
            <a:ext cx="2600400" cy="3429000"/>
            <a:chOff x="0" y="0"/>
            <a:chExt cx="2600400" cy="3429000"/>
          </a:xfrm>
        </p:grpSpPr>
        <p:sp>
          <p:nvSpPr>
            <p:cNvPr id="419" name="Google Shape;419;p26"/>
            <p:cNvSpPr/>
            <p:nvPr/>
          </p:nvSpPr>
          <p:spPr>
            <a:xfrm>
              <a:off x="0" y="0"/>
              <a:ext cx="2600400" cy="3429000"/>
            </a:xfrm>
            <a:prstGeom prst="roundRect">
              <a:avLst>
                <a:gd fmla="val 439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6"/>
            <p:cNvSpPr txBox="1"/>
            <p:nvPr/>
          </p:nvSpPr>
          <p:spPr>
            <a:xfrm>
              <a:off x="190500" y="190500"/>
              <a:ext cx="22194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Operator: </a:t>
              </a: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not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Reverses the result of the condition (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becomes 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False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).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Example Usage: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2147"/>
                  </a:solidFill>
                  <a:highlight>
                    <a:srgbClr val="F8F8F5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not is_raining</a:t>
              </a:r>
              <a:endParaRPr b="1" sz="1200">
                <a:solidFill>
                  <a:srgbClr val="002147"/>
                </a:solidFill>
                <a:highlight>
                  <a:srgbClr val="F8F8F5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i="1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Executes if it is currently NOT raining.</a:t>
              </a:r>
              <a:endParaRPr b="0" i="1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1" name="Google Shape;421;p26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22" name="Google Shape;422;p26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6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9" name="Google Shape;429;p27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30" name="Google Shape;430;p27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" name="Google Shape;432;p27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433" name="Google Shape;433;p27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27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Example: Logical Operator 'and'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36" name="Google Shape;436;p27"/>
          <p:cNvSpPr txBox="1"/>
          <p:nvPr/>
        </p:nvSpPr>
        <p:spPr>
          <a:xfrm>
            <a:off x="381000" y="80962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en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Combining multiple requirements using </a:t>
            </a:r>
            <a:r>
              <a:rPr b="1" lang="en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b="0" lang="en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05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37" name="Google Shape;437;p27"/>
          <p:cNvGrpSpPr/>
          <p:nvPr/>
        </p:nvGrpSpPr>
        <p:grpSpPr>
          <a:xfrm>
            <a:off x="381000" y="1190625"/>
            <a:ext cx="4000500" cy="3238500"/>
            <a:chOff x="0" y="0"/>
            <a:chExt cx="4000500" cy="3238500"/>
          </a:xfrm>
        </p:grpSpPr>
        <p:sp>
          <p:nvSpPr>
            <p:cNvPr id="438" name="Google Shape;438;p27"/>
            <p:cNvSpPr/>
            <p:nvPr/>
          </p:nvSpPr>
          <p:spPr>
            <a:xfrm>
              <a:off x="0" y="0"/>
              <a:ext cx="4000500" cy="3238500"/>
            </a:xfrm>
            <a:prstGeom prst="roundRect">
              <a:avLst>
                <a:gd fmla="val 3529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7"/>
            <p:cNvSpPr txBox="1"/>
            <p:nvPr/>
          </p:nvSpPr>
          <p:spPr>
            <a:xfrm>
              <a:off x="190500" y="190500"/>
              <a:ext cx="36195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Code: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marks = 75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attendance = 80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marks &gt;= 50 </a:t>
              </a: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and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attendance &gt;= 75: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print("Allowed in exam")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60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print("Not allowed in exam")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40" name="Google Shape;440;p27"/>
          <p:cNvGrpSpPr/>
          <p:nvPr/>
        </p:nvGrpSpPr>
        <p:grpSpPr>
          <a:xfrm>
            <a:off x="4762500" y="1190625"/>
            <a:ext cx="4000500" cy="3238500"/>
            <a:chOff x="0" y="0"/>
            <a:chExt cx="4000500" cy="3238500"/>
          </a:xfrm>
        </p:grpSpPr>
        <p:sp>
          <p:nvSpPr>
            <p:cNvPr id="441" name="Google Shape;441;p27"/>
            <p:cNvSpPr/>
            <p:nvPr/>
          </p:nvSpPr>
          <p:spPr>
            <a:xfrm>
              <a:off x="0" y="0"/>
              <a:ext cx="40005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7"/>
            <p:cNvSpPr txBox="1"/>
            <p:nvPr/>
          </p:nvSpPr>
          <p:spPr>
            <a:xfrm>
              <a:off x="190500" y="19050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Expected Output: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43" name="Google Shape;443;p27"/>
            <p:cNvGrpSpPr/>
            <p:nvPr/>
          </p:nvGrpSpPr>
          <p:grpSpPr>
            <a:xfrm>
              <a:off x="190500" y="571500"/>
              <a:ext cx="3619500" cy="571500"/>
              <a:chOff x="0" y="0"/>
              <a:chExt cx="3619500" cy="571500"/>
            </a:xfrm>
          </p:grpSpPr>
          <p:sp>
            <p:nvSpPr>
              <p:cNvPr id="444" name="Google Shape;444;p27"/>
              <p:cNvSpPr/>
              <p:nvPr/>
            </p:nvSpPr>
            <p:spPr>
              <a:xfrm>
                <a:off x="0" y="0"/>
                <a:ext cx="3619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F8F8F5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7"/>
              <p:cNvSpPr txBox="1"/>
              <p:nvPr/>
            </p:nvSpPr>
            <p:spPr>
              <a:xfrm>
                <a:off x="142875" y="0"/>
                <a:ext cx="3333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021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Allowed in exam</a:t>
                </a:r>
                <a:endParaRPr b="1" sz="12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46" name="Google Shape;446;p27"/>
            <p:cNvGrpSpPr/>
            <p:nvPr/>
          </p:nvGrpSpPr>
          <p:grpSpPr>
            <a:xfrm>
              <a:off x="1042988" y="1709738"/>
              <a:ext cx="1914600" cy="962100"/>
              <a:chOff x="-4762" y="-4762"/>
              <a:chExt cx="1914600" cy="962100"/>
            </a:xfrm>
          </p:grpSpPr>
          <p:pic>
            <p:nvPicPr>
              <p:cNvPr id="447" name="Google Shape;447;p2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4762" y="-4762"/>
                <a:ext cx="1914600" cy="962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8" name="Google Shape;448;p27"/>
              <p:cNvSpPr txBox="1"/>
              <p:nvPr/>
            </p:nvSpPr>
            <p:spPr>
              <a:xfrm>
                <a:off x="0" y="0"/>
                <a:ext cx="1905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400">
                    <a:solidFill>
                      <a:srgbClr val="D4AF3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fact_check</a:t>
                </a:r>
                <a:endParaRPr b="0" sz="24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375"/>
                  </a:spcBef>
                  <a:spcAft>
                    <a:spcPts val="600"/>
                  </a:spcAft>
                  <a:buNone/>
                </a:pPr>
                <a:r>
                  <a:rPr b="0" lang="en" sz="8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Logic: Both Conditions True</a:t>
                </a:r>
                <a:endParaRPr b="0" sz="8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49" name="Google Shape;449;p27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50" name="Google Shape;450;p27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7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7" name="Google Shape;457;p28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58" name="Google Shape;458;p28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8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" name="Google Shape;460;p28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461" name="Google Shape;461;p28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8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28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'if-elif-else' Statement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64" name="Google Shape;464;p28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465" name="Google Shape;465;p28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8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Used when you have more than two possible paths or multiple conditions to check sequentially.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Key Components: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6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elif: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Stands for "else if". You can have as many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elif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blocks as you need between the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and the 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60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Execution: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Python checks them from top to bottom. As soon as it finds one that is </a:t>
              </a: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True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, it runs that block and skips the rest.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7" name="Google Shape;467;p28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468" name="Google Shape;468;p28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8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Syntax Structure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60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condition1:</a:t>
              </a:r>
              <a:b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statement1</a:t>
              </a:r>
              <a:b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condition2:</a:t>
              </a:r>
              <a:b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statement2</a:t>
              </a:r>
              <a:b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b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statement3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70" name="Google Shape;470;p28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71" name="Google Shape;471;p28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8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29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479" name="Google Shape;479;p29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1" name="Google Shape;481;p29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482" name="Google Shape;482;p29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4" name="Google Shape;484;p29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Example: Grade System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85" name="Google Shape;485;p29"/>
          <p:cNvGrpSpPr/>
          <p:nvPr/>
        </p:nvGrpSpPr>
        <p:grpSpPr>
          <a:xfrm>
            <a:off x="381000" y="952500"/>
            <a:ext cx="4000500" cy="3571800"/>
            <a:chOff x="0" y="0"/>
            <a:chExt cx="4000500" cy="3571800"/>
          </a:xfrm>
        </p:grpSpPr>
        <p:sp>
          <p:nvSpPr>
            <p:cNvPr id="486" name="Google Shape;486;p29"/>
            <p:cNvSpPr/>
            <p:nvPr/>
          </p:nvSpPr>
          <p:spPr>
            <a:xfrm>
              <a:off x="0" y="0"/>
              <a:ext cx="4000500" cy="3571800"/>
            </a:xfrm>
            <a:prstGeom prst="roundRect">
              <a:avLst>
                <a:gd fmla="val 3200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9"/>
            <p:cNvSpPr txBox="1"/>
            <p:nvPr/>
          </p:nvSpPr>
          <p:spPr>
            <a:xfrm>
              <a:off x="190500" y="190500"/>
              <a:ext cx="3619500" cy="31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 Snippet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marks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= int(input("Enter marks: "))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marks &gt;= 80: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print("Grade A")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marks &gt;= 70: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print("Grade B")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marks &gt;= 60: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print("Grade C")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marks &gt;= 50: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print("Grade D")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print("Fail")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488" name="Google Shape;488;p29"/>
          <p:cNvGrpSpPr/>
          <p:nvPr/>
        </p:nvGrpSpPr>
        <p:grpSpPr>
          <a:xfrm>
            <a:off x="4762500" y="952500"/>
            <a:ext cx="4000500" cy="3571800"/>
            <a:chOff x="0" y="0"/>
            <a:chExt cx="4000500" cy="3571800"/>
          </a:xfrm>
        </p:grpSpPr>
        <p:grpSp>
          <p:nvGrpSpPr>
            <p:cNvPr id="489" name="Google Shape;489;p29"/>
            <p:cNvGrpSpPr/>
            <p:nvPr/>
          </p:nvGrpSpPr>
          <p:grpSpPr>
            <a:xfrm>
              <a:off x="0" y="0"/>
              <a:ext cx="4000500" cy="1143000"/>
              <a:chOff x="0" y="0"/>
              <a:chExt cx="4000500" cy="1143000"/>
            </a:xfrm>
          </p:grpSpPr>
          <p:sp>
            <p:nvSpPr>
              <p:cNvPr id="490" name="Google Shape;490;p29"/>
              <p:cNvSpPr/>
              <p:nvPr/>
            </p:nvSpPr>
            <p:spPr>
              <a:xfrm>
                <a:off x="0" y="0"/>
                <a:ext cx="40005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9"/>
              <p:cNvSpPr txBox="1"/>
              <p:nvPr/>
            </p:nvSpPr>
            <p:spPr>
              <a:xfrm>
                <a:off x="190500" y="190500"/>
                <a:ext cx="36195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Categorizing Data</a:t>
                </a:r>
                <a:endParaRPr b="1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Using </a:t>
                </a:r>
                <a:r>
                  <a:rPr b="1" lang="en" sz="1050">
                    <a:solidFill>
                      <a:srgbClr val="002147"/>
                    </a:solidFill>
                    <a:latin typeface="Inter"/>
                    <a:ea typeface="Inter"/>
                    <a:cs typeface="Inter"/>
                    <a:sym typeface="Inter"/>
                  </a:rPr>
                  <a:t>elif</a:t>
                </a:r>
                <a:r>
                  <a:rPr b="0" lang="en" sz="105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 to categorize data into multiple tiers based on numerical boundaries.</a:t>
                </a:r>
                <a:endParaRPr b="0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92" name="Google Shape;492;p29"/>
            <p:cNvGrpSpPr/>
            <p:nvPr/>
          </p:nvGrpSpPr>
          <p:grpSpPr>
            <a:xfrm>
              <a:off x="0" y="1333500"/>
              <a:ext cx="4000500" cy="2238300"/>
              <a:chOff x="0" y="0"/>
              <a:chExt cx="4000500" cy="2238300"/>
            </a:xfrm>
          </p:grpSpPr>
          <p:sp>
            <p:nvSpPr>
              <p:cNvPr id="493" name="Google Shape;493;p29"/>
              <p:cNvSpPr/>
              <p:nvPr/>
            </p:nvSpPr>
            <p:spPr>
              <a:xfrm>
                <a:off x="0" y="0"/>
                <a:ext cx="4000500" cy="2238300"/>
              </a:xfrm>
              <a:prstGeom prst="roundRect">
                <a:avLst>
                  <a:gd fmla="val 510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94" name="Google Shape;494;p2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0"/>
                <a:ext cx="4000500" cy="285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5" name="Google Shape;495;p29"/>
              <p:cNvSpPr txBox="1"/>
              <p:nvPr/>
            </p:nvSpPr>
            <p:spPr>
              <a:xfrm>
                <a:off x="190500" y="428625"/>
                <a:ext cx="36195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666666"/>
                    </a:solidFill>
                    <a:latin typeface="Inter"/>
                    <a:ea typeface="Inter"/>
                    <a:cs typeface="Inter"/>
                    <a:sym typeface="Inter"/>
                  </a:rPr>
                  <a:t>TERMINAL OUTPUT</a:t>
                </a:r>
                <a:endParaRPr b="1" sz="1100">
                  <a:solidFill>
                    <a:srgbClr val="66666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A1A1A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Enter marks: 85</a:t>
                </a:r>
                <a:endParaRPr b="1" sz="12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02147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Grade A</a:t>
                </a:r>
                <a:endParaRPr b="1" sz="12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D4AF3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info</a:t>
                </a:r>
                <a:r>
                  <a:rPr lang="en"/>
                  <a:t> </a:t>
                </a:r>
                <a:r>
                  <a:rPr b="0" lang="en" sz="900">
                    <a:solidFill>
                      <a:srgbClr val="1A1A1A"/>
                    </a:solidFill>
                    <a:latin typeface="Inter"/>
                    <a:ea typeface="Inter"/>
                    <a:cs typeface="Inter"/>
                    <a:sym typeface="Inter"/>
                  </a:rPr>
                  <a:t>The logic stops at the first true condition encountered in the chain.</a:t>
                </a:r>
                <a:endParaRPr/>
              </a:p>
            </p:txBody>
          </p:sp>
        </p:grpSp>
        <p:sp>
          <p:nvSpPr>
            <p:cNvPr id="496" name="Google Shape;496;p29"/>
            <p:cNvSpPr txBox="1"/>
            <p:nvPr/>
          </p:nvSpPr>
          <p:spPr>
            <a:xfrm>
              <a:off x="190500" y="47625"/>
              <a:ext cx="3619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29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498" name="Google Shape;498;p29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9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5" name="Google Shape;505;p30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506" name="Google Shape;506;p30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509" name="Google Shape;509;p30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1" name="Google Shape;511;p30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Explanation of the Grade System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12" name="Google Shape;512;p30"/>
          <p:cNvSpPr txBox="1"/>
          <p:nvPr/>
        </p:nvSpPr>
        <p:spPr>
          <a:xfrm>
            <a:off x="381000" y="80962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rPr>
              <a:t>How Python navigates the elif ladder:</a:t>
            </a:r>
            <a:endParaRPr b="1" sz="1350">
              <a:solidFill>
                <a:srgbClr val="00214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13" name="Google Shape;513;p30"/>
          <p:cNvGrpSpPr/>
          <p:nvPr/>
        </p:nvGrpSpPr>
        <p:grpSpPr>
          <a:xfrm>
            <a:off x="381000" y="1143000"/>
            <a:ext cx="8382000" cy="809700"/>
            <a:chOff x="0" y="0"/>
            <a:chExt cx="8382000" cy="809700"/>
          </a:xfrm>
        </p:grpSpPr>
        <p:grpSp>
          <p:nvGrpSpPr>
            <p:cNvPr id="514" name="Google Shape;514;p30"/>
            <p:cNvGrpSpPr/>
            <p:nvPr/>
          </p:nvGrpSpPr>
          <p:grpSpPr>
            <a:xfrm>
              <a:off x="0" y="0"/>
              <a:ext cx="8382000" cy="809700"/>
              <a:chOff x="0" y="0"/>
              <a:chExt cx="8382000" cy="809700"/>
            </a:xfrm>
          </p:grpSpPr>
          <p:sp>
            <p:nvSpPr>
              <p:cNvPr id="515" name="Google Shape;515;p30"/>
              <p:cNvSpPr/>
              <p:nvPr/>
            </p:nvSpPr>
            <p:spPr>
              <a:xfrm>
                <a:off x="0" y="0"/>
                <a:ext cx="83820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30"/>
              <p:cNvSpPr/>
              <p:nvPr/>
            </p:nvSpPr>
            <p:spPr>
              <a:xfrm>
                <a:off x="190500" y="214313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7" name="Google Shape;517;p30"/>
            <p:cNvSpPr txBox="1"/>
            <p:nvPr/>
          </p:nvSpPr>
          <p:spPr>
            <a:xfrm>
              <a:off x="190500" y="214313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18" name="Google Shape;518;p30"/>
            <p:cNvSpPr txBox="1"/>
            <p:nvPr/>
          </p:nvSpPr>
          <p:spPr>
            <a:xfrm>
              <a:off x="762000" y="142875"/>
              <a:ext cx="742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Top-to-Bottom Evaluation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Python always starts at the first </a:t>
              </a:r>
              <a:r>
                <a:rPr b="1" lang="en" sz="10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0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statement and works its way down.</a:t>
              </a:r>
              <a:endParaRPr b="0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9" name="Google Shape;519;p30"/>
          <p:cNvGrpSpPr/>
          <p:nvPr/>
        </p:nvGrpSpPr>
        <p:grpSpPr>
          <a:xfrm>
            <a:off x="381000" y="2047875"/>
            <a:ext cx="8382000" cy="809700"/>
            <a:chOff x="0" y="0"/>
            <a:chExt cx="8382000" cy="809700"/>
          </a:xfrm>
        </p:grpSpPr>
        <p:grpSp>
          <p:nvGrpSpPr>
            <p:cNvPr id="520" name="Google Shape;520;p30"/>
            <p:cNvGrpSpPr/>
            <p:nvPr/>
          </p:nvGrpSpPr>
          <p:grpSpPr>
            <a:xfrm>
              <a:off x="0" y="0"/>
              <a:ext cx="8382000" cy="809700"/>
              <a:chOff x="0" y="0"/>
              <a:chExt cx="8382000" cy="809700"/>
            </a:xfrm>
          </p:grpSpPr>
          <p:sp>
            <p:nvSpPr>
              <p:cNvPr id="521" name="Google Shape;521;p30"/>
              <p:cNvSpPr/>
              <p:nvPr/>
            </p:nvSpPr>
            <p:spPr>
              <a:xfrm>
                <a:off x="0" y="0"/>
                <a:ext cx="83820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30"/>
              <p:cNvSpPr/>
              <p:nvPr/>
            </p:nvSpPr>
            <p:spPr>
              <a:xfrm>
                <a:off x="190500" y="214313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3" name="Google Shape;523;p30"/>
            <p:cNvSpPr txBox="1"/>
            <p:nvPr/>
          </p:nvSpPr>
          <p:spPr>
            <a:xfrm>
              <a:off x="190500" y="214313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24" name="Google Shape;524;p30"/>
            <p:cNvSpPr txBox="1"/>
            <p:nvPr/>
          </p:nvSpPr>
          <p:spPr>
            <a:xfrm>
              <a:off x="762000" y="142875"/>
              <a:ext cx="742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First Match Wins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very first condition that evaluates to </a:t>
              </a:r>
              <a:r>
                <a:rPr b="1" lang="en" sz="10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r>
                <a:rPr b="0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is executed.</a:t>
              </a:r>
              <a:endParaRPr b="0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5" name="Google Shape;525;p30"/>
          <p:cNvGrpSpPr/>
          <p:nvPr/>
        </p:nvGrpSpPr>
        <p:grpSpPr>
          <a:xfrm>
            <a:off x="381000" y="2952750"/>
            <a:ext cx="8382000" cy="809700"/>
            <a:chOff x="0" y="0"/>
            <a:chExt cx="8382000" cy="809700"/>
          </a:xfrm>
        </p:grpSpPr>
        <p:grpSp>
          <p:nvGrpSpPr>
            <p:cNvPr id="526" name="Google Shape;526;p30"/>
            <p:cNvGrpSpPr/>
            <p:nvPr/>
          </p:nvGrpSpPr>
          <p:grpSpPr>
            <a:xfrm>
              <a:off x="0" y="0"/>
              <a:ext cx="8382000" cy="809700"/>
              <a:chOff x="0" y="0"/>
              <a:chExt cx="8382000" cy="809700"/>
            </a:xfrm>
          </p:grpSpPr>
          <p:sp>
            <p:nvSpPr>
              <p:cNvPr id="527" name="Google Shape;527;p30"/>
              <p:cNvSpPr/>
              <p:nvPr/>
            </p:nvSpPr>
            <p:spPr>
              <a:xfrm>
                <a:off x="0" y="0"/>
                <a:ext cx="83820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30"/>
              <p:cNvSpPr/>
              <p:nvPr/>
            </p:nvSpPr>
            <p:spPr>
              <a:xfrm>
                <a:off x="190500" y="214313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9" name="Google Shape;529;p30"/>
            <p:cNvSpPr txBox="1"/>
            <p:nvPr/>
          </p:nvSpPr>
          <p:spPr>
            <a:xfrm>
              <a:off x="190500" y="214313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0" name="Google Shape;530;p30"/>
            <p:cNvSpPr txBox="1"/>
            <p:nvPr/>
          </p:nvSpPr>
          <p:spPr>
            <a:xfrm>
              <a:off x="762000" y="142875"/>
              <a:ext cx="742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Skipping the Rest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Once a match is run, all remaining </a:t>
              </a:r>
              <a:r>
                <a:rPr b="1" lang="en" sz="10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elif</a:t>
              </a:r>
              <a:r>
                <a:rPr b="0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and </a:t>
              </a:r>
              <a:r>
                <a:rPr b="1" lang="en" sz="10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0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blocks are completely skipped.</a:t>
              </a:r>
              <a:endParaRPr b="0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1" name="Google Shape;531;p30"/>
          <p:cNvGrpSpPr/>
          <p:nvPr/>
        </p:nvGrpSpPr>
        <p:grpSpPr>
          <a:xfrm>
            <a:off x="381000" y="3857625"/>
            <a:ext cx="8382000" cy="809700"/>
            <a:chOff x="0" y="0"/>
            <a:chExt cx="8382000" cy="809700"/>
          </a:xfrm>
        </p:grpSpPr>
        <p:grpSp>
          <p:nvGrpSpPr>
            <p:cNvPr id="532" name="Google Shape;532;p30"/>
            <p:cNvGrpSpPr/>
            <p:nvPr/>
          </p:nvGrpSpPr>
          <p:grpSpPr>
            <a:xfrm>
              <a:off x="0" y="0"/>
              <a:ext cx="8382000" cy="809700"/>
              <a:chOff x="0" y="0"/>
              <a:chExt cx="8382000" cy="809700"/>
            </a:xfrm>
          </p:grpSpPr>
          <p:sp>
            <p:nvSpPr>
              <p:cNvPr id="533" name="Google Shape;533;p30"/>
              <p:cNvSpPr/>
              <p:nvPr/>
            </p:nvSpPr>
            <p:spPr>
              <a:xfrm>
                <a:off x="0" y="0"/>
                <a:ext cx="83820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30"/>
              <p:cNvSpPr/>
              <p:nvPr/>
            </p:nvSpPr>
            <p:spPr>
              <a:xfrm>
                <a:off x="190500" y="214313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5" name="Google Shape;535;p30"/>
            <p:cNvSpPr txBox="1"/>
            <p:nvPr/>
          </p:nvSpPr>
          <p:spPr>
            <a:xfrm>
              <a:off x="190500" y="214313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36" name="Google Shape;536;p30"/>
            <p:cNvSpPr txBox="1"/>
            <p:nvPr/>
          </p:nvSpPr>
          <p:spPr>
            <a:xfrm>
              <a:off x="762000" y="142875"/>
              <a:ext cx="7429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The Fallback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final </a:t>
              </a:r>
              <a:r>
                <a:rPr b="1" lang="en" sz="100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0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block only executes if absolutely all conditions above it evaluate to </a:t>
              </a:r>
              <a:r>
                <a:rPr b="1" lang="en" sz="1000">
                  <a:solidFill>
                    <a:srgbClr val="0021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False</a:t>
              </a:r>
              <a:r>
                <a:rPr b="0" lang="en" sz="10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7" name="Google Shape;537;p30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538" name="Google Shape;538;p30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0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5" name="Google Shape;545;p31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546" name="Google Shape;546;p31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8" name="Google Shape;548;p31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549" name="Google Shape;549;p31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1" name="Google Shape;551;p31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Nested 'if' Statements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552" name="Google Shape;552;p31"/>
          <p:cNvGrpSpPr/>
          <p:nvPr/>
        </p:nvGrpSpPr>
        <p:grpSpPr>
          <a:xfrm>
            <a:off x="381000" y="952500"/>
            <a:ext cx="4000500" cy="3619500"/>
            <a:chOff x="0" y="0"/>
            <a:chExt cx="4000500" cy="3619500"/>
          </a:xfrm>
        </p:grpSpPr>
        <p:sp>
          <p:nvSpPr>
            <p:cNvPr id="553" name="Google Shape;553;p31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1"/>
            <p:cNvSpPr txBox="1"/>
            <p:nvPr/>
          </p:nvSpPr>
          <p:spPr>
            <a:xfrm>
              <a:off x="190500" y="190500"/>
              <a:ext cx="3619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Concept Overview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 nested if statement is simply an if statement placed inside another if statement.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Concept: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You only want to check a second condition if the first condition is already proven to be true.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Indentation: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The inner if statement must be indented further to show it belongs inside the outer block.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900"/>
                </a:spcAft>
                <a:buSzPts val="1400"/>
                <a:buChar char="●"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Common Use Case: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A login system. First, check if the username exists. Only if the username is correct, then check if the password matches.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55" name="Google Shape;555;p31"/>
          <p:cNvGrpSpPr/>
          <p:nvPr/>
        </p:nvGrpSpPr>
        <p:grpSpPr>
          <a:xfrm>
            <a:off x="4762500" y="952500"/>
            <a:ext cx="4000500" cy="3619500"/>
            <a:chOff x="0" y="0"/>
            <a:chExt cx="4000500" cy="3619500"/>
          </a:xfrm>
        </p:grpSpPr>
        <p:sp>
          <p:nvSpPr>
            <p:cNvPr id="556" name="Google Shape;556;p31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1"/>
            <p:cNvSpPr txBox="1"/>
            <p:nvPr/>
          </p:nvSpPr>
          <p:spPr>
            <a:xfrm>
              <a:off x="190500" y="19050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Visual Analogy: Nesting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558" name="Google Shape;558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" y="666750"/>
              <a:ext cx="3619500" cy="2714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59" name="Google Shape;559;p31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560" name="Google Shape;560;p31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1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32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568" name="Google Shape;568;p32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2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0" name="Google Shape;570;p32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571" name="Google Shape;571;p32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2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3" name="Google Shape;573;p32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Code Example: Nested 'if'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574" name="Google Shape;574;p32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575" name="Google Shape;575;p32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2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Code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E0E0E0"/>
                  </a:solidFill>
                  <a:latin typeface="Inter"/>
                  <a:ea typeface="Inter"/>
                  <a:cs typeface="Inter"/>
                  <a:sym typeface="Inter"/>
                </a:rPr>
                <a:t>Validating credentials sequentially.</a:t>
              </a:r>
              <a:endParaRPr b="0" sz="1050">
                <a:solidFill>
                  <a:srgbClr val="E0E0E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username = input("Enter username: 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password = input("Enter password: 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username == "admin":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password == "12345":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print("Login successful")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print("Wrong password")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print("Wrong username")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77" name="Google Shape;577;p32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578" name="Google Shape;578;p32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2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Example Output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Enter username: admin</a:t>
              </a:r>
              <a:endParaRPr b="0" sz="105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Enter password: 12345</a:t>
              </a:r>
              <a:endParaRPr b="0" sz="1050">
                <a:solidFill>
                  <a:srgbClr val="1A1A1A"/>
                </a:solidFill>
                <a:highlight>
                  <a:srgbClr val="F0F0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2E7D3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Login successful</a:t>
              </a:r>
              <a:endParaRPr b="1" sz="1050">
                <a:solidFill>
                  <a:srgbClr val="2E7D3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580" name="Google Shape;580;p32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581" name="Google Shape;581;p32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2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8" name="Google Shape;588;p33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589" name="Google Shape;589;p33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1" name="Google Shape;591;p33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592" name="Google Shape;592;p33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4" name="Google Shape;594;p33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Common Mistakes to Avoid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595" name="Google Shape;595;p33"/>
          <p:cNvGrpSpPr/>
          <p:nvPr/>
        </p:nvGrpSpPr>
        <p:grpSpPr>
          <a:xfrm>
            <a:off x="381000" y="952500"/>
            <a:ext cx="8382000" cy="3524400"/>
            <a:chOff x="0" y="0"/>
            <a:chExt cx="8382000" cy="3524400"/>
          </a:xfrm>
        </p:grpSpPr>
        <p:sp>
          <p:nvSpPr>
            <p:cNvPr id="596" name="Google Shape;596;p33"/>
            <p:cNvSpPr/>
            <p:nvPr/>
          </p:nvSpPr>
          <p:spPr>
            <a:xfrm>
              <a:off x="0" y="0"/>
              <a:ext cx="8382000" cy="3524400"/>
            </a:xfrm>
            <a:prstGeom prst="roundRect">
              <a:avLst>
                <a:gd fmla="val 2162" name="adj"/>
              </a:avLst>
            </a:prstGeom>
            <a:solidFill>
              <a:srgbClr val="FFF8E1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3"/>
            <p:cNvSpPr txBox="1"/>
            <p:nvPr/>
          </p:nvSpPr>
          <p:spPr>
            <a:xfrm>
              <a:off x="238125" y="26441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b="0" sz="1800">
                <a:solidFill>
                  <a:srgbClr val="D4AF3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98" name="Google Shape;598;p33"/>
            <p:cNvSpPr txBox="1"/>
            <p:nvPr/>
          </p:nvSpPr>
          <p:spPr>
            <a:xfrm>
              <a:off x="714375" y="238125"/>
              <a:ext cx="742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Syntax and Logic Pitfalls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Beginners frequently encounter these syntax and logic errors:</a:t>
              </a:r>
              <a:endParaRPr b="1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Forgetting the Colon (:):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Omitting the colon at the end of an if, elif, or else line causes a syntax error.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Wrong Indentation: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Inconsistent spacing will crash your program or cause logic to run at the wrong time.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Using = instead of ==: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Using a single equals sign (assignment) inside a condition instead of the double equals sign (comparison).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Not Converting Input Type: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Forgetting to wrap input() with int() or float() when comparing numbers.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Wrong Condition Order: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Putting a broader condition before a more specific one in an elif ladder.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99" name="Google Shape;599;p33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600" name="Google Shape;600;p33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3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7" name="Google Shape;607;p34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608" name="Google Shape;608;p34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4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0" name="Google Shape;610;p34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611" name="Google Shape;611;p34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4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3" name="Google Shape;613;p34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Common Mistake Example: Input Types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614" name="Google Shape;614;p34"/>
          <p:cNvGrpSpPr/>
          <p:nvPr/>
        </p:nvGrpSpPr>
        <p:grpSpPr>
          <a:xfrm>
            <a:off x="381000" y="952500"/>
            <a:ext cx="4000500" cy="3619500"/>
            <a:chOff x="0" y="0"/>
            <a:chExt cx="4000500" cy="3619500"/>
          </a:xfrm>
        </p:grpSpPr>
        <p:sp>
          <p:nvSpPr>
            <p:cNvPr id="615" name="Google Shape;615;p34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fmla="val 3157" name="adj"/>
              </a:avLst>
            </a:prstGeom>
            <a:solidFill>
              <a:srgbClr val="FFF8E1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4"/>
            <p:cNvSpPr txBox="1"/>
            <p:nvPr/>
          </p:nvSpPr>
          <p:spPr>
            <a:xfrm>
              <a:off x="142875" y="169164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b="0" sz="1800">
                <a:solidFill>
                  <a:srgbClr val="D4AF3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17" name="Google Shape;617;p34"/>
            <p:cNvSpPr txBox="1"/>
            <p:nvPr/>
          </p:nvSpPr>
          <p:spPr>
            <a:xfrm>
              <a:off x="523875" y="142875"/>
              <a:ext cx="32862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Wrong Code (Causes Error)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i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input() returns a string (text). You cannot mathematically compare a string to an integer (50).</a:t>
              </a:r>
              <a:endParaRPr b="0" i="1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8" name="Google Shape;618;p34"/>
            <p:cNvSpPr/>
            <p:nvPr/>
          </p:nvSpPr>
          <p:spPr>
            <a:xfrm>
              <a:off x="142875" y="1476375"/>
              <a:ext cx="3714900" cy="2000100"/>
            </a:xfrm>
            <a:prstGeom prst="roundRect">
              <a:avLst>
                <a:gd fmla="val 3809" name="adj"/>
              </a:avLst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4"/>
            <p:cNvSpPr txBox="1"/>
            <p:nvPr/>
          </p:nvSpPr>
          <p:spPr>
            <a:xfrm>
              <a:off x="285750" y="1619250"/>
              <a:ext cx="3429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marks = input("Enter marks: ")</a:t>
              </a:r>
              <a:b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 marks &gt;= 50:</a:t>
              </a:r>
              <a:b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print("Pass")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600"/>
                </a:spcAft>
                <a:buNone/>
              </a:pPr>
              <a:r>
                <a:rPr b="1" lang="en" sz="10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Error: Comparison not possible</a:t>
              </a:r>
              <a:endParaRPr b="1" sz="10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20" name="Google Shape;620;p34"/>
          <p:cNvGrpSpPr/>
          <p:nvPr/>
        </p:nvGrpSpPr>
        <p:grpSpPr>
          <a:xfrm>
            <a:off x="4762500" y="952500"/>
            <a:ext cx="4000500" cy="3619500"/>
            <a:chOff x="0" y="0"/>
            <a:chExt cx="4000500" cy="3619500"/>
          </a:xfrm>
        </p:grpSpPr>
        <p:sp>
          <p:nvSpPr>
            <p:cNvPr id="621" name="Google Shape;621;p34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4"/>
            <p:cNvSpPr txBox="1"/>
            <p:nvPr/>
          </p:nvSpPr>
          <p:spPr>
            <a:xfrm>
              <a:off x="190500" y="190500"/>
              <a:ext cx="36195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Correct Code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We use </a:t>
              </a: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int()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to convert the text input into a whole number before the comparison.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190500" y="1476375"/>
              <a:ext cx="3619500" cy="2000100"/>
            </a:xfrm>
            <a:prstGeom prst="roundRect">
              <a:avLst>
                <a:gd fmla="val 3809" name="adj"/>
              </a:avLst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4"/>
            <p:cNvSpPr txBox="1"/>
            <p:nvPr/>
          </p:nvSpPr>
          <p:spPr>
            <a:xfrm>
              <a:off x="333375" y="1619250"/>
              <a:ext cx="3333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marks = </a:t>
              </a: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int(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input("Enter marks: ")</a:t>
              </a: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b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 marks &gt;= 50:</a:t>
              </a:r>
              <a:b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print("Pass")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600"/>
                </a:spcAft>
                <a:buNone/>
              </a:pPr>
              <a:r>
                <a:rPr b="0" lang="en" sz="10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Fix applied: Type conversion</a:t>
              </a:r>
              <a:endParaRPr b="0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25" name="Google Shape;625;p34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626" name="Google Shape;626;p34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4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3" name="Google Shape;633;p35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634" name="Google Shape;634;p35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5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6" name="Google Shape;636;p35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637" name="Google Shape;637;p35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5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9" name="Google Shape;639;p35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Practice Example 1: Even or Odd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640" name="Google Shape;640;p35"/>
          <p:cNvGrpSpPr/>
          <p:nvPr/>
        </p:nvGrpSpPr>
        <p:grpSpPr>
          <a:xfrm>
            <a:off x="381000" y="952500"/>
            <a:ext cx="4000500" cy="3429000"/>
            <a:chOff x="0" y="0"/>
            <a:chExt cx="4000500" cy="3429000"/>
          </a:xfrm>
        </p:grpSpPr>
        <p:sp>
          <p:nvSpPr>
            <p:cNvPr id="641" name="Google Shape;641;p35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5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Problem Statement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Task: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Write a program that takes a number from the user and checks if it is even or odd.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Logic Concept: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The modulo operator (</a:t>
              </a:r>
              <a:r>
                <a:rPr b="1" lang="en" sz="1050">
                  <a:solidFill>
                    <a:srgbClr val="1A1A1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%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) returns the remainder of division.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If a number divided by 2 has a remainder of 0, it is even.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3" name="Google Shape;643;p35"/>
          <p:cNvGrpSpPr/>
          <p:nvPr/>
        </p:nvGrpSpPr>
        <p:grpSpPr>
          <a:xfrm>
            <a:off x="4762500" y="952500"/>
            <a:ext cx="4000500" cy="3429000"/>
            <a:chOff x="0" y="0"/>
            <a:chExt cx="4000500" cy="3429000"/>
          </a:xfrm>
        </p:grpSpPr>
        <p:sp>
          <p:nvSpPr>
            <p:cNvPr id="644" name="Google Shape;644;p35"/>
            <p:cNvSpPr/>
            <p:nvPr/>
          </p:nvSpPr>
          <p:spPr>
            <a:xfrm>
              <a:off x="0" y="0"/>
              <a:ext cx="4000500" cy="3429000"/>
            </a:xfrm>
            <a:prstGeom prst="roundRect">
              <a:avLst>
                <a:gd fmla="val 3333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5"/>
            <p:cNvSpPr txBox="1"/>
            <p:nvPr/>
          </p:nvSpPr>
          <p:spPr>
            <a:xfrm>
              <a:off x="190500" y="19050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Solution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num = int(input("Enter a number: "))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num % 2 == 0: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print("Even number")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print("Odd number")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Tip: Use the % operator to determine divisibility.</a:t>
              </a:r>
              <a:endParaRPr b="0" sz="90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6" name="Google Shape;646;p35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647" name="Google Shape;647;p35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5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4" name="Google Shape;654;p36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655" name="Google Shape;655;p36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36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658" name="Google Shape;658;p36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6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0" name="Google Shape;660;p36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Practice Example 2: Largest of Two Numbers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661" name="Google Shape;661;p36"/>
          <p:cNvGrpSpPr/>
          <p:nvPr/>
        </p:nvGrpSpPr>
        <p:grpSpPr>
          <a:xfrm>
            <a:off x="381000" y="952500"/>
            <a:ext cx="4000500" cy="3619500"/>
            <a:chOff x="0" y="0"/>
            <a:chExt cx="4000500" cy="3619500"/>
          </a:xfrm>
        </p:grpSpPr>
        <p:sp>
          <p:nvSpPr>
            <p:cNvPr id="662" name="Google Shape;662;p36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6"/>
            <p:cNvSpPr txBox="1"/>
            <p:nvPr/>
          </p:nvSpPr>
          <p:spPr>
            <a:xfrm>
              <a:off x="190500" y="190500"/>
              <a:ext cx="3619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Problem Statement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Find and display the larger number between two user inputs.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Requirement: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Handle user input for two variables.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Compare both values using comparison operators.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• Address three potential outcomes: a &gt; b, b &gt; a, or equality.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r>
                <a:rPr lang="en"/>
                <a:t> </a:t>
              </a:r>
              <a:r>
                <a:rPr b="0" i="1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Uses if-elif-else logic.</a:t>
              </a:r>
              <a:endParaRPr/>
            </a:p>
          </p:txBody>
        </p:sp>
      </p:grpSp>
      <p:grpSp>
        <p:nvGrpSpPr>
          <p:cNvPr id="664" name="Google Shape;664;p36"/>
          <p:cNvGrpSpPr/>
          <p:nvPr/>
        </p:nvGrpSpPr>
        <p:grpSpPr>
          <a:xfrm>
            <a:off x="4762500" y="952500"/>
            <a:ext cx="4000500" cy="3619500"/>
            <a:chOff x="0" y="0"/>
            <a:chExt cx="4000500" cy="3619500"/>
          </a:xfrm>
        </p:grpSpPr>
        <p:sp>
          <p:nvSpPr>
            <p:cNvPr id="665" name="Google Shape;665;p36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fmla="val 3157" name="adj"/>
              </a:avLst>
            </a:prstGeom>
            <a:solidFill>
              <a:srgbClr val="002147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6"/>
            <p:cNvSpPr txBox="1"/>
            <p:nvPr/>
          </p:nvSpPr>
          <p:spPr>
            <a:xfrm>
              <a:off x="190500" y="190500"/>
              <a:ext cx="3619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Python Solution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= int(input("Enter first number: "))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= int(input("Enter second number: "))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a &gt; b: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print("First number is larger")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elif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b &gt; a: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print("Second number is larger")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F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else</a:t>
              </a: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   print("Both numbers are equal")</a:t>
              </a:r>
              <a:endParaRPr b="1"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Tip: Converting input to </a:t>
              </a:r>
              <a:r>
                <a:rPr b="1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int()</a:t>
              </a:r>
              <a:r>
                <a:rPr b="0" lang="en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is necessary for mathematical comparison.</a:t>
              </a:r>
              <a:endParaRPr b="0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67" name="Google Shape;667;p36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668" name="Google Shape;668;p36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6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5" name="Google Shape;675;p37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676" name="Google Shape;676;p37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7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8" name="Google Shape;678;p37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679" name="Google Shape;679;p37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7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1" name="Google Shape;681;p37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Mini Classroom Activity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682" name="Google Shape;682;p37"/>
          <p:cNvGrpSpPr/>
          <p:nvPr/>
        </p:nvGrpSpPr>
        <p:grpSpPr>
          <a:xfrm>
            <a:off x="381000" y="857250"/>
            <a:ext cx="7810500" cy="381000"/>
            <a:chOff x="0" y="0"/>
            <a:chExt cx="7810500" cy="381000"/>
          </a:xfrm>
        </p:grpSpPr>
        <p:sp>
          <p:nvSpPr>
            <p:cNvPr id="683" name="Google Shape;683;p37"/>
            <p:cNvSpPr/>
            <p:nvPr/>
          </p:nvSpPr>
          <p:spPr>
            <a:xfrm>
              <a:off x="0" y="0"/>
              <a:ext cx="38100" cy="2859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7"/>
            <p:cNvSpPr txBox="1"/>
            <p:nvPr/>
          </p:nvSpPr>
          <p:spPr>
            <a:xfrm>
              <a:off x="190500" y="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Now it's your turn! Try writing Python code for the following scenarios: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5" name="Google Shape;685;p37"/>
          <p:cNvGrpSpPr/>
          <p:nvPr/>
        </p:nvGrpSpPr>
        <p:grpSpPr>
          <a:xfrm>
            <a:off x="381000" y="1428750"/>
            <a:ext cx="4000500" cy="762000"/>
            <a:chOff x="0" y="0"/>
            <a:chExt cx="4000500" cy="762000"/>
          </a:xfrm>
        </p:grpSpPr>
        <p:grpSp>
          <p:nvGrpSpPr>
            <p:cNvPr id="686" name="Google Shape;686;p37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687" name="Google Shape;687;p37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37"/>
              <p:cNvSpPr/>
              <p:nvPr/>
            </p:nvSpPr>
            <p:spPr>
              <a:xfrm>
                <a:off x="142875" y="19050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9" name="Google Shape;689;p37"/>
            <p:cNvSpPr txBox="1"/>
            <p:nvPr/>
          </p:nvSpPr>
          <p:spPr>
            <a:xfrm>
              <a:off x="142875" y="1905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1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90" name="Google Shape;690;p37"/>
            <p:cNvSpPr txBox="1"/>
            <p:nvPr/>
          </p:nvSpPr>
          <p:spPr>
            <a:xfrm>
              <a:off x="666750" y="142875"/>
              <a:ext cx="3143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Eligibility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Ask for age. Print "Eligible for license" if 18+, else print "Not eligible".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1" name="Google Shape;691;p37"/>
          <p:cNvGrpSpPr/>
          <p:nvPr/>
        </p:nvGrpSpPr>
        <p:grpSpPr>
          <a:xfrm>
            <a:off x="381000" y="2476500"/>
            <a:ext cx="4000500" cy="762000"/>
            <a:chOff x="0" y="0"/>
            <a:chExt cx="4000500" cy="762000"/>
          </a:xfrm>
        </p:grpSpPr>
        <p:grpSp>
          <p:nvGrpSpPr>
            <p:cNvPr id="692" name="Google Shape;692;p37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693" name="Google Shape;693;p37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37"/>
              <p:cNvSpPr/>
              <p:nvPr/>
            </p:nvSpPr>
            <p:spPr>
              <a:xfrm>
                <a:off x="142875" y="19050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5" name="Google Shape;695;p37"/>
            <p:cNvSpPr txBox="1"/>
            <p:nvPr/>
          </p:nvSpPr>
          <p:spPr>
            <a:xfrm>
              <a:off x="142875" y="1905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2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96" name="Google Shape;696;p37"/>
            <p:cNvSpPr txBox="1"/>
            <p:nvPr/>
          </p:nvSpPr>
          <p:spPr>
            <a:xfrm>
              <a:off x="666750" y="142875"/>
              <a:ext cx="3143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Number Check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Take a number. Check if it is Positive, Negative, or Zero.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97" name="Google Shape;697;p37"/>
          <p:cNvGrpSpPr/>
          <p:nvPr/>
        </p:nvGrpSpPr>
        <p:grpSpPr>
          <a:xfrm>
            <a:off x="4762500" y="1428750"/>
            <a:ext cx="4000500" cy="762000"/>
            <a:chOff x="0" y="0"/>
            <a:chExt cx="4000500" cy="762000"/>
          </a:xfrm>
        </p:grpSpPr>
        <p:grpSp>
          <p:nvGrpSpPr>
            <p:cNvPr id="698" name="Google Shape;698;p37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699" name="Google Shape;699;p37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37"/>
              <p:cNvSpPr/>
              <p:nvPr/>
            </p:nvSpPr>
            <p:spPr>
              <a:xfrm>
                <a:off x="142875" y="19050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1" name="Google Shape;701;p37"/>
            <p:cNvSpPr txBox="1"/>
            <p:nvPr/>
          </p:nvSpPr>
          <p:spPr>
            <a:xfrm>
              <a:off x="142875" y="1905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2" name="Google Shape;702;p37"/>
            <p:cNvSpPr txBox="1"/>
            <p:nvPr/>
          </p:nvSpPr>
          <p:spPr>
            <a:xfrm>
              <a:off x="666750" y="142875"/>
              <a:ext cx="3143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Grading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Implement a basic grading system (A, B, Fail) based on a score.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3" name="Google Shape;703;p37"/>
          <p:cNvGrpSpPr/>
          <p:nvPr/>
        </p:nvGrpSpPr>
        <p:grpSpPr>
          <a:xfrm>
            <a:off x="4762500" y="2476500"/>
            <a:ext cx="4000500" cy="762000"/>
            <a:chOff x="0" y="0"/>
            <a:chExt cx="4000500" cy="762000"/>
          </a:xfrm>
        </p:grpSpPr>
        <p:grpSp>
          <p:nvGrpSpPr>
            <p:cNvPr id="704" name="Google Shape;704;p37"/>
            <p:cNvGrpSpPr/>
            <p:nvPr/>
          </p:nvGrpSpPr>
          <p:grpSpPr>
            <a:xfrm>
              <a:off x="0" y="0"/>
              <a:ext cx="4000500" cy="762000"/>
              <a:chOff x="0" y="0"/>
              <a:chExt cx="4000500" cy="762000"/>
            </a:xfrm>
          </p:grpSpPr>
          <p:sp>
            <p:nvSpPr>
              <p:cNvPr id="705" name="Google Shape;705;p37"/>
              <p:cNvSpPr/>
              <p:nvPr/>
            </p:nvSpPr>
            <p:spPr>
              <a:xfrm>
                <a:off x="0" y="0"/>
                <a:ext cx="4000500" cy="762000"/>
              </a:xfrm>
              <a:prstGeom prst="roundRect">
                <a:avLst>
                  <a:gd fmla="val 15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0E0E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37"/>
              <p:cNvSpPr/>
              <p:nvPr/>
            </p:nvSpPr>
            <p:spPr>
              <a:xfrm>
                <a:off x="142875" y="190500"/>
                <a:ext cx="381000" cy="381000"/>
              </a:xfrm>
              <a:prstGeom prst="roundRect">
                <a:avLst>
                  <a:gd fmla="val 50000" name="adj"/>
                </a:avLst>
              </a:prstGeom>
              <a:solidFill>
                <a:srgbClr val="D4AF3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07" name="Google Shape;707;p37"/>
            <p:cNvSpPr txBox="1"/>
            <p:nvPr/>
          </p:nvSpPr>
          <p:spPr>
            <a:xfrm>
              <a:off x="142875" y="1905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4</a:t>
              </a:r>
              <a:endParaRPr b="1" sz="13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8" name="Google Shape;708;p37"/>
            <p:cNvSpPr txBox="1"/>
            <p:nvPr/>
          </p:nvSpPr>
          <p:spPr>
            <a:xfrm>
              <a:off x="666750" y="142875"/>
              <a:ext cx="3143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Login</a:t>
              </a:r>
              <a:endParaRPr b="1" sz="1050">
                <a:solidFill>
                  <a:srgbClr val="00214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Create a simple username/password check using nested if statements.</a:t>
              </a:r>
              <a:endParaRPr b="0" sz="9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9" name="Google Shape;709;p37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710" name="Google Shape;710;p37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7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7" name="Google Shape;717;p38"/>
          <p:cNvGrpSpPr/>
          <p:nvPr/>
        </p:nvGrpSpPr>
        <p:grpSpPr>
          <a:xfrm>
            <a:off x="0" y="0"/>
            <a:ext cx="9144000" cy="704850"/>
            <a:chOff x="0" y="0"/>
            <a:chExt cx="9144000" cy="704850"/>
          </a:xfrm>
        </p:grpSpPr>
        <p:sp>
          <p:nvSpPr>
            <p:cNvPr id="718" name="Google Shape;718;p38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8"/>
            <p:cNvSpPr/>
            <p:nvPr/>
          </p:nvSpPr>
          <p:spPr>
            <a:xfrm>
              <a:off x="0" y="666750"/>
              <a:ext cx="9144000" cy="381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38"/>
          <p:cNvGrpSpPr/>
          <p:nvPr/>
        </p:nvGrpSpPr>
        <p:grpSpPr>
          <a:xfrm>
            <a:off x="8572500" y="142875"/>
            <a:ext cx="381000" cy="381000"/>
            <a:chOff x="0" y="0"/>
            <a:chExt cx="381000" cy="381000"/>
          </a:xfrm>
        </p:grpSpPr>
        <p:sp>
          <p:nvSpPr>
            <p:cNvPr id="721" name="Google Shape;721;p38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8"/>
            <p:cNvSpPr/>
            <p:nvPr/>
          </p:nvSpPr>
          <p:spPr>
            <a:xfrm>
              <a:off x="95250" y="95250"/>
              <a:ext cx="190500" cy="1905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3" name="Google Shape;723;p38"/>
          <p:cNvSpPr txBox="1"/>
          <p:nvPr/>
        </p:nvSpPr>
        <p:spPr>
          <a:xfrm>
            <a:off x="381000" y="142875"/>
            <a:ext cx="7429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Summary</a:t>
            </a:r>
            <a:endParaRPr b="1" sz="18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724" name="Google Shape;724;p38"/>
          <p:cNvGrpSpPr/>
          <p:nvPr/>
        </p:nvGrpSpPr>
        <p:grpSpPr>
          <a:xfrm>
            <a:off x="381000" y="952500"/>
            <a:ext cx="8382000" cy="476400"/>
            <a:chOff x="0" y="0"/>
            <a:chExt cx="8382000" cy="476400"/>
          </a:xfrm>
        </p:grpSpPr>
        <p:sp>
          <p:nvSpPr>
            <p:cNvPr id="725" name="Google Shape;725;p38"/>
            <p:cNvSpPr/>
            <p:nvPr/>
          </p:nvSpPr>
          <p:spPr>
            <a:xfrm>
              <a:off x="0" y="0"/>
              <a:ext cx="8382000" cy="476400"/>
            </a:xfrm>
            <a:prstGeom prst="roundRect">
              <a:avLst>
                <a:gd fmla="val 24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8"/>
            <p:cNvSpPr/>
            <p:nvPr/>
          </p:nvSpPr>
          <p:spPr>
            <a:xfrm>
              <a:off x="238125" y="190500"/>
              <a:ext cx="95400" cy="954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8"/>
            <p:cNvSpPr txBox="1"/>
            <p:nvPr/>
          </p:nvSpPr>
          <p:spPr>
            <a:xfrm>
              <a:off x="523875" y="0"/>
              <a:ext cx="7667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Decisions: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Conditional statements allow programs to make decisions based on dynamic data.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28" name="Google Shape;728;p38"/>
          <p:cNvGrpSpPr/>
          <p:nvPr/>
        </p:nvGrpSpPr>
        <p:grpSpPr>
          <a:xfrm>
            <a:off x="381000" y="1524000"/>
            <a:ext cx="8382000" cy="476400"/>
            <a:chOff x="0" y="0"/>
            <a:chExt cx="8382000" cy="476400"/>
          </a:xfrm>
        </p:grpSpPr>
        <p:sp>
          <p:nvSpPr>
            <p:cNvPr id="729" name="Google Shape;729;p38"/>
            <p:cNvSpPr/>
            <p:nvPr/>
          </p:nvSpPr>
          <p:spPr>
            <a:xfrm>
              <a:off x="0" y="0"/>
              <a:ext cx="8382000" cy="476400"/>
            </a:xfrm>
            <a:prstGeom prst="roundRect">
              <a:avLst>
                <a:gd fmla="val 24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8"/>
            <p:cNvSpPr/>
            <p:nvPr/>
          </p:nvSpPr>
          <p:spPr>
            <a:xfrm>
              <a:off x="238125" y="190500"/>
              <a:ext cx="95400" cy="954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8"/>
            <p:cNvSpPr txBox="1"/>
            <p:nvPr/>
          </p:nvSpPr>
          <p:spPr>
            <a:xfrm>
              <a:off x="523875" y="0"/>
              <a:ext cx="7667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if: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Runs code only if a condition is True.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2" name="Google Shape;732;p38"/>
          <p:cNvGrpSpPr/>
          <p:nvPr/>
        </p:nvGrpSpPr>
        <p:grpSpPr>
          <a:xfrm>
            <a:off x="381000" y="2095500"/>
            <a:ext cx="8382000" cy="476400"/>
            <a:chOff x="0" y="0"/>
            <a:chExt cx="8382000" cy="476400"/>
          </a:xfrm>
        </p:grpSpPr>
        <p:sp>
          <p:nvSpPr>
            <p:cNvPr id="733" name="Google Shape;733;p38"/>
            <p:cNvSpPr/>
            <p:nvPr/>
          </p:nvSpPr>
          <p:spPr>
            <a:xfrm>
              <a:off x="0" y="0"/>
              <a:ext cx="8382000" cy="476400"/>
            </a:xfrm>
            <a:prstGeom prst="roundRect">
              <a:avLst>
                <a:gd fmla="val 24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8"/>
            <p:cNvSpPr/>
            <p:nvPr/>
          </p:nvSpPr>
          <p:spPr>
            <a:xfrm>
              <a:off x="238125" y="190500"/>
              <a:ext cx="95400" cy="954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8"/>
            <p:cNvSpPr txBox="1"/>
            <p:nvPr/>
          </p:nvSpPr>
          <p:spPr>
            <a:xfrm>
              <a:off x="523875" y="0"/>
              <a:ext cx="7667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if-else: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Provides two paths (True path and False path).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6" name="Google Shape;736;p38"/>
          <p:cNvGrpSpPr/>
          <p:nvPr/>
        </p:nvGrpSpPr>
        <p:grpSpPr>
          <a:xfrm>
            <a:off x="381000" y="2667000"/>
            <a:ext cx="8382000" cy="476400"/>
            <a:chOff x="0" y="0"/>
            <a:chExt cx="8382000" cy="476400"/>
          </a:xfrm>
        </p:grpSpPr>
        <p:sp>
          <p:nvSpPr>
            <p:cNvPr id="737" name="Google Shape;737;p38"/>
            <p:cNvSpPr/>
            <p:nvPr/>
          </p:nvSpPr>
          <p:spPr>
            <a:xfrm>
              <a:off x="0" y="0"/>
              <a:ext cx="8382000" cy="476400"/>
            </a:xfrm>
            <a:prstGeom prst="roundRect">
              <a:avLst>
                <a:gd fmla="val 24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8"/>
            <p:cNvSpPr/>
            <p:nvPr/>
          </p:nvSpPr>
          <p:spPr>
            <a:xfrm>
              <a:off x="238125" y="190500"/>
              <a:ext cx="95400" cy="954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8"/>
            <p:cNvSpPr txBox="1"/>
            <p:nvPr/>
          </p:nvSpPr>
          <p:spPr>
            <a:xfrm>
              <a:off x="523875" y="0"/>
              <a:ext cx="7667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if-elif-else: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Handles multiple sequential conditions.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0" name="Google Shape;740;p38"/>
          <p:cNvGrpSpPr/>
          <p:nvPr/>
        </p:nvGrpSpPr>
        <p:grpSpPr>
          <a:xfrm>
            <a:off x="381000" y="3238500"/>
            <a:ext cx="8382000" cy="476400"/>
            <a:chOff x="0" y="0"/>
            <a:chExt cx="8382000" cy="476400"/>
          </a:xfrm>
        </p:grpSpPr>
        <p:sp>
          <p:nvSpPr>
            <p:cNvPr id="741" name="Google Shape;741;p38"/>
            <p:cNvSpPr/>
            <p:nvPr/>
          </p:nvSpPr>
          <p:spPr>
            <a:xfrm>
              <a:off x="0" y="0"/>
              <a:ext cx="8382000" cy="476400"/>
            </a:xfrm>
            <a:prstGeom prst="roundRect">
              <a:avLst>
                <a:gd fmla="val 24000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8"/>
            <p:cNvSpPr/>
            <p:nvPr/>
          </p:nvSpPr>
          <p:spPr>
            <a:xfrm>
              <a:off x="238125" y="190500"/>
              <a:ext cx="95400" cy="95400"/>
            </a:xfrm>
            <a:prstGeom prst="ellipse">
              <a:avLst/>
            </a:prstGeom>
            <a:solidFill>
              <a:srgbClr val="D4AF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8"/>
            <p:cNvSpPr txBox="1"/>
            <p:nvPr/>
          </p:nvSpPr>
          <p:spPr>
            <a:xfrm>
              <a:off x="523875" y="0"/>
              <a:ext cx="7667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02147"/>
                  </a:solidFill>
                  <a:latin typeface="Inter"/>
                  <a:ea typeface="Inter"/>
                  <a:cs typeface="Inter"/>
                  <a:sym typeface="Inter"/>
                </a:rPr>
                <a:t>Nested if:</a:t>
              </a: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 Places conditions inside other conditions for complex logic.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4" name="Google Shape;744;p38"/>
          <p:cNvGrpSpPr/>
          <p:nvPr/>
        </p:nvGrpSpPr>
        <p:grpSpPr>
          <a:xfrm>
            <a:off x="381000" y="3810000"/>
            <a:ext cx="8382000" cy="809700"/>
            <a:chOff x="0" y="0"/>
            <a:chExt cx="8382000" cy="809700"/>
          </a:xfrm>
        </p:grpSpPr>
        <p:sp>
          <p:nvSpPr>
            <p:cNvPr id="745" name="Google Shape;745;p38"/>
            <p:cNvSpPr/>
            <p:nvPr/>
          </p:nvSpPr>
          <p:spPr>
            <a:xfrm>
              <a:off x="0" y="0"/>
              <a:ext cx="8382000" cy="809700"/>
            </a:xfrm>
            <a:prstGeom prst="roundRect">
              <a:avLst>
                <a:gd fmla="val 9411" name="adj"/>
              </a:avLst>
            </a:prstGeom>
            <a:solidFill>
              <a:srgbClr val="FFF8E1"/>
            </a:solidFill>
            <a:ln cap="flat" cmpd="sng" w="19050">
              <a:solidFill>
                <a:srgbClr val="D4AF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8"/>
            <p:cNvSpPr txBox="1"/>
            <p:nvPr/>
          </p:nvSpPr>
          <p:spPr>
            <a:xfrm>
              <a:off x="142875" y="169164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D4AF3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b="0" sz="1800">
                <a:solidFill>
                  <a:srgbClr val="D4AF3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47" name="Google Shape;747;p38"/>
            <p:cNvSpPr txBox="1"/>
            <p:nvPr/>
          </p:nvSpPr>
          <p:spPr>
            <a:xfrm>
              <a:off x="523875" y="142875"/>
              <a:ext cx="76677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D4AF37"/>
                  </a:solidFill>
                  <a:latin typeface="Inter"/>
                  <a:ea typeface="Inter"/>
                  <a:cs typeface="Inter"/>
                  <a:sym typeface="Inter"/>
                </a:rPr>
                <a:t>Syntax Tip</a:t>
              </a:r>
              <a:endParaRPr b="1" sz="1350">
                <a:solidFill>
                  <a:srgbClr val="D4AF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A1A1A"/>
                  </a:solidFill>
                  <a:latin typeface="Inter"/>
                  <a:ea typeface="Inter"/>
                  <a:cs typeface="Inter"/>
                  <a:sym typeface="Inter"/>
                </a:rPr>
                <a:t>Always remember your colons (:), strict indentation, and correct comparison operators (==, &gt;, etc.).</a:t>
              </a:r>
              <a:endParaRPr b="0" sz="10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8" name="Google Shape;748;p38"/>
          <p:cNvGrpSpPr/>
          <p:nvPr/>
        </p:nvGrpSpPr>
        <p:grpSpPr>
          <a:xfrm>
            <a:off x="0" y="4762500"/>
            <a:ext cx="9144000" cy="381000"/>
            <a:chOff x="0" y="4762500"/>
            <a:chExt cx="9144000" cy="381000"/>
          </a:xfrm>
        </p:grpSpPr>
        <p:sp>
          <p:nvSpPr>
            <p:cNvPr id="749" name="Google Shape;749;p38"/>
            <p:cNvSpPr/>
            <p:nvPr/>
          </p:nvSpPr>
          <p:spPr>
            <a:xfrm>
              <a:off x="0" y="4762500"/>
              <a:ext cx="9144000" cy="381000"/>
            </a:xfrm>
            <a:prstGeom prst="rect">
              <a:avLst/>
            </a:prstGeom>
            <a:solidFill>
              <a:srgbClr val="00214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8"/>
            <p:cNvSpPr txBox="1"/>
            <p:nvPr/>
          </p:nvSpPr>
          <p:spPr>
            <a:xfrm>
              <a:off x="381000" y="4762500"/>
              <a:ext cx="838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MUHAMMD YOUSIF MEMON | PYTHON CONDITIONAL STATEMENTS | JUNE 14, 2026</a:t>
              </a:r>
              <a:endParaRPr b="0" sz="7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