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Playfair Display"/>
      <p:bold r:id="rId28"/>
      <p:boldItalic r:id="rId29"/>
    </p:embeddedFont>
    <p:embeddedFont>
      <p:font typeface="Inter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layfairDisplay-bold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c59a6f21b_2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c59a6f21b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c59a6f21b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c59a6f21b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c59a6f21b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c59a6f21b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c59a6f21b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c59a6f21b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c59a6f21b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c59a6f21b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c59a6f21b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c59a6f21b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c59a6f21b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c59a6f21b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c59a6f21b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c59a6f21b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c59a6f21b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c59a6f21b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c59a6f21b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c59a6f21b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c59a6f21b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ec59a6f21b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c59a6f21b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ec59a6f21b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c59a6f21b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c59a6f21b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c59a6f21b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c59a6f21b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c59a6f21b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ec59a6f21b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c59a6f21b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ec59a6f21b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c59a6f21b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ec59a6f21b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c59a6f21b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ec59a6f21b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c59a6f21b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ec59a6f21b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ec59a6f21b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ec59a6f21b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ec59a6f21b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ec59a6f21b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c59a6f21b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ec59a6f21b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c59a6f21b_7_0)">
  <p:cSld name="Generated (g3ec59a6f21b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125" y="571500"/>
            <a:ext cx="1230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7429500" y="95250"/>
            <a:ext cx="972900" cy="10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>
            <a:off x="762000" y="1524000"/>
            <a:ext cx="762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PYTHON PROGRAMMING</a:t>
            </a:r>
            <a:endParaRPr b="1" sz="24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50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Tuples in Python &amp; Its Functions</a:t>
            </a:r>
            <a:endParaRPr b="1" sz="3150">
              <a:solidFill>
                <a:srgbClr val="D4AF3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3619500" y="3190875"/>
            <a:ext cx="1905000" cy="1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762000" y="3381375"/>
            <a:ext cx="7620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Structures Module</a:t>
            </a:r>
            <a:endParaRPr b="1" sz="1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A comprehensive guide to understanding and using tuples in Python programming.</a:t>
            </a:r>
            <a:endParaRPr b="0" sz="120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Department of Computer Science</a:t>
            </a:r>
            <a:endParaRPr b="0" sz="1350">
              <a:solidFill>
                <a:srgbClr val="D4AF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1" name="Google Shape;61;p14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62" name="Google Shape;62;p14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</a:t>
              </a: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15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70" name="Google Shape;70;p15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2" name="Google Shape;72;p15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5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" name="Google Shape;74;p15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75" name="Google Shape;75;p15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7" name="Google Shape;77;p15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is a Tuple?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78" name="Google Shape;78;p15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79" name="Google Shape;79;p15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Definition &amp; Characteristics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Built-in Data Structure: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Stores multiple items in a single variable.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Ordered: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Items have a defined, unchanging order.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Immutable: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Cannot be changed after creation.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90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Duplicates: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Allows items with the same value.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1" name="Google Shape;81;p15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82" name="Google Shape;82;p15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Python Example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Defining a tuple using parentheses:</a:t>
              </a:r>
              <a:endParaRPr b="0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numbers = (10, 20, 30)</a:t>
              </a:r>
              <a:endParaRPr b="1" sz="1350">
                <a:solidFill>
                  <a:srgbClr val="1A1A1A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Note: Tuples are faster than lists and provide data safety due to their immutability.</a:t>
              </a:r>
              <a:endParaRPr b="0" i="1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" name="Google Shape;89;p16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90" name="Google Shape;90;p16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2" name="Google Shape;92;p16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6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6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Use Tuples?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95" name="Google Shape;95;p16"/>
          <p:cNvGrpSpPr/>
          <p:nvPr/>
        </p:nvGrpSpPr>
        <p:grpSpPr>
          <a:xfrm>
            <a:off x="381000" y="1047750"/>
            <a:ext cx="2600400" cy="3429000"/>
            <a:chOff x="0" y="0"/>
            <a:chExt cx="2600400" cy="34290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4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Data Security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Feature: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Immutability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Benefit: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Prevents accidental changes to the collection, ensuring data integrity throughout the program execution.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8" name="Google Shape;98;p16"/>
          <p:cNvGrpSpPr/>
          <p:nvPr/>
        </p:nvGrpSpPr>
        <p:grpSpPr>
          <a:xfrm>
            <a:off x="3267075" y="1047750"/>
            <a:ext cx="2600400" cy="3429000"/>
            <a:chOff x="0" y="0"/>
            <a:chExt cx="2600400" cy="3429000"/>
          </a:xfrm>
        </p:grpSpPr>
        <p:sp>
          <p:nvSpPr>
            <p:cNvPr id="99" name="Google Shape;99;p16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4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Performance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Efficiency: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Optimized Memory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Result: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Faster iteration and processing compared to lists. Tuples are stored in a single memory block, making them highly efficient.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6153150" y="1047750"/>
            <a:ext cx="2600400" cy="3429000"/>
            <a:chOff x="0" y="0"/>
            <a:chExt cx="2600400" cy="3429000"/>
          </a:xfrm>
        </p:grpSpPr>
        <p:sp>
          <p:nvSpPr>
            <p:cNvPr id="102" name="Google Shape;102;p16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4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Fixed Collections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Ideal for logically grouped, unchanging data sets.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Examples: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coordinates = (24.8607, 67.0011)</a:t>
              </a:r>
              <a:endParaRPr b="1" sz="11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rgb_color = (255, 0, 0)</a:t>
              </a:r>
              <a:endParaRPr b="1" sz="11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05" name="Google Shape;105;p16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7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13" name="Google Shape;113;p17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7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7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" name="Google Shape;117;p17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18" name="Google Shape;118;p17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0" name="Google Shape;120;p17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Creating Tuples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122" name="Google Shape;122;p17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Standard Creation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Uses round brackets </a:t>
              </a: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to define the collection of items.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fruits = ("apple", "banana", "mango")</a:t>
              </a:r>
              <a:endParaRPr b="1" sz="1350">
                <a:solidFill>
                  <a:srgbClr val="1A1A1A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24" name="Google Shape;124;p17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125" name="Google Shape;125;p17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Tuple Packing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Creation of a tuple without using brackets. Python automatically packs comma-separated values into a tuple.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student = "Ali", 20, "AI"</a:t>
              </a:r>
              <a:endParaRPr b="1" sz="1350">
                <a:solidFill>
                  <a:srgbClr val="1A1A1A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8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33" name="Google Shape;133;p18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5" name="Google Shape;135;p18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8"/>
            <p:cNvPicPr preferRelativeResize="0"/>
            <p:nvPr/>
          </p:nvPicPr>
          <p:blipFill rotWithShape="1">
            <a:blip r:embed="rId4">
              <a:alphaModFix/>
            </a:blip>
            <a:srcRect b="5325" l="0" r="0" t="5325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18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Single Item Tuple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38" name="Google Shape;138;p18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139" name="Google Shape;139;p18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8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The Comma Rule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 trailing comma is strictly required for tuples with a single element.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Without it, Python treats the expression as a base data type (e.g., a String wrapped in parentheses).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1" name="Google Shape;141;p18"/>
          <p:cNvGrpSpPr/>
          <p:nvPr/>
        </p:nvGrpSpPr>
        <p:grpSpPr>
          <a:xfrm>
            <a:off x="1714500" y="2667000"/>
            <a:ext cx="5715000" cy="1428900"/>
            <a:chOff x="0" y="0"/>
            <a:chExt cx="5715000" cy="1428900"/>
          </a:xfrm>
        </p:grpSpPr>
        <p:sp>
          <p:nvSpPr>
            <p:cNvPr id="142" name="Google Shape;142;p18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 txBox="1"/>
            <p:nvPr/>
          </p:nvSpPr>
          <p:spPr>
            <a:xfrm>
              <a:off x="190500" y="142875"/>
              <a:ext cx="5334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48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Syntax Comparison</a:t>
              </a:r>
              <a:endParaRPr b="1" sz="1148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2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Correct (Tuple):</a:t>
              </a:r>
              <a:endParaRPr b="1" sz="102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single_tuple = ("Python",)</a:t>
              </a:r>
              <a:endParaRPr b="1" sz="119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Incorrect (String):</a:t>
              </a:r>
              <a:endParaRPr b="1" sz="85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not_a_tuple = ("Python")</a:t>
              </a:r>
              <a:endParaRPr b="1" sz="119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44" name="Google Shape;144;p18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45" name="Google Shape;145;p18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5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9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52" name="Google Shape;152;p19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4" name="Google Shape;154;p19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9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oogle Shape;156;p19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57" name="Google Shape;157;p19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9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59" name="Google Shape;159;p19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Tuple Properties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60" name="Google Shape;160;p19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161" name="Google Shape;161;p19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Core Characteristics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Ordered:</a:t>
              </a:r>
              <a:r>
                <a:rPr lang="en"/>
                <a:t> 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Items have a defined, fixed position that does not change.</a:t>
              </a:r>
              <a:endParaRPr/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Immutable:</a:t>
              </a:r>
              <a:r>
                <a:rPr lang="en"/>
                <a:t> 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Once created, elements cannot be added, removed, or altered.</a:t>
              </a:r>
              <a:endParaRPr/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Indexed:</a:t>
              </a:r>
              <a:r>
                <a:rPr lang="en"/>
                <a:t> 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Allows for numerical access to items (starting from [0]).</a:t>
              </a:r>
              <a:endParaRPr/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Duplicates:</a:t>
              </a:r>
              <a:r>
                <a:rPr lang="en"/>
                <a:t> 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Multiple identical values are allowed within the same tuple.</a:t>
              </a:r>
              <a:endParaRPr/>
            </a:p>
          </p:txBody>
        </p:sp>
      </p:grpSp>
      <p:grpSp>
        <p:nvGrpSpPr>
          <p:cNvPr id="163" name="Google Shape;163;p19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164" name="Google Shape;164;p19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9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Practical Example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 tuple containing integer values: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data = (10, 20, 20, 30)</a:t>
              </a:r>
              <a:endParaRPr b="1" sz="13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20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72" name="Google Shape;172;p20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4" name="Google Shape;174;p20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20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6" name="Google Shape;176;p20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Accessing Tuple Items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178" name="Google Shape;178;p20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Indexing Concept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Use square brackets </a:t>
              </a:r>
              <a:r>
                <a:rPr b="1" lang="en" sz="105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for access.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Zero-based indexing (starts at 0).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0" name="Google Shape;180;p20"/>
          <p:cNvGrpSpPr/>
          <p:nvPr/>
        </p:nvGrpSpPr>
        <p:grpSpPr>
          <a:xfrm>
            <a:off x="1714500" y="2667000"/>
            <a:ext cx="5715000" cy="1714500"/>
            <a:chOff x="0" y="0"/>
            <a:chExt cx="5715000" cy="1714500"/>
          </a:xfrm>
        </p:grpSpPr>
        <p:sp>
          <p:nvSpPr>
            <p:cNvPr id="181" name="Google Shape;181;p20"/>
            <p:cNvSpPr/>
            <p:nvPr/>
          </p:nvSpPr>
          <p:spPr>
            <a:xfrm>
              <a:off x="0" y="0"/>
              <a:ext cx="5715000" cy="1714500"/>
            </a:xfrm>
            <a:prstGeom prst="roundRect">
              <a:avLst>
                <a:gd fmla="val 6666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190500" y="142875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 Example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languages = ("Python", "Java", "C++")</a:t>
              </a:r>
              <a:endParaRPr b="1" sz="12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print(languages[0]) </a:t>
              </a:r>
              <a:r>
                <a:rPr b="1" lang="en" sz="12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Python</a:t>
              </a:r>
              <a:endParaRPr b="1" sz="12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print(languages[1]) </a:t>
              </a:r>
              <a:r>
                <a:rPr b="1" lang="en" sz="12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Java</a:t>
              </a:r>
              <a:endParaRPr b="1" sz="12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Tuples are ordered collections; indices provide direct access to elements.</a:t>
              </a:r>
              <a:endParaRPr b="0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3" name="Google Shape;183;p20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84" name="Google Shape;184;p20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92" name="Google Shape;192;p21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21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96;p21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97" name="Google Shape;197;p21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1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9" name="Google Shape;199;p21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Negative Indexing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00" name="Google Shape;200;p21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201" name="Google Shape;201;p21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1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Concept Explanation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Access from the end.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-1 is the last item, -2 is the second-to-last.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3" name="Google Shape;203;p21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204" name="Google Shape;204;p21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1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Python Example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highlight>
                    <a:srgbClr val="F4F4F4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languages = ("Python", "Java", "C++")</a:t>
              </a:r>
              <a:endParaRPr b="1" sz="1350">
                <a:solidFill>
                  <a:srgbClr val="1A1A1A"/>
                </a:solidFill>
                <a:highlight>
                  <a:srgbClr val="F4F4F4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highlight>
                    <a:srgbClr val="F4F4F4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print(languages[-1]) </a:t>
              </a:r>
              <a:r>
                <a:rPr b="0" i="1" lang="en" sz="1350">
                  <a:solidFill>
                    <a:srgbClr val="666666"/>
                  </a:solidFill>
                  <a:highlight>
                    <a:srgbClr val="F4F4F4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C++</a:t>
              </a:r>
              <a:endParaRPr b="1" sz="1350">
                <a:solidFill>
                  <a:srgbClr val="1A1A1A"/>
                </a:solidFill>
                <a:highlight>
                  <a:srgbClr val="F4F4F4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highlight>
                    <a:srgbClr val="F4F4F4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print(languages[-2]) </a:t>
              </a:r>
              <a:r>
                <a:rPr b="0" i="1" lang="en" sz="1350">
                  <a:solidFill>
                    <a:srgbClr val="666666"/>
                  </a:solidFill>
                  <a:highlight>
                    <a:srgbClr val="F4F4F4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Java</a:t>
              </a:r>
              <a:endParaRPr b="1" sz="1350">
                <a:solidFill>
                  <a:srgbClr val="1A1A1A"/>
                </a:solidFill>
                <a:highlight>
                  <a:srgbClr val="F4F4F4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Negative indices allow you to work backward from the end of the collection without knowing its total length.</a:t>
              </a:r>
              <a:endParaRPr b="0"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22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212" name="Google Shape;212;p22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4" name="Google Shape;214;p22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22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" name="Google Shape;216;p22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217" name="Google Shape;217;p22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2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19" name="Google Shape;219;p22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Tuple Slicing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20" name="Google Shape;220;p22"/>
          <p:cNvGrpSpPr/>
          <p:nvPr/>
        </p:nvGrpSpPr>
        <p:grpSpPr>
          <a:xfrm>
            <a:off x="381000" y="809625"/>
            <a:ext cx="8382000" cy="190500"/>
            <a:chOff x="0" y="0"/>
            <a:chExt cx="8382000" cy="190500"/>
          </a:xfrm>
        </p:grpSpPr>
        <p:sp>
          <p:nvSpPr>
            <p:cNvPr id="221" name="Google Shape;221;p22"/>
            <p:cNvSpPr/>
            <p:nvPr/>
          </p:nvSpPr>
          <p:spPr>
            <a:xfrm>
              <a:off x="0" y="0"/>
              <a:ext cx="38100" cy="1905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2"/>
            <p:cNvSpPr txBox="1"/>
            <p:nvPr/>
          </p:nvSpPr>
          <p:spPr>
            <a:xfrm>
              <a:off x="190500" y="0"/>
              <a:ext cx="819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Extract range using </a:t>
              </a:r>
              <a:r>
                <a:rPr b="1" i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[start:end]</a:t>
              </a:r>
              <a:r>
                <a:rPr b="0" i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 Note: End index is exclusive.</a:t>
              </a:r>
              <a:endParaRPr b="0" i="1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3" name="Google Shape;223;p22"/>
          <p:cNvGrpSpPr/>
          <p:nvPr/>
        </p:nvGrpSpPr>
        <p:grpSpPr>
          <a:xfrm>
            <a:off x="381000" y="1143000"/>
            <a:ext cx="2600400" cy="3429000"/>
            <a:chOff x="0" y="0"/>
            <a:chExt cx="2600400" cy="3429000"/>
          </a:xfrm>
        </p:grpSpPr>
        <p:sp>
          <p:nvSpPr>
            <p:cNvPr id="224" name="Google Shape;224;p22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4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2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Middle Range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Task: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Extract elements from index 1 to 3.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Code: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numbers[1:4]</a:t>
              </a:r>
              <a:endParaRPr b="1" sz="13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Result: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(1, 2, 3)</a:t>
              </a:r>
              <a:endParaRPr b="1" sz="13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26" name="Google Shape;226;p22"/>
          <p:cNvGrpSpPr/>
          <p:nvPr/>
        </p:nvGrpSpPr>
        <p:grpSpPr>
          <a:xfrm>
            <a:off x="3267075" y="1143000"/>
            <a:ext cx="2600400" cy="3429000"/>
            <a:chOff x="0" y="0"/>
            <a:chExt cx="2600400" cy="3429000"/>
          </a:xfrm>
        </p:grpSpPr>
        <p:sp>
          <p:nvSpPr>
            <p:cNvPr id="227" name="Google Shape;227;p22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4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2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From Start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Task: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Extract first three elements.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Code: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numbers[:3]</a:t>
              </a:r>
              <a:endParaRPr b="1" sz="13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Result: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(0, 1, 2)</a:t>
              </a:r>
              <a:endParaRPr b="1" sz="13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29" name="Google Shape;229;p22"/>
          <p:cNvGrpSpPr/>
          <p:nvPr/>
        </p:nvGrpSpPr>
        <p:grpSpPr>
          <a:xfrm>
            <a:off x="6153150" y="1143000"/>
            <a:ext cx="2600400" cy="3429000"/>
            <a:chOff x="0" y="0"/>
            <a:chExt cx="2600400" cy="3429000"/>
          </a:xfrm>
        </p:grpSpPr>
        <p:sp>
          <p:nvSpPr>
            <p:cNvPr id="230" name="Google Shape;230;p22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4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2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To End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Task: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Extract from index 2 onwards.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Code: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numbers[2:]</a:t>
              </a:r>
              <a:endParaRPr b="1" sz="13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Result: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(2, 3, 4, 5)</a:t>
              </a:r>
              <a:endParaRPr b="1" sz="13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5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3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237" name="Google Shape;237;p23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3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9" name="Google Shape;239;p23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3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" name="Google Shape;241;p23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Tuple Immutability in Action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42" name="Google Shape;242;p23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243" name="Google Shape;243;p23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3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The Principle of Immutability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Tuples cannot be modified after creation.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75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Reassignment results in a </a:t>
              </a: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TypeError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5" name="Google Shape;245;p23"/>
          <p:cNvGrpSpPr/>
          <p:nvPr/>
        </p:nvGrpSpPr>
        <p:grpSpPr>
          <a:xfrm>
            <a:off x="1714500" y="2571750"/>
            <a:ext cx="5715000" cy="1047900"/>
            <a:chOff x="0" y="0"/>
            <a:chExt cx="5715000" cy="1047900"/>
          </a:xfrm>
        </p:grpSpPr>
        <p:sp>
          <p:nvSpPr>
            <p:cNvPr id="246" name="Google Shape;246;p23"/>
            <p:cNvSpPr/>
            <p:nvPr/>
          </p:nvSpPr>
          <p:spPr>
            <a:xfrm>
              <a:off x="0" y="0"/>
              <a:ext cx="5715000" cy="1047900"/>
            </a:xfrm>
            <a:prstGeom prst="roundRect">
              <a:avLst>
                <a:gd fmla="val 10909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3"/>
            <p:cNvSpPr txBox="1"/>
            <p:nvPr/>
          </p:nvSpPr>
          <p:spPr>
            <a:xfrm>
              <a:off x="190500" y="142875"/>
              <a:ext cx="533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Invalid Assignment Example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numbers[0] = 100</a:t>
              </a:r>
              <a:endParaRPr b="1" sz="18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TypeError: 'tuple' object does not support item assignment</a:t>
              </a:r>
              <a:endParaRPr b="0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48" name="Google Shape;248;p23"/>
          <p:cNvSpPr txBox="1"/>
          <p:nvPr/>
        </p:nvSpPr>
        <p:spPr>
          <a:xfrm>
            <a:off x="1714500" y="371475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Given: numbers = (10, 20, 30)</a:t>
            </a:r>
            <a:endParaRPr b="1" sz="10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49" name="Google Shape;249;p23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250" name="Google Shape;250;p23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3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" name="Google Shape;257;p24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258" name="Google Shape;258;p24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0" name="Google Shape;260;p24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24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2" name="Google Shape;262;p24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263" name="Google Shape;263;p24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4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65" name="Google Shape;265;p24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Updating a Tuple Indirectly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66" name="Google Shape;266;p24"/>
          <p:cNvGrpSpPr/>
          <p:nvPr/>
        </p:nvGrpSpPr>
        <p:grpSpPr>
          <a:xfrm>
            <a:off x="381000" y="1047750"/>
            <a:ext cx="2600400" cy="3429000"/>
            <a:chOff x="0" y="0"/>
            <a:chExt cx="2600400" cy="3429000"/>
          </a:xfrm>
        </p:grpSpPr>
        <p:sp>
          <p:nvSpPr>
            <p:cNvPr id="267" name="Google Shape;267;p24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4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4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1. Convert to List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Given: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Tuples are immutable; they cannot be changed directly. Use list conversion as a workaround.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Code: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temp = list(fruits)</a:t>
              </a:r>
              <a:endParaRPr b="1" sz="12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69" name="Google Shape;269;p24"/>
          <p:cNvGrpSpPr/>
          <p:nvPr/>
        </p:nvGrpSpPr>
        <p:grpSpPr>
          <a:xfrm>
            <a:off x="3267075" y="1047750"/>
            <a:ext cx="2600400" cy="3429000"/>
            <a:chOff x="0" y="0"/>
            <a:chExt cx="2600400" cy="3429000"/>
          </a:xfrm>
        </p:grpSpPr>
        <p:sp>
          <p:nvSpPr>
            <p:cNvPr id="270" name="Google Shape;270;p24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4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4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2. Update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Given: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Modify the desired item using standard list indexing and assignment.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Code: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temp[1] = "kiwi"</a:t>
              </a:r>
              <a:endParaRPr b="1" sz="12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72" name="Google Shape;272;p24"/>
          <p:cNvGrpSpPr/>
          <p:nvPr/>
        </p:nvGrpSpPr>
        <p:grpSpPr>
          <a:xfrm>
            <a:off x="6153150" y="1047750"/>
            <a:ext cx="2600400" cy="3429000"/>
            <a:chOff x="0" y="0"/>
            <a:chExt cx="2600400" cy="3429000"/>
          </a:xfrm>
        </p:grpSpPr>
        <p:sp>
          <p:nvSpPr>
            <p:cNvPr id="273" name="Google Shape;273;p24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4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4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3. Convert Back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Given: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Reassign the original variable name to a new tuple created from the list.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Code: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fruits = tuple(temp)</a:t>
              </a:r>
              <a:endParaRPr b="1" sz="12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0" name="Google Shape;280;p25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281" name="Google Shape;281;p25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5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3" name="Google Shape;283;p25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25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" name="Google Shape;285;p25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286" name="Google Shape;286;p25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5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88" name="Google Shape;288;p25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Looping Through a Tuple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89" name="Google Shape;289;p25"/>
          <p:cNvGrpSpPr/>
          <p:nvPr/>
        </p:nvGrpSpPr>
        <p:grpSpPr>
          <a:xfrm>
            <a:off x="1714500" y="952500"/>
            <a:ext cx="5715000" cy="1143000"/>
            <a:chOff x="0" y="0"/>
            <a:chExt cx="5715000" cy="1143000"/>
          </a:xfrm>
        </p:grpSpPr>
        <p:sp>
          <p:nvSpPr>
            <p:cNvPr id="290" name="Google Shape;290;p25"/>
            <p:cNvSpPr/>
            <p:nvPr/>
          </p:nvSpPr>
          <p:spPr>
            <a:xfrm>
              <a:off x="0" y="0"/>
              <a:ext cx="57150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5"/>
            <p:cNvSpPr txBox="1"/>
            <p:nvPr/>
          </p:nvSpPr>
          <p:spPr>
            <a:xfrm>
              <a:off x="190500" y="190500"/>
              <a:ext cx="533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49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Sequential Iteration</a:t>
              </a:r>
              <a:endParaRPr b="1" sz="1249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You can iterate through the items in a tuple by using a </a:t>
              </a:r>
              <a:r>
                <a:rPr b="1" lang="en" sz="971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for</a:t>
              </a:r>
              <a:r>
                <a:rPr b="0" lang="en" sz="971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loop. Since tuples are ordered sequences, the loop will access elements in their defined order, from index 0 to the final element.</a:t>
              </a:r>
              <a:endParaRPr sz="1295"/>
            </a:p>
          </p:txBody>
        </p:sp>
      </p:grpSp>
      <p:grpSp>
        <p:nvGrpSpPr>
          <p:cNvPr id="292" name="Google Shape;292;p25"/>
          <p:cNvGrpSpPr/>
          <p:nvPr/>
        </p:nvGrpSpPr>
        <p:grpSpPr>
          <a:xfrm>
            <a:off x="1714500" y="2381250"/>
            <a:ext cx="5715000" cy="1714500"/>
            <a:chOff x="0" y="0"/>
            <a:chExt cx="5715000" cy="1714500"/>
          </a:xfrm>
        </p:grpSpPr>
        <p:sp>
          <p:nvSpPr>
            <p:cNvPr id="293" name="Google Shape;293;p25"/>
            <p:cNvSpPr/>
            <p:nvPr/>
          </p:nvSpPr>
          <p:spPr>
            <a:xfrm>
              <a:off x="0" y="0"/>
              <a:ext cx="5715000" cy="1714500"/>
            </a:xfrm>
            <a:prstGeom prst="roundRect">
              <a:avLst>
                <a:gd fmla="val 6666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5"/>
            <p:cNvSpPr txBox="1"/>
            <p:nvPr/>
          </p:nvSpPr>
          <p:spPr>
            <a:xfrm>
              <a:off x="190500" y="190500"/>
              <a:ext cx="5334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Implementation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fruits = ("apple", "banana", "mango")</a:t>
              </a:r>
              <a:br>
                <a:rPr b="1" lang="en" sz="15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5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 fruit in fruits:</a:t>
              </a:r>
              <a:br>
                <a:rPr b="1" lang="en" sz="15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5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print(fruit)</a:t>
              </a:r>
              <a:endParaRPr b="1" sz="15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Note: The loop visits each element in the tuple order.</a:t>
              </a:r>
              <a:endParaRPr b="0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0" name="Google Shape;300;p26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301" name="Google Shape;301;p26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3" name="Google Shape;303;p26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26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5" name="Google Shape;305;p26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306" name="Google Shape;306;p26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6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08" name="Google Shape;308;p26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Tuple Unpacking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309" name="Google Shape;309;p26"/>
          <p:cNvGrpSpPr/>
          <p:nvPr/>
        </p:nvGrpSpPr>
        <p:grpSpPr>
          <a:xfrm>
            <a:off x="1714500" y="952500"/>
            <a:ext cx="5715000" cy="1333500"/>
            <a:chOff x="0" y="0"/>
            <a:chExt cx="5715000" cy="1333500"/>
          </a:xfrm>
        </p:grpSpPr>
        <p:sp>
          <p:nvSpPr>
            <p:cNvPr id="310" name="Google Shape;310;p26"/>
            <p:cNvSpPr/>
            <p:nvPr/>
          </p:nvSpPr>
          <p:spPr>
            <a:xfrm>
              <a:off x="0" y="0"/>
              <a:ext cx="57150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6"/>
            <p:cNvSpPr txBox="1"/>
            <p:nvPr/>
          </p:nvSpPr>
          <p:spPr>
            <a:xfrm>
              <a:off x="190500" y="190500"/>
              <a:ext cx="5334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49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Concept Definition</a:t>
              </a:r>
              <a:endParaRPr b="1" sz="1249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0833" lvl="0" marL="457200" rtl="0" algn="l">
                <a:spcBef>
                  <a:spcPts val="7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971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Extract values from a tuple into separate, individual variables in a single operation.</a:t>
              </a:r>
              <a:endParaRPr b="0" sz="97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0833" lvl="0" marL="457200" rtl="0" algn="l">
                <a:spcBef>
                  <a:spcPts val="60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971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Strict Requirement: The number of variables on the left must exactly match the number of items in the tuple.</a:t>
              </a:r>
              <a:endParaRPr b="0" sz="97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2" name="Google Shape;312;p26"/>
          <p:cNvGrpSpPr/>
          <p:nvPr/>
        </p:nvGrpSpPr>
        <p:grpSpPr>
          <a:xfrm>
            <a:off x="1714500" y="2524125"/>
            <a:ext cx="5715000" cy="1714500"/>
            <a:chOff x="0" y="0"/>
            <a:chExt cx="5715000" cy="1714500"/>
          </a:xfrm>
        </p:grpSpPr>
        <p:sp>
          <p:nvSpPr>
            <p:cNvPr id="313" name="Google Shape;313;p26"/>
            <p:cNvSpPr/>
            <p:nvPr/>
          </p:nvSpPr>
          <p:spPr>
            <a:xfrm>
              <a:off x="0" y="0"/>
              <a:ext cx="5715000" cy="1714500"/>
            </a:xfrm>
            <a:prstGeom prst="roundRect">
              <a:avLst>
                <a:gd fmla="val 6666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6"/>
            <p:cNvSpPr txBox="1"/>
            <p:nvPr/>
          </p:nvSpPr>
          <p:spPr>
            <a:xfrm>
              <a:off x="190500" y="142875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Code Execution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("Ali", 20, "AI")</a:t>
              </a:r>
              <a:endParaRPr b="1" sz="11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name, age, dept = student</a:t>
              </a:r>
              <a:endParaRPr b="1" sz="11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print(name)</a:t>
              </a:r>
              <a:endParaRPr b="1" sz="11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Output: Ali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0" name="Google Shape;320;p27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321" name="Google Shape;321;p27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3" name="Google Shape;323;p27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27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5" name="Google Shape;325;p27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Tuple Functions: count()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326" name="Google Shape;326;p27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327" name="Google Shape;327;p27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7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Method Purpose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count()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method is a built-in tuple function used to determine the frequency of a specific element.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Key Characteristic: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It scans the entire tuple from start to finish.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Returns an integer representing the number of occurrences.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75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Returns 0 if the specified value is not found in the tuple.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9" name="Google Shape;329;p27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330" name="Google Shape;330;p27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7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Implementation Example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66666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Define a tuple with duplicates</a:t>
              </a:r>
              <a:endParaRPr b="1" sz="1100">
                <a:solidFill>
                  <a:srgbClr val="666666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numbers = (10, 20, 20, 30, 20)</a:t>
              </a:r>
              <a:endParaRPr b="1" sz="1100">
                <a:solidFill>
                  <a:srgbClr val="1A1A1A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66666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Count occurrences of '20'</a:t>
              </a:r>
              <a:endParaRPr b="1" sz="1100">
                <a:solidFill>
                  <a:srgbClr val="666666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occurrences = numbers.count(20)</a:t>
              </a:r>
              <a:endParaRPr b="1" sz="1100">
                <a:solidFill>
                  <a:srgbClr val="1A1A1A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A1A1A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66666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Display the result</a:t>
              </a:r>
              <a:endParaRPr b="1" sz="1100">
                <a:solidFill>
                  <a:srgbClr val="666666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print(occurrences) </a:t>
              </a: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3</a:t>
              </a:r>
              <a:endParaRPr b="1" sz="1100">
                <a:solidFill>
                  <a:srgbClr val="1A1A1A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In this example, the value </a:t>
              </a:r>
              <a:r>
                <a:rPr b="1" i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20</a:t>
              </a:r>
              <a:r>
                <a:rPr b="0" i="1" lang="en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 appears three times within the sequence, so the function returns the integer 3.</a:t>
              </a:r>
              <a:endParaRPr b="0" i="1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2" name="Google Shape;332;p27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333" name="Google Shape;333;p27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7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0" name="Google Shape;340;p28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341" name="Google Shape;341;p28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3" name="Google Shape;343;p28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28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28"/>
            <p:cNvSpPr txBox="1"/>
            <p:nvPr/>
          </p:nvSpPr>
          <p:spPr>
            <a:xfrm>
              <a:off x="381000" y="142875"/>
              <a:ext cx="742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Tuple Functions: index()</a:t>
              </a:r>
              <a:endParaRPr b="1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grpSp>
        <p:nvGrpSpPr>
          <p:cNvPr id="346" name="Google Shape;346;p28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347" name="Google Shape;347;p28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 txBox="1"/>
            <p:nvPr/>
          </p:nvSpPr>
          <p:spPr>
            <a:xfrm>
              <a:off x="238125" y="238125"/>
              <a:ext cx="3524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Method Overview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Purpose: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Returns the first index position of a specified value within the tuple.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Note: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If the value is not found, Python raises a </a:t>
              </a: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ValueError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 If the value appears multiple times, only the index of the first occurrence is returned.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9" name="Google Shape;349;p28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350" name="Google Shape;350;p28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8"/>
            <p:cNvSpPr txBox="1"/>
            <p:nvPr/>
          </p:nvSpPr>
          <p:spPr>
            <a:xfrm>
              <a:off x="238125" y="238125"/>
              <a:ext cx="3524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Practical Example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Syntax: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Define a tuple</a:t>
              </a:r>
              <a:endParaRPr b="1" sz="1200">
                <a:solidFill>
                  <a:srgbClr val="002147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numbers = (10, 20, 30, 40)</a:t>
              </a:r>
              <a:endParaRPr b="1" sz="1200">
                <a:solidFill>
                  <a:srgbClr val="002147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Find index of value 30</a:t>
              </a:r>
              <a:endParaRPr b="1" sz="1200">
                <a:solidFill>
                  <a:srgbClr val="002147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position = numbers.index(30)</a:t>
              </a:r>
              <a:endParaRPr b="1" sz="1200">
                <a:solidFill>
                  <a:srgbClr val="002147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Output result</a:t>
              </a:r>
              <a:endParaRPr b="1" sz="1200">
                <a:solidFill>
                  <a:srgbClr val="002147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print(position) </a:t>
              </a: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2</a:t>
              </a:r>
              <a:endParaRPr b="1" sz="1200">
                <a:solidFill>
                  <a:srgbClr val="002147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1" lang="en" sz="9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Index counting in Python starts at 0.</a:t>
              </a:r>
              <a:endParaRPr b="0" i="1"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2" name="Google Shape;352;p28"/>
          <p:cNvGrpSpPr/>
          <p:nvPr/>
        </p:nvGrpSpPr>
        <p:grpSpPr>
          <a:xfrm>
            <a:off x="0" y="4762500"/>
            <a:ext cx="9144000" cy="381000"/>
            <a:chOff x="0" y="0"/>
            <a:chExt cx="9144000" cy="381000"/>
          </a:xfrm>
        </p:grpSpPr>
        <p:sp>
          <p:nvSpPr>
            <p:cNvPr id="353" name="Google Shape;353;p28"/>
            <p:cNvSpPr/>
            <p:nvPr/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8"/>
            <p:cNvSpPr txBox="1"/>
            <p:nvPr/>
          </p:nvSpPr>
          <p:spPr>
            <a:xfrm>
              <a:off x="38100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0" name="Google Shape;360;p29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361" name="Google Shape;361;p29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9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3" name="Google Shape;363;p29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29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5" name="Google Shape;365;p29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Built-in Functions with Tuples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366" name="Google Shape;366;p29"/>
          <p:cNvGrpSpPr/>
          <p:nvPr/>
        </p:nvGrpSpPr>
        <p:grpSpPr>
          <a:xfrm>
            <a:off x="381000" y="1047750"/>
            <a:ext cx="2600400" cy="3429000"/>
            <a:chOff x="0" y="0"/>
            <a:chExt cx="2600400" cy="3429000"/>
          </a:xfrm>
        </p:grpSpPr>
        <p:sp>
          <p:nvSpPr>
            <p:cNvPr id="367" name="Google Shape;367;p29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4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9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Item Count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Function: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len(): Returns the total number of items in the tuple.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Example: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75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nums = (5, 10, 15)</a:t>
              </a:r>
              <a:b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print(len(nums))</a:t>
              </a:r>
              <a:b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3</a:t>
              </a:r>
              <a:endParaRPr b="1" sz="13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69" name="Google Shape;369;p29"/>
          <p:cNvGrpSpPr/>
          <p:nvPr/>
        </p:nvGrpSpPr>
        <p:grpSpPr>
          <a:xfrm>
            <a:off x="3267075" y="1047750"/>
            <a:ext cx="2600400" cy="3429000"/>
            <a:chOff x="0" y="0"/>
            <a:chExt cx="2600400" cy="3429000"/>
          </a:xfrm>
        </p:grpSpPr>
        <p:sp>
          <p:nvSpPr>
            <p:cNvPr id="370" name="Google Shape;370;p29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4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9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Extremes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Functions: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max() / min(): Finds the highest and lowest values.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Example: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75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nums = (5, 10, 15)</a:t>
              </a:r>
              <a:b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print(max(nums))</a:t>
              </a:r>
              <a:b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15</a:t>
              </a:r>
              <a:endParaRPr b="1" sz="13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72" name="Google Shape;372;p29"/>
          <p:cNvGrpSpPr/>
          <p:nvPr/>
        </p:nvGrpSpPr>
        <p:grpSpPr>
          <a:xfrm>
            <a:off x="6153150" y="1047750"/>
            <a:ext cx="2600400" cy="3429000"/>
            <a:chOff x="0" y="0"/>
            <a:chExt cx="2600400" cy="3429000"/>
          </a:xfrm>
        </p:grpSpPr>
        <p:sp>
          <p:nvSpPr>
            <p:cNvPr id="373" name="Google Shape;373;p29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4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9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Aggregation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Function: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sum(): Calculates the total sum of all numerical items.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Example: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750"/>
                </a:spcAft>
                <a:buNone/>
              </a:pP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nums = (5, 10, 15)</a:t>
              </a:r>
              <a:b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print(sum(nums))</a:t>
              </a:r>
              <a:b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3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30</a:t>
              </a:r>
              <a:endParaRPr b="1" sz="13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75" name="Google Shape;375;p29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376" name="Google Shape;376;p29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9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5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30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383" name="Google Shape;383;p30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5" name="Google Shape;385;p30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30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30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Checking Item in Tuple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388" name="Google Shape;388;p30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389" name="Google Shape;389;p30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0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Membership Operators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A1A1A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Use </a:t>
              </a:r>
              <a:r>
                <a:rPr b="1" lang="en" sz="105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keyword to check for existence within a sequence.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A1A1A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operation returns a boolean value: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1" marL="914400" rtl="0" algn="l">
                <a:spcBef>
                  <a:spcPts val="375"/>
                </a:spcBef>
                <a:spcAft>
                  <a:spcPts val="0"/>
                </a:spcAft>
                <a:buClr>
                  <a:srgbClr val="1A1A1A"/>
                </a:buClr>
                <a:buSzPts val="1050"/>
                <a:buFont typeface="Inter"/>
                <a:buChar char="○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True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: Item is found.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1" marL="914400" rtl="0" algn="l">
                <a:spcBef>
                  <a:spcPts val="750"/>
                </a:spcBef>
                <a:spcAft>
                  <a:spcPts val="750"/>
                </a:spcAft>
                <a:buClr>
                  <a:srgbClr val="1A1A1A"/>
                </a:buClr>
                <a:buSzPts val="1050"/>
                <a:buFont typeface="Inter"/>
                <a:buChar char="○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False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: Item is not found.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1" name="Google Shape;391;p30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392" name="Google Shape;392;p30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0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Python Implementation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fruits = ("apple", "banana", "mango")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print("banana" in fruits)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66666"/>
                  </a:solidFill>
                  <a:highlight>
                    <a:srgbClr val="F8F8F5"/>
                  </a:highlight>
                  <a:latin typeface="Inter"/>
                  <a:ea typeface="Inter"/>
                  <a:cs typeface="Inter"/>
                  <a:sym typeface="Inter"/>
                </a:rPr>
                <a:t># Output: </a:t>
              </a:r>
              <a:r>
                <a:rPr b="1" lang="en" sz="1050">
                  <a:solidFill>
                    <a:srgbClr val="2E7D32"/>
                  </a:solidFill>
                  <a:highlight>
                    <a:srgbClr val="F8F8F5"/>
                  </a:highlight>
                  <a:latin typeface="Inter"/>
                  <a:ea typeface="Inter"/>
                  <a:cs typeface="Inter"/>
                  <a:sym typeface="Inter"/>
                </a:rPr>
                <a:t>True</a:t>
              </a:r>
              <a:endParaRPr b="0" sz="1050">
                <a:solidFill>
                  <a:srgbClr val="666666"/>
                </a:solidFill>
                <a:highlight>
                  <a:srgbClr val="F8F8F5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print("orange" in fruits)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66666"/>
                  </a:solidFill>
                  <a:highlight>
                    <a:srgbClr val="F8F8F5"/>
                  </a:highlight>
                  <a:latin typeface="Inter"/>
                  <a:ea typeface="Inter"/>
                  <a:cs typeface="Inter"/>
                  <a:sym typeface="Inter"/>
                </a:rPr>
                <a:t># Output: </a:t>
              </a:r>
              <a:r>
                <a:rPr b="1" lang="en" sz="1050">
                  <a:solidFill>
                    <a:srgbClr val="C62828"/>
                  </a:solidFill>
                  <a:highlight>
                    <a:srgbClr val="F8F8F5"/>
                  </a:highlight>
                  <a:latin typeface="Inter"/>
                  <a:ea typeface="Inter"/>
                  <a:cs typeface="Inter"/>
                  <a:sym typeface="Inter"/>
                </a:rPr>
                <a:t>False</a:t>
              </a:r>
              <a:endParaRPr b="0" sz="1050">
                <a:solidFill>
                  <a:srgbClr val="666666"/>
                </a:solidFill>
                <a:highlight>
                  <a:srgbClr val="F8F8F5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Note: Membership checks in tuples are O(n) complexity.</a:t>
              </a:r>
              <a:endParaRPr b="0" i="1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4" name="Google Shape;394;p30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395" name="Google Shape;395;p30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0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2" name="Google Shape;402;p31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403" name="Google Shape;403;p31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1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5" name="Google Shape;405;p31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" name="Google Shape;406;p31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7" name="Google Shape;407;p31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Joining Tuples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08" name="Google Shape;408;p31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409" name="Google Shape;409;p31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1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Concatenation Logic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A1A1A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Combine using the </a:t>
              </a:r>
              <a:r>
                <a:rPr b="1" lang="en" sz="105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operator.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1A1A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This operation creates a </a:t>
              </a: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new tuple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containing all elements of the joined tuples.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1" name="Google Shape;411;p31"/>
          <p:cNvGrpSpPr/>
          <p:nvPr/>
        </p:nvGrpSpPr>
        <p:grpSpPr>
          <a:xfrm>
            <a:off x="1714500" y="2667000"/>
            <a:ext cx="5715000" cy="1809600"/>
            <a:chOff x="0" y="0"/>
            <a:chExt cx="5715000" cy="1809600"/>
          </a:xfrm>
        </p:grpSpPr>
        <p:sp>
          <p:nvSpPr>
            <p:cNvPr id="412" name="Google Shape;412;p31"/>
            <p:cNvSpPr/>
            <p:nvPr/>
          </p:nvSpPr>
          <p:spPr>
            <a:xfrm>
              <a:off x="0" y="0"/>
              <a:ext cx="5715000" cy="1809600"/>
            </a:xfrm>
            <a:prstGeom prst="roundRect">
              <a:avLst>
                <a:gd fmla="val 6315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1"/>
            <p:cNvSpPr txBox="1"/>
            <p:nvPr/>
          </p:nvSpPr>
          <p:spPr>
            <a:xfrm>
              <a:off x="190500" y="142875"/>
              <a:ext cx="5334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Example Implementation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tuple1 = ("a", "b")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tuple2 = (1, 2)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result = tuple1 + tuple2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('a', 'b', 1, 2)</a:t>
              </a:r>
              <a:endParaRPr b="1" sz="18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The original tuples remain unchanged.</a:t>
              </a:r>
              <a:endParaRPr b="0" sz="90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4" name="Google Shape;414;p31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415" name="Google Shape;415;p31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1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2" name="Google Shape;422;p32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423" name="Google Shape;423;p32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2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5" name="Google Shape;425;p32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6" name="Google Shape;426;p32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7" name="Google Shape;427;p32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Repeating Tuples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28" name="Google Shape;428;p32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429" name="Google Shape;429;p32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2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Tuple Multiplication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content of a tuple can be duplicated multiple times using the </a:t>
              </a:r>
              <a:r>
                <a:rPr b="1" lang="en" sz="105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*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operator.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This operation creates a new tuple containing the specified number of copies of the original elements, preserving their sequence.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1" name="Google Shape;431;p32"/>
          <p:cNvGrpSpPr/>
          <p:nvPr/>
        </p:nvGrpSpPr>
        <p:grpSpPr>
          <a:xfrm>
            <a:off x="1714500" y="2667000"/>
            <a:ext cx="5715000" cy="1047900"/>
            <a:chOff x="0" y="0"/>
            <a:chExt cx="5715000" cy="1047900"/>
          </a:xfrm>
        </p:grpSpPr>
        <p:sp>
          <p:nvSpPr>
            <p:cNvPr id="432" name="Google Shape;432;p32"/>
            <p:cNvSpPr/>
            <p:nvPr/>
          </p:nvSpPr>
          <p:spPr>
            <a:xfrm>
              <a:off x="0" y="0"/>
              <a:ext cx="5715000" cy="1047900"/>
            </a:xfrm>
            <a:prstGeom prst="roundRect">
              <a:avLst>
                <a:gd fmla="val 10909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2"/>
            <p:cNvSpPr txBox="1"/>
            <p:nvPr/>
          </p:nvSpPr>
          <p:spPr>
            <a:xfrm>
              <a:off x="190500" y="142875"/>
              <a:ext cx="533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numbers = (1, 2)</a:t>
              </a:r>
              <a:endParaRPr b="1" sz="93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repeated = numbers * 3</a:t>
              </a:r>
              <a:endParaRPr b="1" sz="93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53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(1, 2, 1, 2, 1, 2)</a:t>
              </a:r>
              <a:endParaRPr b="1" sz="153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6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Resulting sequence of repeating elements</a:t>
              </a:r>
              <a:endParaRPr b="0" sz="7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4" name="Google Shape;434;p32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435" name="Google Shape;435;p32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2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5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33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442" name="Google Shape;442;p33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3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4" name="Google Shape;444;p33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33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Google Shape;446;p33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Tuple vs. List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47" name="Google Shape;447;p33"/>
          <p:cNvGrpSpPr/>
          <p:nvPr/>
        </p:nvGrpSpPr>
        <p:grpSpPr>
          <a:xfrm>
            <a:off x="381000" y="952500"/>
            <a:ext cx="8382150" cy="3429000"/>
            <a:chOff x="0" y="0"/>
            <a:chExt cx="8382150" cy="3429000"/>
          </a:xfrm>
        </p:grpSpPr>
        <p:sp>
          <p:nvSpPr>
            <p:cNvPr id="448" name="Google Shape;448;p33"/>
            <p:cNvSpPr/>
            <p:nvPr/>
          </p:nvSpPr>
          <p:spPr>
            <a:xfrm>
              <a:off x="0" y="0"/>
              <a:ext cx="83820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3"/>
            <p:cNvSpPr/>
            <p:nvPr/>
          </p:nvSpPr>
          <p:spPr>
            <a:xfrm>
              <a:off x="0" y="0"/>
              <a:ext cx="8382000" cy="381000"/>
            </a:xfrm>
            <a:custGeom>
              <a:rect b="b" l="l" r="r" t="t"/>
              <a:pathLst>
                <a:path extrusionOk="0" h="120000" w="120000">
                  <a:moveTo>
                    <a:pt x="1636" y="0"/>
                  </a:moveTo>
                  <a:lnTo>
                    <a:pt x="118364" y="0"/>
                  </a:lnTo>
                  <a:cubicBezTo>
                    <a:pt x="119267" y="0"/>
                    <a:pt x="120000" y="16119"/>
                    <a:pt x="120000" y="36000"/>
                  </a:cubicBezTo>
                  <a:lnTo>
                    <a:pt x="120000" y="120000"/>
                  </a:lnTo>
                  <a:lnTo>
                    <a:pt x="0" y="120000"/>
                  </a:lnTo>
                  <a:lnTo>
                    <a:pt x="0" y="36000"/>
                  </a:lnTo>
                  <a:cubicBezTo>
                    <a:pt x="0" y="16119"/>
                    <a:pt x="733" y="0"/>
                    <a:pt x="1636" y="0"/>
                  </a:cubicBezTo>
                  <a:close/>
                </a:path>
              </a:pathLst>
            </a:cu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3"/>
            <p:cNvSpPr txBox="1"/>
            <p:nvPr/>
          </p:nvSpPr>
          <p:spPr>
            <a:xfrm>
              <a:off x="0" y="0"/>
              <a:ext cx="27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Feature</a:t>
              </a:r>
              <a:endParaRPr b="1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1" name="Google Shape;451;p33"/>
            <p:cNvSpPr txBox="1"/>
            <p:nvPr/>
          </p:nvSpPr>
          <p:spPr>
            <a:xfrm>
              <a:off x="2790825" y="0"/>
              <a:ext cx="27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Tuple ()</a:t>
              </a:r>
              <a:endParaRPr b="1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2" name="Google Shape;452;p33"/>
            <p:cNvSpPr txBox="1"/>
            <p:nvPr/>
          </p:nvSpPr>
          <p:spPr>
            <a:xfrm>
              <a:off x="5581650" y="0"/>
              <a:ext cx="280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List []</a:t>
              </a:r>
              <a:endParaRPr b="1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53" name="Google Shape;453;p33"/>
            <p:cNvCxnSpPr/>
            <p:nvPr/>
          </p:nvCxnSpPr>
          <p:spPr>
            <a:xfrm>
              <a:off x="0" y="11430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4" name="Google Shape;454;p33"/>
            <p:cNvSpPr txBox="1"/>
            <p:nvPr/>
          </p:nvSpPr>
          <p:spPr>
            <a:xfrm>
              <a:off x="0" y="381000"/>
              <a:ext cx="27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Mutability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5" name="Google Shape;455;p33"/>
            <p:cNvSpPr txBox="1"/>
            <p:nvPr/>
          </p:nvSpPr>
          <p:spPr>
            <a:xfrm>
              <a:off x="2790825" y="381000"/>
              <a:ext cx="27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Immutable</a:t>
              </a:r>
              <a:endParaRPr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6" name="Google Shape;456;p33"/>
            <p:cNvSpPr txBox="1"/>
            <p:nvPr/>
          </p:nvSpPr>
          <p:spPr>
            <a:xfrm>
              <a:off x="5581650" y="381000"/>
              <a:ext cx="280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Mutable</a:t>
              </a:r>
              <a:endParaRPr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57" name="Google Shape;457;p33"/>
            <p:cNvCxnSpPr/>
            <p:nvPr/>
          </p:nvCxnSpPr>
          <p:spPr>
            <a:xfrm>
              <a:off x="0" y="19050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8" name="Google Shape;458;p33"/>
            <p:cNvSpPr txBox="1"/>
            <p:nvPr/>
          </p:nvSpPr>
          <p:spPr>
            <a:xfrm>
              <a:off x="0" y="1143000"/>
              <a:ext cx="27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9" name="Google Shape;459;p33"/>
            <p:cNvSpPr txBox="1"/>
            <p:nvPr/>
          </p:nvSpPr>
          <p:spPr>
            <a:xfrm>
              <a:off x="2790825" y="1143000"/>
              <a:ext cx="27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Round ()</a:t>
              </a:r>
              <a:endParaRPr b="1" sz="10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60" name="Google Shape;460;p33"/>
            <p:cNvSpPr txBox="1"/>
            <p:nvPr/>
          </p:nvSpPr>
          <p:spPr>
            <a:xfrm>
              <a:off x="5581650" y="1143000"/>
              <a:ext cx="280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Square []</a:t>
              </a:r>
              <a:endParaRPr b="1" sz="10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61" name="Google Shape;461;p33"/>
            <p:cNvCxnSpPr/>
            <p:nvPr/>
          </p:nvCxnSpPr>
          <p:spPr>
            <a:xfrm>
              <a:off x="0" y="26670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2" name="Google Shape;462;p33"/>
            <p:cNvSpPr txBox="1"/>
            <p:nvPr/>
          </p:nvSpPr>
          <p:spPr>
            <a:xfrm>
              <a:off x="0" y="1905000"/>
              <a:ext cx="27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Performance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3" name="Google Shape;463;p33"/>
            <p:cNvSpPr txBox="1"/>
            <p:nvPr/>
          </p:nvSpPr>
          <p:spPr>
            <a:xfrm>
              <a:off x="2790825" y="1905000"/>
              <a:ext cx="27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Faster</a:t>
              </a:r>
              <a:endParaRPr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4" name="Google Shape;464;p33"/>
            <p:cNvSpPr txBox="1"/>
            <p:nvPr/>
          </p:nvSpPr>
          <p:spPr>
            <a:xfrm>
              <a:off x="5581650" y="1905000"/>
              <a:ext cx="280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Slower</a:t>
              </a:r>
              <a:endParaRPr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5" name="Google Shape;465;p33"/>
            <p:cNvSpPr txBox="1"/>
            <p:nvPr/>
          </p:nvSpPr>
          <p:spPr>
            <a:xfrm>
              <a:off x="0" y="2667000"/>
              <a:ext cx="27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Use Case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6" name="Google Shape;466;p33"/>
            <p:cNvSpPr txBox="1"/>
            <p:nvPr/>
          </p:nvSpPr>
          <p:spPr>
            <a:xfrm>
              <a:off x="2790825" y="2667000"/>
              <a:ext cx="27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Fixed data</a:t>
              </a:r>
              <a:endParaRPr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7" name="Google Shape;467;p33"/>
            <p:cNvSpPr txBox="1"/>
            <p:nvPr/>
          </p:nvSpPr>
          <p:spPr>
            <a:xfrm>
              <a:off x="5581650" y="2667000"/>
              <a:ext cx="280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Dynamic data</a:t>
              </a:r>
              <a:endParaRPr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68" name="Google Shape;468;p33"/>
            <p:cNvCxnSpPr/>
            <p:nvPr/>
          </p:nvCxnSpPr>
          <p:spPr>
            <a:xfrm>
              <a:off x="2790825" y="381000"/>
              <a:ext cx="0" cy="3048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9" name="Google Shape;469;p33"/>
            <p:cNvCxnSpPr/>
            <p:nvPr/>
          </p:nvCxnSpPr>
          <p:spPr>
            <a:xfrm>
              <a:off x="5581650" y="381000"/>
              <a:ext cx="0" cy="3048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70" name="Google Shape;470;p33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471" name="Google Shape;471;p33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3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8" name="Google Shape;478;p34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479" name="Google Shape;479;p34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4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81" name="Google Shape;481;p34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2" name="Google Shape;482;p34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3" name="Google Shape;483;p34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484" name="Google Shape;484;p34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4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86" name="Google Shape;486;p34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Practical Example: Student Profile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87" name="Google Shape;487;p34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488" name="Google Shape;488;p34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4"/>
            <p:cNvSpPr txBox="1"/>
            <p:nvPr/>
          </p:nvSpPr>
          <p:spPr>
            <a:xfrm>
              <a:off x="190500" y="190500"/>
              <a:ext cx="3619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Scenario Context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Using a tuple for secure, fixed student records. Tuples ensure that once the record is created, individual fields cannot be altered accidentally.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90" name="Google Shape;490;p34"/>
            <p:cNvGrpSpPr/>
            <p:nvPr/>
          </p:nvGrpSpPr>
          <p:grpSpPr>
            <a:xfrm>
              <a:off x="190500" y="1714500"/>
              <a:ext cx="3619500" cy="1524000"/>
              <a:chOff x="0" y="0"/>
              <a:chExt cx="3619500" cy="1524000"/>
            </a:xfrm>
          </p:grpSpPr>
          <p:pic>
            <p:nvPicPr>
              <p:cNvPr id="491" name="Google Shape;491;p34"/>
              <p:cNvPicPr preferRelativeResize="0"/>
              <p:nvPr/>
            </p:nvPicPr>
            <p:blipFill rotWithShape="1">
              <a:blip r:embed="rId5">
                <a:alphaModFix/>
              </a:blip>
              <a:srcRect b="21933" l="0" r="0" t="21928"/>
              <a:stretch/>
            </p:blipFill>
            <p:spPr>
              <a:xfrm>
                <a:off x="0" y="0"/>
                <a:ext cx="3619500" cy="1524000"/>
              </a:xfrm>
              <a:prstGeom prst="roundRect">
                <a:avLst>
                  <a:gd fmla="val 7500" name="adj"/>
                </a:avLst>
              </a:prstGeom>
              <a:noFill/>
              <a:ln>
                <a:noFill/>
              </a:ln>
            </p:spPr>
          </p:pic>
          <p:sp>
            <p:nvSpPr>
              <p:cNvPr id="492" name="Google Shape;492;p34"/>
              <p:cNvSpPr/>
              <p:nvPr/>
            </p:nvSpPr>
            <p:spPr>
              <a:xfrm>
                <a:off x="0" y="0"/>
                <a:ext cx="3619500" cy="1524000"/>
              </a:xfrm>
              <a:prstGeom prst="roundRect">
                <a:avLst>
                  <a:gd fmla="val 75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3" name="Google Shape;493;p34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494" name="Google Shape;494;p34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4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Implementation Code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Define a Student Tuple</a:t>
              </a:r>
              <a:endParaRPr b="1" sz="1200">
                <a:solidFill>
                  <a:srgbClr val="002147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</a:t>
              </a:r>
              <a:r>
                <a:rPr b="1" lang="en" sz="12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= ("Yousif", 21, "AI")</a:t>
              </a:r>
              <a:endParaRPr b="1" sz="12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Accessing Elements</a:t>
              </a:r>
              <a:endParaRPr b="1" sz="1200">
                <a:solidFill>
                  <a:srgbClr val="002147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print("Name:", </a:t>
              </a: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</a:t>
              </a:r>
              <a:r>
                <a:rPr b="1" lang="en" sz="12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[0])</a:t>
              </a:r>
              <a:endParaRPr b="1" sz="12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print("Age :", </a:t>
              </a: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</a:t>
              </a:r>
              <a:r>
                <a:rPr b="1" lang="en" sz="12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[1])</a:t>
              </a:r>
              <a:endParaRPr b="1" sz="12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print("Dept:", </a:t>
              </a: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</a:t>
              </a:r>
              <a:r>
                <a:rPr b="1" lang="en" sz="12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[2])</a:t>
              </a:r>
              <a:endParaRPr b="1" sz="12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Note: Indexing starts at 0. Values are immutable.</a:t>
              </a:r>
              <a:endParaRPr b="0" i="1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1" name="Google Shape;501;p35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502" name="Google Shape;502;p35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5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04" name="Google Shape;504;p35"/>
            <p:cNvPicPr preferRelativeResize="0"/>
            <p:nvPr/>
          </p:nvPicPr>
          <p:blipFill rotWithShape="1">
            <a:blip r:embed="rId3">
              <a:alphaModFix/>
            </a:blip>
            <a:srcRect b="0" l="34510" r="34514" t="0"/>
            <a:stretch/>
          </p:blipFill>
          <p:spPr>
            <a:xfrm>
              <a:off x="809625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5" name="Google Shape;505;p35"/>
            <p:cNvPicPr preferRelativeResize="0"/>
            <p:nvPr/>
          </p:nvPicPr>
          <p:blipFill rotWithShape="1">
            <a:blip r:embed="rId4">
              <a:alphaModFix/>
            </a:blip>
            <a:srcRect b="5317" l="0" r="0" t="5317"/>
            <a:stretch/>
          </p:blipFill>
          <p:spPr>
            <a:xfrm>
              <a:off x="8572500" y="1428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6" name="Google Shape;506;p35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507" name="Google Shape;507;p35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5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sz="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09" name="Google Shape;509;p35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Summary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510" name="Google Shape;510;p35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511" name="Google Shape;511;p35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5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Tuple Characteristics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5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Core Trait: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Ordered and strictly </a:t>
              </a: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immutable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Access: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Zero-based indexing and slicing.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1125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Methods: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.count()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.index()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3" name="Google Shape;513;p35"/>
          <p:cNvGrpSpPr/>
          <p:nvPr/>
        </p:nvGrpSpPr>
        <p:grpSpPr>
          <a:xfrm>
            <a:off x="4762500" y="952500"/>
            <a:ext cx="4000500" cy="3428925"/>
            <a:chOff x="0" y="0"/>
            <a:chExt cx="4000500" cy="3428925"/>
          </a:xfrm>
        </p:grpSpPr>
        <p:sp>
          <p:nvSpPr>
            <p:cNvPr id="514" name="Google Shape;514;p35"/>
            <p:cNvSpPr/>
            <p:nvPr/>
          </p:nvSpPr>
          <p:spPr>
            <a:xfrm>
              <a:off x="0" y="0"/>
              <a:ext cx="4000500" cy="1190700"/>
            </a:xfrm>
            <a:prstGeom prst="roundRect">
              <a:avLst>
                <a:gd fmla="val 96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5"/>
            <p:cNvSpPr txBox="1"/>
            <p:nvPr/>
          </p:nvSpPr>
          <p:spPr>
            <a:xfrm>
              <a:off x="190500" y="190500"/>
              <a:ext cx="3619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Best Use Case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Fixed, secure data collections.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16" name="Google Shape;516;p35"/>
            <p:cNvGrpSpPr/>
            <p:nvPr/>
          </p:nvGrpSpPr>
          <p:grpSpPr>
            <a:xfrm>
              <a:off x="0" y="1381125"/>
              <a:ext cx="4000500" cy="2047800"/>
              <a:chOff x="0" y="0"/>
              <a:chExt cx="4000500" cy="2047800"/>
            </a:xfrm>
          </p:grpSpPr>
          <p:sp>
            <p:nvSpPr>
              <p:cNvPr id="517" name="Google Shape;517;p35"/>
              <p:cNvSpPr/>
              <p:nvPr/>
            </p:nvSpPr>
            <p:spPr>
              <a:xfrm>
                <a:off x="0" y="0"/>
                <a:ext cx="4000500" cy="2047800"/>
              </a:xfrm>
              <a:prstGeom prst="roundRect">
                <a:avLst>
                  <a:gd fmla="val 558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35"/>
              <p:cNvSpPr txBox="1"/>
              <p:nvPr/>
            </p:nvSpPr>
            <p:spPr>
              <a:xfrm>
                <a:off x="0" y="0"/>
                <a:ext cx="4000500" cy="20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400">
                    <a:solidFill>
                      <a:srgbClr val="00214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lock</a:t>
                </a:r>
                <a:endParaRPr b="0" sz="6400">
                  <a:solidFill>
                    <a:srgbClr val="00214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Tuples provide data integrity through immutability.</a:t>
                </a:r>
                <a:endParaRPr b="0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