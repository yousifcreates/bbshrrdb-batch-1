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embeddedFontLst>
    <p:embeddedFont>
      <p:font typeface="Montserrat SemiBold"/>
      <p:regular r:id="rId30"/>
      <p:bold r:id="rId31"/>
      <p:italic r:id="rId32"/>
      <p:boldItalic r:id="rId33"/>
    </p:embeddedFont>
    <p:embeddedFont>
      <p:font typeface="Inter SemiBold"/>
      <p:regular r:id="rId34"/>
      <p:bold r:id="rId35"/>
      <p:italic r:id="rId36"/>
      <p:boldItalic r:id="rId37"/>
    </p:embeddedFont>
    <p:embeddedFont>
      <p:font typeface="Inter"/>
      <p:bold r:id="rId38"/>
      <p:boldItalic r:id="rId39"/>
    </p:embeddedFont>
    <p:embeddedFont>
      <p:font typeface="Montserrat"/>
      <p:bold r:id="rId40"/>
      <p:boldItalic r:id="rId41"/>
    </p:embeddedFont>
    <p:embeddedFont>
      <p:font typeface="Inter Medium"/>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fntdata"/><Relationship Id="rId20" Type="http://schemas.openxmlformats.org/officeDocument/2006/relationships/slide" Target="slides/slide15.xml"/><Relationship Id="rId42" Type="http://schemas.openxmlformats.org/officeDocument/2006/relationships/font" Target="fonts/InterMedium-regular.fntdata"/><Relationship Id="rId41" Type="http://schemas.openxmlformats.org/officeDocument/2006/relationships/font" Target="fonts/Montserrat-boldItalic.fntdata"/><Relationship Id="rId22" Type="http://schemas.openxmlformats.org/officeDocument/2006/relationships/slide" Target="slides/slide17.xml"/><Relationship Id="rId44" Type="http://schemas.openxmlformats.org/officeDocument/2006/relationships/font" Target="fonts/InterMedium-italic.fntdata"/><Relationship Id="rId21" Type="http://schemas.openxmlformats.org/officeDocument/2006/relationships/slide" Target="slides/slide16.xml"/><Relationship Id="rId43" Type="http://schemas.openxmlformats.org/officeDocument/2006/relationships/font" Target="fonts/InterMedium-bold.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Inter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SemiBold-bold.fntdata"/><Relationship Id="rId30" Type="http://schemas.openxmlformats.org/officeDocument/2006/relationships/font" Target="fonts/MontserratSemiBold-regular.fntdata"/><Relationship Id="rId11" Type="http://schemas.openxmlformats.org/officeDocument/2006/relationships/slide" Target="slides/slide6.xml"/><Relationship Id="rId33" Type="http://schemas.openxmlformats.org/officeDocument/2006/relationships/font" Target="fonts/MontserratSemiBold-boldItalic.fntdata"/><Relationship Id="rId10" Type="http://schemas.openxmlformats.org/officeDocument/2006/relationships/slide" Target="slides/slide5.xml"/><Relationship Id="rId32" Type="http://schemas.openxmlformats.org/officeDocument/2006/relationships/font" Target="fonts/MontserratSemiBold-italic.fntdata"/><Relationship Id="rId13" Type="http://schemas.openxmlformats.org/officeDocument/2006/relationships/slide" Target="slides/slide8.xml"/><Relationship Id="rId35" Type="http://schemas.openxmlformats.org/officeDocument/2006/relationships/font" Target="fonts/InterSemiBold-bold.fntdata"/><Relationship Id="rId12" Type="http://schemas.openxmlformats.org/officeDocument/2006/relationships/slide" Target="slides/slide7.xml"/><Relationship Id="rId34" Type="http://schemas.openxmlformats.org/officeDocument/2006/relationships/font" Target="fonts/InterSemiBold-regular.fntdata"/><Relationship Id="rId15" Type="http://schemas.openxmlformats.org/officeDocument/2006/relationships/slide" Target="slides/slide10.xml"/><Relationship Id="rId37" Type="http://schemas.openxmlformats.org/officeDocument/2006/relationships/font" Target="fonts/InterSemiBold-boldItalic.fntdata"/><Relationship Id="rId14" Type="http://schemas.openxmlformats.org/officeDocument/2006/relationships/slide" Target="slides/slide9.xml"/><Relationship Id="rId36" Type="http://schemas.openxmlformats.org/officeDocument/2006/relationships/font" Target="fonts/InterSemiBold-italic.fntdata"/><Relationship Id="rId17" Type="http://schemas.openxmlformats.org/officeDocument/2006/relationships/slide" Target="slides/slide12.xml"/><Relationship Id="rId39" Type="http://schemas.openxmlformats.org/officeDocument/2006/relationships/font" Target="fonts/Inter-boldItalic.fntdata"/><Relationship Id="rId16" Type="http://schemas.openxmlformats.org/officeDocument/2006/relationships/slide" Target="slides/slide11.xml"/><Relationship Id="rId38" Type="http://schemas.openxmlformats.org/officeDocument/2006/relationships/font" Target="fonts/Inter-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42910670c_3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42910670c_3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42910670c_3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42910670c_3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42910670c_2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f42910670c_2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f42910670c_2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f42910670c_2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42910670c_2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42910670c_2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42910670c_2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f42910670c_2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42910670c_2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f42910670c_2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42910670c_2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f42910670c_2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f42910670c_2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f42910670c_2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f42910670c_2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f42910670c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f42910670c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f42910670c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f42910670c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f42910670c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f42910670c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f42910670c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f42910670c_1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f42910670c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f42910670c_1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f42910670c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f42910670c_1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f42910670c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f42910670c_1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f42910670c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f42910670c_1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f42910670c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f42910670c_1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3f42910670c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f42910670c_1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3f42910670c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f42910670c_1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f42910670c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f42910670c_1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3f42910670c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f42910670c_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3f42910670c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f42910670c_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3f42910670c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42910670c_7_0)">
  <p:cSld name="Generated (g3f42910670c_7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415611" y="992767"/>
            <a:ext cx="11360800" cy="27368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2" name="Google Shape;12;p3"/>
          <p:cNvSpPr txBox="1"/>
          <p:nvPr>
            <p:ph idx="1" type="subTitle"/>
          </p:nvPr>
        </p:nvSpPr>
        <p:spPr>
          <a:xfrm>
            <a:off x="415600" y="3778833"/>
            <a:ext cx="11360800" cy="10568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3" name="Google Shape;13;p3"/>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415600" y="2867800"/>
            <a:ext cx="11360800" cy="11224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4"/>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415600" y="593367"/>
            <a:ext cx="11360800" cy="7636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9" name="Google Shape;19;p5"/>
          <p:cNvSpPr txBox="1"/>
          <p:nvPr>
            <p:ph idx="1" type="body"/>
          </p:nvPr>
        </p:nvSpPr>
        <p:spPr>
          <a:xfrm>
            <a:off x="415600" y="1536633"/>
            <a:ext cx="113608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0" name="Google Shape;20;p5"/>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415600" y="593367"/>
            <a:ext cx="11360800" cy="7636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3" name="Google Shape;23;p6"/>
          <p:cNvSpPr txBox="1"/>
          <p:nvPr>
            <p:ph idx="1" type="body"/>
          </p:nvPr>
        </p:nvSpPr>
        <p:spPr>
          <a:xfrm>
            <a:off x="415600" y="1536633"/>
            <a:ext cx="53332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p6"/>
          <p:cNvSpPr txBox="1"/>
          <p:nvPr>
            <p:ph idx="2" type="body"/>
          </p:nvPr>
        </p:nvSpPr>
        <p:spPr>
          <a:xfrm>
            <a:off x="6443200" y="1536633"/>
            <a:ext cx="53332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5" name="Google Shape;25;p6"/>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415600" y="593367"/>
            <a:ext cx="11360800" cy="7636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8" name="Google Shape;28;p7"/>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415600" y="740800"/>
            <a:ext cx="3744000" cy="10076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1" name="Google Shape;31;p8"/>
          <p:cNvSpPr txBox="1"/>
          <p:nvPr>
            <p:ph idx="1" type="body"/>
          </p:nvPr>
        </p:nvSpPr>
        <p:spPr>
          <a:xfrm>
            <a:off x="415600" y="1852800"/>
            <a:ext cx="3744000" cy="42392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2" name="Google Shape;32;p8"/>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653667" y="600200"/>
            <a:ext cx="8490400" cy="54544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5" name="Google Shape;35;p9"/>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354000" y="1644233"/>
            <a:ext cx="53936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39" name="Google Shape;39;p10"/>
          <p:cNvSpPr txBox="1"/>
          <p:nvPr>
            <p:ph idx="1" type="subTitle"/>
          </p:nvPr>
        </p:nvSpPr>
        <p:spPr>
          <a:xfrm>
            <a:off x="354000" y="3737433"/>
            <a:ext cx="5393600" cy="16468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0" name="Google Shape;40;p10"/>
          <p:cNvSpPr txBox="1"/>
          <p:nvPr>
            <p:ph idx="2" type="body"/>
          </p:nvPr>
        </p:nvSpPr>
        <p:spPr>
          <a:xfrm>
            <a:off x="6586000" y="965433"/>
            <a:ext cx="5116000" cy="49268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1" name="Google Shape;41;p10"/>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415600" y="5640767"/>
            <a:ext cx="7998400" cy="8068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4" name="Google Shape;44;p11"/>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415600" y="1474833"/>
            <a:ext cx="11360800" cy="26180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7" name="Google Shape;47;p12"/>
          <p:cNvSpPr txBox="1"/>
          <p:nvPr>
            <p:ph idx="1" type="body"/>
          </p:nvPr>
        </p:nvSpPr>
        <p:spPr>
          <a:xfrm>
            <a:off x="415600" y="4202967"/>
            <a:ext cx="11360800" cy="17344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8" name="Google Shape;48;p12"/>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800" cy="7636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7" name="Google Shape;7;p1"/>
          <p:cNvSpPr txBox="1"/>
          <p:nvPr>
            <p:ph idx="1" type="body"/>
          </p:nvPr>
        </p:nvSpPr>
        <p:spPr>
          <a:xfrm>
            <a:off x="415600" y="1536633"/>
            <a:ext cx="113608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p1"/>
          <p:cNvSpPr txBox="1"/>
          <p:nvPr>
            <p:ph idx="12" type="sldNum"/>
          </p:nvPr>
        </p:nvSpPr>
        <p:spPr>
          <a:xfrm>
            <a:off x="11296610" y="6217622"/>
            <a:ext cx="731600" cy="5248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2.jpg"/><Relationship Id="rId5"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9.jpg"/><Relationship Id="rId5"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0.jpg"/><Relationship Id="rId5"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0.jp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1.jpg"/><Relationship Id="rId5" Type="http://schemas.openxmlformats.org/officeDocument/2006/relationships/image" Target="../media/image29.jpg"/><Relationship Id="rId6" Type="http://schemas.openxmlformats.org/officeDocument/2006/relationships/image" Target="../media/image40.jpg"/><Relationship Id="rId7"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3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8.jp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8.jpg"/><Relationship Id="rId5" Type="http://schemas.openxmlformats.org/officeDocument/2006/relationships/image" Target="../media/image58.jpg"/><Relationship Id="rId6" Type="http://schemas.openxmlformats.org/officeDocument/2006/relationships/image" Target="../media/image52.jpg"/><Relationship Id="rId7"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51.jpg"/><Relationship Id="rId6" Type="http://schemas.openxmlformats.org/officeDocument/2006/relationships/image" Target="../media/image23.png"/><Relationship Id="rId7"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55.png"/><Relationship Id="rId5" Type="http://schemas.openxmlformats.org/officeDocument/2006/relationships/image" Target="../media/image5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7.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3.jp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68.jpg"/><Relationship Id="rId5" Type="http://schemas.openxmlformats.org/officeDocument/2006/relationships/image" Target="../media/image67.jpg"/><Relationship Id="rId6" Type="http://schemas.openxmlformats.org/officeDocument/2006/relationships/image" Target="../media/image65.jpg"/><Relationship Id="rId7"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64.jpg"/><Relationship Id="rId5"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image" Target="../media/image6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6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72.jpg"/><Relationship Id="rId5" Type="http://schemas.openxmlformats.org/officeDocument/2006/relationships/image" Target="../media/image70.jpg"/><Relationship Id="rId6" Type="http://schemas.openxmlformats.org/officeDocument/2006/relationships/image" Target="../media/image6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71.jpg"/><Relationship Id="rId5"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 name="Shape 54"/>
        <p:cNvGrpSpPr/>
        <p:nvPr/>
      </p:nvGrpSpPr>
      <p:grpSpPr>
        <a:xfrm>
          <a:off x="0" y="0"/>
          <a:ext cx="0" cy="0"/>
          <a:chOff x="0" y="0"/>
          <a:chExt cx="0" cy="0"/>
        </a:xfrm>
      </p:grpSpPr>
      <p:grpSp>
        <p:nvGrpSpPr>
          <p:cNvPr id="55" name="Google Shape;55;p14"/>
          <p:cNvGrpSpPr/>
          <p:nvPr/>
        </p:nvGrpSpPr>
        <p:grpSpPr>
          <a:xfrm>
            <a:off x="0" y="0"/>
            <a:ext cx="12192000" cy="76350"/>
            <a:chOff x="0" y="0"/>
            <a:chExt cx="12192000" cy="76350"/>
          </a:xfrm>
        </p:grpSpPr>
        <p:sp>
          <p:nvSpPr>
            <p:cNvPr id="56" name="Google Shape;56;p14"/>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p14"/>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58" name="Google Shape;58;p14"/>
          <p:cNvPicPr preferRelativeResize="0"/>
          <p:nvPr/>
        </p:nvPicPr>
        <p:blipFill rotWithShape="1">
          <a:blip r:embed="rId4">
            <a:alphaModFix/>
          </a:blip>
          <a:srcRect b="20" l="0" r="0" t="30"/>
          <a:stretch/>
        </p:blipFill>
        <p:spPr>
          <a:xfrm>
            <a:off x="762000" y="571500"/>
            <a:ext cx="2533800" cy="857400"/>
          </a:xfrm>
          <a:prstGeom prst="rect">
            <a:avLst/>
          </a:prstGeom>
          <a:noFill/>
          <a:ln>
            <a:noFill/>
          </a:ln>
        </p:spPr>
      </p:pic>
      <p:pic>
        <p:nvPicPr>
          <p:cNvPr id="59" name="Google Shape;59;p14"/>
          <p:cNvPicPr preferRelativeResize="0"/>
          <p:nvPr/>
        </p:nvPicPr>
        <p:blipFill rotWithShape="1">
          <a:blip r:embed="rId5">
            <a:alphaModFix/>
          </a:blip>
          <a:srcRect b="100" l="0" r="0" t="110"/>
          <a:stretch/>
        </p:blipFill>
        <p:spPr>
          <a:xfrm>
            <a:off x="10144125" y="428625"/>
            <a:ext cx="1143000" cy="1276500"/>
          </a:xfrm>
          <a:prstGeom prst="rect">
            <a:avLst/>
          </a:prstGeom>
          <a:noFill/>
          <a:ln>
            <a:noFill/>
          </a:ln>
        </p:spPr>
      </p:pic>
      <p:sp>
        <p:nvSpPr>
          <p:cNvPr id="60" name="Google Shape;60;p14"/>
          <p:cNvSpPr txBox="1"/>
          <p:nvPr/>
        </p:nvSpPr>
        <p:spPr>
          <a:xfrm>
            <a:off x="2286000" y="1809750"/>
            <a:ext cx="7620000" cy="666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00">
                <a:solidFill>
                  <a:srgbClr val="D4A017"/>
                </a:solidFill>
                <a:latin typeface="Inter"/>
                <a:ea typeface="Inter"/>
                <a:cs typeface="Inter"/>
                <a:sym typeface="Inter"/>
              </a:rPr>
              <a:t>Robotics &amp; Automation Systems</a:t>
            </a:r>
            <a:endParaRPr b="1" sz="1200">
              <a:solidFill>
                <a:srgbClr val="D4A017"/>
              </a:solidFill>
              <a:latin typeface="Inter"/>
              <a:ea typeface="Inter"/>
              <a:cs typeface="Inter"/>
              <a:sym typeface="Inter"/>
            </a:endParaRPr>
          </a:p>
          <a:p>
            <a:pPr indent="0" lvl="0" marL="0" rtl="0" algn="ctr">
              <a:spcBef>
                <a:spcPts val="300"/>
              </a:spcBef>
              <a:spcAft>
                <a:spcPts val="0"/>
              </a:spcAft>
              <a:buNone/>
            </a:pPr>
            <a:r>
              <a:rPr b="1" lang="en" sz="1050">
                <a:solidFill>
                  <a:srgbClr val="6B7280"/>
                </a:solidFill>
                <a:latin typeface="Inter"/>
                <a:ea typeface="Inter"/>
                <a:cs typeface="Inter"/>
                <a:sym typeface="Inter"/>
              </a:rPr>
              <a:t>Module 7</a:t>
            </a:r>
            <a:endParaRPr b="1" sz="1050">
              <a:solidFill>
                <a:srgbClr val="6B7280"/>
              </a:solidFill>
              <a:latin typeface="Inter"/>
              <a:ea typeface="Inter"/>
              <a:cs typeface="Inter"/>
              <a:sym typeface="Inter"/>
            </a:endParaRPr>
          </a:p>
        </p:txBody>
      </p:sp>
      <p:sp>
        <p:nvSpPr>
          <p:cNvPr id="61" name="Google Shape;61;p14"/>
          <p:cNvSpPr txBox="1"/>
          <p:nvPr/>
        </p:nvSpPr>
        <p:spPr>
          <a:xfrm>
            <a:off x="1333500" y="2524125"/>
            <a:ext cx="9525000" cy="1333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3450">
                <a:solidFill>
                  <a:srgbClr val="045A36"/>
                </a:solidFill>
                <a:latin typeface="Montserrat"/>
                <a:ea typeface="Montserrat"/>
                <a:cs typeface="Montserrat"/>
                <a:sym typeface="Montserrat"/>
              </a:rPr>
              <a:t>Electronics for Arduino Programming</a:t>
            </a:r>
            <a:endParaRPr b="1" sz="3450">
              <a:solidFill>
                <a:srgbClr val="045A36"/>
              </a:solidFill>
              <a:latin typeface="Montserrat"/>
              <a:ea typeface="Montserrat"/>
              <a:cs typeface="Montserrat"/>
              <a:sym typeface="Montserrat"/>
            </a:endParaRPr>
          </a:p>
          <a:p>
            <a:pPr indent="0" lvl="0" marL="0" rtl="0" algn="ctr">
              <a:spcBef>
                <a:spcPts val="600"/>
              </a:spcBef>
              <a:spcAft>
                <a:spcPts val="0"/>
              </a:spcAft>
              <a:buNone/>
            </a:pPr>
            <a:r>
              <a:rPr b="1" lang="en" sz="2800">
                <a:solidFill>
                  <a:srgbClr val="0B7A4B"/>
                </a:solidFill>
                <a:latin typeface="Montserrat"/>
                <a:ea typeface="Montserrat"/>
                <a:cs typeface="Montserrat"/>
                <a:sym typeface="Montserrat"/>
              </a:rPr>
              <a:t>(Part 1)</a:t>
            </a:r>
            <a:endParaRPr b="1" sz="2800">
              <a:solidFill>
                <a:srgbClr val="0B7A4B"/>
              </a:solidFill>
              <a:latin typeface="Montserrat"/>
              <a:ea typeface="Montserrat"/>
              <a:cs typeface="Montserrat"/>
              <a:sym typeface="Montserrat"/>
            </a:endParaRPr>
          </a:p>
        </p:txBody>
      </p:sp>
      <p:sp>
        <p:nvSpPr>
          <p:cNvPr id="62" name="Google Shape;62;p14"/>
          <p:cNvSpPr/>
          <p:nvPr/>
        </p:nvSpPr>
        <p:spPr>
          <a:xfrm>
            <a:off x="5381625" y="4000500"/>
            <a:ext cx="1428900" cy="381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 name="Google Shape;63;p14"/>
          <p:cNvSpPr txBox="1"/>
          <p:nvPr/>
        </p:nvSpPr>
        <p:spPr>
          <a:xfrm>
            <a:off x="1333500" y="4286250"/>
            <a:ext cx="95250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400">
                <a:solidFill>
                  <a:srgbClr val="4B5563"/>
                </a:solidFill>
                <a:latin typeface="Inter SemiBold"/>
                <a:ea typeface="Inter SemiBold"/>
                <a:cs typeface="Inter SemiBold"/>
                <a:sym typeface="Inter SemiBold"/>
              </a:rPr>
              <a:t>Capacitors, Inductors, Diodes, LEDs &amp; PWM</a:t>
            </a:r>
            <a:endParaRPr b="0" sz="1400">
              <a:solidFill>
                <a:srgbClr val="4B5563"/>
              </a:solidFill>
              <a:latin typeface="Inter SemiBold"/>
              <a:ea typeface="Inter SemiBold"/>
              <a:cs typeface="Inter SemiBold"/>
              <a:sym typeface="Inter SemiBold"/>
            </a:endParaRPr>
          </a:p>
        </p:txBody>
      </p:sp>
      <p:sp>
        <p:nvSpPr>
          <p:cNvPr id="64" name="Google Shape;64;p14"/>
          <p:cNvSpPr txBox="1"/>
          <p:nvPr/>
        </p:nvSpPr>
        <p:spPr>
          <a:xfrm>
            <a:off x="762000" y="5829300"/>
            <a:ext cx="31053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9CA3AF"/>
                </a:solidFill>
                <a:latin typeface="Inter"/>
                <a:ea typeface="Inter"/>
                <a:cs typeface="Inter"/>
                <a:sym typeface="Inter"/>
              </a:rPr>
              <a:t>PRESENTED BY</a:t>
            </a:r>
            <a:endParaRPr b="0" sz="975">
              <a:solidFill>
                <a:srgbClr val="9CA3AF"/>
              </a:solidFill>
              <a:latin typeface="Inter"/>
              <a:ea typeface="Inter"/>
              <a:cs typeface="Inter"/>
              <a:sym typeface="Inter"/>
            </a:endParaRPr>
          </a:p>
        </p:txBody>
      </p:sp>
      <p:sp>
        <p:nvSpPr>
          <p:cNvPr id="65" name="Google Shape;65;p14"/>
          <p:cNvSpPr txBox="1"/>
          <p:nvPr/>
        </p:nvSpPr>
        <p:spPr>
          <a:xfrm>
            <a:off x="762000" y="6019800"/>
            <a:ext cx="31053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1F2937"/>
                </a:solidFill>
                <a:latin typeface="Inter SemiBold"/>
                <a:ea typeface="Inter SemiBold"/>
                <a:cs typeface="Inter SemiBold"/>
                <a:sym typeface="Inter SemiBold"/>
              </a:rPr>
              <a:t>Course Faculty</a:t>
            </a:r>
            <a:endParaRPr b="0" sz="1200">
              <a:solidFill>
                <a:srgbClr val="1F2937"/>
              </a:solidFill>
              <a:latin typeface="Inter SemiBold"/>
              <a:ea typeface="Inter SemiBold"/>
              <a:cs typeface="Inter SemiBold"/>
              <a:sym typeface="Inter SemiBold"/>
            </a:endParaRPr>
          </a:p>
        </p:txBody>
      </p:sp>
      <p:sp>
        <p:nvSpPr>
          <p:cNvPr id="66" name="Google Shape;66;p14"/>
          <p:cNvSpPr txBox="1"/>
          <p:nvPr/>
        </p:nvSpPr>
        <p:spPr>
          <a:xfrm>
            <a:off x="9334500" y="5829300"/>
            <a:ext cx="20955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975">
                <a:solidFill>
                  <a:srgbClr val="9CA3AF"/>
                </a:solidFill>
                <a:latin typeface="Inter"/>
                <a:ea typeface="Inter"/>
                <a:cs typeface="Inter"/>
                <a:sym typeface="Inter"/>
              </a:rPr>
              <a:t>DATE OF SESSION</a:t>
            </a:r>
            <a:endParaRPr b="0" sz="975">
              <a:solidFill>
                <a:srgbClr val="9CA3AF"/>
              </a:solidFill>
              <a:latin typeface="Inter"/>
              <a:ea typeface="Inter"/>
              <a:cs typeface="Inter"/>
              <a:sym typeface="Inter"/>
            </a:endParaRPr>
          </a:p>
        </p:txBody>
      </p:sp>
      <p:sp>
        <p:nvSpPr>
          <p:cNvPr id="67" name="Google Shape;67;p14"/>
          <p:cNvSpPr txBox="1"/>
          <p:nvPr/>
        </p:nvSpPr>
        <p:spPr>
          <a:xfrm>
            <a:off x="9334500" y="6019800"/>
            <a:ext cx="2095500" cy="3333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200">
                <a:solidFill>
                  <a:srgbClr val="1F2937"/>
                </a:solidFill>
                <a:latin typeface="Inter SemiBold"/>
                <a:ea typeface="Inter SemiBold"/>
                <a:cs typeface="Inter SemiBold"/>
                <a:sym typeface="Inter SemiBold"/>
              </a:rPr>
              <a:t>July 2026</a:t>
            </a:r>
            <a:endParaRPr b="0" sz="1200">
              <a:solidFill>
                <a:srgbClr val="1F2937"/>
              </a:solidFill>
              <a:latin typeface="Inter SemiBold"/>
              <a:ea typeface="Inter SemiBold"/>
              <a:cs typeface="Inter SemiBold"/>
              <a:sym typeface="Inter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grpSp>
        <p:nvGrpSpPr>
          <p:cNvPr id="72" name="Google Shape;72;p15"/>
          <p:cNvGrpSpPr/>
          <p:nvPr/>
        </p:nvGrpSpPr>
        <p:grpSpPr>
          <a:xfrm>
            <a:off x="0" y="0"/>
            <a:ext cx="12192000" cy="76350"/>
            <a:chOff x="0" y="0"/>
            <a:chExt cx="12192000" cy="76350"/>
          </a:xfrm>
        </p:grpSpPr>
        <p:sp>
          <p:nvSpPr>
            <p:cNvPr id="73" name="Google Shape;73;p15"/>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 name="Google Shape;74;p15"/>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5" name="Google Shape;75;p15"/>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15"/>
          <p:cNvSpPr txBox="1"/>
          <p:nvPr/>
        </p:nvSpPr>
        <p:spPr>
          <a:xfrm>
            <a:off x="762000" y="523875"/>
            <a:ext cx="9525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Student Capabilities after Module 7</a:t>
            </a:r>
            <a:endParaRPr b="0" sz="2700">
              <a:solidFill>
                <a:srgbClr val="045A36"/>
              </a:solidFill>
              <a:latin typeface="Montserrat SemiBold"/>
              <a:ea typeface="Montserrat SemiBold"/>
              <a:cs typeface="Montserrat SemiBold"/>
              <a:sym typeface="Montserrat SemiBold"/>
            </a:endParaRPr>
          </a:p>
        </p:txBody>
      </p:sp>
      <p:sp>
        <p:nvSpPr>
          <p:cNvPr id="77" name="Google Shape;77;p15"/>
          <p:cNvSpPr txBox="1"/>
          <p:nvPr/>
        </p:nvSpPr>
        <p:spPr>
          <a:xfrm>
            <a:off x="762000" y="1285875"/>
            <a:ext cx="106680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045A36"/>
                </a:solidFill>
                <a:latin typeface="Inter SemiBold"/>
                <a:ea typeface="Inter SemiBold"/>
                <a:cs typeface="Inter SemiBold"/>
                <a:sym typeface="Inter SemiBold"/>
              </a:rPr>
              <a:t>By the end of this intensive module, undergraduate students will possess a comprehensive understanding of foundational electronic components and their direct application in Arduino-based robotics.</a:t>
            </a:r>
            <a:endParaRPr b="0" sz="1350">
              <a:solidFill>
                <a:srgbClr val="045A36"/>
              </a:solidFill>
              <a:latin typeface="Inter SemiBold"/>
              <a:ea typeface="Inter SemiBold"/>
              <a:cs typeface="Inter SemiBold"/>
              <a:sym typeface="Inter SemiBold"/>
            </a:endParaRPr>
          </a:p>
        </p:txBody>
      </p:sp>
      <p:grpSp>
        <p:nvGrpSpPr>
          <p:cNvPr id="78" name="Google Shape;78;p15"/>
          <p:cNvGrpSpPr/>
          <p:nvPr/>
        </p:nvGrpSpPr>
        <p:grpSpPr>
          <a:xfrm>
            <a:off x="762000" y="2047875"/>
            <a:ext cx="6667650" cy="523800"/>
            <a:chOff x="0" y="0"/>
            <a:chExt cx="6667650" cy="523800"/>
          </a:xfrm>
        </p:grpSpPr>
        <p:grpSp>
          <p:nvGrpSpPr>
            <p:cNvPr id="79" name="Google Shape;79;p15"/>
            <p:cNvGrpSpPr/>
            <p:nvPr/>
          </p:nvGrpSpPr>
          <p:grpSpPr>
            <a:xfrm>
              <a:off x="0" y="19050"/>
              <a:ext cx="190500" cy="190500"/>
              <a:chOff x="0" y="0"/>
              <a:chExt cx="190500" cy="190500"/>
            </a:xfrm>
          </p:grpSpPr>
          <p:sp>
            <p:nvSpPr>
              <p:cNvPr id="80" name="Google Shape;80;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 name="Google Shape;81;p15"/>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2" name="Google Shape;82;p15"/>
            <p:cNvSpPr txBox="1"/>
            <p:nvPr/>
          </p:nvSpPr>
          <p:spPr>
            <a:xfrm>
              <a:off x="285750" y="0"/>
              <a:ext cx="63819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63">
                  <a:solidFill>
                    <a:srgbClr val="045A36"/>
                  </a:solidFill>
                  <a:latin typeface="Inter"/>
                  <a:ea typeface="Inter"/>
                  <a:cs typeface="Inter"/>
                  <a:sym typeface="Inter"/>
                </a:rPr>
                <a:t>Component Classification:</a:t>
              </a:r>
              <a:r>
                <a:rPr b="0" lang="en" sz="1063">
                  <a:solidFill>
                    <a:srgbClr val="374151"/>
                  </a:solidFill>
                  <a:latin typeface="Inter"/>
                  <a:ea typeface="Inter"/>
                  <a:cs typeface="Inter"/>
                  <a:sym typeface="Inter"/>
                </a:rPr>
                <a:t> Accurately distinguish between passive components (resistors, capacitors, inductors) and active components (diodes, transistors, integrated circuits) within a schematic.</a:t>
              </a:r>
              <a:endParaRPr b="0" sz="1063">
                <a:solidFill>
                  <a:srgbClr val="374151"/>
                </a:solidFill>
                <a:latin typeface="Inter"/>
                <a:ea typeface="Inter"/>
                <a:cs typeface="Inter"/>
                <a:sym typeface="Inter"/>
              </a:endParaRPr>
            </a:p>
          </p:txBody>
        </p:sp>
      </p:grpSp>
      <p:grpSp>
        <p:nvGrpSpPr>
          <p:cNvPr id="83" name="Google Shape;83;p15"/>
          <p:cNvGrpSpPr/>
          <p:nvPr/>
        </p:nvGrpSpPr>
        <p:grpSpPr>
          <a:xfrm>
            <a:off x="762000" y="2667000"/>
            <a:ext cx="6667650" cy="523800"/>
            <a:chOff x="0" y="0"/>
            <a:chExt cx="6667650" cy="523800"/>
          </a:xfrm>
        </p:grpSpPr>
        <p:grpSp>
          <p:nvGrpSpPr>
            <p:cNvPr id="84" name="Google Shape;84;p15"/>
            <p:cNvGrpSpPr/>
            <p:nvPr/>
          </p:nvGrpSpPr>
          <p:grpSpPr>
            <a:xfrm>
              <a:off x="0" y="19050"/>
              <a:ext cx="190500" cy="190500"/>
              <a:chOff x="0" y="0"/>
              <a:chExt cx="190500" cy="190500"/>
            </a:xfrm>
          </p:grpSpPr>
          <p:sp>
            <p:nvSpPr>
              <p:cNvPr id="85" name="Google Shape;85;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15"/>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7" name="Google Shape;87;p15"/>
            <p:cNvSpPr txBox="1"/>
            <p:nvPr/>
          </p:nvSpPr>
          <p:spPr>
            <a:xfrm>
              <a:off x="285750" y="0"/>
              <a:ext cx="63819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63">
                  <a:solidFill>
                    <a:srgbClr val="045A36"/>
                  </a:solidFill>
                  <a:latin typeface="Inter"/>
                  <a:ea typeface="Inter"/>
                  <a:cs typeface="Inter"/>
                  <a:sym typeface="Inter"/>
                </a:rPr>
                <a:t>Operational Principles:</a:t>
              </a:r>
              <a:r>
                <a:rPr b="0" lang="en" sz="1063">
                  <a:solidFill>
                    <a:srgbClr val="374151"/>
                  </a:solidFill>
                  <a:latin typeface="Inter"/>
                  <a:ea typeface="Inter"/>
                  <a:cs typeface="Inter"/>
                  <a:sym typeface="Inter"/>
                </a:rPr>
                <a:t> Articulate the precise mechanics of energy storage in both electric fields (capacitance) and magnetic fields (inductance), including transient charging and discharging behaviors.</a:t>
              </a:r>
              <a:endParaRPr b="0" sz="1063">
                <a:solidFill>
                  <a:srgbClr val="374151"/>
                </a:solidFill>
                <a:latin typeface="Inter"/>
                <a:ea typeface="Inter"/>
                <a:cs typeface="Inter"/>
                <a:sym typeface="Inter"/>
              </a:endParaRPr>
            </a:p>
          </p:txBody>
        </p:sp>
      </p:grpSp>
      <p:grpSp>
        <p:nvGrpSpPr>
          <p:cNvPr id="88" name="Google Shape;88;p15"/>
          <p:cNvGrpSpPr/>
          <p:nvPr/>
        </p:nvGrpSpPr>
        <p:grpSpPr>
          <a:xfrm>
            <a:off x="762000" y="3286125"/>
            <a:ext cx="6667650" cy="523800"/>
            <a:chOff x="0" y="0"/>
            <a:chExt cx="6667650" cy="523800"/>
          </a:xfrm>
        </p:grpSpPr>
        <p:grpSp>
          <p:nvGrpSpPr>
            <p:cNvPr id="89" name="Google Shape;89;p15"/>
            <p:cNvGrpSpPr/>
            <p:nvPr/>
          </p:nvGrpSpPr>
          <p:grpSpPr>
            <a:xfrm>
              <a:off x="0" y="19050"/>
              <a:ext cx="190500" cy="190500"/>
              <a:chOff x="0" y="0"/>
              <a:chExt cx="190500" cy="190500"/>
            </a:xfrm>
          </p:grpSpPr>
          <p:sp>
            <p:nvSpPr>
              <p:cNvPr id="90" name="Google Shape;90;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15"/>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2" name="Google Shape;92;p15"/>
            <p:cNvSpPr txBox="1"/>
            <p:nvPr/>
          </p:nvSpPr>
          <p:spPr>
            <a:xfrm>
              <a:off x="285750" y="0"/>
              <a:ext cx="63819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63">
                  <a:solidFill>
                    <a:srgbClr val="045A36"/>
                  </a:solidFill>
                  <a:latin typeface="Inter"/>
                  <a:ea typeface="Inter"/>
                  <a:cs typeface="Inter"/>
                  <a:sym typeface="Inter"/>
                </a:rPr>
                <a:t>Semiconductor Fundamentals:</a:t>
              </a:r>
              <a:r>
                <a:rPr b="0" lang="en" sz="1063">
                  <a:solidFill>
                    <a:srgbClr val="374151"/>
                  </a:solidFill>
                  <a:latin typeface="Inter"/>
                  <a:ea typeface="Inter"/>
                  <a:cs typeface="Inter"/>
                  <a:sym typeface="Inter"/>
                </a:rPr>
                <a:t> Analyze diode and LED characteristics, specifically identifying forward bias conditions, reverse bias blocking, and breakdown voltage thresholds.</a:t>
              </a:r>
              <a:endParaRPr b="0" sz="1063">
                <a:solidFill>
                  <a:srgbClr val="374151"/>
                </a:solidFill>
                <a:latin typeface="Inter"/>
                <a:ea typeface="Inter"/>
                <a:cs typeface="Inter"/>
                <a:sym typeface="Inter"/>
              </a:endParaRPr>
            </a:p>
          </p:txBody>
        </p:sp>
      </p:grpSp>
      <p:grpSp>
        <p:nvGrpSpPr>
          <p:cNvPr id="93" name="Google Shape;93;p15"/>
          <p:cNvGrpSpPr/>
          <p:nvPr/>
        </p:nvGrpSpPr>
        <p:grpSpPr>
          <a:xfrm>
            <a:off x="762000" y="3905250"/>
            <a:ext cx="6667650" cy="523800"/>
            <a:chOff x="0" y="0"/>
            <a:chExt cx="6667650" cy="523800"/>
          </a:xfrm>
        </p:grpSpPr>
        <p:grpSp>
          <p:nvGrpSpPr>
            <p:cNvPr id="94" name="Google Shape;94;p15"/>
            <p:cNvGrpSpPr/>
            <p:nvPr/>
          </p:nvGrpSpPr>
          <p:grpSpPr>
            <a:xfrm>
              <a:off x="0" y="19050"/>
              <a:ext cx="190500" cy="190500"/>
              <a:chOff x="0" y="0"/>
              <a:chExt cx="190500" cy="190500"/>
            </a:xfrm>
          </p:grpSpPr>
          <p:sp>
            <p:nvSpPr>
              <p:cNvPr id="95" name="Google Shape;95;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7" name="Google Shape;97;p15"/>
            <p:cNvSpPr txBox="1"/>
            <p:nvPr/>
          </p:nvSpPr>
          <p:spPr>
            <a:xfrm>
              <a:off x="285750" y="0"/>
              <a:ext cx="63819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63">
                  <a:solidFill>
                    <a:srgbClr val="045A36"/>
                  </a:solidFill>
                  <a:latin typeface="Inter"/>
                  <a:ea typeface="Inter"/>
                  <a:cs typeface="Inter"/>
                  <a:sym typeface="Inter"/>
                </a:rPr>
                <a:t>Mathematical Application:</a:t>
              </a:r>
              <a:r>
                <a:rPr b="0" lang="en" sz="1063">
                  <a:solidFill>
                    <a:srgbClr val="374151"/>
                  </a:solidFill>
                  <a:latin typeface="Inter"/>
                  <a:ea typeface="Inter"/>
                  <a:cs typeface="Inter"/>
                  <a:sym typeface="Inter"/>
                </a:rPr>
                <a:t> Execute accurate current limiting calculations using Ohm's Law to protect delicate semiconductor components like Light Emitting Diodes from thermal runaway.</a:t>
              </a:r>
              <a:endParaRPr b="0" sz="1063">
                <a:solidFill>
                  <a:srgbClr val="374151"/>
                </a:solidFill>
                <a:latin typeface="Inter"/>
                <a:ea typeface="Inter"/>
                <a:cs typeface="Inter"/>
                <a:sym typeface="Inter"/>
              </a:endParaRPr>
            </a:p>
          </p:txBody>
        </p:sp>
      </p:grpSp>
      <p:grpSp>
        <p:nvGrpSpPr>
          <p:cNvPr id="98" name="Google Shape;98;p15"/>
          <p:cNvGrpSpPr/>
          <p:nvPr/>
        </p:nvGrpSpPr>
        <p:grpSpPr>
          <a:xfrm>
            <a:off x="762000" y="4524375"/>
            <a:ext cx="6667650" cy="571500"/>
            <a:chOff x="0" y="0"/>
            <a:chExt cx="6667650" cy="571500"/>
          </a:xfrm>
        </p:grpSpPr>
        <p:grpSp>
          <p:nvGrpSpPr>
            <p:cNvPr id="99" name="Google Shape;99;p15"/>
            <p:cNvGrpSpPr/>
            <p:nvPr/>
          </p:nvGrpSpPr>
          <p:grpSpPr>
            <a:xfrm>
              <a:off x="0" y="19050"/>
              <a:ext cx="190500" cy="190500"/>
              <a:chOff x="0" y="0"/>
              <a:chExt cx="190500" cy="190500"/>
            </a:xfrm>
          </p:grpSpPr>
          <p:sp>
            <p:nvSpPr>
              <p:cNvPr id="100" name="Google Shape;100;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5"/>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02" name="Google Shape;102;p15"/>
            <p:cNvSpPr txBox="1"/>
            <p:nvPr/>
          </p:nvSpPr>
          <p:spPr>
            <a:xfrm>
              <a:off x="285750" y="0"/>
              <a:ext cx="63819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50">
                  <a:solidFill>
                    <a:srgbClr val="045A36"/>
                  </a:solidFill>
                  <a:latin typeface="Inter"/>
                  <a:ea typeface="Inter"/>
                  <a:cs typeface="Inter"/>
                  <a:sym typeface="Inter"/>
                </a:rPr>
                <a:t>Signal Modulation:</a:t>
              </a:r>
              <a:r>
                <a:rPr b="0" lang="en" sz="1250">
                  <a:solidFill>
                    <a:srgbClr val="374151"/>
                  </a:solidFill>
                  <a:latin typeface="Inter"/>
                  <a:ea typeface="Inter"/>
                  <a:cs typeface="Inter"/>
                  <a:sym typeface="Inter"/>
                </a:rPr>
                <a:t> Master Pulse Width Modulation (PWM) duty cycle voltage scaling to simulate analog outputs, enabling precise control over motor velocities and LED luminosity using digital microcontrollers.</a:t>
              </a:r>
              <a:endParaRPr b="0" sz="1250">
                <a:solidFill>
                  <a:srgbClr val="374151"/>
                </a:solidFill>
                <a:latin typeface="Inter"/>
                <a:ea typeface="Inter"/>
                <a:cs typeface="Inter"/>
                <a:sym typeface="Inter"/>
              </a:endParaRPr>
            </a:p>
          </p:txBody>
        </p:sp>
      </p:grpSp>
      <p:pic>
        <p:nvPicPr>
          <p:cNvPr id="103" name="Google Shape;103;p15"/>
          <p:cNvPicPr preferRelativeResize="0"/>
          <p:nvPr/>
        </p:nvPicPr>
        <p:blipFill rotWithShape="1">
          <a:blip r:embed="rId4">
            <a:alphaModFix/>
          </a:blip>
          <a:srcRect b="0" l="0" r="0" t="0"/>
          <a:stretch/>
        </p:blipFill>
        <p:spPr>
          <a:xfrm>
            <a:off x="7620000" y="2000250"/>
            <a:ext cx="3429000" cy="3429000"/>
          </a:xfrm>
          <a:prstGeom prst="rect">
            <a:avLst/>
          </a:prstGeom>
          <a:noFill/>
          <a:ln>
            <a:noFill/>
          </a:ln>
        </p:spPr>
      </p:pic>
      <p:grpSp>
        <p:nvGrpSpPr>
          <p:cNvPr id="104" name="Google Shape;104;p15"/>
          <p:cNvGrpSpPr/>
          <p:nvPr/>
        </p:nvGrpSpPr>
        <p:grpSpPr>
          <a:xfrm>
            <a:off x="762000" y="5457825"/>
            <a:ext cx="11049000" cy="1019100"/>
            <a:chOff x="762000" y="5457825"/>
            <a:chExt cx="11049000" cy="1019100"/>
          </a:xfrm>
        </p:grpSpPr>
        <p:sp>
          <p:nvSpPr>
            <p:cNvPr id="105" name="Google Shape;105;p15"/>
            <p:cNvSpPr txBox="1"/>
            <p:nvPr/>
          </p:nvSpPr>
          <p:spPr>
            <a:xfrm>
              <a:off x="762000" y="613410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Module 7: Electronics for Arduino Programming | Robotics and Automation Systems</a:t>
              </a:r>
              <a:endParaRPr b="0" sz="975">
                <a:solidFill>
                  <a:srgbClr val="6B7280"/>
                </a:solidFill>
                <a:latin typeface="Inter"/>
                <a:ea typeface="Inter"/>
                <a:cs typeface="Inter"/>
                <a:sym typeface="Inter"/>
              </a:endParaRPr>
            </a:p>
          </p:txBody>
        </p:sp>
        <p:pic>
          <p:nvPicPr>
            <p:cNvPr id="106" name="Google Shape;106;p15"/>
            <p:cNvPicPr preferRelativeResize="0"/>
            <p:nvPr/>
          </p:nvPicPr>
          <p:blipFill rotWithShape="1">
            <a:blip r:embed="rId5">
              <a:alphaModFix/>
            </a:blip>
            <a:srcRect b="0" l="0" r="0" t="0"/>
            <a:stretch/>
          </p:blipFill>
          <p:spPr>
            <a:xfrm>
              <a:off x="10287000" y="5457825"/>
              <a:ext cx="1524000" cy="1019100"/>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0" name="Shape 110"/>
        <p:cNvGrpSpPr/>
        <p:nvPr/>
      </p:nvGrpSpPr>
      <p:grpSpPr>
        <a:xfrm>
          <a:off x="0" y="0"/>
          <a:ext cx="0" cy="0"/>
          <a:chOff x="0" y="0"/>
          <a:chExt cx="0" cy="0"/>
        </a:xfrm>
      </p:grpSpPr>
      <p:grpSp>
        <p:nvGrpSpPr>
          <p:cNvPr id="111" name="Google Shape;111;p16"/>
          <p:cNvGrpSpPr/>
          <p:nvPr/>
        </p:nvGrpSpPr>
        <p:grpSpPr>
          <a:xfrm>
            <a:off x="0" y="0"/>
            <a:ext cx="12192000" cy="76350"/>
            <a:chOff x="0" y="0"/>
            <a:chExt cx="12192000" cy="76350"/>
          </a:xfrm>
        </p:grpSpPr>
        <p:sp>
          <p:nvSpPr>
            <p:cNvPr id="112" name="Google Shape;112;p16"/>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6"/>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4" name="Google Shape;114;p16"/>
          <p:cNvGrpSpPr/>
          <p:nvPr/>
        </p:nvGrpSpPr>
        <p:grpSpPr>
          <a:xfrm>
            <a:off x="762000" y="571500"/>
            <a:ext cx="10668000" cy="428700"/>
            <a:chOff x="0" y="0"/>
            <a:chExt cx="10668000" cy="428700"/>
          </a:xfrm>
        </p:grpSpPr>
        <p:sp>
          <p:nvSpPr>
            <p:cNvPr id="115" name="Google Shape;115;p16"/>
            <p:cNvSpPr/>
            <p:nvPr/>
          </p:nvSpPr>
          <p:spPr>
            <a:xfrm>
              <a:off x="0" y="0"/>
              <a:ext cx="10668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6"/>
            <p:cNvSpPr txBox="1"/>
            <p:nvPr/>
          </p:nvSpPr>
          <p:spPr>
            <a:xfrm>
              <a:off x="0" y="0"/>
              <a:ext cx="10668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Electronics in Robotics</a:t>
              </a:r>
              <a:endParaRPr b="0" sz="2700">
                <a:solidFill>
                  <a:srgbClr val="045A36"/>
                </a:solidFill>
                <a:latin typeface="Montserrat SemiBold"/>
                <a:ea typeface="Montserrat SemiBold"/>
                <a:cs typeface="Montserrat SemiBold"/>
                <a:sym typeface="Montserrat SemiBold"/>
              </a:endParaRPr>
            </a:p>
          </p:txBody>
        </p:sp>
      </p:grpSp>
      <p:sp>
        <p:nvSpPr>
          <p:cNvPr id="117" name="Google Shape;117;p16"/>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18" name="Google Shape;118;p16"/>
          <p:cNvPicPr preferRelativeResize="0"/>
          <p:nvPr/>
        </p:nvPicPr>
        <p:blipFill rotWithShape="1">
          <a:blip r:embed="rId4">
            <a:alphaModFix/>
          </a:blip>
          <a:srcRect b="0" l="3332" r="3332" t="0"/>
          <a:stretch/>
        </p:blipFill>
        <p:spPr>
          <a:xfrm>
            <a:off x="762000" y="1428750"/>
            <a:ext cx="4762500" cy="3810000"/>
          </a:xfrm>
          <a:prstGeom prst="roundRect">
            <a:avLst>
              <a:gd fmla="val 3000" name="adj"/>
            </a:avLst>
          </a:prstGeom>
          <a:noFill/>
          <a:ln>
            <a:noFill/>
          </a:ln>
        </p:spPr>
      </p:pic>
      <p:grpSp>
        <p:nvGrpSpPr>
          <p:cNvPr id="119" name="Google Shape;119;p16"/>
          <p:cNvGrpSpPr/>
          <p:nvPr/>
        </p:nvGrpSpPr>
        <p:grpSpPr>
          <a:xfrm>
            <a:off x="6096000" y="1428750"/>
            <a:ext cx="5334000" cy="3876750"/>
            <a:chOff x="6096000" y="1428750"/>
            <a:chExt cx="5334000" cy="3876750"/>
          </a:xfrm>
        </p:grpSpPr>
        <p:sp>
          <p:nvSpPr>
            <p:cNvPr id="120" name="Google Shape;120;p16"/>
            <p:cNvSpPr txBox="1"/>
            <p:nvPr/>
          </p:nvSpPr>
          <p:spPr>
            <a:xfrm>
              <a:off x="6096000" y="1428750"/>
              <a:ext cx="53340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D4A017"/>
                  </a:solidFill>
                  <a:latin typeface="Inter"/>
                  <a:ea typeface="Inter"/>
                  <a:cs typeface="Inter"/>
                  <a:sym typeface="Inter"/>
                </a:rPr>
                <a:t>The Nervous System of Robotics</a:t>
              </a:r>
              <a:endParaRPr b="1" sz="1600">
                <a:solidFill>
                  <a:srgbClr val="D4A017"/>
                </a:solidFill>
                <a:latin typeface="Inter"/>
                <a:ea typeface="Inter"/>
                <a:cs typeface="Inter"/>
                <a:sym typeface="Inter"/>
              </a:endParaRPr>
            </a:p>
          </p:txBody>
        </p:sp>
        <p:sp>
          <p:nvSpPr>
            <p:cNvPr id="121" name="Google Shape;121;p16"/>
            <p:cNvSpPr/>
            <p:nvPr/>
          </p:nvSpPr>
          <p:spPr>
            <a:xfrm>
              <a:off x="6096000" y="1857375"/>
              <a:ext cx="762000" cy="381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6"/>
            <p:cNvSpPr txBox="1"/>
            <p:nvPr/>
          </p:nvSpPr>
          <p:spPr>
            <a:xfrm>
              <a:off x="6096000" y="2019300"/>
              <a:ext cx="5334000" cy="328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64">
                  <a:solidFill>
                    <a:srgbClr val="1F2937"/>
                  </a:solidFill>
                  <a:latin typeface="Inter Medium"/>
                  <a:ea typeface="Inter Medium"/>
                  <a:cs typeface="Inter Medium"/>
                  <a:sym typeface="Inter Medium"/>
                </a:rPr>
                <a:t>Electronics form the critical bridge between the computational logic of an Arduino (the brain) and the physical environment. While software dictates the 'decision-making' process, electronic components act as the nervous system, translating digital commands into physical actions and converting environmental stimuli into readable data.</a:t>
              </a:r>
              <a:endParaRPr b="0" sz="1064">
                <a:solidFill>
                  <a:srgbClr val="1F2937"/>
                </a:solidFill>
                <a:latin typeface="Inter Medium"/>
                <a:ea typeface="Inter Medium"/>
                <a:cs typeface="Inter Medium"/>
                <a:sym typeface="Inter Medium"/>
              </a:endParaRPr>
            </a:p>
            <a:p>
              <a:pPr indent="-293211" lvl="0" marL="457200" rtl="0" algn="l">
                <a:spcBef>
                  <a:spcPts val="1125"/>
                </a:spcBef>
                <a:spcAft>
                  <a:spcPts val="0"/>
                </a:spcAft>
                <a:buClr>
                  <a:srgbClr val="374151"/>
                </a:buClr>
                <a:buSzPts val="1018"/>
                <a:buFont typeface="Inter"/>
                <a:buChar char="●"/>
              </a:pPr>
              <a:r>
                <a:rPr b="0" lang="en" sz="1018">
                  <a:solidFill>
                    <a:srgbClr val="045A36"/>
                  </a:solidFill>
                  <a:latin typeface="Inter SemiBold"/>
                  <a:ea typeface="Inter SemiBold"/>
                  <a:cs typeface="Inter SemiBold"/>
                  <a:sym typeface="Inter SemiBold"/>
                </a:rPr>
                <a:t>The Role of Electronics:</a:t>
              </a:r>
              <a:r>
                <a:rPr lang="en" sz="1018">
                  <a:solidFill>
                    <a:srgbClr val="374151"/>
                  </a:solidFill>
                  <a:latin typeface="Inter"/>
                  <a:ea typeface="Inter"/>
                  <a:cs typeface="Inter"/>
                  <a:sym typeface="Inter"/>
                </a:rPr>
                <a:t> In robotics, electronic circuits are essential for sensor interfacing (reading environmental variables like light, temperature, and distance) and power actuation (driving motors, relays, and displays).</a:t>
              </a:r>
              <a:endParaRPr sz="1018">
                <a:solidFill>
                  <a:srgbClr val="374151"/>
                </a:solidFill>
                <a:latin typeface="Inter"/>
                <a:ea typeface="Inter"/>
                <a:cs typeface="Inter"/>
                <a:sym typeface="Inter"/>
              </a:endParaRPr>
            </a:p>
            <a:p>
              <a:pPr indent="-293211" lvl="0" marL="457200" rtl="0" algn="l">
                <a:spcBef>
                  <a:spcPts val="900"/>
                </a:spcBef>
                <a:spcAft>
                  <a:spcPts val="0"/>
                </a:spcAft>
                <a:buClr>
                  <a:srgbClr val="374151"/>
                </a:buClr>
                <a:buSzPts val="1018"/>
                <a:buFont typeface="Inter"/>
                <a:buChar char="●"/>
              </a:pPr>
              <a:r>
                <a:rPr b="0" lang="en" sz="1018">
                  <a:solidFill>
                    <a:srgbClr val="045A36"/>
                  </a:solidFill>
                  <a:latin typeface="Inter SemiBold"/>
                  <a:ea typeface="Inter SemiBold"/>
                  <a:cs typeface="Inter SemiBold"/>
                  <a:sym typeface="Inter SemiBold"/>
                </a:rPr>
                <a:t>Bridging Software and Hardware:</a:t>
              </a:r>
              <a:r>
                <a:rPr lang="en" sz="1018">
                  <a:solidFill>
                    <a:srgbClr val="374151"/>
                  </a:solidFill>
                  <a:latin typeface="Inter"/>
                  <a:ea typeface="Inter"/>
                  <a:cs typeface="Inter"/>
                  <a:sym typeface="Inter"/>
                </a:rPr>
                <a:t> An Arduino pin outputting a 'HIGH' signal is merely a 5-volt electrical potential. Without understanding how that voltage interacts with physical components, you cannot safely drive a motor or read an analog sensor.</a:t>
              </a:r>
              <a:endParaRPr sz="1018">
                <a:solidFill>
                  <a:srgbClr val="374151"/>
                </a:solidFill>
                <a:latin typeface="Inter"/>
                <a:ea typeface="Inter"/>
                <a:cs typeface="Inter"/>
                <a:sym typeface="Inter"/>
              </a:endParaRPr>
            </a:p>
            <a:p>
              <a:pPr indent="-293211" lvl="0" marL="457200" rtl="0" algn="l">
                <a:spcBef>
                  <a:spcPts val="900"/>
                </a:spcBef>
                <a:spcAft>
                  <a:spcPts val="0"/>
                </a:spcAft>
                <a:buClr>
                  <a:srgbClr val="374151"/>
                </a:buClr>
                <a:buSzPts val="1018"/>
                <a:buFont typeface="Inter"/>
                <a:buChar char="●"/>
              </a:pPr>
              <a:r>
                <a:rPr b="0" lang="en" sz="1018">
                  <a:solidFill>
                    <a:srgbClr val="045A36"/>
                  </a:solidFill>
                  <a:latin typeface="Inter SemiBold"/>
                  <a:ea typeface="Inter SemiBold"/>
                  <a:cs typeface="Inter SemiBold"/>
                  <a:sym typeface="Inter SemiBold"/>
                </a:rPr>
                <a:t>Component Interdependence:</a:t>
              </a:r>
              <a:r>
                <a:rPr lang="en" sz="1018">
                  <a:solidFill>
                    <a:srgbClr val="374151"/>
                  </a:solidFill>
                  <a:latin typeface="Inter"/>
                  <a:ea typeface="Inter"/>
                  <a:cs typeface="Inter"/>
                  <a:sym typeface="Inter"/>
                </a:rPr>
                <a:t> We rely on passive components to filter noise and stabilize power, while active components switch and route high-current loads safely. Mastering this interplay prevents catastrophic hardware failures, such as burning out microcontroller pins due to excessive current draw or inductive voltage spikes.</a:t>
              </a:r>
              <a:endParaRPr sz="1018">
                <a:solidFill>
                  <a:srgbClr val="374151"/>
                </a:solidFill>
                <a:latin typeface="Inter"/>
                <a:ea typeface="Inter"/>
                <a:cs typeface="Inter"/>
                <a:sym typeface="Inter"/>
              </a:endParaRPr>
            </a:p>
          </p:txBody>
        </p:sp>
      </p:grpSp>
      <p:grpSp>
        <p:nvGrpSpPr>
          <p:cNvPr id="123" name="Google Shape;123;p16"/>
          <p:cNvGrpSpPr/>
          <p:nvPr/>
        </p:nvGrpSpPr>
        <p:grpSpPr>
          <a:xfrm>
            <a:off x="762000" y="6134100"/>
            <a:ext cx="4762500" cy="190500"/>
            <a:chOff x="0" y="0"/>
            <a:chExt cx="4762500" cy="190500"/>
          </a:xfrm>
        </p:grpSpPr>
        <p:sp>
          <p:nvSpPr>
            <p:cNvPr id="124" name="Google Shape;124;p16"/>
            <p:cNvSpPr/>
            <p:nvPr/>
          </p:nvSpPr>
          <p:spPr>
            <a:xfrm>
              <a:off x="0" y="0"/>
              <a:ext cx="47625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16"/>
            <p:cNvSpPr txBox="1"/>
            <p:nvPr/>
          </p:nvSpPr>
          <p:spPr>
            <a:xfrm>
              <a:off x="0" y="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of Electronics | Robotics and Automation Systems</a:t>
              </a:r>
              <a:endParaRPr b="0" sz="975">
                <a:solidFill>
                  <a:srgbClr val="6B7280"/>
                </a:solidFill>
                <a:latin typeface="Inter"/>
                <a:ea typeface="Inter"/>
                <a:cs typeface="Inter"/>
                <a:sym typeface="Inter"/>
              </a:endParaRPr>
            </a:p>
          </p:txBody>
        </p:sp>
      </p:grpSp>
      <p:pic>
        <p:nvPicPr>
          <p:cNvPr id="126" name="Google Shape;126;p16"/>
          <p:cNvPicPr preferRelativeResize="0"/>
          <p:nvPr/>
        </p:nvPicPr>
        <p:blipFill rotWithShape="1">
          <a:blip r:embed="rId5">
            <a:alphaModFix/>
          </a:blip>
          <a:srcRect b="0" l="0" r="0" t="0"/>
          <a:stretch/>
        </p:blipFill>
        <p:spPr>
          <a:xfrm>
            <a:off x="10287000" y="5457825"/>
            <a:ext cx="1524000" cy="1019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 name="Shape 130"/>
        <p:cNvGrpSpPr/>
        <p:nvPr/>
      </p:nvGrpSpPr>
      <p:grpSpPr>
        <a:xfrm>
          <a:off x="0" y="0"/>
          <a:ext cx="0" cy="0"/>
          <a:chOff x="0" y="0"/>
          <a:chExt cx="0" cy="0"/>
        </a:xfrm>
      </p:grpSpPr>
      <p:grpSp>
        <p:nvGrpSpPr>
          <p:cNvPr id="131" name="Google Shape;131;p17"/>
          <p:cNvGrpSpPr/>
          <p:nvPr/>
        </p:nvGrpSpPr>
        <p:grpSpPr>
          <a:xfrm>
            <a:off x="0" y="0"/>
            <a:ext cx="12192000" cy="76350"/>
            <a:chOff x="0" y="0"/>
            <a:chExt cx="12192000" cy="76350"/>
          </a:xfrm>
        </p:grpSpPr>
        <p:sp>
          <p:nvSpPr>
            <p:cNvPr id="132" name="Google Shape;132;p17"/>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7"/>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34" name="Google Shape;134;p17"/>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7"/>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Introduction to Capacitors</a:t>
            </a:r>
            <a:endParaRPr b="0" sz="2700">
              <a:solidFill>
                <a:srgbClr val="045A36"/>
              </a:solidFill>
              <a:latin typeface="Montserrat SemiBold"/>
              <a:ea typeface="Montserrat SemiBold"/>
              <a:cs typeface="Montserrat SemiBold"/>
              <a:sym typeface="Montserrat SemiBold"/>
            </a:endParaRPr>
          </a:p>
        </p:txBody>
      </p:sp>
      <p:sp>
        <p:nvSpPr>
          <p:cNvPr id="136" name="Google Shape;136;p17"/>
          <p:cNvSpPr txBox="1"/>
          <p:nvPr/>
        </p:nvSpPr>
        <p:spPr>
          <a:xfrm>
            <a:off x="762000" y="1428750"/>
            <a:ext cx="4953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D4A017"/>
                </a:solidFill>
                <a:latin typeface="Inter"/>
                <a:ea typeface="Inter"/>
                <a:cs typeface="Inter"/>
                <a:sym typeface="Inter"/>
              </a:rPr>
              <a:t>1. Component Definition</a:t>
            </a:r>
            <a:endParaRPr b="1" sz="1600">
              <a:solidFill>
                <a:srgbClr val="D4A017"/>
              </a:solidFill>
              <a:latin typeface="Inter"/>
              <a:ea typeface="Inter"/>
              <a:cs typeface="Inter"/>
              <a:sym typeface="Inter"/>
            </a:endParaRPr>
          </a:p>
        </p:txBody>
      </p:sp>
      <p:sp>
        <p:nvSpPr>
          <p:cNvPr id="137" name="Google Shape;137;p17"/>
          <p:cNvSpPr/>
          <p:nvPr/>
        </p:nvSpPr>
        <p:spPr>
          <a:xfrm>
            <a:off x="762000" y="1762125"/>
            <a:ext cx="762000" cy="381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7"/>
          <p:cNvSpPr txBox="1"/>
          <p:nvPr/>
        </p:nvSpPr>
        <p:spPr>
          <a:xfrm>
            <a:off x="762000" y="1905000"/>
            <a:ext cx="4953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20">
                <a:solidFill>
                  <a:srgbClr val="374151"/>
                </a:solidFill>
                <a:latin typeface="Inter"/>
                <a:ea typeface="Inter"/>
                <a:cs typeface="Inter"/>
                <a:sym typeface="Inter"/>
              </a:rPr>
              <a:t>A </a:t>
            </a:r>
            <a:r>
              <a:rPr b="0" lang="en" sz="1020">
                <a:solidFill>
                  <a:srgbClr val="045A36"/>
                </a:solidFill>
                <a:latin typeface="Inter SemiBold"/>
                <a:ea typeface="Inter SemiBold"/>
                <a:cs typeface="Inter SemiBold"/>
                <a:sym typeface="Inter SemiBold"/>
              </a:rPr>
              <a:t>capacitor</a:t>
            </a:r>
            <a:r>
              <a:rPr b="0" lang="en" sz="1020">
                <a:solidFill>
                  <a:srgbClr val="374151"/>
                </a:solidFill>
                <a:latin typeface="Inter"/>
                <a:ea typeface="Inter"/>
                <a:cs typeface="Inter"/>
                <a:sym typeface="Inter"/>
              </a:rPr>
              <a:t> is a fundamental passive electrical component specifically designed to store and release electrical energy.</a:t>
            </a:r>
            <a:endParaRPr b="0" sz="1020">
              <a:solidFill>
                <a:srgbClr val="374151"/>
              </a:solidFill>
              <a:latin typeface="Inter"/>
              <a:ea typeface="Inter"/>
              <a:cs typeface="Inter"/>
              <a:sym typeface="Inter"/>
            </a:endParaRPr>
          </a:p>
          <a:p>
            <a:pPr indent="0" lvl="0" marL="0" rtl="0" algn="l">
              <a:spcBef>
                <a:spcPts val="600"/>
              </a:spcBef>
              <a:spcAft>
                <a:spcPts val="0"/>
              </a:spcAft>
              <a:buNone/>
            </a:pPr>
            <a:r>
              <a:rPr b="0" lang="en" sz="1020">
                <a:solidFill>
                  <a:srgbClr val="374151"/>
                </a:solidFill>
                <a:latin typeface="Inter"/>
                <a:ea typeface="Inter"/>
                <a:cs typeface="Inter"/>
                <a:sym typeface="Inter"/>
              </a:rPr>
              <a:t>Unlike a battery that generates energy through chemical reactions, a capacitor stores energy electrostatically within an electric field established between two conductive plates separated by an insulating material known as a </a:t>
            </a:r>
            <a:r>
              <a:rPr b="0" lang="en" sz="1020">
                <a:solidFill>
                  <a:srgbClr val="045A36"/>
                </a:solidFill>
                <a:latin typeface="Inter SemiBold"/>
                <a:ea typeface="Inter SemiBold"/>
                <a:cs typeface="Inter SemiBold"/>
                <a:sym typeface="Inter SemiBold"/>
              </a:rPr>
              <a:t>dielectric</a:t>
            </a:r>
            <a:r>
              <a:rPr b="0" lang="en" sz="1020">
                <a:solidFill>
                  <a:srgbClr val="374151"/>
                </a:solidFill>
                <a:latin typeface="Inter"/>
                <a:ea typeface="Inter"/>
                <a:cs typeface="Inter"/>
                <a:sym typeface="Inter"/>
              </a:rPr>
              <a:t>.</a:t>
            </a:r>
            <a:endParaRPr b="0" sz="1020">
              <a:solidFill>
                <a:srgbClr val="374151"/>
              </a:solidFill>
              <a:latin typeface="Inter"/>
              <a:ea typeface="Inter"/>
              <a:cs typeface="Inter"/>
              <a:sym typeface="Inter"/>
            </a:endParaRPr>
          </a:p>
        </p:txBody>
      </p:sp>
      <p:sp>
        <p:nvSpPr>
          <p:cNvPr id="139" name="Google Shape;139;p17"/>
          <p:cNvSpPr txBox="1"/>
          <p:nvPr/>
        </p:nvSpPr>
        <p:spPr>
          <a:xfrm>
            <a:off x="762000" y="3095625"/>
            <a:ext cx="4953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D4A017"/>
                </a:solidFill>
                <a:latin typeface="Inter"/>
                <a:ea typeface="Inter"/>
                <a:cs typeface="Inter"/>
                <a:sym typeface="Inter"/>
              </a:rPr>
              <a:t>2. Capacitance &amp; Farad Units</a:t>
            </a:r>
            <a:endParaRPr b="1" sz="1600">
              <a:solidFill>
                <a:srgbClr val="D4A017"/>
              </a:solidFill>
              <a:latin typeface="Inter"/>
              <a:ea typeface="Inter"/>
              <a:cs typeface="Inter"/>
              <a:sym typeface="Inter"/>
            </a:endParaRPr>
          </a:p>
        </p:txBody>
      </p:sp>
      <p:sp>
        <p:nvSpPr>
          <p:cNvPr id="140" name="Google Shape;140;p17"/>
          <p:cNvSpPr/>
          <p:nvPr/>
        </p:nvSpPr>
        <p:spPr>
          <a:xfrm>
            <a:off x="762000" y="3429000"/>
            <a:ext cx="762000" cy="381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7"/>
          <p:cNvSpPr txBox="1"/>
          <p:nvPr/>
        </p:nvSpPr>
        <p:spPr>
          <a:xfrm>
            <a:off x="762000" y="3571875"/>
            <a:ext cx="49530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10">
                <a:solidFill>
                  <a:srgbClr val="374151"/>
                </a:solidFill>
                <a:latin typeface="Inter"/>
                <a:ea typeface="Inter"/>
                <a:cs typeface="Inter"/>
                <a:sym typeface="Inter"/>
              </a:rPr>
              <a:t>The capacity to store electrical charge is denoted by </a:t>
            </a:r>
            <a:r>
              <a:rPr b="0" lang="en" sz="1110">
                <a:solidFill>
                  <a:srgbClr val="045A36"/>
                </a:solidFill>
                <a:latin typeface="Inter SemiBold"/>
                <a:ea typeface="Inter SemiBold"/>
                <a:cs typeface="Inter SemiBold"/>
                <a:sym typeface="Inter SemiBold"/>
              </a:rPr>
              <a:t>Capacitance (C)</a:t>
            </a:r>
            <a:r>
              <a:rPr b="0" lang="en" sz="1110">
                <a:solidFill>
                  <a:srgbClr val="374151"/>
                </a:solidFill>
                <a:latin typeface="Inter"/>
                <a:ea typeface="Inter"/>
                <a:cs typeface="Inter"/>
                <a:sym typeface="Inter"/>
              </a:rPr>
              <a:t>. The standard unit is the </a:t>
            </a:r>
            <a:r>
              <a:rPr b="0" lang="en" sz="1110">
                <a:solidFill>
                  <a:srgbClr val="045A36"/>
                </a:solidFill>
                <a:latin typeface="Inter SemiBold"/>
                <a:ea typeface="Inter SemiBold"/>
                <a:cs typeface="Inter SemiBold"/>
                <a:sym typeface="Inter SemiBold"/>
              </a:rPr>
              <a:t>Farad (F)</a:t>
            </a:r>
            <a:r>
              <a:rPr b="0" lang="en" sz="1110">
                <a:solidFill>
                  <a:srgbClr val="374151"/>
                </a:solidFill>
                <a:latin typeface="Inter"/>
                <a:ea typeface="Inter"/>
                <a:cs typeface="Inter"/>
                <a:sym typeface="Inter"/>
              </a:rPr>
              <a:t>. Because a full Farad is an immense amount of charge, practical electronics utilize fractional units:</a:t>
            </a:r>
            <a:endParaRPr b="0" sz="1110">
              <a:solidFill>
                <a:srgbClr val="374151"/>
              </a:solidFill>
              <a:latin typeface="Inter"/>
              <a:ea typeface="Inter"/>
              <a:cs typeface="Inter"/>
              <a:sym typeface="Inter"/>
            </a:endParaRPr>
          </a:p>
          <a:p>
            <a:pPr indent="0" lvl="0" marL="0" rtl="0" algn="l">
              <a:spcBef>
                <a:spcPts val="600"/>
              </a:spcBef>
              <a:spcAft>
                <a:spcPts val="0"/>
              </a:spcAft>
              <a:buNone/>
            </a:pPr>
            <a:r>
              <a:rPr b="0" lang="en" sz="1110">
                <a:solidFill>
                  <a:srgbClr val="045A36"/>
                </a:solidFill>
                <a:latin typeface="Inter SemiBold"/>
                <a:ea typeface="Inter SemiBold"/>
                <a:cs typeface="Inter SemiBold"/>
                <a:sym typeface="Inter SemiBold"/>
              </a:rPr>
              <a:t>Microfarads (F):</a:t>
            </a:r>
            <a:r>
              <a:rPr b="0" lang="en" sz="1110">
                <a:solidFill>
                  <a:srgbClr val="374151"/>
                </a:solidFill>
                <a:latin typeface="Inter"/>
                <a:ea typeface="Inter"/>
                <a:cs typeface="Inter"/>
                <a:sym typeface="Inter"/>
              </a:rPr>
              <a:t> 1 10-6 F</a:t>
            </a:r>
            <a:endParaRPr b="0" sz="1110">
              <a:solidFill>
                <a:srgbClr val="374151"/>
              </a:solidFill>
              <a:latin typeface="Inter"/>
              <a:ea typeface="Inter"/>
              <a:cs typeface="Inter"/>
              <a:sym typeface="Inter"/>
            </a:endParaRPr>
          </a:p>
          <a:p>
            <a:pPr indent="0" lvl="0" marL="0" rtl="0" algn="l">
              <a:spcBef>
                <a:spcPts val="300"/>
              </a:spcBef>
              <a:spcAft>
                <a:spcPts val="0"/>
              </a:spcAft>
              <a:buNone/>
            </a:pPr>
            <a:r>
              <a:rPr b="0" lang="en" sz="1110">
                <a:solidFill>
                  <a:srgbClr val="045A36"/>
                </a:solidFill>
                <a:latin typeface="Inter SemiBold"/>
                <a:ea typeface="Inter SemiBold"/>
                <a:cs typeface="Inter SemiBold"/>
                <a:sym typeface="Inter SemiBold"/>
              </a:rPr>
              <a:t>Nanofarads (nF):</a:t>
            </a:r>
            <a:r>
              <a:rPr b="0" lang="en" sz="1110">
                <a:solidFill>
                  <a:srgbClr val="374151"/>
                </a:solidFill>
                <a:latin typeface="Inter"/>
                <a:ea typeface="Inter"/>
                <a:cs typeface="Inter"/>
                <a:sym typeface="Inter"/>
              </a:rPr>
              <a:t> 1 10-9 F</a:t>
            </a:r>
            <a:endParaRPr b="0" sz="1110">
              <a:solidFill>
                <a:srgbClr val="374151"/>
              </a:solidFill>
              <a:latin typeface="Inter"/>
              <a:ea typeface="Inter"/>
              <a:cs typeface="Inter"/>
              <a:sym typeface="Inter"/>
            </a:endParaRPr>
          </a:p>
          <a:p>
            <a:pPr indent="0" lvl="0" marL="0" rtl="0" algn="l">
              <a:spcBef>
                <a:spcPts val="300"/>
              </a:spcBef>
              <a:spcAft>
                <a:spcPts val="300"/>
              </a:spcAft>
              <a:buNone/>
            </a:pPr>
            <a:r>
              <a:rPr b="0" lang="en" sz="1110">
                <a:solidFill>
                  <a:srgbClr val="045A36"/>
                </a:solidFill>
                <a:latin typeface="Inter SemiBold"/>
                <a:ea typeface="Inter SemiBold"/>
                <a:cs typeface="Inter SemiBold"/>
                <a:sym typeface="Inter SemiBold"/>
              </a:rPr>
              <a:t>Picofarads (pF):</a:t>
            </a:r>
            <a:r>
              <a:rPr b="0" lang="en" sz="1110">
                <a:solidFill>
                  <a:srgbClr val="374151"/>
                </a:solidFill>
                <a:latin typeface="Inter"/>
                <a:ea typeface="Inter"/>
                <a:cs typeface="Inter"/>
                <a:sym typeface="Inter"/>
              </a:rPr>
              <a:t> 1 10-12 F</a:t>
            </a:r>
            <a:endParaRPr b="0" sz="1110">
              <a:solidFill>
                <a:srgbClr val="374151"/>
              </a:solidFill>
              <a:latin typeface="Inter"/>
              <a:ea typeface="Inter"/>
              <a:cs typeface="Inter"/>
              <a:sym typeface="Inter"/>
            </a:endParaRPr>
          </a:p>
        </p:txBody>
      </p:sp>
      <p:sp>
        <p:nvSpPr>
          <p:cNvPr id="142" name="Google Shape;142;p17"/>
          <p:cNvSpPr txBox="1"/>
          <p:nvPr/>
        </p:nvSpPr>
        <p:spPr>
          <a:xfrm>
            <a:off x="762000" y="5000625"/>
            <a:ext cx="4953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D4A017"/>
                </a:solidFill>
                <a:latin typeface="Inter"/>
                <a:ea typeface="Inter"/>
                <a:cs typeface="Inter"/>
                <a:sym typeface="Inter"/>
              </a:rPr>
              <a:t>3. Circuit Symbols &amp; Polarity</a:t>
            </a:r>
            <a:endParaRPr b="1" sz="1600">
              <a:solidFill>
                <a:srgbClr val="D4A017"/>
              </a:solidFill>
              <a:latin typeface="Inter"/>
              <a:ea typeface="Inter"/>
              <a:cs typeface="Inter"/>
              <a:sym typeface="Inter"/>
            </a:endParaRPr>
          </a:p>
        </p:txBody>
      </p:sp>
      <p:sp>
        <p:nvSpPr>
          <p:cNvPr id="143" name="Google Shape;143;p17"/>
          <p:cNvSpPr/>
          <p:nvPr/>
        </p:nvSpPr>
        <p:spPr>
          <a:xfrm>
            <a:off x="762000" y="5334000"/>
            <a:ext cx="762000" cy="381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7"/>
          <p:cNvSpPr txBox="1"/>
          <p:nvPr/>
        </p:nvSpPr>
        <p:spPr>
          <a:xfrm>
            <a:off x="762000" y="5476875"/>
            <a:ext cx="4953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64">
                <a:solidFill>
                  <a:srgbClr val="374151"/>
                </a:solidFill>
                <a:latin typeface="Inter"/>
                <a:ea typeface="Inter"/>
                <a:cs typeface="Inter"/>
                <a:sym typeface="Inter"/>
              </a:rPr>
              <a:t>Capacitors are represented by two parallel lines. </a:t>
            </a:r>
            <a:r>
              <a:rPr b="0" lang="en" sz="1064">
                <a:solidFill>
                  <a:srgbClr val="1F2937"/>
                </a:solidFill>
                <a:latin typeface="Inter SemiBold"/>
                <a:ea typeface="Inter SemiBold"/>
                <a:cs typeface="Inter SemiBold"/>
                <a:sym typeface="Inter SemiBold"/>
              </a:rPr>
              <a:t>Non-polarized capacitors</a:t>
            </a:r>
            <a:r>
              <a:rPr b="0" lang="en" sz="1064">
                <a:solidFill>
                  <a:srgbClr val="374151"/>
                </a:solidFill>
                <a:latin typeface="Inter"/>
                <a:ea typeface="Inter"/>
                <a:cs typeface="Inter"/>
                <a:sym typeface="Inter"/>
              </a:rPr>
              <a:t> (ceramic types) can be inserted in any direction. </a:t>
            </a:r>
            <a:r>
              <a:rPr b="0" lang="en" sz="1064">
                <a:solidFill>
                  <a:srgbClr val="1F2937"/>
                </a:solidFill>
                <a:latin typeface="Inter SemiBold"/>
                <a:ea typeface="Inter SemiBold"/>
                <a:cs typeface="Inter SemiBold"/>
                <a:sym typeface="Inter SemiBold"/>
              </a:rPr>
              <a:t>Polarized capacitors</a:t>
            </a:r>
            <a:r>
              <a:rPr b="0" lang="en" sz="1064">
                <a:solidFill>
                  <a:srgbClr val="374151"/>
                </a:solidFill>
                <a:latin typeface="Inter"/>
                <a:ea typeface="Inter"/>
                <a:cs typeface="Inter"/>
                <a:sym typeface="Inter"/>
              </a:rPr>
              <a:t> (electrolytic types) feature one straight line (positive) and one curved line (negative) and must be connected with correct polarity to prevent explosion.</a:t>
            </a:r>
            <a:endParaRPr b="0" sz="1064">
              <a:solidFill>
                <a:srgbClr val="374151"/>
              </a:solidFill>
              <a:latin typeface="Inter"/>
              <a:ea typeface="Inter"/>
              <a:cs typeface="Inter"/>
              <a:sym typeface="Inter"/>
            </a:endParaRPr>
          </a:p>
        </p:txBody>
      </p:sp>
      <p:sp>
        <p:nvSpPr>
          <p:cNvPr id="145" name="Google Shape;145;p17"/>
          <p:cNvSpPr/>
          <p:nvPr/>
        </p:nvSpPr>
        <p:spPr>
          <a:xfrm>
            <a:off x="6096000" y="1524000"/>
            <a:ext cx="19200" cy="36195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7"/>
          <p:cNvSpPr/>
          <p:nvPr/>
        </p:nvSpPr>
        <p:spPr>
          <a:xfrm>
            <a:off x="6477000" y="1524000"/>
            <a:ext cx="4953000" cy="3524400"/>
          </a:xfrm>
          <a:prstGeom prst="roundRect">
            <a:avLst>
              <a:gd fmla="val 216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47" name="Google Shape;147;p17"/>
          <p:cNvPicPr preferRelativeResize="0"/>
          <p:nvPr/>
        </p:nvPicPr>
        <p:blipFill rotWithShape="1">
          <a:blip r:embed="rId4">
            <a:alphaModFix/>
          </a:blip>
          <a:srcRect b="0" l="0" r="0" t="0"/>
          <a:stretch/>
        </p:blipFill>
        <p:spPr>
          <a:xfrm>
            <a:off x="7286625" y="1619250"/>
            <a:ext cx="3333900" cy="3333900"/>
          </a:xfrm>
          <a:prstGeom prst="rect">
            <a:avLst/>
          </a:prstGeom>
          <a:noFill/>
          <a:ln>
            <a:noFill/>
          </a:ln>
        </p:spPr>
      </p:pic>
      <p:sp>
        <p:nvSpPr>
          <p:cNvPr id="148" name="Google Shape;148;p17"/>
          <p:cNvSpPr/>
          <p:nvPr/>
        </p:nvSpPr>
        <p:spPr>
          <a:xfrm>
            <a:off x="6477000" y="5238750"/>
            <a:ext cx="3619500" cy="619200"/>
          </a:xfrm>
          <a:prstGeom prst="roundRect">
            <a:avLst>
              <a:gd fmla="val 6153" name="adj"/>
            </a:avLst>
          </a:prstGeom>
          <a:solidFill>
            <a:srgbClr val="FEF3C7"/>
          </a:solidFill>
          <a:ln cap="flat" cmpd="sng" w="9525">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17"/>
          <p:cNvSpPr txBox="1"/>
          <p:nvPr/>
        </p:nvSpPr>
        <p:spPr>
          <a:xfrm>
            <a:off x="6619875" y="5286375"/>
            <a:ext cx="33339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B45309"/>
                </a:solidFill>
                <a:latin typeface="Inter"/>
                <a:ea typeface="Inter"/>
                <a:cs typeface="Inter"/>
                <a:sym typeface="Inter"/>
              </a:rPr>
              <a:t>Arduino Note:</a:t>
            </a:r>
            <a:r>
              <a:rPr b="0" lang="en" sz="1100">
                <a:solidFill>
                  <a:srgbClr val="78350F"/>
                </a:solidFill>
                <a:latin typeface="Inter"/>
                <a:ea typeface="Inter"/>
                <a:cs typeface="Inter"/>
                <a:sym typeface="Inter"/>
              </a:rPr>
              <a:t> Typical capacitor values used in Arduino circuits range from </a:t>
            </a:r>
            <a:r>
              <a:rPr b="1" lang="en" sz="1100">
                <a:solidFill>
                  <a:srgbClr val="78350F"/>
                </a:solidFill>
                <a:latin typeface="Inter"/>
                <a:ea typeface="Inter"/>
                <a:cs typeface="Inter"/>
                <a:sym typeface="Inter"/>
              </a:rPr>
              <a:t>1 pF to 1000 F</a:t>
            </a:r>
            <a:r>
              <a:rPr b="0" lang="en" sz="1100">
                <a:solidFill>
                  <a:srgbClr val="78350F"/>
                </a:solidFill>
                <a:latin typeface="Inter"/>
                <a:ea typeface="Inter"/>
                <a:cs typeface="Inter"/>
                <a:sym typeface="Inter"/>
              </a:rPr>
              <a:t>.</a:t>
            </a:r>
            <a:endParaRPr b="0" sz="1100">
              <a:solidFill>
                <a:srgbClr val="78350F"/>
              </a:solidFill>
              <a:latin typeface="Inter"/>
              <a:ea typeface="Inter"/>
              <a:cs typeface="Inter"/>
              <a:sym typeface="Inter"/>
            </a:endParaRPr>
          </a:p>
        </p:txBody>
      </p:sp>
      <p:sp>
        <p:nvSpPr>
          <p:cNvPr id="150" name="Google Shape;150;p17"/>
          <p:cNvSpPr txBox="1"/>
          <p:nvPr/>
        </p:nvSpPr>
        <p:spPr>
          <a:xfrm>
            <a:off x="762000" y="613410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Module 7: Electronics for Arduino Programming | Robotics and Automation Systems</a:t>
            </a:r>
            <a:endParaRPr b="0" sz="975">
              <a:solidFill>
                <a:srgbClr val="6B7280"/>
              </a:solidFill>
              <a:latin typeface="Inter"/>
              <a:ea typeface="Inter"/>
              <a:cs typeface="Inter"/>
              <a:sym typeface="Inter"/>
            </a:endParaRPr>
          </a:p>
        </p:txBody>
      </p:sp>
      <p:pic>
        <p:nvPicPr>
          <p:cNvPr id="151" name="Google Shape;151;p17"/>
          <p:cNvPicPr preferRelativeResize="0"/>
          <p:nvPr/>
        </p:nvPicPr>
        <p:blipFill rotWithShape="1">
          <a:blip r:embed="rId5">
            <a:alphaModFix/>
          </a:blip>
          <a:srcRect b="0" l="0" r="0" t="0"/>
          <a:stretch/>
        </p:blipFill>
        <p:spPr>
          <a:xfrm>
            <a:off x="10287000" y="5457825"/>
            <a:ext cx="1524000" cy="1019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5" name="Shape 155"/>
        <p:cNvGrpSpPr/>
        <p:nvPr/>
      </p:nvGrpSpPr>
      <p:grpSpPr>
        <a:xfrm>
          <a:off x="0" y="0"/>
          <a:ext cx="0" cy="0"/>
          <a:chOff x="0" y="0"/>
          <a:chExt cx="0" cy="0"/>
        </a:xfrm>
      </p:grpSpPr>
      <p:grpSp>
        <p:nvGrpSpPr>
          <p:cNvPr id="156" name="Google Shape;156;p18"/>
          <p:cNvGrpSpPr/>
          <p:nvPr/>
        </p:nvGrpSpPr>
        <p:grpSpPr>
          <a:xfrm>
            <a:off x="0" y="0"/>
            <a:ext cx="12192000" cy="76350"/>
            <a:chOff x="0" y="0"/>
            <a:chExt cx="12192000" cy="76350"/>
          </a:xfrm>
        </p:grpSpPr>
        <p:sp>
          <p:nvSpPr>
            <p:cNvPr id="157" name="Google Shape;157;p18"/>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18"/>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59" name="Google Shape;159;p18"/>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8"/>
          <p:cNvSpPr txBox="1"/>
          <p:nvPr/>
        </p:nvSpPr>
        <p:spPr>
          <a:xfrm>
            <a:off x="762000" y="428625"/>
            <a:ext cx="106680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200">
                <a:solidFill>
                  <a:srgbClr val="045A36"/>
                </a:solidFill>
                <a:latin typeface="Montserrat SemiBold"/>
                <a:ea typeface="Montserrat SemiBold"/>
                <a:cs typeface="Montserrat SemiBold"/>
                <a:sym typeface="Montserrat SemiBold"/>
              </a:rPr>
              <a:t>Working Principle of Capacitors: Charging, Discharging &amp; AC/DC Behavior</a:t>
            </a:r>
            <a:endParaRPr b="0" sz="2200">
              <a:solidFill>
                <a:srgbClr val="045A36"/>
              </a:solidFill>
              <a:latin typeface="Montserrat SemiBold"/>
              <a:ea typeface="Montserrat SemiBold"/>
              <a:cs typeface="Montserrat SemiBold"/>
              <a:sym typeface="Montserrat SemiBold"/>
            </a:endParaRPr>
          </a:p>
        </p:txBody>
      </p:sp>
      <p:grpSp>
        <p:nvGrpSpPr>
          <p:cNvPr id="161" name="Google Shape;161;p18"/>
          <p:cNvGrpSpPr/>
          <p:nvPr/>
        </p:nvGrpSpPr>
        <p:grpSpPr>
          <a:xfrm>
            <a:off x="762000" y="1333500"/>
            <a:ext cx="10287000" cy="2286000"/>
            <a:chOff x="0" y="0"/>
            <a:chExt cx="10287000" cy="2286000"/>
          </a:xfrm>
        </p:grpSpPr>
        <p:grpSp>
          <p:nvGrpSpPr>
            <p:cNvPr id="162" name="Google Shape;162;p18"/>
            <p:cNvGrpSpPr/>
            <p:nvPr/>
          </p:nvGrpSpPr>
          <p:grpSpPr>
            <a:xfrm>
              <a:off x="0" y="0"/>
              <a:ext cx="4572000" cy="2286000"/>
              <a:chOff x="0" y="0"/>
              <a:chExt cx="4572000" cy="2286000"/>
            </a:xfrm>
          </p:grpSpPr>
          <p:sp>
            <p:nvSpPr>
              <p:cNvPr id="163" name="Google Shape;163;p18"/>
              <p:cNvSpPr txBox="1"/>
              <p:nvPr/>
            </p:nvSpPr>
            <p:spPr>
              <a:xfrm>
                <a:off x="0" y="0"/>
                <a:ext cx="4572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800">
                    <a:solidFill>
                      <a:srgbClr val="045A36"/>
                    </a:solidFill>
                    <a:latin typeface="Inter"/>
                    <a:ea typeface="Inter"/>
                    <a:cs typeface="Inter"/>
                    <a:sym typeface="Inter"/>
                  </a:rPr>
                  <a:t>Behavior in DC Circuits</a:t>
                </a:r>
                <a:endParaRPr b="1" sz="1800">
                  <a:solidFill>
                    <a:srgbClr val="045A36"/>
                  </a:solidFill>
                  <a:latin typeface="Inter"/>
                  <a:ea typeface="Inter"/>
                  <a:cs typeface="Inter"/>
                  <a:sym typeface="Inter"/>
                </a:endParaRPr>
              </a:p>
            </p:txBody>
          </p:sp>
          <p:sp>
            <p:nvSpPr>
              <p:cNvPr id="164" name="Google Shape;164;p18"/>
              <p:cNvSpPr/>
              <p:nvPr/>
            </p:nvSpPr>
            <p:spPr>
              <a:xfrm>
                <a:off x="0" y="428625"/>
                <a:ext cx="45720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8"/>
              <p:cNvSpPr txBox="1"/>
              <p:nvPr/>
            </p:nvSpPr>
            <p:spPr>
              <a:xfrm>
                <a:off x="0" y="571500"/>
                <a:ext cx="45720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374151"/>
                    </a:solidFill>
                    <a:latin typeface="Inter"/>
                    <a:ea typeface="Inter"/>
                    <a:cs typeface="Inter"/>
                    <a:sym typeface="Inter"/>
                  </a:rPr>
                  <a:t>In a Direct Current (DC) circuit, a capacitor initially acts as a short circuit while charging.</a:t>
                </a:r>
                <a:endParaRPr b="0" sz="1200">
                  <a:solidFill>
                    <a:srgbClr val="374151"/>
                  </a:solidFill>
                  <a:latin typeface="Inter"/>
                  <a:ea typeface="Inter"/>
                  <a:cs typeface="Inter"/>
                  <a:sym typeface="Inter"/>
                </a:endParaRPr>
              </a:p>
              <a:p>
                <a:pPr indent="0" lvl="0" marL="0" rtl="0" algn="l">
                  <a:spcBef>
                    <a:spcPts val="600"/>
                  </a:spcBef>
                  <a:spcAft>
                    <a:spcPts val="0"/>
                  </a:spcAft>
                  <a:buNone/>
                </a:pPr>
                <a:r>
                  <a:rPr b="0" lang="en" sz="1200">
                    <a:solidFill>
                      <a:srgbClr val="374151"/>
                    </a:solidFill>
                    <a:latin typeface="Inter"/>
                    <a:ea typeface="Inter"/>
                    <a:cs typeface="Inter"/>
                    <a:sym typeface="Inter"/>
                  </a:rPr>
                  <a:t>Once fully charged, it acts as an open circuit, completely blocking the flow of continuous DC current.</a:t>
                </a:r>
                <a:endParaRPr b="0" sz="1200">
                  <a:solidFill>
                    <a:srgbClr val="374151"/>
                  </a:solidFill>
                  <a:latin typeface="Inter"/>
                  <a:ea typeface="Inter"/>
                  <a:cs typeface="Inter"/>
                  <a:sym typeface="Inter"/>
                </a:endParaRPr>
              </a:p>
              <a:p>
                <a:pPr indent="0" lvl="0" marL="0" rtl="0" algn="l">
                  <a:spcBef>
                    <a:spcPts val="600"/>
                  </a:spcBef>
                  <a:spcAft>
                    <a:spcPts val="0"/>
                  </a:spcAft>
                  <a:buNone/>
                </a:pPr>
                <a:r>
                  <a:rPr b="0" lang="en" sz="1200">
                    <a:solidFill>
                      <a:srgbClr val="374151"/>
                    </a:solidFill>
                    <a:latin typeface="Inter"/>
                    <a:ea typeface="Inter"/>
                    <a:cs typeface="Inter"/>
                    <a:sym typeface="Inter"/>
                  </a:rPr>
                  <a:t>This makes them excellent for isolating different stages of a circuit.</a:t>
                </a:r>
                <a:endParaRPr b="0" sz="1200">
                  <a:solidFill>
                    <a:srgbClr val="374151"/>
                  </a:solidFill>
                  <a:latin typeface="Inter"/>
                  <a:ea typeface="Inter"/>
                  <a:cs typeface="Inter"/>
                  <a:sym typeface="Inter"/>
                </a:endParaRPr>
              </a:p>
            </p:txBody>
          </p:sp>
        </p:grpSp>
        <p:sp>
          <p:nvSpPr>
            <p:cNvPr id="166" name="Google Shape;166;p18"/>
            <p:cNvSpPr/>
            <p:nvPr/>
          </p:nvSpPr>
          <p:spPr>
            <a:xfrm>
              <a:off x="5133975" y="0"/>
              <a:ext cx="19200" cy="22860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67" name="Google Shape;167;p18"/>
            <p:cNvGrpSpPr/>
            <p:nvPr/>
          </p:nvGrpSpPr>
          <p:grpSpPr>
            <a:xfrm>
              <a:off x="5715000" y="0"/>
              <a:ext cx="4572000" cy="2286000"/>
              <a:chOff x="5715000" y="0"/>
              <a:chExt cx="4572000" cy="2286000"/>
            </a:xfrm>
          </p:grpSpPr>
          <p:sp>
            <p:nvSpPr>
              <p:cNvPr id="168" name="Google Shape;168;p18"/>
              <p:cNvSpPr txBox="1"/>
              <p:nvPr/>
            </p:nvSpPr>
            <p:spPr>
              <a:xfrm>
                <a:off x="5715000" y="0"/>
                <a:ext cx="4572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800">
                    <a:solidFill>
                      <a:srgbClr val="045A36"/>
                    </a:solidFill>
                    <a:latin typeface="Inter"/>
                    <a:ea typeface="Inter"/>
                    <a:cs typeface="Inter"/>
                    <a:sym typeface="Inter"/>
                  </a:rPr>
                  <a:t>Behavior in AC Circuits</a:t>
                </a:r>
                <a:endParaRPr b="1" sz="1800">
                  <a:solidFill>
                    <a:srgbClr val="045A36"/>
                  </a:solidFill>
                  <a:latin typeface="Inter"/>
                  <a:ea typeface="Inter"/>
                  <a:cs typeface="Inter"/>
                  <a:sym typeface="Inter"/>
                </a:endParaRPr>
              </a:p>
            </p:txBody>
          </p:sp>
          <p:sp>
            <p:nvSpPr>
              <p:cNvPr id="169" name="Google Shape;169;p18"/>
              <p:cNvSpPr/>
              <p:nvPr/>
            </p:nvSpPr>
            <p:spPr>
              <a:xfrm>
                <a:off x="5715000" y="428625"/>
                <a:ext cx="45720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8"/>
              <p:cNvSpPr txBox="1"/>
              <p:nvPr/>
            </p:nvSpPr>
            <p:spPr>
              <a:xfrm>
                <a:off x="5715000" y="571500"/>
                <a:ext cx="45720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374151"/>
                    </a:solidFill>
                    <a:latin typeface="Inter"/>
                    <a:ea typeface="Inter"/>
                    <a:cs typeface="Inter"/>
                    <a:sym typeface="Inter"/>
                  </a:rPr>
                  <a:t>In Alternating Current (AC) circuits, the continuous reversal of voltage causes the capacitor to constantly charge and discharge.</a:t>
                </a:r>
                <a:endParaRPr b="0" sz="1200">
                  <a:solidFill>
                    <a:srgbClr val="374151"/>
                  </a:solidFill>
                  <a:latin typeface="Inter"/>
                  <a:ea typeface="Inter"/>
                  <a:cs typeface="Inter"/>
                  <a:sym typeface="Inter"/>
                </a:endParaRPr>
              </a:p>
              <a:p>
                <a:pPr indent="0" lvl="0" marL="0" rtl="0" algn="l">
                  <a:spcBef>
                    <a:spcPts val="900"/>
                  </a:spcBef>
                  <a:spcAft>
                    <a:spcPts val="0"/>
                  </a:spcAft>
                  <a:buNone/>
                </a:pPr>
                <a:r>
                  <a:rPr b="0" lang="en" sz="1200">
                    <a:solidFill>
                      <a:srgbClr val="374151"/>
                    </a:solidFill>
                    <a:latin typeface="Inter"/>
                    <a:ea typeface="Inter"/>
                    <a:cs typeface="Inter"/>
                    <a:sym typeface="Inter"/>
                  </a:rPr>
                  <a:t>Consequently, it appears to allow AC signals to pass through, making it ideal for filtering out high-frequency noise.</a:t>
                </a:r>
                <a:endParaRPr b="0" sz="1200">
                  <a:solidFill>
                    <a:srgbClr val="374151"/>
                  </a:solidFill>
                  <a:latin typeface="Inter"/>
                  <a:ea typeface="Inter"/>
                  <a:cs typeface="Inter"/>
                  <a:sym typeface="Inter"/>
                </a:endParaRPr>
              </a:p>
            </p:txBody>
          </p:sp>
        </p:grpSp>
      </p:grpSp>
      <p:grpSp>
        <p:nvGrpSpPr>
          <p:cNvPr id="171" name="Google Shape;171;p18"/>
          <p:cNvGrpSpPr/>
          <p:nvPr/>
        </p:nvGrpSpPr>
        <p:grpSpPr>
          <a:xfrm>
            <a:off x="762000" y="3810000"/>
            <a:ext cx="10668000" cy="1476300"/>
            <a:chOff x="762000" y="3810000"/>
            <a:chExt cx="10668000" cy="1476300"/>
          </a:xfrm>
        </p:grpSpPr>
        <p:sp>
          <p:nvSpPr>
            <p:cNvPr id="172" name="Google Shape;172;p18"/>
            <p:cNvSpPr/>
            <p:nvPr/>
          </p:nvSpPr>
          <p:spPr>
            <a:xfrm>
              <a:off x="762000" y="3810000"/>
              <a:ext cx="10668000" cy="1476300"/>
            </a:xfrm>
            <a:prstGeom prst="roundRect">
              <a:avLst>
                <a:gd fmla="val 516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8"/>
            <p:cNvSpPr/>
            <p:nvPr/>
          </p:nvSpPr>
          <p:spPr>
            <a:xfrm>
              <a:off x="762000" y="3810000"/>
              <a:ext cx="10668000" cy="573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8"/>
            <p:cNvSpPr txBox="1"/>
            <p:nvPr/>
          </p:nvSpPr>
          <p:spPr>
            <a:xfrm>
              <a:off x="1047750" y="4000500"/>
              <a:ext cx="66675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35">
                  <a:solidFill>
                    <a:srgbClr val="045A36"/>
                  </a:solidFill>
                  <a:latin typeface="Inter"/>
                  <a:ea typeface="Inter"/>
                  <a:cs typeface="Inter"/>
                  <a:sym typeface="Inter"/>
                </a:rPr>
                <a:t>Operational Mechanics &amp; Cycles</a:t>
              </a:r>
              <a:endParaRPr b="1" sz="935">
                <a:solidFill>
                  <a:srgbClr val="045A36"/>
                </a:solidFill>
                <a:latin typeface="Inter"/>
                <a:ea typeface="Inter"/>
                <a:cs typeface="Inter"/>
                <a:sym typeface="Inter"/>
              </a:endParaRPr>
            </a:p>
            <a:p>
              <a:pPr indent="0" lvl="0" marL="0" rtl="0" algn="l">
                <a:spcBef>
                  <a:spcPts val="450"/>
                </a:spcBef>
                <a:spcAft>
                  <a:spcPts val="0"/>
                </a:spcAft>
                <a:buNone/>
              </a:pPr>
              <a:r>
                <a:rPr b="0" lang="en" sz="935">
                  <a:solidFill>
                    <a:srgbClr val="374151"/>
                  </a:solidFill>
                  <a:latin typeface="Inter"/>
                  <a:ea typeface="Inter"/>
                  <a:cs typeface="Inter"/>
                  <a:sym typeface="Inter"/>
                </a:rPr>
                <a:t>The operational mechanics of a capacitor revolve around its ability to accumulate and discharge electrons rapidly. When a voltage source is applied, electrons gather on the negative plate, repelling electrons from the positive plate, storing energy in an electric field.</a:t>
              </a:r>
              <a:endParaRPr b="0" sz="935">
                <a:solidFill>
                  <a:srgbClr val="374151"/>
                </a:solidFill>
                <a:latin typeface="Inter"/>
                <a:ea typeface="Inter"/>
                <a:cs typeface="Inter"/>
                <a:sym typeface="Inter"/>
              </a:endParaRPr>
            </a:p>
            <a:p>
              <a:pPr indent="0" lvl="0" marL="0" rtl="0" algn="l">
                <a:spcBef>
                  <a:spcPts val="600"/>
                </a:spcBef>
                <a:spcAft>
                  <a:spcPts val="0"/>
                </a:spcAft>
                <a:buNone/>
              </a:pPr>
              <a:r>
                <a:rPr b="1" lang="en" sz="935">
                  <a:solidFill>
                    <a:srgbClr val="D4A017"/>
                  </a:solidFill>
                  <a:latin typeface="Inter"/>
                  <a:ea typeface="Inter"/>
                  <a:cs typeface="Inter"/>
                  <a:sym typeface="Inter"/>
                </a:rPr>
                <a:t>Charging &amp; Discharging:</a:t>
              </a:r>
              <a:r>
                <a:rPr b="0" lang="en" sz="935">
                  <a:solidFill>
                    <a:srgbClr val="374151"/>
                  </a:solidFill>
                  <a:latin typeface="Inter"/>
                  <a:ea typeface="Inter"/>
                  <a:cs typeface="Inter"/>
                  <a:sym typeface="Inter"/>
                </a:rPr>
                <a:t> A capacitor charges exponentially until its internal voltage matches the supply voltage. When the supply is removed, it discharges, acting as a temporary power source to smooth out voltage drops.</a:t>
              </a:r>
              <a:endParaRPr b="0" sz="935">
                <a:solidFill>
                  <a:srgbClr val="374151"/>
                </a:solidFill>
                <a:latin typeface="Inter"/>
                <a:ea typeface="Inter"/>
                <a:cs typeface="Inter"/>
                <a:sym typeface="Inter"/>
              </a:endParaRPr>
            </a:p>
          </p:txBody>
        </p:sp>
        <p:pic>
          <p:nvPicPr>
            <p:cNvPr id="175" name="Google Shape;175;p18"/>
            <p:cNvPicPr preferRelativeResize="0"/>
            <p:nvPr/>
          </p:nvPicPr>
          <p:blipFill rotWithShape="1">
            <a:blip r:embed="rId4">
              <a:alphaModFix/>
            </a:blip>
            <a:srcRect b="140" l="0" r="0" t="150"/>
            <a:stretch/>
          </p:blipFill>
          <p:spPr>
            <a:xfrm>
              <a:off x="8858250" y="3952875"/>
              <a:ext cx="2190900" cy="1228800"/>
            </a:xfrm>
            <a:prstGeom prst="rect">
              <a:avLst/>
            </a:prstGeom>
            <a:noFill/>
            <a:ln>
              <a:noFill/>
            </a:ln>
          </p:spPr>
        </p:pic>
        <p:sp>
          <p:nvSpPr>
            <p:cNvPr id="176" name="Google Shape;176;p18"/>
            <p:cNvSpPr/>
            <p:nvPr/>
          </p:nvSpPr>
          <p:spPr>
            <a:xfrm>
              <a:off x="8858250" y="3952875"/>
              <a:ext cx="2190900" cy="1228800"/>
            </a:xfrm>
            <a:prstGeom prst="rect">
              <a:avLst/>
            </a:prstGeom>
            <a:solidFill>
              <a:srgbClr val="000000">
                <a:alpha val="0"/>
              </a:srgbClr>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77" name="Google Shape;177;p18"/>
          <p:cNvSpPr txBox="1"/>
          <p:nvPr/>
        </p:nvSpPr>
        <p:spPr>
          <a:xfrm>
            <a:off x="762000" y="6134100"/>
            <a:ext cx="7620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Module 7: Electronics for Arduino Programming | Robotics and Automation Systems</a:t>
            </a:r>
            <a:endParaRPr b="0" sz="975">
              <a:solidFill>
                <a:srgbClr val="6B7280"/>
              </a:solidFill>
              <a:latin typeface="Inter"/>
              <a:ea typeface="Inter"/>
              <a:cs typeface="Inter"/>
              <a:sym typeface="Inter"/>
            </a:endParaRPr>
          </a:p>
        </p:txBody>
      </p:sp>
      <p:pic>
        <p:nvPicPr>
          <p:cNvPr id="178" name="Google Shape;178;p18"/>
          <p:cNvPicPr preferRelativeResize="0"/>
          <p:nvPr/>
        </p:nvPicPr>
        <p:blipFill rotWithShape="1">
          <a:blip r:embed="rId5">
            <a:alphaModFix/>
          </a:blip>
          <a:srcRect b="0" l="0" r="0" t="0"/>
          <a:stretch/>
        </p:blipFill>
        <p:spPr>
          <a:xfrm>
            <a:off x="10287000" y="5457825"/>
            <a:ext cx="1524000" cy="1019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2" name="Shape 182"/>
        <p:cNvGrpSpPr/>
        <p:nvPr/>
      </p:nvGrpSpPr>
      <p:grpSpPr>
        <a:xfrm>
          <a:off x="0" y="0"/>
          <a:ext cx="0" cy="0"/>
          <a:chOff x="0" y="0"/>
          <a:chExt cx="0" cy="0"/>
        </a:xfrm>
      </p:grpSpPr>
      <p:grpSp>
        <p:nvGrpSpPr>
          <p:cNvPr id="183" name="Google Shape;183;p19"/>
          <p:cNvGrpSpPr/>
          <p:nvPr/>
        </p:nvGrpSpPr>
        <p:grpSpPr>
          <a:xfrm>
            <a:off x="0" y="0"/>
            <a:ext cx="12192000" cy="76350"/>
            <a:chOff x="0" y="0"/>
            <a:chExt cx="12192000" cy="76350"/>
          </a:xfrm>
        </p:grpSpPr>
        <p:sp>
          <p:nvSpPr>
            <p:cNvPr id="184" name="Google Shape;184;p19"/>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19"/>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6" name="Google Shape;186;p19"/>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9"/>
          <p:cNvSpPr txBox="1"/>
          <p:nvPr/>
        </p:nvSpPr>
        <p:spPr>
          <a:xfrm>
            <a:off x="762000" y="571500"/>
            <a:ext cx="106680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98">
                <a:solidFill>
                  <a:srgbClr val="045A36"/>
                </a:solidFill>
                <a:latin typeface="Montserrat SemiBold"/>
                <a:ea typeface="Montserrat SemiBold"/>
                <a:cs typeface="Montserrat SemiBold"/>
                <a:sym typeface="Montserrat SemiBold"/>
              </a:rPr>
              <a:t>Types &amp; Practical Applications of Capacitors</a:t>
            </a:r>
            <a:endParaRPr b="0" sz="2498">
              <a:solidFill>
                <a:srgbClr val="045A36"/>
              </a:solidFill>
              <a:latin typeface="Montserrat SemiBold"/>
              <a:ea typeface="Montserrat SemiBold"/>
              <a:cs typeface="Montserrat SemiBold"/>
              <a:sym typeface="Montserrat SemiBold"/>
            </a:endParaRPr>
          </a:p>
        </p:txBody>
      </p:sp>
      <p:sp>
        <p:nvSpPr>
          <p:cNvPr id="188" name="Google Shape;188;p19"/>
          <p:cNvSpPr txBox="1"/>
          <p:nvPr/>
        </p:nvSpPr>
        <p:spPr>
          <a:xfrm>
            <a:off x="762000" y="1333500"/>
            <a:ext cx="10668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374151"/>
                </a:solidFill>
                <a:latin typeface="Inter"/>
                <a:ea typeface="Inter"/>
                <a:cs typeface="Inter"/>
                <a:sym typeface="Inter"/>
              </a:rPr>
              <a:t>Capacitors are manufactured using various dielectric materials, each suited for specific frequency ranges, voltage ratings, and environmental conditions. Selecting the correct capacitor type is critical for the stability of robotic systems.</a:t>
            </a:r>
            <a:endParaRPr b="0" sz="1150">
              <a:solidFill>
                <a:srgbClr val="374151"/>
              </a:solidFill>
              <a:latin typeface="Inter"/>
              <a:ea typeface="Inter"/>
              <a:cs typeface="Inter"/>
              <a:sym typeface="Inter"/>
            </a:endParaRPr>
          </a:p>
        </p:txBody>
      </p:sp>
      <p:grpSp>
        <p:nvGrpSpPr>
          <p:cNvPr id="189" name="Google Shape;189;p19"/>
          <p:cNvGrpSpPr/>
          <p:nvPr/>
        </p:nvGrpSpPr>
        <p:grpSpPr>
          <a:xfrm>
            <a:off x="762000" y="2047875"/>
            <a:ext cx="10668000" cy="3048000"/>
            <a:chOff x="0" y="0"/>
            <a:chExt cx="10668000" cy="3048000"/>
          </a:xfrm>
        </p:grpSpPr>
        <p:grpSp>
          <p:nvGrpSpPr>
            <p:cNvPr id="190" name="Google Shape;190;p19"/>
            <p:cNvGrpSpPr/>
            <p:nvPr/>
          </p:nvGrpSpPr>
          <p:grpSpPr>
            <a:xfrm>
              <a:off x="0" y="0"/>
              <a:ext cx="3238500" cy="3048000"/>
              <a:chOff x="0" y="0"/>
              <a:chExt cx="3238500" cy="3048000"/>
            </a:xfrm>
          </p:grpSpPr>
          <p:sp>
            <p:nvSpPr>
              <p:cNvPr id="191" name="Google Shape;191;p19"/>
              <p:cNvSpPr/>
              <p:nvPr/>
            </p:nvSpPr>
            <p:spPr>
              <a:xfrm>
                <a:off x="0" y="0"/>
                <a:ext cx="3238500" cy="3048000"/>
              </a:xfrm>
              <a:prstGeom prst="roundRect">
                <a:avLst>
                  <a:gd fmla="val 125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2" name="Google Shape;192;p19"/>
              <p:cNvPicPr preferRelativeResize="0"/>
              <p:nvPr/>
            </p:nvPicPr>
            <p:blipFill rotWithShape="1">
              <a:blip r:embed="rId4">
                <a:alphaModFix/>
              </a:blip>
              <a:srcRect b="60" l="0" r="0" t="70"/>
              <a:stretch/>
            </p:blipFill>
            <p:spPr>
              <a:xfrm>
                <a:off x="0" y="0"/>
                <a:ext cx="3238500" cy="1819200"/>
              </a:xfrm>
              <a:prstGeom prst="rect">
                <a:avLst/>
              </a:prstGeom>
              <a:noFill/>
              <a:ln>
                <a:noFill/>
              </a:ln>
            </p:spPr>
          </p:pic>
          <p:sp>
            <p:nvSpPr>
              <p:cNvPr id="193" name="Google Shape;193;p19"/>
              <p:cNvSpPr/>
              <p:nvPr/>
            </p:nvSpPr>
            <p:spPr>
              <a:xfrm>
                <a:off x="0" y="1819275"/>
                <a:ext cx="32385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9"/>
              <p:cNvSpPr txBox="1"/>
              <p:nvPr/>
            </p:nvSpPr>
            <p:spPr>
              <a:xfrm>
                <a:off x="142875" y="1924050"/>
                <a:ext cx="29529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045A36"/>
                    </a:solidFill>
                    <a:latin typeface="Inter"/>
                    <a:ea typeface="Inter"/>
                    <a:cs typeface="Inter"/>
                    <a:sym typeface="Inter"/>
                  </a:rPr>
                  <a:t>Ceramic Capacitors</a:t>
                </a:r>
                <a:endParaRPr b="1" sz="1300">
                  <a:solidFill>
                    <a:srgbClr val="045A36"/>
                  </a:solidFill>
                  <a:latin typeface="Inter"/>
                  <a:ea typeface="Inter"/>
                  <a:cs typeface="Inter"/>
                  <a:sym typeface="Inter"/>
                </a:endParaRPr>
              </a:p>
              <a:p>
                <a:pPr indent="0" lvl="0" marL="0" rtl="0" algn="l">
                  <a:spcBef>
                    <a:spcPts val="450"/>
                  </a:spcBef>
                  <a:spcAft>
                    <a:spcPts val="0"/>
                  </a:spcAft>
                  <a:buNone/>
                </a:pPr>
                <a:r>
                  <a:rPr b="0" lang="en" sz="1050">
                    <a:solidFill>
                      <a:srgbClr val="374151"/>
                    </a:solidFill>
                    <a:latin typeface="Inter"/>
                    <a:ea typeface="Inter"/>
                    <a:cs typeface="Inter"/>
                    <a:sym typeface="Inter"/>
                  </a:rPr>
                  <a:t>Extremely common, compact, and non-polarized. Typically used for high-frequency noise filtering on DC motor terminals or microcontroller power pins.</a:t>
                </a:r>
                <a:endParaRPr b="0" sz="1050">
                  <a:solidFill>
                    <a:srgbClr val="374151"/>
                  </a:solidFill>
                  <a:latin typeface="Inter"/>
                  <a:ea typeface="Inter"/>
                  <a:cs typeface="Inter"/>
                  <a:sym typeface="Inter"/>
                </a:endParaRPr>
              </a:p>
            </p:txBody>
          </p:sp>
        </p:grpSp>
        <p:grpSp>
          <p:nvGrpSpPr>
            <p:cNvPr id="195" name="Google Shape;195;p19"/>
            <p:cNvGrpSpPr/>
            <p:nvPr/>
          </p:nvGrpSpPr>
          <p:grpSpPr>
            <a:xfrm>
              <a:off x="3714750" y="0"/>
              <a:ext cx="3238500" cy="3048000"/>
              <a:chOff x="0" y="0"/>
              <a:chExt cx="3238500" cy="3048000"/>
            </a:xfrm>
          </p:grpSpPr>
          <p:sp>
            <p:nvSpPr>
              <p:cNvPr id="196" name="Google Shape;196;p19"/>
              <p:cNvSpPr/>
              <p:nvPr/>
            </p:nvSpPr>
            <p:spPr>
              <a:xfrm>
                <a:off x="0" y="0"/>
                <a:ext cx="3238500" cy="3048000"/>
              </a:xfrm>
              <a:prstGeom prst="roundRect">
                <a:avLst>
                  <a:gd fmla="val 125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7" name="Google Shape;197;p19"/>
              <p:cNvPicPr preferRelativeResize="0"/>
              <p:nvPr/>
            </p:nvPicPr>
            <p:blipFill rotWithShape="1">
              <a:blip r:embed="rId5">
                <a:alphaModFix/>
              </a:blip>
              <a:srcRect b="60" l="0" r="0" t="70"/>
              <a:stretch/>
            </p:blipFill>
            <p:spPr>
              <a:xfrm>
                <a:off x="0" y="0"/>
                <a:ext cx="3238500" cy="1819200"/>
              </a:xfrm>
              <a:prstGeom prst="rect">
                <a:avLst/>
              </a:prstGeom>
              <a:noFill/>
              <a:ln>
                <a:noFill/>
              </a:ln>
            </p:spPr>
          </p:pic>
          <p:sp>
            <p:nvSpPr>
              <p:cNvPr id="198" name="Google Shape;198;p19"/>
              <p:cNvSpPr/>
              <p:nvPr/>
            </p:nvSpPr>
            <p:spPr>
              <a:xfrm>
                <a:off x="0" y="1819275"/>
                <a:ext cx="32385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19"/>
              <p:cNvSpPr txBox="1"/>
              <p:nvPr/>
            </p:nvSpPr>
            <p:spPr>
              <a:xfrm>
                <a:off x="142875" y="1924050"/>
                <a:ext cx="29529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045A36"/>
                    </a:solidFill>
                    <a:latin typeface="Inter"/>
                    <a:ea typeface="Inter"/>
                    <a:cs typeface="Inter"/>
                    <a:sym typeface="Inter"/>
                  </a:rPr>
                  <a:t>Electrolytic Capacitors</a:t>
                </a:r>
                <a:endParaRPr b="1" sz="1300">
                  <a:solidFill>
                    <a:srgbClr val="045A36"/>
                  </a:solidFill>
                  <a:latin typeface="Inter"/>
                  <a:ea typeface="Inter"/>
                  <a:cs typeface="Inter"/>
                  <a:sym typeface="Inter"/>
                </a:endParaRPr>
              </a:p>
              <a:p>
                <a:pPr indent="0" lvl="0" marL="0" rtl="0" algn="l">
                  <a:spcBef>
                    <a:spcPts val="450"/>
                  </a:spcBef>
                  <a:spcAft>
                    <a:spcPts val="0"/>
                  </a:spcAft>
                  <a:buNone/>
                </a:pPr>
                <a:r>
                  <a:rPr b="0" lang="en" sz="1050">
                    <a:solidFill>
                      <a:srgbClr val="374151"/>
                    </a:solidFill>
                    <a:latin typeface="Inter"/>
                    <a:ea typeface="Inter"/>
                    <a:cs typeface="Inter"/>
                    <a:sym typeface="Inter"/>
                  </a:rPr>
                  <a:t>Polarized components offering much higher capacitance values. Vital for power supply smoothing, stabilizing incoming voltage, and preventing reset loops under heavy loads.</a:t>
                </a:r>
                <a:endParaRPr b="0" sz="1050">
                  <a:solidFill>
                    <a:srgbClr val="374151"/>
                  </a:solidFill>
                  <a:latin typeface="Inter"/>
                  <a:ea typeface="Inter"/>
                  <a:cs typeface="Inter"/>
                  <a:sym typeface="Inter"/>
                </a:endParaRPr>
              </a:p>
            </p:txBody>
          </p:sp>
        </p:grpSp>
        <p:grpSp>
          <p:nvGrpSpPr>
            <p:cNvPr id="200" name="Google Shape;200;p19"/>
            <p:cNvGrpSpPr/>
            <p:nvPr/>
          </p:nvGrpSpPr>
          <p:grpSpPr>
            <a:xfrm>
              <a:off x="7429500" y="0"/>
              <a:ext cx="3238500" cy="3048000"/>
              <a:chOff x="0" y="0"/>
              <a:chExt cx="3238500" cy="3048000"/>
            </a:xfrm>
          </p:grpSpPr>
          <p:sp>
            <p:nvSpPr>
              <p:cNvPr id="201" name="Google Shape;201;p19"/>
              <p:cNvSpPr/>
              <p:nvPr/>
            </p:nvSpPr>
            <p:spPr>
              <a:xfrm>
                <a:off x="0" y="0"/>
                <a:ext cx="3238500" cy="3048000"/>
              </a:xfrm>
              <a:prstGeom prst="roundRect">
                <a:avLst>
                  <a:gd fmla="val 125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6">
                <a:alphaModFix/>
              </a:blip>
              <a:srcRect b="60" l="0" r="0" t="70"/>
              <a:stretch/>
            </p:blipFill>
            <p:spPr>
              <a:xfrm>
                <a:off x="0" y="0"/>
                <a:ext cx="3238500" cy="1819200"/>
              </a:xfrm>
              <a:prstGeom prst="rect">
                <a:avLst/>
              </a:prstGeom>
              <a:noFill/>
              <a:ln>
                <a:noFill/>
              </a:ln>
            </p:spPr>
          </p:pic>
          <p:sp>
            <p:nvSpPr>
              <p:cNvPr id="203" name="Google Shape;203;p19"/>
              <p:cNvSpPr/>
              <p:nvPr/>
            </p:nvSpPr>
            <p:spPr>
              <a:xfrm>
                <a:off x="0" y="1819275"/>
                <a:ext cx="32385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19"/>
              <p:cNvSpPr txBox="1"/>
              <p:nvPr/>
            </p:nvSpPr>
            <p:spPr>
              <a:xfrm>
                <a:off x="142875" y="1924050"/>
                <a:ext cx="29529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3">
                    <a:solidFill>
                      <a:srgbClr val="045A36"/>
                    </a:solidFill>
                    <a:latin typeface="Inter"/>
                    <a:ea typeface="Inter"/>
                    <a:cs typeface="Inter"/>
                    <a:sym typeface="Inter"/>
                  </a:rPr>
                  <a:t>Tantalum &amp; Film Capacitors</a:t>
                </a:r>
                <a:endParaRPr b="1" sz="1203">
                  <a:solidFill>
                    <a:srgbClr val="045A36"/>
                  </a:solidFill>
                  <a:latin typeface="Inter"/>
                  <a:ea typeface="Inter"/>
                  <a:cs typeface="Inter"/>
                  <a:sym typeface="Inter"/>
                </a:endParaRPr>
              </a:p>
              <a:p>
                <a:pPr indent="0" lvl="0" marL="0" rtl="0" algn="l">
                  <a:spcBef>
                    <a:spcPts val="450"/>
                  </a:spcBef>
                  <a:spcAft>
                    <a:spcPts val="0"/>
                  </a:spcAft>
                  <a:buNone/>
                </a:pPr>
                <a:r>
                  <a:rPr b="0" lang="en" sz="971">
                    <a:solidFill>
                      <a:srgbClr val="374151"/>
                    </a:solidFill>
                    <a:latin typeface="Inter"/>
                    <a:ea typeface="Inter"/>
                    <a:cs typeface="Inter"/>
                    <a:sym typeface="Inter"/>
                  </a:rPr>
                  <a:t>Tantalum offers high capacitance in small footprints, ideal for compact robotics. Film capacitors provide precise capacitance values, perfect for analog timing and audio generation.</a:t>
                </a:r>
                <a:endParaRPr b="0" sz="971">
                  <a:solidFill>
                    <a:srgbClr val="374151"/>
                  </a:solidFill>
                  <a:latin typeface="Inter"/>
                  <a:ea typeface="Inter"/>
                  <a:cs typeface="Inter"/>
                  <a:sym typeface="Inter"/>
                </a:endParaRPr>
              </a:p>
            </p:txBody>
          </p:sp>
        </p:grpSp>
      </p:grpSp>
      <p:grpSp>
        <p:nvGrpSpPr>
          <p:cNvPr id="205" name="Google Shape;205;p19"/>
          <p:cNvGrpSpPr/>
          <p:nvPr/>
        </p:nvGrpSpPr>
        <p:grpSpPr>
          <a:xfrm>
            <a:off x="762000" y="5286375"/>
            <a:ext cx="9334500" cy="666900"/>
            <a:chOff x="762000" y="5286375"/>
            <a:chExt cx="9334500" cy="666900"/>
          </a:xfrm>
        </p:grpSpPr>
        <p:sp>
          <p:nvSpPr>
            <p:cNvPr id="206" name="Google Shape;206;p19"/>
            <p:cNvSpPr/>
            <p:nvPr/>
          </p:nvSpPr>
          <p:spPr>
            <a:xfrm>
              <a:off x="762000" y="5286375"/>
              <a:ext cx="9334500" cy="6669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p19"/>
            <p:cNvSpPr/>
            <p:nvPr/>
          </p:nvSpPr>
          <p:spPr>
            <a:xfrm>
              <a:off x="762000" y="5286375"/>
              <a:ext cx="57300" cy="666900"/>
            </a:xfrm>
            <a:prstGeom prst="roundRect">
              <a:avLst>
                <a:gd fmla="val 33333"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19"/>
            <p:cNvSpPr txBox="1"/>
            <p:nvPr/>
          </p:nvSpPr>
          <p:spPr>
            <a:xfrm>
              <a:off x="952500" y="5286375"/>
              <a:ext cx="1905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50">
                  <a:solidFill>
                    <a:srgbClr val="045A36"/>
                  </a:solidFill>
                  <a:latin typeface="Inter"/>
                  <a:ea typeface="Inter"/>
                  <a:cs typeface="Inter"/>
                  <a:sym typeface="Inter"/>
                </a:rPr>
                <a:t>Practical Applications</a:t>
              </a:r>
              <a:endParaRPr b="1" sz="1150">
                <a:solidFill>
                  <a:srgbClr val="045A36"/>
                </a:solidFill>
                <a:latin typeface="Inter"/>
                <a:ea typeface="Inter"/>
                <a:cs typeface="Inter"/>
                <a:sym typeface="Inter"/>
              </a:endParaRPr>
            </a:p>
          </p:txBody>
        </p:sp>
        <p:sp>
          <p:nvSpPr>
            <p:cNvPr id="209" name="Google Shape;209;p19"/>
            <p:cNvSpPr/>
            <p:nvPr/>
          </p:nvSpPr>
          <p:spPr>
            <a:xfrm>
              <a:off x="2952750" y="5381625"/>
              <a:ext cx="9600" cy="4764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19"/>
            <p:cNvSpPr txBox="1"/>
            <p:nvPr/>
          </p:nvSpPr>
          <p:spPr>
            <a:xfrm>
              <a:off x="3143250" y="5286375"/>
              <a:ext cx="67629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50">
                  <a:solidFill>
                    <a:srgbClr val="374151"/>
                  </a:solidFill>
                  <a:latin typeface="Inter"/>
                  <a:ea typeface="Inter"/>
                  <a:cs typeface="Inter"/>
                  <a:sym typeface="Inter"/>
                </a:rPr>
                <a:t>Essential for noise filtering on motors, smoothing out DC ripple in power circuits, securing stable logic states in Arduino reset circuits, and configuring hardware-based debouncing for tactile pushbuttons.</a:t>
              </a:r>
              <a:endParaRPr b="0" sz="1050">
                <a:solidFill>
                  <a:srgbClr val="374151"/>
                </a:solidFill>
                <a:latin typeface="Inter"/>
                <a:ea typeface="Inter"/>
                <a:cs typeface="Inter"/>
                <a:sym typeface="Inter"/>
              </a:endParaRPr>
            </a:p>
          </p:txBody>
        </p:sp>
      </p:grpSp>
      <p:grpSp>
        <p:nvGrpSpPr>
          <p:cNvPr id="211" name="Google Shape;211;p19"/>
          <p:cNvGrpSpPr/>
          <p:nvPr/>
        </p:nvGrpSpPr>
        <p:grpSpPr>
          <a:xfrm>
            <a:off x="762000" y="5457825"/>
            <a:ext cx="11049000" cy="1019400"/>
            <a:chOff x="762000" y="5457825"/>
            <a:chExt cx="11049000" cy="1019400"/>
          </a:xfrm>
        </p:grpSpPr>
        <p:sp>
          <p:nvSpPr>
            <p:cNvPr id="212" name="Google Shape;212;p19"/>
            <p:cNvSpPr txBox="1"/>
            <p:nvPr/>
          </p:nvSpPr>
          <p:spPr>
            <a:xfrm>
              <a:off x="762000" y="6134100"/>
              <a:ext cx="7620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Government of Sindh | University of Sindh </a:t>
              </a:r>
              <a:r>
                <a:rPr b="0" lang="en" sz="975">
                  <a:solidFill>
                    <a:srgbClr val="E2E8F0"/>
                  </a:solidFill>
                  <a:latin typeface="Inter"/>
                  <a:ea typeface="Inter"/>
                  <a:cs typeface="Inter"/>
                  <a:sym typeface="Inter"/>
                </a:rPr>
                <a:t>|</a:t>
              </a:r>
              <a:r>
                <a:rPr b="0" lang="en" sz="975">
                  <a:solidFill>
                    <a:srgbClr val="6B7280"/>
                  </a:solidFill>
                  <a:latin typeface="Inter"/>
                  <a:ea typeface="Inter"/>
                  <a:cs typeface="Inter"/>
                  <a:sym typeface="Inter"/>
                </a:rPr>
                <a:t> Module 7: Electronics for Arduino Programming</a:t>
              </a:r>
              <a:endParaRPr b="0" sz="975">
                <a:solidFill>
                  <a:srgbClr val="6B7280"/>
                </a:solidFill>
                <a:latin typeface="Inter"/>
                <a:ea typeface="Inter"/>
                <a:cs typeface="Inter"/>
                <a:sym typeface="Inter"/>
              </a:endParaRPr>
            </a:p>
          </p:txBody>
        </p:sp>
        <p:pic>
          <p:nvPicPr>
            <p:cNvPr id="213" name="Google Shape;213;p19"/>
            <p:cNvPicPr preferRelativeResize="0"/>
            <p:nvPr/>
          </p:nvPicPr>
          <p:blipFill rotWithShape="1">
            <a:blip r:embed="rId7">
              <a:alphaModFix/>
            </a:blip>
            <a:srcRect b="0" l="10" r="0" t="0"/>
            <a:stretch/>
          </p:blipFill>
          <p:spPr>
            <a:xfrm>
              <a:off x="10287000" y="5457825"/>
              <a:ext cx="1524000" cy="1019400"/>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7" name="Shape 217"/>
        <p:cNvGrpSpPr/>
        <p:nvPr/>
      </p:nvGrpSpPr>
      <p:grpSpPr>
        <a:xfrm>
          <a:off x="0" y="0"/>
          <a:ext cx="0" cy="0"/>
          <a:chOff x="0" y="0"/>
          <a:chExt cx="0" cy="0"/>
        </a:xfrm>
      </p:grpSpPr>
      <p:sp>
        <p:nvSpPr>
          <p:cNvPr id="218" name="Google Shape;218;p20"/>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20"/>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0" name="Google Shape;220;p20"/>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21" name="Google Shape;221;p20"/>
          <p:cNvGrpSpPr/>
          <p:nvPr/>
        </p:nvGrpSpPr>
        <p:grpSpPr>
          <a:xfrm>
            <a:off x="762000" y="5457825"/>
            <a:ext cx="11049000" cy="1009800"/>
            <a:chOff x="762000" y="5457825"/>
            <a:chExt cx="11049000" cy="1009800"/>
          </a:xfrm>
        </p:grpSpPr>
        <p:sp>
          <p:nvSpPr>
            <p:cNvPr id="222" name="Google Shape;222;p20"/>
            <p:cNvSpPr txBox="1"/>
            <p:nvPr/>
          </p:nvSpPr>
          <p:spPr>
            <a:xfrm>
              <a:off x="762000" y="613410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of Electronics | Robotics and Automation Systems</a:t>
              </a:r>
              <a:endParaRPr b="0" sz="975">
                <a:solidFill>
                  <a:srgbClr val="6B7280"/>
                </a:solidFill>
                <a:latin typeface="Inter"/>
                <a:ea typeface="Inter"/>
                <a:cs typeface="Inter"/>
                <a:sym typeface="Inter"/>
              </a:endParaRPr>
            </a:p>
          </p:txBody>
        </p:sp>
        <p:pic>
          <p:nvPicPr>
            <p:cNvPr id="223" name="Google Shape;223;p20"/>
            <p:cNvPicPr preferRelativeResize="0"/>
            <p:nvPr/>
          </p:nvPicPr>
          <p:blipFill rotWithShape="1">
            <a:blip r:embed="rId4">
              <a:alphaModFix/>
            </a:blip>
            <a:srcRect b="466" l="10" r="0" t="466"/>
            <a:stretch/>
          </p:blipFill>
          <p:spPr>
            <a:xfrm>
              <a:off x="10287000" y="5457825"/>
              <a:ext cx="1524000" cy="1009800"/>
            </a:xfrm>
            <a:prstGeom prst="rect">
              <a:avLst/>
            </a:prstGeom>
            <a:noFill/>
            <a:ln>
              <a:noFill/>
            </a:ln>
          </p:spPr>
        </p:pic>
      </p:grpSp>
      <p:sp>
        <p:nvSpPr>
          <p:cNvPr id="224" name="Google Shape;224;p20"/>
          <p:cNvSpPr txBox="1"/>
          <p:nvPr/>
        </p:nvSpPr>
        <p:spPr>
          <a:xfrm>
            <a:off x="762000" y="571500"/>
            <a:ext cx="9525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Introduction to Inductors</a:t>
            </a:r>
            <a:endParaRPr b="0" sz="2700">
              <a:solidFill>
                <a:srgbClr val="045A36"/>
              </a:solidFill>
              <a:latin typeface="Montserrat SemiBold"/>
              <a:ea typeface="Montserrat SemiBold"/>
              <a:cs typeface="Montserrat SemiBold"/>
              <a:sym typeface="Montserrat SemiBold"/>
            </a:endParaRPr>
          </a:p>
        </p:txBody>
      </p:sp>
      <p:grpSp>
        <p:nvGrpSpPr>
          <p:cNvPr id="225" name="Google Shape;225;p20"/>
          <p:cNvGrpSpPr/>
          <p:nvPr/>
        </p:nvGrpSpPr>
        <p:grpSpPr>
          <a:xfrm>
            <a:off x="762000" y="1333500"/>
            <a:ext cx="5143500" cy="4000500"/>
            <a:chOff x="762000" y="1333500"/>
            <a:chExt cx="5143500" cy="4000500"/>
          </a:xfrm>
        </p:grpSpPr>
        <p:sp>
          <p:nvSpPr>
            <p:cNvPr id="226" name="Google Shape;226;p20"/>
            <p:cNvSpPr/>
            <p:nvPr/>
          </p:nvSpPr>
          <p:spPr>
            <a:xfrm>
              <a:off x="762000" y="1333500"/>
              <a:ext cx="5143500" cy="4000500"/>
            </a:xfrm>
            <a:prstGeom prst="roundRect">
              <a:avLst>
                <a:gd fmla="val 190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20"/>
            <p:cNvSpPr txBox="1"/>
            <p:nvPr/>
          </p:nvSpPr>
          <p:spPr>
            <a:xfrm>
              <a:off x="1047750" y="1571625"/>
              <a:ext cx="4572000" cy="352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045A36"/>
                  </a:solidFill>
                  <a:latin typeface="Inter"/>
                  <a:ea typeface="Inter"/>
                  <a:cs typeface="Inter"/>
                  <a:sym typeface="Inter"/>
                </a:rPr>
                <a:t>Theory &amp; Operating Principles</a:t>
              </a:r>
              <a:endParaRPr b="1" sz="1350">
                <a:solidFill>
                  <a:srgbClr val="045A36"/>
                </a:solidFill>
                <a:latin typeface="Inter"/>
                <a:ea typeface="Inter"/>
                <a:cs typeface="Inter"/>
                <a:sym typeface="Inter"/>
              </a:endParaRPr>
            </a:p>
            <a:p>
              <a:pPr indent="0" lvl="0" marL="0" rtl="0" algn="l">
                <a:spcBef>
                  <a:spcPts val="750"/>
                </a:spcBef>
                <a:spcAft>
                  <a:spcPts val="0"/>
                </a:spcAft>
                <a:buNone/>
              </a:pPr>
              <a:r>
                <a:rPr b="0" lang="en" sz="1150">
                  <a:solidFill>
                    <a:srgbClr val="374151"/>
                  </a:solidFill>
                  <a:latin typeface="Inter"/>
                  <a:ea typeface="Inter"/>
                  <a:cs typeface="Inter"/>
                  <a:sym typeface="Inter"/>
                </a:rPr>
                <a:t>An inductor is a passive electronic component that stores energy in a magnetic field when electric current flows through it. Physically, it consists of an insulated wire wound into a coil, often around a magnetic core (such as iron or ferrite) to increase the inductance.</a:t>
              </a:r>
              <a:endParaRPr b="0" sz="1150">
                <a:solidFill>
                  <a:srgbClr val="374151"/>
                </a:solidFill>
                <a:latin typeface="Inter"/>
                <a:ea typeface="Inter"/>
                <a:cs typeface="Inter"/>
                <a:sym typeface="Inter"/>
              </a:endParaRPr>
            </a:p>
            <a:p>
              <a:pPr indent="-298450" lvl="0" marL="457200" rtl="0" algn="l">
                <a:spcBef>
                  <a:spcPts val="1200"/>
                </a:spcBef>
                <a:spcAft>
                  <a:spcPts val="0"/>
                </a:spcAft>
                <a:buClr>
                  <a:srgbClr val="D4A017"/>
                </a:buClr>
                <a:buSzPts val="1100"/>
                <a:buFont typeface="Inter"/>
                <a:buChar char="●"/>
              </a:pPr>
              <a:r>
                <a:rPr b="1" lang="en" sz="1100">
                  <a:solidFill>
                    <a:srgbClr val="045A36"/>
                  </a:solidFill>
                  <a:latin typeface="Inter"/>
                  <a:ea typeface="Inter"/>
                  <a:cs typeface="Inter"/>
                  <a:sym typeface="Inter"/>
                </a:rPr>
                <a:t>Understanding Inductance:</a:t>
              </a:r>
              <a:r>
                <a:rPr b="0" lang="en" sz="1100">
                  <a:solidFill>
                    <a:srgbClr val="374151"/>
                  </a:solidFill>
                  <a:latin typeface="Inter"/>
                  <a:ea typeface="Inter"/>
                  <a:cs typeface="Inter"/>
                  <a:sym typeface="Inter"/>
                </a:rPr>
                <a:t> Measured in Henries (H), named after Joseph Henry. Inductance represents a component's capacity to store energy in a magnetic field and its ability to resist changes in electric current.</a:t>
              </a:r>
              <a:endParaRPr b="0" sz="1100">
                <a:solidFill>
                  <a:srgbClr val="374151"/>
                </a:solidFill>
                <a:latin typeface="Inter"/>
                <a:ea typeface="Inter"/>
                <a:cs typeface="Inter"/>
                <a:sym typeface="Inter"/>
              </a:endParaRPr>
            </a:p>
            <a:p>
              <a:pPr indent="-298450" lvl="0" marL="457200" rtl="0" algn="l">
                <a:spcBef>
                  <a:spcPts val="1050"/>
                </a:spcBef>
                <a:spcAft>
                  <a:spcPts val="1050"/>
                </a:spcAft>
                <a:buClr>
                  <a:srgbClr val="D4A017"/>
                </a:buClr>
                <a:buSzPts val="1100"/>
                <a:buFont typeface="Inter"/>
                <a:buChar char="●"/>
              </a:pPr>
              <a:r>
                <a:rPr b="1" lang="en" sz="1100">
                  <a:solidFill>
                    <a:srgbClr val="045A36"/>
                  </a:solidFill>
                  <a:latin typeface="Inter"/>
                  <a:ea typeface="Inter"/>
                  <a:cs typeface="Inter"/>
                  <a:sym typeface="Inter"/>
                </a:rPr>
                <a:t>Coil Construction &amp; Core Impact:</a:t>
              </a:r>
              <a:r>
                <a:rPr b="0" lang="en" sz="1100">
                  <a:solidFill>
                    <a:srgbClr val="374151"/>
                  </a:solidFill>
                  <a:latin typeface="Inter"/>
                  <a:ea typeface="Inter"/>
                  <a:cs typeface="Inter"/>
                  <a:sym typeface="Inter"/>
                </a:rPr>
                <a:t> The coil structure concentrates the magnetic field lines. Adding an iron or ferrite core inside the coil significantly boosts its magnetic permeability and energy storage capacity.</a:t>
              </a:r>
              <a:endParaRPr b="0" sz="1100">
                <a:solidFill>
                  <a:srgbClr val="374151"/>
                </a:solidFill>
                <a:latin typeface="Inter"/>
                <a:ea typeface="Inter"/>
                <a:cs typeface="Inter"/>
                <a:sym typeface="Inter"/>
              </a:endParaRPr>
            </a:p>
          </p:txBody>
        </p:sp>
      </p:grpSp>
      <p:grpSp>
        <p:nvGrpSpPr>
          <p:cNvPr id="228" name="Google Shape;228;p20"/>
          <p:cNvGrpSpPr/>
          <p:nvPr/>
        </p:nvGrpSpPr>
        <p:grpSpPr>
          <a:xfrm>
            <a:off x="6286500" y="1333500"/>
            <a:ext cx="5143500" cy="2286000"/>
            <a:chOff x="6286500" y="1333500"/>
            <a:chExt cx="5143500" cy="2286000"/>
          </a:xfrm>
        </p:grpSpPr>
        <p:sp>
          <p:nvSpPr>
            <p:cNvPr id="229" name="Google Shape;229;p20"/>
            <p:cNvSpPr/>
            <p:nvPr/>
          </p:nvSpPr>
          <p:spPr>
            <a:xfrm>
              <a:off x="6286500" y="1333500"/>
              <a:ext cx="5143500" cy="22860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20"/>
            <p:cNvSpPr txBox="1"/>
            <p:nvPr/>
          </p:nvSpPr>
          <p:spPr>
            <a:xfrm>
              <a:off x="6572250" y="1524000"/>
              <a:ext cx="4572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50">
                  <a:solidFill>
                    <a:srgbClr val="045A36"/>
                  </a:solidFill>
                  <a:latin typeface="Inter"/>
                  <a:ea typeface="Inter"/>
                  <a:cs typeface="Inter"/>
                  <a:sym typeface="Inter"/>
                </a:rPr>
                <a:t>Circuit Symbols</a:t>
              </a:r>
              <a:endParaRPr b="1" sz="1350">
                <a:solidFill>
                  <a:srgbClr val="045A36"/>
                </a:solidFill>
                <a:latin typeface="Inter"/>
                <a:ea typeface="Inter"/>
                <a:cs typeface="Inter"/>
                <a:sym typeface="Inter"/>
              </a:endParaRPr>
            </a:p>
          </p:txBody>
        </p:sp>
        <p:sp>
          <p:nvSpPr>
            <p:cNvPr id="231" name="Google Shape;231;p20"/>
            <p:cNvSpPr/>
            <p:nvPr/>
          </p:nvSpPr>
          <p:spPr>
            <a:xfrm>
              <a:off x="6572250" y="1905000"/>
              <a:ext cx="2095500" cy="762000"/>
            </a:xfrm>
            <a:prstGeom prst="roundRect">
              <a:avLst>
                <a:gd fmla="val 50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0"/>
            <p:cNvSpPr/>
            <p:nvPr/>
          </p:nvSpPr>
          <p:spPr>
            <a:xfrm>
              <a:off x="7048500" y="2228850"/>
              <a:ext cx="1143000" cy="104700"/>
            </a:xfrm>
            <a:custGeom>
              <a:rect b="b" l="l" r="r" t="t"/>
              <a:pathLst>
                <a:path extrusionOk="0" h="120000" w="120000">
                  <a:moveTo>
                    <a:pt x="0" y="120000"/>
                  </a:moveTo>
                  <a:lnTo>
                    <a:pt x="16000" y="120000"/>
                  </a:lnTo>
                  <a:cubicBezTo>
                    <a:pt x="16000" y="53726"/>
                    <a:pt x="20925" y="0"/>
                    <a:pt x="27000" y="0"/>
                  </a:cubicBezTo>
                  <a:cubicBezTo>
                    <a:pt x="33075" y="0"/>
                    <a:pt x="38000" y="53726"/>
                    <a:pt x="38000" y="120000"/>
                  </a:cubicBezTo>
                  <a:cubicBezTo>
                    <a:pt x="38000" y="53726"/>
                    <a:pt x="42925" y="0"/>
                    <a:pt x="49000" y="0"/>
                  </a:cubicBezTo>
                  <a:cubicBezTo>
                    <a:pt x="55075" y="0"/>
                    <a:pt x="60000" y="53726"/>
                    <a:pt x="60000" y="120000"/>
                  </a:cubicBezTo>
                  <a:cubicBezTo>
                    <a:pt x="60000" y="53726"/>
                    <a:pt x="64925" y="0"/>
                    <a:pt x="71000" y="0"/>
                  </a:cubicBezTo>
                  <a:cubicBezTo>
                    <a:pt x="77075" y="0"/>
                    <a:pt x="82000" y="53726"/>
                    <a:pt x="82000" y="120000"/>
                  </a:cubicBezTo>
                  <a:cubicBezTo>
                    <a:pt x="82000" y="53726"/>
                    <a:pt x="86925" y="0"/>
                    <a:pt x="93000" y="0"/>
                  </a:cubicBezTo>
                  <a:cubicBezTo>
                    <a:pt x="99075" y="0"/>
                    <a:pt x="104000" y="53726"/>
                    <a:pt x="104000" y="120000"/>
                  </a:cubicBezTo>
                  <a:lnTo>
                    <a:pt x="120000" y="120000"/>
                  </a:lnTo>
                </a:path>
              </a:pathLst>
            </a:custGeom>
            <a:solidFill>
              <a:srgbClr val="000000">
                <a:alpha val="0"/>
              </a:srgbClr>
            </a:solidFill>
            <a:ln cap="rnd" cmpd="sng" w="28575">
              <a:solidFill>
                <a:srgbClr val="045A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20"/>
            <p:cNvSpPr txBox="1"/>
            <p:nvPr/>
          </p:nvSpPr>
          <p:spPr>
            <a:xfrm>
              <a:off x="6572250" y="2762250"/>
              <a:ext cx="20955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50">
                  <a:solidFill>
                    <a:srgbClr val="045A36"/>
                  </a:solidFill>
                  <a:latin typeface="Inter"/>
                  <a:ea typeface="Inter"/>
                  <a:cs typeface="Inter"/>
                  <a:sym typeface="Inter"/>
                </a:rPr>
                <a:t>Air-Core Inductor</a:t>
              </a:r>
              <a:endParaRPr b="1" sz="1050">
                <a:solidFill>
                  <a:srgbClr val="045A36"/>
                </a:solidFill>
                <a:latin typeface="Inter"/>
                <a:ea typeface="Inter"/>
                <a:cs typeface="Inter"/>
                <a:sym typeface="Inter"/>
              </a:endParaRPr>
            </a:p>
            <a:p>
              <a:pPr indent="0" lvl="0" marL="0" rtl="0" algn="ctr">
                <a:spcBef>
                  <a:spcPts val="150"/>
                </a:spcBef>
                <a:spcAft>
                  <a:spcPts val="0"/>
                </a:spcAft>
                <a:buNone/>
              </a:pPr>
              <a:r>
                <a:rPr b="0" lang="en" sz="900">
                  <a:solidFill>
                    <a:srgbClr val="6B7280"/>
                  </a:solidFill>
                  <a:latin typeface="Inter SemiBold"/>
                  <a:ea typeface="Inter SemiBold"/>
                  <a:cs typeface="Inter SemiBold"/>
                  <a:sym typeface="Inter SemiBold"/>
                </a:rPr>
                <a:t>Standard Plain Loops</a:t>
              </a:r>
              <a:endParaRPr b="0" sz="900">
                <a:solidFill>
                  <a:srgbClr val="6B7280"/>
                </a:solidFill>
                <a:latin typeface="Inter SemiBold"/>
                <a:ea typeface="Inter SemiBold"/>
                <a:cs typeface="Inter SemiBold"/>
                <a:sym typeface="Inter SemiBold"/>
              </a:endParaRPr>
            </a:p>
          </p:txBody>
        </p:sp>
        <p:sp>
          <p:nvSpPr>
            <p:cNvPr id="234" name="Google Shape;234;p20"/>
            <p:cNvSpPr/>
            <p:nvPr/>
          </p:nvSpPr>
          <p:spPr>
            <a:xfrm>
              <a:off x="9048750" y="1905000"/>
              <a:ext cx="2095500" cy="762000"/>
            </a:xfrm>
            <a:prstGeom prst="roundRect">
              <a:avLst>
                <a:gd fmla="val 50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20"/>
            <p:cNvSpPr/>
            <p:nvPr/>
          </p:nvSpPr>
          <p:spPr>
            <a:xfrm>
              <a:off x="9525000" y="2228850"/>
              <a:ext cx="1143000" cy="104700"/>
            </a:xfrm>
            <a:custGeom>
              <a:rect b="b" l="l" r="r" t="t"/>
              <a:pathLst>
                <a:path extrusionOk="0" h="120000" w="120000">
                  <a:moveTo>
                    <a:pt x="0" y="120000"/>
                  </a:moveTo>
                  <a:lnTo>
                    <a:pt x="16000" y="120000"/>
                  </a:lnTo>
                  <a:cubicBezTo>
                    <a:pt x="16000" y="53726"/>
                    <a:pt x="20925" y="0"/>
                    <a:pt x="27000" y="0"/>
                  </a:cubicBezTo>
                  <a:cubicBezTo>
                    <a:pt x="33075" y="0"/>
                    <a:pt x="38000" y="53726"/>
                    <a:pt x="38000" y="120000"/>
                  </a:cubicBezTo>
                  <a:cubicBezTo>
                    <a:pt x="38000" y="53726"/>
                    <a:pt x="42925" y="0"/>
                    <a:pt x="49000" y="0"/>
                  </a:cubicBezTo>
                  <a:cubicBezTo>
                    <a:pt x="55075" y="0"/>
                    <a:pt x="60000" y="53726"/>
                    <a:pt x="60000" y="120000"/>
                  </a:cubicBezTo>
                  <a:cubicBezTo>
                    <a:pt x="60000" y="53726"/>
                    <a:pt x="64925" y="0"/>
                    <a:pt x="71000" y="0"/>
                  </a:cubicBezTo>
                  <a:cubicBezTo>
                    <a:pt x="77075" y="0"/>
                    <a:pt x="82000" y="53726"/>
                    <a:pt x="82000" y="120000"/>
                  </a:cubicBezTo>
                  <a:cubicBezTo>
                    <a:pt x="82000" y="53726"/>
                    <a:pt x="86925" y="0"/>
                    <a:pt x="93000" y="0"/>
                  </a:cubicBezTo>
                  <a:cubicBezTo>
                    <a:pt x="99075" y="0"/>
                    <a:pt x="104000" y="53726"/>
                    <a:pt x="104000" y="120000"/>
                  </a:cubicBezTo>
                  <a:lnTo>
                    <a:pt x="120000" y="120000"/>
                  </a:lnTo>
                </a:path>
              </a:pathLst>
            </a:custGeom>
            <a:solidFill>
              <a:srgbClr val="000000">
                <a:alpha val="0"/>
              </a:srgbClr>
            </a:solidFill>
            <a:ln cap="rnd" cmpd="sng" w="28575">
              <a:solidFill>
                <a:srgbClr val="045A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36" name="Google Shape;236;p20"/>
            <p:cNvCxnSpPr/>
            <p:nvPr/>
          </p:nvCxnSpPr>
          <p:spPr>
            <a:xfrm>
              <a:off x="9677400" y="2124075"/>
              <a:ext cx="838200" cy="0"/>
            </a:xfrm>
            <a:prstGeom prst="straightConnector1">
              <a:avLst/>
            </a:prstGeom>
            <a:solidFill>
              <a:srgbClr val="FFFFFF"/>
            </a:solidFill>
            <a:ln cap="rnd" cmpd="sng" w="19050">
              <a:solidFill>
                <a:srgbClr val="374151"/>
              </a:solidFill>
              <a:prstDash val="solid"/>
              <a:round/>
              <a:headEnd len="sm" w="sm" type="none"/>
              <a:tailEnd len="sm" w="sm" type="none"/>
            </a:ln>
          </p:spPr>
        </p:cxnSp>
        <p:cxnSp>
          <p:nvCxnSpPr>
            <p:cNvPr id="237" name="Google Shape;237;p20"/>
            <p:cNvCxnSpPr/>
            <p:nvPr/>
          </p:nvCxnSpPr>
          <p:spPr>
            <a:xfrm>
              <a:off x="9677400" y="2076450"/>
              <a:ext cx="838200" cy="0"/>
            </a:xfrm>
            <a:prstGeom prst="straightConnector1">
              <a:avLst/>
            </a:prstGeom>
            <a:solidFill>
              <a:srgbClr val="FFFFFF"/>
            </a:solidFill>
            <a:ln cap="rnd" cmpd="sng" w="19050">
              <a:solidFill>
                <a:srgbClr val="374151"/>
              </a:solidFill>
              <a:prstDash val="solid"/>
              <a:round/>
              <a:headEnd len="sm" w="sm" type="none"/>
              <a:tailEnd len="sm" w="sm" type="none"/>
            </a:ln>
          </p:spPr>
        </p:cxnSp>
        <p:sp>
          <p:nvSpPr>
            <p:cNvPr id="238" name="Google Shape;238;p20"/>
            <p:cNvSpPr txBox="1"/>
            <p:nvPr/>
          </p:nvSpPr>
          <p:spPr>
            <a:xfrm>
              <a:off x="9048750" y="2762250"/>
              <a:ext cx="20955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50">
                  <a:solidFill>
                    <a:srgbClr val="045A36"/>
                  </a:solidFill>
                  <a:latin typeface="Inter"/>
                  <a:ea typeface="Inter"/>
                  <a:cs typeface="Inter"/>
                  <a:sym typeface="Inter"/>
                </a:rPr>
                <a:t>Iron-Core Inductor</a:t>
              </a:r>
              <a:endParaRPr b="1" sz="1050">
                <a:solidFill>
                  <a:srgbClr val="045A36"/>
                </a:solidFill>
                <a:latin typeface="Inter"/>
                <a:ea typeface="Inter"/>
                <a:cs typeface="Inter"/>
                <a:sym typeface="Inter"/>
              </a:endParaRPr>
            </a:p>
            <a:p>
              <a:pPr indent="0" lvl="0" marL="0" rtl="0" algn="ctr">
                <a:spcBef>
                  <a:spcPts val="150"/>
                </a:spcBef>
                <a:spcAft>
                  <a:spcPts val="0"/>
                </a:spcAft>
                <a:buNone/>
              </a:pPr>
              <a:r>
                <a:rPr b="0" lang="en" sz="900">
                  <a:solidFill>
                    <a:srgbClr val="6B7280"/>
                  </a:solidFill>
                  <a:latin typeface="Inter SemiBold"/>
                  <a:ea typeface="Inter SemiBold"/>
                  <a:cs typeface="Inter SemiBold"/>
                  <a:sym typeface="Inter SemiBold"/>
                </a:rPr>
                <a:t>Straight Parallel Lines</a:t>
              </a:r>
              <a:endParaRPr b="0" sz="900">
                <a:solidFill>
                  <a:srgbClr val="6B7280"/>
                </a:solidFill>
                <a:latin typeface="Inter SemiBold"/>
                <a:ea typeface="Inter SemiBold"/>
                <a:cs typeface="Inter SemiBold"/>
                <a:sym typeface="Inter SemiBold"/>
              </a:endParaRPr>
            </a:p>
          </p:txBody>
        </p:sp>
        <p:sp>
          <p:nvSpPr>
            <p:cNvPr id="239" name="Google Shape;239;p20"/>
            <p:cNvSpPr txBox="1"/>
            <p:nvPr/>
          </p:nvSpPr>
          <p:spPr>
            <a:xfrm>
              <a:off x="6572250" y="3257550"/>
              <a:ext cx="4572000" cy="333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665">
                  <a:solidFill>
                    <a:srgbClr val="4B5563"/>
                  </a:solidFill>
                  <a:latin typeface="Inter"/>
                  <a:ea typeface="Inter"/>
                  <a:cs typeface="Inter"/>
                  <a:sym typeface="Inter"/>
                </a:rPr>
                <a:t>Circuit Symbols:</a:t>
              </a:r>
              <a:r>
                <a:rPr b="0" lang="en" sz="665">
                  <a:solidFill>
                    <a:srgbClr val="4B5563"/>
                  </a:solidFill>
                  <a:latin typeface="Inter"/>
                  <a:ea typeface="Inter"/>
                  <a:cs typeface="Inter"/>
                  <a:sym typeface="Inter"/>
                </a:rPr>
                <a:t> Standard schematic representations show a series of loops. Key variants include air-core (plain loops) and iron-core (loops with straight parallel lines on top) symbols, reflecting the physical design.</a:t>
              </a:r>
              <a:endParaRPr b="0" sz="665">
                <a:solidFill>
                  <a:srgbClr val="4B5563"/>
                </a:solidFill>
                <a:latin typeface="Inter"/>
                <a:ea typeface="Inter"/>
                <a:cs typeface="Inter"/>
                <a:sym typeface="Inter"/>
              </a:endParaRPr>
            </a:p>
          </p:txBody>
        </p:sp>
      </p:grpSp>
      <p:grpSp>
        <p:nvGrpSpPr>
          <p:cNvPr id="240" name="Google Shape;240;p20"/>
          <p:cNvGrpSpPr/>
          <p:nvPr/>
        </p:nvGrpSpPr>
        <p:grpSpPr>
          <a:xfrm>
            <a:off x="6286500" y="3810000"/>
            <a:ext cx="5143500" cy="1524000"/>
            <a:chOff x="6286500" y="3810000"/>
            <a:chExt cx="5143500" cy="1524000"/>
          </a:xfrm>
        </p:grpSpPr>
        <p:sp>
          <p:nvSpPr>
            <p:cNvPr id="241" name="Google Shape;241;p20"/>
            <p:cNvSpPr/>
            <p:nvPr/>
          </p:nvSpPr>
          <p:spPr>
            <a:xfrm>
              <a:off x="6286500" y="3810000"/>
              <a:ext cx="5143500" cy="1524000"/>
            </a:xfrm>
            <a:prstGeom prst="roundRect">
              <a:avLst>
                <a:gd fmla="val 5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20"/>
            <p:cNvSpPr txBox="1"/>
            <p:nvPr/>
          </p:nvSpPr>
          <p:spPr>
            <a:xfrm>
              <a:off x="6572250" y="3952875"/>
              <a:ext cx="4572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Physical Component Example</a:t>
              </a:r>
              <a:endParaRPr b="1" sz="1200">
                <a:solidFill>
                  <a:srgbClr val="045A36"/>
                </a:solidFill>
                <a:latin typeface="Inter"/>
                <a:ea typeface="Inter"/>
                <a:cs typeface="Inter"/>
                <a:sym typeface="Inter"/>
              </a:endParaRPr>
            </a:p>
          </p:txBody>
        </p:sp>
        <p:pic>
          <p:nvPicPr>
            <p:cNvPr id="243" name="Google Shape;243;p20"/>
            <p:cNvPicPr preferRelativeResize="0"/>
            <p:nvPr/>
          </p:nvPicPr>
          <p:blipFill rotWithShape="1">
            <a:blip r:embed="rId5">
              <a:alphaModFix/>
            </a:blip>
            <a:srcRect b="0" l="0" r="0" t="0"/>
            <a:stretch/>
          </p:blipFill>
          <p:spPr>
            <a:xfrm>
              <a:off x="6572250" y="4238625"/>
              <a:ext cx="952500" cy="952500"/>
            </a:xfrm>
            <a:prstGeom prst="rect">
              <a:avLst/>
            </a:prstGeom>
            <a:noFill/>
            <a:ln>
              <a:noFill/>
            </a:ln>
          </p:spPr>
        </p:pic>
        <p:sp>
          <p:nvSpPr>
            <p:cNvPr id="244" name="Google Shape;244;p20"/>
            <p:cNvSpPr txBox="1"/>
            <p:nvPr/>
          </p:nvSpPr>
          <p:spPr>
            <a:xfrm>
              <a:off x="7715250" y="4238625"/>
              <a:ext cx="3429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D4A017"/>
                  </a:solidFill>
                  <a:latin typeface="Inter"/>
                  <a:ea typeface="Inter"/>
                  <a:cs typeface="Inter"/>
                  <a:sym typeface="Inter"/>
                </a:rPr>
                <a:t>Coil &amp; Core Construction</a:t>
              </a:r>
              <a:endParaRPr b="1" sz="1100">
                <a:solidFill>
                  <a:srgbClr val="D4A017"/>
                </a:solidFill>
                <a:latin typeface="Inter"/>
                <a:ea typeface="Inter"/>
                <a:cs typeface="Inter"/>
                <a:sym typeface="Inter"/>
              </a:endParaRPr>
            </a:p>
            <a:p>
              <a:pPr indent="0" lvl="0" marL="0" rtl="0" algn="l">
                <a:spcBef>
                  <a:spcPts val="375"/>
                </a:spcBef>
                <a:spcAft>
                  <a:spcPts val="0"/>
                </a:spcAft>
                <a:buNone/>
              </a:pPr>
              <a:r>
                <a:rPr b="0" lang="en" sz="1000">
                  <a:solidFill>
                    <a:srgbClr val="4B5563"/>
                  </a:solidFill>
                  <a:latin typeface="Inter"/>
                  <a:ea typeface="Inter"/>
                  <a:cs typeface="Inter"/>
                  <a:sym typeface="Inter"/>
                </a:rPr>
                <a:t>Physically, it consists of an insulated wire wound into a coil, often around a magnetic core (such as iron or ferrite) to increase the inductance.</a:t>
              </a:r>
              <a:endParaRPr b="0" sz="1000">
                <a:solidFill>
                  <a:srgbClr val="4B5563"/>
                </a:solidFill>
                <a:latin typeface="Inter"/>
                <a:ea typeface="Inter"/>
                <a:cs typeface="Inter"/>
                <a:sym typeface="Inte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8" name="Shape 248"/>
        <p:cNvGrpSpPr/>
        <p:nvPr/>
      </p:nvGrpSpPr>
      <p:grpSpPr>
        <a:xfrm>
          <a:off x="0" y="0"/>
          <a:ext cx="0" cy="0"/>
          <a:chOff x="0" y="0"/>
          <a:chExt cx="0" cy="0"/>
        </a:xfrm>
      </p:grpSpPr>
      <p:sp>
        <p:nvSpPr>
          <p:cNvPr id="249" name="Google Shape;249;p21"/>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21"/>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51" name="Google Shape;251;p21"/>
          <p:cNvGrpSpPr/>
          <p:nvPr/>
        </p:nvGrpSpPr>
        <p:grpSpPr>
          <a:xfrm>
            <a:off x="762000" y="571500"/>
            <a:ext cx="9525000" cy="428700"/>
            <a:chOff x="0" y="0"/>
            <a:chExt cx="9525000" cy="428700"/>
          </a:xfrm>
        </p:grpSpPr>
        <p:sp>
          <p:nvSpPr>
            <p:cNvPr id="252" name="Google Shape;252;p21"/>
            <p:cNvSpPr/>
            <p:nvPr/>
          </p:nvSpPr>
          <p:spPr>
            <a:xfrm>
              <a:off x="0" y="0"/>
              <a:ext cx="9525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1"/>
            <p:cNvSpPr txBox="1"/>
            <p:nvPr/>
          </p:nvSpPr>
          <p:spPr>
            <a:xfrm>
              <a:off x="0" y="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Working Principle of Inductors</a:t>
              </a:r>
              <a:endParaRPr b="0" sz="2700">
                <a:solidFill>
                  <a:srgbClr val="045A36"/>
                </a:solidFill>
                <a:latin typeface="Montserrat SemiBold"/>
                <a:ea typeface="Montserrat SemiBold"/>
                <a:cs typeface="Montserrat SemiBold"/>
                <a:sym typeface="Montserrat SemiBold"/>
              </a:endParaRPr>
            </a:p>
          </p:txBody>
        </p:sp>
      </p:grpSp>
      <p:sp>
        <p:nvSpPr>
          <p:cNvPr id="254" name="Google Shape;254;p21"/>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55" name="Google Shape;255;p21"/>
          <p:cNvGrpSpPr/>
          <p:nvPr/>
        </p:nvGrpSpPr>
        <p:grpSpPr>
          <a:xfrm>
            <a:off x="762000" y="1333500"/>
            <a:ext cx="5143500" cy="1809600"/>
            <a:chOff x="0" y="0"/>
            <a:chExt cx="5143500" cy="1809600"/>
          </a:xfrm>
        </p:grpSpPr>
        <p:sp>
          <p:nvSpPr>
            <p:cNvPr id="256" name="Google Shape;256;p21"/>
            <p:cNvSpPr/>
            <p:nvPr/>
          </p:nvSpPr>
          <p:spPr>
            <a:xfrm>
              <a:off x="0" y="0"/>
              <a:ext cx="5143500" cy="1809600"/>
            </a:xfrm>
            <a:prstGeom prst="roundRect">
              <a:avLst>
                <a:gd fmla="val 21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p21"/>
            <p:cNvSpPr/>
            <p:nvPr/>
          </p:nvSpPr>
          <p:spPr>
            <a:xfrm>
              <a:off x="0" y="0"/>
              <a:ext cx="51435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8" name="Google Shape;258;p21"/>
            <p:cNvSpPr txBox="1"/>
            <p:nvPr/>
          </p:nvSpPr>
          <p:spPr>
            <a:xfrm>
              <a:off x="190500" y="190500"/>
              <a:ext cx="4762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45A36"/>
                  </a:solidFill>
                  <a:latin typeface="Inter"/>
                  <a:ea typeface="Inter"/>
                  <a:cs typeface="Inter"/>
                  <a:sym typeface="Inter"/>
                </a:rPr>
                <a:t>Electromagnetic Induction</a:t>
              </a:r>
              <a:endParaRPr b="1" sz="1600">
                <a:solidFill>
                  <a:srgbClr val="045A36"/>
                </a:solidFill>
                <a:latin typeface="Inter"/>
                <a:ea typeface="Inter"/>
                <a:cs typeface="Inter"/>
                <a:sym typeface="Inter"/>
              </a:endParaRPr>
            </a:p>
          </p:txBody>
        </p:sp>
        <p:sp>
          <p:nvSpPr>
            <p:cNvPr id="259" name="Google Shape;259;p21"/>
            <p:cNvSpPr txBox="1"/>
            <p:nvPr/>
          </p:nvSpPr>
          <p:spPr>
            <a:xfrm>
              <a:off x="190500" y="571500"/>
              <a:ext cx="4762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374151"/>
                  </a:solidFill>
                  <a:latin typeface="Inter"/>
                  <a:ea typeface="Inter"/>
                  <a:cs typeface="Inter"/>
                  <a:sym typeface="Inter"/>
                </a:rPr>
                <a:t>When electrical current passes through the coil, it creates a magnetic field. If the current changes, the changing magnetic field induces a voltage (electromotive force) that opposes that very change, according to </a:t>
              </a:r>
              <a:r>
                <a:rPr b="0" lang="en" sz="1300">
                  <a:solidFill>
                    <a:srgbClr val="045A36"/>
                  </a:solidFill>
                  <a:latin typeface="Inter SemiBold"/>
                  <a:ea typeface="Inter SemiBold"/>
                  <a:cs typeface="Inter SemiBold"/>
                  <a:sym typeface="Inter SemiBold"/>
                </a:rPr>
                <a:t>Lenz's Law</a:t>
              </a:r>
              <a:r>
                <a:rPr b="0" lang="en" sz="1300">
                  <a:solidFill>
                    <a:srgbClr val="374151"/>
                  </a:solidFill>
                  <a:latin typeface="Inter"/>
                  <a:ea typeface="Inter"/>
                  <a:cs typeface="Inter"/>
                  <a:sym typeface="Inter"/>
                </a:rPr>
                <a:t>.</a:t>
              </a:r>
              <a:endParaRPr b="0" sz="1300">
                <a:solidFill>
                  <a:srgbClr val="374151"/>
                </a:solidFill>
                <a:latin typeface="Inter"/>
                <a:ea typeface="Inter"/>
                <a:cs typeface="Inter"/>
                <a:sym typeface="Inter"/>
              </a:endParaRPr>
            </a:p>
          </p:txBody>
        </p:sp>
      </p:grpSp>
      <p:grpSp>
        <p:nvGrpSpPr>
          <p:cNvPr id="260" name="Google Shape;260;p21"/>
          <p:cNvGrpSpPr/>
          <p:nvPr/>
        </p:nvGrpSpPr>
        <p:grpSpPr>
          <a:xfrm>
            <a:off x="762000" y="3286125"/>
            <a:ext cx="5143500" cy="2143200"/>
            <a:chOff x="0" y="0"/>
            <a:chExt cx="5143500" cy="2143200"/>
          </a:xfrm>
        </p:grpSpPr>
        <p:sp>
          <p:nvSpPr>
            <p:cNvPr id="261" name="Google Shape;261;p21"/>
            <p:cNvSpPr/>
            <p:nvPr/>
          </p:nvSpPr>
          <p:spPr>
            <a:xfrm>
              <a:off x="0" y="0"/>
              <a:ext cx="5143500" cy="2143200"/>
            </a:xfrm>
            <a:prstGeom prst="roundRect">
              <a:avLst>
                <a:gd fmla="val 177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21"/>
            <p:cNvSpPr/>
            <p:nvPr/>
          </p:nvSpPr>
          <p:spPr>
            <a:xfrm>
              <a:off x="0" y="0"/>
              <a:ext cx="51435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1"/>
            <p:cNvSpPr txBox="1"/>
            <p:nvPr/>
          </p:nvSpPr>
          <p:spPr>
            <a:xfrm>
              <a:off x="190500" y="190500"/>
              <a:ext cx="4762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45A36"/>
                  </a:solidFill>
                  <a:latin typeface="Inter"/>
                  <a:ea typeface="Inter"/>
                  <a:cs typeface="Inter"/>
                  <a:sym typeface="Inter"/>
                </a:rPr>
                <a:t>Core Dynamics &amp; Energy Storage</a:t>
              </a:r>
              <a:endParaRPr b="1" sz="1600">
                <a:solidFill>
                  <a:srgbClr val="045A36"/>
                </a:solidFill>
                <a:latin typeface="Inter"/>
                <a:ea typeface="Inter"/>
                <a:cs typeface="Inter"/>
                <a:sym typeface="Inter"/>
              </a:endParaRPr>
            </a:p>
          </p:txBody>
        </p:sp>
        <p:sp>
          <p:nvSpPr>
            <p:cNvPr id="264" name="Google Shape;264;p21"/>
            <p:cNvSpPr txBox="1"/>
            <p:nvPr/>
          </p:nvSpPr>
          <p:spPr>
            <a:xfrm>
              <a:off x="190500" y="571500"/>
              <a:ext cx="4762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6">
                  <a:solidFill>
                    <a:srgbClr val="0B7A4B"/>
                  </a:solidFill>
                  <a:latin typeface="Inter SemiBold"/>
                  <a:ea typeface="Inter SemiBold"/>
                  <a:cs typeface="Inter SemiBold"/>
                  <a:sym typeface="Inter SemiBold"/>
                </a:rPr>
                <a:t>• Resisting Sudden Changes:</a:t>
              </a:r>
              <a:r>
                <a:rPr b="0" lang="en" sz="1156">
                  <a:solidFill>
                    <a:srgbClr val="374151"/>
                  </a:solidFill>
                  <a:latin typeface="Inter"/>
                  <a:ea typeface="Inter"/>
                  <a:cs typeface="Inter"/>
                  <a:sym typeface="Inter"/>
                </a:rPr>
                <a:t> An inductor acts like an inertia barrier for electric current. It allows steady DC to pass without resistance, but strongly opposes any sudden surge or drop in current.</a:t>
              </a:r>
              <a:endParaRPr b="0" sz="1156">
                <a:solidFill>
                  <a:srgbClr val="374151"/>
                </a:solidFill>
                <a:latin typeface="Inter"/>
                <a:ea typeface="Inter"/>
                <a:cs typeface="Inter"/>
                <a:sym typeface="Inter"/>
              </a:endParaRPr>
            </a:p>
            <a:p>
              <a:pPr indent="0" lvl="0" marL="0" rtl="0" algn="l">
                <a:spcBef>
                  <a:spcPts val="900"/>
                </a:spcBef>
                <a:spcAft>
                  <a:spcPts val="0"/>
                </a:spcAft>
                <a:buNone/>
              </a:pPr>
              <a:r>
                <a:rPr b="0" lang="en" sz="1156">
                  <a:solidFill>
                    <a:srgbClr val="0B7A4B"/>
                  </a:solidFill>
                  <a:latin typeface="Inter SemiBold"/>
                  <a:ea typeface="Inter SemiBold"/>
                  <a:cs typeface="Inter SemiBold"/>
                  <a:sym typeface="Inter SemiBold"/>
                </a:rPr>
                <a:t>• Energy Storage Mechanism:</a:t>
              </a:r>
              <a:r>
                <a:rPr b="0" lang="en" sz="1156">
                  <a:solidFill>
                    <a:srgbClr val="374151"/>
                  </a:solidFill>
                  <a:latin typeface="Inter"/>
                  <a:ea typeface="Inter"/>
                  <a:cs typeface="Inter"/>
                  <a:sym typeface="Inter"/>
                </a:rPr>
                <a:t> Unlike capacitors that store energy in electrical charges (electric fields), inductors store energy directly in the concentrated magnetic field wrapped around their coils.</a:t>
              </a:r>
              <a:endParaRPr b="0" sz="1156">
                <a:solidFill>
                  <a:srgbClr val="374151"/>
                </a:solidFill>
                <a:latin typeface="Inter"/>
                <a:ea typeface="Inter"/>
                <a:cs typeface="Inter"/>
                <a:sym typeface="Inter"/>
              </a:endParaRPr>
            </a:p>
          </p:txBody>
        </p:sp>
      </p:grpSp>
      <p:grpSp>
        <p:nvGrpSpPr>
          <p:cNvPr id="265" name="Google Shape;265;p21"/>
          <p:cNvGrpSpPr/>
          <p:nvPr/>
        </p:nvGrpSpPr>
        <p:grpSpPr>
          <a:xfrm>
            <a:off x="6286500" y="1333500"/>
            <a:ext cx="5143500" cy="2571900"/>
            <a:chOff x="0" y="0"/>
            <a:chExt cx="5143500" cy="2571900"/>
          </a:xfrm>
        </p:grpSpPr>
        <p:sp>
          <p:nvSpPr>
            <p:cNvPr id="266" name="Google Shape;266;p21"/>
            <p:cNvSpPr/>
            <p:nvPr/>
          </p:nvSpPr>
          <p:spPr>
            <a:xfrm>
              <a:off x="0" y="0"/>
              <a:ext cx="5143500" cy="2571900"/>
            </a:xfrm>
            <a:prstGeom prst="roundRect">
              <a:avLst>
                <a:gd fmla="val 148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21"/>
            <p:cNvSpPr/>
            <p:nvPr/>
          </p:nvSpPr>
          <p:spPr>
            <a:xfrm>
              <a:off x="0" y="0"/>
              <a:ext cx="5143500" cy="38100"/>
            </a:xfrm>
            <a:prstGeom prst="roundRect">
              <a:avLst>
                <a:gd fmla="val 50000" name="adj"/>
              </a:avLst>
            </a:prstGeom>
            <a:solidFill>
              <a:srgbClr val="0B7A4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21"/>
            <p:cNvSpPr txBox="1"/>
            <p:nvPr/>
          </p:nvSpPr>
          <p:spPr>
            <a:xfrm>
              <a:off x="190500" y="190500"/>
              <a:ext cx="4762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45A36"/>
                  </a:solidFill>
                  <a:latin typeface="Inter"/>
                  <a:ea typeface="Inter"/>
                  <a:cs typeface="Inter"/>
                  <a:sym typeface="Inter"/>
                </a:rPr>
                <a:t>Magnetic Field Creation</a:t>
              </a:r>
              <a:endParaRPr b="1" sz="1600">
                <a:solidFill>
                  <a:srgbClr val="045A36"/>
                </a:solidFill>
                <a:latin typeface="Inter"/>
                <a:ea typeface="Inter"/>
                <a:cs typeface="Inter"/>
                <a:sym typeface="Inter"/>
              </a:endParaRPr>
            </a:p>
          </p:txBody>
        </p:sp>
        <p:pic>
          <p:nvPicPr>
            <p:cNvPr id="269" name="Google Shape;269;p21"/>
            <p:cNvPicPr preferRelativeResize="0"/>
            <p:nvPr/>
          </p:nvPicPr>
          <p:blipFill rotWithShape="1">
            <a:blip r:embed="rId4">
              <a:alphaModFix/>
            </a:blip>
            <a:srcRect b="0" l="0" r="0" t="0"/>
            <a:stretch/>
          </p:blipFill>
          <p:spPr>
            <a:xfrm>
              <a:off x="1238250" y="476250"/>
              <a:ext cx="2667000" cy="2000100"/>
            </a:xfrm>
            <a:prstGeom prst="rect">
              <a:avLst/>
            </a:prstGeom>
            <a:noFill/>
            <a:ln>
              <a:noFill/>
            </a:ln>
          </p:spPr>
        </p:pic>
      </p:grpSp>
      <p:grpSp>
        <p:nvGrpSpPr>
          <p:cNvPr id="270" name="Google Shape;270;p21"/>
          <p:cNvGrpSpPr/>
          <p:nvPr/>
        </p:nvGrpSpPr>
        <p:grpSpPr>
          <a:xfrm>
            <a:off x="6286500" y="4048125"/>
            <a:ext cx="5143500" cy="1381200"/>
            <a:chOff x="0" y="0"/>
            <a:chExt cx="5143500" cy="1381200"/>
          </a:xfrm>
        </p:grpSpPr>
        <p:sp>
          <p:nvSpPr>
            <p:cNvPr id="271" name="Google Shape;271;p21"/>
            <p:cNvSpPr/>
            <p:nvPr/>
          </p:nvSpPr>
          <p:spPr>
            <a:xfrm>
              <a:off x="0" y="0"/>
              <a:ext cx="5143500" cy="1381200"/>
            </a:xfrm>
            <a:prstGeom prst="roundRect">
              <a:avLst>
                <a:gd fmla="val 275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21"/>
            <p:cNvSpPr/>
            <p:nvPr/>
          </p:nvSpPr>
          <p:spPr>
            <a:xfrm>
              <a:off x="0" y="0"/>
              <a:ext cx="5143500" cy="381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21"/>
            <p:cNvSpPr txBox="1"/>
            <p:nvPr/>
          </p:nvSpPr>
          <p:spPr>
            <a:xfrm>
              <a:off x="190500" y="142875"/>
              <a:ext cx="4762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45A36"/>
                  </a:solidFill>
                  <a:latin typeface="Inter"/>
                  <a:ea typeface="Inter"/>
                  <a:cs typeface="Inter"/>
                  <a:sym typeface="Inter"/>
                </a:rPr>
                <a:t>The Mechanical Analogy</a:t>
              </a:r>
              <a:endParaRPr b="1" sz="1600">
                <a:solidFill>
                  <a:srgbClr val="045A36"/>
                </a:solidFill>
                <a:latin typeface="Inter"/>
                <a:ea typeface="Inter"/>
                <a:cs typeface="Inter"/>
                <a:sym typeface="Inter"/>
              </a:endParaRPr>
            </a:p>
          </p:txBody>
        </p:sp>
        <p:sp>
          <p:nvSpPr>
            <p:cNvPr id="274" name="Google Shape;274;p21"/>
            <p:cNvSpPr txBox="1"/>
            <p:nvPr/>
          </p:nvSpPr>
          <p:spPr>
            <a:xfrm>
              <a:off x="190500" y="476250"/>
              <a:ext cx="4762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374151"/>
                  </a:solidFill>
                  <a:latin typeface="Inter"/>
                  <a:ea typeface="Inter"/>
                  <a:cs typeface="Inter"/>
                  <a:sym typeface="Inter"/>
                </a:rPr>
                <a:t>Think of an inductor as a </a:t>
              </a:r>
              <a:r>
                <a:rPr b="0" lang="en" sz="1200">
                  <a:solidFill>
                    <a:srgbClr val="D4A017"/>
                  </a:solidFill>
                  <a:latin typeface="Inter SemiBold"/>
                  <a:ea typeface="Inter SemiBold"/>
                  <a:cs typeface="Inter SemiBold"/>
                  <a:sym typeface="Inter SemiBold"/>
                </a:rPr>
                <a:t>heavy fluid flywheel</a:t>
              </a:r>
              <a:r>
                <a:rPr b="0" lang="en" sz="1200">
                  <a:solidFill>
                    <a:srgbClr val="374151"/>
                  </a:solidFill>
                  <a:latin typeface="Inter"/>
                  <a:ea typeface="Inter"/>
                  <a:cs typeface="Inter"/>
                  <a:sym typeface="Inter"/>
                </a:rPr>
                <a:t> in a water pipe. When you try to start the water, the flywheel blocks the flow. Once the flywheel is spinning, it tries to keep the water moving even if you close the valve, generating a pressure spike.</a:t>
              </a:r>
              <a:endParaRPr b="0" sz="1200">
                <a:solidFill>
                  <a:srgbClr val="374151"/>
                </a:solidFill>
                <a:latin typeface="Inter"/>
                <a:ea typeface="Inter"/>
                <a:cs typeface="Inter"/>
                <a:sym typeface="Inter"/>
              </a:endParaRPr>
            </a:p>
          </p:txBody>
        </p:sp>
      </p:grpSp>
      <p:grpSp>
        <p:nvGrpSpPr>
          <p:cNvPr id="275" name="Google Shape;275;p21"/>
          <p:cNvGrpSpPr/>
          <p:nvPr/>
        </p:nvGrpSpPr>
        <p:grpSpPr>
          <a:xfrm>
            <a:off x="762000" y="6134100"/>
            <a:ext cx="4762500" cy="190500"/>
            <a:chOff x="0" y="0"/>
            <a:chExt cx="4762500" cy="190500"/>
          </a:xfrm>
        </p:grpSpPr>
        <p:sp>
          <p:nvSpPr>
            <p:cNvPr id="276" name="Google Shape;276;p21"/>
            <p:cNvSpPr/>
            <p:nvPr/>
          </p:nvSpPr>
          <p:spPr>
            <a:xfrm>
              <a:off x="0" y="0"/>
              <a:ext cx="47625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21"/>
            <p:cNvSpPr txBox="1"/>
            <p:nvPr/>
          </p:nvSpPr>
          <p:spPr>
            <a:xfrm>
              <a:off x="0" y="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of Electronics | Robotics and Automation Systems</a:t>
              </a:r>
              <a:endParaRPr b="0" sz="975">
                <a:solidFill>
                  <a:srgbClr val="6B7280"/>
                </a:solidFill>
                <a:latin typeface="Inter"/>
                <a:ea typeface="Inter"/>
                <a:cs typeface="Inter"/>
                <a:sym typeface="Inter"/>
              </a:endParaRPr>
            </a:p>
          </p:txBody>
        </p:sp>
      </p:grpSp>
      <p:pic>
        <p:nvPicPr>
          <p:cNvPr id="278" name="Google Shape;278;p21"/>
          <p:cNvPicPr preferRelativeResize="0"/>
          <p:nvPr/>
        </p:nvPicPr>
        <p:blipFill rotWithShape="1">
          <a:blip r:embed="rId5">
            <a:alphaModFix/>
          </a:blip>
          <a:srcRect b="466" l="10" r="0" t="466"/>
          <a:stretch/>
        </p:blipFill>
        <p:spPr>
          <a:xfrm>
            <a:off x="10287000" y="5457825"/>
            <a:ext cx="1524000" cy="1009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2" name="Shape 282"/>
        <p:cNvGrpSpPr/>
        <p:nvPr/>
      </p:nvGrpSpPr>
      <p:grpSpPr>
        <a:xfrm>
          <a:off x="0" y="0"/>
          <a:ext cx="0" cy="0"/>
          <a:chOff x="0" y="0"/>
          <a:chExt cx="0" cy="0"/>
        </a:xfrm>
      </p:grpSpPr>
      <p:grpSp>
        <p:nvGrpSpPr>
          <p:cNvPr id="283" name="Google Shape;283;p22"/>
          <p:cNvGrpSpPr/>
          <p:nvPr/>
        </p:nvGrpSpPr>
        <p:grpSpPr>
          <a:xfrm>
            <a:off x="0" y="0"/>
            <a:ext cx="12192000" cy="76350"/>
            <a:chOff x="0" y="0"/>
            <a:chExt cx="12192000" cy="76350"/>
          </a:xfrm>
        </p:grpSpPr>
        <p:sp>
          <p:nvSpPr>
            <p:cNvPr id="284" name="Google Shape;284;p22"/>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22"/>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86" name="Google Shape;286;p22"/>
          <p:cNvSpPr txBox="1"/>
          <p:nvPr/>
        </p:nvSpPr>
        <p:spPr>
          <a:xfrm>
            <a:off x="762000" y="476250"/>
            <a:ext cx="1066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045A36"/>
                </a:solidFill>
                <a:latin typeface="Montserrat SemiBold"/>
                <a:ea typeface="Montserrat SemiBold"/>
                <a:cs typeface="Montserrat SemiBold"/>
                <a:sym typeface="Montserrat SemiBold"/>
              </a:rPr>
              <a:t>Practical Applications of Inductors</a:t>
            </a:r>
            <a:endParaRPr b="0" sz="2400">
              <a:solidFill>
                <a:srgbClr val="045A36"/>
              </a:solidFill>
              <a:latin typeface="Montserrat SemiBold"/>
              <a:ea typeface="Montserrat SemiBold"/>
              <a:cs typeface="Montserrat SemiBold"/>
              <a:sym typeface="Montserrat SemiBold"/>
            </a:endParaRPr>
          </a:p>
        </p:txBody>
      </p:sp>
      <p:sp>
        <p:nvSpPr>
          <p:cNvPr id="287" name="Google Shape;287;p22"/>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2"/>
          <p:cNvSpPr txBox="1"/>
          <p:nvPr/>
        </p:nvSpPr>
        <p:spPr>
          <a:xfrm>
            <a:off x="762000" y="1285875"/>
            <a:ext cx="10668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374151"/>
                </a:solidFill>
                <a:latin typeface="Inter"/>
                <a:ea typeface="Inter"/>
                <a:cs typeface="Inter"/>
                <a:sym typeface="Inter"/>
              </a:rPr>
              <a:t>In robotics and power systems, inductors are critical for power management, motor control, noise isolation, and protecting sensitive digital circuits.</a:t>
            </a:r>
            <a:endParaRPr b="0" sz="1300">
              <a:solidFill>
                <a:srgbClr val="374151"/>
              </a:solidFill>
              <a:latin typeface="Inter"/>
              <a:ea typeface="Inter"/>
              <a:cs typeface="Inter"/>
              <a:sym typeface="Inter"/>
            </a:endParaRPr>
          </a:p>
        </p:txBody>
      </p:sp>
      <p:grpSp>
        <p:nvGrpSpPr>
          <p:cNvPr id="289" name="Google Shape;289;p22"/>
          <p:cNvGrpSpPr/>
          <p:nvPr/>
        </p:nvGrpSpPr>
        <p:grpSpPr>
          <a:xfrm>
            <a:off x="762000" y="1952625"/>
            <a:ext cx="3238500" cy="2991000"/>
            <a:chOff x="0" y="0"/>
            <a:chExt cx="3238500" cy="2991000"/>
          </a:xfrm>
        </p:grpSpPr>
        <p:sp>
          <p:nvSpPr>
            <p:cNvPr id="290" name="Google Shape;290;p22"/>
            <p:cNvSpPr/>
            <p:nvPr/>
          </p:nvSpPr>
          <p:spPr>
            <a:xfrm>
              <a:off x="0" y="0"/>
              <a:ext cx="3238500" cy="2991000"/>
            </a:xfrm>
            <a:prstGeom prst="roundRect">
              <a:avLst>
                <a:gd fmla="val 127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91" name="Google Shape;291;p22"/>
            <p:cNvPicPr preferRelativeResize="0"/>
            <p:nvPr/>
          </p:nvPicPr>
          <p:blipFill rotWithShape="1">
            <a:blip r:embed="rId4">
              <a:alphaModFix/>
            </a:blip>
            <a:srcRect b="0" l="0" r="0" t="0"/>
            <a:stretch/>
          </p:blipFill>
          <p:spPr>
            <a:xfrm>
              <a:off x="0" y="0"/>
              <a:ext cx="3238500" cy="2428800"/>
            </a:xfrm>
            <a:prstGeom prst="roundRect">
              <a:avLst>
                <a:gd fmla="val 1568" name="adj"/>
              </a:avLst>
            </a:prstGeom>
            <a:noFill/>
            <a:ln>
              <a:noFill/>
            </a:ln>
          </p:spPr>
        </p:pic>
        <p:sp>
          <p:nvSpPr>
            <p:cNvPr id="292" name="Google Shape;292;p22"/>
            <p:cNvSpPr/>
            <p:nvPr/>
          </p:nvSpPr>
          <p:spPr>
            <a:xfrm>
              <a:off x="0" y="2428875"/>
              <a:ext cx="3238500" cy="561900"/>
            </a:xfrm>
            <a:prstGeom prst="roundRect">
              <a:avLst>
                <a:gd fmla="val 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22"/>
            <p:cNvSpPr txBox="1"/>
            <p:nvPr/>
          </p:nvSpPr>
          <p:spPr>
            <a:xfrm>
              <a:off x="0" y="2428875"/>
              <a:ext cx="3238500" cy="561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1F2937"/>
                  </a:solidFill>
                  <a:latin typeface="Inter SemiBold"/>
                  <a:ea typeface="Inter SemiBold"/>
                  <a:cs typeface="Inter SemiBold"/>
                  <a:sym typeface="Inter SemiBold"/>
                </a:rPr>
                <a:t>Motor Windings</a:t>
              </a:r>
              <a:endParaRPr b="0" sz="1400">
                <a:solidFill>
                  <a:srgbClr val="1F2937"/>
                </a:solidFill>
                <a:latin typeface="Inter SemiBold"/>
                <a:ea typeface="Inter SemiBold"/>
                <a:cs typeface="Inter SemiBold"/>
                <a:sym typeface="Inter SemiBold"/>
              </a:endParaRPr>
            </a:p>
          </p:txBody>
        </p:sp>
      </p:grpSp>
      <p:grpSp>
        <p:nvGrpSpPr>
          <p:cNvPr id="294" name="Google Shape;294;p22"/>
          <p:cNvGrpSpPr/>
          <p:nvPr/>
        </p:nvGrpSpPr>
        <p:grpSpPr>
          <a:xfrm>
            <a:off x="4476750" y="1952625"/>
            <a:ext cx="3238500" cy="2991000"/>
            <a:chOff x="0" y="0"/>
            <a:chExt cx="3238500" cy="2991000"/>
          </a:xfrm>
        </p:grpSpPr>
        <p:sp>
          <p:nvSpPr>
            <p:cNvPr id="295" name="Google Shape;295;p22"/>
            <p:cNvSpPr/>
            <p:nvPr/>
          </p:nvSpPr>
          <p:spPr>
            <a:xfrm>
              <a:off x="0" y="0"/>
              <a:ext cx="3238500" cy="2991000"/>
            </a:xfrm>
            <a:prstGeom prst="roundRect">
              <a:avLst>
                <a:gd fmla="val 127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96" name="Google Shape;296;p22"/>
            <p:cNvPicPr preferRelativeResize="0"/>
            <p:nvPr/>
          </p:nvPicPr>
          <p:blipFill rotWithShape="1">
            <a:blip r:embed="rId5">
              <a:alphaModFix/>
            </a:blip>
            <a:srcRect b="0" l="0" r="0" t="0"/>
            <a:stretch/>
          </p:blipFill>
          <p:spPr>
            <a:xfrm>
              <a:off x="0" y="0"/>
              <a:ext cx="3238500" cy="2428800"/>
            </a:xfrm>
            <a:prstGeom prst="roundRect">
              <a:avLst>
                <a:gd fmla="val 1568" name="adj"/>
              </a:avLst>
            </a:prstGeom>
            <a:noFill/>
            <a:ln>
              <a:noFill/>
            </a:ln>
          </p:spPr>
        </p:pic>
        <p:sp>
          <p:nvSpPr>
            <p:cNvPr id="297" name="Google Shape;297;p22"/>
            <p:cNvSpPr/>
            <p:nvPr/>
          </p:nvSpPr>
          <p:spPr>
            <a:xfrm>
              <a:off x="0" y="2428875"/>
              <a:ext cx="3238500" cy="561900"/>
            </a:xfrm>
            <a:prstGeom prst="roundRect">
              <a:avLst>
                <a:gd fmla="val 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22"/>
            <p:cNvSpPr txBox="1"/>
            <p:nvPr/>
          </p:nvSpPr>
          <p:spPr>
            <a:xfrm>
              <a:off x="0" y="2428875"/>
              <a:ext cx="3238500" cy="561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1F2937"/>
                  </a:solidFill>
                  <a:latin typeface="Inter SemiBold"/>
                  <a:ea typeface="Inter SemiBold"/>
                  <a:cs typeface="Inter SemiBold"/>
                  <a:sym typeface="Inter SemiBold"/>
                </a:rPr>
                <a:t>Switching Regulators</a:t>
              </a:r>
              <a:endParaRPr b="0" sz="1400">
                <a:solidFill>
                  <a:srgbClr val="1F2937"/>
                </a:solidFill>
                <a:latin typeface="Inter SemiBold"/>
                <a:ea typeface="Inter SemiBold"/>
                <a:cs typeface="Inter SemiBold"/>
                <a:sym typeface="Inter SemiBold"/>
              </a:endParaRPr>
            </a:p>
          </p:txBody>
        </p:sp>
      </p:grpSp>
      <p:grpSp>
        <p:nvGrpSpPr>
          <p:cNvPr id="299" name="Google Shape;299;p22"/>
          <p:cNvGrpSpPr/>
          <p:nvPr/>
        </p:nvGrpSpPr>
        <p:grpSpPr>
          <a:xfrm>
            <a:off x="8191500" y="1952625"/>
            <a:ext cx="3238500" cy="2991000"/>
            <a:chOff x="0" y="0"/>
            <a:chExt cx="3238500" cy="2991000"/>
          </a:xfrm>
        </p:grpSpPr>
        <p:sp>
          <p:nvSpPr>
            <p:cNvPr id="300" name="Google Shape;300;p22"/>
            <p:cNvSpPr/>
            <p:nvPr/>
          </p:nvSpPr>
          <p:spPr>
            <a:xfrm>
              <a:off x="0" y="0"/>
              <a:ext cx="3238500" cy="2991000"/>
            </a:xfrm>
            <a:prstGeom prst="roundRect">
              <a:avLst>
                <a:gd fmla="val 127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01" name="Google Shape;301;p22"/>
            <p:cNvPicPr preferRelativeResize="0"/>
            <p:nvPr/>
          </p:nvPicPr>
          <p:blipFill rotWithShape="1">
            <a:blip r:embed="rId6">
              <a:alphaModFix/>
            </a:blip>
            <a:srcRect b="0" l="0" r="0" t="0"/>
            <a:stretch/>
          </p:blipFill>
          <p:spPr>
            <a:xfrm>
              <a:off x="0" y="0"/>
              <a:ext cx="3238500" cy="2428800"/>
            </a:xfrm>
            <a:prstGeom prst="roundRect">
              <a:avLst>
                <a:gd fmla="val 1568" name="adj"/>
              </a:avLst>
            </a:prstGeom>
            <a:noFill/>
            <a:ln>
              <a:noFill/>
            </a:ln>
          </p:spPr>
        </p:pic>
        <p:sp>
          <p:nvSpPr>
            <p:cNvPr id="302" name="Google Shape;302;p22"/>
            <p:cNvSpPr/>
            <p:nvPr/>
          </p:nvSpPr>
          <p:spPr>
            <a:xfrm>
              <a:off x="0" y="2428875"/>
              <a:ext cx="3238500" cy="561900"/>
            </a:xfrm>
            <a:prstGeom prst="roundRect">
              <a:avLst>
                <a:gd fmla="val 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22"/>
            <p:cNvSpPr txBox="1"/>
            <p:nvPr/>
          </p:nvSpPr>
          <p:spPr>
            <a:xfrm>
              <a:off x="0" y="2428875"/>
              <a:ext cx="3238500" cy="561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1F2937"/>
                  </a:solidFill>
                  <a:latin typeface="Inter SemiBold"/>
                  <a:ea typeface="Inter SemiBold"/>
                  <a:cs typeface="Inter SemiBold"/>
                  <a:sym typeface="Inter SemiBold"/>
                </a:rPr>
                <a:t>LC Filters</a:t>
              </a:r>
              <a:endParaRPr b="0" sz="1400">
                <a:solidFill>
                  <a:srgbClr val="1F2937"/>
                </a:solidFill>
                <a:latin typeface="Inter SemiBold"/>
                <a:ea typeface="Inter SemiBold"/>
                <a:cs typeface="Inter SemiBold"/>
                <a:sym typeface="Inter SemiBold"/>
              </a:endParaRPr>
            </a:p>
          </p:txBody>
        </p:sp>
      </p:grpSp>
      <p:sp>
        <p:nvSpPr>
          <p:cNvPr id="304" name="Google Shape;304;p22"/>
          <p:cNvSpPr txBox="1"/>
          <p:nvPr/>
        </p:nvSpPr>
        <p:spPr>
          <a:xfrm>
            <a:off x="762000" y="5095875"/>
            <a:ext cx="32385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45A36"/>
                </a:solidFill>
                <a:latin typeface="Inter"/>
                <a:ea typeface="Inter"/>
                <a:cs typeface="Inter"/>
                <a:sym typeface="Inter"/>
              </a:rPr>
              <a:t>DC Motors &amp; Relays:</a:t>
            </a:r>
            <a:r>
              <a:rPr b="0" lang="en" sz="1100">
                <a:solidFill>
                  <a:srgbClr val="374151"/>
                </a:solidFill>
                <a:latin typeface="Inter"/>
                <a:ea typeface="Inter"/>
                <a:cs typeface="Inter"/>
                <a:sym typeface="Inter"/>
              </a:rPr>
              <a:t> Electric motors and mechanical relays are inherently highly inductive loads. Their coils of wire create strong magnetic fields to generate physical motion.</a:t>
            </a:r>
            <a:endParaRPr b="0" sz="1100">
              <a:solidFill>
                <a:srgbClr val="374151"/>
              </a:solidFill>
              <a:latin typeface="Inter"/>
              <a:ea typeface="Inter"/>
              <a:cs typeface="Inter"/>
              <a:sym typeface="Inter"/>
            </a:endParaRPr>
          </a:p>
        </p:txBody>
      </p:sp>
      <p:sp>
        <p:nvSpPr>
          <p:cNvPr id="305" name="Google Shape;305;p22"/>
          <p:cNvSpPr txBox="1"/>
          <p:nvPr/>
        </p:nvSpPr>
        <p:spPr>
          <a:xfrm>
            <a:off x="4476750" y="5095875"/>
            <a:ext cx="32385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45A36"/>
                </a:solidFill>
                <a:latin typeface="Inter"/>
                <a:ea typeface="Inter"/>
                <a:cs typeface="Inter"/>
                <a:sym typeface="Inter"/>
              </a:rPr>
              <a:t>Switching Power Supplies:</a:t>
            </a:r>
            <a:r>
              <a:rPr b="0" lang="en" sz="1100">
                <a:solidFill>
                  <a:srgbClr val="374151"/>
                </a:solidFill>
                <a:latin typeface="Inter"/>
                <a:ea typeface="Inter"/>
                <a:cs typeface="Inter"/>
                <a:sym typeface="Inter"/>
              </a:rPr>
              <a:t> Inductors are core components in buck and boost converters, storing and releasing energy thousands of times per second to step voltages down or up efficiently.</a:t>
            </a:r>
            <a:endParaRPr b="0" sz="1100">
              <a:solidFill>
                <a:srgbClr val="374151"/>
              </a:solidFill>
              <a:latin typeface="Inter"/>
              <a:ea typeface="Inter"/>
              <a:cs typeface="Inter"/>
              <a:sym typeface="Inter"/>
            </a:endParaRPr>
          </a:p>
        </p:txBody>
      </p:sp>
      <p:sp>
        <p:nvSpPr>
          <p:cNvPr id="306" name="Google Shape;306;p22"/>
          <p:cNvSpPr txBox="1"/>
          <p:nvPr/>
        </p:nvSpPr>
        <p:spPr>
          <a:xfrm>
            <a:off x="8191500" y="5095875"/>
            <a:ext cx="20001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70">
                <a:solidFill>
                  <a:srgbClr val="045A36"/>
                </a:solidFill>
                <a:latin typeface="Inter"/>
                <a:ea typeface="Inter"/>
                <a:cs typeface="Inter"/>
                <a:sym typeface="Inter"/>
              </a:rPr>
              <a:t>Noise Filters &amp; RF Chokes:</a:t>
            </a:r>
            <a:r>
              <a:rPr b="0" lang="en" sz="770">
                <a:solidFill>
                  <a:srgbClr val="374151"/>
                </a:solidFill>
                <a:latin typeface="Inter"/>
                <a:ea typeface="Inter"/>
                <a:cs typeface="Inter"/>
                <a:sym typeface="Inter"/>
              </a:rPr>
              <a:t> Combined with capacitors, inductors form low-pass filters to block high-frequency electromagnetic interference (EMI) generated by motors, protecting the Arduino's logic lines.</a:t>
            </a:r>
            <a:endParaRPr b="0" sz="770">
              <a:solidFill>
                <a:srgbClr val="374151"/>
              </a:solidFill>
              <a:latin typeface="Inter"/>
              <a:ea typeface="Inter"/>
              <a:cs typeface="Inter"/>
              <a:sym typeface="Inter"/>
            </a:endParaRPr>
          </a:p>
        </p:txBody>
      </p:sp>
      <p:sp>
        <p:nvSpPr>
          <p:cNvPr id="307" name="Google Shape;307;p22"/>
          <p:cNvSpPr txBox="1"/>
          <p:nvPr/>
        </p:nvSpPr>
        <p:spPr>
          <a:xfrm>
            <a:off x="762000" y="6134100"/>
            <a:ext cx="5715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Government of Sindh | University of Sindh</a:t>
            </a:r>
            <a:endParaRPr b="0" sz="975">
              <a:solidFill>
                <a:srgbClr val="6B7280"/>
              </a:solidFill>
              <a:latin typeface="Inter"/>
              <a:ea typeface="Inter"/>
              <a:cs typeface="Inter"/>
              <a:sym typeface="Inter"/>
            </a:endParaRPr>
          </a:p>
        </p:txBody>
      </p:sp>
      <p:pic>
        <p:nvPicPr>
          <p:cNvPr id="308" name="Google Shape;308;p22"/>
          <p:cNvPicPr preferRelativeResize="0"/>
          <p:nvPr/>
        </p:nvPicPr>
        <p:blipFill rotWithShape="1">
          <a:blip r:embed="rId7">
            <a:alphaModFix/>
          </a:blip>
          <a:srcRect b="0" l="10" r="0" t="0"/>
          <a:stretch/>
        </p:blipFill>
        <p:spPr>
          <a:xfrm>
            <a:off x="10287000" y="5457825"/>
            <a:ext cx="1524000" cy="1019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2" name="Shape 312"/>
        <p:cNvGrpSpPr/>
        <p:nvPr/>
      </p:nvGrpSpPr>
      <p:grpSpPr>
        <a:xfrm>
          <a:off x="0" y="0"/>
          <a:ext cx="0" cy="0"/>
          <a:chOff x="0" y="0"/>
          <a:chExt cx="0" cy="0"/>
        </a:xfrm>
      </p:grpSpPr>
      <p:grpSp>
        <p:nvGrpSpPr>
          <p:cNvPr id="313" name="Google Shape;313;p23"/>
          <p:cNvGrpSpPr/>
          <p:nvPr/>
        </p:nvGrpSpPr>
        <p:grpSpPr>
          <a:xfrm>
            <a:off x="0" y="0"/>
            <a:ext cx="12192000" cy="76350"/>
            <a:chOff x="0" y="0"/>
            <a:chExt cx="12192000" cy="76350"/>
          </a:xfrm>
        </p:grpSpPr>
        <p:sp>
          <p:nvSpPr>
            <p:cNvPr id="314" name="Google Shape;314;p23"/>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23"/>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16" name="Google Shape;316;p23"/>
          <p:cNvGrpSpPr/>
          <p:nvPr/>
        </p:nvGrpSpPr>
        <p:grpSpPr>
          <a:xfrm>
            <a:off x="762000" y="571500"/>
            <a:ext cx="9525000" cy="476400"/>
            <a:chOff x="0" y="0"/>
            <a:chExt cx="9525000" cy="476400"/>
          </a:xfrm>
        </p:grpSpPr>
        <p:sp>
          <p:nvSpPr>
            <p:cNvPr id="317" name="Google Shape;317;p23"/>
            <p:cNvSpPr/>
            <p:nvPr/>
          </p:nvSpPr>
          <p:spPr>
            <a:xfrm>
              <a:off x="0" y="0"/>
              <a:ext cx="95250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3"/>
            <p:cNvSpPr txBox="1"/>
            <p:nvPr/>
          </p:nvSpPr>
          <p:spPr>
            <a:xfrm>
              <a:off x="0" y="0"/>
              <a:ext cx="9525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Capacitors vs. Inductors: Component Comparison</a:t>
              </a:r>
              <a:endParaRPr b="0" sz="2700">
                <a:solidFill>
                  <a:srgbClr val="045A36"/>
                </a:solidFill>
                <a:latin typeface="Montserrat SemiBold"/>
                <a:ea typeface="Montserrat SemiBold"/>
                <a:cs typeface="Montserrat SemiBold"/>
                <a:sym typeface="Montserrat SemiBold"/>
              </a:endParaRPr>
            </a:p>
          </p:txBody>
        </p:sp>
      </p:grpSp>
      <p:sp>
        <p:nvSpPr>
          <p:cNvPr id="319" name="Google Shape;319;p23"/>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3"/>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4B5563"/>
                </a:solidFill>
                <a:latin typeface="Inter Medium"/>
                <a:ea typeface="Inter Medium"/>
                <a:cs typeface="Inter Medium"/>
                <a:sym typeface="Inter Medium"/>
              </a:rPr>
              <a:t>A direct comparison of energy storage, physical behavior, schematic symbols, and typical operations of these two essential passive components.</a:t>
            </a:r>
            <a:endParaRPr b="0" sz="1200">
              <a:solidFill>
                <a:srgbClr val="4B5563"/>
              </a:solidFill>
              <a:latin typeface="Inter Medium"/>
              <a:ea typeface="Inter Medium"/>
              <a:cs typeface="Inter Medium"/>
              <a:sym typeface="Inter Medium"/>
            </a:endParaRPr>
          </a:p>
        </p:txBody>
      </p:sp>
      <p:grpSp>
        <p:nvGrpSpPr>
          <p:cNvPr id="321" name="Google Shape;321;p23"/>
          <p:cNvGrpSpPr/>
          <p:nvPr/>
        </p:nvGrpSpPr>
        <p:grpSpPr>
          <a:xfrm>
            <a:off x="762000" y="1762125"/>
            <a:ext cx="10668000" cy="3572025"/>
            <a:chOff x="0" y="0"/>
            <a:chExt cx="10668000" cy="3572025"/>
          </a:xfrm>
        </p:grpSpPr>
        <p:grpSp>
          <p:nvGrpSpPr>
            <p:cNvPr id="322" name="Google Shape;322;p23"/>
            <p:cNvGrpSpPr/>
            <p:nvPr/>
          </p:nvGrpSpPr>
          <p:grpSpPr>
            <a:xfrm>
              <a:off x="0" y="0"/>
              <a:ext cx="4953000" cy="3572025"/>
              <a:chOff x="0" y="0"/>
              <a:chExt cx="4953000" cy="3572025"/>
            </a:xfrm>
          </p:grpSpPr>
          <p:sp>
            <p:nvSpPr>
              <p:cNvPr id="323" name="Google Shape;323;p23"/>
              <p:cNvSpPr txBox="1"/>
              <p:nvPr/>
            </p:nvSpPr>
            <p:spPr>
              <a:xfrm>
                <a:off x="0" y="0"/>
                <a:ext cx="4953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045A36"/>
                    </a:solidFill>
                    <a:latin typeface="Inter"/>
                    <a:ea typeface="Inter"/>
                    <a:cs typeface="Inter"/>
                    <a:sym typeface="Inter"/>
                  </a:rPr>
                  <a:t>Capacitors</a:t>
                </a:r>
                <a:endParaRPr b="1" sz="1800">
                  <a:solidFill>
                    <a:srgbClr val="045A36"/>
                  </a:solidFill>
                  <a:latin typeface="Inter"/>
                  <a:ea typeface="Inter"/>
                  <a:cs typeface="Inter"/>
                  <a:sym typeface="Inter"/>
                </a:endParaRPr>
              </a:p>
            </p:txBody>
          </p:sp>
          <p:sp>
            <p:nvSpPr>
              <p:cNvPr id="324" name="Google Shape;324;p23"/>
              <p:cNvSpPr/>
              <p:nvPr/>
            </p:nvSpPr>
            <p:spPr>
              <a:xfrm>
                <a:off x="0" y="428625"/>
                <a:ext cx="49530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23"/>
              <p:cNvSpPr txBox="1"/>
              <p:nvPr/>
            </p:nvSpPr>
            <p:spPr>
              <a:xfrm>
                <a:off x="0" y="619125"/>
                <a:ext cx="49530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045A36"/>
                    </a:solidFill>
                    <a:latin typeface="Inter"/>
                    <a:ea typeface="Inter"/>
                    <a:cs typeface="Inter"/>
                    <a:sym typeface="Inter"/>
                  </a:rPr>
                  <a:t>Electrostatic Storage:</a:t>
                </a:r>
                <a:r>
                  <a:rPr b="0" lang="en" sz="1350">
                    <a:solidFill>
                      <a:srgbClr val="1F2937"/>
                    </a:solidFill>
                    <a:latin typeface="Inter Medium"/>
                    <a:ea typeface="Inter Medium"/>
                    <a:cs typeface="Inter Medium"/>
                    <a:sym typeface="Inter Medium"/>
                  </a:rPr>
                  <a:t> Stores energy in an electric field created by accumulated charges, resisting sudden changes in voltage to act as a buffer.</a:t>
                </a:r>
                <a:endParaRPr b="0" sz="1350">
                  <a:solidFill>
                    <a:srgbClr val="1F2937"/>
                  </a:solidFill>
                  <a:latin typeface="Inter Medium"/>
                  <a:ea typeface="Inter Medium"/>
                  <a:cs typeface="Inter Medium"/>
                  <a:sym typeface="Inter Medium"/>
                </a:endParaRPr>
              </a:p>
              <a:p>
                <a:pPr indent="0" lvl="0" marL="0" rtl="0" algn="l">
                  <a:spcBef>
                    <a:spcPts val="900"/>
                  </a:spcBef>
                  <a:spcAft>
                    <a:spcPts val="0"/>
                  </a:spcAft>
                  <a:buNone/>
                </a:pPr>
                <a:r>
                  <a:rPr b="1" lang="en" sz="1100">
                    <a:solidFill>
                      <a:srgbClr val="6B7280"/>
                    </a:solidFill>
                    <a:latin typeface="Inter"/>
                    <a:ea typeface="Inter"/>
                    <a:cs typeface="Inter"/>
                    <a:sym typeface="Inter"/>
                  </a:rPr>
                  <a:t>Core Properties &amp; Behavior:</a:t>
                </a:r>
                <a:endParaRPr b="1" sz="1100">
                  <a:solidFill>
                    <a:srgbClr val="6B7280"/>
                  </a:solidFill>
                  <a:latin typeface="Inter"/>
                  <a:ea typeface="Inter"/>
                  <a:cs typeface="Inter"/>
                  <a:sym typeface="Inter"/>
                </a:endParaRPr>
              </a:p>
              <a:p>
                <a:pPr indent="-314325" lvl="0" marL="457200" rtl="0" algn="l">
                  <a:spcBef>
                    <a:spcPts val="600"/>
                  </a:spcBef>
                  <a:spcAft>
                    <a:spcPts val="0"/>
                  </a:spcAft>
                  <a:buClr>
                    <a:srgbClr val="374151"/>
                  </a:buClr>
                  <a:buSzPts val="1350"/>
                  <a:buFont typeface="Inter"/>
                  <a:buChar char="●"/>
                </a:pPr>
                <a:r>
                  <a:rPr b="0" lang="en" sz="1350">
                    <a:solidFill>
                      <a:srgbClr val="045A36"/>
                    </a:solidFill>
                    <a:latin typeface="Inter SemiBold"/>
                    <a:ea typeface="Inter SemiBold"/>
                    <a:cs typeface="Inter SemiBold"/>
                    <a:sym typeface="Inter SemiBold"/>
                  </a:rPr>
                  <a:t>DC &amp; AC Response:</a:t>
                </a:r>
                <a:r>
                  <a:rPr b="0" lang="en" sz="1350">
                    <a:solidFill>
                      <a:srgbClr val="374151"/>
                    </a:solidFill>
                    <a:latin typeface="Inter"/>
                    <a:ea typeface="Inter"/>
                    <a:cs typeface="Inter"/>
                    <a:sym typeface="Inter"/>
                  </a:rPr>
                  <a:t> Blocks direct current (DC) entirely once charged, but passes alternating current (AC).</a:t>
                </a:r>
                <a:endParaRPr b="0" sz="1350">
                  <a:solidFill>
                    <a:srgbClr val="374151"/>
                  </a:solidFill>
                  <a:latin typeface="Inter"/>
                  <a:ea typeface="Inter"/>
                  <a:cs typeface="Inter"/>
                  <a:sym typeface="Inter"/>
                </a:endParaRPr>
              </a:p>
              <a:p>
                <a:pPr indent="-314325" lvl="0" marL="457200" rtl="0" algn="l">
                  <a:spcBef>
                    <a:spcPts val="750"/>
                  </a:spcBef>
                  <a:spcAft>
                    <a:spcPts val="0"/>
                  </a:spcAft>
                  <a:buClr>
                    <a:srgbClr val="374151"/>
                  </a:buClr>
                  <a:buSzPts val="1350"/>
                  <a:buFont typeface="Inter"/>
                  <a:buChar char="●"/>
                </a:pPr>
                <a:r>
                  <a:rPr b="0" lang="en" sz="1350">
                    <a:solidFill>
                      <a:srgbClr val="045A36"/>
                    </a:solidFill>
                    <a:latin typeface="Inter SemiBold"/>
                    <a:ea typeface="Inter SemiBold"/>
                    <a:cs typeface="Inter SemiBold"/>
                    <a:sym typeface="Inter SemiBold"/>
                  </a:rPr>
                  <a:t>Units &amp; Symbols:</a:t>
                </a:r>
                <a:r>
                  <a:rPr b="0" lang="en" sz="1350">
                    <a:solidFill>
                      <a:srgbClr val="374151"/>
                    </a:solidFill>
                    <a:latin typeface="Inter"/>
                    <a:ea typeface="Inter"/>
                    <a:cs typeface="Inter"/>
                    <a:sym typeface="Inter"/>
                  </a:rPr>
                  <a:t> Measured in Farads (F) and symbolized by two parallel plates.</a:t>
                </a:r>
                <a:endParaRPr b="0" sz="1350">
                  <a:solidFill>
                    <a:srgbClr val="374151"/>
                  </a:solidFill>
                  <a:latin typeface="Inter"/>
                  <a:ea typeface="Inter"/>
                  <a:cs typeface="Inter"/>
                  <a:sym typeface="Inter"/>
                </a:endParaRPr>
              </a:p>
              <a:p>
                <a:pPr indent="-314325" lvl="0" marL="457200" rtl="0" algn="l">
                  <a:spcBef>
                    <a:spcPts val="750"/>
                  </a:spcBef>
                  <a:spcAft>
                    <a:spcPts val="750"/>
                  </a:spcAft>
                  <a:buClr>
                    <a:srgbClr val="374151"/>
                  </a:buClr>
                  <a:buSzPts val="1350"/>
                  <a:buFont typeface="Inter"/>
                  <a:buChar char="●"/>
                </a:pPr>
                <a:r>
                  <a:rPr b="0" lang="en" sz="1350">
                    <a:solidFill>
                      <a:srgbClr val="045A36"/>
                    </a:solidFill>
                    <a:latin typeface="Inter SemiBold"/>
                    <a:ea typeface="Inter SemiBold"/>
                    <a:cs typeface="Inter SemiBold"/>
                    <a:sym typeface="Inter SemiBold"/>
                  </a:rPr>
                  <a:t>Applications:</a:t>
                </a:r>
                <a:r>
                  <a:rPr b="0" lang="en" sz="1350">
                    <a:solidFill>
                      <a:srgbClr val="374151"/>
                    </a:solidFill>
                    <a:latin typeface="Inter"/>
                    <a:ea typeface="Inter"/>
                    <a:cs typeface="Inter"/>
                    <a:sym typeface="Inter"/>
                  </a:rPr>
                  <a:t> Utilized for voltage smoothing, power conditioning, and noise filtering.</a:t>
                </a:r>
                <a:endParaRPr b="0" sz="1350">
                  <a:solidFill>
                    <a:srgbClr val="374151"/>
                  </a:solidFill>
                  <a:latin typeface="Inter"/>
                  <a:ea typeface="Inter"/>
                  <a:cs typeface="Inter"/>
                  <a:sym typeface="Inter"/>
                </a:endParaRPr>
              </a:p>
            </p:txBody>
          </p:sp>
        </p:grpSp>
        <p:sp>
          <p:nvSpPr>
            <p:cNvPr id="326" name="Google Shape;326;p23"/>
            <p:cNvSpPr/>
            <p:nvPr/>
          </p:nvSpPr>
          <p:spPr>
            <a:xfrm>
              <a:off x="5324475" y="0"/>
              <a:ext cx="19200" cy="34290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27" name="Google Shape;327;p23"/>
            <p:cNvGrpSpPr/>
            <p:nvPr/>
          </p:nvGrpSpPr>
          <p:grpSpPr>
            <a:xfrm>
              <a:off x="5715000" y="0"/>
              <a:ext cx="4953000" cy="3572025"/>
              <a:chOff x="0" y="0"/>
              <a:chExt cx="4953000" cy="3572025"/>
            </a:xfrm>
          </p:grpSpPr>
          <p:sp>
            <p:nvSpPr>
              <p:cNvPr id="328" name="Google Shape;328;p23"/>
              <p:cNvSpPr txBox="1"/>
              <p:nvPr/>
            </p:nvSpPr>
            <p:spPr>
              <a:xfrm>
                <a:off x="0" y="0"/>
                <a:ext cx="4953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045A36"/>
                    </a:solidFill>
                    <a:latin typeface="Inter"/>
                    <a:ea typeface="Inter"/>
                    <a:cs typeface="Inter"/>
                    <a:sym typeface="Inter"/>
                  </a:rPr>
                  <a:t>Inductors</a:t>
                </a:r>
                <a:endParaRPr b="1" sz="1800">
                  <a:solidFill>
                    <a:srgbClr val="045A36"/>
                  </a:solidFill>
                  <a:latin typeface="Inter"/>
                  <a:ea typeface="Inter"/>
                  <a:cs typeface="Inter"/>
                  <a:sym typeface="Inter"/>
                </a:endParaRPr>
              </a:p>
            </p:txBody>
          </p:sp>
          <p:sp>
            <p:nvSpPr>
              <p:cNvPr id="329" name="Google Shape;329;p23"/>
              <p:cNvSpPr/>
              <p:nvPr/>
            </p:nvSpPr>
            <p:spPr>
              <a:xfrm>
                <a:off x="0" y="428625"/>
                <a:ext cx="49530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23"/>
              <p:cNvSpPr txBox="1"/>
              <p:nvPr/>
            </p:nvSpPr>
            <p:spPr>
              <a:xfrm>
                <a:off x="0" y="619125"/>
                <a:ext cx="49530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045A36"/>
                    </a:solidFill>
                    <a:latin typeface="Inter"/>
                    <a:ea typeface="Inter"/>
                    <a:cs typeface="Inter"/>
                    <a:sym typeface="Inter"/>
                  </a:rPr>
                  <a:t>Electromagnetic Storage:</a:t>
                </a:r>
                <a:r>
                  <a:rPr b="0" lang="en" sz="1350">
                    <a:solidFill>
                      <a:srgbClr val="1F2937"/>
                    </a:solidFill>
                    <a:latin typeface="Inter Medium"/>
                    <a:ea typeface="Inter Medium"/>
                    <a:cs typeface="Inter Medium"/>
                    <a:sym typeface="Inter Medium"/>
                  </a:rPr>
                  <a:t> Stores energy in a magnetic field created by current flow, resisting sudden changes in current to act as an inertia barrier.</a:t>
                </a:r>
                <a:endParaRPr b="0" sz="1350">
                  <a:solidFill>
                    <a:srgbClr val="1F2937"/>
                  </a:solidFill>
                  <a:latin typeface="Inter Medium"/>
                  <a:ea typeface="Inter Medium"/>
                  <a:cs typeface="Inter Medium"/>
                  <a:sym typeface="Inter Medium"/>
                </a:endParaRPr>
              </a:p>
              <a:p>
                <a:pPr indent="0" lvl="0" marL="0" rtl="0" algn="l">
                  <a:spcBef>
                    <a:spcPts val="900"/>
                  </a:spcBef>
                  <a:spcAft>
                    <a:spcPts val="0"/>
                  </a:spcAft>
                  <a:buNone/>
                </a:pPr>
                <a:r>
                  <a:rPr b="1" lang="en" sz="1100">
                    <a:solidFill>
                      <a:srgbClr val="6B7280"/>
                    </a:solidFill>
                    <a:latin typeface="Inter"/>
                    <a:ea typeface="Inter"/>
                    <a:cs typeface="Inter"/>
                    <a:sym typeface="Inter"/>
                  </a:rPr>
                  <a:t>Core Properties &amp; Behavior:</a:t>
                </a:r>
                <a:endParaRPr b="1" sz="1100">
                  <a:solidFill>
                    <a:srgbClr val="6B7280"/>
                  </a:solidFill>
                  <a:latin typeface="Inter"/>
                  <a:ea typeface="Inter"/>
                  <a:cs typeface="Inter"/>
                  <a:sym typeface="Inter"/>
                </a:endParaRPr>
              </a:p>
              <a:p>
                <a:pPr indent="-314325" lvl="0" marL="457200" rtl="0" algn="l">
                  <a:spcBef>
                    <a:spcPts val="600"/>
                  </a:spcBef>
                  <a:spcAft>
                    <a:spcPts val="0"/>
                  </a:spcAft>
                  <a:buClr>
                    <a:srgbClr val="374151"/>
                  </a:buClr>
                  <a:buSzPts val="1350"/>
                  <a:buFont typeface="Inter"/>
                  <a:buChar char="●"/>
                </a:pPr>
                <a:r>
                  <a:rPr b="0" lang="en" sz="1350">
                    <a:solidFill>
                      <a:srgbClr val="045A36"/>
                    </a:solidFill>
                    <a:latin typeface="Inter SemiBold"/>
                    <a:ea typeface="Inter SemiBold"/>
                    <a:cs typeface="Inter SemiBold"/>
                    <a:sym typeface="Inter SemiBold"/>
                  </a:rPr>
                  <a:t>DC &amp; AC Response:</a:t>
                </a:r>
                <a:r>
                  <a:rPr b="0" lang="en" sz="1350">
                    <a:solidFill>
                      <a:srgbClr val="374151"/>
                    </a:solidFill>
                    <a:latin typeface="Inter"/>
                    <a:ea typeface="Inter"/>
                    <a:cs typeface="Inter"/>
                    <a:sym typeface="Inter"/>
                  </a:rPr>
                  <a:t> Passes steady direct current (DC) freely, but blocks high-frequency alternating current (AC).</a:t>
                </a:r>
                <a:endParaRPr b="0" sz="1350">
                  <a:solidFill>
                    <a:srgbClr val="374151"/>
                  </a:solidFill>
                  <a:latin typeface="Inter"/>
                  <a:ea typeface="Inter"/>
                  <a:cs typeface="Inter"/>
                  <a:sym typeface="Inter"/>
                </a:endParaRPr>
              </a:p>
              <a:p>
                <a:pPr indent="-314325" lvl="0" marL="457200" rtl="0" algn="l">
                  <a:spcBef>
                    <a:spcPts val="750"/>
                  </a:spcBef>
                  <a:spcAft>
                    <a:spcPts val="0"/>
                  </a:spcAft>
                  <a:buClr>
                    <a:srgbClr val="374151"/>
                  </a:buClr>
                  <a:buSzPts val="1350"/>
                  <a:buFont typeface="Inter"/>
                  <a:buChar char="●"/>
                </a:pPr>
                <a:r>
                  <a:rPr b="0" lang="en" sz="1350">
                    <a:solidFill>
                      <a:srgbClr val="045A36"/>
                    </a:solidFill>
                    <a:latin typeface="Inter SemiBold"/>
                    <a:ea typeface="Inter SemiBold"/>
                    <a:cs typeface="Inter SemiBold"/>
                    <a:sym typeface="Inter SemiBold"/>
                  </a:rPr>
                  <a:t>Units &amp; Symbols:</a:t>
                </a:r>
                <a:r>
                  <a:rPr b="0" lang="en" sz="1350">
                    <a:solidFill>
                      <a:srgbClr val="374151"/>
                    </a:solidFill>
                    <a:latin typeface="Inter"/>
                    <a:ea typeface="Inter"/>
                    <a:cs typeface="Inter"/>
                    <a:sym typeface="Inter"/>
                  </a:rPr>
                  <a:t> Measured in Henries (H) and symbolized by a series of coiled wire loops.</a:t>
                </a:r>
                <a:endParaRPr b="0" sz="1350">
                  <a:solidFill>
                    <a:srgbClr val="374151"/>
                  </a:solidFill>
                  <a:latin typeface="Inter"/>
                  <a:ea typeface="Inter"/>
                  <a:cs typeface="Inter"/>
                  <a:sym typeface="Inter"/>
                </a:endParaRPr>
              </a:p>
              <a:p>
                <a:pPr indent="-314325" lvl="0" marL="457200" rtl="0" algn="l">
                  <a:spcBef>
                    <a:spcPts val="750"/>
                  </a:spcBef>
                  <a:spcAft>
                    <a:spcPts val="750"/>
                  </a:spcAft>
                  <a:buClr>
                    <a:srgbClr val="374151"/>
                  </a:buClr>
                  <a:buSzPts val="1350"/>
                  <a:buFont typeface="Inter"/>
                  <a:buChar char="●"/>
                </a:pPr>
                <a:r>
                  <a:rPr b="0" lang="en" sz="1350">
                    <a:solidFill>
                      <a:srgbClr val="045A36"/>
                    </a:solidFill>
                    <a:latin typeface="Inter SemiBold"/>
                    <a:ea typeface="Inter SemiBold"/>
                    <a:cs typeface="Inter SemiBold"/>
                    <a:sym typeface="Inter SemiBold"/>
                  </a:rPr>
                  <a:t>Applications:</a:t>
                </a:r>
                <a:r>
                  <a:rPr b="0" lang="en" sz="1350">
                    <a:solidFill>
                      <a:srgbClr val="374151"/>
                    </a:solidFill>
                    <a:latin typeface="Inter"/>
                    <a:ea typeface="Inter"/>
                    <a:cs typeface="Inter"/>
                    <a:sym typeface="Inter"/>
                  </a:rPr>
                  <a:t> Utilized for current regulation, switching power converters, and motor electromagnetics.</a:t>
                </a:r>
                <a:endParaRPr b="0" sz="1350">
                  <a:solidFill>
                    <a:srgbClr val="374151"/>
                  </a:solidFill>
                  <a:latin typeface="Inter"/>
                  <a:ea typeface="Inter"/>
                  <a:cs typeface="Inter"/>
                  <a:sym typeface="Inter"/>
                </a:endParaRPr>
              </a:p>
            </p:txBody>
          </p:sp>
        </p:grpSp>
      </p:grpSp>
      <p:sp>
        <p:nvSpPr>
          <p:cNvPr id="331" name="Google Shape;331;p23"/>
          <p:cNvSpPr txBox="1"/>
          <p:nvPr/>
        </p:nvSpPr>
        <p:spPr>
          <a:xfrm>
            <a:off x="762000" y="613410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Module 7: Electronics for Arduino Programming | Robotics and Automation Systems</a:t>
            </a:r>
            <a:endParaRPr b="0" sz="975">
              <a:solidFill>
                <a:srgbClr val="6B7280"/>
              </a:solidFill>
              <a:latin typeface="Inter"/>
              <a:ea typeface="Inter"/>
              <a:cs typeface="Inter"/>
              <a:sym typeface="Inter"/>
            </a:endParaRPr>
          </a:p>
        </p:txBody>
      </p:sp>
      <p:sp>
        <p:nvSpPr>
          <p:cNvPr id="332" name="Google Shape;332;p23"/>
          <p:cNvSpPr/>
          <p:nvPr>
            <p:ph idx="2" type="pic"/>
          </p:nvPr>
        </p:nvSpPr>
        <p:spPr>
          <a:xfrm>
            <a:off x="10287000" y="5457825"/>
            <a:ext cx="1524000" cy="1019100"/>
          </a:xfrm>
          <a:prstGeom prst="rect">
            <a:avLst/>
          </a:prstGeom>
          <a:no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4"/>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38" name="Google Shape;338;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339" name="Google Shape;339;p24"/>
          <p:cNvPicPr preferRelativeResize="0"/>
          <p:nvPr/>
        </p:nvPicPr>
        <p:blipFill rotWithShape="1">
          <a:blip r:embed="rId4">
            <a:alphaModFix/>
          </a:blip>
          <a:srcRect b="0" l="130" r="130" t="0"/>
          <a:stretch/>
        </p:blipFill>
        <p:spPr>
          <a:xfrm>
            <a:off x="0" y="0"/>
            <a:ext cx="12192000" cy="57300"/>
          </a:xfrm>
          <a:prstGeom prst="rect">
            <a:avLst/>
          </a:prstGeom>
          <a:noFill/>
          <a:ln>
            <a:noFill/>
          </a:ln>
        </p:spPr>
      </p:pic>
      <p:sp>
        <p:nvSpPr>
          <p:cNvPr id="340" name="Google Shape;340;p24"/>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Introduction to Diodes</a:t>
            </a:r>
            <a:endParaRPr b="0" sz="2700">
              <a:solidFill>
                <a:srgbClr val="045A36"/>
              </a:solidFill>
              <a:latin typeface="Montserrat SemiBold"/>
              <a:ea typeface="Montserrat SemiBold"/>
              <a:cs typeface="Montserrat SemiBold"/>
              <a:sym typeface="Montserrat SemiBold"/>
            </a:endParaRPr>
          </a:p>
        </p:txBody>
      </p:sp>
      <p:sp>
        <p:nvSpPr>
          <p:cNvPr id="341" name="Google Shape;341;p24"/>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2" name="Google Shape;342;p24"/>
          <p:cNvGrpSpPr/>
          <p:nvPr/>
        </p:nvGrpSpPr>
        <p:grpSpPr>
          <a:xfrm>
            <a:off x="762000" y="1428750"/>
            <a:ext cx="3810000" cy="3810000"/>
            <a:chOff x="0" y="0"/>
            <a:chExt cx="3810000" cy="3810000"/>
          </a:xfrm>
        </p:grpSpPr>
        <p:sp>
          <p:nvSpPr>
            <p:cNvPr id="343" name="Google Shape;343;p24"/>
            <p:cNvSpPr/>
            <p:nvPr/>
          </p:nvSpPr>
          <p:spPr>
            <a:xfrm>
              <a:off x="0" y="0"/>
              <a:ext cx="3810000" cy="3810000"/>
            </a:xfrm>
            <a:prstGeom prst="roundRect">
              <a:avLst>
                <a:gd fmla="val 3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44" name="Google Shape;344;p24"/>
            <p:cNvPicPr preferRelativeResize="0"/>
            <p:nvPr/>
          </p:nvPicPr>
          <p:blipFill rotWithShape="1">
            <a:blip r:embed="rId5">
              <a:alphaModFix/>
            </a:blip>
            <a:srcRect b="0" l="0" r="0" t="0"/>
            <a:stretch/>
          </p:blipFill>
          <p:spPr>
            <a:xfrm>
              <a:off x="190500" y="190500"/>
              <a:ext cx="3429000" cy="3429000"/>
            </a:xfrm>
            <a:prstGeom prst="rect">
              <a:avLst/>
            </a:prstGeom>
            <a:noFill/>
            <a:ln>
              <a:noFill/>
            </a:ln>
          </p:spPr>
        </p:pic>
      </p:grpSp>
      <p:grpSp>
        <p:nvGrpSpPr>
          <p:cNvPr id="345" name="Google Shape;345;p24"/>
          <p:cNvGrpSpPr/>
          <p:nvPr/>
        </p:nvGrpSpPr>
        <p:grpSpPr>
          <a:xfrm>
            <a:off x="4857750" y="1428750"/>
            <a:ext cx="6572400" cy="3552975"/>
            <a:chOff x="0" y="0"/>
            <a:chExt cx="6572400" cy="3552975"/>
          </a:xfrm>
        </p:grpSpPr>
        <p:sp>
          <p:nvSpPr>
            <p:cNvPr id="346" name="Google Shape;346;p24"/>
            <p:cNvSpPr txBox="1"/>
            <p:nvPr/>
          </p:nvSpPr>
          <p:spPr>
            <a:xfrm>
              <a:off x="0" y="0"/>
              <a:ext cx="65724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D4A017"/>
                  </a:solidFill>
                  <a:latin typeface="Inter"/>
                  <a:ea typeface="Inter"/>
                  <a:cs typeface="Inter"/>
                  <a:sym typeface="Inter"/>
                </a:rPr>
                <a:t>Semiconductor Basics &amp; One-Way Flow</a:t>
              </a:r>
              <a:endParaRPr b="1" sz="1800">
                <a:solidFill>
                  <a:srgbClr val="D4A017"/>
                </a:solidFill>
                <a:latin typeface="Inter"/>
                <a:ea typeface="Inter"/>
                <a:cs typeface="Inter"/>
                <a:sym typeface="Inter"/>
              </a:endParaRPr>
            </a:p>
          </p:txBody>
        </p:sp>
        <p:sp>
          <p:nvSpPr>
            <p:cNvPr id="347" name="Google Shape;347;p24"/>
            <p:cNvSpPr/>
            <p:nvPr/>
          </p:nvSpPr>
          <p:spPr>
            <a:xfrm>
              <a:off x="0" y="400050"/>
              <a:ext cx="762000" cy="381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24"/>
            <p:cNvSpPr txBox="1"/>
            <p:nvPr/>
          </p:nvSpPr>
          <p:spPr>
            <a:xfrm>
              <a:off x="0" y="571500"/>
              <a:ext cx="6572400" cy="857400"/>
            </a:xfrm>
            <a:prstGeom prst="rect">
              <a:avLst/>
            </a:prstGeom>
            <a:noFill/>
            <a:ln>
              <a:noFill/>
            </a:ln>
          </p:spPr>
          <p:txBody>
            <a:bodyPr anchorCtr="0" anchor="t" bIns="0" lIns="0" spcFirstLastPara="1" rIns="0" wrap="square" tIns="0">
              <a:noAutofit/>
            </a:bodyPr>
            <a:lstStyle/>
            <a:p>
              <a:pPr indent="0" lvl="0" marL="0" rtl="0" algn="l">
                <a:spcBef>
                  <a:spcPts val="750"/>
                </a:spcBef>
                <a:spcAft>
                  <a:spcPts val="0"/>
                </a:spcAft>
                <a:buNone/>
              </a:pPr>
              <a:r>
                <a:rPr b="0" i="1" lang="en" sz="1300">
                  <a:solidFill>
                    <a:srgbClr val="1F2937"/>
                  </a:solidFill>
                  <a:latin typeface="Inter"/>
                  <a:ea typeface="Inter"/>
                  <a:cs typeface="Inter"/>
                  <a:sym typeface="Inter"/>
                </a:rPr>
                <a:t>“A diode acts as an electrical one-way check valve, permitting current to flow easily in one direction while blocking reverse flow to protect sensitive components.”</a:t>
              </a:r>
              <a:endParaRPr b="0" i="1" sz="1300">
                <a:solidFill>
                  <a:srgbClr val="1F2937"/>
                </a:solidFill>
                <a:latin typeface="Inter"/>
                <a:ea typeface="Inter"/>
                <a:cs typeface="Inter"/>
                <a:sym typeface="Inter"/>
              </a:endParaRPr>
            </a:p>
          </p:txBody>
        </p:sp>
        <p:grpSp>
          <p:nvGrpSpPr>
            <p:cNvPr id="349" name="Google Shape;349;p24"/>
            <p:cNvGrpSpPr/>
            <p:nvPr/>
          </p:nvGrpSpPr>
          <p:grpSpPr>
            <a:xfrm>
              <a:off x="0" y="1476375"/>
              <a:ext cx="6572175" cy="2076600"/>
              <a:chOff x="0" y="0"/>
              <a:chExt cx="6572175" cy="2076600"/>
            </a:xfrm>
          </p:grpSpPr>
          <p:grpSp>
            <p:nvGrpSpPr>
              <p:cNvPr id="350" name="Google Shape;350;p24"/>
              <p:cNvGrpSpPr/>
              <p:nvPr/>
            </p:nvGrpSpPr>
            <p:grpSpPr>
              <a:xfrm>
                <a:off x="0" y="0"/>
                <a:ext cx="6572175" cy="476400"/>
                <a:chOff x="0" y="0"/>
                <a:chExt cx="6572175" cy="476400"/>
              </a:xfrm>
            </p:grpSpPr>
            <p:grpSp>
              <p:nvGrpSpPr>
                <p:cNvPr id="351" name="Google Shape;351;p24"/>
                <p:cNvGrpSpPr/>
                <p:nvPr/>
              </p:nvGrpSpPr>
              <p:grpSpPr>
                <a:xfrm>
                  <a:off x="0" y="28575"/>
                  <a:ext cx="190500" cy="190500"/>
                  <a:chOff x="0" y="0"/>
                  <a:chExt cx="190500" cy="190500"/>
                </a:xfrm>
              </p:grpSpPr>
              <p:sp>
                <p:nvSpPr>
                  <p:cNvPr id="352" name="Google Shape;352;p24"/>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3" name="Google Shape;353;p24"/>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54" name="Google Shape;354;p24"/>
                <p:cNvSpPr txBox="1"/>
                <p:nvPr/>
              </p:nvSpPr>
              <p:spPr>
                <a:xfrm>
                  <a:off x="333375" y="0"/>
                  <a:ext cx="62388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50">
                      <a:solidFill>
                        <a:srgbClr val="045A36"/>
                      </a:solidFill>
                      <a:latin typeface="Inter"/>
                      <a:ea typeface="Inter"/>
                      <a:cs typeface="Inter"/>
                      <a:sym typeface="Inter"/>
                    </a:rPr>
                    <a:t>Semiconductor Materials:</a:t>
                  </a:r>
                  <a:r>
                    <a:rPr b="0" lang="en" sz="1150">
                      <a:solidFill>
                        <a:srgbClr val="374151"/>
                      </a:solidFill>
                      <a:latin typeface="Inter"/>
                      <a:ea typeface="Inter"/>
                      <a:cs typeface="Inter"/>
                      <a:sym typeface="Inter"/>
                    </a:rPr>
                    <a:t> Constructed by joining P-type material (rich in positive 'holes') and N-type material (rich in negative electrons).</a:t>
                  </a:r>
                  <a:endParaRPr b="0" sz="1150">
                    <a:solidFill>
                      <a:srgbClr val="374151"/>
                    </a:solidFill>
                    <a:latin typeface="Inter"/>
                    <a:ea typeface="Inter"/>
                    <a:cs typeface="Inter"/>
                    <a:sym typeface="Inter"/>
                  </a:endParaRPr>
                </a:p>
              </p:txBody>
            </p:sp>
          </p:grpSp>
          <p:grpSp>
            <p:nvGrpSpPr>
              <p:cNvPr id="355" name="Google Shape;355;p24"/>
              <p:cNvGrpSpPr/>
              <p:nvPr/>
            </p:nvGrpSpPr>
            <p:grpSpPr>
              <a:xfrm>
                <a:off x="0" y="533400"/>
                <a:ext cx="6572175" cy="476400"/>
                <a:chOff x="0" y="0"/>
                <a:chExt cx="6572175" cy="476400"/>
              </a:xfrm>
            </p:grpSpPr>
            <p:grpSp>
              <p:nvGrpSpPr>
                <p:cNvPr id="356" name="Google Shape;356;p24"/>
                <p:cNvGrpSpPr/>
                <p:nvPr/>
              </p:nvGrpSpPr>
              <p:grpSpPr>
                <a:xfrm>
                  <a:off x="0" y="28575"/>
                  <a:ext cx="190500" cy="190500"/>
                  <a:chOff x="0" y="0"/>
                  <a:chExt cx="190500" cy="190500"/>
                </a:xfrm>
              </p:grpSpPr>
              <p:sp>
                <p:nvSpPr>
                  <p:cNvPr id="357" name="Google Shape;357;p24"/>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24"/>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59" name="Google Shape;359;p24"/>
                <p:cNvSpPr txBox="1"/>
                <p:nvPr/>
              </p:nvSpPr>
              <p:spPr>
                <a:xfrm>
                  <a:off x="333375" y="0"/>
                  <a:ext cx="62388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50">
                      <a:solidFill>
                        <a:srgbClr val="045A36"/>
                      </a:solidFill>
                      <a:latin typeface="Inter"/>
                      <a:ea typeface="Inter"/>
                      <a:cs typeface="Inter"/>
                      <a:sym typeface="Inter"/>
                    </a:rPr>
                    <a:t>The PN Junction:</a:t>
                  </a:r>
                  <a:r>
                    <a:rPr b="0" lang="en" sz="1150">
                      <a:solidFill>
                        <a:srgbClr val="374151"/>
                      </a:solidFill>
                      <a:latin typeface="Inter"/>
                      <a:ea typeface="Inter"/>
                      <a:cs typeface="Inter"/>
                      <a:sym typeface="Inter"/>
                    </a:rPr>
                    <a:t> The contact boundary forms a 'depletion region' barrier that restricts natural electron flow until a specific voltage threshold is applied.</a:t>
                  </a:r>
                  <a:endParaRPr b="0" sz="1150">
                    <a:solidFill>
                      <a:srgbClr val="374151"/>
                    </a:solidFill>
                    <a:latin typeface="Inter"/>
                    <a:ea typeface="Inter"/>
                    <a:cs typeface="Inter"/>
                    <a:sym typeface="Inter"/>
                  </a:endParaRPr>
                </a:p>
              </p:txBody>
            </p:sp>
          </p:grpSp>
          <p:grpSp>
            <p:nvGrpSpPr>
              <p:cNvPr id="360" name="Google Shape;360;p24"/>
              <p:cNvGrpSpPr/>
              <p:nvPr/>
            </p:nvGrpSpPr>
            <p:grpSpPr>
              <a:xfrm>
                <a:off x="0" y="1066800"/>
                <a:ext cx="6572175" cy="476400"/>
                <a:chOff x="0" y="0"/>
                <a:chExt cx="6572175" cy="476400"/>
              </a:xfrm>
            </p:grpSpPr>
            <p:grpSp>
              <p:nvGrpSpPr>
                <p:cNvPr id="361" name="Google Shape;361;p24"/>
                <p:cNvGrpSpPr/>
                <p:nvPr/>
              </p:nvGrpSpPr>
              <p:grpSpPr>
                <a:xfrm>
                  <a:off x="0" y="28575"/>
                  <a:ext cx="190500" cy="190500"/>
                  <a:chOff x="0" y="0"/>
                  <a:chExt cx="190500" cy="190500"/>
                </a:xfrm>
              </p:grpSpPr>
              <p:sp>
                <p:nvSpPr>
                  <p:cNvPr id="362" name="Google Shape;362;p24"/>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24"/>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64" name="Google Shape;364;p24"/>
                <p:cNvSpPr txBox="1"/>
                <p:nvPr/>
              </p:nvSpPr>
              <p:spPr>
                <a:xfrm>
                  <a:off x="333375" y="0"/>
                  <a:ext cx="62388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50">
                      <a:solidFill>
                        <a:srgbClr val="045A36"/>
                      </a:solidFill>
                      <a:latin typeface="Inter"/>
                      <a:ea typeface="Inter"/>
                      <a:cs typeface="Inter"/>
                      <a:sym typeface="Inter"/>
                    </a:rPr>
                    <a:t>One-Way Flow Principle:</a:t>
                  </a:r>
                  <a:r>
                    <a:rPr b="0" lang="en" sz="1150">
                      <a:solidFill>
                        <a:srgbClr val="374151"/>
                      </a:solidFill>
                      <a:latin typeface="Inter"/>
                      <a:ea typeface="Inter"/>
                      <a:cs typeface="Inter"/>
                      <a:sym typeface="Inter"/>
                    </a:rPr>
                    <a:t> Conventional current can only flow from the Anode (positive) to the Cathode (negative). Reverse flow is blocked.</a:t>
                  </a:r>
                  <a:endParaRPr b="0" sz="1150">
                    <a:solidFill>
                      <a:srgbClr val="374151"/>
                    </a:solidFill>
                    <a:latin typeface="Inter"/>
                    <a:ea typeface="Inter"/>
                    <a:cs typeface="Inter"/>
                    <a:sym typeface="Inter"/>
                  </a:endParaRPr>
                </a:p>
              </p:txBody>
            </p:sp>
          </p:grpSp>
          <p:grpSp>
            <p:nvGrpSpPr>
              <p:cNvPr id="365" name="Google Shape;365;p24"/>
              <p:cNvGrpSpPr/>
              <p:nvPr/>
            </p:nvGrpSpPr>
            <p:grpSpPr>
              <a:xfrm>
                <a:off x="0" y="1600200"/>
                <a:ext cx="6572175" cy="476400"/>
                <a:chOff x="0" y="0"/>
                <a:chExt cx="6572175" cy="476400"/>
              </a:xfrm>
            </p:grpSpPr>
            <p:grpSp>
              <p:nvGrpSpPr>
                <p:cNvPr id="366" name="Google Shape;366;p24"/>
                <p:cNvGrpSpPr/>
                <p:nvPr/>
              </p:nvGrpSpPr>
              <p:grpSpPr>
                <a:xfrm>
                  <a:off x="0" y="28575"/>
                  <a:ext cx="190500" cy="190500"/>
                  <a:chOff x="0" y="0"/>
                  <a:chExt cx="190500" cy="190500"/>
                </a:xfrm>
              </p:grpSpPr>
              <p:sp>
                <p:nvSpPr>
                  <p:cNvPr id="367" name="Google Shape;367;p24"/>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24"/>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69" name="Google Shape;369;p24"/>
                <p:cNvSpPr txBox="1"/>
                <p:nvPr/>
              </p:nvSpPr>
              <p:spPr>
                <a:xfrm>
                  <a:off x="333375" y="0"/>
                  <a:ext cx="62388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50">
                      <a:solidFill>
                        <a:srgbClr val="045A36"/>
                      </a:solidFill>
                      <a:latin typeface="Inter"/>
                      <a:ea typeface="Inter"/>
                      <a:cs typeface="Inter"/>
                      <a:sym typeface="Inter"/>
                    </a:rPr>
                    <a:t>Schematic Symbol:</a:t>
                  </a:r>
                  <a:r>
                    <a:rPr b="0" lang="en" sz="1150">
                      <a:solidFill>
                        <a:srgbClr val="374151"/>
                      </a:solidFill>
                      <a:latin typeface="Inter"/>
                      <a:ea typeface="Inter"/>
                      <a:cs typeface="Inter"/>
                      <a:sym typeface="Inter"/>
                    </a:rPr>
                    <a:t> A triangle pointing to a vertical line, where the triangle represents the permitted flow direction and the flat line symbolizes the block.</a:t>
                  </a:r>
                  <a:endParaRPr b="0" sz="1150">
                    <a:solidFill>
                      <a:srgbClr val="374151"/>
                    </a:solidFill>
                    <a:latin typeface="Inter"/>
                    <a:ea typeface="Inter"/>
                    <a:cs typeface="Inter"/>
                    <a:sym typeface="Inter"/>
                  </a:endParaRPr>
                </a:p>
              </p:txBody>
            </p:sp>
          </p:grpSp>
        </p:grpSp>
      </p:grpSp>
      <p:pic>
        <p:nvPicPr>
          <p:cNvPr id="370" name="Google Shape;370;p24"/>
          <p:cNvPicPr preferRelativeResize="0"/>
          <p:nvPr/>
        </p:nvPicPr>
        <p:blipFill rotWithShape="1">
          <a:blip r:embed="rId6">
            <a:alphaModFix/>
          </a:blip>
          <a:srcRect b="0" l="0" r="0" t="0"/>
          <a:stretch/>
        </p:blipFill>
        <p:spPr>
          <a:xfrm>
            <a:off x="762000" y="5981700"/>
            <a:ext cx="10668000" cy="304800"/>
          </a:xfrm>
          <a:prstGeom prst="rect">
            <a:avLst/>
          </a:prstGeom>
          <a:noFill/>
          <a:ln>
            <a:noFill/>
          </a:ln>
        </p:spPr>
      </p:pic>
      <p:pic>
        <p:nvPicPr>
          <p:cNvPr id="371" name="Google Shape;371;p24"/>
          <p:cNvPicPr preferRelativeResize="0"/>
          <p:nvPr/>
        </p:nvPicPr>
        <p:blipFill rotWithShape="1">
          <a:blip r:embed="rId7">
            <a:alphaModFix/>
          </a:blip>
          <a:srcRect b="466" l="10" r="0" t="466"/>
          <a:stretch/>
        </p:blipFill>
        <p:spPr>
          <a:xfrm>
            <a:off x="10287000" y="5457825"/>
            <a:ext cx="1524000" cy="1009800"/>
          </a:xfrm>
          <a:prstGeom prst="rect">
            <a:avLst/>
          </a:prstGeom>
          <a:noFill/>
          <a:ln>
            <a:noFill/>
          </a:ln>
        </p:spPr>
      </p:pic>
      <p:grpSp>
        <p:nvGrpSpPr>
          <p:cNvPr id="372" name="Google Shape;372;p24"/>
          <p:cNvGrpSpPr/>
          <p:nvPr/>
        </p:nvGrpSpPr>
        <p:grpSpPr>
          <a:xfrm>
            <a:off x="762000" y="6134100"/>
            <a:ext cx="4762500" cy="190500"/>
            <a:chOff x="0" y="0"/>
            <a:chExt cx="4762500" cy="190500"/>
          </a:xfrm>
        </p:grpSpPr>
        <p:sp>
          <p:nvSpPr>
            <p:cNvPr id="373" name="Google Shape;373;p24"/>
            <p:cNvSpPr/>
            <p:nvPr/>
          </p:nvSpPr>
          <p:spPr>
            <a:xfrm>
              <a:off x="0" y="0"/>
              <a:ext cx="47625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4" name="Google Shape;374;p24"/>
            <p:cNvSpPr txBox="1"/>
            <p:nvPr/>
          </p:nvSpPr>
          <p:spPr>
            <a:xfrm>
              <a:off x="0" y="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of Electronics | Robotics and Automation Systems</a:t>
              </a:r>
              <a:endParaRPr b="0" sz="975">
                <a:solidFill>
                  <a:srgbClr val="6B7280"/>
                </a:solidFill>
                <a:latin typeface="Inter"/>
                <a:ea typeface="Inter"/>
                <a:cs typeface="Inter"/>
                <a:sym typeface="Inte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8" name="Shape 378"/>
        <p:cNvGrpSpPr/>
        <p:nvPr/>
      </p:nvGrpSpPr>
      <p:grpSpPr>
        <a:xfrm>
          <a:off x="0" y="0"/>
          <a:ext cx="0" cy="0"/>
          <a:chOff x="0" y="0"/>
          <a:chExt cx="0" cy="0"/>
        </a:xfrm>
      </p:grpSpPr>
      <p:grpSp>
        <p:nvGrpSpPr>
          <p:cNvPr id="379" name="Google Shape;379;p25"/>
          <p:cNvGrpSpPr/>
          <p:nvPr/>
        </p:nvGrpSpPr>
        <p:grpSpPr>
          <a:xfrm>
            <a:off x="0" y="0"/>
            <a:ext cx="12192000" cy="76350"/>
            <a:chOff x="0" y="0"/>
            <a:chExt cx="12192000" cy="76350"/>
          </a:xfrm>
        </p:grpSpPr>
        <p:sp>
          <p:nvSpPr>
            <p:cNvPr id="380" name="Google Shape;380;p25"/>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25"/>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82" name="Google Shape;382;p25"/>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3" name="Google Shape;383;p25"/>
          <p:cNvSpPr txBox="1"/>
          <p:nvPr/>
        </p:nvSpPr>
        <p:spPr>
          <a:xfrm>
            <a:off x="762000" y="523875"/>
            <a:ext cx="106680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045A36"/>
                </a:solidFill>
                <a:latin typeface="Montserrat SemiBold"/>
                <a:ea typeface="Montserrat SemiBold"/>
                <a:cs typeface="Montserrat SemiBold"/>
                <a:sym typeface="Montserrat SemiBold"/>
              </a:rPr>
              <a:t>Forward Bias vs. Reverse Bias: Current Behavior Under Voltage</a:t>
            </a:r>
            <a:endParaRPr b="0" sz="2400">
              <a:solidFill>
                <a:srgbClr val="045A36"/>
              </a:solidFill>
              <a:latin typeface="Montserrat SemiBold"/>
              <a:ea typeface="Montserrat SemiBold"/>
              <a:cs typeface="Montserrat SemiBold"/>
              <a:sym typeface="Montserrat SemiBold"/>
            </a:endParaRPr>
          </a:p>
        </p:txBody>
      </p:sp>
      <p:sp>
        <p:nvSpPr>
          <p:cNvPr id="384" name="Google Shape;384;p25"/>
          <p:cNvSpPr txBox="1"/>
          <p:nvPr/>
        </p:nvSpPr>
        <p:spPr>
          <a:xfrm>
            <a:off x="762000" y="1257300"/>
            <a:ext cx="10668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374151"/>
                </a:solidFill>
                <a:latin typeface="Inter Medium"/>
                <a:ea typeface="Inter Medium"/>
                <a:cs typeface="Inter Medium"/>
                <a:sym typeface="Inter Medium"/>
              </a:rPr>
              <a:t>The behavior of a diode is entirely determined by the electrical polarity and magnitude of the voltage applied across its terminals.</a:t>
            </a:r>
            <a:endParaRPr b="0" sz="1350">
              <a:solidFill>
                <a:srgbClr val="374151"/>
              </a:solidFill>
              <a:latin typeface="Inter Medium"/>
              <a:ea typeface="Inter Medium"/>
              <a:cs typeface="Inter Medium"/>
              <a:sym typeface="Inter Medium"/>
            </a:endParaRPr>
          </a:p>
        </p:txBody>
      </p:sp>
      <p:sp>
        <p:nvSpPr>
          <p:cNvPr id="385" name="Google Shape;385;p25"/>
          <p:cNvSpPr/>
          <p:nvPr/>
        </p:nvSpPr>
        <p:spPr>
          <a:xfrm>
            <a:off x="762000" y="1857375"/>
            <a:ext cx="5000700" cy="3905400"/>
          </a:xfrm>
          <a:prstGeom prst="roundRect">
            <a:avLst>
              <a:gd fmla="val 292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6" name="Google Shape;386;p25"/>
          <p:cNvSpPr/>
          <p:nvPr/>
        </p:nvSpPr>
        <p:spPr>
          <a:xfrm>
            <a:off x="762000" y="1857375"/>
            <a:ext cx="5000700" cy="1524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25"/>
          <p:cNvSpPr/>
          <p:nvPr/>
        </p:nvSpPr>
        <p:spPr>
          <a:xfrm>
            <a:off x="762000" y="1952625"/>
            <a:ext cx="50007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88" name="Google Shape;388;p25"/>
          <p:cNvGrpSpPr/>
          <p:nvPr/>
        </p:nvGrpSpPr>
        <p:grpSpPr>
          <a:xfrm>
            <a:off x="1000125" y="2047875"/>
            <a:ext cx="4524300" cy="3381375"/>
            <a:chOff x="0" y="0"/>
            <a:chExt cx="4524300" cy="3381375"/>
          </a:xfrm>
        </p:grpSpPr>
        <p:sp>
          <p:nvSpPr>
            <p:cNvPr id="389" name="Google Shape;389;p25"/>
            <p:cNvSpPr txBox="1"/>
            <p:nvPr/>
          </p:nvSpPr>
          <p:spPr>
            <a:xfrm>
              <a:off x="0" y="0"/>
              <a:ext cx="45243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045A36"/>
                  </a:solidFill>
                  <a:latin typeface="Inter"/>
                  <a:ea typeface="Inter"/>
                  <a:cs typeface="Inter"/>
                  <a:sym typeface="Inter"/>
                </a:rPr>
                <a:t>Forward Bias (Conducting)</a:t>
              </a:r>
              <a:endParaRPr b="1" sz="1800">
                <a:solidFill>
                  <a:srgbClr val="045A36"/>
                </a:solidFill>
                <a:latin typeface="Inter"/>
                <a:ea typeface="Inter"/>
                <a:cs typeface="Inter"/>
                <a:sym typeface="Inter"/>
              </a:endParaRPr>
            </a:p>
          </p:txBody>
        </p:sp>
        <p:sp>
          <p:nvSpPr>
            <p:cNvPr id="390" name="Google Shape;390;p25"/>
            <p:cNvSpPr/>
            <p:nvPr/>
          </p:nvSpPr>
          <p:spPr>
            <a:xfrm>
              <a:off x="0" y="381000"/>
              <a:ext cx="4524300" cy="144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1" name="Google Shape;391;p25"/>
            <p:cNvSpPr txBox="1"/>
            <p:nvPr/>
          </p:nvSpPr>
          <p:spPr>
            <a:xfrm>
              <a:off x="0" y="523875"/>
              <a:ext cx="45243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374151"/>
                  </a:solidFill>
                  <a:latin typeface="Inter"/>
                  <a:ea typeface="Inter"/>
                  <a:cs typeface="Inter"/>
                  <a:sym typeface="Inter"/>
                </a:rPr>
                <a:t>When the positive terminal of a voltage source is connected to the Anode and the negative to the Cathode, the diode is forward-biased. The depletion region collapses, enabling current flow.</a:t>
              </a:r>
              <a:endParaRPr b="0" sz="1150">
                <a:solidFill>
                  <a:srgbClr val="374151"/>
                </a:solidFill>
                <a:latin typeface="Inter"/>
                <a:ea typeface="Inter"/>
                <a:cs typeface="Inter"/>
                <a:sym typeface="Inter"/>
              </a:endParaRPr>
            </a:p>
            <a:p>
              <a:pPr indent="0" lvl="0" marL="0" rtl="0" algn="l">
                <a:spcBef>
                  <a:spcPts val="750"/>
                </a:spcBef>
                <a:spcAft>
                  <a:spcPts val="0"/>
                </a:spcAft>
                <a:buNone/>
              </a:pPr>
              <a:r>
                <a:rPr b="1" lang="en" sz="1050">
                  <a:solidFill>
                    <a:srgbClr val="6B7280"/>
                  </a:solidFill>
                  <a:latin typeface="Inter"/>
                  <a:ea typeface="Inter"/>
                  <a:cs typeface="Inter"/>
                  <a:sym typeface="Inter"/>
                </a:rPr>
                <a:t>Key Behavior:</a:t>
              </a:r>
              <a:endParaRPr b="1" sz="1050">
                <a:solidFill>
                  <a:srgbClr val="6B7280"/>
                </a:solidFill>
                <a:latin typeface="Inter"/>
                <a:ea typeface="Inter"/>
                <a:cs typeface="Inter"/>
                <a:sym typeface="Inter"/>
              </a:endParaRPr>
            </a:p>
            <a:p>
              <a:pPr indent="-301625" lvl="0" marL="457200" rtl="0" algn="l">
                <a:spcBef>
                  <a:spcPts val="450"/>
                </a:spcBef>
                <a:spcAft>
                  <a:spcPts val="0"/>
                </a:spcAft>
                <a:buClr>
                  <a:srgbClr val="374151"/>
                </a:buClr>
                <a:buSzPts val="1150"/>
                <a:buFont typeface="Inter"/>
                <a:buChar char="●"/>
              </a:pPr>
              <a:r>
                <a:rPr b="0" lang="en" sz="1150">
                  <a:solidFill>
                    <a:srgbClr val="374151"/>
                  </a:solidFill>
                  <a:latin typeface="Inter"/>
                  <a:ea typeface="Inter"/>
                  <a:cs typeface="Inter"/>
                  <a:sym typeface="Inter"/>
                </a:rPr>
                <a:t>Requires minimum forward voltage of ~0.7V to conduct.</a:t>
              </a:r>
              <a:endParaRPr b="0" sz="1150">
                <a:solidFill>
                  <a:srgbClr val="374151"/>
                </a:solidFill>
                <a:latin typeface="Inter"/>
                <a:ea typeface="Inter"/>
                <a:cs typeface="Inter"/>
                <a:sym typeface="Inter"/>
              </a:endParaRPr>
            </a:p>
            <a:p>
              <a:pPr indent="-301625" lvl="0" marL="457200" rtl="0" algn="l">
                <a:spcBef>
                  <a:spcPts val="300"/>
                </a:spcBef>
                <a:spcAft>
                  <a:spcPts val="300"/>
                </a:spcAft>
                <a:buClr>
                  <a:srgbClr val="374151"/>
                </a:buClr>
                <a:buSzPts val="1150"/>
                <a:buFont typeface="Inter"/>
                <a:buChar char="●"/>
              </a:pPr>
              <a:r>
                <a:rPr b="0" lang="en" sz="1150">
                  <a:solidFill>
                    <a:srgbClr val="374151"/>
                  </a:solidFill>
                  <a:latin typeface="Inter"/>
                  <a:ea typeface="Inter"/>
                  <a:cs typeface="Inter"/>
                  <a:sym typeface="Inter"/>
                </a:rPr>
                <a:t>Results in a constant 0.7V drop across the junction.</a:t>
              </a:r>
              <a:endParaRPr b="0" sz="1150">
                <a:solidFill>
                  <a:srgbClr val="374151"/>
                </a:solidFill>
                <a:latin typeface="Inter"/>
                <a:ea typeface="Inter"/>
                <a:cs typeface="Inter"/>
                <a:sym typeface="Inter"/>
              </a:endParaRPr>
            </a:p>
          </p:txBody>
        </p:sp>
        <p:grpSp>
          <p:nvGrpSpPr>
            <p:cNvPr id="392" name="Google Shape;392;p25"/>
            <p:cNvGrpSpPr/>
            <p:nvPr/>
          </p:nvGrpSpPr>
          <p:grpSpPr>
            <a:xfrm>
              <a:off x="1304925" y="2190750"/>
              <a:ext cx="1905000" cy="1190625"/>
              <a:chOff x="0" y="-47625"/>
              <a:chExt cx="1905000" cy="1190625"/>
            </a:xfrm>
          </p:grpSpPr>
          <p:sp>
            <p:nvSpPr>
              <p:cNvPr id="393" name="Google Shape;393;p25"/>
              <p:cNvSpPr/>
              <p:nvPr/>
            </p:nvSpPr>
            <p:spPr>
              <a:xfrm>
                <a:off x="0" y="285750"/>
                <a:ext cx="1905000" cy="571500"/>
              </a:xfrm>
              <a:prstGeom prst="roundRect">
                <a:avLst>
                  <a:gd fmla="val 666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4" name="Google Shape;394;p25"/>
              <p:cNvSpPr/>
              <p:nvPr/>
            </p:nvSpPr>
            <p:spPr>
              <a:xfrm>
                <a:off x="9525" y="295275"/>
                <a:ext cx="933600" cy="552600"/>
              </a:xfrm>
              <a:prstGeom prst="roundRect">
                <a:avLst>
                  <a:gd fmla="val 5172" name="adj"/>
                </a:avLst>
              </a:prstGeom>
              <a:solidFill>
                <a:srgbClr val="E8F5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5" name="Google Shape;395;p25"/>
              <p:cNvSpPr/>
              <p:nvPr/>
            </p:nvSpPr>
            <p:spPr>
              <a:xfrm>
                <a:off x="962025" y="295275"/>
                <a:ext cx="933600" cy="552600"/>
              </a:xfrm>
              <a:prstGeom prst="roundRect">
                <a:avLst>
                  <a:gd fmla="val 5172" name="adj"/>
                </a:avLst>
              </a:prstGeom>
              <a:solidFill>
                <a:srgbClr val="FFFDE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25"/>
              <p:cNvSpPr txBox="1"/>
              <p:nvPr/>
            </p:nvSpPr>
            <p:spPr>
              <a:xfrm>
                <a:off x="95250" y="428625"/>
                <a:ext cx="762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00">
                    <a:solidFill>
                      <a:srgbClr val="045A36"/>
                    </a:solidFill>
                    <a:latin typeface="Inter"/>
                    <a:ea typeface="Inter"/>
                    <a:cs typeface="Inter"/>
                    <a:sym typeface="Inter"/>
                  </a:rPr>
                  <a:t>P-Type</a:t>
                </a:r>
                <a:endParaRPr b="1" sz="1100">
                  <a:solidFill>
                    <a:srgbClr val="045A36"/>
                  </a:solidFill>
                  <a:latin typeface="Inter"/>
                  <a:ea typeface="Inter"/>
                  <a:cs typeface="Inter"/>
                  <a:sym typeface="Inter"/>
                </a:endParaRPr>
              </a:p>
            </p:txBody>
          </p:sp>
          <p:sp>
            <p:nvSpPr>
              <p:cNvPr id="397" name="Google Shape;397;p25"/>
              <p:cNvSpPr txBox="1"/>
              <p:nvPr/>
            </p:nvSpPr>
            <p:spPr>
              <a:xfrm>
                <a:off x="1047750" y="428625"/>
                <a:ext cx="762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100">
                    <a:solidFill>
                      <a:srgbClr val="D4A017"/>
                    </a:solidFill>
                    <a:latin typeface="Inter"/>
                    <a:ea typeface="Inter"/>
                    <a:cs typeface="Inter"/>
                    <a:sym typeface="Inter"/>
                  </a:rPr>
                  <a:t>N-Type</a:t>
                </a:r>
                <a:endParaRPr b="1" sz="1100">
                  <a:solidFill>
                    <a:srgbClr val="D4A017"/>
                  </a:solidFill>
                  <a:latin typeface="Inter"/>
                  <a:ea typeface="Inter"/>
                  <a:cs typeface="Inter"/>
                  <a:sym typeface="Inter"/>
                </a:endParaRPr>
              </a:p>
            </p:txBody>
          </p:sp>
          <p:pic>
            <p:nvPicPr>
              <p:cNvPr id="398" name="Google Shape;398;p25"/>
              <p:cNvPicPr preferRelativeResize="0"/>
              <p:nvPr/>
            </p:nvPicPr>
            <p:blipFill rotWithShape="1">
              <a:blip r:embed="rId4">
                <a:alphaModFix/>
              </a:blip>
              <a:srcRect b="0" l="0" r="0" t="0"/>
              <a:stretch/>
            </p:blipFill>
            <p:spPr>
              <a:xfrm>
                <a:off x="938213" y="295275"/>
                <a:ext cx="28500" cy="543000"/>
              </a:xfrm>
              <a:prstGeom prst="rect">
                <a:avLst/>
              </a:prstGeom>
              <a:noFill/>
              <a:ln>
                <a:noFill/>
              </a:ln>
            </p:spPr>
          </p:pic>
          <p:sp>
            <p:nvSpPr>
              <p:cNvPr id="399" name="Google Shape;399;p25"/>
              <p:cNvSpPr txBox="1"/>
              <p:nvPr/>
            </p:nvSpPr>
            <p:spPr>
              <a:xfrm>
                <a:off x="0" y="914400"/>
                <a:ext cx="1905000" cy="228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50">
                    <a:solidFill>
                      <a:srgbClr val="045A36"/>
                    </a:solidFill>
                    <a:latin typeface="Inter"/>
                    <a:ea typeface="Inter"/>
                    <a:cs typeface="Inter"/>
                    <a:sym typeface="Inter"/>
                  </a:rPr>
                  <a:t>Collapsed</a:t>
                </a:r>
                <a:r>
                  <a:rPr lang="en" sz="950">
                    <a:solidFill>
                      <a:srgbClr val="6B7280"/>
                    </a:solidFill>
                    <a:latin typeface="Inter"/>
                    <a:ea typeface="Inter"/>
                    <a:cs typeface="Inter"/>
                    <a:sym typeface="Inter"/>
                  </a:rPr>
                  <a:t> Depletion Region</a:t>
                </a:r>
                <a:endParaRPr sz="950">
                  <a:solidFill>
                    <a:srgbClr val="6B7280"/>
                  </a:solidFill>
                  <a:latin typeface="Inter"/>
                  <a:ea typeface="Inter"/>
                  <a:cs typeface="Inter"/>
                  <a:sym typeface="Inter"/>
                </a:endParaRPr>
              </a:p>
            </p:txBody>
          </p:sp>
          <p:sp>
            <p:nvSpPr>
              <p:cNvPr id="400" name="Google Shape;400;p25"/>
              <p:cNvSpPr/>
              <p:nvPr/>
            </p:nvSpPr>
            <p:spPr>
              <a:xfrm>
                <a:off x="285750" y="85725"/>
                <a:ext cx="1333500" cy="114300"/>
              </a:xfrm>
              <a:custGeom>
                <a:rect b="b" l="l" r="r" t="t"/>
                <a:pathLst>
                  <a:path extrusionOk="0" h="120000" w="120000">
                    <a:moveTo>
                      <a:pt x="0" y="60000"/>
                    </a:moveTo>
                    <a:lnTo>
                      <a:pt x="120000" y="60000"/>
                    </a:lnTo>
                    <a:moveTo>
                      <a:pt x="111429" y="0"/>
                    </a:moveTo>
                    <a:lnTo>
                      <a:pt x="120000" y="60000"/>
                    </a:lnTo>
                    <a:lnTo>
                      <a:pt x="111429" y="120000"/>
                    </a:lnTo>
                  </a:path>
                </a:pathLst>
              </a:custGeom>
              <a:solidFill>
                <a:srgbClr val="000000">
                  <a:alpha val="0"/>
                </a:srgbClr>
              </a:solidFill>
              <a:ln cap="rnd" cmpd="sng" w="23825">
                <a:solidFill>
                  <a:srgbClr val="045A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25"/>
              <p:cNvSpPr txBox="1"/>
              <p:nvPr/>
            </p:nvSpPr>
            <p:spPr>
              <a:xfrm>
                <a:off x="0" y="-47625"/>
                <a:ext cx="1905000" cy="17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50">
                    <a:solidFill>
                      <a:srgbClr val="045A36"/>
                    </a:solidFill>
                    <a:latin typeface="Inter"/>
                    <a:ea typeface="Inter"/>
                    <a:cs typeface="Inter"/>
                    <a:sym typeface="Inter"/>
                  </a:rPr>
                  <a:t>Current Flows (I &gt; 0)</a:t>
                </a:r>
                <a:endParaRPr b="1" sz="950">
                  <a:solidFill>
                    <a:srgbClr val="045A36"/>
                  </a:solidFill>
                  <a:latin typeface="Inter"/>
                  <a:ea typeface="Inter"/>
                  <a:cs typeface="Inter"/>
                  <a:sym typeface="Inter"/>
                </a:endParaRPr>
              </a:p>
            </p:txBody>
          </p:sp>
        </p:grpSp>
      </p:grpSp>
      <p:sp>
        <p:nvSpPr>
          <p:cNvPr id="402" name="Google Shape;402;p25"/>
          <p:cNvSpPr/>
          <p:nvPr/>
        </p:nvSpPr>
        <p:spPr>
          <a:xfrm>
            <a:off x="6086475" y="1857375"/>
            <a:ext cx="19200" cy="39054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3" name="Google Shape;403;p25"/>
          <p:cNvSpPr/>
          <p:nvPr/>
        </p:nvSpPr>
        <p:spPr>
          <a:xfrm>
            <a:off x="6429375" y="1857375"/>
            <a:ext cx="5000700" cy="3905400"/>
          </a:xfrm>
          <a:prstGeom prst="roundRect">
            <a:avLst>
              <a:gd fmla="val 292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 name="Google Shape;404;p25"/>
          <p:cNvSpPr/>
          <p:nvPr/>
        </p:nvSpPr>
        <p:spPr>
          <a:xfrm>
            <a:off x="6429375" y="1857375"/>
            <a:ext cx="5000700" cy="1524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25"/>
          <p:cNvSpPr/>
          <p:nvPr/>
        </p:nvSpPr>
        <p:spPr>
          <a:xfrm>
            <a:off x="6429375" y="1952625"/>
            <a:ext cx="5000700" cy="57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06" name="Google Shape;406;p25"/>
          <p:cNvGrpSpPr/>
          <p:nvPr/>
        </p:nvGrpSpPr>
        <p:grpSpPr>
          <a:xfrm>
            <a:off x="6667500" y="2047875"/>
            <a:ext cx="4524300" cy="3381375"/>
            <a:chOff x="0" y="0"/>
            <a:chExt cx="4524300" cy="3381375"/>
          </a:xfrm>
        </p:grpSpPr>
        <p:sp>
          <p:nvSpPr>
            <p:cNvPr id="407" name="Google Shape;407;p25"/>
            <p:cNvSpPr txBox="1"/>
            <p:nvPr/>
          </p:nvSpPr>
          <p:spPr>
            <a:xfrm>
              <a:off x="0" y="0"/>
              <a:ext cx="45243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045A36"/>
                  </a:solidFill>
                  <a:latin typeface="Inter"/>
                  <a:ea typeface="Inter"/>
                  <a:cs typeface="Inter"/>
                  <a:sym typeface="Inter"/>
                </a:rPr>
                <a:t>Reverse Bias (Blocking)</a:t>
              </a:r>
              <a:endParaRPr b="1" sz="1800">
                <a:solidFill>
                  <a:srgbClr val="045A36"/>
                </a:solidFill>
                <a:latin typeface="Inter"/>
                <a:ea typeface="Inter"/>
                <a:cs typeface="Inter"/>
                <a:sym typeface="Inter"/>
              </a:endParaRPr>
            </a:p>
          </p:txBody>
        </p:sp>
        <p:sp>
          <p:nvSpPr>
            <p:cNvPr id="408" name="Google Shape;408;p25"/>
            <p:cNvSpPr/>
            <p:nvPr/>
          </p:nvSpPr>
          <p:spPr>
            <a:xfrm>
              <a:off x="0" y="381000"/>
              <a:ext cx="4524300" cy="144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9" name="Google Shape;409;p25"/>
            <p:cNvSpPr txBox="1"/>
            <p:nvPr/>
          </p:nvSpPr>
          <p:spPr>
            <a:xfrm>
              <a:off x="0" y="523875"/>
              <a:ext cx="45243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374151"/>
                  </a:solidFill>
                  <a:latin typeface="Inter"/>
                  <a:ea typeface="Inter"/>
                  <a:cs typeface="Inter"/>
                  <a:sym typeface="Inter"/>
                </a:rPr>
                <a:t>When polarity is reversed, the depletion region widens, creating massive internal resistance that blocks current. The diode acts like an open switch, protecting upstream circuits.</a:t>
              </a:r>
              <a:endParaRPr b="0" sz="1150">
                <a:solidFill>
                  <a:srgbClr val="374151"/>
                </a:solidFill>
                <a:latin typeface="Inter"/>
                <a:ea typeface="Inter"/>
                <a:cs typeface="Inter"/>
                <a:sym typeface="Inter"/>
              </a:endParaRPr>
            </a:p>
            <a:p>
              <a:pPr indent="0" lvl="0" marL="0" rtl="0" algn="l">
                <a:spcBef>
                  <a:spcPts val="750"/>
                </a:spcBef>
                <a:spcAft>
                  <a:spcPts val="0"/>
                </a:spcAft>
                <a:buNone/>
              </a:pPr>
              <a:r>
                <a:rPr b="1" lang="en" sz="1050">
                  <a:solidFill>
                    <a:srgbClr val="6B7280"/>
                  </a:solidFill>
                  <a:latin typeface="Inter"/>
                  <a:ea typeface="Inter"/>
                  <a:cs typeface="Inter"/>
                  <a:sym typeface="Inter"/>
                </a:rPr>
                <a:t>Breakdown Voltage:</a:t>
              </a:r>
              <a:endParaRPr b="1" sz="1050">
                <a:solidFill>
                  <a:srgbClr val="6B7280"/>
                </a:solidFill>
                <a:latin typeface="Inter"/>
                <a:ea typeface="Inter"/>
                <a:cs typeface="Inter"/>
                <a:sym typeface="Inter"/>
              </a:endParaRPr>
            </a:p>
            <a:p>
              <a:pPr indent="-301625" lvl="0" marL="457200" rtl="0" algn="l">
                <a:spcBef>
                  <a:spcPts val="450"/>
                </a:spcBef>
                <a:spcAft>
                  <a:spcPts val="0"/>
                </a:spcAft>
                <a:buClr>
                  <a:srgbClr val="374151"/>
                </a:buClr>
                <a:buSzPts val="1150"/>
                <a:buFont typeface="Inter"/>
                <a:buChar char="●"/>
              </a:pPr>
              <a:r>
                <a:rPr b="0" lang="en" sz="1150">
                  <a:solidFill>
                    <a:srgbClr val="374151"/>
                  </a:solidFill>
                  <a:latin typeface="Inter"/>
                  <a:ea typeface="Inter"/>
                  <a:cs typeface="Inter"/>
                  <a:sym typeface="Inter"/>
                </a:rPr>
                <a:t>Excessive reverse voltage causes the junction to fail.</a:t>
              </a:r>
              <a:endParaRPr b="0" sz="1150">
                <a:solidFill>
                  <a:srgbClr val="374151"/>
                </a:solidFill>
                <a:latin typeface="Inter"/>
                <a:ea typeface="Inter"/>
                <a:cs typeface="Inter"/>
                <a:sym typeface="Inter"/>
              </a:endParaRPr>
            </a:p>
            <a:p>
              <a:pPr indent="-301625" lvl="0" marL="457200" rtl="0" algn="l">
                <a:spcBef>
                  <a:spcPts val="300"/>
                </a:spcBef>
                <a:spcAft>
                  <a:spcPts val="300"/>
                </a:spcAft>
                <a:buClr>
                  <a:srgbClr val="374151"/>
                </a:buClr>
                <a:buSzPts val="1150"/>
                <a:buFont typeface="Inter"/>
                <a:buChar char="●"/>
              </a:pPr>
              <a:r>
                <a:rPr b="0" lang="en" sz="1150">
                  <a:solidFill>
                    <a:srgbClr val="374151"/>
                  </a:solidFill>
                  <a:latin typeface="Inter"/>
                  <a:ea typeface="Inter"/>
                  <a:cs typeface="Inter"/>
                  <a:sym typeface="Inter"/>
                </a:rPr>
                <a:t>A massive, destructive reverse current flows, which must be avoided.</a:t>
              </a:r>
              <a:endParaRPr b="0" sz="1150">
                <a:solidFill>
                  <a:srgbClr val="374151"/>
                </a:solidFill>
                <a:latin typeface="Inter"/>
                <a:ea typeface="Inter"/>
                <a:cs typeface="Inter"/>
                <a:sym typeface="Inter"/>
              </a:endParaRPr>
            </a:p>
          </p:txBody>
        </p:sp>
        <p:grpSp>
          <p:nvGrpSpPr>
            <p:cNvPr id="410" name="Google Shape;410;p25"/>
            <p:cNvGrpSpPr/>
            <p:nvPr/>
          </p:nvGrpSpPr>
          <p:grpSpPr>
            <a:xfrm>
              <a:off x="1304925" y="2190750"/>
              <a:ext cx="1905000" cy="1190625"/>
              <a:chOff x="0" y="-47625"/>
              <a:chExt cx="1905000" cy="1190625"/>
            </a:xfrm>
          </p:grpSpPr>
          <p:sp>
            <p:nvSpPr>
              <p:cNvPr id="411" name="Google Shape;411;p25"/>
              <p:cNvSpPr/>
              <p:nvPr/>
            </p:nvSpPr>
            <p:spPr>
              <a:xfrm>
                <a:off x="0" y="285750"/>
                <a:ext cx="1905000" cy="571500"/>
              </a:xfrm>
              <a:prstGeom prst="roundRect">
                <a:avLst>
                  <a:gd fmla="val 666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p25"/>
              <p:cNvSpPr/>
              <p:nvPr/>
            </p:nvSpPr>
            <p:spPr>
              <a:xfrm>
                <a:off x="9525" y="295275"/>
                <a:ext cx="743100" cy="552600"/>
              </a:xfrm>
              <a:prstGeom prst="roundRect">
                <a:avLst>
                  <a:gd fmla="val 5172" name="adj"/>
                </a:avLst>
              </a:prstGeom>
              <a:solidFill>
                <a:srgbClr val="E8F5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3" name="Google Shape;413;p25"/>
              <p:cNvSpPr/>
              <p:nvPr/>
            </p:nvSpPr>
            <p:spPr>
              <a:xfrm>
                <a:off x="1152525" y="295275"/>
                <a:ext cx="743100" cy="552600"/>
              </a:xfrm>
              <a:prstGeom prst="roundRect">
                <a:avLst>
                  <a:gd fmla="val 5172" name="adj"/>
                </a:avLst>
              </a:prstGeom>
              <a:solidFill>
                <a:srgbClr val="FFFDE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4" name="Google Shape;414;p25"/>
              <p:cNvSpPr/>
              <p:nvPr/>
            </p:nvSpPr>
            <p:spPr>
              <a:xfrm>
                <a:off x="752475" y="295275"/>
                <a:ext cx="400200" cy="5526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5" name="Google Shape;415;p25"/>
              <p:cNvSpPr txBox="1"/>
              <p:nvPr/>
            </p:nvSpPr>
            <p:spPr>
              <a:xfrm>
                <a:off x="752475" y="400050"/>
                <a:ext cx="4002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694">
                    <a:solidFill>
                      <a:srgbClr val="4B5563"/>
                    </a:solidFill>
                    <a:latin typeface="Inter"/>
                    <a:ea typeface="Inter"/>
                    <a:cs typeface="Inter"/>
                    <a:sym typeface="Inter"/>
                  </a:rPr>
                  <a:t>WIDE</a:t>
                </a:r>
                <a:endParaRPr b="1" sz="694">
                  <a:solidFill>
                    <a:srgbClr val="4B5563"/>
                  </a:solidFill>
                  <a:latin typeface="Inter"/>
                  <a:ea typeface="Inter"/>
                  <a:cs typeface="Inter"/>
                  <a:sym typeface="Inter"/>
                </a:endParaRPr>
              </a:p>
              <a:p>
                <a:pPr indent="0" lvl="0" marL="0" rtl="0" algn="ctr">
                  <a:spcBef>
                    <a:spcPts val="0"/>
                  </a:spcBef>
                  <a:spcAft>
                    <a:spcPts val="0"/>
                  </a:spcAft>
                  <a:buNone/>
                </a:pPr>
                <a:r>
                  <a:rPr b="1" lang="en" sz="694">
                    <a:solidFill>
                      <a:srgbClr val="4B5563"/>
                    </a:solidFill>
                    <a:latin typeface="Inter"/>
                    <a:ea typeface="Inter"/>
                    <a:cs typeface="Inter"/>
                    <a:sym typeface="Inter"/>
                  </a:rPr>
                  <a:t>BARRIER</a:t>
                </a:r>
                <a:endParaRPr b="1" sz="694">
                  <a:solidFill>
                    <a:srgbClr val="4B5563"/>
                  </a:solidFill>
                  <a:latin typeface="Inter"/>
                  <a:ea typeface="Inter"/>
                  <a:cs typeface="Inter"/>
                  <a:sym typeface="Inter"/>
                </a:endParaRPr>
              </a:p>
            </p:txBody>
          </p:sp>
          <p:sp>
            <p:nvSpPr>
              <p:cNvPr id="416" name="Google Shape;416;p25"/>
              <p:cNvSpPr txBox="1"/>
              <p:nvPr/>
            </p:nvSpPr>
            <p:spPr>
              <a:xfrm>
                <a:off x="47625" y="428625"/>
                <a:ext cx="6669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045A36"/>
                    </a:solidFill>
                    <a:latin typeface="Inter"/>
                    <a:ea typeface="Inter"/>
                    <a:cs typeface="Inter"/>
                    <a:sym typeface="Inter"/>
                  </a:rPr>
                  <a:t>P-Type</a:t>
                </a:r>
                <a:endParaRPr b="1" sz="1000">
                  <a:solidFill>
                    <a:srgbClr val="045A36"/>
                  </a:solidFill>
                  <a:latin typeface="Inter"/>
                  <a:ea typeface="Inter"/>
                  <a:cs typeface="Inter"/>
                  <a:sym typeface="Inter"/>
                </a:endParaRPr>
              </a:p>
            </p:txBody>
          </p:sp>
          <p:sp>
            <p:nvSpPr>
              <p:cNvPr id="417" name="Google Shape;417;p25"/>
              <p:cNvSpPr txBox="1"/>
              <p:nvPr/>
            </p:nvSpPr>
            <p:spPr>
              <a:xfrm>
                <a:off x="1190625" y="428625"/>
                <a:ext cx="6669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D4A017"/>
                    </a:solidFill>
                    <a:latin typeface="Inter"/>
                    <a:ea typeface="Inter"/>
                    <a:cs typeface="Inter"/>
                    <a:sym typeface="Inter"/>
                  </a:rPr>
                  <a:t>N-Type</a:t>
                </a:r>
                <a:endParaRPr b="1" sz="1000">
                  <a:solidFill>
                    <a:srgbClr val="D4A017"/>
                  </a:solidFill>
                  <a:latin typeface="Inter"/>
                  <a:ea typeface="Inter"/>
                  <a:cs typeface="Inter"/>
                  <a:sym typeface="Inter"/>
                </a:endParaRPr>
              </a:p>
            </p:txBody>
          </p:sp>
          <p:sp>
            <p:nvSpPr>
              <p:cNvPr id="418" name="Google Shape;418;p25"/>
              <p:cNvSpPr txBox="1"/>
              <p:nvPr/>
            </p:nvSpPr>
            <p:spPr>
              <a:xfrm>
                <a:off x="0" y="914400"/>
                <a:ext cx="1905000" cy="228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50">
                    <a:solidFill>
                      <a:srgbClr val="D4A017"/>
                    </a:solidFill>
                    <a:latin typeface="Inter"/>
                    <a:ea typeface="Inter"/>
                    <a:cs typeface="Inter"/>
                    <a:sym typeface="Inter"/>
                  </a:rPr>
                  <a:t>Widened</a:t>
                </a:r>
                <a:r>
                  <a:rPr lang="en" sz="950">
                    <a:solidFill>
                      <a:srgbClr val="6B7280"/>
                    </a:solidFill>
                    <a:latin typeface="Inter"/>
                    <a:ea typeface="Inter"/>
                    <a:cs typeface="Inter"/>
                    <a:sym typeface="Inter"/>
                  </a:rPr>
                  <a:t> Depletion Region</a:t>
                </a:r>
                <a:endParaRPr sz="950">
                  <a:solidFill>
                    <a:srgbClr val="6B7280"/>
                  </a:solidFill>
                  <a:latin typeface="Inter"/>
                  <a:ea typeface="Inter"/>
                  <a:cs typeface="Inter"/>
                  <a:sym typeface="Inter"/>
                </a:endParaRPr>
              </a:p>
            </p:txBody>
          </p:sp>
          <p:pic>
            <p:nvPicPr>
              <p:cNvPr id="419" name="Google Shape;419;p25"/>
              <p:cNvPicPr preferRelativeResize="0"/>
              <p:nvPr/>
            </p:nvPicPr>
            <p:blipFill rotWithShape="1">
              <a:blip r:embed="rId5">
                <a:alphaModFix/>
              </a:blip>
              <a:srcRect b="0" l="0" r="0" t="0"/>
              <a:stretch/>
            </p:blipFill>
            <p:spPr>
              <a:xfrm>
                <a:off x="276225" y="133350"/>
                <a:ext cx="1352700" cy="19200"/>
              </a:xfrm>
              <a:prstGeom prst="rect">
                <a:avLst/>
              </a:prstGeom>
              <a:noFill/>
              <a:ln>
                <a:noFill/>
              </a:ln>
            </p:spPr>
          </p:pic>
          <p:cxnSp>
            <p:nvCxnSpPr>
              <p:cNvPr id="420" name="Google Shape;420;p25"/>
              <p:cNvCxnSpPr/>
              <p:nvPr/>
            </p:nvCxnSpPr>
            <p:spPr>
              <a:xfrm>
                <a:off x="952500" y="47625"/>
                <a:ext cx="0" cy="190500"/>
              </a:xfrm>
              <a:prstGeom prst="straightConnector1">
                <a:avLst/>
              </a:prstGeom>
              <a:solidFill>
                <a:srgbClr val="FFFFFF"/>
              </a:solidFill>
              <a:ln cap="rnd" cmpd="sng" w="33350">
                <a:solidFill>
                  <a:srgbClr val="D4A017"/>
                </a:solidFill>
                <a:prstDash val="solid"/>
                <a:round/>
                <a:headEnd len="sm" w="sm" type="none"/>
                <a:tailEnd len="sm" w="sm" type="none"/>
              </a:ln>
            </p:spPr>
          </p:cxnSp>
          <p:sp>
            <p:nvSpPr>
              <p:cNvPr id="421" name="Google Shape;421;p25"/>
              <p:cNvSpPr txBox="1"/>
              <p:nvPr/>
            </p:nvSpPr>
            <p:spPr>
              <a:xfrm>
                <a:off x="0" y="-47625"/>
                <a:ext cx="1905000" cy="17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50">
                    <a:solidFill>
                      <a:srgbClr val="D4A017"/>
                    </a:solidFill>
                    <a:latin typeface="Inter"/>
                    <a:ea typeface="Inter"/>
                    <a:cs typeface="Inter"/>
                    <a:sym typeface="Inter"/>
                  </a:rPr>
                  <a:t>Current Blocked (I ≈ 0)</a:t>
                </a:r>
                <a:endParaRPr b="1" sz="950">
                  <a:solidFill>
                    <a:srgbClr val="D4A017"/>
                  </a:solidFill>
                  <a:latin typeface="Inter"/>
                  <a:ea typeface="Inter"/>
                  <a:cs typeface="Inter"/>
                  <a:sym typeface="Inter"/>
                </a:endParaRPr>
              </a:p>
            </p:txBody>
          </p:sp>
        </p:grpSp>
      </p:grpSp>
      <p:sp>
        <p:nvSpPr>
          <p:cNvPr id="422" name="Google Shape;422;p25"/>
          <p:cNvSpPr txBox="1"/>
          <p:nvPr/>
        </p:nvSpPr>
        <p:spPr>
          <a:xfrm>
            <a:off x="762000" y="613410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Module 7: Electronics for Arduino Programming | Robotics and Automation Systems</a:t>
            </a:r>
            <a:endParaRPr b="0" sz="975">
              <a:solidFill>
                <a:srgbClr val="6B7280"/>
              </a:solidFill>
              <a:latin typeface="Inter"/>
              <a:ea typeface="Inter"/>
              <a:cs typeface="Inter"/>
              <a:sym typeface="Inter"/>
            </a:endParaRPr>
          </a:p>
        </p:txBody>
      </p:sp>
      <p:sp>
        <p:nvSpPr>
          <p:cNvPr id="423" name="Google Shape;423;p25"/>
          <p:cNvSpPr/>
          <p:nvPr>
            <p:ph idx="2" type="pic"/>
          </p:nvPr>
        </p:nvSpPr>
        <p:spPr>
          <a:xfrm>
            <a:off x="10287000" y="5457825"/>
            <a:ext cx="1524000" cy="1019100"/>
          </a:xfrm>
          <a:prstGeom prst="rect">
            <a:avLst/>
          </a:prstGeom>
          <a:no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6"/>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29" name="Google Shape;429;p26"/>
          <p:cNvGrpSpPr/>
          <p:nvPr/>
        </p:nvGrpSpPr>
        <p:grpSpPr>
          <a:xfrm>
            <a:off x="762000" y="476250"/>
            <a:ext cx="10668000" cy="666900"/>
            <a:chOff x="762000" y="476250"/>
            <a:chExt cx="10668000" cy="666900"/>
          </a:xfrm>
        </p:grpSpPr>
        <p:sp>
          <p:nvSpPr>
            <p:cNvPr id="430" name="Google Shape;430;p26"/>
            <p:cNvSpPr txBox="1"/>
            <p:nvPr/>
          </p:nvSpPr>
          <p:spPr>
            <a:xfrm>
              <a:off x="762000" y="476250"/>
              <a:ext cx="10668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Topic 2 — Inductors</a:t>
              </a:r>
              <a:endParaRPr b="0" sz="2700">
                <a:solidFill>
                  <a:srgbClr val="045A36"/>
                </a:solidFill>
                <a:latin typeface="Montserrat SemiBold"/>
                <a:ea typeface="Montserrat SemiBold"/>
                <a:cs typeface="Montserrat SemiBold"/>
                <a:sym typeface="Montserrat SemiBold"/>
              </a:endParaRPr>
            </a:p>
          </p:txBody>
        </p:sp>
        <p:sp>
          <p:nvSpPr>
            <p:cNvPr id="431" name="Google Shape;431;p26"/>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432" name="Google Shape;432;p26"/>
          <p:cNvGrpSpPr/>
          <p:nvPr/>
        </p:nvGrpSpPr>
        <p:grpSpPr>
          <a:xfrm>
            <a:off x="762000" y="1428750"/>
            <a:ext cx="3238500" cy="4000500"/>
            <a:chOff x="0" y="0"/>
            <a:chExt cx="3238500" cy="4000500"/>
          </a:xfrm>
        </p:grpSpPr>
        <p:sp>
          <p:nvSpPr>
            <p:cNvPr id="433" name="Google Shape;433;p26"/>
            <p:cNvSpPr/>
            <p:nvPr/>
          </p:nvSpPr>
          <p:spPr>
            <a:xfrm>
              <a:off x="0" y="0"/>
              <a:ext cx="3238500" cy="4000500"/>
            </a:xfrm>
            <a:prstGeom prst="roundRect">
              <a:avLst>
                <a:gd fmla="val 352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26"/>
            <p:cNvSpPr/>
            <p:nvPr/>
          </p:nvSpPr>
          <p:spPr>
            <a:xfrm>
              <a:off x="0" y="0"/>
              <a:ext cx="3238500" cy="762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p26"/>
            <p:cNvSpPr txBox="1"/>
            <p:nvPr/>
          </p:nvSpPr>
          <p:spPr>
            <a:xfrm>
              <a:off x="228600" y="285750"/>
              <a:ext cx="27813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D4A017"/>
                  </a:solidFill>
                  <a:latin typeface="Inter"/>
                  <a:ea typeface="Inter"/>
                  <a:cs typeface="Inter"/>
                  <a:sym typeface="Inter"/>
                </a:rPr>
                <a:t>DEFINITION</a:t>
              </a:r>
              <a:endParaRPr b="1" sz="1100">
                <a:solidFill>
                  <a:srgbClr val="D4A017"/>
                </a:solidFill>
                <a:latin typeface="Inter"/>
                <a:ea typeface="Inter"/>
                <a:cs typeface="Inter"/>
                <a:sym typeface="Inter"/>
              </a:endParaRPr>
            </a:p>
          </p:txBody>
        </p:sp>
        <p:sp>
          <p:nvSpPr>
            <p:cNvPr id="436" name="Google Shape;436;p26"/>
            <p:cNvSpPr txBox="1"/>
            <p:nvPr/>
          </p:nvSpPr>
          <p:spPr>
            <a:xfrm>
              <a:off x="228600" y="666750"/>
              <a:ext cx="27813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500">
                  <a:solidFill>
                    <a:srgbClr val="045A36"/>
                  </a:solidFill>
                  <a:latin typeface="Inter Medium"/>
                  <a:ea typeface="Inter Medium"/>
                  <a:cs typeface="Inter Medium"/>
                  <a:sym typeface="Inter Medium"/>
                </a:rPr>
                <a:t>"An inductor is a passive electronic component that stores energy in a magnetic field when electric current flows through it."</a:t>
              </a:r>
              <a:endParaRPr b="0" i="1" sz="1500">
                <a:solidFill>
                  <a:srgbClr val="045A36"/>
                </a:solidFill>
                <a:latin typeface="Inter Medium"/>
                <a:ea typeface="Inter Medium"/>
                <a:cs typeface="Inter Medium"/>
                <a:sym typeface="Inter Medium"/>
              </a:endParaRPr>
            </a:p>
            <a:p>
              <a:pPr indent="0" lvl="0" marL="0" rtl="0" algn="l">
                <a:spcBef>
                  <a:spcPts val="1125"/>
                </a:spcBef>
                <a:spcAft>
                  <a:spcPts val="0"/>
                </a:spcAft>
                <a:buNone/>
              </a:pPr>
              <a:r>
                <a:rPr b="0" lang="en" sz="1110">
                  <a:solidFill>
                    <a:srgbClr val="6B7280"/>
                  </a:solidFill>
                  <a:latin typeface="Inter"/>
                  <a:ea typeface="Inter"/>
                  <a:cs typeface="Inter"/>
                  <a:sym typeface="Inter"/>
                </a:rPr>
                <a:t>Crucial for filtering signals, managing alternating currents (AC), and blocking high-frequency noise in robotic control circuitry.</a:t>
              </a:r>
              <a:endParaRPr b="0" sz="1110">
                <a:solidFill>
                  <a:srgbClr val="6B7280"/>
                </a:solidFill>
                <a:latin typeface="Inter"/>
                <a:ea typeface="Inter"/>
                <a:cs typeface="Inter"/>
                <a:sym typeface="Inter"/>
              </a:endParaRPr>
            </a:p>
          </p:txBody>
        </p:sp>
      </p:grpSp>
      <p:grpSp>
        <p:nvGrpSpPr>
          <p:cNvPr id="437" name="Google Shape;437;p26"/>
          <p:cNvGrpSpPr/>
          <p:nvPr/>
        </p:nvGrpSpPr>
        <p:grpSpPr>
          <a:xfrm>
            <a:off x="4476750" y="1428750"/>
            <a:ext cx="3238500" cy="4000500"/>
            <a:chOff x="0" y="0"/>
            <a:chExt cx="3238500" cy="4000500"/>
          </a:xfrm>
        </p:grpSpPr>
        <p:sp>
          <p:nvSpPr>
            <p:cNvPr id="438" name="Google Shape;438;p26"/>
            <p:cNvSpPr/>
            <p:nvPr/>
          </p:nvSpPr>
          <p:spPr>
            <a:xfrm>
              <a:off x="0" y="0"/>
              <a:ext cx="3238500" cy="4000500"/>
            </a:xfrm>
            <a:prstGeom prst="roundRect">
              <a:avLst>
                <a:gd fmla="val 352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9" name="Google Shape;439;p26"/>
            <p:cNvSpPr/>
            <p:nvPr/>
          </p:nvSpPr>
          <p:spPr>
            <a:xfrm>
              <a:off x="0" y="0"/>
              <a:ext cx="3238500" cy="762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26"/>
            <p:cNvSpPr txBox="1"/>
            <p:nvPr/>
          </p:nvSpPr>
          <p:spPr>
            <a:xfrm>
              <a:off x="228600" y="285750"/>
              <a:ext cx="27813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D4A017"/>
                  </a:solidFill>
                  <a:latin typeface="Inter"/>
                  <a:ea typeface="Inter"/>
                  <a:cs typeface="Inter"/>
                  <a:sym typeface="Inter"/>
                </a:rPr>
                <a:t>CONSTRUCTION &amp; PHYSICS</a:t>
              </a:r>
              <a:endParaRPr b="1" sz="1100">
                <a:solidFill>
                  <a:srgbClr val="D4A017"/>
                </a:solidFill>
                <a:latin typeface="Inter"/>
                <a:ea typeface="Inter"/>
                <a:cs typeface="Inter"/>
                <a:sym typeface="Inter"/>
              </a:endParaRPr>
            </a:p>
          </p:txBody>
        </p:sp>
        <p:sp>
          <p:nvSpPr>
            <p:cNvPr id="441" name="Google Shape;441;p26"/>
            <p:cNvSpPr txBox="1"/>
            <p:nvPr/>
          </p:nvSpPr>
          <p:spPr>
            <a:xfrm>
              <a:off x="228600" y="666750"/>
              <a:ext cx="27813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3">
                  <a:solidFill>
                    <a:srgbClr val="045A36"/>
                  </a:solidFill>
                  <a:latin typeface="Inter SemiBold"/>
                  <a:ea typeface="Inter SemiBold"/>
                  <a:cs typeface="Inter SemiBold"/>
                  <a:sym typeface="Inter SemiBold"/>
                </a:rPr>
                <a:t>Coil Construction</a:t>
              </a:r>
              <a:endParaRPr b="0" sz="1203">
                <a:solidFill>
                  <a:srgbClr val="045A36"/>
                </a:solidFill>
                <a:latin typeface="Inter SemiBold"/>
                <a:ea typeface="Inter SemiBold"/>
                <a:cs typeface="Inter SemiBold"/>
                <a:sym typeface="Inter SemiBold"/>
              </a:endParaRPr>
            </a:p>
            <a:p>
              <a:pPr indent="0" lvl="0" marL="0" rtl="0" algn="l">
                <a:spcBef>
                  <a:spcPts val="450"/>
                </a:spcBef>
                <a:spcAft>
                  <a:spcPts val="0"/>
                </a:spcAft>
                <a:buNone/>
              </a:pPr>
              <a:r>
                <a:rPr b="0" lang="en" sz="1110">
                  <a:solidFill>
                    <a:srgbClr val="555555"/>
                  </a:solidFill>
                  <a:latin typeface="Inter"/>
                  <a:ea typeface="Inter"/>
                  <a:cs typeface="Inter"/>
                  <a:sym typeface="Inter"/>
                </a:rPr>
                <a:t>Typically built as a conducting wire wound into a coil around an air or ferromagnetic core.</a:t>
              </a:r>
              <a:endParaRPr b="0" sz="1110">
                <a:solidFill>
                  <a:srgbClr val="555555"/>
                </a:solidFill>
                <a:latin typeface="Inter"/>
                <a:ea typeface="Inter"/>
                <a:cs typeface="Inter"/>
                <a:sym typeface="Inter"/>
              </a:endParaRPr>
            </a:p>
          </p:txBody>
        </p:sp>
        <p:sp>
          <p:nvSpPr>
            <p:cNvPr id="442" name="Google Shape;442;p26"/>
            <p:cNvSpPr txBox="1"/>
            <p:nvPr/>
          </p:nvSpPr>
          <p:spPr>
            <a:xfrm>
              <a:off x="228600" y="1714500"/>
              <a:ext cx="27813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3">
                  <a:solidFill>
                    <a:srgbClr val="045A36"/>
                  </a:solidFill>
                  <a:latin typeface="Inter SemiBold"/>
                  <a:ea typeface="Inter SemiBold"/>
                  <a:cs typeface="Inter SemiBold"/>
                  <a:sym typeface="Inter SemiBold"/>
                </a:rPr>
                <a:t>Magnetic Field Generation</a:t>
              </a:r>
              <a:endParaRPr b="0" sz="1203">
                <a:solidFill>
                  <a:srgbClr val="045A36"/>
                </a:solidFill>
                <a:latin typeface="Inter SemiBold"/>
                <a:ea typeface="Inter SemiBold"/>
                <a:cs typeface="Inter SemiBold"/>
                <a:sym typeface="Inter SemiBold"/>
              </a:endParaRPr>
            </a:p>
            <a:p>
              <a:pPr indent="0" lvl="0" marL="0" rtl="0" algn="l">
                <a:spcBef>
                  <a:spcPts val="450"/>
                </a:spcBef>
                <a:spcAft>
                  <a:spcPts val="0"/>
                </a:spcAft>
                <a:buNone/>
              </a:pPr>
              <a:r>
                <a:rPr b="0" lang="en" sz="1110">
                  <a:solidFill>
                    <a:srgbClr val="555555"/>
                  </a:solidFill>
                  <a:latin typeface="Inter"/>
                  <a:ea typeface="Inter"/>
                  <a:cs typeface="Inter"/>
                  <a:sym typeface="Inter"/>
                </a:rPr>
                <a:t>Current flow induces a proportional magnetic flux. Any change in current is met with an opposing electromagnetic force (EMF).</a:t>
              </a:r>
              <a:endParaRPr b="0" sz="1110">
                <a:solidFill>
                  <a:srgbClr val="555555"/>
                </a:solidFill>
                <a:latin typeface="Inter"/>
                <a:ea typeface="Inter"/>
                <a:cs typeface="Inter"/>
                <a:sym typeface="Inter"/>
              </a:endParaRPr>
            </a:p>
          </p:txBody>
        </p:sp>
        <p:grpSp>
          <p:nvGrpSpPr>
            <p:cNvPr id="443" name="Google Shape;443;p26"/>
            <p:cNvGrpSpPr/>
            <p:nvPr/>
          </p:nvGrpSpPr>
          <p:grpSpPr>
            <a:xfrm>
              <a:off x="238125" y="2790825"/>
              <a:ext cx="1809600" cy="352575"/>
              <a:chOff x="-190500" y="28575"/>
              <a:chExt cx="1809600" cy="352575"/>
            </a:xfrm>
          </p:grpSpPr>
          <p:sp>
            <p:nvSpPr>
              <p:cNvPr id="444" name="Google Shape;444;p26"/>
              <p:cNvSpPr/>
              <p:nvPr/>
            </p:nvSpPr>
            <p:spPr>
              <a:xfrm>
                <a:off x="0" y="95250"/>
                <a:ext cx="1428900" cy="285900"/>
              </a:xfrm>
              <a:custGeom>
                <a:rect b="b" l="l" r="r" t="t"/>
                <a:pathLst>
                  <a:path extrusionOk="0" h="120000" w="120000">
                    <a:moveTo>
                      <a:pt x="0" y="120000"/>
                    </a:moveTo>
                    <a:quadBezTo>
                      <a:pt x="12000" y="0"/>
                      <a:pt x="24000" y="120000"/>
                    </a:quadBezTo>
                    <a:quadBezTo>
                      <a:pt x="36000" y="0"/>
                      <a:pt x="48000" y="120000"/>
                    </a:quadBezTo>
                    <a:quadBezTo>
                      <a:pt x="60000" y="0"/>
                      <a:pt x="72000" y="120000"/>
                    </a:quadBezTo>
                    <a:quadBezTo>
                      <a:pt x="84000" y="0"/>
                      <a:pt x="96000" y="120000"/>
                    </a:quadBezTo>
                    <a:quadBezTo>
                      <a:pt x="108000" y="0"/>
                      <a:pt x="120000" y="120000"/>
                    </a:quadBezTo>
                  </a:path>
                </a:pathLst>
              </a:custGeom>
              <a:solidFill>
                <a:srgbClr val="000000">
                  <a:alpha val="0"/>
                </a:srgbClr>
              </a:solidFill>
              <a:ln cap="rnd" cmpd="sng" w="57150">
                <a:solidFill>
                  <a:srgbClr val="045A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5" name="Google Shape;445;p26"/>
              <p:cNvSpPr/>
              <p:nvPr/>
            </p:nvSpPr>
            <p:spPr>
              <a:xfrm>
                <a:off x="-190500" y="381000"/>
                <a:ext cx="1809600" cy="0"/>
              </a:xfrm>
              <a:custGeom>
                <a:rect b="b" l="l" r="r" t="t"/>
                <a:pathLst>
                  <a:path extrusionOk="0" h="120000" w="120000">
                    <a:moveTo>
                      <a:pt x="0" y="0"/>
                    </a:moveTo>
                    <a:lnTo>
                      <a:pt x="12632" y="0"/>
                    </a:lnTo>
                    <a:moveTo>
                      <a:pt x="107368" y="0"/>
                    </a:moveTo>
                    <a:lnTo>
                      <a:pt x="120000" y="0"/>
                    </a:lnTo>
                  </a:path>
                </a:pathLst>
              </a:custGeom>
              <a:solidFill>
                <a:srgbClr val="000000">
                  <a:alpha val="0"/>
                </a:srgbClr>
              </a:solidFill>
              <a:ln cap="flat" cmpd="sng" w="38100">
                <a:solidFill>
                  <a:srgbClr val="045A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46" name="Google Shape;446;p26"/>
              <p:cNvPicPr preferRelativeResize="0"/>
              <p:nvPr/>
            </p:nvPicPr>
            <p:blipFill rotWithShape="1">
              <a:blip r:embed="rId3">
                <a:alphaModFix/>
              </a:blip>
              <a:srcRect b="0" l="0" r="0" t="0"/>
              <a:stretch/>
            </p:blipFill>
            <p:spPr>
              <a:xfrm>
                <a:off x="85725" y="28575"/>
                <a:ext cx="1252500" cy="257100"/>
              </a:xfrm>
              <a:prstGeom prst="rect">
                <a:avLst/>
              </a:prstGeom>
              <a:noFill/>
              <a:ln>
                <a:noFill/>
              </a:ln>
            </p:spPr>
          </p:pic>
        </p:grpSp>
      </p:grpSp>
      <p:grpSp>
        <p:nvGrpSpPr>
          <p:cNvPr id="447" name="Google Shape;447;p26"/>
          <p:cNvGrpSpPr/>
          <p:nvPr/>
        </p:nvGrpSpPr>
        <p:grpSpPr>
          <a:xfrm>
            <a:off x="8191500" y="1428750"/>
            <a:ext cx="3238500" cy="4000500"/>
            <a:chOff x="0" y="0"/>
            <a:chExt cx="3238500" cy="4000500"/>
          </a:xfrm>
        </p:grpSpPr>
        <p:sp>
          <p:nvSpPr>
            <p:cNvPr id="448" name="Google Shape;448;p26"/>
            <p:cNvSpPr/>
            <p:nvPr/>
          </p:nvSpPr>
          <p:spPr>
            <a:xfrm>
              <a:off x="0" y="0"/>
              <a:ext cx="3238500" cy="4000500"/>
            </a:xfrm>
            <a:prstGeom prst="roundRect">
              <a:avLst>
                <a:gd fmla="val 352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9" name="Google Shape;449;p26"/>
            <p:cNvSpPr/>
            <p:nvPr/>
          </p:nvSpPr>
          <p:spPr>
            <a:xfrm>
              <a:off x="0" y="0"/>
              <a:ext cx="3238500" cy="762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26"/>
            <p:cNvSpPr txBox="1"/>
            <p:nvPr/>
          </p:nvSpPr>
          <p:spPr>
            <a:xfrm>
              <a:off x="228600" y="285750"/>
              <a:ext cx="27813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D4A017"/>
                  </a:solidFill>
                  <a:latin typeface="Inter"/>
                  <a:ea typeface="Inter"/>
                  <a:cs typeface="Inter"/>
                  <a:sym typeface="Inter"/>
                </a:rPr>
                <a:t>METRICS &amp; SCHEMATIC</a:t>
              </a:r>
              <a:endParaRPr b="1" sz="1100">
                <a:solidFill>
                  <a:srgbClr val="D4A017"/>
                </a:solidFill>
                <a:latin typeface="Inter"/>
                <a:ea typeface="Inter"/>
                <a:cs typeface="Inter"/>
                <a:sym typeface="Inter"/>
              </a:endParaRPr>
            </a:p>
          </p:txBody>
        </p:sp>
        <p:grpSp>
          <p:nvGrpSpPr>
            <p:cNvPr id="451" name="Google Shape;451;p26"/>
            <p:cNvGrpSpPr/>
            <p:nvPr/>
          </p:nvGrpSpPr>
          <p:grpSpPr>
            <a:xfrm>
              <a:off x="228600" y="714375"/>
              <a:ext cx="2781300" cy="1333500"/>
              <a:chOff x="0" y="0"/>
              <a:chExt cx="2781300" cy="1333500"/>
            </a:xfrm>
          </p:grpSpPr>
          <p:sp>
            <p:nvSpPr>
              <p:cNvPr id="452" name="Google Shape;452;p26"/>
              <p:cNvSpPr/>
              <p:nvPr/>
            </p:nvSpPr>
            <p:spPr>
              <a:xfrm>
                <a:off x="0" y="0"/>
                <a:ext cx="2781300" cy="1333500"/>
              </a:xfrm>
              <a:prstGeom prst="roundRect">
                <a:avLst>
                  <a:gd fmla="val 5714"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3" name="Google Shape;453;p26"/>
              <p:cNvSpPr txBox="1"/>
              <p:nvPr/>
            </p:nvSpPr>
            <p:spPr>
              <a:xfrm>
                <a:off x="190500" y="190500"/>
                <a:ext cx="24003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6B7280"/>
                    </a:solidFill>
                    <a:latin typeface="Inter SemiBold"/>
                    <a:ea typeface="Inter SemiBold"/>
                    <a:cs typeface="Inter SemiBold"/>
                    <a:sym typeface="Inter SemiBold"/>
                  </a:rPr>
                  <a:t>STANDARD UNIT</a:t>
                </a:r>
                <a:endParaRPr b="0" sz="1000">
                  <a:solidFill>
                    <a:srgbClr val="6B7280"/>
                  </a:solidFill>
                  <a:latin typeface="Inter SemiBold"/>
                  <a:ea typeface="Inter SemiBold"/>
                  <a:cs typeface="Inter SemiBold"/>
                  <a:sym typeface="Inter SemiBold"/>
                </a:endParaRPr>
              </a:p>
            </p:txBody>
          </p:sp>
          <p:sp>
            <p:nvSpPr>
              <p:cNvPr id="454" name="Google Shape;454;p26"/>
              <p:cNvSpPr txBox="1"/>
              <p:nvPr/>
            </p:nvSpPr>
            <p:spPr>
              <a:xfrm>
                <a:off x="190500" y="428625"/>
                <a:ext cx="24003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4200">
                    <a:solidFill>
                      <a:srgbClr val="045A36"/>
                    </a:solidFill>
                    <a:latin typeface="Montserrat"/>
                    <a:ea typeface="Montserrat"/>
                    <a:cs typeface="Montserrat"/>
                    <a:sym typeface="Montserrat"/>
                  </a:rPr>
                  <a:t>H</a:t>
                </a:r>
                <a:r>
                  <a:rPr b="0" lang="en" sz="1600">
                    <a:solidFill>
                      <a:srgbClr val="1F2937"/>
                    </a:solidFill>
                    <a:latin typeface="Inter SemiBold"/>
                    <a:ea typeface="Inter SemiBold"/>
                    <a:cs typeface="Inter SemiBold"/>
                    <a:sym typeface="Inter SemiBold"/>
                  </a:rPr>
                  <a:t>Henry</a:t>
                </a:r>
                <a:endParaRPr/>
              </a:p>
            </p:txBody>
          </p:sp>
        </p:grpSp>
        <p:grpSp>
          <p:nvGrpSpPr>
            <p:cNvPr id="455" name="Google Shape;455;p26"/>
            <p:cNvGrpSpPr/>
            <p:nvPr/>
          </p:nvGrpSpPr>
          <p:grpSpPr>
            <a:xfrm>
              <a:off x="228600" y="2286000"/>
              <a:ext cx="2781300" cy="1333500"/>
              <a:chOff x="0" y="0"/>
              <a:chExt cx="2781300" cy="1333500"/>
            </a:xfrm>
          </p:grpSpPr>
          <p:sp>
            <p:nvSpPr>
              <p:cNvPr id="456" name="Google Shape;456;p26"/>
              <p:cNvSpPr/>
              <p:nvPr/>
            </p:nvSpPr>
            <p:spPr>
              <a:xfrm>
                <a:off x="0" y="0"/>
                <a:ext cx="2781300" cy="1333500"/>
              </a:xfrm>
              <a:prstGeom prst="roundRect">
                <a:avLst>
                  <a:gd fmla="val 5714"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p26"/>
              <p:cNvSpPr txBox="1"/>
              <p:nvPr/>
            </p:nvSpPr>
            <p:spPr>
              <a:xfrm>
                <a:off x="190500" y="190500"/>
                <a:ext cx="24003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6B7280"/>
                    </a:solidFill>
                    <a:latin typeface="Inter SemiBold"/>
                    <a:ea typeface="Inter SemiBold"/>
                    <a:cs typeface="Inter SemiBold"/>
                    <a:sym typeface="Inter SemiBold"/>
                  </a:rPr>
                  <a:t>SCHEMATIC SYMBOL</a:t>
                </a:r>
                <a:endParaRPr b="0" sz="1000">
                  <a:solidFill>
                    <a:srgbClr val="6B7280"/>
                  </a:solidFill>
                  <a:latin typeface="Inter SemiBold"/>
                  <a:ea typeface="Inter SemiBold"/>
                  <a:cs typeface="Inter SemiBold"/>
                  <a:sym typeface="Inter SemiBold"/>
                </a:endParaRPr>
              </a:p>
            </p:txBody>
          </p:sp>
          <p:grpSp>
            <p:nvGrpSpPr>
              <p:cNvPr id="458" name="Google Shape;458;p26"/>
              <p:cNvGrpSpPr/>
              <p:nvPr/>
            </p:nvGrpSpPr>
            <p:grpSpPr>
              <a:xfrm>
                <a:off x="342900" y="619125"/>
                <a:ext cx="1809900" cy="381000"/>
                <a:chOff x="-190500" y="47625"/>
                <a:chExt cx="1809900" cy="381000"/>
              </a:xfrm>
            </p:grpSpPr>
            <p:sp>
              <p:nvSpPr>
                <p:cNvPr id="459" name="Google Shape;459;p26"/>
                <p:cNvSpPr/>
                <p:nvPr/>
              </p:nvSpPr>
              <p:spPr>
                <a:xfrm>
                  <a:off x="0" y="47625"/>
                  <a:ext cx="762000" cy="190500"/>
                </a:xfrm>
                <a:custGeom>
                  <a:rect b="b" l="l" r="r" t="t"/>
                  <a:pathLst>
                    <a:path extrusionOk="0" h="120000" w="120000">
                      <a:moveTo>
                        <a:pt x="0" y="120000"/>
                      </a:moveTo>
                      <a:quadBezTo>
                        <a:pt x="15000" y="0"/>
                        <a:pt x="30000" y="120000"/>
                      </a:quadBezTo>
                      <a:quadBezTo>
                        <a:pt x="45000" y="0"/>
                        <a:pt x="60000" y="120000"/>
                      </a:quadBezTo>
                      <a:quadBezTo>
                        <a:pt x="75000" y="0"/>
                        <a:pt x="90000" y="120000"/>
                      </a:quadBezTo>
                      <a:quadBezTo>
                        <a:pt x="105000" y="0"/>
                        <a:pt x="120000" y="120000"/>
                      </a:quadBezTo>
                    </a:path>
                  </a:pathLst>
                </a:custGeom>
                <a:solidFill>
                  <a:srgbClr val="000000">
                    <a:alpha val="0"/>
                  </a:srgbClr>
                </a:solidFill>
                <a:ln cap="rnd" cmpd="sng" w="38100">
                  <a:solidFill>
                    <a:srgbClr val="045A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0" name="Google Shape;460;p26"/>
                <p:cNvSpPr/>
                <p:nvPr/>
              </p:nvSpPr>
              <p:spPr>
                <a:xfrm>
                  <a:off x="-190500" y="238125"/>
                  <a:ext cx="1143000" cy="0"/>
                </a:xfrm>
                <a:custGeom>
                  <a:rect b="b" l="l" r="r" t="t"/>
                  <a:pathLst>
                    <a:path extrusionOk="0" h="120000" w="120000">
                      <a:moveTo>
                        <a:pt x="0" y="0"/>
                      </a:moveTo>
                      <a:lnTo>
                        <a:pt x="20000" y="0"/>
                      </a:lnTo>
                      <a:moveTo>
                        <a:pt x="100000" y="0"/>
                      </a:moveTo>
                      <a:lnTo>
                        <a:pt x="120000" y="0"/>
                      </a:lnTo>
                    </a:path>
                  </a:pathLst>
                </a:custGeom>
                <a:solidFill>
                  <a:srgbClr val="000000">
                    <a:alpha val="0"/>
                  </a:srgbClr>
                </a:solidFill>
                <a:ln cap="flat" cmpd="sng" w="28575">
                  <a:solidFill>
                    <a:srgbClr val="045A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1" name="Google Shape;461;p26"/>
                <p:cNvSpPr txBox="1"/>
                <p:nvPr/>
              </p:nvSpPr>
              <p:spPr>
                <a:xfrm>
                  <a:off x="1143000" y="47625"/>
                  <a:ext cx="4764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045A36"/>
                      </a:solidFill>
                      <a:latin typeface="Montserrat"/>
                      <a:ea typeface="Montserrat"/>
                      <a:cs typeface="Montserrat"/>
                      <a:sym typeface="Montserrat"/>
                    </a:rPr>
                    <a:t>L</a:t>
                  </a:r>
                  <a:endParaRPr b="1" sz="2400">
                    <a:solidFill>
                      <a:srgbClr val="045A36"/>
                    </a:solidFill>
                    <a:latin typeface="Montserrat"/>
                    <a:ea typeface="Montserrat"/>
                    <a:cs typeface="Montserrat"/>
                    <a:sym typeface="Montserrat"/>
                  </a:endParaRPr>
                </a:p>
              </p:txBody>
            </p:sp>
          </p:grpSp>
        </p:grpSp>
      </p:grpSp>
      <p:grpSp>
        <p:nvGrpSpPr>
          <p:cNvPr id="462" name="Google Shape;462;p26"/>
          <p:cNvGrpSpPr/>
          <p:nvPr/>
        </p:nvGrpSpPr>
        <p:grpSpPr>
          <a:xfrm>
            <a:off x="762000" y="5981700"/>
            <a:ext cx="10668000" cy="342900"/>
            <a:chOff x="762000" y="5981700"/>
            <a:chExt cx="10668000" cy="342900"/>
          </a:xfrm>
        </p:grpSpPr>
        <p:sp>
          <p:nvSpPr>
            <p:cNvPr id="463" name="Google Shape;463;p26"/>
            <p:cNvSpPr/>
            <p:nvPr/>
          </p:nvSpPr>
          <p:spPr>
            <a:xfrm>
              <a:off x="762000" y="5981700"/>
              <a:ext cx="106680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4" name="Google Shape;464;p26"/>
            <p:cNvSpPr txBox="1"/>
            <p:nvPr/>
          </p:nvSpPr>
          <p:spPr>
            <a:xfrm>
              <a:off x="762000" y="6134100"/>
              <a:ext cx="5715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Introduction of Electronics | Robotics and Automation Systems</a:t>
              </a:r>
              <a:endParaRPr b="0" sz="1000">
                <a:solidFill>
                  <a:srgbClr val="6B7280"/>
                </a:solidFill>
                <a:latin typeface="Inter"/>
                <a:ea typeface="Inter"/>
                <a:cs typeface="Inter"/>
                <a:sym typeface="Inter"/>
              </a:endParaRPr>
            </a:p>
          </p:txBody>
        </p:sp>
        <p:sp>
          <p:nvSpPr>
            <p:cNvPr id="465" name="Google Shape;465;p26"/>
            <p:cNvSpPr txBox="1"/>
            <p:nvPr/>
          </p:nvSpPr>
          <p:spPr>
            <a:xfrm>
              <a:off x="11239500" y="6134100"/>
              <a:ext cx="190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07</a:t>
              </a:r>
              <a:endParaRPr b="0" sz="1000">
                <a:solidFill>
                  <a:srgbClr val="6B7280"/>
                </a:solidFill>
                <a:latin typeface="Inter"/>
                <a:ea typeface="Inter"/>
                <a:cs typeface="Inter"/>
                <a:sym typeface="Inte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9" name="Shape 469"/>
        <p:cNvGrpSpPr/>
        <p:nvPr/>
      </p:nvGrpSpPr>
      <p:grpSpPr>
        <a:xfrm>
          <a:off x="0" y="0"/>
          <a:ext cx="0" cy="0"/>
          <a:chOff x="0" y="0"/>
          <a:chExt cx="0" cy="0"/>
        </a:xfrm>
      </p:grpSpPr>
      <p:grpSp>
        <p:nvGrpSpPr>
          <p:cNvPr id="470" name="Google Shape;470;p27"/>
          <p:cNvGrpSpPr/>
          <p:nvPr/>
        </p:nvGrpSpPr>
        <p:grpSpPr>
          <a:xfrm>
            <a:off x="0" y="0"/>
            <a:ext cx="12192000" cy="76350"/>
            <a:chOff x="0" y="0"/>
            <a:chExt cx="12192000" cy="76350"/>
          </a:xfrm>
        </p:grpSpPr>
        <p:sp>
          <p:nvSpPr>
            <p:cNvPr id="471" name="Google Shape;471;p27"/>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2" name="Google Shape;472;p27"/>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73" name="Google Shape;473;p27"/>
          <p:cNvSpPr txBox="1"/>
          <p:nvPr/>
        </p:nvSpPr>
        <p:spPr>
          <a:xfrm>
            <a:off x="762000" y="476250"/>
            <a:ext cx="106680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500">
                <a:solidFill>
                  <a:srgbClr val="045A36"/>
                </a:solidFill>
                <a:latin typeface="Montserrat SemiBold"/>
                <a:ea typeface="Montserrat SemiBold"/>
                <a:cs typeface="Montserrat SemiBold"/>
                <a:sym typeface="Montserrat SemiBold"/>
              </a:rPr>
              <a:t>Practical Applications of Diodes in Arduino Protection Circuits</a:t>
            </a:r>
            <a:endParaRPr b="0" sz="2500">
              <a:solidFill>
                <a:srgbClr val="045A36"/>
              </a:solidFill>
              <a:latin typeface="Montserrat SemiBold"/>
              <a:ea typeface="Montserrat SemiBold"/>
              <a:cs typeface="Montserrat SemiBold"/>
              <a:sym typeface="Montserrat SemiBold"/>
            </a:endParaRPr>
          </a:p>
        </p:txBody>
      </p:sp>
      <p:sp>
        <p:nvSpPr>
          <p:cNvPr id="474" name="Google Shape;474;p27"/>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5" name="Google Shape;475;p27"/>
          <p:cNvSpPr txBox="1"/>
          <p:nvPr/>
        </p:nvSpPr>
        <p:spPr>
          <a:xfrm>
            <a:off x="762000" y="1333500"/>
            <a:ext cx="106680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i="1" lang="en" sz="1400">
                <a:solidFill>
                  <a:srgbClr val="374151"/>
                </a:solidFill>
                <a:latin typeface="Inter"/>
                <a:ea typeface="Inter"/>
                <a:cs typeface="Inter"/>
                <a:sym typeface="Inter"/>
              </a:rPr>
              <a:t>Diodes are the essential bodyguards of any microcontroller-based system, preventing physical damage from reverse-polarity errors, electrostatic discharge, and inductive kickback.</a:t>
            </a:r>
            <a:endParaRPr b="0" i="1" sz="1400">
              <a:solidFill>
                <a:srgbClr val="374151"/>
              </a:solidFill>
              <a:latin typeface="Inter"/>
              <a:ea typeface="Inter"/>
              <a:cs typeface="Inter"/>
              <a:sym typeface="Inter"/>
            </a:endParaRPr>
          </a:p>
        </p:txBody>
      </p:sp>
      <p:grpSp>
        <p:nvGrpSpPr>
          <p:cNvPr id="476" name="Google Shape;476;p27"/>
          <p:cNvGrpSpPr/>
          <p:nvPr/>
        </p:nvGrpSpPr>
        <p:grpSpPr>
          <a:xfrm>
            <a:off x="762000" y="2333625"/>
            <a:ext cx="10668000" cy="2857500"/>
            <a:chOff x="0" y="0"/>
            <a:chExt cx="10668000" cy="2857500"/>
          </a:xfrm>
        </p:grpSpPr>
        <p:grpSp>
          <p:nvGrpSpPr>
            <p:cNvPr id="477" name="Google Shape;477;p27"/>
            <p:cNvGrpSpPr/>
            <p:nvPr/>
          </p:nvGrpSpPr>
          <p:grpSpPr>
            <a:xfrm>
              <a:off x="0" y="0"/>
              <a:ext cx="3238500" cy="2857500"/>
              <a:chOff x="0" y="0"/>
              <a:chExt cx="3238500" cy="2857500"/>
            </a:xfrm>
          </p:grpSpPr>
          <p:sp>
            <p:nvSpPr>
              <p:cNvPr id="478" name="Google Shape;478;p27"/>
              <p:cNvSpPr/>
              <p:nvPr/>
            </p:nvSpPr>
            <p:spPr>
              <a:xfrm>
                <a:off x="0" y="0"/>
                <a:ext cx="3238500" cy="2857500"/>
              </a:xfrm>
              <a:prstGeom prst="roundRect">
                <a:avLst>
                  <a:gd fmla="val 1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9" name="Google Shape;479;p27"/>
              <p:cNvSpPr/>
              <p:nvPr/>
            </p:nvSpPr>
            <p:spPr>
              <a:xfrm>
                <a:off x="0" y="0"/>
                <a:ext cx="3238500" cy="95400"/>
              </a:xfrm>
              <a:prstGeom prst="roundRect">
                <a:avLst>
                  <a:gd fmla="val 4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0" name="Google Shape;480;p27"/>
              <p:cNvSpPr txBox="1"/>
              <p:nvPr/>
            </p:nvSpPr>
            <p:spPr>
              <a:xfrm>
                <a:off x="190500" y="238125"/>
                <a:ext cx="2857500" cy="523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450">
                    <a:solidFill>
                      <a:srgbClr val="045A36"/>
                    </a:solidFill>
                    <a:latin typeface="Montserrat"/>
                    <a:ea typeface="Montserrat"/>
                    <a:cs typeface="Montserrat"/>
                    <a:sym typeface="Montserrat"/>
                  </a:rPr>
                  <a:t>Flyback Diode</a:t>
                </a:r>
                <a:endParaRPr b="1" sz="1450">
                  <a:solidFill>
                    <a:srgbClr val="045A36"/>
                  </a:solidFill>
                  <a:latin typeface="Montserrat"/>
                  <a:ea typeface="Montserrat"/>
                  <a:cs typeface="Montserrat"/>
                  <a:sym typeface="Montserrat"/>
                </a:endParaRPr>
              </a:p>
              <a:p>
                <a:pPr indent="0" lvl="0" marL="0" rtl="0" algn="ctr">
                  <a:spcBef>
                    <a:spcPts val="300"/>
                  </a:spcBef>
                  <a:spcAft>
                    <a:spcPts val="0"/>
                  </a:spcAft>
                  <a:buNone/>
                </a:pPr>
                <a:r>
                  <a:rPr b="0" lang="en" sz="1000">
                    <a:solidFill>
                      <a:srgbClr val="D4A017"/>
                    </a:solidFill>
                    <a:latin typeface="Inter SemiBold"/>
                    <a:ea typeface="Inter SemiBold"/>
                    <a:cs typeface="Inter SemiBold"/>
                    <a:sym typeface="Inter SemiBold"/>
                  </a:rPr>
                  <a:t>Motor Protection</a:t>
                </a:r>
                <a:endParaRPr b="0" sz="1000">
                  <a:solidFill>
                    <a:srgbClr val="D4A017"/>
                  </a:solidFill>
                  <a:latin typeface="Inter SemiBold"/>
                  <a:ea typeface="Inter SemiBold"/>
                  <a:cs typeface="Inter SemiBold"/>
                  <a:sym typeface="Inter SemiBold"/>
                </a:endParaRPr>
              </a:p>
            </p:txBody>
          </p:sp>
          <p:sp>
            <p:nvSpPr>
              <p:cNvPr id="481" name="Google Shape;481;p27"/>
              <p:cNvSpPr/>
              <p:nvPr/>
            </p:nvSpPr>
            <p:spPr>
              <a:xfrm>
                <a:off x="1238250" y="857250"/>
                <a:ext cx="76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p27"/>
              <p:cNvSpPr txBox="1"/>
              <p:nvPr/>
            </p:nvSpPr>
            <p:spPr>
              <a:xfrm>
                <a:off x="190500" y="1000125"/>
                <a:ext cx="2857500" cy="17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200">
                    <a:solidFill>
                      <a:srgbClr val="374151"/>
                    </a:solidFill>
                    <a:latin typeface="Inter"/>
                    <a:ea typeface="Inter"/>
                    <a:cs typeface="Inter"/>
                    <a:sym typeface="Inter"/>
                  </a:rPr>
                  <a:t>Inductive components like motors and relay coils generate massive voltage surges when turned off. Placing a reverse-biased diode (flyback diode) in parallel with the motor shunts these dangerous spikes safely back into the coil, bypassing and protecting the Arduino.</a:t>
                </a:r>
                <a:endParaRPr b="0" sz="1200">
                  <a:solidFill>
                    <a:srgbClr val="374151"/>
                  </a:solidFill>
                  <a:latin typeface="Inter"/>
                  <a:ea typeface="Inter"/>
                  <a:cs typeface="Inter"/>
                  <a:sym typeface="Inter"/>
                </a:endParaRPr>
              </a:p>
            </p:txBody>
          </p:sp>
        </p:grpSp>
        <p:sp>
          <p:nvSpPr>
            <p:cNvPr id="483" name="Google Shape;483;p27"/>
            <p:cNvSpPr/>
            <p:nvPr/>
          </p:nvSpPr>
          <p:spPr>
            <a:xfrm>
              <a:off x="3352800" y="1333500"/>
              <a:ext cx="247800" cy="190500"/>
            </a:xfrm>
            <a:custGeom>
              <a:rect b="b" l="l" r="r" t="t"/>
              <a:pathLst>
                <a:path extrusionOk="0" h="120000" w="120000">
                  <a:moveTo>
                    <a:pt x="0" y="60000"/>
                  </a:moveTo>
                  <a:lnTo>
                    <a:pt x="120000" y="60000"/>
                  </a:lnTo>
                  <a:moveTo>
                    <a:pt x="73846" y="0"/>
                  </a:moveTo>
                  <a:lnTo>
                    <a:pt x="120000" y="60000"/>
                  </a:lnTo>
                  <a:lnTo>
                    <a:pt x="73846" y="120000"/>
                  </a:lnTo>
                </a:path>
              </a:pathLst>
            </a:custGeom>
            <a:solidFill>
              <a:srgbClr val="000000">
                <a:alpha val="0"/>
              </a:srgbClr>
            </a:solidFill>
            <a:ln cap="rnd" cmpd="sng" w="38100">
              <a:solidFill>
                <a:srgbClr val="045A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84" name="Google Shape;484;p27"/>
            <p:cNvGrpSpPr/>
            <p:nvPr/>
          </p:nvGrpSpPr>
          <p:grpSpPr>
            <a:xfrm>
              <a:off x="3714750" y="0"/>
              <a:ext cx="3238500" cy="2857500"/>
              <a:chOff x="0" y="0"/>
              <a:chExt cx="3238500" cy="2857500"/>
            </a:xfrm>
          </p:grpSpPr>
          <p:sp>
            <p:nvSpPr>
              <p:cNvPr id="485" name="Google Shape;485;p27"/>
              <p:cNvSpPr/>
              <p:nvPr/>
            </p:nvSpPr>
            <p:spPr>
              <a:xfrm>
                <a:off x="0" y="0"/>
                <a:ext cx="3238500" cy="2857500"/>
              </a:xfrm>
              <a:prstGeom prst="roundRect">
                <a:avLst>
                  <a:gd fmla="val 1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6" name="Google Shape;486;p27"/>
              <p:cNvSpPr/>
              <p:nvPr/>
            </p:nvSpPr>
            <p:spPr>
              <a:xfrm>
                <a:off x="0" y="0"/>
                <a:ext cx="3238500" cy="95400"/>
              </a:xfrm>
              <a:prstGeom prst="roundRect">
                <a:avLst>
                  <a:gd fmla="val 40000" name="adj"/>
                </a:avLst>
              </a:prstGeom>
              <a:solidFill>
                <a:srgbClr val="0B7A4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7" name="Google Shape;487;p27"/>
              <p:cNvSpPr txBox="1"/>
              <p:nvPr/>
            </p:nvSpPr>
            <p:spPr>
              <a:xfrm>
                <a:off x="190500" y="238125"/>
                <a:ext cx="2857500" cy="523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450">
                    <a:solidFill>
                      <a:srgbClr val="045A36"/>
                    </a:solidFill>
                    <a:latin typeface="Montserrat"/>
                    <a:ea typeface="Montserrat"/>
                    <a:cs typeface="Montserrat"/>
                    <a:sym typeface="Montserrat"/>
                  </a:rPr>
                  <a:t>Reverse Polarity</a:t>
                </a:r>
                <a:endParaRPr b="1" sz="1450">
                  <a:solidFill>
                    <a:srgbClr val="045A36"/>
                  </a:solidFill>
                  <a:latin typeface="Montserrat"/>
                  <a:ea typeface="Montserrat"/>
                  <a:cs typeface="Montserrat"/>
                  <a:sym typeface="Montserrat"/>
                </a:endParaRPr>
              </a:p>
              <a:p>
                <a:pPr indent="0" lvl="0" marL="0" rtl="0" algn="ctr">
                  <a:spcBef>
                    <a:spcPts val="300"/>
                  </a:spcBef>
                  <a:spcAft>
                    <a:spcPts val="0"/>
                  </a:spcAft>
                  <a:buNone/>
                </a:pPr>
                <a:r>
                  <a:rPr b="0" lang="en" sz="1000">
                    <a:solidFill>
                      <a:srgbClr val="D4A017"/>
                    </a:solidFill>
                    <a:latin typeface="Inter SemiBold"/>
                    <a:ea typeface="Inter SemiBold"/>
                    <a:cs typeface="Inter SemiBold"/>
                    <a:sym typeface="Inter SemiBold"/>
                  </a:rPr>
                  <a:t>Input Battery Security</a:t>
                </a:r>
                <a:endParaRPr b="0" sz="1000">
                  <a:solidFill>
                    <a:srgbClr val="D4A017"/>
                  </a:solidFill>
                  <a:latin typeface="Inter SemiBold"/>
                  <a:ea typeface="Inter SemiBold"/>
                  <a:cs typeface="Inter SemiBold"/>
                  <a:sym typeface="Inter SemiBold"/>
                </a:endParaRPr>
              </a:p>
            </p:txBody>
          </p:sp>
          <p:sp>
            <p:nvSpPr>
              <p:cNvPr id="488" name="Google Shape;488;p27"/>
              <p:cNvSpPr/>
              <p:nvPr/>
            </p:nvSpPr>
            <p:spPr>
              <a:xfrm>
                <a:off x="1238250" y="857250"/>
                <a:ext cx="76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9" name="Google Shape;489;p27"/>
              <p:cNvSpPr txBox="1"/>
              <p:nvPr/>
            </p:nvSpPr>
            <p:spPr>
              <a:xfrm>
                <a:off x="190500" y="1000125"/>
                <a:ext cx="2857500" cy="17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200">
                    <a:solidFill>
                      <a:srgbClr val="374151"/>
                    </a:solidFill>
                    <a:latin typeface="Inter"/>
                    <a:ea typeface="Inter"/>
                    <a:cs typeface="Inter"/>
                    <a:sym typeface="Inter"/>
                  </a:rPr>
                  <a:t>Placing a series diode at the main power input blocks current flow entirely if a battery or power supply is connected backward, immediately saving the Arduino from a fatal short circuit.</a:t>
                </a:r>
                <a:endParaRPr b="0" sz="1200">
                  <a:solidFill>
                    <a:srgbClr val="374151"/>
                  </a:solidFill>
                  <a:latin typeface="Inter"/>
                  <a:ea typeface="Inter"/>
                  <a:cs typeface="Inter"/>
                  <a:sym typeface="Inter"/>
                </a:endParaRPr>
              </a:p>
            </p:txBody>
          </p:sp>
        </p:grpSp>
        <p:sp>
          <p:nvSpPr>
            <p:cNvPr id="490" name="Google Shape;490;p27"/>
            <p:cNvSpPr/>
            <p:nvPr/>
          </p:nvSpPr>
          <p:spPr>
            <a:xfrm>
              <a:off x="7067550" y="1333500"/>
              <a:ext cx="247800" cy="190500"/>
            </a:xfrm>
            <a:custGeom>
              <a:rect b="b" l="l" r="r" t="t"/>
              <a:pathLst>
                <a:path extrusionOk="0" h="120000" w="120000">
                  <a:moveTo>
                    <a:pt x="0" y="60000"/>
                  </a:moveTo>
                  <a:lnTo>
                    <a:pt x="120000" y="60000"/>
                  </a:lnTo>
                  <a:moveTo>
                    <a:pt x="73846" y="0"/>
                  </a:moveTo>
                  <a:lnTo>
                    <a:pt x="120000" y="60000"/>
                  </a:lnTo>
                  <a:lnTo>
                    <a:pt x="73846" y="120000"/>
                  </a:lnTo>
                </a:path>
              </a:pathLst>
            </a:custGeom>
            <a:solidFill>
              <a:srgbClr val="000000">
                <a:alpha val="0"/>
              </a:srgbClr>
            </a:solidFill>
            <a:ln cap="rnd" cmpd="sng" w="38100">
              <a:solidFill>
                <a:srgbClr val="0B7A4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91" name="Google Shape;491;p27"/>
            <p:cNvGrpSpPr/>
            <p:nvPr/>
          </p:nvGrpSpPr>
          <p:grpSpPr>
            <a:xfrm>
              <a:off x="7429500" y="0"/>
              <a:ext cx="3238500" cy="2857500"/>
              <a:chOff x="0" y="0"/>
              <a:chExt cx="3238500" cy="2857500"/>
            </a:xfrm>
          </p:grpSpPr>
          <p:sp>
            <p:nvSpPr>
              <p:cNvPr id="492" name="Google Shape;492;p27"/>
              <p:cNvSpPr/>
              <p:nvPr/>
            </p:nvSpPr>
            <p:spPr>
              <a:xfrm>
                <a:off x="0" y="0"/>
                <a:ext cx="3238500" cy="2857500"/>
              </a:xfrm>
              <a:prstGeom prst="roundRect">
                <a:avLst>
                  <a:gd fmla="val 1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3" name="Google Shape;493;p27"/>
              <p:cNvSpPr/>
              <p:nvPr/>
            </p:nvSpPr>
            <p:spPr>
              <a:xfrm>
                <a:off x="0" y="0"/>
                <a:ext cx="3238500" cy="95400"/>
              </a:xfrm>
              <a:prstGeom prst="roundRect">
                <a:avLst>
                  <a:gd fmla="val 4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4" name="Google Shape;494;p27"/>
              <p:cNvSpPr txBox="1"/>
              <p:nvPr/>
            </p:nvSpPr>
            <p:spPr>
              <a:xfrm>
                <a:off x="190500" y="238125"/>
                <a:ext cx="2857500" cy="523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450">
                    <a:solidFill>
                      <a:srgbClr val="045A36"/>
                    </a:solidFill>
                    <a:latin typeface="Montserrat"/>
                    <a:ea typeface="Montserrat"/>
                    <a:cs typeface="Montserrat"/>
                    <a:sym typeface="Montserrat"/>
                  </a:rPr>
                  <a:t>ESD Clamping</a:t>
                </a:r>
                <a:endParaRPr b="1" sz="1450">
                  <a:solidFill>
                    <a:srgbClr val="045A36"/>
                  </a:solidFill>
                  <a:latin typeface="Montserrat"/>
                  <a:ea typeface="Montserrat"/>
                  <a:cs typeface="Montserrat"/>
                  <a:sym typeface="Montserrat"/>
                </a:endParaRPr>
              </a:p>
              <a:p>
                <a:pPr indent="0" lvl="0" marL="0" rtl="0" algn="ctr">
                  <a:spcBef>
                    <a:spcPts val="300"/>
                  </a:spcBef>
                  <a:spcAft>
                    <a:spcPts val="0"/>
                  </a:spcAft>
                  <a:buNone/>
                </a:pPr>
                <a:r>
                  <a:rPr b="0" lang="en" sz="1000">
                    <a:solidFill>
                      <a:srgbClr val="045A36"/>
                    </a:solidFill>
                    <a:latin typeface="Inter SemiBold"/>
                    <a:ea typeface="Inter SemiBold"/>
                    <a:cs typeface="Inter SemiBold"/>
                    <a:sym typeface="Inter SemiBold"/>
                  </a:rPr>
                  <a:t>I/O Pin Safeguarding</a:t>
                </a:r>
                <a:endParaRPr b="0" sz="1000">
                  <a:solidFill>
                    <a:srgbClr val="045A36"/>
                  </a:solidFill>
                  <a:latin typeface="Inter SemiBold"/>
                  <a:ea typeface="Inter SemiBold"/>
                  <a:cs typeface="Inter SemiBold"/>
                  <a:sym typeface="Inter SemiBold"/>
                </a:endParaRPr>
              </a:p>
            </p:txBody>
          </p:sp>
          <p:sp>
            <p:nvSpPr>
              <p:cNvPr id="495" name="Google Shape;495;p27"/>
              <p:cNvSpPr/>
              <p:nvPr/>
            </p:nvSpPr>
            <p:spPr>
              <a:xfrm>
                <a:off x="1238250" y="857250"/>
                <a:ext cx="762000" cy="192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6" name="Google Shape;496;p27"/>
              <p:cNvSpPr txBox="1"/>
              <p:nvPr/>
            </p:nvSpPr>
            <p:spPr>
              <a:xfrm>
                <a:off x="190500" y="1000125"/>
                <a:ext cx="2857500" cy="1714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200">
                    <a:solidFill>
                      <a:srgbClr val="374151"/>
                    </a:solidFill>
                    <a:latin typeface="Inter"/>
                    <a:ea typeface="Inter"/>
                    <a:cs typeface="Inter"/>
                    <a:sym typeface="Inter"/>
                  </a:rPr>
                  <a:t>Shunting transient electrostatic spikes on I/O pins directly to VCC or GND before they can reach the sensitive silicon inside the microcontroller chip.</a:t>
                </a:r>
                <a:endParaRPr b="0" sz="1200">
                  <a:solidFill>
                    <a:srgbClr val="374151"/>
                  </a:solidFill>
                  <a:latin typeface="Inter"/>
                  <a:ea typeface="Inter"/>
                  <a:cs typeface="Inter"/>
                  <a:sym typeface="Inter"/>
                </a:endParaRPr>
              </a:p>
            </p:txBody>
          </p:sp>
        </p:grpSp>
      </p:grpSp>
      <p:sp>
        <p:nvSpPr>
          <p:cNvPr id="497" name="Google Shape;497;p27"/>
          <p:cNvSpPr txBox="1"/>
          <p:nvPr/>
        </p:nvSpPr>
        <p:spPr>
          <a:xfrm>
            <a:off x="762000" y="613410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Module 7: Electronics for Arduino Programming | Robotics and Automation Systems</a:t>
            </a:r>
            <a:endParaRPr b="0" sz="975">
              <a:solidFill>
                <a:srgbClr val="6B7280"/>
              </a:solidFill>
              <a:latin typeface="Inter"/>
              <a:ea typeface="Inter"/>
              <a:cs typeface="Inter"/>
              <a:sym typeface="Inter"/>
            </a:endParaRPr>
          </a:p>
        </p:txBody>
      </p:sp>
      <p:pic>
        <p:nvPicPr>
          <p:cNvPr id="498" name="Google Shape;498;p27"/>
          <p:cNvPicPr preferRelativeResize="0"/>
          <p:nvPr/>
        </p:nvPicPr>
        <p:blipFill rotWithShape="1">
          <a:blip r:embed="rId4">
            <a:alphaModFix/>
          </a:blip>
          <a:srcRect b="0" l="10" r="0" t="0"/>
          <a:stretch/>
        </p:blipFill>
        <p:spPr>
          <a:xfrm>
            <a:off x="10287000" y="5453079"/>
            <a:ext cx="1524000" cy="1019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28"/>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04" name="Google Shape;504;p28"/>
          <p:cNvGrpSpPr/>
          <p:nvPr/>
        </p:nvGrpSpPr>
        <p:grpSpPr>
          <a:xfrm>
            <a:off x="0" y="0"/>
            <a:ext cx="12192000" cy="76350"/>
            <a:chOff x="0" y="0"/>
            <a:chExt cx="12192000" cy="76350"/>
          </a:xfrm>
        </p:grpSpPr>
        <p:sp>
          <p:nvSpPr>
            <p:cNvPr id="505" name="Google Shape;505;p28"/>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6" name="Google Shape;506;p28"/>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07" name="Google Shape;507;p28"/>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8" name="Google Shape;508;p28"/>
          <p:cNvSpPr txBox="1"/>
          <p:nvPr/>
        </p:nvSpPr>
        <p:spPr>
          <a:xfrm>
            <a:off x="762000" y="333375"/>
            <a:ext cx="1066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045A36"/>
                </a:solidFill>
                <a:latin typeface="Montserrat SemiBold"/>
                <a:ea typeface="Montserrat SemiBold"/>
                <a:cs typeface="Montserrat SemiBold"/>
                <a:sym typeface="Montserrat SemiBold"/>
              </a:rPr>
              <a:t>Introduction to LEDs: Light Emitting Diode Working Principles</a:t>
            </a:r>
            <a:endParaRPr b="0" sz="2400">
              <a:solidFill>
                <a:srgbClr val="045A36"/>
              </a:solidFill>
              <a:latin typeface="Montserrat SemiBold"/>
              <a:ea typeface="Montserrat SemiBold"/>
              <a:cs typeface="Montserrat SemiBold"/>
              <a:sym typeface="Montserrat SemiBold"/>
            </a:endParaRPr>
          </a:p>
        </p:txBody>
      </p:sp>
      <p:grpSp>
        <p:nvGrpSpPr>
          <p:cNvPr id="509" name="Google Shape;509;p28"/>
          <p:cNvGrpSpPr/>
          <p:nvPr/>
        </p:nvGrpSpPr>
        <p:grpSpPr>
          <a:xfrm>
            <a:off x="762000" y="1428750"/>
            <a:ext cx="4762500" cy="4000500"/>
            <a:chOff x="0" y="0"/>
            <a:chExt cx="4762500" cy="4000500"/>
          </a:xfrm>
        </p:grpSpPr>
        <p:sp>
          <p:nvSpPr>
            <p:cNvPr id="510" name="Google Shape;510;p28"/>
            <p:cNvSpPr/>
            <p:nvPr/>
          </p:nvSpPr>
          <p:spPr>
            <a:xfrm>
              <a:off x="0" y="0"/>
              <a:ext cx="4762500" cy="4000500"/>
            </a:xfrm>
            <a:prstGeom prst="roundRect">
              <a:avLst>
                <a:gd fmla="val 190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11" name="Google Shape;511;p28"/>
            <p:cNvPicPr preferRelativeResize="0"/>
            <p:nvPr/>
          </p:nvPicPr>
          <p:blipFill rotWithShape="1">
            <a:blip r:embed="rId3">
              <a:alphaModFix/>
            </a:blip>
            <a:srcRect b="0" l="0" r="0" t="0"/>
            <a:stretch/>
          </p:blipFill>
          <p:spPr>
            <a:xfrm>
              <a:off x="19050" y="19050"/>
              <a:ext cx="4724400" cy="3962400"/>
            </a:xfrm>
            <a:prstGeom prst="rect">
              <a:avLst/>
            </a:prstGeom>
            <a:noFill/>
            <a:ln>
              <a:noFill/>
            </a:ln>
          </p:spPr>
        </p:pic>
        <p:sp>
          <p:nvSpPr>
            <p:cNvPr id="512" name="Google Shape;512;p28"/>
            <p:cNvSpPr txBox="1"/>
            <p:nvPr/>
          </p:nvSpPr>
          <p:spPr>
            <a:xfrm>
              <a:off x="190500" y="142875"/>
              <a:ext cx="4381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045A36"/>
                  </a:solidFill>
                  <a:latin typeface="Montserrat"/>
                  <a:ea typeface="Montserrat"/>
                  <a:cs typeface="Montserrat"/>
                  <a:sym typeface="Montserrat"/>
                </a:rPr>
                <a:t>TYPICAL LED EMISSION SPECTRUMS</a:t>
              </a:r>
              <a:endParaRPr b="1" sz="1100">
                <a:solidFill>
                  <a:srgbClr val="045A36"/>
                </a:solidFill>
                <a:latin typeface="Montserrat"/>
                <a:ea typeface="Montserrat"/>
                <a:cs typeface="Montserrat"/>
                <a:sym typeface="Montserrat"/>
              </a:endParaRPr>
            </a:p>
          </p:txBody>
        </p:sp>
        <p:cxnSp>
          <p:nvCxnSpPr>
            <p:cNvPr id="513" name="Google Shape;513;p28"/>
            <p:cNvCxnSpPr/>
            <p:nvPr/>
          </p:nvCxnSpPr>
          <p:spPr>
            <a:xfrm>
              <a:off x="952500" y="428625"/>
              <a:ext cx="2857500" cy="0"/>
            </a:xfrm>
            <a:prstGeom prst="straightConnector1">
              <a:avLst/>
            </a:prstGeom>
            <a:solidFill>
              <a:srgbClr val="FFFFFF"/>
            </a:solidFill>
            <a:ln cap="flat" cmpd="sng" w="9525">
              <a:solidFill>
                <a:srgbClr val="E2E8F0"/>
              </a:solidFill>
              <a:prstDash val="solid"/>
              <a:round/>
              <a:headEnd len="sm" w="sm" type="none"/>
              <a:tailEnd len="sm" w="sm" type="none"/>
            </a:ln>
          </p:spPr>
        </p:cxnSp>
        <p:grpSp>
          <p:nvGrpSpPr>
            <p:cNvPr id="514" name="Google Shape;514;p28"/>
            <p:cNvGrpSpPr/>
            <p:nvPr/>
          </p:nvGrpSpPr>
          <p:grpSpPr>
            <a:xfrm>
              <a:off x="619125" y="809625"/>
              <a:ext cx="857400" cy="1285950"/>
              <a:chOff x="-428625" y="-285750"/>
              <a:chExt cx="857400" cy="1285950"/>
            </a:xfrm>
          </p:grpSpPr>
          <p:pic>
            <p:nvPicPr>
              <p:cNvPr id="515" name="Google Shape;515;p28"/>
              <p:cNvPicPr preferRelativeResize="0"/>
              <p:nvPr/>
            </p:nvPicPr>
            <p:blipFill rotWithShape="1">
              <a:blip r:embed="rId4">
                <a:alphaModFix/>
              </a:blip>
              <a:srcRect b="0" l="0" r="0" t="0"/>
              <a:stretch/>
            </p:blipFill>
            <p:spPr>
              <a:xfrm>
                <a:off x="-428625" y="-285750"/>
                <a:ext cx="857400" cy="857400"/>
              </a:xfrm>
              <a:prstGeom prst="rect">
                <a:avLst/>
              </a:prstGeom>
              <a:noFill/>
              <a:ln>
                <a:noFill/>
              </a:ln>
            </p:spPr>
          </p:pic>
          <p:cxnSp>
            <p:nvCxnSpPr>
              <p:cNvPr id="516" name="Google Shape;516;p28"/>
              <p:cNvCxnSpPr/>
              <p:nvPr/>
            </p:nvCxnSpPr>
            <p:spPr>
              <a:xfrm>
                <a:off x="-57150" y="190500"/>
                <a:ext cx="0" cy="809700"/>
              </a:xfrm>
              <a:prstGeom prst="straightConnector1">
                <a:avLst/>
              </a:prstGeom>
              <a:solidFill>
                <a:srgbClr val="FFFFFF"/>
              </a:solidFill>
              <a:ln cap="rnd" cmpd="sng" w="23825">
                <a:solidFill>
                  <a:srgbClr val="94A3B8"/>
                </a:solidFill>
                <a:prstDash val="solid"/>
                <a:round/>
                <a:headEnd len="sm" w="sm" type="none"/>
                <a:tailEnd len="sm" w="sm" type="none"/>
              </a:ln>
            </p:spPr>
          </p:cxnSp>
          <p:cxnSp>
            <p:nvCxnSpPr>
              <p:cNvPr id="517" name="Google Shape;517;p28"/>
              <p:cNvCxnSpPr/>
              <p:nvPr/>
            </p:nvCxnSpPr>
            <p:spPr>
              <a:xfrm>
                <a:off x="57150" y="190500"/>
                <a:ext cx="0" cy="619200"/>
              </a:xfrm>
              <a:prstGeom prst="straightConnector1">
                <a:avLst/>
              </a:prstGeom>
              <a:solidFill>
                <a:srgbClr val="FFFFFF"/>
              </a:solidFill>
              <a:ln cap="rnd" cmpd="sng" w="23825">
                <a:solidFill>
                  <a:srgbClr val="94A3B8"/>
                </a:solidFill>
                <a:prstDash val="solid"/>
                <a:round/>
                <a:headEnd len="sm" w="sm" type="none"/>
                <a:tailEnd len="sm" w="sm" type="none"/>
              </a:ln>
            </p:spPr>
          </p:cxnSp>
          <p:sp>
            <p:nvSpPr>
              <p:cNvPr id="518" name="Google Shape;518;p28"/>
              <p:cNvSpPr/>
              <p:nvPr/>
            </p:nvSpPr>
            <p:spPr>
              <a:xfrm>
                <a:off x="-76200" y="95250"/>
                <a:ext cx="104700" cy="76200"/>
              </a:xfrm>
              <a:custGeom>
                <a:rect b="b" l="l" r="r" t="t"/>
                <a:pathLst>
                  <a:path extrusionOk="0" h="120000" w="120000">
                    <a:moveTo>
                      <a:pt x="0" y="120000"/>
                    </a:moveTo>
                    <a:lnTo>
                      <a:pt x="54545" y="0"/>
                    </a:lnTo>
                    <a:lnTo>
                      <a:pt x="120000" y="0"/>
                    </a:lnTo>
                    <a:lnTo>
                      <a:pt x="120000" y="120000"/>
                    </a:lnTo>
                  </a:path>
                </a:pathLst>
              </a:custGeom>
              <a:solidFill>
                <a:srgbClr val="000000">
                  <a:alpha val="0"/>
                </a:srgbClr>
              </a:solidFill>
              <a:ln cap="flat" cmpd="sng" w="114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519" name="Google Shape;519;p28"/>
              <p:cNvCxnSpPr/>
              <p:nvPr/>
            </p:nvCxnSpPr>
            <p:spPr>
              <a:xfrm rot="10800000">
                <a:off x="57150" y="76050"/>
                <a:ext cx="0" cy="95400"/>
              </a:xfrm>
              <a:prstGeom prst="straightConnector1">
                <a:avLst/>
              </a:prstGeom>
              <a:solidFill>
                <a:srgbClr val="FFFFFF"/>
              </a:solidFill>
              <a:ln cap="flat" cmpd="sng" w="11425">
                <a:solidFill>
                  <a:srgbClr val="CBD5E1"/>
                </a:solidFill>
                <a:prstDash val="solid"/>
                <a:round/>
                <a:headEnd len="sm" w="sm" type="none"/>
                <a:tailEnd len="sm" w="sm" type="none"/>
              </a:ln>
            </p:spPr>
          </p:cxnSp>
          <p:sp>
            <p:nvSpPr>
              <p:cNvPr id="520" name="Google Shape;520;p28"/>
              <p:cNvSpPr/>
              <p:nvPr/>
            </p:nvSpPr>
            <p:spPr>
              <a:xfrm>
                <a:off x="28575" y="66675"/>
                <a:ext cx="28500" cy="28500"/>
              </a:xfrm>
              <a:custGeom>
                <a:rect b="b" l="l" r="r" t="t"/>
                <a:pathLst>
                  <a:path extrusionOk="0" h="120000" w="120000">
                    <a:moveTo>
                      <a:pt x="0" y="120000"/>
                    </a:moveTo>
                    <a:quadBezTo>
                      <a:pt x="60000" y="0"/>
                      <a:pt x="120000" y="40000"/>
                    </a:quadBezTo>
                  </a:path>
                </a:pathLst>
              </a:custGeom>
              <a:solidFill>
                <a:srgbClr val="000000">
                  <a:alpha val="0"/>
                </a:srgbClr>
              </a:solidFill>
              <a:ln cap="flat" cmpd="sng" w="7625">
                <a:solidFill>
                  <a:srgbClr val="D4A01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1" name="Google Shape;521;p28"/>
              <p:cNvSpPr/>
              <p:nvPr/>
            </p:nvSpPr>
            <p:spPr>
              <a:xfrm>
                <a:off x="-114300" y="-114300"/>
                <a:ext cx="228600" cy="304800"/>
              </a:xfrm>
              <a:custGeom>
                <a:rect b="b" l="l" r="r" t="t"/>
                <a:pathLst>
                  <a:path extrusionOk="0" h="120000" w="120000">
                    <a:moveTo>
                      <a:pt x="0" y="120000"/>
                    </a:moveTo>
                    <a:lnTo>
                      <a:pt x="0" y="45000"/>
                    </a:lnTo>
                    <a:cubicBezTo>
                      <a:pt x="0" y="20147"/>
                      <a:pt x="26863" y="0"/>
                      <a:pt x="60000" y="0"/>
                    </a:cubicBezTo>
                    <a:cubicBezTo>
                      <a:pt x="93137" y="0"/>
                      <a:pt x="120000" y="20147"/>
                      <a:pt x="120000" y="45000"/>
                    </a:cubicBezTo>
                    <a:lnTo>
                      <a:pt x="120000" y="120000"/>
                    </a:lnTo>
                    <a:close/>
                  </a:path>
                </a:pathLst>
              </a:custGeom>
              <a:solidFill>
                <a:srgbClr val="EF4444">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2" name="Google Shape;522;p28"/>
              <p:cNvSpPr/>
              <p:nvPr/>
            </p:nvSpPr>
            <p:spPr>
              <a:xfrm>
                <a:off x="-133350" y="190500"/>
                <a:ext cx="266700" cy="28500"/>
              </a:xfrm>
              <a:prstGeom prst="roundRect">
                <a:avLst>
                  <a:gd fmla="val 33333"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523" name="Google Shape;523;p28"/>
            <p:cNvGrpSpPr/>
            <p:nvPr/>
          </p:nvGrpSpPr>
          <p:grpSpPr>
            <a:xfrm>
              <a:off x="1952625" y="809625"/>
              <a:ext cx="857400" cy="1285950"/>
              <a:chOff x="-428625" y="-285750"/>
              <a:chExt cx="857400" cy="1285950"/>
            </a:xfrm>
          </p:grpSpPr>
          <p:pic>
            <p:nvPicPr>
              <p:cNvPr id="524" name="Google Shape;524;p28"/>
              <p:cNvPicPr preferRelativeResize="0"/>
              <p:nvPr/>
            </p:nvPicPr>
            <p:blipFill rotWithShape="1">
              <a:blip r:embed="rId5">
                <a:alphaModFix/>
              </a:blip>
              <a:srcRect b="0" l="0" r="0" t="0"/>
              <a:stretch/>
            </p:blipFill>
            <p:spPr>
              <a:xfrm>
                <a:off x="-428625" y="-285750"/>
                <a:ext cx="857400" cy="857400"/>
              </a:xfrm>
              <a:prstGeom prst="rect">
                <a:avLst/>
              </a:prstGeom>
              <a:noFill/>
              <a:ln>
                <a:noFill/>
              </a:ln>
            </p:spPr>
          </p:pic>
          <p:cxnSp>
            <p:nvCxnSpPr>
              <p:cNvPr id="525" name="Google Shape;525;p28"/>
              <p:cNvCxnSpPr/>
              <p:nvPr/>
            </p:nvCxnSpPr>
            <p:spPr>
              <a:xfrm>
                <a:off x="-57150" y="190500"/>
                <a:ext cx="0" cy="809700"/>
              </a:xfrm>
              <a:prstGeom prst="straightConnector1">
                <a:avLst/>
              </a:prstGeom>
              <a:solidFill>
                <a:srgbClr val="FFFFFF"/>
              </a:solidFill>
              <a:ln cap="rnd" cmpd="sng" w="23825">
                <a:solidFill>
                  <a:srgbClr val="94A3B8"/>
                </a:solidFill>
                <a:prstDash val="solid"/>
                <a:round/>
                <a:headEnd len="sm" w="sm" type="none"/>
                <a:tailEnd len="sm" w="sm" type="none"/>
              </a:ln>
            </p:spPr>
          </p:cxnSp>
          <p:cxnSp>
            <p:nvCxnSpPr>
              <p:cNvPr id="526" name="Google Shape;526;p28"/>
              <p:cNvCxnSpPr/>
              <p:nvPr/>
            </p:nvCxnSpPr>
            <p:spPr>
              <a:xfrm>
                <a:off x="57150" y="190500"/>
                <a:ext cx="0" cy="619200"/>
              </a:xfrm>
              <a:prstGeom prst="straightConnector1">
                <a:avLst/>
              </a:prstGeom>
              <a:solidFill>
                <a:srgbClr val="FFFFFF"/>
              </a:solidFill>
              <a:ln cap="rnd" cmpd="sng" w="23825">
                <a:solidFill>
                  <a:srgbClr val="94A3B8"/>
                </a:solidFill>
                <a:prstDash val="solid"/>
                <a:round/>
                <a:headEnd len="sm" w="sm" type="none"/>
                <a:tailEnd len="sm" w="sm" type="none"/>
              </a:ln>
            </p:spPr>
          </p:cxnSp>
          <p:sp>
            <p:nvSpPr>
              <p:cNvPr id="527" name="Google Shape;527;p28"/>
              <p:cNvSpPr/>
              <p:nvPr/>
            </p:nvSpPr>
            <p:spPr>
              <a:xfrm>
                <a:off x="-76200" y="95250"/>
                <a:ext cx="104700" cy="76200"/>
              </a:xfrm>
              <a:custGeom>
                <a:rect b="b" l="l" r="r" t="t"/>
                <a:pathLst>
                  <a:path extrusionOk="0" h="120000" w="120000">
                    <a:moveTo>
                      <a:pt x="0" y="120000"/>
                    </a:moveTo>
                    <a:lnTo>
                      <a:pt x="54545" y="0"/>
                    </a:lnTo>
                    <a:lnTo>
                      <a:pt x="120000" y="0"/>
                    </a:lnTo>
                    <a:lnTo>
                      <a:pt x="120000" y="120000"/>
                    </a:lnTo>
                  </a:path>
                </a:pathLst>
              </a:custGeom>
              <a:solidFill>
                <a:srgbClr val="000000">
                  <a:alpha val="0"/>
                </a:srgbClr>
              </a:solidFill>
              <a:ln cap="flat" cmpd="sng" w="114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528" name="Google Shape;528;p28"/>
              <p:cNvCxnSpPr/>
              <p:nvPr/>
            </p:nvCxnSpPr>
            <p:spPr>
              <a:xfrm rot="10800000">
                <a:off x="57150" y="76050"/>
                <a:ext cx="0" cy="95400"/>
              </a:xfrm>
              <a:prstGeom prst="straightConnector1">
                <a:avLst/>
              </a:prstGeom>
              <a:solidFill>
                <a:srgbClr val="FFFFFF"/>
              </a:solidFill>
              <a:ln cap="flat" cmpd="sng" w="11425">
                <a:solidFill>
                  <a:srgbClr val="CBD5E1"/>
                </a:solidFill>
                <a:prstDash val="solid"/>
                <a:round/>
                <a:headEnd len="sm" w="sm" type="none"/>
                <a:tailEnd len="sm" w="sm" type="none"/>
              </a:ln>
            </p:spPr>
          </p:cxnSp>
          <p:sp>
            <p:nvSpPr>
              <p:cNvPr id="529" name="Google Shape;529;p28"/>
              <p:cNvSpPr/>
              <p:nvPr/>
            </p:nvSpPr>
            <p:spPr>
              <a:xfrm>
                <a:off x="28575" y="66675"/>
                <a:ext cx="28500" cy="28500"/>
              </a:xfrm>
              <a:custGeom>
                <a:rect b="b" l="l" r="r" t="t"/>
                <a:pathLst>
                  <a:path extrusionOk="0" h="120000" w="120000">
                    <a:moveTo>
                      <a:pt x="0" y="120000"/>
                    </a:moveTo>
                    <a:quadBezTo>
                      <a:pt x="60000" y="0"/>
                      <a:pt x="120000" y="40000"/>
                    </a:quadBezTo>
                  </a:path>
                </a:pathLst>
              </a:custGeom>
              <a:solidFill>
                <a:srgbClr val="000000">
                  <a:alpha val="0"/>
                </a:srgbClr>
              </a:solidFill>
              <a:ln cap="flat" cmpd="sng" w="7625">
                <a:solidFill>
                  <a:srgbClr val="D4A01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0" name="Google Shape;530;p28"/>
              <p:cNvSpPr/>
              <p:nvPr/>
            </p:nvSpPr>
            <p:spPr>
              <a:xfrm>
                <a:off x="-114300" y="-114300"/>
                <a:ext cx="228600" cy="304800"/>
              </a:xfrm>
              <a:custGeom>
                <a:rect b="b" l="l" r="r" t="t"/>
                <a:pathLst>
                  <a:path extrusionOk="0" h="120000" w="120000">
                    <a:moveTo>
                      <a:pt x="0" y="120000"/>
                    </a:moveTo>
                    <a:lnTo>
                      <a:pt x="0" y="45000"/>
                    </a:lnTo>
                    <a:cubicBezTo>
                      <a:pt x="0" y="20147"/>
                      <a:pt x="26863" y="0"/>
                      <a:pt x="60000" y="0"/>
                    </a:cubicBezTo>
                    <a:cubicBezTo>
                      <a:pt x="93137" y="0"/>
                      <a:pt x="120000" y="20147"/>
                      <a:pt x="120000" y="45000"/>
                    </a:cubicBezTo>
                    <a:lnTo>
                      <a:pt x="120000" y="120000"/>
                    </a:lnTo>
                    <a:close/>
                  </a:path>
                </a:pathLst>
              </a:custGeom>
              <a:solidFill>
                <a:srgbClr val="10B981">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1" name="Google Shape;531;p28"/>
              <p:cNvSpPr/>
              <p:nvPr/>
            </p:nvSpPr>
            <p:spPr>
              <a:xfrm>
                <a:off x="-133350" y="190500"/>
                <a:ext cx="266700" cy="28500"/>
              </a:xfrm>
              <a:prstGeom prst="roundRect">
                <a:avLst>
                  <a:gd fmla="val 33333"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532" name="Google Shape;532;p28"/>
            <p:cNvGrpSpPr/>
            <p:nvPr/>
          </p:nvGrpSpPr>
          <p:grpSpPr>
            <a:xfrm>
              <a:off x="3286125" y="809625"/>
              <a:ext cx="857400" cy="1285950"/>
              <a:chOff x="-428625" y="-285750"/>
              <a:chExt cx="857400" cy="1285950"/>
            </a:xfrm>
          </p:grpSpPr>
          <p:pic>
            <p:nvPicPr>
              <p:cNvPr id="533" name="Google Shape;533;p28"/>
              <p:cNvPicPr preferRelativeResize="0"/>
              <p:nvPr/>
            </p:nvPicPr>
            <p:blipFill rotWithShape="1">
              <a:blip r:embed="rId6">
                <a:alphaModFix/>
              </a:blip>
              <a:srcRect b="0" l="0" r="0" t="0"/>
              <a:stretch/>
            </p:blipFill>
            <p:spPr>
              <a:xfrm>
                <a:off x="-428625" y="-285750"/>
                <a:ext cx="857400" cy="857400"/>
              </a:xfrm>
              <a:prstGeom prst="rect">
                <a:avLst/>
              </a:prstGeom>
              <a:noFill/>
              <a:ln>
                <a:noFill/>
              </a:ln>
            </p:spPr>
          </p:pic>
          <p:cxnSp>
            <p:nvCxnSpPr>
              <p:cNvPr id="534" name="Google Shape;534;p28"/>
              <p:cNvCxnSpPr/>
              <p:nvPr/>
            </p:nvCxnSpPr>
            <p:spPr>
              <a:xfrm>
                <a:off x="-57150" y="190500"/>
                <a:ext cx="0" cy="809700"/>
              </a:xfrm>
              <a:prstGeom prst="straightConnector1">
                <a:avLst/>
              </a:prstGeom>
              <a:solidFill>
                <a:srgbClr val="FFFFFF"/>
              </a:solidFill>
              <a:ln cap="rnd" cmpd="sng" w="23825">
                <a:solidFill>
                  <a:srgbClr val="94A3B8"/>
                </a:solidFill>
                <a:prstDash val="solid"/>
                <a:round/>
                <a:headEnd len="sm" w="sm" type="none"/>
                <a:tailEnd len="sm" w="sm" type="none"/>
              </a:ln>
            </p:spPr>
          </p:cxnSp>
          <p:cxnSp>
            <p:nvCxnSpPr>
              <p:cNvPr id="535" name="Google Shape;535;p28"/>
              <p:cNvCxnSpPr/>
              <p:nvPr/>
            </p:nvCxnSpPr>
            <p:spPr>
              <a:xfrm>
                <a:off x="57150" y="190500"/>
                <a:ext cx="0" cy="619200"/>
              </a:xfrm>
              <a:prstGeom prst="straightConnector1">
                <a:avLst/>
              </a:prstGeom>
              <a:solidFill>
                <a:srgbClr val="FFFFFF"/>
              </a:solidFill>
              <a:ln cap="rnd" cmpd="sng" w="23825">
                <a:solidFill>
                  <a:srgbClr val="94A3B8"/>
                </a:solidFill>
                <a:prstDash val="solid"/>
                <a:round/>
                <a:headEnd len="sm" w="sm" type="none"/>
                <a:tailEnd len="sm" w="sm" type="none"/>
              </a:ln>
            </p:spPr>
          </p:cxnSp>
          <p:sp>
            <p:nvSpPr>
              <p:cNvPr id="536" name="Google Shape;536;p28"/>
              <p:cNvSpPr/>
              <p:nvPr/>
            </p:nvSpPr>
            <p:spPr>
              <a:xfrm>
                <a:off x="-76200" y="95250"/>
                <a:ext cx="104700" cy="76200"/>
              </a:xfrm>
              <a:custGeom>
                <a:rect b="b" l="l" r="r" t="t"/>
                <a:pathLst>
                  <a:path extrusionOk="0" h="120000" w="120000">
                    <a:moveTo>
                      <a:pt x="0" y="120000"/>
                    </a:moveTo>
                    <a:lnTo>
                      <a:pt x="54545" y="0"/>
                    </a:lnTo>
                    <a:lnTo>
                      <a:pt x="120000" y="0"/>
                    </a:lnTo>
                    <a:lnTo>
                      <a:pt x="120000" y="120000"/>
                    </a:lnTo>
                  </a:path>
                </a:pathLst>
              </a:custGeom>
              <a:solidFill>
                <a:srgbClr val="000000">
                  <a:alpha val="0"/>
                </a:srgbClr>
              </a:solidFill>
              <a:ln cap="flat" cmpd="sng" w="114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537" name="Google Shape;537;p28"/>
              <p:cNvCxnSpPr/>
              <p:nvPr/>
            </p:nvCxnSpPr>
            <p:spPr>
              <a:xfrm rot="10800000">
                <a:off x="57150" y="76050"/>
                <a:ext cx="0" cy="95400"/>
              </a:xfrm>
              <a:prstGeom prst="straightConnector1">
                <a:avLst/>
              </a:prstGeom>
              <a:solidFill>
                <a:srgbClr val="FFFFFF"/>
              </a:solidFill>
              <a:ln cap="flat" cmpd="sng" w="11425">
                <a:solidFill>
                  <a:srgbClr val="CBD5E1"/>
                </a:solidFill>
                <a:prstDash val="solid"/>
                <a:round/>
                <a:headEnd len="sm" w="sm" type="none"/>
                <a:tailEnd len="sm" w="sm" type="none"/>
              </a:ln>
            </p:spPr>
          </p:cxnSp>
          <p:sp>
            <p:nvSpPr>
              <p:cNvPr id="538" name="Google Shape;538;p28"/>
              <p:cNvSpPr/>
              <p:nvPr/>
            </p:nvSpPr>
            <p:spPr>
              <a:xfrm>
                <a:off x="28575" y="66675"/>
                <a:ext cx="28500" cy="28500"/>
              </a:xfrm>
              <a:custGeom>
                <a:rect b="b" l="l" r="r" t="t"/>
                <a:pathLst>
                  <a:path extrusionOk="0" h="120000" w="120000">
                    <a:moveTo>
                      <a:pt x="0" y="120000"/>
                    </a:moveTo>
                    <a:quadBezTo>
                      <a:pt x="60000" y="0"/>
                      <a:pt x="120000" y="40000"/>
                    </a:quadBezTo>
                  </a:path>
                </a:pathLst>
              </a:custGeom>
              <a:solidFill>
                <a:srgbClr val="000000">
                  <a:alpha val="0"/>
                </a:srgbClr>
              </a:solidFill>
              <a:ln cap="flat" cmpd="sng" w="7625">
                <a:solidFill>
                  <a:srgbClr val="D4A01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9" name="Google Shape;539;p28"/>
              <p:cNvSpPr/>
              <p:nvPr/>
            </p:nvSpPr>
            <p:spPr>
              <a:xfrm>
                <a:off x="-114300" y="-114300"/>
                <a:ext cx="228600" cy="304800"/>
              </a:xfrm>
              <a:custGeom>
                <a:rect b="b" l="l" r="r" t="t"/>
                <a:pathLst>
                  <a:path extrusionOk="0" h="120000" w="120000">
                    <a:moveTo>
                      <a:pt x="0" y="120000"/>
                    </a:moveTo>
                    <a:lnTo>
                      <a:pt x="0" y="45000"/>
                    </a:lnTo>
                    <a:cubicBezTo>
                      <a:pt x="0" y="20147"/>
                      <a:pt x="26863" y="0"/>
                      <a:pt x="60000" y="0"/>
                    </a:cubicBezTo>
                    <a:cubicBezTo>
                      <a:pt x="93137" y="0"/>
                      <a:pt x="120000" y="20147"/>
                      <a:pt x="120000" y="45000"/>
                    </a:cubicBezTo>
                    <a:lnTo>
                      <a:pt x="120000" y="120000"/>
                    </a:lnTo>
                    <a:close/>
                  </a:path>
                </a:pathLst>
              </a:custGeom>
              <a:solidFill>
                <a:srgbClr val="3B82F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0" name="Google Shape;540;p28"/>
              <p:cNvSpPr/>
              <p:nvPr/>
            </p:nvSpPr>
            <p:spPr>
              <a:xfrm>
                <a:off x="-133350" y="190500"/>
                <a:ext cx="266700" cy="28500"/>
              </a:xfrm>
              <a:prstGeom prst="roundRect">
                <a:avLst>
                  <a:gd fmla="val 33333"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41" name="Google Shape;541;p28"/>
            <p:cNvSpPr txBox="1"/>
            <p:nvPr/>
          </p:nvSpPr>
          <p:spPr>
            <a:xfrm>
              <a:off x="571500" y="2286000"/>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50">
                  <a:solidFill>
                    <a:srgbClr val="EF4444"/>
                  </a:solidFill>
                  <a:latin typeface="Inter"/>
                  <a:ea typeface="Inter"/>
                  <a:cs typeface="Inter"/>
                  <a:sym typeface="Inter"/>
                </a:rPr>
                <a:t>RED</a:t>
              </a:r>
              <a:endParaRPr b="1" sz="950">
                <a:solidFill>
                  <a:srgbClr val="EF4444"/>
                </a:solidFill>
                <a:latin typeface="Inter"/>
                <a:ea typeface="Inter"/>
                <a:cs typeface="Inter"/>
                <a:sym typeface="Inter"/>
              </a:endParaRPr>
            </a:p>
            <a:p>
              <a:pPr indent="0" lvl="0" marL="0" rtl="0" algn="ctr">
                <a:spcBef>
                  <a:spcPts val="150"/>
                </a:spcBef>
                <a:spcAft>
                  <a:spcPts val="0"/>
                </a:spcAft>
                <a:buNone/>
              </a:pPr>
              <a:r>
                <a:rPr b="0" lang="en" sz="800">
                  <a:solidFill>
                    <a:srgbClr val="6B7280"/>
                  </a:solidFill>
                  <a:latin typeface="Inter"/>
                  <a:ea typeface="Inter"/>
                  <a:cs typeface="Inter"/>
                  <a:sym typeface="Inter"/>
                </a:rPr>
                <a:t>660 nm</a:t>
              </a:r>
              <a:endParaRPr b="0" sz="800">
                <a:solidFill>
                  <a:srgbClr val="6B7280"/>
                </a:solidFill>
                <a:latin typeface="Inter"/>
                <a:ea typeface="Inter"/>
                <a:cs typeface="Inter"/>
                <a:sym typeface="Inter"/>
              </a:endParaRPr>
            </a:p>
          </p:txBody>
        </p:sp>
        <p:sp>
          <p:nvSpPr>
            <p:cNvPr id="542" name="Google Shape;542;p28"/>
            <p:cNvSpPr txBox="1"/>
            <p:nvPr/>
          </p:nvSpPr>
          <p:spPr>
            <a:xfrm>
              <a:off x="1905000" y="2286000"/>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50">
                  <a:solidFill>
                    <a:srgbClr val="10B981"/>
                  </a:solidFill>
                  <a:latin typeface="Inter"/>
                  <a:ea typeface="Inter"/>
                  <a:cs typeface="Inter"/>
                  <a:sym typeface="Inter"/>
                </a:rPr>
                <a:t>GREEN</a:t>
              </a:r>
              <a:endParaRPr b="1" sz="950">
                <a:solidFill>
                  <a:srgbClr val="10B981"/>
                </a:solidFill>
                <a:latin typeface="Inter"/>
                <a:ea typeface="Inter"/>
                <a:cs typeface="Inter"/>
                <a:sym typeface="Inter"/>
              </a:endParaRPr>
            </a:p>
            <a:p>
              <a:pPr indent="0" lvl="0" marL="0" rtl="0" algn="ctr">
                <a:spcBef>
                  <a:spcPts val="150"/>
                </a:spcBef>
                <a:spcAft>
                  <a:spcPts val="0"/>
                </a:spcAft>
                <a:buNone/>
              </a:pPr>
              <a:r>
                <a:rPr b="0" lang="en" sz="800">
                  <a:solidFill>
                    <a:srgbClr val="6B7280"/>
                  </a:solidFill>
                  <a:latin typeface="Inter"/>
                  <a:ea typeface="Inter"/>
                  <a:cs typeface="Inter"/>
                  <a:sym typeface="Inter"/>
                </a:rPr>
                <a:t>565 nm</a:t>
              </a:r>
              <a:endParaRPr b="0" sz="800">
                <a:solidFill>
                  <a:srgbClr val="6B7280"/>
                </a:solidFill>
                <a:latin typeface="Inter"/>
                <a:ea typeface="Inter"/>
                <a:cs typeface="Inter"/>
                <a:sym typeface="Inter"/>
              </a:endParaRPr>
            </a:p>
          </p:txBody>
        </p:sp>
        <p:sp>
          <p:nvSpPr>
            <p:cNvPr id="543" name="Google Shape;543;p28"/>
            <p:cNvSpPr txBox="1"/>
            <p:nvPr/>
          </p:nvSpPr>
          <p:spPr>
            <a:xfrm>
              <a:off x="3238500" y="2286000"/>
              <a:ext cx="95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50">
                  <a:solidFill>
                    <a:srgbClr val="3B82F6"/>
                  </a:solidFill>
                  <a:latin typeface="Inter"/>
                  <a:ea typeface="Inter"/>
                  <a:cs typeface="Inter"/>
                  <a:sym typeface="Inter"/>
                </a:rPr>
                <a:t>BLUE</a:t>
              </a:r>
              <a:endParaRPr b="1" sz="950">
                <a:solidFill>
                  <a:srgbClr val="3B82F6"/>
                </a:solidFill>
                <a:latin typeface="Inter"/>
                <a:ea typeface="Inter"/>
                <a:cs typeface="Inter"/>
                <a:sym typeface="Inter"/>
              </a:endParaRPr>
            </a:p>
            <a:p>
              <a:pPr indent="0" lvl="0" marL="0" rtl="0" algn="ctr">
                <a:spcBef>
                  <a:spcPts val="150"/>
                </a:spcBef>
                <a:spcAft>
                  <a:spcPts val="0"/>
                </a:spcAft>
                <a:buNone/>
              </a:pPr>
              <a:r>
                <a:rPr b="0" lang="en" sz="800">
                  <a:solidFill>
                    <a:srgbClr val="6B7280"/>
                  </a:solidFill>
                  <a:latin typeface="Inter"/>
                  <a:ea typeface="Inter"/>
                  <a:cs typeface="Inter"/>
                  <a:sym typeface="Inter"/>
                </a:rPr>
                <a:t>470 nm</a:t>
              </a:r>
              <a:endParaRPr b="0" sz="800">
                <a:solidFill>
                  <a:srgbClr val="6B7280"/>
                </a:solidFill>
                <a:latin typeface="Inter"/>
                <a:ea typeface="Inter"/>
                <a:cs typeface="Inter"/>
                <a:sym typeface="Inter"/>
              </a:endParaRPr>
            </a:p>
          </p:txBody>
        </p:sp>
        <p:sp>
          <p:nvSpPr>
            <p:cNvPr id="544" name="Google Shape;544;p28"/>
            <p:cNvSpPr/>
            <p:nvPr/>
          </p:nvSpPr>
          <p:spPr>
            <a:xfrm>
              <a:off x="1143000" y="2809875"/>
              <a:ext cx="2476500" cy="904800"/>
            </a:xfrm>
            <a:prstGeom prst="roundRect">
              <a:avLst>
                <a:gd fmla="val 6315"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5" name="Google Shape;545;p28"/>
            <p:cNvSpPr txBox="1"/>
            <p:nvPr/>
          </p:nvSpPr>
          <p:spPr>
            <a:xfrm>
              <a:off x="1238250" y="2876550"/>
              <a:ext cx="22860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50">
                  <a:solidFill>
                    <a:srgbClr val="6B7280"/>
                  </a:solidFill>
                  <a:latin typeface="Inter SemiBold"/>
                  <a:ea typeface="Inter SemiBold"/>
                  <a:cs typeface="Inter SemiBold"/>
                  <a:sym typeface="Inter SemiBold"/>
                </a:rPr>
                <a:t>SCHEMATIC SYMBOL</a:t>
              </a:r>
              <a:endParaRPr b="0" sz="750">
                <a:solidFill>
                  <a:srgbClr val="6B7280"/>
                </a:solidFill>
                <a:latin typeface="Inter SemiBold"/>
                <a:ea typeface="Inter SemiBold"/>
                <a:cs typeface="Inter SemiBold"/>
                <a:sym typeface="Inter SemiBold"/>
              </a:endParaRPr>
            </a:p>
          </p:txBody>
        </p:sp>
        <p:grpSp>
          <p:nvGrpSpPr>
            <p:cNvPr id="546" name="Google Shape;546;p28"/>
            <p:cNvGrpSpPr/>
            <p:nvPr/>
          </p:nvGrpSpPr>
          <p:grpSpPr>
            <a:xfrm>
              <a:off x="1809750" y="3152700"/>
              <a:ext cx="1143000" cy="324075"/>
              <a:chOff x="-571500" y="-219150"/>
              <a:chExt cx="1143000" cy="324075"/>
            </a:xfrm>
          </p:grpSpPr>
          <p:sp>
            <p:nvSpPr>
              <p:cNvPr id="547" name="Google Shape;547;p28"/>
              <p:cNvSpPr/>
              <p:nvPr/>
            </p:nvSpPr>
            <p:spPr>
              <a:xfrm>
                <a:off x="-114300" y="-104775"/>
                <a:ext cx="190500" cy="209700"/>
              </a:xfrm>
              <a:custGeom>
                <a:rect b="b" l="l" r="r" t="t"/>
                <a:pathLst>
                  <a:path extrusionOk="0" h="120000" w="120000">
                    <a:moveTo>
                      <a:pt x="0" y="0"/>
                    </a:moveTo>
                    <a:lnTo>
                      <a:pt x="0" y="120000"/>
                    </a:lnTo>
                    <a:lnTo>
                      <a:pt x="120000" y="60000"/>
                    </a:lnTo>
                    <a:close/>
                  </a:path>
                </a:pathLst>
              </a:cu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548" name="Google Shape;548;p28"/>
              <p:cNvCxnSpPr/>
              <p:nvPr/>
            </p:nvCxnSpPr>
            <p:spPr>
              <a:xfrm>
                <a:off x="76200" y="-104775"/>
                <a:ext cx="0" cy="209700"/>
              </a:xfrm>
              <a:prstGeom prst="straightConnector1">
                <a:avLst/>
              </a:prstGeom>
              <a:solidFill>
                <a:srgbClr val="FFFFFF"/>
              </a:solidFill>
              <a:ln cap="rnd" cmpd="sng" w="23825">
                <a:solidFill>
                  <a:srgbClr val="045A36"/>
                </a:solidFill>
                <a:prstDash val="solid"/>
                <a:round/>
                <a:headEnd len="sm" w="sm" type="none"/>
                <a:tailEnd len="sm" w="sm" type="none"/>
              </a:ln>
            </p:spPr>
          </p:cxnSp>
          <p:cxnSp>
            <p:nvCxnSpPr>
              <p:cNvPr id="549" name="Google Shape;549;p28"/>
              <p:cNvCxnSpPr/>
              <p:nvPr/>
            </p:nvCxnSpPr>
            <p:spPr>
              <a:xfrm>
                <a:off x="-428625" y="0"/>
                <a:ext cx="314400" cy="0"/>
              </a:xfrm>
              <a:prstGeom prst="straightConnector1">
                <a:avLst/>
              </a:prstGeom>
              <a:solidFill>
                <a:srgbClr val="FFFFFF"/>
              </a:solidFill>
              <a:ln cap="flat" cmpd="sng" w="19050">
                <a:solidFill>
                  <a:srgbClr val="045A36"/>
                </a:solidFill>
                <a:prstDash val="solid"/>
                <a:round/>
                <a:headEnd len="sm" w="sm" type="none"/>
                <a:tailEnd len="sm" w="sm" type="none"/>
              </a:ln>
            </p:spPr>
          </p:cxnSp>
          <p:cxnSp>
            <p:nvCxnSpPr>
              <p:cNvPr id="550" name="Google Shape;550;p28"/>
              <p:cNvCxnSpPr/>
              <p:nvPr/>
            </p:nvCxnSpPr>
            <p:spPr>
              <a:xfrm>
                <a:off x="76200" y="0"/>
                <a:ext cx="352500" cy="0"/>
              </a:xfrm>
              <a:prstGeom prst="straightConnector1">
                <a:avLst/>
              </a:prstGeom>
              <a:solidFill>
                <a:srgbClr val="FFFFFF"/>
              </a:solidFill>
              <a:ln cap="flat" cmpd="sng" w="19050">
                <a:solidFill>
                  <a:srgbClr val="045A36"/>
                </a:solidFill>
                <a:prstDash val="solid"/>
                <a:round/>
                <a:headEnd len="sm" w="sm" type="none"/>
                <a:tailEnd len="sm" w="sm" type="none"/>
              </a:ln>
            </p:spPr>
          </p:cxnSp>
          <p:sp>
            <p:nvSpPr>
              <p:cNvPr id="551" name="Google Shape;551;p28"/>
              <p:cNvSpPr txBox="1"/>
              <p:nvPr/>
            </p:nvSpPr>
            <p:spPr>
              <a:xfrm>
                <a:off x="-571500" y="-114300"/>
                <a:ext cx="1143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045A36"/>
                    </a:solidFill>
                    <a:latin typeface="Inter"/>
                    <a:ea typeface="Inter"/>
                    <a:cs typeface="Inter"/>
                    <a:sym typeface="Inter"/>
                  </a:rPr>
                  <a:t>A</a:t>
                </a:r>
                <a:endParaRPr b="1" sz="800">
                  <a:solidFill>
                    <a:srgbClr val="045A36"/>
                  </a:solidFill>
                  <a:latin typeface="Inter"/>
                  <a:ea typeface="Inter"/>
                  <a:cs typeface="Inter"/>
                  <a:sym typeface="Inter"/>
                </a:endParaRPr>
              </a:p>
            </p:txBody>
          </p:sp>
          <p:sp>
            <p:nvSpPr>
              <p:cNvPr id="552" name="Google Shape;552;p28"/>
              <p:cNvSpPr txBox="1"/>
              <p:nvPr/>
            </p:nvSpPr>
            <p:spPr>
              <a:xfrm>
                <a:off x="457200" y="-114300"/>
                <a:ext cx="1143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045A36"/>
                    </a:solidFill>
                    <a:latin typeface="Inter"/>
                    <a:ea typeface="Inter"/>
                    <a:cs typeface="Inter"/>
                    <a:sym typeface="Inter"/>
                  </a:rPr>
                  <a:t>K</a:t>
                </a:r>
                <a:endParaRPr b="1" sz="800">
                  <a:solidFill>
                    <a:srgbClr val="045A36"/>
                  </a:solidFill>
                  <a:latin typeface="Inter"/>
                  <a:ea typeface="Inter"/>
                  <a:cs typeface="Inter"/>
                  <a:sym typeface="Inter"/>
                </a:endParaRPr>
              </a:p>
            </p:txBody>
          </p:sp>
          <p:grpSp>
            <p:nvGrpSpPr>
              <p:cNvPr id="553" name="Google Shape;553;p28"/>
              <p:cNvGrpSpPr/>
              <p:nvPr/>
            </p:nvGrpSpPr>
            <p:grpSpPr>
              <a:xfrm>
                <a:off x="-38100" y="-219150"/>
                <a:ext cx="85800" cy="85800"/>
                <a:chOff x="0" y="-85800"/>
                <a:chExt cx="85800" cy="85800"/>
              </a:xfrm>
            </p:grpSpPr>
            <p:cxnSp>
              <p:nvCxnSpPr>
                <p:cNvPr id="554" name="Google Shape;554;p28"/>
                <p:cNvCxnSpPr/>
                <p:nvPr/>
              </p:nvCxnSpPr>
              <p:spPr>
                <a:xfrm flipH="1" rot="10800000">
                  <a:off x="0" y="-85800"/>
                  <a:ext cx="85800" cy="85800"/>
                </a:xfrm>
                <a:prstGeom prst="straightConnector1">
                  <a:avLst/>
                </a:prstGeom>
                <a:solidFill>
                  <a:srgbClr val="FFFFFF"/>
                </a:solidFill>
                <a:ln cap="rnd" cmpd="sng" w="14300">
                  <a:solidFill>
                    <a:srgbClr val="D4A017"/>
                  </a:solidFill>
                  <a:prstDash val="solid"/>
                  <a:round/>
                  <a:headEnd len="sm" w="sm" type="none"/>
                  <a:tailEnd len="sm" w="sm" type="none"/>
                </a:ln>
              </p:spPr>
            </p:cxnSp>
            <p:sp>
              <p:nvSpPr>
                <p:cNvPr id="555" name="Google Shape;555;p28"/>
                <p:cNvSpPr/>
                <p:nvPr/>
              </p:nvSpPr>
              <p:spPr>
                <a:xfrm>
                  <a:off x="47625" y="-85725"/>
                  <a:ext cx="38100" cy="38100"/>
                </a:xfrm>
                <a:custGeom>
                  <a:rect b="b" l="l" r="r" t="t"/>
                  <a:pathLst>
                    <a:path extrusionOk="0" h="120000" w="120000">
                      <a:moveTo>
                        <a:pt x="0" y="0"/>
                      </a:moveTo>
                      <a:lnTo>
                        <a:pt x="120000" y="0"/>
                      </a:lnTo>
                      <a:lnTo>
                        <a:pt x="120000" y="120000"/>
                      </a:lnTo>
                      <a:close/>
                    </a:path>
                  </a:pathLst>
                </a:cu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556" name="Google Shape;556;p28"/>
              <p:cNvGrpSpPr/>
              <p:nvPr/>
            </p:nvGrpSpPr>
            <p:grpSpPr>
              <a:xfrm>
                <a:off x="38100" y="-181050"/>
                <a:ext cx="85800" cy="85800"/>
                <a:chOff x="0" y="-85800"/>
                <a:chExt cx="85800" cy="85800"/>
              </a:xfrm>
            </p:grpSpPr>
            <p:cxnSp>
              <p:nvCxnSpPr>
                <p:cNvPr id="557" name="Google Shape;557;p28"/>
                <p:cNvCxnSpPr/>
                <p:nvPr/>
              </p:nvCxnSpPr>
              <p:spPr>
                <a:xfrm flipH="1" rot="10800000">
                  <a:off x="0" y="-85800"/>
                  <a:ext cx="85800" cy="85800"/>
                </a:xfrm>
                <a:prstGeom prst="straightConnector1">
                  <a:avLst/>
                </a:prstGeom>
                <a:solidFill>
                  <a:srgbClr val="FFFFFF"/>
                </a:solidFill>
                <a:ln cap="rnd" cmpd="sng" w="14300">
                  <a:solidFill>
                    <a:srgbClr val="D4A017"/>
                  </a:solidFill>
                  <a:prstDash val="solid"/>
                  <a:round/>
                  <a:headEnd len="sm" w="sm" type="none"/>
                  <a:tailEnd len="sm" w="sm" type="none"/>
                </a:ln>
              </p:spPr>
            </p:cxnSp>
            <p:sp>
              <p:nvSpPr>
                <p:cNvPr id="558" name="Google Shape;558;p28"/>
                <p:cNvSpPr/>
                <p:nvPr/>
              </p:nvSpPr>
              <p:spPr>
                <a:xfrm>
                  <a:off x="47625" y="-85725"/>
                  <a:ext cx="38100" cy="38100"/>
                </a:xfrm>
                <a:custGeom>
                  <a:rect b="b" l="l" r="r" t="t"/>
                  <a:pathLst>
                    <a:path extrusionOk="0" h="120000" w="120000">
                      <a:moveTo>
                        <a:pt x="0" y="0"/>
                      </a:moveTo>
                      <a:lnTo>
                        <a:pt x="120000" y="0"/>
                      </a:lnTo>
                      <a:lnTo>
                        <a:pt x="120000" y="120000"/>
                      </a:lnTo>
                      <a:close/>
                    </a:path>
                  </a:pathLst>
                </a:cu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grpSp>
        <p:nvGrpSpPr>
          <p:cNvPr id="559" name="Google Shape;559;p28"/>
          <p:cNvGrpSpPr/>
          <p:nvPr/>
        </p:nvGrpSpPr>
        <p:grpSpPr>
          <a:xfrm>
            <a:off x="5905500" y="1428750"/>
            <a:ext cx="5524650" cy="4000500"/>
            <a:chOff x="0" y="0"/>
            <a:chExt cx="5524650" cy="4000500"/>
          </a:xfrm>
        </p:grpSpPr>
        <p:sp>
          <p:nvSpPr>
            <p:cNvPr id="560" name="Google Shape;560;p28"/>
            <p:cNvSpPr/>
            <p:nvPr/>
          </p:nvSpPr>
          <p:spPr>
            <a:xfrm>
              <a:off x="0" y="0"/>
              <a:ext cx="762000" cy="381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1" name="Google Shape;561;p28"/>
            <p:cNvSpPr txBox="1"/>
            <p:nvPr/>
          </p:nvSpPr>
          <p:spPr>
            <a:xfrm>
              <a:off x="0" y="142875"/>
              <a:ext cx="5524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D4A017"/>
                  </a:solidFill>
                  <a:latin typeface="Inter"/>
                  <a:ea typeface="Inter"/>
                  <a:cs typeface="Inter"/>
                  <a:sym typeface="Inter"/>
                </a:rPr>
                <a:t>Light Emitting Diode Working Principles</a:t>
              </a:r>
              <a:endParaRPr b="1" sz="1600">
                <a:solidFill>
                  <a:srgbClr val="D4A017"/>
                </a:solidFill>
                <a:latin typeface="Inter"/>
                <a:ea typeface="Inter"/>
                <a:cs typeface="Inter"/>
                <a:sym typeface="Inter"/>
              </a:endParaRPr>
            </a:p>
          </p:txBody>
        </p:sp>
        <p:sp>
          <p:nvSpPr>
            <p:cNvPr id="562" name="Google Shape;562;p28"/>
            <p:cNvSpPr txBox="1"/>
            <p:nvPr/>
          </p:nvSpPr>
          <p:spPr>
            <a:xfrm>
              <a:off x="0" y="619125"/>
              <a:ext cx="5524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045A36"/>
                  </a:solidFill>
                  <a:latin typeface="Inter SemiBold"/>
                  <a:ea typeface="Inter SemiBold"/>
                  <a:cs typeface="Inter SemiBold"/>
                  <a:sym typeface="Inter SemiBold"/>
                </a:rPr>
                <a:t>A Light Emitting Diode (LED) is a specialized active semiconductor diode designed to emit visible light (photons) when a forward-biased current flows through it.</a:t>
              </a:r>
              <a:endParaRPr b="0" sz="1150">
                <a:solidFill>
                  <a:srgbClr val="045A36"/>
                </a:solidFill>
                <a:latin typeface="Inter SemiBold"/>
                <a:ea typeface="Inter SemiBold"/>
                <a:cs typeface="Inter SemiBold"/>
                <a:sym typeface="Inter SemiBold"/>
              </a:endParaRPr>
            </a:p>
          </p:txBody>
        </p:sp>
        <p:grpSp>
          <p:nvGrpSpPr>
            <p:cNvPr id="563" name="Google Shape;563;p28"/>
            <p:cNvGrpSpPr/>
            <p:nvPr/>
          </p:nvGrpSpPr>
          <p:grpSpPr>
            <a:xfrm>
              <a:off x="0" y="1524000"/>
              <a:ext cx="5524650" cy="2476500"/>
              <a:chOff x="0" y="0"/>
              <a:chExt cx="5524650" cy="2476500"/>
            </a:xfrm>
          </p:grpSpPr>
          <p:grpSp>
            <p:nvGrpSpPr>
              <p:cNvPr id="564" name="Google Shape;564;p28"/>
              <p:cNvGrpSpPr/>
              <p:nvPr/>
            </p:nvGrpSpPr>
            <p:grpSpPr>
              <a:xfrm>
                <a:off x="0" y="0"/>
                <a:ext cx="5524650" cy="762000"/>
                <a:chOff x="0" y="0"/>
                <a:chExt cx="5524650" cy="762000"/>
              </a:xfrm>
            </p:grpSpPr>
            <p:grpSp>
              <p:nvGrpSpPr>
                <p:cNvPr id="565" name="Google Shape;565;p28"/>
                <p:cNvGrpSpPr/>
                <p:nvPr/>
              </p:nvGrpSpPr>
              <p:grpSpPr>
                <a:xfrm>
                  <a:off x="0" y="19050"/>
                  <a:ext cx="190500" cy="190500"/>
                  <a:chOff x="0" y="0"/>
                  <a:chExt cx="190500" cy="190500"/>
                </a:xfrm>
              </p:grpSpPr>
              <p:sp>
                <p:nvSpPr>
                  <p:cNvPr id="566" name="Google Shape;566;p28"/>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7" name="Google Shape;567;p28"/>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68" name="Google Shape;568;p28"/>
                <p:cNvSpPr txBox="1"/>
                <p:nvPr/>
              </p:nvSpPr>
              <p:spPr>
                <a:xfrm>
                  <a:off x="285750" y="0"/>
                  <a:ext cx="52389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45A36"/>
                      </a:solidFill>
                      <a:latin typeface="Inter"/>
                      <a:ea typeface="Inter"/>
                      <a:cs typeface="Inter"/>
                      <a:sym typeface="Inter"/>
                    </a:rPr>
                    <a:t>Electroluminescence:</a:t>
                  </a:r>
                  <a:r>
                    <a:rPr b="0" lang="en" sz="1100">
                      <a:solidFill>
                        <a:srgbClr val="374151"/>
                      </a:solidFill>
                      <a:latin typeface="Inter"/>
                      <a:ea typeface="Inter"/>
                      <a:cs typeface="Inter"/>
                      <a:sym typeface="Inter"/>
                    </a:rPr>
                    <a:t> LEDs operate on the principle of electroluminescence. When forward voltage is applied, electrons cross the PN junction and recombine with electron holes. This transition releases energy in the form of light photons instead of heat.</a:t>
                  </a:r>
                  <a:endParaRPr b="0" sz="1100">
                    <a:solidFill>
                      <a:srgbClr val="374151"/>
                    </a:solidFill>
                    <a:latin typeface="Inter"/>
                    <a:ea typeface="Inter"/>
                    <a:cs typeface="Inter"/>
                    <a:sym typeface="Inter"/>
                  </a:endParaRPr>
                </a:p>
              </p:txBody>
            </p:sp>
          </p:grpSp>
          <p:grpSp>
            <p:nvGrpSpPr>
              <p:cNvPr id="569" name="Google Shape;569;p28"/>
              <p:cNvGrpSpPr/>
              <p:nvPr/>
            </p:nvGrpSpPr>
            <p:grpSpPr>
              <a:xfrm>
                <a:off x="0" y="857250"/>
                <a:ext cx="5524650" cy="762000"/>
                <a:chOff x="0" y="0"/>
                <a:chExt cx="5524650" cy="762000"/>
              </a:xfrm>
            </p:grpSpPr>
            <p:grpSp>
              <p:nvGrpSpPr>
                <p:cNvPr id="570" name="Google Shape;570;p28"/>
                <p:cNvGrpSpPr/>
                <p:nvPr/>
              </p:nvGrpSpPr>
              <p:grpSpPr>
                <a:xfrm>
                  <a:off x="0" y="19050"/>
                  <a:ext cx="190500" cy="190500"/>
                  <a:chOff x="0" y="0"/>
                  <a:chExt cx="190500" cy="190500"/>
                </a:xfrm>
              </p:grpSpPr>
              <p:sp>
                <p:nvSpPr>
                  <p:cNvPr id="571" name="Google Shape;571;p28"/>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2" name="Google Shape;572;p28"/>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73" name="Google Shape;573;p28"/>
                <p:cNvSpPr txBox="1"/>
                <p:nvPr/>
              </p:nvSpPr>
              <p:spPr>
                <a:xfrm>
                  <a:off x="285750" y="0"/>
                  <a:ext cx="52389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45A36"/>
                      </a:solidFill>
                      <a:latin typeface="Inter"/>
                      <a:ea typeface="Inter"/>
                      <a:cs typeface="Inter"/>
                      <a:sym typeface="Inter"/>
                    </a:rPr>
                    <a:t>Efficiency &amp; Advantages:</a:t>
                  </a:r>
                  <a:r>
                    <a:rPr b="0" lang="en" sz="1100">
                      <a:solidFill>
                        <a:srgbClr val="374151"/>
                      </a:solidFill>
                      <a:latin typeface="Inter"/>
                      <a:ea typeface="Inter"/>
                      <a:cs typeface="Inter"/>
                      <a:sym typeface="Inter"/>
                    </a:rPr>
                    <a:t> Extremely efficient compared to incandescent bulbs. They consume up to 90% less energy, generate virtually no heat, are highly resistant to vibration, and possess an operational lifespan exceeding 50,000 hours.</a:t>
                  </a:r>
                  <a:endParaRPr b="0" sz="1100">
                    <a:solidFill>
                      <a:srgbClr val="374151"/>
                    </a:solidFill>
                    <a:latin typeface="Inter"/>
                    <a:ea typeface="Inter"/>
                    <a:cs typeface="Inter"/>
                    <a:sym typeface="Inter"/>
                  </a:endParaRPr>
                </a:p>
              </p:txBody>
            </p:sp>
          </p:grpSp>
          <p:grpSp>
            <p:nvGrpSpPr>
              <p:cNvPr id="574" name="Google Shape;574;p28"/>
              <p:cNvGrpSpPr/>
              <p:nvPr/>
            </p:nvGrpSpPr>
            <p:grpSpPr>
              <a:xfrm>
                <a:off x="0" y="1714500"/>
                <a:ext cx="5524650" cy="762000"/>
                <a:chOff x="0" y="0"/>
                <a:chExt cx="5524650" cy="762000"/>
              </a:xfrm>
            </p:grpSpPr>
            <p:grpSp>
              <p:nvGrpSpPr>
                <p:cNvPr id="575" name="Google Shape;575;p28"/>
                <p:cNvGrpSpPr/>
                <p:nvPr/>
              </p:nvGrpSpPr>
              <p:grpSpPr>
                <a:xfrm>
                  <a:off x="0" y="19050"/>
                  <a:ext cx="190500" cy="190500"/>
                  <a:chOff x="0" y="0"/>
                  <a:chExt cx="190500" cy="190500"/>
                </a:xfrm>
              </p:grpSpPr>
              <p:sp>
                <p:nvSpPr>
                  <p:cNvPr id="576" name="Google Shape;576;p28"/>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7" name="Google Shape;577;p28"/>
                  <p:cNvSpPr/>
                  <p:nvPr/>
                </p:nvSpPr>
                <p:spPr>
                  <a:xfrm>
                    <a:off x="57150" y="80963"/>
                    <a:ext cx="76200" cy="47700"/>
                  </a:xfrm>
                  <a:custGeom>
                    <a:rect b="b" l="l" r="r" t="t"/>
                    <a:pathLst>
                      <a:path extrusionOk="0" h="120000" w="120000">
                        <a:moveTo>
                          <a:pt x="0" y="48000"/>
                        </a:moveTo>
                        <a:lnTo>
                          <a:pt x="45000" y="120000"/>
                        </a:lnTo>
                        <a:lnTo>
                          <a:pt x="120000" y="0"/>
                        </a:lnTo>
                      </a:path>
                    </a:pathLst>
                  </a:custGeom>
                  <a:solidFill>
                    <a:srgbClr val="000000">
                      <a:alpha val="0"/>
                    </a:srgbClr>
                  </a:solidFill>
                  <a:ln cap="rnd" cmpd="sng" w="19050">
                    <a:solidFill>
                      <a:srgbClr val="F8FA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78" name="Google Shape;578;p28"/>
                <p:cNvSpPr txBox="1"/>
                <p:nvPr/>
              </p:nvSpPr>
              <p:spPr>
                <a:xfrm>
                  <a:off x="285750" y="0"/>
                  <a:ext cx="52389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45A36"/>
                      </a:solidFill>
                      <a:latin typeface="Inter"/>
                      <a:ea typeface="Inter"/>
                      <a:cs typeface="Inter"/>
                      <a:sym typeface="Inter"/>
                    </a:rPr>
                    <a:t>Color Determination:</a:t>
                  </a:r>
                  <a:r>
                    <a:rPr b="0" lang="en" sz="1100">
                      <a:solidFill>
                        <a:srgbClr val="374151"/>
                      </a:solidFill>
                      <a:latin typeface="Inter"/>
                      <a:ea typeface="Inter"/>
                      <a:cs typeface="Inter"/>
                      <a:sym typeface="Inter"/>
                    </a:rPr>
                    <a:t> The color of the light is not created by dyed plastic casings, but by the physical material of the semiconductor crystal (e.g., Gallium Phosphide for green, Indium Gallium Nitride for blue/white), which dictates the energy gap and photon wavelength.</a:t>
                  </a:r>
                  <a:endParaRPr b="0" sz="1100">
                    <a:solidFill>
                      <a:srgbClr val="374151"/>
                    </a:solidFill>
                    <a:latin typeface="Inter"/>
                    <a:ea typeface="Inter"/>
                    <a:cs typeface="Inter"/>
                    <a:sym typeface="Inter"/>
                  </a:endParaRPr>
                </a:p>
              </p:txBody>
            </p:sp>
          </p:grpSp>
        </p:grpSp>
      </p:grpSp>
      <p:sp>
        <p:nvSpPr>
          <p:cNvPr id="579" name="Google Shape;579;p28"/>
          <p:cNvSpPr txBox="1"/>
          <p:nvPr/>
        </p:nvSpPr>
        <p:spPr>
          <a:xfrm>
            <a:off x="762000" y="6134100"/>
            <a:ext cx="5715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50">
                <a:solidFill>
                  <a:srgbClr val="6B7280"/>
                </a:solidFill>
                <a:latin typeface="Inter"/>
                <a:ea typeface="Inter"/>
                <a:cs typeface="Inter"/>
                <a:sym typeface="Inter"/>
              </a:rPr>
              <a:t>Module 7: Electronics for Arduino Programming | Robotics and Automation Systems</a:t>
            </a:r>
            <a:endParaRPr b="0" sz="950">
              <a:solidFill>
                <a:srgbClr val="6B7280"/>
              </a:solidFill>
              <a:latin typeface="Inter"/>
              <a:ea typeface="Inter"/>
              <a:cs typeface="Inter"/>
              <a:sym typeface="Inter"/>
            </a:endParaRPr>
          </a:p>
        </p:txBody>
      </p:sp>
      <p:sp>
        <p:nvSpPr>
          <p:cNvPr id="580" name="Google Shape;580;p28"/>
          <p:cNvSpPr/>
          <p:nvPr>
            <p:ph idx="2" type="pic"/>
          </p:nvPr>
        </p:nvSpPr>
        <p:spPr>
          <a:xfrm>
            <a:off x="10287000" y="5457825"/>
            <a:ext cx="1524000" cy="1019100"/>
          </a:xfrm>
          <a:prstGeom prst="rect">
            <a:avLst/>
          </a:prstGeom>
          <a:no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29"/>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86" name="Google Shape;586;p29"/>
          <p:cNvGrpSpPr/>
          <p:nvPr/>
        </p:nvGrpSpPr>
        <p:grpSpPr>
          <a:xfrm>
            <a:off x="0" y="0"/>
            <a:ext cx="12192000" cy="76350"/>
            <a:chOff x="0" y="0"/>
            <a:chExt cx="12192000" cy="76350"/>
          </a:xfrm>
        </p:grpSpPr>
        <p:sp>
          <p:nvSpPr>
            <p:cNvPr id="587" name="Google Shape;587;p29"/>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8" name="Google Shape;588;p29"/>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89" name="Google Shape;589;p29"/>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90" name="Google Shape;590;p29"/>
          <p:cNvGrpSpPr/>
          <p:nvPr/>
        </p:nvGrpSpPr>
        <p:grpSpPr>
          <a:xfrm>
            <a:off x="762000" y="571500"/>
            <a:ext cx="9525000" cy="428700"/>
            <a:chOff x="0" y="0"/>
            <a:chExt cx="9525000" cy="428700"/>
          </a:xfrm>
        </p:grpSpPr>
        <p:sp>
          <p:nvSpPr>
            <p:cNvPr id="591" name="Google Shape;591;p29"/>
            <p:cNvSpPr/>
            <p:nvPr/>
          </p:nvSpPr>
          <p:spPr>
            <a:xfrm>
              <a:off x="0" y="0"/>
              <a:ext cx="9525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2" name="Google Shape;592;p29"/>
            <p:cNvSpPr txBox="1"/>
            <p:nvPr/>
          </p:nvSpPr>
          <p:spPr>
            <a:xfrm>
              <a:off x="0" y="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LED Polarity &amp; Electrical Characteristics</a:t>
              </a:r>
              <a:endParaRPr b="0" sz="2700">
                <a:solidFill>
                  <a:srgbClr val="045A36"/>
                </a:solidFill>
                <a:latin typeface="Montserrat SemiBold"/>
                <a:ea typeface="Montserrat SemiBold"/>
                <a:cs typeface="Montserrat SemiBold"/>
                <a:sym typeface="Montserrat SemiBold"/>
              </a:endParaRPr>
            </a:p>
          </p:txBody>
        </p:sp>
      </p:grpSp>
      <p:grpSp>
        <p:nvGrpSpPr>
          <p:cNvPr id="593" name="Google Shape;593;p29"/>
          <p:cNvGrpSpPr/>
          <p:nvPr/>
        </p:nvGrpSpPr>
        <p:grpSpPr>
          <a:xfrm>
            <a:off x="762000" y="1381125"/>
            <a:ext cx="4191000" cy="4191000"/>
            <a:chOff x="0" y="0"/>
            <a:chExt cx="4191000" cy="4191000"/>
          </a:xfrm>
        </p:grpSpPr>
        <p:sp>
          <p:nvSpPr>
            <p:cNvPr id="594" name="Google Shape;594;p29"/>
            <p:cNvSpPr/>
            <p:nvPr/>
          </p:nvSpPr>
          <p:spPr>
            <a:xfrm>
              <a:off x="0" y="0"/>
              <a:ext cx="4191000" cy="4191000"/>
            </a:xfrm>
            <a:prstGeom prst="roundRect">
              <a:avLst>
                <a:gd fmla="val 181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95" name="Google Shape;595;p29"/>
            <p:cNvPicPr preferRelativeResize="0"/>
            <p:nvPr/>
          </p:nvPicPr>
          <p:blipFill rotWithShape="1">
            <a:blip r:embed="rId3">
              <a:alphaModFix/>
            </a:blip>
            <a:srcRect b="0" l="0" r="0" t="0"/>
            <a:stretch/>
          </p:blipFill>
          <p:spPr>
            <a:xfrm>
              <a:off x="190500" y="190500"/>
              <a:ext cx="3810000" cy="3810000"/>
            </a:xfrm>
            <a:prstGeom prst="rect">
              <a:avLst/>
            </a:prstGeom>
            <a:noFill/>
            <a:ln>
              <a:noFill/>
            </a:ln>
          </p:spPr>
        </p:pic>
      </p:grpSp>
      <p:grpSp>
        <p:nvGrpSpPr>
          <p:cNvPr id="596" name="Google Shape;596;p29"/>
          <p:cNvGrpSpPr/>
          <p:nvPr/>
        </p:nvGrpSpPr>
        <p:grpSpPr>
          <a:xfrm>
            <a:off x="5334000" y="1381125"/>
            <a:ext cx="6096000" cy="2000100"/>
            <a:chOff x="0" y="0"/>
            <a:chExt cx="6096000" cy="2000100"/>
          </a:xfrm>
        </p:grpSpPr>
        <p:sp>
          <p:nvSpPr>
            <p:cNvPr id="597" name="Google Shape;597;p29"/>
            <p:cNvSpPr/>
            <p:nvPr/>
          </p:nvSpPr>
          <p:spPr>
            <a:xfrm>
              <a:off x="0" y="0"/>
              <a:ext cx="6096000" cy="2000100"/>
            </a:xfrm>
            <a:prstGeom prst="roundRect">
              <a:avLst>
                <a:gd fmla="val 38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8" name="Google Shape;598;p29"/>
            <p:cNvSpPr/>
            <p:nvPr/>
          </p:nvSpPr>
          <p:spPr>
            <a:xfrm>
              <a:off x="0" y="0"/>
              <a:ext cx="60960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9" name="Google Shape;599;p29"/>
            <p:cNvSpPr txBox="1"/>
            <p:nvPr/>
          </p:nvSpPr>
          <p:spPr>
            <a:xfrm>
              <a:off x="228600" y="152400"/>
              <a:ext cx="56388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50">
                  <a:solidFill>
                    <a:srgbClr val="045A36"/>
                  </a:solidFill>
                  <a:latin typeface="Montserrat"/>
                  <a:ea typeface="Montserrat"/>
                  <a:cs typeface="Montserrat"/>
                  <a:sym typeface="Montserrat"/>
                </a:rPr>
                <a:t>IDENTIFYING PIN POLARITY</a:t>
              </a:r>
              <a:endParaRPr b="1" sz="1350">
                <a:solidFill>
                  <a:srgbClr val="045A36"/>
                </a:solidFill>
                <a:latin typeface="Montserrat"/>
                <a:ea typeface="Montserrat"/>
                <a:cs typeface="Montserrat"/>
                <a:sym typeface="Montserrat"/>
              </a:endParaRPr>
            </a:p>
          </p:txBody>
        </p:sp>
        <p:sp>
          <p:nvSpPr>
            <p:cNvPr id="600" name="Google Shape;600;p29"/>
            <p:cNvSpPr txBox="1"/>
            <p:nvPr/>
          </p:nvSpPr>
          <p:spPr>
            <a:xfrm>
              <a:off x="228600" y="476250"/>
              <a:ext cx="56388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374151"/>
                  </a:solidFill>
                  <a:latin typeface="Inter"/>
                  <a:ea typeface="Inter"/>
                  <a:cs typeface="Inter"/>
                  <a:sym typeface="Inter"/>
                </a:rPr>
                <a:t>LEDs are highly polarized. Connecting them backward blocks current and prevents illumination.</a:t>
              </a:r>
              <a:endParaRPr b="0" sz="1150">
                <a:solidFill>
                  <a:srgbClr val="374151"/>
                </a:solidFill>
                <a:latin typeface="Inter"/>
                <a:ea typeface="Inter"/>
                <a:cs typeface="Inter"/>
                <a:sym typeface="Inter"/>
              </a:endParaRPr>
            </a:p>
            <a:p>
              <a:pPr indent="-142875" lvl="0" marL="142875" marR="0" rtl="0" algn="l">
                <a:spcBef>
                  <a:spcPts val="750"/>
                </a:spcBef>
                <a:spcAft>
                  <a:spcPts val="0"/>
                </a:spcAft>
                <a:buNone/>
              </a:pPr>
              <a:r>
                <a:rPr b="0" lang="en" sz="1150">
                  <a:solidFill>
                    <a:srgbClr val="374151"/>
                  </a:solidFill>
                  <a:latin typeface="Inter"/>
                  <a:ea typeface="Inter"/>
                  <a:cs typeface="Inter"/>
                  <a:sym typeface="Inter"/>
                </a:rPr>
                <a:t>• </a:t>
              </a:r>
              <a:r>
                <a:rPr b="0" lang="en" sz="1150">
                  <a:solidFill>
                    <a:srgbClr val="045A36"/>
                  </a:solidFill>
                  <a:latin typeface="Inter SemiBold"/>
                  <a:ea typeface="Inter SemiBold"/>
                  <a:cs typeface="Inter SemiBold"/>
                  <a:sym typeface="Inter SemiBold"/>
                </a:rPr>
                <a:t>Anode (+):</a:t>
              </a:r>
              <a:r>
                <a:rPr b="0" lang="en" sz="1150">
                  <a:solidFill>
                    <a:srgbClr val="374151"/>
                  </a:solidFill>
                  <a:latin typeface="Inter"/>
                  <a:ea typeface="Inter"/>
                  <a:cs typeface="Inter"/>
                  <a:sym typeface="Inter"/>
                </a:rPr>
                <a:t> The positive terminal, identified by the longer physical leg.</a:t>
              </a:r>
              <a:endParaRPr b="0" sz="1150">
                <a:solidFill>
                  <a:srgbClr val="374151"/>
                </a:solidFill>
                <a:latin typeface="Inter"/>
                <a:ea typeface="Inter"/>
                <a:cs typeface="Inter"/>
                <a:sym typeface="Inter"/>
              </a:endParaRPr>
            </a:p>
            <a:p>
              <a:pPr indent="-142875" lvl="0" marL="142875" marR="0" rtl="0" algn="l">
                <a:spcBef>
                  <a:spcPts val="450"/>
                </a:spcBef>
                <a:spcAft>
                  <a:spcPts val="0"/>
                </a:spcAft>
                <a:buNone/>
              </a:pPr>
              <a:r>
                <a:rPr b="0" lang="en" sz="1150">
                  <a:solidFill>
                    <a:srgbClr val="374151"/>
                  </a:solidFill>
                  <a:latin typeface="Inter"/>
                  <a:ea typeface="Inter"/>
                  <a:cs typeface="Inter"/>
                  <a:sym typeface="Inter"/>
                </a:rPr>
                <a:t>• </a:t>
              </a:r>
              <a:r>
                <a:rPr b="0" lang="en" sz="1150">
                  <a:solidFill>
                    <a:srgbClr val="045A36"/>
                  </a:solidFill>
                  <a:latin typeface="Inter SemiBold"/>
                  <a:ea typeface="Inter SemiBold"/>
                  <a:cs typeface="Inter SemiBold"/>
                  <a:sym typeface="Inter SemiBold"/>
                </a:rPr>
                <a:t>Cathode (-):</a:t>
              </a:r>
              <a:r>
                <a:rPr b="0" lang="en" sz="1150">
                  <a:solidFill>
                    <a:srgbClr val="374151"/>
                  </a:solidFill>
                  <a:latin typeface="Inter"/>
                  <a:ea typeface="Inter"/>
                  <a:cs typeface="Inter"/>
                  <a:sym typeface="Inter"/>
                </a:rPr>
                <a:t> The negative terminal, identified by the shorter physical leg and a flat notched edge on the rim of the plastic LED lens.</a:t>
              </a:r>
              <a:endParaRPr b="0" sz="1150">
                <a:solidFill>
                  <a:srgbClr val="374151"/>
                </a:solidFill>
                <a:latin typeface="Inter"/>
                <a:ea typeface="Inter"/>
                <a:cs typeface="Inter"/>
                <a:sym typeface="Inter"/>
              </a:endParaRPr>
            </a:p>
          </p:txBody>
        </p:sp>
      </p:grpSp>
      <p:grpSp>
        <p:nvGrpSpPr>
          <p:cNvPr id="601" name="Google Shape;601;p29"/>
          <p:cNvGrpSpPr/>
          <p:nvPr/>
        </p:nvGrpSpPr>
        <p:grpSpPr>
          <a:xfrm>
            <a:off x="5334000" y="3571875"/>
            <a:ext cx="6096000" cy="2000100"/>
            <a:chOff x="0" y="0"/>
            <a:chExt cx="6096000" cy="2000100"/>
          </a:xfrm>
        </p:grpSpPr>
        <p:sp>
          <p:nvSpPr>
            <p:cNvPr id="602" name="Google Shape;602;p29"/>
            <p:cNvSpPr/>
            <p:nvPr/>
          </p:nvSpPr>
          <p:spPr>
            <a:xfrm>
              <a:off x="0" y="0"/>
              <a:ext cx="6096000" cy="2000100"/>
            </a:xfrm>
            <a:prstGeom prst="roundRect">
              <a:avLst>
                <a:gd fmla="val 38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3" name="Google Shape;603;p29"/>
            <p:cNvSpPr/>
            <p:nvPr/>
          </p:nvSpPr>
          <p:spPr>
            <a:xfrm>
              <a:off x="0" y="0"/>
              <a:ext cx="6096000" cy="381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4" name="Google Shape;604;p29"/>
            <p:cNvSpPr txBox="1"/>
            <p:nvPr/>
          </p:nvSpPr>
          <p:spPr>
            <a:xfrm>
              <a:off x="228600" y="152400"/>
              <a:ext cx="56388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50">
                  <a:solidFill>
                    <a:srgbClr val="045A36"/>
                  </a:solidFill>
                  <a:latin typeface="Montserrat"/>
                  <a:ea typeface="Montserrat"/>
                  <a:cs typeface="Montserrat"/>
                  <a:sym typeface="Montserrat"/>
                </a:rPr>
                <a:t>ELECTRICAL CHARACTERISTICS</a:t>
              </a:r>
              <a:endParaRPr b="1" sz="1350">
                <a:solidFill>
                  <a:srgbClr val="045A36"/>
                </a:solidFill>
                <a:latin typeface="Montserrat"/>
                <a:ea typeface="Montserrat"/>
                <a:cs typeface="Montserrat"/>
                <a:sym typeface="Montserrat"/>
              </a:endParaRPr>
            </a:p>
          </p:txBody>
        </p:sp>
        <p:sp>
          <p:nvSpPr>
            <p:cNvPr id="605" name="Google Shape;605;p29"/>
            <p:cNvSpPr txBox="1"/>
            <p:nvPr/>
          </p:nvSpPr>
          <p:spPr>
            <a:xfrm>
              <a:off x="228600" y="476250"/>
              <a:ext cx="56388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64">
                  <a:solidFill>
                    <a:srgbClr val="045A36"/>
                  </a:solidFill>
                  <a:latin typeface="Inter SemiBold"/>
                  <a:ea typeface="Inter SemiBold"/>
                  <a:cs typeface="Inter SemiBold"/>
                  <a:sym typeface="Inter SemiBold"/>
                </a:rPr>
                <a:t>Forward Voltage (Vf) variations:</a:t>
              </a:r>
              <a:r>
                <a:rPr b="0" lang="en" sz="1064">
                  <a:solidFill>
                    <a:srgbClr val="374151"/>
                  </a:solidFill>
                  <a:latin typeface="Inter"/>
                  <a:ea typeface="Inter"/>
                  <a:cs typeface="Inter"/>
                  <a:sym typeface="Inter"/>
                </a:rPr>
                <a:t> Different colors require different voltages to conduct and emit light:</a:t>
              </a:r>
              <a:endParaRPr b="0" sz="1064">
                <a:solidFill>
                  <a:srgbClr val="374151"/>
                </a:solidFill>
                <a:latin typeface="Inter"/>
                <a:ea typeface="Inter"/>
                <a:cs typeface="Inter"/>
                <a:sym typeface="Inter"/>
              </a:endParaRPr>
            </a:p>
            <a:p>
              <a:pPr indent="-142875" lvl="0" marL="142875" marR="0" rtl="0" algn="l">
                <a:spcBef>
                  <a:spcPts val="600"/>
                </a:spcBef>
                <a:spcAft>
                  <a:spcPts val="0"/>
                </a:spcAft>
                <a:buNone/>
              </a:pPr>
              <a:r>
                <a:rPr b="0" lang="en" sz="1064">
                  <a:solidFill>
                    <a:srgbClr val="374151"/>
                  </a:solidFill>
                  <a:latin typeface="Inter"/>
                  <a:ea typeface="Inter"/>
                  <a:cs typeface="Inter"/>
                  <a:sym typeface="Inter"/>
                </a:rPr>
                <a:t>- </a:t>
              </a:r>
              <a:r>
                <a:rPr b="0" lang="en" sz="1064">
                  <a:solidFill>
                    <a:srgbClr val="374151"/>
                  </a:solidFill>
                  <a:latin typeface="Inter SemiBold"/>
                  <a:ea typeface="Inter SemiBold"/>
                  <a:cs typeface="Inter SemiBold"/>
                  <a:sym typeface="Inter SemiBold"/>
                </a:rPr>
                <a:t>Red / Yellow:</a:t>
              </a:r>
              <a:r>
                <a:rPr b="0" lang="en" sz="1064">
                  <a:solidFill>
                    <a:srgbClr val="374151"/>
                  </a:solidFill>
                  <a:latin typeface="Inter"/>
                  <a:ea typeface="Inter"/>
                  <a:cs typeface="Inter"/>
                  <a:sym typeface="Inter"/>
                </a:rPr>
                <a:t> Low forward voltage (~1.8V to 2.2V).</a:t>
              </a:r>
              <a:endParaRPr b="0" sz="1064">
                <a:solidFill>
                  <a:srgbClr val="374151"/>
                </a:solidFill>
                <a:latin typeface="Inter"/>
                <a:ea typeface="Inter"/>
                <a:cs typeface="Inter"/>
                <a:sym typeface="Inter"/>
              </a:endParaRPr>
            </a:p>
            <a:p>
              <a:pPr indent="-142875" lvl="0" marL="142875" marR="0" rtl="0" algn="l">
                <a:spcBef>
                  <a:spcPts val="300"/>
                </a:spcBef>
                <a:spcAft>
                  <a:spcPts val="0"/>
                </a:spcAft>
                <a:buNone/>
              </a:pPr>
              <a:r>
                <a:rPr b="0" lang="en" sz="1064">
                  <a:solidFill>
                    <a:srgbClr val="374151"/>
                  </a:solidFill>
                  <a:latin typeface="Inter"/>
                  <a:ea typeface="Inter"/>
                  <a:cs typeface="Inter"/>
                  <a:sym typeface="Inter"/>
                </a:rPr>
                <a:t>- </a:t>
              </a:r>
              <a:r>
                <a:rPr b="0" lang="en" sz="1064">
                  <a:solidFill>
                    <a:srgbClr val="374151"/>
                  </a:solidFill>
                  <a:latin typeface="Inter SemiBold"/>
                  <a:ea typeface="Inter SemiBold"/>
                  <a:cs typeface="Inter SemiBold"/>
                  <a:sym typeface="Inter SemiBold"/>
                </a:rPr>
                <a:t>Green / Blue / White:</a:t>
              </a:r>
              <a:r>
                <a:rPr b="0" lang="en" sz="1064">
                  <a:solidFill>
                    <a:srgbClr val="374151"/>
                  </a:solidFill>
                  <a:latin typeface="Inter"/>
                  <a:ea typeface="Inter"/>
                  <a:cs typeface="Inter"/>
                  <a:sym typeface="Inter"/>
                </a:rPr>
                <a:t> High forward voltage (~3.0V to 3.4V).</a:t>
              </a:r>
              <a:endParaRPr b="0" sz="1064">
                <a:solidFill>
                  <a:srgbClr val="374151"/>
                </a:solidFill>
                <a:latin typeface="Inter"/>
                <a:ea typeface="Inter"/>
                <a:cs typeface="Inter"/>
                <a:sym typeface="Inter"/>
              </a:endParaRPr>
            </a:p>
            <a:p>
              <a:pPr indent="0" lvl="0" marL="0" rtl="0" algn="l">
                <a:spcBef>
                  <a:spcPts val="750"/>
                </a:spcBef>
                <a:spcAft>
                  <a:spcPts val="0"/>
                </a:spcAft>
                <a:buNone/>
              </a:pPr>
              <a:r>
                <a:rPr b="0" lang="en" sz="1064">
                  <a:solidFill>
                    <a:srgbClr val="045A36"/>
                  </a:solidFill>
                  <a:latin typeface="Inter SemiBold"/>
                  <a:ea typeface="Inter SemiBold"/>
                  <a:cs typeface="Inter SemiBold"/>
                  <a:sym typeface="Inter SemiBold"/>
                </a:rPr>
                <a:t>Maximum Current:</a:t>
              </a:r>
              <a:r>
                <a:rPr b="0" lang="en" sz="1064">
                  <a:solidFill>
                    <a:srgbClr val="374151"/>
                  </a:solidFill>
                  <a:latin typeface="Inter"/>
                  <a:ea typeface="Inter"/>
                  <a:cs typeface="Inter"/>
                  <a:sym typeface="Inter"/>
                </a:rPr>
                <a:t> Most standard 5mm LEDs have a strict continuous current rating of 20mA. Exceeding this limit leads to immediate thermal runaway and permanent failure.</a:t>
              </a:r>
              <a:endParaRPr b="0" sz="1064">
                <a:solidFill>
                  <a:srgbClr val="374151"/>
                </a:solidFill>
                <a:latin typeface="Inter"/>
                <a:ea typeface="Inter"/>
                <a:cs typeface="Inter"/>
                <a:sym typeface="Inter"/>
              </a:endParaRPr>
            </a:p>
          </p:txBody>
        </p:sp>
      </p:grpSp>
      <p:grpSp>
        <p:nvGrpSpPr>
          <p:cNvPr id="606" name="Google Shape;606;p29"/>
          <p:cNvGrpSpPr/>
          <p:nvPr/>
        </p:nvGrpSpPr>
        <p:grpSpPr>
          <a:xfrm>
            <a:off x="762000" y="6134100"/>
            <a:ext cx="5715000" cy="190500"/>
            <a:chOff x="0" y="0"/>
            <a:chExt cx="5715000" cy="190500"/>
          </a:xfrm>
        </p:grpSpPr>
        <p:sp>
          <p:nvSpPr>
            <p:cNvPr id="607" name="Google Shape;607;p29"/>
            <p:cNvSpPr/>
            <p:nvPr/>
          </p:nvSpPr>
          <p:spPr>
            <a:xfrm>
              <a:off x="0" y="0"/>
              <a:ext cx="57150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8" name="Google Shape;608;p29"/>
            <p:cNvSpPr txBox="1"/>
            <p:nvPr/>
          </p:nvSpPr>
          <p:spPr>
            <a:xfrm>
              <a:off x="0" y="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of Electronics | Robotics and Automation Systems</a:t>
              </a:r>
              <a:endParaRPr b="0" sz="975">
                <a:solidFill>
                  <a:srgbClr val="6B7280"/>
                </a:solidFill>
                <a:latin typeface="Inter"/>
                <a:ea typeface="Inter"/>
                <a:cs typeface="Inter"/>
                <a:sym typeface="Inter"/>
              </a:endParaRPr>
            </a:p>
          </p:txBody>
        </p:sp>
      </p:grpSp>
      <p:pic>
        <p:nvPicPr>
          <p:cNvPr id="609" name="Google Shape;609;p29"/>
          <p:cNvPicPr preferRelativeResize="0"/>
          <p:nvPr/>
        </p:nvPicPr>
        <p:blipFill rotWithShape="1">
          <a:blip r:embed="rId4">
            <a:alphaModFix/>
          </a:blip>
          <a:srcRect b="466" l="10" r="0" t="466"/>
          <a:stretch/>
        </p:blipFill>
        <p:spPr>
          <a:xfrm>
            <a:off x="10287000" y="5457825"/>
            <a:ext cx="1524000" cy="1009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3" name="Shape 613"/>
        <p:cNvGrpSpPr/>
        <p:nvPr/>
      </p:nvGrpSpPr>
      <p:grpSpPr>
        <a:xfrm>
          <a:off x="0" y="0"/>
          <a:ext cx="0" cy="0"/>
          <a:chOff x="0" y="0"/>
          <a:chExt cx="0" cy="0"/>
        </a:xfrm>
      </p:grpSpPr>
      <p:grpSp>
        <p:nvGrpSpPr>
          <p:cNvPr id="614" name="Google Shape;614;p30"/>
          <p:cNvGrpSpPr/>
          <p:nvPr/>
        </p:nvGrpSpPr>
        <p:grpSpPr>
          <a:xfrm>
            <a:off x="0" y="0"/>
            <a:ext cx="12192000" cy="76350"/>
            <a:chOff x="0" y="0"/>
            <a:chExt cx="12192000" cy="76350"/>
          </a:xfrm>
        </p:grpSpPr>
        <p:sp>
          <p:nvSpPr>
            <p:cNvPr id="615" name="Google Shape;615;p30"/>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6" name="Google Shape;616;p30"/>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17" name="Google Shape;617;p30"/>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18" name="Google Shape;618;p30"/>
          <p:cNvPicPr preferRelativeResize="0"/>
          <p:nvPr/>
        </p:nvPicPr>
        <p:blipFill rotWithShape="1">
          <a:blip r:embed="rId4">
            <a:alphaModFix/>
          </a:blip>
          <a:srcRect b="0" l="0" r="0" t="0"/>
          <a:stretch/>
        </p:blipFill>
        <p:spPr>
          <a:xfrm>
            <a:off x="10287000" y="5457825"/>
            <a:ext cx="1524000" cy="1019100"/>
          </a:xfrm>
          <a:prstGeom prst="rect">
            <a:avLst/>
          </a:prstGeom>
          <a:noFill/>
          <a:ln>
            <a:noFill/>
          </a:ln>
        </p:spPr>
      </p:pic>
      <p:sp>
        <p:nvSpPr>
          <p:cNvPr id="619" name="Google Shape;619;p30"/>
          <p:cNvSpPr txBox="1"/>
          <p:nvPr/>
        </p:nvSpPr>
        <p:spPr>
          <a:xfrm>
            <a:off x="762000" y="613410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Module 7: Electronics for Arduino Programming | Robotics and Automation Systems</a:t>
            </a:r>
            <a:endParaRPr b="0" sz="975">
              <a:solidFill>
                <a:srgbClr val="6B7280"/>
              </a:solidFill>
              <a:latin typeface="Inter"/>
              <a:ea typeface="Inter"/>
              <a:cs typeface="Inter"/>
              <a:sym typeface="Inter"/>
            </a:endParaRPr>
          </a:p>
        </p:txBody>
      </p:sp>
      <p:sp>
        <p:nvSpPr>
          <p:cNvPr id="620" name="Google Shape;620;p30"/>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The Current Limiting Resistor</a:t>
            </a:r>
            <a:endParaRPr b="0" sz="2700">
              <a:solidFill>
                <a:srgbClr val="045A36"/>
              </a:solidFill>
              <a:latin typeface="Montserrat SemiBold"/>
              <a:ea typeface="Montserrat SemiBold"/>
              <a:cs typeface="Montserrat SemiBold"/>
              <a:sym typeface="Montserrat SemiBold"/>
            </a:endParaRPr>
          </a:p>
        </p:txBody>
      </p:sp>
      <p:sp>
        <p:nvSpPr>
          <p:cNvPr id="621" name="Google Shape;621;p30"/>
          <p:cNvSpPr txBox="1"/>
          <p:nvPr/>
        </p:nvSpPr>
        <p:spPr>
          <a:xfrm>
            <a:off x="762000" y="1285875"/>
            <a:ext cx="106680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50">
                <a:solidFill>
                  <a:srgbClr val="374151"/>
                </a:solidFill>
                <a:latin typeface="Inter"/>
                <a:ea typeface="Inter"/>
                <a:cs typeface="Inter"/>
                <a:sym typeface="Inter"/>
              </a:rPr>
              <a:t>Because a forward-biased LED has virtually no internal resistance, connecting it directly to an Arduino pin outputting 5V will draw excessive current, instantly destroying the LED and potentially burning out the Arduino's output pin. </a:t>
            </a:r>
            <a:r>
              <a:rPr b="1" lang="en" sz="1150">
                <a:solidFill>
                  <a:srgbClr val="045A36"/>
                </a:solidFill>
                <a:latin typeface="Inter"/>
                <a:ea typeface="Inter"/>
                <a:cs typeface="Inter"/>
                <a:sym typeface="Inter"/>
              </a:rPr>
              <a:t>A series current limiting resistor is absolutely mandatory.</a:t>
            </a:r>
            <a:endParaRPr sz="1150">
              <a:solidFill>
                <a:srgbClr val="374151"/>
              </a:solidFill>
              <a:latin typeface="Inter"/>
              <a:ea typeface="Inter"/>
              <a:cs typeface="Inter"/>
              <a:sym typeface="Inter"/>
            </a:endParaRPr>
          </a:p>
        </p:txBody>
      </p:sp>
      <p:grpSp>
        <p:nvGrpSpPr>
          <p:cNvPr id="622" name="Google Shape;622;p30"/>
          <p:cNvGrpSpPr/>
          <p:nvPr/>
        </p:nvGrpSpPr>
        <p:grpSpPr>
          <a:xfrm>
            <a:off x="762000" y="2047875"/>
            <a:ext cx="4286400" cy="3524400"/>
            <a:chOff x="0" y="0"/>
            <a:chExt cx="4286400" cy="3524400"/>
          </a:xfrm>
        </p:grpSpPr>
        <p:sp>
          <p:nvSpPr>
            <p:cNvPr id="623" name="Google Shape;623;p30"/>
            <p:cNvSpPr/>
            <p:nvPr/>
          </p:nvSpPr>
          <p:spPr>
            <a:xfrm>
              <a:off x="0" y="0"/>
              <a:ext cx="4286400" cy="3524400"/>
            </a:xfrm>
            <a:prstGeom prst="roundRect">
              <a:avLst>
                <a:gd fmla="val 324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4" name="Google Shape;624;p30"/>
            <p:cNvSpPr txBox="1"/>
            <p:nvPr/>
          </p:nvSpPr>
          <p:spPr>
            <a:xfrm>
              <a:off x="238125" y="190500"/>
              <a:ext cx="3810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045A36"/>
                  </a:solidFill>
                  <a:latin typeface="Montserrat"/>
                  <a:ea typeface="Montserrat"/>
                  <a:cs typeface="Montserrat"/>
                  <a:sym typeface="Montserrat"/>
                </a:rPr>
                <a:t>Arduino Series LED Circuit</a:t>
              </a:r>
              <a:endParaRPr b="1" sz="1300">
                <a:solidFill>
                  <a:srgbClr val="045A36"/>
                </a:solidFill>
                <a:latin typeface="Montserrat"/>
                <a:ea typeface="Montserrat"/>
                <a:cs typeface="Montserrat"/>
                <a:sym typeface="Montserrat"/>
              </a:endParaRPr>
            </a:p>
          </p:txBody>
        </p:sp>
        <p:sp>
          <p:nvSpPr>
            <p:cNvPr id="625" name="Google Shape;625;p30"/>
            <p:cNvSpPr/>
            <p:nvPr/>
          </p:nvSpPr>
          <p:spPr>
            <a:xfrm>
              <a:off x="238125" y="476250"/>
              <a:ext cx="571500" cy="285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6" name="Google Shape;626;p30"/>
            <p:cNvSpPr/>
            <p:nvPr/>
          </p:nvSpPr>
          <p:spPr>
            <a:xfrm>
              <a:off x="1047750" y="1047750"/>
              <a:ext cx="571500" cy="381000"/>
            </a:xfrm>
            <a:prstGeom prst="roundRect">
              <a:avLst>
                <a:gd fmla="val 1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7" name="Google Shape;627;p30"/>
            <p:cNvSpPr txBox="1"/>
            <p:nvPr/>
          </p:nvSpPr>
          <p:spPr>
            <a:xfrm>
              <a:off x="1047750" y="1095375"/>
              <a:ext cx="571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FFFFFF"/>
                  </a:solidFill>
                  <a:latin typeface="Inter"/>
                  <a:ea typeface="Inter"/>
                  <a:cs typeface="Inter"/>
                  <a:sym typeface="Inter"/>
                </a:rPr>
                <a:t>5V PIN</a:t>
              </a:r>
              <a:endParaRPr b="1" sz="900">
                <a:solidFill>
                  <a:srgbClr val="FFFFFF"/>
                </a:solidFill>
                <a:latin typeface="Inter"/>
                <a:ea typeface="Inter"/>
                <a:cs typeface="Inter"/>
                <a:sym typeface="Inter"/>
              </a:endParaRPr>
            </a:p>
          </p:txBody>
        </p:sp>
        <p:sp>
          <p:nvSpPr>
            <p:cNvPr id="628" name="Google Shape;628;p30"/>
            <p:cNvSpPr/>
            <p:nvPr/>
          </p:nvSpPr>
          <p:spPr>
            <a:xfrm>
              <a:off x="1619250" y="1238250"/>
              <a:ext cx="476400" cy="0"/>
            </a:xfrm>
            <a:custGeom>
              <a:rect b="b" l="l" r="r" t="t"/>
              <a:pathLst>
                <a:path extrusionOk="0" h="120000" w="120000">
                  <a:moveTo>
                    <a:pt x="0" y="0"/>
                  </a:moveTo>
                  <a:lnTo>
                    <a:pt x="120000" y="0"/>
                  </a:lnTo>
                </a:path>
              </a:pathLst>
            </a:custGeom>
            <a:solidFill>
              <a:srgbClr val="000000">
                <a:alpha val="0"/>
              </a:srgbClr>
            </a:solidFill>
            <a:ln cap="rnd" cmpd="sng" w="19050">
              <a:solidFill>
                <a:srgbClr val="1F293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9" name="Google Shape;629;p30"/>
            <p:cNvSpPr/>
            <p:nvPr/>
          </p:nvSpPr>
          <p:spPr>
            <a:xfrm>
              <a:off x="2667000" y="1238250"/>
              <a:ext cx="571500" cy="0"/>
            </a:xfrm>
            <a:custGeom>
              <a:rect b="b" l="l" r="r" t="t"/>
              <a:pathLst>
                <a:path extrusionOk="0" h="120000" w="120000">
                  <a:moveTo>
                    <a:pt x="0" y="0"/>
                  </a:moveTo>
                  <a:lnTo>
                    <a:pt x="120000" y="0"/>
                  </a:lnTo>
                </a:path>
              </a:pathLst>
            </a:custGeom>
            <a:solidFill>
              <a:srgbClr val="000000">
                <a:alpha val="0"/>
              </a:srgbClr>
            </a:solidFill>
            <a:ln cap="rnd" cmpd="sng" w="19050">
              <a:solidFill>
                <a:srgbClr val="1F293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0" name="Google Shape;630;p30"/>
            <p:cNvSpPr/>
            <p:nvPr/>
          </p:nvSpPr>
          <p:spPr>
            <a:xfrm>
              <a:off x="3238500" y="1238250"/>
              <a:ext cx="0" cy="381000"/>
            </a:xfrm>
            <a:custGeom>
              <a:rect b="b" l="l" r="r" t="t"/>
              <a:pathLst>
                <a:path extrusionOk="0" h="120000" w="120000">
                  <a:moveTo>
                    <a:pt x="0" y="0"/>
                  </a:moveTo>
                  <a:lnTo>
                    <a:pt x="0" y="120000"/>
                  </a:lnTo>
                </a:path>
              </a:pathLst>
            </a:custGeom>
            <a:solidFill>
              <a:srgbClr val="000000">
                <a:alpha val="0"/>
              </a:srgbClr>
            </a:solidFill>
            <a:ln cap="rnd" cmpd="sng" w="19050">
              <a:solidFill>
                <a:srgbClr val="1F293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1" name="Google Shape;631;p30"/>
            <p:cNvSpPr/>
            <p:nvPr/>
          </p:nvSpPr>
          <p:spPr>
            <a:xfrm>
              <a:off x="3238500" y="2000250"/>
              <a:ext cx="0" cy="571500"/>
            </a:xfrm>
            <a:custGeom>
              <a:rect b="b" l="l" r="r" t="t"/>
              <a:pathLst>
                <a:path extrusionOk="0" h="120000" w="120000">
                  <a:moveTo>
                    <a:pt x="0" y="0"/>
                  </a:moveTo>
                  <a:lnTo>
                    <a:pt x="0" y="120000"/>
                  </a:lnTo>
                </a:path>
              </a:pathLst>
            </a:custGeom>
            <a:solidFill>
              <a:srgbClr val="000000">
                <a:alpha val="0"/>
              </a:srgbClr>
            </a:solidFill>
            <a:ln cap="rnd" cmpd="sng" w="19050">
              <a:solidFill>
                <a:srgbClr val="1F293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2" name="Google Shape;632;p30"/>
            <p:cNvSpPr/>
            <p:nvPr/>
          </p:nvSpPr>
          <p:spPr>
            <a:xfrm>
              <a:off x="1619250" y="2571750"/>
              <a:ext cx="1619100" cy="0"/>
            </a:xfrm>
            <a:custGeom>
              <a:rect b="b" l="l" r="r" t="t"/>
              <a:pathLst>
                <a:path extrusionOk="0" h="120000" w="120000">
                  <a:moveTo>
                    <a:pt x="120000" y="0"/>
                  </a:moveTo>
                  <a:lnTo>
                    <a:pt x="0" y="0"/>
                  </a:lnTo>
                </a:path>
              </a:pathLst>
            </a:custGeom>
            <a:solidFill>
              <a:srgbClr val="000000">
                <a:alpha val="0"/>
              </a:srgbClr>
            </a:solidFill>
            <a:ln cap="rnd" cmpd="sng" w="19050">
              <a:solidFill>
                <a:srgbClr val="1F293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3" name="Google Shape;633;p30"/>
            <p:cNvSpPr/>
            <p:nvPr/>
          </p:nvSpPr>
          <p:spPr>
            <a:xfrm>
              <a:off x="1619250" y="1428750"/>
              <a:ext cx="0" cy="1143000"/>
            </a:xfrm>
            <a:custGeom>
              <a:rect b="b" l="l" r="r" t="t"/>
              <a:pathLst>
                <a:path extrusionOk="0" h="120000" w="120000">
                  <a:moveTo>
                    <a:pt x="0" y="120000"/>
                  </a:moveTo>
                  <a:lnTo>
                    <a:pt x="0" y="0"/>
                  </a:lnTo>
                </a:path>
              </a:pathLst>
            </a:custGeom>
            <a:solidFill>
              <a:srgbClr val="000000">
                <a:alpha val="0"/>
              </a:srgbClr>
            </a:solidFill>
            <a:ln cap="rnd" cmpd="sng" w="19050">
              <a:solidFill>
                <a:srgbClr val="1F293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4" name="Google Shape;634;p30"/>
            <p:cNvSpPr/>
            <p:nvPr/>
          </p:nvSpPr>
          <p:spPr>
            <a:xfrm>
              <a:off x="2095500" y="1143000"/>
              <a:ext cx="571500" cy="190500"/>
            </a:xfrm>
            <a:prstGeom prst="roundRect">
              <a:avLst>
                <a:gd fmla="val 10000" name="adj"/>
              </a:avLst>
            </a:prstGeom>
            <a:solidFill>
              <a:srgbClr val="F1F5F9"/>
            </a:solidFill>
            <a:ln cap="flat" cmpd="sng" w="19050">
              <a:solidFill>
                <a:srgbClr val="1F293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5" name="Google Shape;635;p30"/>
            <p:cNvSpPr/>
            <p:nvPr/>
          </p:nvSpPr>
          <p:spPr>
            <a:xfrm>
              <a:off x="2190750" y="1152525"/>
              <a:ext cx="38100" cy="171600"/>
            </a:xfrm>
            <a:prstGeom prst="rect">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6" name="Google Shape;636;p30"/>
            <p:cNvSpPr/>
            <p:nvPr/>
          </p:nvSpPr>
          <p:spPr>
            <a:xfrm>
              <a:off x="2286000" y="1152525"/>
              <a:ext cx="38100" cy="171600"/>
            </a:xfrm>
            <a:prstGeom prst="rect">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7" name="Google Shape;637;p30"/>
            <p:cNvSpPr/>
            <p:nvPr/>
          </p:nvSpPr>
          <p:spPr>
            <a:xfrm>
              <a:off x="2381250" y="1152525"/>
              <a:ext cx="38100" cy="171600"/>
            </a:xfrm>
            <a:prstGeom prst="rect">
              <a:avLst/>
            </a:prstGeom>
            <a:solidFill>
              <a:srgbClr val="78350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8" name="Google Shape;638;p30"/>
            <p:cNvSpPr/>
            <p:nvPr/>
          </p:nvSpPr>
          <p:spPr>
            <a:xfrm>
              <a:off x="2533650" y="1152525"/>
              <a:ext cx="38100" cy="1716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9" name="Google Shape;639;p30"/>
            <p:cNvSpPr txBox="1"/>
            <p:nvPr/>
          </p:nvSpPr>
          <p:spPr>
            <a:xfrm>
              <a:off x="1905000" y="809625"/>
              <a:ext cx="9525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50">
                  <a:solidFill>
                    <a:srgbClr val="045A36"/>
                  </a:solidFill>
                  <a:latin typeface="Inter"/>
                  <a:ea typeface="Inter"/>
                  <a:cs typeface="Inter"/>
                  <a:sym typeface="Inter"/>
                </a:rPr>
                <a:t>R = 220 Ω</a:t>
              </a:r>
              <a:endParaRPr b="1" sz="1050">
                <a:solidFill>
                  <a:srgbClr val="045A36"/>
                </a:solidFill>
                <a:latin typeface="Inter"/>
                <a:ea typeface="Inter"/>
                <a:cs typeface="Inter"/>
                <a:sym typeface="Inter"/>
              </a:endParaRPr>
            </a:p>
          </p:txBody>
        </p:sp>
        <p:sp>
          <p:nvSpPr>
            <p:cNvPr id="640" name="Google Shape;640;p30"/>
            <p:cNvSpPr/>
            <p:nvPr/>
          </p:nvSpPr>
          <p:spPr>
            <a:xfrm>
              <a:off x="3048000" y="1666875"/>
              <a:ext cx="381000" cy="285900"/>
            </a:xfrm>
            <a:custGeom>
              <a:rect b="b" l="l" r="r" t="t"/>
              <a:pathLst>
                <a:path extrusionOk="0" h="120000" w="120000">
                  <a:moveTo>
                    <a:pt x="0" y="0"/>
                  </a:moveTo>
                  <a:lnTo>
                    <a:pt x="120000" y="0"/>
                  </a:lnTo>
                  <a:lnTo>
                    <a:pt x="60000" y="120000"/>
                  </a:lnTo>
                  <a:close/>
                </a:path>
              </a:pathLst>
            </a:custGeom>
            <a:solidFill>
              <a:srgbClr val="FEE2E2"/>
            </a:solidFill>
            <a:ln cap="flat" cmpd="sng" w="1905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641" name="Google Shape;641;p30"/>
            <p:cNvCxnSpPr/>
            <p:nvPr/>
          </p:nvCxnSpPr>
          <p:spPr>
            <a:xfrm>
              <a:off x="3048000" y="1952625"/>
              <a:ext cx="381000" cy="0"/>
            </a:xfrm>
            <a:prstGeom prst="straightConnector1">
              <a:avLst/>
            </a:prstGeom>
            <a:solidFill>
              <a:srgbClr val="FFFFFF"/>
            </a:solidFill>
            <a:ln cap="rnd" cmpd="sng" w="19050">
              <a:solidFill>
                <a:srgbClr val="EF4444"/>
              </a:solidFill>
              <a:prstDash val="solid"/>
              <a:round/>
              <a:headEnd len="sm" w="sm" type="none"/>
              <a:tailEnd len="sm" w="sm" type="none"/>
            </a:ln>
          </p:spPr>
        </p:cxnSp>
        <p:sp>
          <p:nvSpPr>
            <p:cNvPr id="642" name="Google Shape;642;p30"/>
            <p:cNvSpPr/>
            <p:nvPr/>
          </p:nvSpPr>
          <p:spPr>
            <a:xfrm>
              <a:off x="3429000" y="1504950"/>
              <a:ext cx="114300" cy="114300"/>
            </a:xfrm>
            <a:custGeom>
              <a:rect b="b" l="l" r="r" t="t"/>
              <a:pathLst>
                <a:path extrusionOk="0" h="120000" w="120000">
                  <a:moveTo>
                    <a:pt x="0" y="120000"/>
                  </a:moveTo>
                  <a:lnTo>
                    <a:pt x="120000" y="0"/>
                  </a:lnTo>
                  <a:moveTo>
                    <a:pt x="60000" y="0"/>
                  </a:moveTo>
                  <a:lnTo>
                    <a:pt x="120000" y="0"/>
                  </a:lnTo>
                  <a:lnTo>
                    <a:pt x="120000" y="60000"/>
                  </a:lnTo>
                </a:path>
              </a:pathLst>
            </a:custGeom>
            <a:solidFill>
              <a:srgbClr val="000000">
                <a:alpha val="0"/>
              </a:srgbClr>
            </a:solidFill>
            <a:ln cap="rnd" cmpd="sng" w="1905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3" name="Google Shape;643;p30"/>
            <p:cNvSpPr/>
            <p:nvPr/>
          </p:nvSpPr>
          <p:spPr>
            <a:xfrm>
              <a:off x="3524250" y="1600200"/>
              <a:ext cx="114300" cy="114300"/>
            </a:xfrm>
            <a:custGeom>
              <a:rect b="b" l="l" r="r" t="t"/>
              <a:pathLst>
                <a:path extrusionOk="0" h="120000" w="120000">
                  <a:moveTo>
                    <a:pt x="0" y="120000"/>
                  </a:moveTo>
                  <a:lnTo>
                    <a:pt x="120000" y="0"/>
                  </a:lnTo>
                  <a:moveTo>
                    <a:pt x="60000" y="0"/>
                  </a:moveTo>
                  <a:lnTo>
                    <a:pt x="120000" y="0"/>
                  </a:lnTo>
                  <a:lnTo>
                    <a:pt x="120000" y="60000"/>
                  </a:lnTo>
                </a:path>
              </a:pathLst>
            </a:custGeom>
            <a:solidFill>
              <a:srgbClr val="000000">
                <a:alpha val="0"/>
              </a:srgbClr>
            </a:solidFill>
            <a:ln cap="rnd" cmpd="sng" w="1905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4" name="Google Shape;644;p30"/>
            <p:cNvSpPr txBox="1"/>
            <p:nvPr/>
          </p:nvSpPr>
          <p:spPr>
            <a:xfrm>
              <a:off x="3476625" y="1714500"/>
              <a:ext cx="7143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1F2937"/>
                  </a:solidFill>
                  <a:latin typeface="Inter"/>
                  <a:ea typeface="Inter"/>
                  <a:cs typeface="Inter"/>
                  <a:sym typeface="Inter"/>
                </a:rPr>
                <a:t>LED</a:t>
              </a:r>
              <a:endParaRPr b="1" sz="1050">
                <a:solidFill>
                  <a:srgbClr val="1F2937"/>
                </a:solidFill>
                <a:latin typeface="Inter"/>
                <a:ea typeface="Inter"/>
                <a:cs typeface="Inter"/>
                <a:sym typeface="Inter"/>
              </a:endParaRPr>
            </a:p>
            <a:p>
              <a:pPr indent="0" lvl="0" marL="0" rtl="0" algn="l">
                <a:spcBef>
                  <a:spcPts val="150"/>
                </a:spcBef>
                <a:spcAft>
                  <a:spcPts val="0"/>
                </a:spcAft>
                <a:buNone/>
              </a:pPr>
              <a:r>
                <a:rPr b="1" lang="en" sz="950">
                  <a:solidFill>
                    <a:srgbClr val="EF4444"/>
                  </a:solidFill>
                  <a:latin typeface="Inter"/>
                  <a:ea typeface="Inter"/>
                  <a:cs typeface="Inter"/>
                  <a:sym typeface="Inter"/>
                </a:rPr>
                <a:t>Vf = 2.0V</a:t>
              </a:r>
              <a:endParaRPr b="1" sz="950">
                <a:solidFill>
                  <a:srgbClr val="EF4444"/>
                </a:solidFill>
                <a:latin typeface="Inter"/>
                <a:ea typeface="Inter"/>
                <a:cs typeface="Inter"/>
                <a:sym typeface="Inter"/>
              </a:endParaRPr>
            </a:p>
          </p:txBody>
        </p:sp>
        <p:sp>
          <p:nvSpPr>
            <p:cNvPr id="645" name="Google Shape;645;p30"/>
            <p:cNvSpPr/>
            <p:nvPr/>
          </p:nvSpPr>
          <p:spPr>
            <a:xfrm>
              <a:off x="1714500" y="1047750"/>
              <a:ext cx="238200" cy="95400"/>
            </a:xfrm>
            <a:custGeom>
              <a:rect b="b" l="l" r="r" t="t"/>
              <a:pathLst>
                <a:path extrusionOk="0" h="120000" w="120000">
                  <a:moveTo>
                    <a:pt x="0" y="60000"/>
                  </a:moveTo>
                  <a:lnTo>
                    <a:pt x="120000" y="60000"/>
                  </a:lnTo>
                  <a:moveTo>
                    <a:pt x="96000" y="0"/>
                  </a:moveTo>
                  <a:lnTo>
                    <a:pt x="120000" y="60000"/>
                  </a:lnTo>
                  <a:lnTo>
                    <a:pt x="96000" y="120000"/>
                  </a:lnTo>
                </a:path>
              </a:pathLst>
            </a:custGeom>
            <a:solidFill>
              <a:srgbClr val="000000">
                <a:alpha val="0"/>
              </a:srgbClr>
            </a:solidFill>
            <a:ln cap="rnd" cmpd="sng" w="19050">
              <a:solidFill>
                <a:srgbClr val="0B7A4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6" name="Google Shape;646;p30"/>
            <p:cNvSpPr txBox="1"/>
            <p:nvPr/>
          </p:nvSpPr>
          <p:spPr>
            <a:xfrm>
              <a:off x="1619250" y="857250"/>
              <a:ext cx="4764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33">
                  <a:solidFill>
                    <a:srgbClr val="0B7A4B"/>
                  </a:solidFill>
                  <a:latin typeface="Inter"/>
                  <a:ea typeface="Inter"/>
                  <a:cs typeface="Inter"/>
                  <a:sym typeface="Inter"/>
                </a:rPr>
                <a:t>I = 20mA</a:t>
              </a:r>
              <a:endParaRPr b="1" sz="833">
                <a:solidFill>
                  <a:srgbClr val="0B7A4B"/>
                </a:solidFill>
                <a:latin typeface="Inter"/>
                <a:ea typeface="Inter"/>
                <a:cs typeface="Inter"/>
                <a:sym typeface="Inter"/>
              </a:endParaRPr>
            </a:p>
          </p:txBody>
        </p:sp>
        <p:cxnSp>
          <p:nvCxnSpPr>
            <p:cNvPr id="647" name="Google Shape;647;p30"/>
            <p:cNvCxnSpPr/>
            <p:nvPr/>
          </p:nvCxnSpPr>
          <p:spPr>
            <a:xfrm>
              <a:off x="2428875" y="2571750"/>
              <a:ext cx="0" cy="142800"/>
            </a:xfrm>
            <a:prstGeom prst="straightConnector1">
              <a:avLst/>
            </a:prstGeom>
            <a:solidFill>
              <a:srgbClr val="FFFFFF"/>
            </a:solidFill>
            <a:ln cap="rnd" cmpd="sng" w="19050">
              <a:solidFill>
                <a:srgbClr val="1F2937"/>
              </a:solidFill>
              <a:prstDash val="solid"/>
              <a:round/>
              <a:headEnd len="sm" w="sm" type="none"/>
              <a:tailEnd len="sm" w="sm" type="none"/>
            </a:ln>
          </p:spPr>
        </p:cxnSp>
        <p:cxnSp>
          <p:nvCxnSpPr>
            <p:cNvPr id="648" name="Google Shape;648;p30"/>
            <p:cNvCxnSpPr/>
            <p:nvPr/>
          </p:nvCxnSpPr>
          <p:spPr>
            <a:xfrm>
              <a:off x="2333625" y="2714625"/>
              <a:ext cx="190500" cy="0"/>
            </a:xfrm>
            <a:prstGeom prst="straightConnector1">
              <a:avLst/>
            </a:prstGeom>
            <a:solidFill>
              <a:srgbClr val="FFFFFF"/>
            </a:solidFill>
            <a:ln cap="rnd" cmpd="sng" w="19050">
              <a:solidFill>
                <a:srgbClr val="1F2937"/>
              </a:solidFill>
              <a:prstDash val="solid"/>
              <a:round/>
              <a:headEnd len="sm" w="sm" type="none"/>
              <a:tailEnd len="sm" w="sm" type="none"/>
            </a:ln>
          </p:spPr>
        </p:cxnSp>
        <p:cxnSp>
          <p:nvCxnSpPr>
            <p:cNvPr id="649" name="Google Shape;649;p30"/>
            <p:cNvCxnSpPr/>
            <p:nvPr/>
          </p:nvCxnSpPr>
          <p:spPr>
            <a:xfrm>
              <a:off x="2371725" y="2762250"/>
              <a:ext cx="114300" cy="0"/>
            </a:xfrm>
            <a:prstGeom prst="straightConnector1">
              <a:avLst/>
            </a:prstGeom>
            <a:solidFill>
              <a:srgbClr val="FFFFFF"/>
            </a:solidFill>
            <a:ln cap="rnd" cmpd="sng" w="19050">
              <a:solidFill>
                <a:srgbClr val="1F2937"/>
              </a:solidFill>
              <a:prstDash val="solid"/>
              <a:round/>
              <a:headEnd len="sm" w="sm" type="none"/>
              <a:tailEnd len="sm" w="sm" type="none"/>
            </a:ln>
          </p:spPr>
        </p:cxnSp>
        <p:cxnSp>
          <p:nvCxnSpPr>
            <p:cNvPr id="650" name="Google Shape;650;p30"/>
            <p:cNvCxnSpPr/>
            <p:nvPr/>
          </p:nvCxnSpPr>
          <p:spPr>
            <a:xfrm>
              <a:off x="2409825" y="2809875"/>
              <a:ext cx="38100" cy="0"/>
            </a:xfrm>
            <a:prstGeom prst="straightConnector1">
              <a:avLst/>
            </a:prstGeom>
            <a:solidFill>
              <a:srgbClr val="FFFFFF"/>
            </a:solidFill>
            <a:ln cap="rnd" cmpd="sng" w="19050">
              <a:solidFill>
                <a:srgbClr val="1F2937"/>
              </a:solidFill>
              <a:prstDash val="solid"/>
              <a:round/>
              <a:headEnd len="sm" w="sm" type="none"/>
              <a:tailEnd len="sm" w="sm" type="none"/>
            </a:ln>
          </p:spPr>
        </p:cxnSp>
        <p:sp>
          <p:nvSpPr>
            <p:cNvPr id="651" name="Google Shape;651;p30"/>
            <p:cNvSpPr txBox="1"/>
            <p:nvPr/>
          </p:nvSpPr>
          <p:spPr>
            <a:xfrm>
              <a:off x="2238375" y="2876550"/>
              <a:ext cx="3810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00">
                  <a:solidFill>
                    <a:srgbClr val="6B7280"/>
                  </a:solidFill>
                  <a:latin typeface="Inter"/>
                  <a:ea typeface="Inter"/>
                  <a:cs typeface="Inter"/>
                  <a:sym typeface="Inter"/>
                </a:rPr>
                <a:t>GND</a:t>
              </a:r>
              <a:endParaRPr b="1" sz="900">
                <a:solidFill>
                  <a:srgbClr val="6B7280"/>
                </a:solidFill>
                <a:latin typeface="Inter"/>
                <a:ea typeface="Inter"/>
                <a:cs typeface="Inter"/>
                <a:sym typeface="Inter"/>
              </a:endParaRPr>
            </a:p>
          </p:txBody>
        </p:sp>
      </p:grpSp>
      <p:grpSp>
        <p:nvGrpSpPr>
          <p:cNvPr id="652" name="Google Shape;652;p30"/>
          <p:cNvGrpSpPr/>
          <p:nvPr/>
        </p:nvGrpSpPr>
        <p:grpSpPr>
          <a:xfrm>
            <a:off x="5429250" y="2047875"/>
            <a:ext cx="4667400" cy="3524400"/>
            <a:chOff x="0" y="0"/>
            <a:chExt cx="4667400" cy="3524400"/>
          </a:xfrm>
        </p:grpSpPr>
        <p:sp>
          <p:nvSpPr>
            <p:cNvPr id="653" name="Google Shape;653;p30"/>
            <p:cNvSpPr/>
            <p:nvPr/>
          </p:nvSpPr>
          <p:spPr>
            <a:xfrm>
              <a:off x="0" y="0"/>
              <a:ext cx="4667400" cy="3524400"/>
            </a:xfrm>
            <a:prstGeom prst="roundRect">
              <a:avLst>
                <a:gd fmla="val 324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4" name="Google Shape;654;p30"/>
            <p:cNvSpPr/>
            <p:nvPr/>
          </p:nvSpPr>
          <p:spPr>
            <a:xfrm>
              <a:off x="0" y="0"/>
              <a:ext cx="4667400" cy="142800"/>
            </a:xfrm>
            <a:custGeom>
              <a:rect b="b" l="l" r="r" t="t"/>
              <a:pathLst>
                <a:path extrusionOk="0" h="120000" w="120000">
                  <a:moveTo>
                    <a:pt x="2939" y="0"/>
                  </a:moveTo>
                  <a:lnTo>
                    <a:pt x="117061" y="0"/>
                  </a:lnTo>
                  <a:cubicBezTo>
                    <a:pt x="117840" y="-2"/>
                    <a:pt x="118588" y="10111"/>
                    <a:pt x="119139" y="28115"/>
                  </a:cubicBezTo>
                  <a:cubicBezTo>
                    <a:pt x="119690" y="46119"/>
                    <a:pt x="120000" y="70538"/>
                    <a:pt x="120000" y="96000"/>
                  </a:cubicBezTo>
                  <a:lnTo>
                    <a:pt x="120000" y="120000"/>
                  </a:lnTo>
                  <a:lnTo>
                    <a:pt x="0" y="120000"/>
                  </a:lnTo>
                  <a:lnTo>
                    <a:pt x="0" y="96000"/>
                  </a:lnTo>
                  <a:cubicBezTo>
                    <a:pt x="0" y="42981"/>
                    <a:pt x="1316" y="0"/>
                    <a:pt x="2939" y="0"/>
                  </a:cubicBezTo>
                  <a:close/>
                </a:path>
              </a:pathLst>
            </a:cu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5" name="Google Shape;655;p30"/>
            <p:cNvSpPr txBox="1"/>
            <p:nvPr/>
          </p:nvSpPr>
          <p:spPr>
            <a:xfrm>
              <a:off x="190500" y="285750"/>
              <a:ext cx="4286400" cy="314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D4A017"/>
                  </a:solidFill>
                  <a:latin typeface="Inter"/>
                  <a:ea typeface="Inter"/>
                  <a:cs typeface="Inter"/>
                  <a:sym typeface="Inter"/>
                </a:rPr>
                <a:t>Limiting Formula</a:t>
              </a:r>
              <a:endParaRPr b="1" sz="1100">
                <a:solidFill>
                  <a:srgbClr val="D4A017"/>
                </a:solidFill>
                <a:latin typeface="Inter"/>
                <a:ea typeface="Inter"/>
                <a:cs typeface="Inter"/>
                <a:sym typeface="Inter"/>
              </a:endParaRPr>
            </a:p>
            <a:p>
              <a:pPr indent="0" lvl="0" marL="0" rtl="0" algn="l">
                <a:spcBef>
                  <a:spcPts val="375"/>
                </a:spcBef>
                <a:spcAft>
                  <a:spcPts val="0"/>
                </a:spcAft>
                <a:buNone/>
              </a:pPr>
              <a:r>
                <a:rPr b="1" lang="en" sz="2000">
                  <a:solidFill>
                    <a:srgbClr val="045A36"/>
                  </a:solidFill>
                  <a:latin typeface="Montserrat"/>
                  <a:ea typeface="Montserrat"/>
                  <a:cs typeface="Montserrat"/>
                  <a:sym typeface="Montserrat"/>
                </a:rPr>
                <a:t>R = (Vs - Vf) / If</a:t>
              </a:r>
              <a:endParaRPr b="1" sz="2000">
                <a:solidFill>
                  <a:srgbClr val="045A36"/>
                </a:solidFill>
                <a:latin typeface="Montserrat"/>
                <a:ea typeface="Montserrat"/>
                <a:cs typeface="Montserrat"/>
                <a:sym typeface="Montserrat"/>
              </a:endParaRPr>
            </a:p>
            <a:p>
              <a:pPr indent="0" lvl="0" marL="0" rtl="0" algn="l">
                <a:spcBef>
                  <a:spcPts val="600"/>
                </a:spcBef>
                <a:spcAft>
                  <a:spcPts val="0"/>
                </a:spcAft>
                <a:buNone/>
              </a:pPr>
              <a:r>
                <a:rPr b="1" lang="en" sz="1050">
                  <a:solidFill>
                    <a:srgbClr val="045A36"/>
                  </a:solidFill>
                  <a:latin typeface="Inter"/>
                  <a:ea typeface="Inter"/>
                  <a:cs typeface="Inter"/>
                  <a:sym typeface="Inter"/>
                </a:rPr>
                <a:t>Vs</a:t>
              </a:r>
              <a:r>
                <a:rPr lang="en" sz="1050">
                  <a:solidFill>
                    <a:srgbClr val="374151"/>
                  </a:solidFill>
                  <a:latin typeface="Inter"/>
                  <a:ea typeface="Inter"/>
                  <a:cs typeface="Inter"/>
                  <a:sym typeface="Inter"/>
                </a:rPr>
                <a:t> = Source (5.0V)  |  </a:t>
              </a:r>
              <a:r>
                <a:rPr b="1" lang="en" sz="1050">
                  <a:solidFill>
                    <a:srgbClr val="045A36"/>
                  </a:solidFill>
                  <a:latin typeface="Inter"/>
                  <a:ea typeface="Inter"/>
                  <a:cs typeface="Inter"/>
                  <a:sym typeface="Inter"/>
                </a:rPr>
                <a:t>Vf</a:t>
              </a:r>
              <a:r>
                <a:rPr lang="en" sz="1050">
                  <a:solidFill>
                    <a:srgbClr val="374151"/>
                  </a:solidFill>
                  <a:latin typeface="Inter"/>
                  <a:ea typeface="Inter"/>
                  <a:cs typeface="Inter"/>
                  <a:sym typeface="Inter"/>
                </a:rPr>
                <a:t> = LED (2.0V)  |  </a:t>
              </a:r>
              <a:r>
                <a:rPr b="1" lang="en" sz="1050">
                  <a:solidFill>
                    <a:srgbClr val="045A36"/>
                  </a:solidFill>
                  <a:latin typeface="Inter"/>
                  <a:ea typeface="Inter"/>
                  <a:cs typeface="Inter"/>
                  <a:sym typeface="Inter"/>
                </a:rPr>
                <a:t>If</a:t>
              </a:r>
              <a:r>
                <a:rPr lang="en" sz="1050">
                  <a:solidFill>
                    <a:srgbClr val="374151"/>
                  </a:solidFill>
                  <a:latin typeface="Inter"/>
                  <a:ea typeface="Inter"/>
                  <a:cs typeface="Inter"/>
                  <a:sym typeface="Inter"/>
                </a:rPr>
                <a:t> = Current (0.02A)</a:t>
              </a:r>
              <a:endParaRPr sz="1050">
                <a:solidFill>
                  <a:srgbClr val="374151"/>
                </a:solidFill>
                <a:latin typeface="Inter"/>
                <a:ea typeface="Inter"/>
                <a:cs typeface="Inter"/>
                <a:sym typeface="Inter"/>
              </a:endParaRPr>
            </a:p>
            <a:p>
              <a:pPr indent="0" lvl="0" marL="0" rtl="0" algn="l">
                <a:spcBef>
                  <a:spcPts val="750"/>
                </a:spcBef>
                <a:spcAft>
                  <a:spcPts val="0"/>
                </a:spcAft>
                <a:buNone/>
              </a:pPr>
              <a:r>
                <a:rPr b="1" lang="en" sz="1100">
                  <a:solidFill>
                    <a:srgbClr val="0B7A4B"/>
                  </a:solidFill>
                  <a:latin typeface="Inter"/>
                  <a:ea typeface="Inter"/>
                  <a:cs typeface="Inter"/>
                  <a:sym typeface="Inter"/>
                </a:rPr>
                <a:t>Step-by-Step Solution</a:t>
              </a:r>
              <a:endParaRPr b="1" sz="1100">
                <a:solidFill>
                  <a:srgbClr val="0B7A4B"/>
                </a:solidFill>
                <a:latin typeface="Inter"/>
                <a:ea typeface="Inter"/>
                <a:cs typeface="Inter"/>
                <a:sym typeface="Inter"/>
              </a:endParaRPr>
            </a:p>
            <a:p>
              <a:pPr indent="0" lvl="0" marL="0" rtl="0" algn="l">
                <a:spcBef>
                  <a:spcPts val="450"/>
                </a:spcBef>
                <a:spcAft>
                  <a:spcPts val="0"/>
                </a:spcAft>
                <a:buNone/>
              </a:pPr>
              <a:r>
                <a:rPr b="1" lang="en" sz="1050">
                  <a:solidFill>
                    <a:srgbClr val="1F2937"/>
                  </a:solidFill>
                  <a:highlight>
                    <a:srgbClr val="F1F5F9"/>
                  </a:highlight>
                  <a:latin typeface="Inter"/>
                  <a:ea typeface="Inter"/>
                  <a:cs typeface="Inter"/>
                  <a:sym typeface="Inter"/>
                </a:rPr>
                <a:t>1. Voltage across resistor:</a:t>
              </a:r>
              <a:r>
                <a:rPr lang="en" sz="1050">
                  <a:solidFill>
                    <a:srgbClr val="1F2937"/>
                  </a:solidFill>
                  <a:highlight>
                    <a:srgbClr val="F1F5F9"/>
                  </a:highlight>
                  <a:latin typeface="Inter"/>
                  <a:ea typeface="Inter"/>
                  <a:cs typeface="Inter"/>
                  <a:sym typeface="Inter"/>
                </a:rPr>
                <a:t> VR = 5.0V - 2.0V = 3.0V</a:t>
              </a:r>
              <a:endParaRPr sz="1050">
                <a:solidFill>
                  <a:srgbClr val="1F2937"/>
                </a:solidFill>
                <a:highlight>
                  <a:srgbClr val="F1F5F9"/>
                </a:highlight>
                <a:latin typeface="Inter"/>
                <a:ea typeface="Inter"/>
                <a:cs typeface="Inter"/>
                <a:sym typeface="Inter"/>
              </a:endParaRPr>
            </a:p>
            <a:p>
              <a:pPr indent="0" lvl="0" marL="0" rtl="0" algn="l">
                <a:spcBef>
                  <a:spcPts val="300"/>
                </a:spcBef>
                <a:spcAft>
                  <a:spcPts val="0"/>
                </a:spcAft>
                <a:buNone/>
              </a:pPr>
              <a:r>
                <a:rPr b="1" lang="en" sz="1050">
                  <a:solidFill>
                    <a:srgbClr val="1F2937"/>
                  </a:solidFill>
                  <a:highlight>
                    <a:srgbClr val="F1F5F9"/>
                  </a:highlight>
                  <a:latin typeface="Inter"/>
                  <a:ea typeface="Inter"/>
                  <a:cs typeface="Inter"/>
                  <a:sym typeface="Inter"/>
                </a:rPr>
                <a:t>2. Solve for resistance:</a:t>
              </a:r>
              <a:r>
                <a:rPr lang="en" sz="1050">
                  <a:solidFill>
                    <a:srgbClr val="1F2937"/>
                  </a:solidFill>
                  <a:highlight>
                    <a:srgbClr val="F1F5F9"/>
                  </a:highlight>
                  <a:latin typeface="Inter"/>
                  <a:ea typeface="Inter"/>
                  <a:cs typeface="Inter"/>
                  <a:sym typeface="Inter"/>
                </a:rPr>
                <a:t> R = 3.0V / 0.02A = 150 Ω</a:t>
              </a:r>
              <a:endParaRPr sz="1050">
                <a:solidFill>
                  <a:srgbClr val="1F2937"/>
                </a:solidFill>
                <a:highlight>
                  <a:srgbClr val="F1F5F9"/>
                </a:highlight>
                <a:latin typeface="Inter"/>
                <a:ea typeface="Inter"/>
                <a:cs typeface="Inter"/>
                <a:sym typeface="Inter"/>
              </a:endParaRPr>
            </a:p>
            <a:p>
              <a:pPr indent="0" lvl="0" marL="0" rtl="0" algn="l">
                <a:spcBef>
                  <a:spcPts val="900"/>
                </a:spcBef>
                <a:spcAft>
                  <a:spcPts val="0"/>
                </a:spcAft>
                <a:buNone/>
              </a:pPr>
              <a:r>
                <a:rPr b="1" lang="en" sz="1050">
                  <a:solidFill>
                    <a:srgbClr val="D4A017"/>
                  </a:solidFill>
                  <a:latin typeface="Inter"/>
                  <a:ea typeface="Inter"/>
                  <a:cs typeface="Inter"/>
                  <a:sym typeface="Inter"/>
                </a:rPr>
                <a:t>The Standard Choice: 220 Ω</a:t>
              </a:r>
              <a:endParaRPr b="1" sz="1050">
                <a:solidFill>
                  <a:srgbClr val="D4A017"/>
                </a:solidFill>
                <a:latin typeface="Inter"/>
                <a:ea typeface="Inter"/>
                <a:cs typeface="Inter"/>
                <a:sym typeface="Inter"/>
              </a:endParaRPr>
            </a:p>
            <a:p>
              <a:pPr indent="0" lvl="0" marL="0" rtl="0" algn="l">
                <a:spcBef>
                  <a:spcPts val="300"/>
                </a:spcBef>
                <a:spcAft>
                  <a:spcPts val="0"/>
                </a:spcAft>
                <a:buNone/>
              </a:pPr>
              <a:r>
                <a:rPr lang="en" sz="1050">
                  <a:solidFill>
                    <a:srgbClr val="374151"/>
                  </a:solidFill>
                  <a:highlight>
                    <a:srgbClr val="FFFDF5"/>
                  </a:highlight>
                  <a:latin typeface="Inter"/>
                  <a:ea typeface="Inter"/>
                  <a:cs typeface="Inter"/>
                  <a:sym typeface="Inter"/>
                </a:rPr>
                <a:t>While 150 Ω is the safe minimum, 220 Ω is standard. It limits current safely to ~13.6mA, extending LED operational life and protecting the Arduino.</a:t>
              </a:r>
              <a:endParaRPr sz="1050">
                <a:solidFill>
                  <a:srgbClr val="374151"/>
                </a:solidFill>
                <a:highlight>
                  <a:srgbClr val="FFFDF5"/>
                </a:highlight>
                <a:latin typeface="Inter"/>
                <a:ea typeface="Inter"/>
                <a:cs typeface="Inter"/>
                <a:sym typeface="Inte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9" name="Shape 659"/>
        <p:cNvGrpSpPr/>
        <p:nvPr/>
      </p:nvGrpSpPr>
      <p:grpSpPr>
        <a:xfrm>
          <a:off x="0" y="0"/>
          <a:ext cx="0" cy="0"/>
          <a:chOff x="0" y="0"/>
          <a:chExt cx="0" cy="0"/>
        </a:xfrm>
      </p:grpSpPr>
      <p:grpSp>
        <p:nvGrpSpPr>
          <p:cNvPr id="660" name="Google Shape;660;p31"/>
          <p:cNvGrpSpPr/>
          <p:nvPr/>
        </p:nvGrpSpPr>
        <p:grpSpPr>
          <a:xfrm>
            <a:off x="0" y="0"/>
            <a:ext cx="12192000" cy="76350"/>
            <a:chOff x="0" y="0"/>
            <a:chExt cx="12192000" cy="76350"/>
          </a:xfrm>
        </p:grpSpPr>
        <p:sp>
          <p:nvSpPr>
            <p:cNvPr id="661" name="Google Shape;661;p31"/>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2" name="Google Shape;662;p31"/>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63" name="Google Shape;663;p31"/>
          <p:cNvSpPr txBox="1"/>
          <p:nvPr/>
        </p:nvSpPr>
        <p:spPr>
          <a:xfrm>
            <a:off x="762000" y="571500"/>
            <a:ext cx="106680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98">
                <a:solidFill>
                  <a:srgbClr val="045A36"/>
                </a:solidFill>
                <a:latin typeface="Montserrat SemiBold"/>
                <a:ea typeface="Montserrat SemiBold"/>
                <a:cs typeface="Montserrat SemiBold"/>
                <a:sym typeface="Montserrat SemiBold"/>
              </a:rPr>
              <a:t>Practical Applications of LEDs in Robot &amp; Indicator Systems</a:t>
            </a:r>
            <a:endParaRPr b="0" sz="2498">
              <a:solidFill>
                <a:srgbClr val="045A36"/>
              </a:solidFill>
              <a:latin typeface="Montserrat SemiBold"/>
              <a:ea typeface="Montserrat SemiBold"/>
              <a:cs typeface="Montserrat SemiBold"/>
              <a:sym typeface="Montserrat SemiBold"/>
            </a:endParaRPr>
          </a:p>
        </p:txBody>
      </p:sp>
      <p:sp>
        <p:nvSpPr>
          <p:cNvPr id="664" name="Google Shape;664;p31"/>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5" name="Google Shape;665;p31"/>
          <p:cNvSpPr txBox="1"/>
          <p:nvPr/>
        </p:nvSpPr>
        <p:spPr>
          <a:xfrm>
            <a:off x="762000" y="1333500"/>
            <a:ext cx="106680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374151"/>
                </a:solidFill>
                <a:latin typeface="Inter"/>
                <a:ea typeface="Inter"/>
                <a:cs typeface="Inter"/>
                <a:sym typeface="Inter"/>
              </a:rPr>
              <a:t>LEDs are the primary communication tools for robots, translating complex code execution states and analog sensor values into immediate, visible light feedback.</a:t>
            </a:r>
            <a:endParaRPr b="0" sz="1350">
              <a:solidFill>
                <a:srgbClr val="374151"/>
              </a:solidFill>
              <a:latin typeface="Inter"/>
              <a:ea typeface="Inter"/>
              <a:cs typeface="Inter"/>
              <a:sym typeface="Inter"/>
            </a:endParaRPr>
          </a:p>
        </p:txBody>
      </p:sp>
      <p:grpSp>
        <p:nvGrpSpPr>
          <p:cNvPr id="666" name="Google Shape;666;p31"/>
          <p:cNvGrpSpPr/>
          <p:nvPr/>
        </p:nvGrpSpPr>
        <p:grpSpPr>
          <a:xfrm>
            <a:off x="762000" y="2238375"/>
            <a:ext cx="3238500" cy="3095700"/>
            <a:chOff x="0" y="0"/>
            <a:chExt cx="3238500" cy="3095700"/>
          </a:xfrm>
        </p:grpSpPr>
        <p:sp>
          <p:nvSpPr>
            <p:cNvPr id="667" name="Google Shape;667;p31"/>
            <p:cNvSpPr/>
            <p:nvPr/>
          </p:nvSpPr>
          <p:spPr>
            <a:xfrm>
              <a:off x="0" y="0"/>
              <a:ext cx="3238500" cy="3095700"/>
            </a:xfrm>
            <a:prstGeom prst="roundRect">
              <a:avLst>
                <a:gd fmla="val 123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68" name="Google Shape;668;p31"/>
            <p:cNvPicPr preferRelativeResize="0"/>
            <p:nvPr/>
          </p:nvPicPr>
          <p:blipFill rotWithShape="1">
            <a:blip r:embed="rId4">
              <a:alphaModFix/>
            </a:blip>
            <a:srcRect b="0" l="0" r="0" t="0"/>
            <a:stretch/>
          </p:blipFill>
          <p:spPr>
            <a:xfrm>
              <a:off x="0" y="0"/>
              <a:ext cx="3238500" cy="1819200"/>
            </a:xfrm>
            <a:prstGeom prst="roundRect">
              <a:avLst>
                <a:gd fmla="val 2094" name="adj"/>
              </a:avLst>
            </a:prstGeom>
            <a:noFill/>
            <a:ln>
              <a:noFill/>
            </a:ln>
          </p:spPr>
        </p:pic>
        <p:sp>
          <p:nvSpPr>
            <p:cNvPr id="669" name="Google Shape;669;p31"/>
            <p:cNvSpPr/>
            <p:nvPr/>
          </p:nvSpPr>
          <p:spPr>
            <a:xfrm>
              <a:off x="0" y="1819275"/>
              <a:ext cx="32385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0" name="Google Shape;670;p31"/>
            <p:cNvSpPr txBox="1"/>
            <p:nvPr/>
          </p:nvSpPr>
          <p:spPr>
            <a:xfrm>
              <a:off x="142875" y="1924050"/>
              <a:ext cx="2952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300">
                  <a:solidFill>
                    <a:srgbClr val="045A36"/>
                  </a:solidFill>
                  <a:latin typeface="Montserrat SemiBold"/>
                  <a:ea typeface="Montserrat SemiBold"/>
                  <a:cs typeface="Montserrat SemiBold"/>
                  <a:sym typeface="Montserrat SemiBold"/>
                </a:rPr>
                <a:t>Visual Status Indicators</a:t>
              </a:r>
              <a:endParaRPr b="0" sz="1300">
                <a:solidFill>
                  <a:srgbClr val="045A36"/>
                </a:solidFill>
                <a:latin typeface="Montserrat SemiBold"/>
                <a:ea typeface="Montserrat SemiBold"/>
                <a:cs typeface="Montserrat SemiBold"/>
                <a:sym typeface="Montserrat SemiBold"/>
              </a:endParaRPr>
            </a:p>
          </p:txBody>
        </p:sp>
        <p:sp>
          <p:nvSpPr>
            <p:cNvPr id="671" name="Google Shape;671;p31"/>
            <p:cNvSpPr txBox="1"/>
            <p:nvPr/>
          </p:nvSpPr>
          <p:spPr>
            <a:xfrm>
              <a:off x="142875" y="2266950"/>
              <a:ext cx="29529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374151"/>
                  </a:solidFill>
                  <a:latin typeface="Inter"/>
                  <a:ea typeface="Inter"/>
                  <a:cs typeface="Inter"/>
                  <a:sym typeface="Inter"/>
                </a:rPr>
                <a:t>Singly configured LEDs indicate main system status: continuous ON confirms power, flashing indicates active sensor telemetry, and fast flashing alerts of low battery or errors.</a:t>
              </a:r>
              <a:endParaRPr b="0" sz="950">
                <a:solidFill>
                  <a:srgbClr val="374151"/>
                </a:solidFill>
                <a:latin typeface="Inter"/>
                <a:ea typeface="Inter"/>
                <a:cs typeface="Inter"/>
                <a:sym typeface="Inter"/>
              </a:endParaRPr>
            </a:p>
          </p:txBody>
        </p:sp>
      </p:grpSp>
      <p:grpSp>
        <p:nvGrpSpPr>
          <p:cNvPr id="672" name="Google Shape;672;p31"/>
          <p:cNvGrpSpPr/>
          <p:nvPr/>
        </p:nvGrpSpPr>
        <p:grpSpPr>
          <a:xfrm>
            <a:off x="4476750" y="2238375"/>
            <a:ext cx="3238500" cy="3095700"/>
            <a:chOff x="0" y="0"/>
            <a:chExt cx="3238500" cy="3095700"/>
          </a:xfrm>
        </p:grpSpPr>
        <p:sp>
          <p:nvSpPr>
            <p:cNvPr id="673" name="Google Shape;673;p31"/>
            <p:cNvSpPr/>
            <p:nvPr/>
          </p:nvSpPr>
          <p:spPr>
            <a:xfrm>
              <a:off x="0" y="0"/>
              <a:ext cx="3238500" cy="3095700"/>
            </a:xfrm>
            <a:prstGeom prst="roundRect">
              <a:avLst>
                <a:gd fmla="val 123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74" name="Google Shape;674;p31"/>
            <p:cNvPicPr preferRelativeResize="0"/>
            <p:nvPr/>
          </p:nvPicPr>
          <p:blipFill rotWithShape="1">
            <a:blip r:embed="rId5">
              <a:alphaModFix/>
            </a:blip>
            <a:srcRect b="0" l="0" r="0" t="0"/>
            <a:stretch/>
          </p:blipFill>
          <p:spPr>
            <a:xfrm>
              <a:off x="0" y="0"/>
              <a:ext cx="3238500" cy="1819200"/>
            </a:xfrm>
            <a:prstGeom prst="roundRect">
              <a:avLst>
                <a:gd fmla="val 2094" name="adj"/>
              </a:avLst>
            </a:prstGeom>
            <a:noFill/>
            <a:ln>
              <a:noFill/>
            </a:ln>
          </p:spPr>
        </p:pic>
        <p:sp>
          <p:nvSpPr>
            <p:cNvPr id="675" name="Google Shape;675;p31"/>
            <p:cNvSpPr/>
            <p:nvPr/>
          </p:nvSpPr>
          <p:spPr>
            <a:xfrm>
              <a:off x="0" y="1819275"/>
              <a:ext cx="32385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6" name="Google Shape;676;p31"/>
            <p:cNvSpPr txBox="1"/>
            <p:nvPr/>
          </p:nvSpPr>
          <p:spPr>
            <a:xfrm>
              <a:off x="142875" y="1924050"/>
              <a:ext cx="2952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300">
                  <a:solidFill>
                    <a:srgbClr val="045A36"/>
                  </a:solidFill>
                  <a:latin typeface="Montserrat SemiBold"/>
                  <a:ea typeface="Montserrat SemiBold"/>
                  <a:cs typeface="Montserrat SemiBold"/>
                  <a:sym typeface="Montserrat SemiBold"/>
                </a:rPr>
                <a:t>Multi-Color RGB Feedback</a:t>
              </a:r>
              <a:endParaRPr b="0" sz="1300">
                <a:solidFill>
                  <a:srgbClr val="045A36"/>
                </a:solidFill>
                <a:latin typeface="Montserrat SemiBold"/>
                <a:ea typeface="Montserrat SemiBold"/>
                <a:cs typeface="Montserrat SemiBold"/>
                <a:sym typeface="Montserrat SemiBold"/>
              </a:endParaRPr>
            </a:p>
          </p:txBody>
        </p:sp>
        <p:sp>
          <p:nvSpPr>
            <p:cNvPr id="677" name="Google Shape;677;p31"/>
            <p:cNvSpPr txBox="1"/>
            <p:nvPr/>
          </p:nvSpPr>
          <p:spPr>
            <a:xfrm>
              <a:off x="142875" y="2266950"/>
              <a:ext cx="29529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374151"/>
                  </a:solidFill>
                  <a:latin typeface="Inter"/>
                  <a:ea typeface="Inter"/>
                  <a:cs typeface="Inter"/>
                  <a:sym typeface="Inter"/>
                </a:rPr>
                <a:t>RGB LEDs mix red, green, and blue light inside a single housing. Using PWM to control intensity allows robots to generate millions of colors for proximity or temperature states.</a:t>
              </a:r>
              <a:endParaRPr b="0" sz="950">
                <a:solidFill>
                  <a:srgbClr val="374151"/>
                </a:solidFill>
                <a:latin typeface="Inter"/>
                <a:ea typeface="Inter"/>
                <a:cs typeface="Inter"/>
                <a:sym typeface="Inter"/>
              </a:endParaRPr>
            </a:p>
          </p:txBody>
        </p:sp>
      </p:grpSp>
      <p:grpSp>
        <p:nvGrpSpPr>
          <p:cNvPr id="678" name="Google Shape;678;p31"/>
          <p:cNvGrpSpPr/>
          <p:nvPr/>
        </p:nvGrpSpPr>
        <p:grpSpPr>
          <a:xfrm>
            <a:off x="8191500" y="2238375"/>
            <a:ext cx="3238500" cy="3095700"/>
            <a:chOff x="0" y="0"/>
            <a:chExt cx="3238500" cy="3095700"/>
          </a:xfrm>
        </p:grpSpPr>
        <p:sp>
          <p:nvSpPr>
            <p:cNvPr id="679" name="Google Shape;679;p31"/>
            <p:cNvSpPr/>
            <p:nvPr/>
          </p:nvSpPr>
          <p:spPr>
            <a:xfrm>
              <a:off x="0" y="0"/>
              <a:ext cx="3238500" cy="3095700"/>
            </a:xfrm>
            <a:prstGeom prst="roundRect">
              <a:avLst>
                <a:gd fmla="val 123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80" name="Google Shape;680;p31"/>
            <p:cNvPicPr preferRelativeResize="0"/>
            <p:nvPr/>
          </p:nvPicPr>
          <p:blipFill rotWithShape="1">
            <a:blip r:embed="rId6">
              <a:alphaModFix/>
            </a:blip>
            <a:srcRect b="0" l="0" r="0" t="0"/>
            <a:stretch/>
          </p:blipFill>
          <p:spPr>
            <a:xfrm>
              <a:off x="0" y="0"/>
              <a:ext cx="3238500" cy="1819200"/>
            </a:xfrm>
            <a:prstGeom prst="roundRect">
              <a:avLst>
                <a:gd fmla="val 2094" name="adj"/>
              </a:avLst>
            </a:prstGeom>
            <a:noFill/>
            <a:ln>
              <a:noFill/>
            </a:ln>
          </p:spPr>
        </p:pic>
        <p:sp>
          <p:nvSpPr>
            <p:cNvPr id="681" name="Google Shape;681;p31"/>
            <p:cNvSpPr/>
            <p:nvPr/>
          </p:nvSpPr>
          <p:spPr>
            <a:xfrm>
              <a:off x="0" y="1819275"/>
              <a:ext cx="32385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2" name="Google Shape;682;p31"/>
            <p:cNvSpPr txBox="1"/>
            <p:nvPr/>
          </p:nvSpPr>
          <p:spPr>
            <a:xfrm>
              <a:off x="142875" y="1924050"/>
              <a:ext cx="2952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300">
                  <a:solidFill>
                    <a:srgbClr val="045A36"/>
                  </a:solidFill>
                  <a:latin typeface="Montserrat SemiBold"/>
                  <a:ea typeface="Montserrat SemiBold"/>
                  <a:cs typeface="Montserrat SemiBold"/>
                  <a:sym typeface="Montserrat SemiBold"/>
                </a:rPr>
                <a:t>Custom Display Panels</a:t>
              </a:r>
              <a:endParaRPr b="0" sz="1300">
                <a:solidFill>
                  <a:srgbClr val="045A36"/>
                </a:solidFill>
                <a:latin typeface="Montserrat SemiBold"/>
                <a:ea typeface="Montserrat SemiBold"/>
                <a:cs typeface="Montserrat SemiBold"/>
                <a:sym typeface="Montserrat SemiBold"/>
              </a:endParaRPr>
            </a:p>
          </p:txBody>
        </p:sp>
        <p:sp>
          <p:nvSpPr>
            <p:cNvPr id="683" name="Google Shape;683;p31"/>
            <p:cNvSpPr txBox="1"/>
            <p:nvPr/>
          </p:nvSpPr>
          <p:spPr>
            <a:xfrm>
              <a:off x="142875" y="2266950"/>
              <a:ext cx="29529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374151"/>
                  </a:solidFill>
                  <a:latin typeface="Inter"/>
                  <a:ea typeface="Inter"/>
                  <a:cs typeface="Inter"/>
                  <a:sym typeface="Inter"/>
                </a:rPr>
                <a:t>Multiplexed matrix displays and 7-segment panels display numbers, error codes, or alphanumeric messages. Grouped LEDs can also simulate automated systems like traffic lights.</a:t>
              </a:r>
              <a:endParaRPr b="0" sz="950">
                <a:solidFill>
                  <a:srgbClr val="374151"/>
                </a:solidFill>
                <a:latin typeface="Inter"/>
                <a:ea typeface="Inter"/>
                <a:cs typeface="Inter"/>
                <a:sym typeface="Inter"/>
              </a:endParaRPr>
            </a:p>
          </p:txBody>
        </p:sp>
      </p:grpSp>
      <p:sp>
        <p:nvSpPr>
          <p:cNvPr id="684" name="Google Shape;684;p31"/>
          <p:cNvSpPr/>
          <p:nvPr/>
        </p:nvSpPr>
        <p:spPr>
          <a:xfrm>
            <a:off x="762000" y="5981700"/>
            <a:ext cx="106680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5" name="Google Shape;685;p31"/>
          <p:cNvSpPr txBox="1"/>
          <p:nvPr/>
        </p:nvSpPr>
        <p:spPr>
          <a:xfrm>
            <a:off x="762000" y="6134100"/>
            <a:ext cx="5715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Government of Sindh | University of Sindh</a:t>
            </a:r>
            <a:endParaRPr b="0" sz="975">
              <a:solidFill>
                <a:srgbClr val="6B7280"/>
              </a:solidFill>
              <a:latin typeface="Inter"/>
              <a:ea typeface="Inter"/>
              <a:cs typeface="Inter"/>
              <a:sym typeface="Inter"/>
            </a:endParaRPr>
          </a:p>
        </p:txBody>
      </p:sp>
      <p:pic>
        <p:nvPicPr>
          <p:cNvPr id="686" name="Google Shape;686;p31"/>
          <p:cNvPicPr preferRelativeResize="0"/>
          <p:nvPr/>
        </p:nvPicPr>
        <p:blipFill rotWithShape="1">
          <a:blip r:embed="rId7">
            <a:alphaModFix/>
          </a:blip>
          <a:srcRect b="0" l="0" r="0" t="0"/>
          <a:stretch/>
        </p:blipFill>
        <p:spPr>
          <a:xfrm>
            <a:off x="10287000" y="5457825"/>
            <a:ext cx="1524000" cy="1019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0" name="Shape 690"/>
        <p:cNvGrpSpPr/>
        <p:nvPr/>
      </p:nvGrpSpPr>
      <p:grpSpPr>
        <a:xfrm>
          <a:off x="0" y="0"/>
          <a:ext cx="0" cy="0"/>
          <a:chOff x="0" y="0"/>
          <a:chExt cx="0" cy="0"/>
        </a:xfrm>
      </p:grpSpPr>
      <p:grpSp>
        <p:nvGrpSpPr>
          <p:cNvPr id="691" name="Google Shape;691;p32"/>
          <p:cNvGrpSpPr/>
          <p:nvPr/>
        </p:nvGrpSpPr>
        <p:grpSpPr>
          <a:xfrm>
            <a:off x="0" y="0"/>
            <a:ext cx="12192000" cy="76350"/>
            <a:chOff x="0" y="0"/>
            <a:chExt cx="12192000" cy="76350"/>
          </a:xfrm>
        </p:grpSpPr>
        <p:sp>
          <p:nvSpPr>
            <p:cNvPr id="692" name="Google Shape;692;p32"/>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3" name="Google Shape;693;p32"/>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94" name="Google Shape;694;p32"/>
          <p:cNvSpPr txBox="1"/>
          <p:nvPr/>
        </p:nvSpPr>
        <p:spPr>
          <a:xfrm>
            <a:off x="762000" y="571500"/>
            <a:ext cx="9525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Topic 5: Introduction to PWM &amp; Duty Cycle</a:t>
            </a:r>
            <a:endParaRPr b="0" sz="2700">
              <a:solidFill>
                <a:srgbClr val="045A36"/>
              </a:solidFill>
              <a:latin typeface="Montserrat SemiBold"/>
              <a:ea typeface="Montserrat SemiBold"/>
              <a:cs typeface="Montserrat SemiBold"/>
              <a:sym typeface="Montserrat SemiBold"/>
            </a:endParaRPr>
          </a:p>
        </p:txBody>
      </p:sp>
      <p:sp>
        <p:nvSpPr>
          <p:cNvPr id="695" name="Google Shape;695;p32"/>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96" name="Google Shape;696;p32"/>
          <p:cNvGrpSpPr/>
          <p:nvPr/>
        </p:nvGrpSpPr>
        <p:grpSpPr>
          <a:xfrm>
            <a:off x="762000" y="1381125"/>
            <a:ext cx="4953000" cy="4333875"/>
            <a:chOff x="0" y="0"/>
            <a:chExt cx="4953000" cy="4333875"/>
          </a:xfrm>
        </p:grpSpPr>
        <p:sp>
          <p:nvSpPr>
            <p:cNvPr id="697" name="Google Shape;697;p32"/>
            <p:cNvSpPr txBox="1"/>
            <p:nvPr/>
          </p:nvSpPr>
          <p:spPr>
            <a:xfrm>
              <a:off x="0" y="0"/>
              <a:ext cx="4953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D4A017"/>
                  </a:solidFill>
                  <a:latin typeface="Inter"/>
                  <a:ea typeface="Inter"/>
                  <a:cs typeface="Inter"/>
                  <a:sym typeface="Inter"/>
                </a:rPr>
                <a:t>Core Definition</a:t>
              </a:r>
              <a:endParaRPr b="1" sz="1100">
                <a:solidFill>
                  <a:srgbClr val="D4A017"/>
                </a:solidFill>
                <a:latin typeface="Inter"/>
                <a:ea typeface="Inter"/>
                <a:cs typeface="Inter"/>
                <a:sym typeface="Inter"/>
              </a:endParaRPr>
            </a:p>
            <a:p>
              <a:pPr indent="0" lvl="0" marL="0" rtl="0" algn="l">
                <a:spcBef>
                  <a:spcPts val="600"/>
                </a:spcBef>
                <a:spcAft>
                  <a:spcPts val="0"/>
                </a:spcAft>
                <a:buNone/>
              </a:pPr>
              <a:r>
                <a:rPr b="0" lang="en" sz="1400">
                  <a:solidFill>
                    <a:srgbClr val="1F2937"/>
                  </a:solidFill>
                  <a:latin typeface="Montserrat SemiBold"/>
                  <a:ea typeface="Montserrat SemiBold"/>
                  <a:cs typeface="Montserrat SemiBold"/>
                  <a:sym typeface="Montserrat SemiBold"/>
                </a:rPr>
                <a:t>Pulse Width Modulation (PWM) is a highly efficient technique used to simulate a variable analog voltage using a purely digital, binary power source.</a:t>
              </a:r>
              <a:endParaRPr b="0" sz="1400">
                <a:solidFill>
                  <a:srgbClr val="1F2937"/>
                </a:solidFill>
                <a:latin typeface="Montserrat SemiBold"/>
                <a:ea typeface="Montserrat SemiBold"/>
                <a:cs typeface="Montserrat SemiBold"/>
                <a:sym typeface="Montserrat SemiBold"/>
              </a:endParaRPr>
            </a:p>
          </p:txBody>
        </p:sp>
        <p:sp>
          <p:nvSpPr>
            <p:cNvPr id="698" name="Google Shape;698;p32"/>
            <p:cNvSpPr/>
            <p:nvPr/>
          </p:nvSpPr>
          <p:spPr>
            <a:xfrm>
              <a:off x="0" y="1143000"/>
              <a:ext cx="49530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9" name="Google Shape;699;p32"/>
            <p:cNvSpPr txBox="1"/>
            <p:nvPr/>
          </p:nvSpPr>
          <p:spPr>
            <a:xfrm>
              <a:off x="0" y="1285875"/>
              <a:ext cx="4953000" cy="3048000"/>
            </a:xfrm>
            <a:prstGeom prst="rect">
              <a:avLst/>
            </a:prstGeom>
            <a:noFill/>
            <a:ln>
              <a:noFill/>
            </a:ln>
          </p:spPr>
          <p:txBody>
            <a:bodyPr anchorCtr="0" anchor="t" bIns="0" lIns="142875" spcFirstLastPara="1" rIns="0" wrap="square" tIns="0">
              <a:noAutofit/>
            </a:bodyPr>
            <a:lstStyle/>
            <a:p>
              <a:pPr indent="-301625" lvl="0" marL="457200" rtl="0" algn="l">
                <a:spcBef>
                  <a:spcPts val="0"/>
                </a:spcBef>
                <a:spcAft>
                  <a:spcPts val="0"/>
                </a:spcAft>
                <a:buClr>
                  <a:srgbClr val="374151"/>
                </a:buClr>
                <a:buSzPts val="1150"/>
                <a:buFont typeface="Inter"/>
                <a:buChar char="●"/>
              </a:pPr>
              <a:r>
                <a:rPr b="1" lang="en" sz="1150">
                  <a:solidFill>
                    <a:srgbClr val="045A36"/>
                  </a:solidFill>
                  <a:latin typeface="Montserrat"/>
                  <a:ea typeface="Montserrat"/>
                  <a:cs typeface="Montserrat"/>
                  <a:sym typeface="Montserrat"/>
                </a:rPr>
                <a:t>The Digital Voltage Limitation:</a:t>
              </a:r>
              <a:r>
                <a:rPr lang="en" sz="1150">
                  <a:solidFill>
                    <a:srgbClr val="374151"/>
                  </a:solidFill>
                  <a:latin typeface="Inter"/>
                  <a:ea typeface="Inter"/>
                  <a:cs typeface="Inter"/>
                  <a:sym typeface="Inter"/>
                </a:rPr>
                <a:t> Microcontrollers like the Arduino are digital systems; output pins can only be set to strictly HIGH (5V) or strictly LOW (0V). They cannot naturally output true intermediate voltages.</a:t>
              </a:r>
              <a:endParaRPr sz="1150">
                <a:solidFill>
                  <a:srgbClr val="374151"/>
                </a:solidFill>
                <a:latin typeface="Inter"/>
                <a:ea typeface="Inter"/>
                <a:cs typeface="Inter"/>
                <a:sym typeface="Inter"/>
              </a:endParaRPr>
            </a:p>
            <a:p>
              <a:pPr indent="-301625" lvl="0" marL="457200" rtl="0" algn="l">
                <a:spcBef>
                  <a:spcPts val="1350"/>
                </a:spcBef>
                <a:spcAft>
                  <a:spcPts val="0"/>
                </a:spcAft>
                <a:buClr>
                  <a:srgbClr val="374151"/>
                </a:buClr>
                <a:buSzPts val="1150"/>
                <a:buFont typeface="Inter"/>
                <a:buChar char="●"/>
              </a:pPr>
              <a:r>
                <a:rPr b="1" lang="en" sz="1150">
                  <a:solidFill>
                    <a:srgbClr val="045A36"/>
                  </a:solidFill>
                  <a:latin typeface="Montserrat"/>
                  <a:ea typeface="Montserrat"/>
                  <a:cs typeface="Montserrat"/>
                  <a:sym typeface="Montserrat"/>
                </a:rPr>
                <a:t>How PWM Works:</a:t>
              </a:r>
              <a:r>
                <a:rPr lang="en" sz="1150">
                  <a:solidFill>
                    <a:srgbClr val="374151"/>
                  </a:solidFill>
                  <a:latin typeface="Inter"/>
                  <a:ea typeface="Inter"/>
                  <a:cs typeface="Inter"/>
                  <a:sym typeface="Inter"/>
                </a:rPr>
                <a:t> PWM simulates intermediate voltages by switching a digital pin HIGH and LOW at an extremely fast frequency. The physical load averages this rapid switching into a steady, simulated voltage level.</a:t>
              </a:r>
              <a:endParaRPr sz="1150">
                <a:solidFill>
                  <a:srgbClr val="374151"/>
                </a:solidFill>
                <a:latin typeface="Inter"/>
                <a:ea typeface="Inter"/>
                <a:cs typeface="Inter"/>
                <a:sym typeface="Inter"/>
              </a:endParaRPr>
            </a:p>
            <a:p>
              <a:pPr indent="-301625" lvl="0" marL="457200" rtl="0" algn="l">
                <a:spcBef>
                  <a:spcPts val="1350"/>
                </a:spcBef>
                <a:spcAft>
                  <a:spcPts val="0"/>
                </a:spcAft>
                <a:buClr>
                  <a:srgbClr val="374151"/>
                </a:buClr>
                <a:buSzPts val="1150"/>
                <a:buFont typeface="Inter"/>
                <a:buChar char="●"/>
              </a:pPr>
              <a:r>
                <a:rPr b="1" lang="en" sz="1150">
                  <a:solidFill>
                    <a:srgbClr val="045A36"/>
                  </a:solidFill>
                  <a:latin typeface="Montserrat"/>
                  <a:ea typeface="Montserrat"/>
                  <a:cs typeface="Montserrat"/>
                  <a:sym typeface="Montserrat"/>
                </a:rPr>
                <a:t>Efficiency Advantage:</a:t>
              </a:r>
              <a:r>
                <a:rPr lang="en" sz="1150">
                  <a:solidFill>
                    <a:srgbClr val="374151"/>
                  </a:solidFill>
                  <a:latin typeface="Inter"/>
                  <a:ea typeface="Inter"/>
                  <a:cs typeface="Inter"/>
                  <a:sym typeface="Inter"/>
                </a:rPr>
                <a:t> Traditional regulators act like variable resistors, wasting excess energy as heat. PWM controllers are extremely efficient because the switching transistor is either fully ON (near-zero resistance) or fully OFF (zero current).</a:t>
              </a:r>
              <a:endParaRPr sz="1150">
                <a:solidFill>
                  <a:srgbClr val="374151"/>
                </a:solidFill>
                <a:latin typeface="Inter"/>
                <a:ea typeface="Inter"/>
                <a:cs typeface="Inter"/>
                <a:sym typeface="Inter"/>
              </a:endParaRPr>
            </a:p>
          </p:txBody>
        </p:sp>
      </p:grpSp>
      <p:sp>
        <p:nvSpPr>
          <p:cNvPr id="700" name="Google Shape;700;p32"/>
          <p:cNvSpPr/>
          <p:nvPr/>
        </p:nvSpPr>
        <p:spPr>
          <a:xfrm>
            <a:off x="6086475" y="1524000"/>
            <a:ext cx="19200" cy="39054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01" name="Google Shape;701;p32"/>
          <p:cNvGrpSpPr/>
          <p:nvPr/>
        </p:nvGrpSpPr>
        <p:grpSpPr>
          <a:xfrm>
            <a:off x="6477000" y="1381125"/>
            <a:ext cx="4953000" cy="4000500"/>
            <a:chOff x="0" y="0"/>
            <a:chExt cx="4953000" cy="4000500"/>
          </a:xfrm>
        </p:grpSpPr>
        <p:sp>
          <p:nvSpPr>
            <p:cNvPr id="702" name="Google Shape;702;p32"/>
            <p:cNvSpPr/>
            <p:nvPr/>
          </p:nvSpPr>
          <p:spPr>
            <a:xfrm>
              <a:off x="0" y="0"/>
              <a:ext cx="4953000" cy="4000500"/>
            </a:xfrm>
            <a:prstGeom prst="roundRect">
              <a:avLst>
                <a:gd fmla="val 142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3" name="Google Shape;703;p32"/>
            <p:cNvSpPr txBox="1"/>
            <p:nvPr/>
          </p:nvSpPr>
          <p:spPr>
            <a:xfrm>
              <a:off x="238125" y="190500"/>
              <a:ext cx="4476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D4A017"/>
                  </a:solidFill>
                  <a:latin typeface="Inter"/>
                  <a:ea typeface="Inter"/>
                  <a:cs typeface="Inter"/>
                  <a:sym typeface="Inter"/>
                </a:rPr>
                <a:t>Signal Comparison: Analog vs. Digital Square Wave</a:t>
              </a:r>
              <a:endParaRPr b="1" sz="1050">
                <a:solidFill>
                  <a:srgbClr val="D4A017"/>
                </a:solidFill>
                <a:latin typeface="Inter"/>
                <a:ea typeface="Inter"/>
                <a:cs typeface="Inter"/>
                <a:sym typeface="Inter"/>
              </a:endParaRPr>
            </a:p>
          </p:txBody>
        </p:sp>
        <p:pic>
          <p:nvPicPr>
            <p:cNvPr id="704" name="Google Shape;704;p32"/>
            <p:cNvPicPr preferRelativeResize="0"/>
            <p:nvPr/>
          </p:nvPicPr>
          <p:blipFill rotWithShape="1">
            <a:blip r:embed="rId4">
              <a:alphaModFix/>
            </a:blip>
            <a:srcRect b="0" l="0" r="0" t="0"/>
            <a:stretch/>
          </p:blipFill>
          <p:spPr>
            <a:xfrm>
              <a:off x="809625" y="523875"/>
              <a:ext cx="3333900" cy="3333900"/>
            </a:xfrm>
            <a:prstGeom prst="rect">
              <a:avLst/>
            </a:prstGeom>
            <a:noFill/>
            <a:ln>
              <a:noFill/>
            </a:ln>
          </p:spPr>
        </p:pic>
      </p:grpSp>
      <p:grpSp>
        <p:nvGrpSpPr>
          <p:cNvPr id="705" name="Google Shape;705;p32"/>
          <p:cNvGrpSpPr/>
          <p:nvPr/>
        </p:nvGrpSpPr>
        <p:grpSpPr>
          <a:xfrm>
            <a:off x="762000" y="5457825"/>
            <a:ext cx="11049000" cy="1019100"/>
            <a:chOff x="762000" y="5457825"/>
            <a:chExt cx="11049000" cy="1019100"/>
          </a:xfrm>
        </p:grpSpPr>
        <p:sp>
          <p:nvSpPr>
            <p:cNvPr id="706" name="Google Shape;706;p32"/>
            <p:cNvSpPr txBox="1"/>
            <p:nvPr/>
          </p:nvSpPr>
          <p:spPr>
            <a:xfrm>
              <a:off x="762000" y="613410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Introduction of Electronics | Robotics and Automation Systems</a:t>
              </a:r>
              <a:endParaRPr b="0" sz="975">
                <a:solidFill>
                  <a:srgbClr val="6B7280"/>
                </a:solidFill>
                <a:latin typeface="Inter"/>
                <a:ea typeface="Inter"/>
                <a:cs typeface="Inter"/>
                <a:sym typeface="Inter"/>
              </a:endParaRPr>
            </a:p>
          </p:txBody>
        </p:sp>
        <p:pic>
          <p:nvPicPr>
            <p:cNvPr id="707" name="Google Shape;707;p32"/>
            <p:cNvPicPr preferRelativeResize="0"/>
            <p:nvPr/>
          </p:nvPicPr>
          <p:blipFill rotWithShape="1">
            <a:blip r:embed="rId5">
              <a:alphaModFix/>
            </a:blip>
            <a:srcRect b="0" l="0" r="0" t="0"/>
            <a:stretch/>
          </p:blipFill>
          <p:spPr>
            <a:xfrm>
              <a:off x="10287000" y="5457825"/>
              <a:ext cx="1524000" cy="1019100"/>
            </a:xfrm>
            <a:prstGeom prst="rect">
              <a:avLst/>
            </a:prstGeom>
            <a:noFill/>
            <a:ln>
              <a:noFill/>
            </a:ln>
          </p:spPr>
        </p:pic>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33"/>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13" name="Google Shape;713;p33"/>
          <p:cNvGrpSpPr/>
          <p:nvPr/>
        </p:nvGrpSpPr>
        <p:grpSpPr>
          <a:xfrm>
            <a:off x="0" y="0"/>
            <a:ext cx="12192000" cy="76350"/>
            <a:chOff x="0" y="0"/>
            <a:chExt cx="12192000" cy="76350"/>
          </a:xfrm>
        </p:grpSpPr>
        <p:sp>
          <p:nvSpPr>
            <p:cNvPr id="714" name="Google Shape;714;p33"/>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5" name="Google Shape;715;p33"/>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16" name="Google Shape;716;p33"/>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7" name="Google Shape;717;p33"/>
          <p:cNvSpPr txBox="1"/>
          <p:nvPr/>
        </p:nvSpPr>
        <p:spPr>
          <a:xfrm>
            <a:off x="762000" y="613410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Module 7: Electronics for Arduino Programming | Robotics and Automation Systems</a:t>
            </a:r>
            <a:endParaRPr b="0" sz="975">
              <a:solidFill>
                <a:srgbClr val="6B7280"/>
              </a:solidFill>
              <a:latin typeface="Inter"/>
              <a:ea typeface="Inter"/>
              <a:cs typeface="Inter"/>
              <a:sym typeface="Inter"/>
            </a:endParaRPr>
          </a:p>
        </p:txBody>
      </p:sp>
      <p:pic>
        <p:nvPicPr>
          <p:cNvPr id="718" name="Google Shape;718;p33"/>
          <p:cNvPicPr preferRelativeResize="0"/>
          <p:nvPr/>
        </p:nvPicPr>
        <p:blipFill rotWithShape="1">
          <a:blip r:embed="rId3">
            <a:alphaModFix/>
          </a:blip>
          <a:srcRect b="0" l="0" r="0" t="0"/>
          <a:stretch/>
        </p:blipFill>
        <p:spPr>
          <a:xfrm>
            <a:off x="10287000" y="5457825"/>
            <a:ext cx="1524000" cy="1019100"/>
          </a:xfrm>
          <a:prstGeom prst="rect">
            <a:avLst/>
          </a:prstGeom>
          <a:noFill/>
          <a:ln>
            <a:noFill/>
          </a:ln>
        </p:spPr>
      </p:pic>
      <p:sp>
        <p:nvSpPr>
          <p:cNvPr id="719" name="Google Shape;719;p33"/>
          <p:cNvSpPr txBox="1"/>
          <p:nvPr/>
        </p:nvSpPr>
        <p:spPr>
          <a:xfrm>
            <a:off x="762000" y="428625"/>
            <a:ext cx="106680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045A36"/>
                </a:solidFill>
                <a:latin typeface="Montserrat SemiBold"/>
                <a:ea typeface="Montserrat SemiBold"/>
                <a:cs typeface="Montserrat SemiBold"/>
                <a:sym typeface="Montserrat SemiBold"/>
              </a:rPr>
              <a:t>Duty Cycle Visualized: 0% to 100% Control &amp; Voltage Calculations</a:t>
            </a:r>
            <a:endParaRPr b="0" sz="2400">
              <a:solidFill>
                <a:srgbClr val="045A36"/>
              </a:solidFill>
              <a:latin typeface="Montserrat SemiBold"/>
              <a:ea typeface="Montserrat SemiBold"/>
              <a:cs typeface="Montserrat SemiBold"/>
              <a:sym typeface="Montserrat SemiBold"/>
            </a:endParaRPr>
          </a:p>
        </p:txBody>
      </p:sp>
      <p:grpSp>
        <p:nvGrpSpPr>
          <p:cNvPr id="720" name="Google Shape;720;p33"/>
          <p:cNvGrpSpPr/>
          <p:nvPr/>
        </p:nvGrpSpPr>
        <p:grpSpPr>
          <a:xfrm>
            <a:off x="762000" y="1333500"/>
            <a:ext cx="3905400" cy="3905400"/>
            <a:chOff x="762000" y="1333500"/>
            <a:chExt cx="3905400" cy="3905400"/>
          </a:xfrm>
        </p:grpSpPr>
        <p:sp>
          <p:nvSpPr>
            <p:cNvPr id="721" name="Google Shape;721;p33"/>
            <p:cNvSpPr/>
            <p:nvPr/>
          </p:nvSpPr>
          <p:spPr>
            <a:xfrm>
              <a:off x="762000" y="1333500"/>
              <a:ext cx="3905400" cy="3905400"/>
            </a:xfrm>
            <a:prstGeom prst="roundRect">
              <a:avLst>
                <a:gd fmla="val 19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22" name="Google Shape;722;p33"/>
            <p:cNvPicPr preferRelativeResize="0"/>
            <p:nvPr/>
          </p:nvPicPr>
          <p:blipFill rotWithShape="1">
            <a:blip r:embed="rId4">
              <a:alphaModFix/>
            </a:blip>
            <a:srcRect b="0" l="0" r="0" t="0"/>
            <a:stretch/>
          </p:blipFill>
          <p:spPr>
            <a:xfrm>
              <a:off x="857250" y="1428750"/>
              <a:ext cx="3714900" cy="3714900"/>
            </a:xfrm>
            <a:prstGeom prst="rect">
              <a:avLst/>
            </a:prstGeom>
            <a:noFill/>
            <a:ln>
              <a:noFill/>
            </a:ln>
          </p:spPr>
        </p:pic>
      </p:grpSp>
      <p:grpSp>
        <p:nvGrpSpPr>
          <p:cNvPr id="723" name="Google Shape;723;p33"/>
          <p:cNvGrpSpPr/>
          <p:nvPr/>
        </p:nvGrpSpPr>
        <p:grpSpPr>
          <a:xfrm>
            <a:off x="4953000" y="1333500"/>
            <a:ext cx="6477000" cy="3905400"/>
            <a:chOff x="4953000" y="1333500"/>
            <a:chExt cx="6477000" cy="3905400"/>
          </a:xfrm>
        </p:grpSpPr>
        <p:sp>
          <p:nvSpPr>
            <p:cNvPr id="724" name="Google Shape;724;p33"/>
            <p:cNvSpPr txBox="1"/>
            <p:nvPr/>
          </p:nvSpPr>
          <p:spPr>
            <a:xfrm>
              <a:off x="4953000" y="1333500"/>
              <a:ext cx="6477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045A36"/>
                  </a:solidFill>
                  <a:latin typeface="Inter"/>
                  <a:ea typeface="Inter"/>
                  <a:cs typeface="Inter"/>
                  <a:sym typeface="Inter"/>
                </a:rPr>
                <a:t>Understanding Duty Cycle</a:t>
              </a:r>
              <a:endParaRPr b="1" sz="1300">
                <a:solidFill>
                  <a:srgbClr val="045A36"/>
                </a:solidFill>
                <a:latin typeface="Inter"/>
                <a:ea typeface="Inter"/>
                <a:cs typeface="Inter"/>
                <a:sym typeface="Inter"/>
              </a:endParaRPr>
            </a:p>
            <a:p>
              <a:pPr indent="0" lvl="0" marL="0" rtl="0" algn="l">
                <a:spcBef>
                  <a:spcPts val="450"/>
                </a:spcBef>
                <a:spcAft>
                  <a:spcPts val="0"/>
                </a:spcAft>
                <a:buNone/>
              </a:pPr>
              <a:r>
                <a:rPr b="0" lang="en" sz="1150">
                  <a:solidFill>
                    <a:srgbClr val="374151"/>
                  </a:solidFill>
                  <a:latin typeface="Inter"/>
                  <a:ea typeface="Inter"/>
                  <a:cs typeface="Inter"/>
                  <a:sym typeface="Inter"/>
                </a:rPr>
                <a:t>The </a:t>
              </a:r>
              <a:r>
                <a:rPr b="1" lang="en" sz="1150">
                  <a:solidFill>
                    <a:srgbClr val="D4A017"/>
                  </a:solidFill>
                  <a:latin typeface="Inter"/>
                  <a:ea typeface="Inter"/>
                  <a:cs typeface="Inter"/>
                  <a:sym typeface="Inter"/>
                </a:rPr>
                <a:t>Duty Cycle</a:t>
              </a:r>
              <a:r>
                <a:rPr b="0" lang="en" sz="1150">
                  <a:solidFill>
                    <a:srgbClr val="374151"/>
                  </a:solidFill>
                  <a:latin typeface="Inter"/>
                  <a:ea typeface="Inter"/>
                  <a:cs typeface="Inter"/>
                  <a:sym typeface="Inter"/>
                </a:rPr>
                <a:t> is the percentage of time that a digital signal is HIGH (active) during a single full cycle. By adjusting this duty cycle, we directly scale the average output voltage.</a:t>
              </a:r>
              <a:endParaRPr b="0" sz="1150">
                <a:solidFill>
                  <a:srgbClr val="374151"/>
                </a:solidFill>
                <a:latin typeface="Inter"/>
                <a:ea typeface="Inter"/>
                <a:cs typeface="Inter"/>
                <a:sym typeface="Inter"/>
              </a:endParaRPr>
            </a:p>
          </p:txBody>
        </p:sp>
        <p:sp>
          <p:nvSpPr>
            <p:cNvPr id="725" name="Google Shape;725;p33"/>
            <p:cNvSpPr/>
            <p:nvPr/>
          </p:nvSpPr>
          <p:spPr>
            <a:xfrm>
              <a:off x="4953000" y="2190750"/>
              <a:ext cx="6477000" cy="1476300"/>
            </a:xfrm>
            <a:prstGeom prst="roundRect">
              <a:avLst>
                <a:gd fmla="val 516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726" name="Google Shape;726;p33"/>
            <p:cNvCxnSpPr/>
            <p:nvPr/>
          </p:nvCxnSpPr>
          <p:spPr>
            <a:xfrm>
              <a:off x="5095875" y="2333625"/>
              <a:ext cx="0" cy="1190700"/>
            </a:xfrm>
            <a:prstGeom prst="straightConnector1">
              <a:avLst/>
            </a:prstGeom>
            <a:solidFill>
              <a:srgbClr val="FFFFFF"/>
            </a:solidFill>
            <a:ln cap="rnd" cmpd="sng" w="38100">
              <a:solidFill>
                <a:srgbClr val="D4A017"/>
              </a:solidFill>
              <a:prstDash val="solid"/>
              <a:round/>
              <a:headEnd len="sm" w="sm" type="none"/>
              <a:tailEnd len="sm" w="sm" type="none"/>
            </a:ln>
          </p:spPr>
        </p:cxnSp>
        <p:sp>
          <p:nvSpPr>
            <p:cNvPr id="727" name="Google Shape;727;p33"/>
            <p:cNvSpPr txBox="1"/>
            <p:nvPr/>
          </p:nvSpPr>
          <p:spPr>
            <a:xfrm>
              <a:off x="5286375" y="2286000"/>
              <a:ext cx="59532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045A36"/>
                  </a:solidFill>
                  <a:latin typeface="Montserrat"/>
                  <a:ea typeface="Montserrat"/>
                  <a:cs typeface="Montserrat"/>
                  <a:sym typeface="Montserrat"/>
                </a:rPr>
                <a:t>Vavg = Vcc × (Duty Cycle / 100)</a:t>
              </a:r>
              <a:endParaRPr b="1" sz="1800">
                <a:solidFill>
                  <a:srgbClr val="045A36"/>
                </a:solidFill>
                <a:latin typeface="Montserrat"/>
                <a:ea typeface="Montserrat"/>
                <a:cs typeface="Montserrat"/>
                <a:sym typeface="Montserrat"/>
              </a:endParaRPr>
            </a:p>
            <a:p>
              <a:pPr indent="0" lvl="0" marL="0" rtl="0" algn="l">
                <a:spcBef>
                  <a:spcPts val="600"/>
                </a:spcBef>
                <a:spcAft>
                  <a:spcPts val="0"/>
                </a:spcAft>
                <a:buNone/>
              </a:pPr>
              <a:r>
                <a:rPr b="1" lang="en" sz="1000">
                  <a:solidFill>
                    <a:srgbClr val="6B7280"/>
                  </a:solidFill>
                  <a:latin typeface="Inter"/>
                  <a:ea typeface="Inter"/>
                  <a:cs typeface="Inter"/>
                  <a:sym typeface="Inter"/>
                </a:rPr>
                <a:t>Key Parameters &amp; Calculations:</a:t>
              </a:r>
              <a:endParaRPr b="1" sz="1000">
                <a:solidFill>
                  <a:srgbClr val="6B7280"/>
                </a:solidFill>
                <a:latin typeface="Inter"/>
                <a:ea typeface="Inter"/>
                <a:cs typeface="Inter"/>
                <a:sym typeface="Inter"/>
              </a:endParaRPr>
            </a:p>
            <a:p>
              <a:pPr indent="0" lvl="0" marL="0" rtl="0" algn="l">
                <a:spcBef>
                  <a:spcPts val="450"/>
                </a:spcBef>
                <a:spcAft>
                  <a:spcPts val="0"/>
                </a:spcAft>
                <a:buNone/>
              </a:pPr>
              <a:r>
                <a:rPr b="1" lang="en" sz="1100">
                  <a:solidFill>
                    <a:srgbClr val="045A36"/>
                  </a:solidFill>
                  <a:latin typeface="Inter"/>
                  <a:ea typeface="Inter"/>
                  <a:cs typeface="Inter"/>
                  <a:sym typeface="Inter"/>
                </a:rPr>
                <a:t>Vcc</a:t>
              </a:r>
              <a:r>
                <a:rPr b="0" lang="en" sz="1100">
                  <a:solidFill>
                    <a:srgbClr val="374151"/>
                  </a:solidFill>
                  <a:latin typeface="Inter"/>
                  <a:ea typeface="Inter"/>
                  <a:cs typeface="Inter"/>
                  <a:sym typeface="Inter"/>
                </a:rPr>
                <a:t> = Digital High Level (5.0V for standard Arduino boards)</a:t>
              </a:r>
              <a:endParaRPr b="0" sz="1100">
                <a:solidFill>
                  <a:srgbClr val="374151"/>
                </a:solidFill>
                <a:latin typeface="Inter"/>
                <a:ea typeface="Inter"/>
                <a:cs typeface="Inter"/>
                <a:sym typeface="Inter"/>
              </a:endParaRPr>
            </a:p>
            <a:p>
              <a:pPr indent="0" lvl="0" marL="0" rtl="0" algn="l">
                <a:spcBef>
                  <a:spcPts val="300"/>
                </a:spcBef>
                <a:spcAft>
                  <a:spcPts val="0"/>
                </a:spcAft>
                <a:buNone/>
              </a:pPr>
              <a:r>
                <a:rPr b="1" lang="en" sz="1100">
                  <a:solidFill>
                    <a:srgbClr val="D4A017"/>
                  </a:solidFill>
                  <a:latin typeface="Inter"/>
                  <a:ea typeface="Inter"/>
                  <a:cs typeface="Inter"/>
                  <a:sym typeface="Inter"/>
                </a:rPr>
                <a:t>Examples:</a:t>
              </a:r>
              <a:r>
                <a:rPr b="0" lang="en" sz="1100">
                  <a:solidFill>
                    <a:srgbClr val="374151"/>
                  </a:solidFill>
                  <a:latin typeface="Inter"/>
                  <a:ea typeface="Inter"/>
                  <a:cs typeface="Inter"/>
                  <a:sym typeface="Inter"/>
                </a:rPr>
                <a:t> 25% Duty Cycle = 1.25V | 50% = 2.5V | 75% = 3.75V</a:t>
              </a:r>
              <a:endParaRPr b="0" sz="1100">
                <a:solidFill>
                  <a:srgbClr val="374151"/>
                </a:solidFill>
                <a:latin typeface="Inter"/>
                <a:ea typeface="Inter"/>
                <a:cs typeface="Inter"/>
                <a:sym typeface="Inter"/>
              </a:endParaRPr>
            </a:p>
          </p:txBody>
        </p:sp>
        <p:sp>
          <p:nvSpPr>
            <p:cNvPr id="728" name="Google Shape;728;p33"/>
            <p:cNvSpPr/>
            <p:nvPr/>
          </p:nvSpPr>
          <p:spPr>
            <a:xfrm>
              <a:off x="4953000" y="3810000"/>
              <a:ext cx="6477000" cy="1428900"/>
            </a:xfrm>
            <a:prstGeom prst="roundRect">
              <a:avLst>
                <a:gd fmla="val 5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729" name="Google Shape;729;p33"/>
            <p:cNvCxnSpPr/>
            <p:nvPr/>
          </p:nvCxnSpPr>
          <p:spPr>
            <a:xfrm>
              <a:off x="5095875" y="3952875"/>
              <a:ext cx="0" cy="1143000"/>
            </a:xfrm>
            <a:prstGeom prst="straightConnector1">
              <a:avLst/>
            </a:prstGeom>
            <a:solidFill>
              <a:srgbClr val="FFFFFF"/>
            </a:solidFill>
            <a:ln cap="rnd" cmpd="sng" w="38100">
              <a:solidFill>
                <a:srgbClr val="045A36"/>
              </a:solidFill>
              <a:prstDash val="solid"/>
              <a:round/>
              <a:headEnd len="sm" w="sm" type="none"/>
              <a:tailEnd len="sm" w="sm" type="none"/>
            </a:ln>
          </p:spPr>
        </p:cxnSp>
        <p:sp>
          <p:nvSpPr>
            <p:cNvPr id="730" name="Google Shape;730;p33"/>
            <p:cNvSpPr txBox="1"/>
            <p:nvPr/>
          </p:nvSpPr>
          <p:spPr>
            <a:xfrm>
              <a:off x="5286375" y="3905250"/>
              <a:ext cx="59532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045A36"/>
                  </a:solidFill>
                  <a:latin typeface="Montserrat"/>
                  <a:ea typeface="Montserrat"/>
                  <a:cs typeface="Montserrat"/>
                  <a:sym typeface="Montserrat"/>
                </a:rPr>
                <a:t>Switching Frequency &amp; Stability</a:t>
              </a:r>
              <a:endParaRPr b="1" sz="1400">
                <a:solidFill>
                  <a:srgbClr val="045A36"/>
                </a:solidFill>
                <a:latin typeface="Montserrat"/>
                <a:ea typeface="Montserrat"/>
                <a:cs typeface="Montserrat"/>
                <a:sym typeface="Montserrat"/>
              </a:endParaRPr>
            </a:p>
            <a:p>
              <a:pPr indent="0" lvl="0" marL="0" rtl="0" algn="l">
                <a:spcBef>
                  <a:spcPts val="450"/>
                </a:spcBef>
                <a:spcAft>
                  <a:spcPts val="0"/>
                </a:spcAft>
                <a:buNone/>
              </a:pPr>
              <a:r>
                <a:rPr b="0" lang="en" sz="1100">
                  <a:solidFill>
                    <a:srgbClr val="374151"/>
                  </a:solidFill>
                  <a:latin typeface="Inter"/>
                  <a:ea typeface="Inter"/>
                  <a:cs typeface="Inter"/>
                  <a:sym typeface="Inter"/>
                </a:rPr>
                <a:t>Arduino PWM frequencies typically range from </a:t>
              </a:r>
              <a:r>
                <a:rPr b="1" lang="en" sz="1100">
                  <a:solidFill>
                    <a:srgbClr val="D4A017"/>
                  </a:solidFill>
                  <a:latin typeface="Inter"/>
                  <a:ea typeface="Inter"/>
                  <a:cs typeface="Inter"/>
                  <a:sym typeface="Inter"/>
                </a:rPr>
                <a:t>~490Hz to 980Hz</a:t>
              </a:r>
              <a:r>
                <a:rPr b="0" lang="en" sz="1100">
                  <a:solidFill>
                    <a:srgbClr val="374151"/>
                  </a:solidFill>
                  <a:latin typeface="Inter"/>
                  <a:ea typeface="Inter"/>
                  <a:cs typeface="Inter"/>
                  <a:sym typeface="Inter"/>
                </a:rPr>
                <a:t>.</a:t>
              </a:r>
              <a:endParaRPr b="0" sz="1100">
                <a:solidFill>
                  <a:srgbClr val="374151"/>
                </a:solidFill>
                <a:latin typeface="Inter"/>
                <a:ea typeface="Inter"/>
                <a:cs typeface="Inter"/>
                <a:sym typeface="Inter"/>
              </a:endParaRPr>
            </a:p>
            <a:p>
              <a:pPr indent="0" lvl="0" marL="0" rtl="0" algn="l">
                <a:spcBef>
                  <a:spcPts val="450"/>
                </a:spcBef>
                <a:spcAft>
                  <a:spcPts val="0"/>
                </a:spcAft>
                <a:buNone/>
              </a:pPr>
              <a:r>
                <a:rPr b="0" lang="en" sz="1050">
                  <a:solidFill>
                    <a:srgbClr val="6B7280"/>
                  </a:solidFill>
                  <a:latin typeface="Inter"/>
                  <a:ea typeface="Inter"/>
                  <a:cs typeface="Inter"/>
                  <a:sym typeface="Inter"/>
                </a:rPr>
                <a:t>This means the signal repeats 490 to 980 times per second, ensuring smooth, flicker-free operation for motors, LEDs, and automation systems.</a:t>
              </a:r>
              <a:endParaRPr b="0" sz="1050">
                <a:solidFill>
                  <a:srgbClr val="6B7280"/>
                </a:solidFill>
                <a:latin typeface="Inter"/>
                <a:ea typeface="Inter"/>
                <a:cs typeface="Inter"/>
                <a:sym typeface="Inte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4" name="Shape 734"/>
        <p:cNvGrpSpPr/>
        <p:nvPr/>
      </p:nvGrpSpPr>
      <p:grpSpPr>
        <a:xfrm>
          <a:off x="0" y="0"/>
          <a:ext cx="0" cy="0"/>
          <a:chOff x="0" y="0"/>
          <a:chExt cx="0" cy="0"/>
        </a:xfrm>
      </p:grpSpPr>
      <p:grpSp>
        <p:nvGrpSpPr>
          <p:cNvPr id="735" name="Google Shape;735;p34"/>
          <p:cNvGrpSpPr/>
          <p:nvPr/>
        </p:nvGrpSpPr>
        <p:grpSpPr>
          <a:xfrm>
            <a:off x="0" y="0"/>
            <a:ext cx="12192000" cy="76350"/>
            <a:chOff x="0" y="0"/>
            <a:chExt cx="12192000" cy="76350"/>
          </a:xfrm>
        </p:grpSpPr>
        <p:sp>
          <p:nvSpPr>
            <p:cNvPr id="736" name="Google Shape;736;p34"/>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7" name="Google Shape;737;p34"/>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38" name="Google Shape;738;p34"/>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39" name="Google Shape;739;p34"/>
          <p:cNvGrpSpPr/>
          <p:nvPr/>
        </p:nvGrpSpPr>
        <p:grpSpPr>
          <a:xfrm>
            <a:off x="762000" y="6134100"/>
            <a:ext cx="5715000" cy="190500"/>
            <a:chOff x="0" y="0"/>
            <a:chExt cx="5715000" cy="190500"/>
          </a:xfrm>
        </p:grpSpPr>
        <p:sp>
          <p:nvSpPr>
            <p:cNvPr id="740" name="Google Shape;740;p34"/>
            <p:cNvSpPr/>
            <p:nvPr/>
          </p:nvSpPr>
          <p:spPr>
            <a:xfrm>
              <a:off x="0" y="0"/>
              <a:ext cx="57150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1" name="Google Shape;741;p34"/>
            <p:cNvSpPr txBox="1"/>
            <p:nvPr/>
          </p:nvSpPr>
          <p:spPr>
            <a:xfrm>
              <a:off x="0" y="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Module 7: Electronics for Arduino Programming | Robotics and Automation Systems</a:t>
              </a:r>
              <a:endParaRPr b="0" sz="975">
                <a:solidFill>
                  <a:srgbClr val="6B7280"/>
                </a:solidFill>
                <a:latin typeface="Inter"/>
                <a:ea typeface="Inter"/>
                <a:cs typeface="Inter"/>
                <a:sym typeface="Inter"/>
              </a:endParaRPr>
            </a:p>
          </p:txBody>
        </p:sp>
      </p:grpSp>
      <p:pic>
        <p:nvPicPr>
          <p:cNvPr id="742" name="Google Shape;742;p34"/>
          <p:cNvPicPr preferRelativeResize="0"/>
          <p:nvPr/>
        </p:nvPicPr>
        <p:blipFill rotWithShape="1">
          <a:blip r:embed="rId4">
            <a:alphaModFix/>
          </a:blip>
          <a:srcRect b="0" l="0" r="0" t="0"/>
          <a:stretch/>
        </p:blipFill>
        <p:spPr>
          <a:xfrm>
            <a:off x="10287000" y="5457825"/>
            <a:ext cx="1524000" cy="1019100"/>
          </a:xfrm>
          <a:prstGeom prst="rect">
            <a:avLst/>
          </a:prstGeom>
          <a:noFill/>
          <a:ln>
            <a:noFill/>
          </a:ln>
        </p:spPr>
      </p:pic>
      <p:grpSp>
        <p:nvGrpSpPr>
          <p:cNvPr id="743" name="Google Shape;743;p34"/>
          <p:cNvGrpSpPr/>
          <p:nvPr/>
        </p:nvGrpSpPr>
        <p:grpSpPr>
          <a:xfrm>
            <a:off x="762000" y="571500"/>
            <a:ext cx="9525000" cy="428700"/>
            <a:chOff x="0" y="0"/>
            <a:chExt cx="9525000" cy="428700"/>
          </a:xfrm>
        </p:grpSpPr>
        <p:sp>
          <p:nvSpPr>
            <p:cNvPr id="744" name="Google Shape;744;p34"/>
            <p:cNvSpPr/>
            <p:nvPr/>
          </p:nvSpPr>
          <p:spPr>
            <a:xfrm>
              <a:off x="0" y="0"/>
              <a:ext cx="9525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5" name="Google Shape;745;p34"/>
            <p:cNvSpPr txBox="1"/>
            <p:nvPr/>
          </p:nvSpPr>
          <p:spPr>
            <a:xfrm>
              <a:off x="0" y="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Implementing PWM in Arduino</a:t>
              </a:r>
              <a:endParaRPr b="0" sz="2700">
                <a:solidFill>
                  <a:srgbClr val="045A36"/>
                </a:solidFill>
                <a:latin typeface="Montserrat SemiBold"/>
                <a:ea typeface="Montserrat SemiBold"/>
                <a:cs typeface="Montserrat SemiBold"/>
                <a:sym typeface="Montserrat SemiBold"/>
              </a:endParaRPr>
            </a:p>
          </p:txBody>
        </p:sp>
      </p:grpSp>
      <p:sp>
        <p:nvSpPr>
          <p:cNvPr id="746" name="Google Shape;746;p34"/>
          <p:cNvSpPr/>
          <p:nvPr/>
        </p:nvSpPr>
        <p:spPr>
          <a:xfrm>
            <a:off x="6143625" y="1333500"/>
            <a:ext cx="19200" cy="43815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47" name="Google Shape;747;p34"/>
          <p:cNvGrpSpPr/>
          <p:nvPr/>
        </p:nvGrpSpPr>
        <p:grpSpPr>
          <a:xfrm>
            <a:off x="762000" y="1333500"/>
            <a:ext cx="5143500" cy="619200"/>
            <a:chOff x="0" y="0"/>
            <a:chExt cx="5143500" cy="619200"/>
          </a:xfrm>
        </p:grpSpPr>
        <p:sp>
          <p:nvSpPr>
            <p:cNvPr id="748" name="Google Shape;748;p34"/>
            <p:cNvSpPr/>
            <p:nvPr/>
          </p:nvSpPr>
          <p:spPr>
            <a:xfrm>
              <a:off x="0" y="0"/>
              <a:ext cx="51435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9" name="Google Shape;749;p34"/>
            <p:cNvSpPr txBox="1"/>
            <p:nvPr/>
          </p:nvSpPr>
          <p:spPr>
            <a:xfrm>
              <a:off x="0" y="0"/>
              <a:ext cx="51435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4B5563"/>
                  </a:solidFill>
                  <a:latin typeface="Inter"/>
                  <a:ea typeface="Inter"/>
                  <a:cs typeface="Inter"/>
                  <a:sym typeface="Inter"/>
                </a:rPr>
                <a:t>The Arduino IDE dramatically simplifies PWM generation, utilizing built-in microcontroller timers to automate the high-speed switching process.</a:t>
              </a:r>
              <a:endParaRPr b="0" sz="1150">
                <a:solidFill>
                  <a:srgbClr val="4B5563"/>
                </a:solidFill>
                <a:latin typeface="Inter"/>
                <a:ea typeface="Inter"/>
                <a:cs typeface="Inter"/>
                <a:sym typeface="Inter"/>
              </a:endParaRPr>
            </a:p>
          </p:txBody>
        </p:sp>
      </p:grpSp>
      <p:grpSp>
        <p:nvGrpSpPr>
          <p:cNvPr id="750" name="Google Shape;750;p34"/>
          <p:cNvGrpSpPr/>
          <p:nvPr/>
        </p:nvGrpSpPr>
        <p:grpSpPr>
          <a:xfrm>
            <a:off x="762000" y="2047875"/>
            <a:ext cx="5143500" cy="1333500"/>
            <a:chOff x="762000" y="2047875"/>
            <a:chExt cx="5143500" cy="1333500"/>
          </a:xfrm>
        </p:grpSpPr>
        <p:sp>
          <p:nvSpPr>
            <p:cNvPr id="751" name="Google Shape;751;p34"/>
            <p:cNvSpPr/>
            <p:nvPr/>
          </p:nvSpPr>
          <p:spPr>
            <a:xfrm>
              <a:off x="762000" y="2047875"/>
              <a:ext cx="5143500" cy="1333500"/>
            </a:xfrm>
            <a:prstGeom prst="roundRect">
              <a:avLst>
                <a:gd fmla="val 4285"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2" name="Google Shape;752;p34"/>
            <p:cNvSpPr/>
            <p:nvPr/>
          </p:nvSpPr>
          <p:spPr>
            <a:xfrm>
              <a:off x="762000" y="2047875"/>
              <a:ext cx="57300" cy="1333500"/>
            </a:xfrm>
            <a:custGeom>
              <a:rect b="b" l="l" r="r" t="t"/>
              <a:pathLst>
                <a:path extrusionOk="0" h="120000" w="120000">
                  <a:moveTo>
                    <a:pt x="0" y="0"/>
                  </a:moveTo>
                  <a:lnTo>
                    <a:pt x="120000" y="0"/>
                  </a:lnTo>
                  <a:lnTo>
                    <a:pt x="120000" y="120000"/>
                  </a:lnTo>
                  <a:lnTo>
                    <a:pt x="0" y="120000"/>
                  </a:lnTo>
                  <a:close/>
                </a:path>
              </a:pathLst>
            </a:cu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3" name="Google Shape;753;p34"/>
            <p:cNvSpPr txBox="1"/>
            <p:nvPr/>
          </p:nvSpPr>
          <p:spPr>
            <a:xfrm>
              <a:off x="1000125" y="2190750"/>
              <a:ext cx="47148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045A36"/>
                  </a:solidFill>
                  <a:latin typeface="Montserrat"/>
                  <a:ea typeface="Montserrat"/>
                  <a:cs typeface="Montserrat"/>
                  <a:sym typeface="Montserrat"/>
                </a:rPr>
                <a:t>Identifying PWM Pins</a:t>
              </a:r>
              <a:endParaRPr b="1" sz="1350">
                <a:solidFill>
                  <a:srgbClr val="045A36"/>
                </a:solidFill>
                <a:latin typeface="Montserrat"/>
                <a:ea typeface="Montserrat"/>
                <a:cs typeface="Montserrat"/>
                <a:sym typeface="Montserrat"/>
              </a:endParaRPr>
            </a:p>
            <a:p>
              <a:pPr indent="0" lvl="0" marL="0" rtl="0" algn="l">
                <a:spcBef>
                  <a:spcPts val="450"/>
                </a:spcBef>
                <a:spcAft>
                  <a:spcPts val="0"/>
                </a:spcAft>
                <a:buNone/>
              </a:pPr>
              <a:r>
                <a:rPr b="0" lang="en" sz="1150">
                  <a:solidFill>
                    <a:srgbClr val="374151"/>
                  </a:solidFill>
                  <a:latin typeface="Inter"/>
                  <a:ea typeface="Inter"/>
                  <a:cs typeface="Inter"/>
                  <a:sym typeface="Inter"/>
                </a:rPr>
                <a:t>Not all digital pins on the Arduino Uno support PWM. Only pins explicitly marked with a tilde symbol (</a:t>
              </a:r>
              <a:r>
                <a:rPr b="1" lang="en" sz="1150">
                  <a:solidFill>
                    <a:srgbClr val="374151"/>
                  </a:solidFill>
                  <a:latin typeface="Inter"/>
                  <a:ea typeface="Inter"/>
                  <a:cs typeface="Inter"/>
                  <a:sym typeface="Inter"/>
                </a:rPr>
                <a:t>~</a:t>
              </a:r>
              <a:r>
                <a:rPr b="0" lang="en" sz="1150">
                  <a:solidFill>
                    <a:srgbClr val="374151"/>
                  </a:solidFill>
                  <a:latin typeface="Inter"/>
                  <a:ea typeface="Inter"/>
                  <a:cs typeface="Inter"/>
                  <a:sym typeface="Inter"/>
                </a:rPr>
                <a:t>) have hardware PWM timers: </a:t>
              </a:r>
              <a:r>
                <a:rPr b="1" lang="en" sz="1150">
                  <a:solidFill>
                    <a:srgbClr val="045A36"/>
                  </a:solidFill>
                  <a:latin typeface="Inter"/>
                  <a:ea typeface="Inter"/>
                  <a:cs typeface="Inter"/>
                  <a:sym typeface="Inter"/>
                </a:rPr>
                <a:t>Pins 3, 5, 6, 9, 10, and 11</a:t>
              </a:r>
              <a:r>
                <a:rPr b="0" lang="en" sz="1150">
                  <a:solidFill>
                    <a:srgbClr val="374151"/>
                  </a:solidFill>
                  <a:latin typeface="Inter"/>
                  <a:ea typeface="Inter"/>
                  <a:cs typeface="Inter"/>
                  <a:sym typeface="Inter"/>
                </a:rPr>
                <a:t>.</a:t>
              </a:r>
              <a:endParaRPr b="0" sz="1150">
                <a:solidFill>
                  <a:srgbClr val="374151"/>
                </a:solidFill>
                <a:latin typeface="Inter"/>
                <a:ea typeface="Inter"/>
                <a:cs typeface="Inter"/>
                <a:sym typeface="Inter"/>
              </a:endParaRPr>
            </a:p>
          </p:txBody>
        </p:sp>
      </p:grpSp>
      <p:grpSp>
        <p:nvGrpSpPr>
          <p:cNvPr id="754" name="Google Shape;754;p34"/>
          <p:cNvGrpSpPr/>
          <p:nvPr/>
        </p:nvGrpSpPr>
        <p:grpSpPr>
          <a:xfrm>
            <a:off x="762000" y="3571875"/>
            <a:ext cx="5143500" cy="2143200"/>
            <a:chOff x="762000" y="3571875"/>
            <a:chExt cx="5143500" cy="2143200"/>
          </a:xfrm>
        </p:grpSpPr>
        <p:sp>
          <p:nvSpPr>
            <p:cNvPr id="755" name="Google Shape;755;p34"/>
            <p:cNvSpPr/>
            <p:nvPr/>
          </p:nvSpPr>
          <p:spPr>
            <a:xfrm>
              <a:off x="762000" y="3571875"/>
              <a:ext cx="5143500" cy="2143200"/>
            </a:xfrm>
            <a:prstGeom prst="roundRect">
              <a:avLst>
                <a:gd fmla="val 266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6" name="Google Shape;756;p34"/>
            <p:cNvSpPr/>
            <p:nvPr/>
          </p:nvSpPr>
          <p:spPr>
            <a:xfrm>
              <a:off x="762000" y="3571875"/>
              <a:ext cx="57300" cy="2143200"/>
            </a:xfrm>
            <a:custGeom>
              <a:rect b="b" l="l" r="r" t="t"/>
              <a:pathLst>
                <a:path extrusionOk="0" h="120000" w="120000">
                  <a:moveTo>
                    <a:pt x="0" y="0"/>
                  </a:moveTo>
                  <a:lnTo>
                    <a:pt x="120000" y="0"/>
                  </a:lnTo>
                  <a:lnTo>
                    <a:pt x="120000" y="120000"/>
                  </a:lnTo>
                  <a:lnTo>
                    <a:pt x="0" y="120000"/>
                  </a:lnTo>
                  <a:close/>
                </a:path>
              </a:pathLst>
            </a:cu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7" name="Google Shape;757;p34"/>
            <p:cNvSpPr txBox="1"/>
            <p:nvPr/>
          </p:nvSpPr>
          <p:spPr>
            <a:xfrm>
              <a:off x="1000125" y="3695700"/>
              <a:ext cx="47148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50">
                  <a:solidFill>
                    <a:srgbClr val="045A36"/>
                  </a:solidFill>
                  <a:latin typeface="Montserrat"/>
                  <a:ea typeface="Montserrat"/>
                  <a:cs typeface="Montserrat"/>
                  <a:sym typeface="Montserrat"/>
                </a:rPr>
                <a:t>The analogWrite() Function</a:t>
              </a:r>
              <a:endParaRPr b="1" sz="1350">
                <a:solidFill>
                  <a:srgbClr val="045A36"/>
                </a:solidFill>
                <a:latin typeface="Montserrat"/>
                <a:ea typeface="Montserrat"/>
                <a:cs typeface="Montserrat"/>
                <a:sym typeface="Montserrat"/>
              </a:endParaRPr>
            </a:p>
            <a:p>
              <a:pPr indent="0" lvl="0" marL="0" rtl="0" algn="l">
                <a:spcBef>
                  <a:spcPts val="450"/>
                </a:spcBef>
                <a:spcAft>
                  <a:spcPts val="0"/>
                </a:spcAft>
                <a:buNone/>
              </a:pPr>
              <a:r>
                <a:rPr b="0" lang="en" sz="1100">
                  <a:solidFill>
                    <a:srgbClr val="374151"/>
                  </a:solidFill>
                  <a:latin typeface="Inter"/>
                  <a:ea typeface="Inter"/>
                  <a:cs typeface="Inter"/>
                  <a:sym typeface="Inter"/>
                </a:rPr>
                <a:t>Generates a PWM signal on the specified pin. </a:t>
              </a:r>
              <a:r>
                <a:rPr b="1" lang="en" sz="1050">
                  <a:solidFill>
                    <a:srgbClr val="374151"/>
                  </a:solidFill>
                  <a:highlight>
                    <a:srgbClr val="F1F5F9"/>
                  </a:highlight>
                  <a:latin typeface="Arial"/>
                  <a:ea typeface="Arial"/>
                  <a:cs typeface="Arial"/>
                  <a:sym typeface="Arial"/>
                </a:rPr>
                <a:t>analogWrite(pin, value);</a:t>
              </a:r>
              <a:r>
                <a:rPr b="0" lang="en" sz="1100">
                  <a:solidFill>
                    <a:srgbClr val="374151"/>
                  </a:solidFill>
                  <a:latin typeface="Inter"/>
                  <a:ea typeface="Inter"/>
                  <a:cs typeface="Inter"/>
                  <a:sym typeface="Inter"/>
                </a:rPr>
                <a:t> where </a:t>
              </a:r>
              <a:r>
                <a:rPr b="0" i="1" lang="en" sz="1100">
                  <a:solidFill>
                    <a:srgbClr val="374151"/>
                  </a:solidFill>
                  <a:latin typeface="Inter"/>
                  <a:ea typeface="Inter"/>
                  <a:cs typeface="Inter"/>
                  <a:sym typeface="Inter"/>
                </a:rPr>
                <a:t>value</a:t>
              </a:r>
              <a:r>
                <a:rPr b="0" lang="en" sz="1100">
                  <a:solidFill>
                    <a:srgbClr val="374151"/>
                  </a:solidFill>
                  <a:latin typeface="Inter"/>
                  <a:ea typeface="Inter"/>
                  <a:cs typeface="Inter"/>
                  <a:sym typeface="Inter"/>
                </a:rPr>
                <a:t> is an 8-bit scale ranging from 0 to 255.</a:t>
              </a:r>
              <a:endParaRPr b="0" sz="1100">
                <a:solidFill>
                  <a:srgbClr val="374151"/>
                </a:solidFill>
                <a:latin typeface="Inter"/>
                <a:ea typeface="Inter"/>
                <a:cs typeface="Inter"/>
                <a:sym typeface="Inter"/>
              </a:endParaRPr>
            </a:p>
            <a:p>
              <a:pPr indent="0" lvl="0" marL="0" rtl="0" algn="l">
                <a:spcBef>
                  <a:spcPts val="600"/>
                </a:spcBef>
                <a:spcAft>
                  <a:spcPts val="0"/>
                </a:spcAft>
                <a:buNone/>
              </a:pPr>
              <a:r>
                <a:rPr b="1" lang="en" sz="1100">
                  <a:solidFill>
                    <a:srgbClr val="D4A017"/>
                  </a:solidFill>
                  <a:latin typeface="Inter"/>
                  <a:ea typeface="Inter"/>
                  <a:cs typeface="Inter"/>
                  <a:sym typeface="Inter"/>
                </a:rPr>
                <a:t>value = 0</a:t>
              </a:r>
              <a:r>
                <a:rPr b="0" lang="en" sz="1100">
                  <a:solidFill>
                    <a:srgbClr val="374151"/>
                  </a:solidFill>
                  <a:latin typeface="Inter"/>
                  <a:ea typeface="Inter"/>
                  <a:cs typeface="Inter"/>
                  <a:sym typeface="Inter"/>
                </a:rPr>
                <a:t> maps to </a:t>
              </a:r>
              <a:r>
                <a:rPr b="0" lang="en" sz="1100">
                  <a:solidFill>
                    <a:srgbClr val="374151"/>
                  </a:solidFill>
                  <a:latin typeface="Inter SemiBold"/>
                  <a:ea typeface="Inter SemiBold"/>
                  <a:cs typeface="Inter SemiBold"/>
                  <a:sym typeface="Inter SemiBold"/>
                </a:rPr>
                <a:t>0% Duty Cycle</a:t>
              </a:r>
              <a:r>
                <a:rPr b="0" lang="en" sz="1100">
                  <a:solidFill>
                    <a:srgbClr val="374151"/>
                  </a:solidFill>
                  <a:latin typeface="Inter"/>
                  <a:ea typeface="Inter"/>
                  <a:cs typeface="Inter"/>
                  <a:sym typeface="Inter"/>
                </a:rPr>
                <a:t> (constant 0V)</a:t>
              </a:r>
              <a:endParaRPr b="0" sz="1100">
                <a:solidFill>
                  <a:srgbClr val="374151"/>
                </a:solidFill>
                <a:latin typeface="Inter"/>
                <a:ea typeface="Inter"/>
                <a:cs typeface="Inter"/>
                <a:sym typeface="Inter"/>
              </a:endParaRPr>
            </a:p>
            <a:p>
              <a:pPr indent="0" lvl="0" marL="0" rtl="0" algn="l">
                <a:spcBef>
                  <a:spcPts val="225"/>
                </a:spcBef>
                <a:spcAft>
                  <a:spcPts val="0"/>
                </a:spcAft>
                <a:buNone/>
              </a:pPr>
              <a:r>
                <a:rPr b="1" lang="en" sz="1100">
                  <a:solidFill>
                    <a:srgbClr val="D4A017"/>
                  </a:solidFill>
                  <a:latin typeface="Inter"/>
                  <a:ea typeface="Inter"/>
                  <a:cs typeface="Inter"/>
                  <a:sym typeface="Inter"/>
                </a:rPr>
                <a:t>value = 127/128</a:t>
              </a:r>
              <a:r>
                <a:rPr b="0" lang="en" sz="1100">
                  <a:solidFill>
                    <a:srgbClr val="374151"/>
                  </a:solidFill>
                  <a:latin typeface="Inter"/>
                  <a:ea typeface="Inter"/>
                  <a:cs typeface="Inter"/>
                  <a:sym typeface="Inter"/>
                </a:rPr>
                <a:t> maps to </a:t>
              </a:r>
              <a:r>
                <a:rPr b="0" lang="en" sz="1100">
                  <a:solidFill>
                    <a:srgbClr val="374151"/>
                  </a:solidFill>
                  <a:latin typeface="Inter SemiBold"/>
                  <a:ea typeface="Inter SemiBold"/>
                  <a:cs typeface="Inter SemiBold"/>
                  <a:sym typeface="Inter SemiBold"/>
                </a:rPr>
                <a:t>~50% Duty Cycle</a:t>
              </a:r>
              <a:r>
                <a:rPr b="0" lang="en" sz="1100">
                  <a:solidFill>
                    <a:srgbClr val="374151"/>
                  </a:solidFill>
                  <a:latin typeface="Inter"/>
                  <a:ea typeface="Inter"/>
                  <a:cs typeface="Inter"/>
                  <a:sym typeface="Inter"/>
                </a:rPr>
                <a:t> (simulating 2.5V)</a:t>
              </a:r>
              <a:endParaRPr b="0" sz="1100">
                <a:solidFill>
                  <a:srgbClr val="374151"/>
                </a:solidFill>
                <a:latin typeface="Inter"/>
                <a:ea typeface="Inter"/>
                <a:cs typeface="Inter"/>
                <a:sym typeface="Inter"/>
              </a:endParaRPr>
            </a:p>
            <a:p>
              <a:pPr indent="0" lvl="0" marL="0" rtl="0" algn="l">
                <a:spcBef>
                  <a:spcPts val="225"/>
                </a:spcBef>
                <a:spcAft>
                  <a:spcPts val="0"/>
                </a:spcAft>
                <a:buNone/>
              </a:pPr>
              <a:r>
                <a:rPr b="1" lang="en" sz="1100">
                  <a:solidFill>
                    <a:srgbClr val="D4A017"/>
                  </a:solidFill>
                  <a:latin typeface="Inter"/>
                  <a:ea typeface="Inter"/>
                  <a:cs typeface="Inter"/>
                  <a:sym typeface="Inter"/>
                </a:rPr>
                <a:t>value = 255</a:t>
              </a:r>
              <a:r>
                <a:rPr b="0" lang="en" sz="1100">
                  <a:solidFill>
                    <a:srgbClr val="374151"/>
                  </a:solidFill>
                  <a:latin typeface="Inter"/>
                  <a:ea typeface="Inter"/>
                  <a:cs typeface="Inter"/>
                  <a:sym typeface="Inter"/>
                </a:rPr>
                <a:t> maps to </a:t>
              </a:r>
              <a:r>
                <a:rPr b="0" lang="en" sz="1100">
                  <a:solidFill>
                    <a:srgbClr val="374151"/>
                  </a:solidFill>
                  <a:latin typeface="Inter SemiBold"/>
                  <a:ea typeface="Inter SemiBold"/>
                  <a:cs typeface="Inter SemiBold"/>
                  <a:sym typeface="Inter SemiBold"/>
                </a:rPr>
                <a:t>100% Duty Cycle</a:t>
              </a:r>
              <a:r>
                <a:rPr b="0" lang="en" sz="1100">
                  <a:solidFill>
                    <a:srgbClr val="374151"/>
                  </a:solidFill>
                  <a:latin typeface="Inter"/>
                  <a:ea typeface="Inter"/>
                  <a:cs typeface="Inter"/>
                  <a:sym typeface="Inter"/>
                </a:rPr>
                <a:t> (constant 5V)</a:t>
              </a:r>
              <a:endParaRPr b="0" sz="1100">
                <a:solidFill>
                  <a:srgbClr val="374151"/>
                </a:solidFill>
                <a:latin typeface="Inter"/>
                <a:ea typeface="Inter"/>
                <a:cs typeface="Inter"/>
                <a:sym typeface="Inter"/>
              </a:endParaRPr>
            </a:p>
            <a:p>
              <a:pPr indent="0" lvl="0" marL="0" rtl="0" algn="l">
                <a:spcBef>
                  <a:spcPts val="600"/>
                </a:spcBef>
                <a:spcAft>
                  <a:spcPts val="0"/>
                </a:spcAft>
                <a:buNone/>
              </a:pPr>
              <a:r>
                <a:rPr b="0" i="1" lang="en" sz="950">
                  <a:solidFill>
                    <a:srgbClr val="6B7280"/>
                  </a:solidFill>
                  <a:latin typeface="Inter"/>
                  <a:ea typeface="Inter"/>
                  <a:cs typeface="Inter"/>
                  <a:sym typeface="Inter"/>
                </a:rPr>
                <a:t>Under the Hood: Once called, independent hardware timers continue generating the signal in the background without blocking code execution.</a:t>
              </a:r>
              <a:endParaRPr b="0" i="1" sz="950">
                <a:solidFill>
                  <a:srgbClr val="6B7280"/>
                </a:solidFill>
                <a:latin typeface="Inter"/>
                <a:ea typeface="Inter"/>
                <a:cs typeface="Inter"/>
                <a:sym typeface="Inter"/>
              </a:endParaRPr>
            </a:p>
          </p:txBody>
        </p:sp>
      </p:grpSp>
      <p:grpSp>
        <p:nvGrpSpPr>
          <p:cNvPr id="758" name="Google Shape;758;p34"/>
          <p:cNvGrpSpPr/>
          <p:nvPr/>
        </p:nvGrpSpPr>
        <p:grpSpPr>
          <a:xfrm>
            <a:off x="6429375" y="1333500"/>
            <a:ext cx="5000700" cy="4381500"/>
            <a:chOff x="6429375" y="1333500"/>
            <a:chExt cx="5000700" cy="4381500"/>
          </a:xfrm>
        </p:grpSpPr>
        <p:sp>
          <p:nvSpPr>
            <p:cNvPr id="759" name="Google Shape;759;p34"/>
            <p:cNvSpPr/>
            <p:nvPr/>
          </p:nvSpPr>
          <p:spPr>
            <a:xfrm>
              <a:off x="6429375" y="1333500"/>
              <a:ext cx="5000700" cy="4381500"/>
            </a:xfrm>
            <a:prstGeom prst="roundRect">
              <a:avLst>
                <a:gd fmla="val 130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60" name="Google Shape;760;p34"/>
            <p:cNvPicPr preferRelativeResize="0"/>
            <p:nvPr/>
          </p:nvPicPr>
          <p:blipFill rotWithShape="1">
            <a:blip r:embed="rId5">
              <a:alphaModFix/>
            </a:blip>
            <a:srcRect b="0" l="0" r="0" t="0"/>
            <a:stretch/>
          </p:blipFill>
          <p:spPr>
            <a:xfrm>
              <a:off x="6962775" y="1552575"/>
              <a:ext cx="3943200" cy="3943200"/>
            </a:xfrm>
            <a:prstGeom prst="rect">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4" name="Shape 764"/>
        <p:cNvGrpSpPr/>
        <p:nvPr/>
      </p:nvGrpSpPr>
      <p:grpSpPr>
        <a:xfrm>
          <a:off x="0" y="0"/>
          <a:ext cx="0" cy="0"/>
          <a:chOff x="0" y="0"/>
          <a:chExt cx="0" cy="0"/>
        </a:xfrm>
      </p:grpSpPr>
      <p:grpSp>
        <p:nvGrpSpPr>
          <p:cNvPr id="765" name="Google Shape;765;p35"/>
          <p:cNvGrpSpPr/>
          <p:nvPr/>
        </p:nvGrpSpPr>
        <p:grpSpPr>
          <a:xfrm>
            <a:off x="0" y="0"/>
            <a:ext cx="12192000" cy="76350"/>
            <a:chOff x="0" y="0"/>
            <a:chExt cx="12192000" cy="76350"/>
          </a:xfrm>
        </p:grpSpPr>
        <p:sp>
          <p:nvSpPr>
            <p:cNvPr id="766" name="Google Shape;766;p35"/>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7" name="Google Shape;767;p35"/>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68" name="Google Shape;768;p35"/>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9" name="Google Shape;769;p35"/>
          <p:cNvSpPr txBox="1"/>
          <p:nvPr/>
        </p:nvSpPr>
        <p:spPr>
          <a:xfrm>
            <a:off x="762000" y="613410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Module 7: Electronics for Arduino Programming | Robotics and Automation Systems</a:t>
            </a:r>
            <a:endParaRPr b="0" sz="975">
              <a:solidFill>
                <a:srgbClr val="6B7280"/>
              </a:solidFill>
              <a:latin typeface="Inter"/>
              <a:ea typeface="Inter"/>
              <a:cs typeface="Inter"/>
              <a:sym typeface="Inter"/>
            </a:endParaRPr>
          </a:p>
        </p:txBody>
      </p:sp>
      <p:sp>
        <p:nvSpPr>
          <p:cNvPr id="770" name="Google Shape;770;p35"/>
          <p:cNvSpPr/>
          <p:nvPr>
            <p:ph idx="2" type="pic"/>
          </p:nvPr>
        </p:nvSpPr>
        <p:spPr>
          <a:xfrm>
            <a:off x="10287000" y="5457825"/>
            <a:ext cx="1524000" cy="1019100"/>
          </a:xfrm>
          <a:prstGeom prst="rect">
            <a:avLst/>
          </a:prstGeom>
          <a:noFill/>
          <a:ln>
            <a:noFill/>
          </a:ln>
        </p:spPr>
      </p:sp>
      <p:sp>
        <p:nvSpPr>
          <p:cNvPr id="771" name="Google Shape;771;p35"/>
          <p:cNvSpPr txBox="1"/>
          <p:nvPr/>
        </p:nvSpPr>
        <p:spPr>
          <a:xfrm>
            <a:off x="762000" y="476250"/>
            <a:ext cx="1066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045A36"/>
                </a:solidFill>
                <a:latin typeface="Montserrat SemiBold"/>
                <a:ea typeface="Montserrat SemiBold"/>
                <a:cs typeface="Montserrat SemiBold"/>
                <a:sym typeface="Montserrat SemiBold"/>
              </a:rPr>
              <a:t>Practical Applications of PWM in Motor Speed and LED Control</a:t>
            </a:r>
            <a:endParaRPr b="0" sz="2400">
              <a:solidFill>
                <a:srgbClr val="045A36"/>
              </a:solidFill>
              <a:latin typeface="Montserrat SemiBold"/>
              <a:ea typeface="Montserrat SemiBold"/>
              <a:cs typeface="Montserrat SemiBold"/>
              <a:sym typeface="Montserrat SemiBold"/>
            </a:endParaRPr>
          </a:p>
        </p:txBody>
      </p:sp>
      <p:sp>
        <p:nvSpPr>
          <p:cNvPr id="772" name="Google Shape;772;p35"/>
          <p:cNvSpPr txBox="1"/>
          <p:nvPr/>
        </p:nvSpPr>
        <p:spPr>
          <a:xfrm>
            <a:off x="762000" y="1285875"/>
            <a:ext cx="106680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374151"/>
                </a:solidFill>
                <a:latin typeface="Inter Medium"/>
                <a:ea typeface="Inter Medium"/>
                <a:cs typeface="Inter Medium"/>
                <a:sym typeface="Inter Medium"/>
              </a:rPr>
              <a:t>PWM is the universal standard for power control in mechanical and electrical systems, allowing precise control of motion, illumination, and audio.</a:t>
            </a:r>
            <a:endParaRPr b="0" sz="1350">
              <a:solidFill>
                <a:srgbClr val="374151"/>
              </a:solidFill>
              <a:latin typeface="Inter Medium"/>
              <a:ea typeface="Inter Medium"/>
              <a:cs typeface="Inter Medium"/>
              <a:sym typeface="Inter Medium"/>
            </a:endParaRPr>
          </a:p>
        </p:txBody>
      </p:sp>
      <p:grpSp>
        <p:nvGrpSpPr>
          <p:cNvPr id="773" name="Google Shape;773;p35"/>
          <p:cNvGrpSpPr/>
          <p:nvPr/>
        </p:nvGrpSpPr>
        <p:grpSpPr>
          <a:xfrm>
            <a:off x="762000" y="2190750"/>
            <a:ext cx="10668000" cy="2667000"/>
            <a:chOff x="0" y="0"/>
            <a:chExt cx="10668000" cy="2667000"/>
          </a:xfrm>
        </p:grpSpPr>
        <p:grpSp>
          <p:nvGrpSpPr>
            <p:cNvPr id="774" name="Google Shape;774;p35"/>
            <p:cNvGrpSpPr/>
            <p:nvPr/>
          </p:nvGrpSpPr>
          <p:grpSpPr>
            <a:xfrm>
              <a:off x="0" y="0"/>
              <a:ext cx="3238500" cy="2667000"/>
              <a:chOff x="0" y="0"/>
              <a:chExt cx="3238500" cy="2667000"/>
            </a:xfrm>
          </p:grpSpPr>
          <p:sp>
            <p:nvSpPr>
              <p:cNvPr id="775" name="Google Shape;775;p35"/>
              <p:cNvSpPr/>
              <p:nvPr/>
            </p:nvSpPr>
            <p:spPr>
              <a:xfrm>
                <a:off x="0" y="0"/>
                <a:ext cx="3238500" cy="2667000"/>
              </a:xfrm>
              <a:prstGeom prst="roundRect">
                <a:avLst>
                  <a:gd fmla="val 142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6" name="Google Shape;776;p35"/>
              <p:cNvSpPr/>
              <p:nvPr/>
            </p:nvSpPr>
            <p:spPr>
              <a:xfrm>
                <a:off x="0" y="0"/>
                <a:ext cx="3238500" cy="95400"/>
              </a:xfrm>
              <a:prstGeom prst="roundRect">
                <a:avLst>
                  <a:gd fmla="val 4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7" name="Google Shape;777;p35"/>
              <p:cNvSpPr txBox="1"/>
              <p:nvPr/>
            </p:nvSpPr>
            <p:spPr>
              <a:xfrm>
                <a:off x="190500" y="285750"/>
                <a:ext cx="28575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045A36"/>
                    </a:solidFill>
                    <a:latin typeface="Montserrat"/>
                    <a:ea typeface="Montserrat"/>
                    <a:cs typeface="Montserrat"/>
                    <a:sym typeface="Montserrat"/>
                  </a:rPr>
                  <a:t>LED BRIGHTNESS FADING</a:t>
                </a:r>
                <a:endParaRPr b="1" sz="1400">
                  <a:solidFill>
                    <a:srgbClr val="045A36"/>
                  </a:solidFill>
                  <a:latin typeface="Montserrat"/>
                  <a:ea typeface="Montserrat"/>
                  <a:cs typeface="Montserrat"/>
                  <a:sym typeface="Montserrat"/>
                </a:endParaRPr>
              </a:p>
            </p:txBody>
          </p:sp>
          <p:sp>
            <p:nvSpPr>
              <p:cNvPr id="778" name="Google Shape;778;p35"/>
              <p:cNvSpPr/>
              <p:nvPr/>
            </p:nvSpPr>
            <p:spPr>
              <a:xfrm>
                <a:off x="1238250" y="809625"/>
                <a:ext cx="76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9" name="Google Shape;779;p35"/>
              <p:cNvSpPr txBox="1"/>
              <p:nvPr/>
            </p:nvSpPr>
            <p:spPr>
              <a:xfrm>
                <a:off x="190500" y="1000125"/>
                <a:ext cx="2857500" cy="1524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100">
                    <a:solidFill>
                      <a:srgbClr val="374151"/>
                    </a:solidFill>
                    <a:latin typeface="Inter"/>
                    <a:ea typeface="Inter"/>
                    <a:cs typeface="Inter"/>
                    <a:sym typeface="Inter"/>
                  </a:rPr>
                  <a:t>Changing the duty cycle adjusts the average current flowing through the LED, controlling its brightness.</a:t>
                </a:r>
                <a:endParaRPr b="0" sz="1100">
                  <a:solidFill>
                    <a:srgbClr val="374151"/>
                  </a:solidFill>
                  <a:latin typeface="Inter"/>
                  <a:ea typeface="Inter"/>
                  <a:cs typeface="Inter"/>
                  <a:sym typeface="Inter"/>
                </a:endParaRPr>
              </a:p>
              <a:p>
                <a:pPr indent="0" lvl="0" marL="0" rtl="0" algn="ctr">
                  <a:spcBef>
                    <a:spcPts val="750"/>
                  </a:spcBef>
                  <a:spcAft>
                    <a:spcPts val="0"/>
                  </a:spcAft>
                  <a:buNone/>
                </a:pPr>
                <a:r>
                  <a:rPr b="0" lang="en" sz="1100">
                    <a:solidFill>
                      <a:srgbClr val="374151"/>
                    </a:solidFill>
                    <a:latin typeface="Inter"/>
                    <a:ea typeface="Inter"/>
                    <a:cs typeface="Inter"/>
                    <a:sym typeface="Inter"/>
                  </a:rPr>
                  <a:t>The switching is so fast that human Persistence of Vision averages the light pulses, preventing flickering.</a:t>
                </a:r>
                <a:endParaRPr b="0" sz="1100">
                  <a:solidFill>
                    <a:srgbClr val="374151"/>
                  </a:solidFill>
                  <a:latin typeface="Inter"/>
                  <a:ea typeface="Inter"/>
                  <a:cs typeface="Inter"/>
                  <a:sym typeface="Inter"/>
                </a:endParaRPr>
              </a:p>
            </p:txBody>
          </p:sp>
        </p:grpSp>
        <p:sp>
          <p:nvSpPr>
            <p:cNvPr id="780" name="Google Shape;780;p35"/>
            <p:cNvSpPr/>
            <p:nvPr/>
          </p:nvSpPr>
          <p:spPr>
            <a:xfrm>
              <a:off x="3381375" y="1238250"/>
              <a:ext cx="190500" cy="190500"/>
            </a:xfrm>
            <a:custGeom>
              <a:rect b="b" l="l" r="r" t="t"/>
              <a:pathLst>
                <a:path extrusionOk="0" h="120000" w="120000">
                  <a:moveTo>
                    <a:pt x="0" y="60000"/>
                  </a:moveTo>
                  <a:lnTo>
                    <a:pt x="120000" y="60000"/>
                  </a:lnTo>
                  <a:moveTo>
                    <a:pt x="60000" y="0"/>
                  </a:moveTo>
                  <a:lnTo>
                    <a:pt x="120000" y="60000"/>
                  </a:lnTo>
                  <a:lnTo>
                    <a:pt x="60000" y="120000"/>
                  </a:lnTo>
                </a:path>
              </a:pathLst>
            </a:custGeom>
            <a:solidFill>
              <a:srgbClr val="000000">
                <a:alpha val="0"/>
              </a:srgbClr>
            </a:solidFill>
            <a:ln cap="rnd" cmpd="sng" w="38100">
              <a:solidFill>
                <a:srgbClr val="045A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81" name="Google Shape;781;p35"/>
            <p:cNvGrpSpPr/>
            <p:nvPr/>
          </p:nvGrpSpPr>
          <p:grpSpPr>
            <a:xfrm>
              <a:off x="3714750" y="0"/>
              <a:ext cx="3238500" cy="2667000"/>
              <a:chOff x="0" y="0"/>
              <a:chExt cx="3238500" cy="2667000"/>
            </a:xfrm>
          </p:grpSpPr>
          <p:sp>
            <p:nvSpPr>
              <p:cNvPr id="782" name="Google Shape;782;p35"/>
              <p:cNvSpPr/>
              <p:nvPr/>
            </p:nvSpPr>
            <p:spPr>
              <a:xfrm>
                <a:off x="0" y="0"/>
                <a:ext cx="3238500" cy="2667000"/>
              </a:xfrm>
              <a:prstGeom prst="roundRect">
                <a:avLst>
                  <a:gd fmla="val 142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3" name="Google Shape;783;p35"/>
              <p:cNvSpPr/>
              <p:nvPr/>
            </p:nvSpPr>
            <p:spPr>
              <a:xfrm>
                <a:off x="0" y="0"/>
                <a:ext cx="3238500" cy="95400"/>
              </a:xfrm>
              <a:prstGeom prst="roundRect">
                <a:avLst>
                  <a:gd fmla="val 40000" name="adj"/>
                </a:avLst>
              </a:prstGeom>
              <a:solidFill>
                <a:srgbClr val="0B7A4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4" name="Google Shape;784;p35"/>
              <p:cNvSpPr txBox="1"/>
              <p:nvPr/>
            </p:nvSpPr>
            <p:spPr>
              <a:xfrm>
                <a:off x="190500" y="285750"/>
                <a:ext cx="28575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045A36"/>
                    </a:solidFill>
                    <a:latin typeface="Montserrat"/>
                    <a:ea typeface="Montserrat"/>
                    <a:cs typeface="Montserrat"/>
                    <a:sym typeface="Montserrat"/>
                  </a:rPr>
                  <a:t>DC MOTOR SPEED CONTROL</a:t>
                </a:r>
                <a:endParaRPr b="1" sz="1400">
                  <a:solidFill>
                    <a:srgbClr val="045A36"/>
                  </a:solidFill>
                  <a:latin typeface="Montserrat"/>
                  <a:ea typeface="Montserrat"/>
                  <a:cs typeface="Montserrat"/>
                  <a:sym typeface="Montserrat"/>
                </a:endParaRPr>
              </a:p>
            </p:txBody>
          </p:sp>
          <p:sp>
            <p:nvSpPr>
              <p:cNvPr id="785" name="Google Shape;785;p35"/>
              <p:cNvSpPr/>
              <p:nvPr/>
            </p:nvSpPr>
            <p:spPr>
              <a:xfrm>
                <a:off x="1238250" y="809625"/>
                <a:ext cx="76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6" name="Google Shape;786;p35"/>
              <p:cNvSpPr txBox="1"/>
              <p:nvPr/>
            </p:nvSpPr>
            <p:spPr>
              <a:xfrm>
                <a:off x="190500" y="1000125"/>
                <a:ext cx="2857500" cy="1524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100">
                    <a:solidFill>
                      <a:srgbClr val="374151"/>
                    </a:solidFill>
                    <a:latin typeface="Inter"/>
                    <a:ea typeface="Inter"/>
                    <a:cs typeface="Inter"/>
                    <a:sym typeface="Inter"/>
                  </a:rPr>
                  <a:t>Direct connection to a motor driver allows PWM to smoothly control the speed of a DC motor by varying the average motor voltage.</a:t>
                </a:r>
                <a:endParaRPr b="0" sz="1100">
                  <a:solidFill>
                    <a:srgbClr val="374151"/>
                  </a:solidFill>
                  <a:latin typeface="Inter"/>
                  <a:ea typeface="Inter"/>
                  <a:cs typeface="Inter"/>
                  <a:sym typeface="Inter"/>
                </a:endParaRPr>
              </a:p>
              <a:p>
                <a:pPr indent="0" lvl="0" marL="0" rtl="0" algn="ctr">
                  <a:spcBef>
                    <a:spcPts val="750"/>
                  </a:spcBef>
                  <a:spcAft>
                    <a:spcPts val="0"/>
                  </a:spcAft>
                  <a:buNone/>
                </a:pPr>
                <a:r>
                  <a:rPr b="0" lang="en" sz="1100">
                    <a:solidFill>
                      <a:srgbClr val="374151"/>
                    </a:solidFill>
                    <a:latin typeface="Inter"/>
                    <a:ea typeface="Inter"/>
                    <a:cs typeface="Inter"/>
                    <a:sym typeface="Inter"/>
                  </a:rPr>
                  <a:t>This technique avoids the severe power loss that occurs with series resistors.</a:t>
                </a:r>
                <a:endParaRPr b="0" sz="1100">
                  <a:solidFill>
                    <a:srgbClr val="374151"/>
                  </a:solidFill>
                  <a:latin typeface="Inter"/>
                  <a:ea typeface="Inter"/>
                  <a:cs typeface="Inter"/>
                  <a:sym typeface="Inter"/>
                </a:endParaRPr>
              </a:p>
            </p:txBody>
          </p:sp>
        </p:grpSp>
        <p:sp>
          <p:nvSpPr>
            <p:cNvPr id="787" name="Google Shape;787;p35"/>
            <p:cNvSpPr/>
            <p:nvPr/>
          </p:nvSpPr>
          <p:spPr>
            <a:xfrm>
              <a:off x="7096125" y="1238250"/>
              <a:ext cx="190500" cy="190500"/>
            </a:xfrm>
            <a:custGeom>
              <a:rect b="b" l="l" r="r" t="t"/>
              <a:pathLst>
                <a:path extrusionOk="0" h="120000" w="120000">
                  <a:moveTo>
                    <a:pt x="0" y="60000"/>
                  </a:moveTo>
                  <a:lnTo>
                    <a:pt x="120000" y="60000"/>
                  </a:lnTo>
                  <a:moveTo>
                    <a:pt x="60000" y="0"/>
                  </a:moveTo>
                  <a:lnTo>
                    <a:pt x="120000" y="60000"/>
                  </a:lnTo>
                  <a:lnTo>
                    <a:pt x="60000" y="120000"/>
                  </a:lnTo>
                </a:path>
              </a:pathLst>
            </a:custGeom>
            <a:solidFill>
              <a:srgbClr val="000000">
                <a:alpha val="0"/>
              </a:srgbClr>
            </a:solidFill>
            <a:ln cap="rnd" cmpd="sng" w="38100">
              <a:solidFill>
                <a:srgbClr val="0B7A4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88" name="Google Shape;788;p35"/>
            <p:cNvGrpSpPr/>
            <p:nvPr/>
          </p:nvGrpSpPr>
          <p:grpSpPr>
            <a:xfrm>
              <a:off x="7429500" y="0"/>
              <a:ext cx="3238500" cy="2667000"/>
              <a:chOff x="0" y="0"/>
              <a:chExt cx="3238500" cy="2667000"/>
            </a:xfrm>
          </p:grpSpPr>
          <p:sp>
            <p:nvSpPr>
              <p:cNvPr id="789" name="Google Shape;789;p35"/>
              <p:cNvSpPr/>
              <p:nvPr/>
            </p:nvSpPr>
            <p:spPr>
              <a:xfrm>
                <a:off x="0" y="0"/>
                <a:ext cx="3238500" cy="2667000"/>
              </a:xfrm>
              <a:prstGeom prst="roundRect">
                <a:avLst>
                  <a:gd fmla="val 142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0" name="Google Shape;790;p35"/>
              <p:cNvSpPr/>
              <p:nvPr/>
            </p:nvSpPr>
            <p:spPr>
              <a:xfrm>
                <a:off x="0" y="0"/>
                <a:ext cx="3238500" cy="95400"/>
              </a:xfrm>
              <a:prstGeom prst="roundRect">
                <a:avLst>
                  <a:gd fmla="val 4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1" name="Google Shape;791;p35"/>
              <p:cNvSpPr txBox="1"/>
              <p:nvPr/>
            </p:nvSpPr>
            <p:spPr>
              <a:xfrm>
                <a:off x="190500" y="285750"/>
                <a:ext cx="28575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045A36"/>
                    </a:solidFill>
                    <a:latin typeface="Montserrat"/>
                    <a:ea typeface="Montserrat"/>
                    <a:cs typeface="Montserrat"/>
                    <a:sym typeface="Montserrat"/>
                  </a:rPr>
                  <a:t>SERVO ANGLE POSITIONING</a:t>
                </a:r>
                <a:endParaRPr b="1" sz="1400">
                  <a:solidFill>
                    <a:srgbClr val="045A36"/>
                  </a:solidFill>
                  <a:latin typeface="Montserrat"/>
                  <a:ea typeface="Montserrat"/>
                  <a:cs typeface="Montserrat"/>
                  <a:sym typeface="Montserrat"/>
                </a:endParaRPr>
              </a:p>
            </p:txBody>
          </p:sp>
          <p:sp>
            <p:nvSpPr>
              <p:cNvPr id="792" name="Google Shape;792;p35"/>
              <p:cNvSpPr/>
              <p:nvPr/>
            </p:nvSpPr>
            <p:spPr>
              <a:xfrm>
                <a:off x="1238250" y="809625"/>
                <a:ext cx="762000" cy="192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3" name="Google Shape;793;p35"/>
              <p:cNvSpPr txBox="1"/>
              <p:nvPr/>
            </p:nvSpPr>
            <p:spPr>
              <a:xfrm>
                <a:off x="190500" y="1000125"/>
                <a:ext cx="2857500" cy="1524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100">
                    <a:solidFill>
                      <a:srgbClr val="374151"/>
                    </a:solidFill>
                    <a:latin typeface="Inter"/>
                    <a:ea typeface="Inter"/>
                    <a:cs typeface="Inter"/>
                    <a:sym typeface="Inter"/>
                  </a:rPr>
                  <a:t>Servos do not use PWM for power, but for communication.</a:t>
                </a:r>
                <a:endParaRPr b="0" sz="1100">
                  <a:solidFill>
                    <a:srgbClr val="374151"/>
                  </a:solidFill>
                  <a:latin typeface="Inter"/>
                  <a:ea typeface="Inter"/>
                  <a:cs typeface="Inter"/>
                  <a:sym typeface="Inter"/>
                </a:endParaRPr>
              </a:p>
              <a:p>
                <a:pPr indent="0" lvl="0" marL="0" rtl="0" algn="ctr">
                  <a:spcBef>
                    <a:spcPts val="750"/>
                  </a:spcBef>
                  <a:spcAft>
                    <a:spcPts val="0"/>
                  </a:spcAft>
                  <a:buNone/>
                </a:pPr>
                <a:r>
                  <a:rPr b="0" lang="en" sz="1100">
                    <a:solidFill>
                      <a:srgbClr val="374151"/>
                    </a:solidFill>
                    <a:latin typeface="Inter"/>
                    <a:ea typeface="Inter"/>
                    <a:cs typeface="Inter"/>
                    <a:sym typeface="Inter"/>
                  </a:rPr>
                  <a:t>The width of a periodic 50Hz PWM pulse (typically 1ms to 2ms) maps directly to a specific physical rotation angle (e.g., 1ms = 0°, 2ms = 180°).</a:t>
                </a:r>
                <a:endParaRPr b="0" sz="1100">
                  <a:solidFill>
                    <a:srgbClr val="374151"/>
                  </a:solidFill>
                  <a:latin typeface="Inter"/>
                  <a:ea typeface="Inter"/>
                  <a:cs typeface="Inter"/>
                  <a:sym typeface="Inter"/>
                </a:endParaRPr>
              </a:p>
            </p:txBody>
          </p:sp>
        </p:gr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36"/>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99" name="Google Shape;799;p36"/>
          <p:cNvGrpSpPr/>
          <p:nvPr/>
        </p:nvGrpSpPr>
        <p:grpSpPr>
          <a:xfrm>
            <a:off x="0" y="0"/>
            <a:ext cx="12192000" cy="76350"/>
            <a:chOff x="0" y="0"/>
            <a:chExt cx="12192000" cy="76350"/>
          </a:xfrm>
        </p:grpSpPr>
        <p:sp>
          <p:nvSpPr>
            <p:cNvPr id="800" name="Google Shape;800;p36"/>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1" name="Google Shape;801;p36"/>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02" name="Google Shape;802;p36"/>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3" name="Google Shape;803;p36"/>
          <p:cNvSpPr txBox="1"/>
          <p:nvPr/>
        </p:nvSpPr>
        <p:spPr>
          <a:xfrm>
            <a:off x="762000" y="613410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Module 7: Electronics for Arduino Programming | Robotics and Automation Systems</a:t>
            </a:r>
            <a:endParaRPr b="0" sz="975">
              <a:solidFill>
                <a:srgbClr val="6B7280"/>
              </a:solidFill>
              <a:latin typeface="Inter"/>
              <a:ea typeface="Inter"/>
              <a:cs typeface="Inter"/>
              <a:sym typeface="Inter"/>
            </a:endParaRPr>
          </a:p>
        </p:txBody>
      </p:sp>
      <p:pic>
        <p:nvPicPr>
          <p:cNvPr id="804" name="Google Shape;804;p36"/>
          <p:cNvPicPr preferRelativeResize="0"/>
          <p:nvPr/>
        </p:nvPicPr>
        <p:blipFill rotWithShape="1">
          <a:blip r:embed="rId3">
            <a:alphaModFix/>
          </a:blip>
          <a:srcRect b="0" l="0" r="0" t="0"/>
          <a:stretch/>
        </p:blipFill>
        <p:spPr>
          <a:xfrm>
            <a:off x="10287000" y="5457825"/>
            <a:ext cx="1524000" cy="1019100"/>
          </a:xfrm>
          <a:prstGeom prst="rect">
            <a:avLst/>
          </a:prstGeom>
          <a:noFill/>
          <a:ln>
            <a:noFill/>
          </a:ln>
        </p:spPr>
      </p:pic>
      <p:grpSp>
        <p:nvGrpSpPr>
          <p:cNvPr id="805" name="Google Shape;805;p36"/>
          <p:cNvGrpSpPr/>
          <p:nvPr/>
        </p:nvGrpSpPr>
        <p:grpSpPr>
          <a:xfrm>
            <a:off x="762000" y="571500"/>
            <a:ext cx="10668000" cy="409500"/>
            <a:chOff x="0" y="0"/>
            <a:chExt cx="10668000" cy="409500"/>
          </a:xfrm>
        </p:grpSpPr>
        <p:sp>
          <p:nvSpPr>
            <p:cNvPr id="806" name="Google Shape;806;p36"/>
            <p:cNvSpPr/>
            <p:nvPr/>
          </p:nvSpPr>
          <p:spPr>
            <a:xfrm>
              <a:off x="0" y="0"/>
              <a:ext cx="10668000" cy="409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7" name="Google Shape;807;p36"/>
            <p:cNvSpPr txBox="1"/>
            <p:nvPr/>
          </p:nvSpPr>
          <p:spPr>
            <a:xfrm>
              <a:off x="0" y="0"/>
              <a:ext cx="106680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98">
                  <a:solidFill>
                    <a:srgbClr val="045A36"/>
                  </a:solidFill>
                  <a:latin typeface="Montserrat SemiBold"/>
                  <a:ea typeface="Montserrat SemiBold"/>
                  <a:cs typeface="Montserrat SemiBold"/>
                  <a:sym typeface="Montserrat SemiBold"/>
                </a:rPr>
                <a:t>Real-World Arduino Projects</a:t>
              </a:r>
              <a:endParaRPr b="0" sz="2498">
                <a:solidFill>
                  <a:srgbClr val="045A36"/>
                </a:solidFill>
                <a:latin typeface="Montserrat SemiBold"/>
                <a:ea typeface="Montserrat SemiBold"/>
                <a:cs typeface="Montserrat SemiBold"/>
                <a:sym typeface="Montserrat SemiBold"/>
              </a:endParaRPr>
            </a:p>
          </p:txBody>
        </p:sp>
      </p:grpSp>
      <p:sp>
        <p:nvSpPr>
          <p:cNvPr id="808" name="Google Shape;808;p36"/>
          <p:cNvSpPr txBox="1"/>
          <p:nvPr/>
        </p:nvSpPr>
        <p:spPr>
          <a:xfrm>
            <a:off x="762000" y="1285875"/>
            <a:ext cx="10668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500">
                <a:solidFill>
                  <a:srgbClr val="4B5563"/>
                </a:solidFill>
                <a:latin typeface="Inter"/>
                <a:ea typeface="Inter"/>
                <a:cs typeface="Inter"/>
                <a:sym typeface="Inter"/>
              </a:rPr>
              <a:t>Let's explore foundational beginner circuits that demonstrate how passive components, semiconductor protective barriers, and digital modulation interact in real-world systems.</a:t>
            </a:r>
            <a:endParaRPr b="0" i="1" sz="1500">
              <a:solidFill>
                <a:srgbClr val="4B5563"/>
              </a:solidFill>
              <a:latin typeface="Inter"/>
              <a:ea typeface="Inter"/>
              <a:cs typeface="Inter"/>
              <a:sym typeface="Inter"/>
            </a:endParaRPr>
          </a:p>
        </p:txBody>
      </p:sp>
      <p:grpSp>
        <p:nvGrpSpPr>
          <p:cNvPr id="809" name="Google Shape;809;p36"/>
          <p:cNvGrpSpPr/>
          <p:nvPr/>
        </p:nvGrpSpPr>
        <p:grpSpPr>
          <a:xfrm>
            <a:off x="762000" y="1952625"/>
            <a:ext cx="3238500" cy="3238500"/>
            <a:chOff x="0" y="0"/>
            <a:chExt cx="3238500" cy="3238500"/>
          </a:xfrm>
        </p:grpSpPr>
        <p:sp>
          <p:nvSpPr>
            <p:cNvPr id="810" name="Google Shape;810;p36"/>
            <p:cNvSpPr/>
            <p:nvPr/>
          </p:nvSpPr>
          <p:spPr>
            <a:xfrm>
              <a:off x="0" y="0"/>
              <a:ext cx="3238500" cy="3238500"/>
            </a:xfrm>
            <a:prstGeom prst="roundRect">
              <a:avLst>
                <a:gd fmla="val 176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11" name="Google Shape;811;p36"/>
            <p:cNvPicPr preferRelativeResize="0"/>
            <p:nvPr/>
          </p:nvPicPr>
          <p:blipFill rotWithShape="1">
            <a:blip r:embed="rId4">
              <a:alphaModFix/>
            </a:blip>
            <a:srcRect b="60" l="0" r="0" t="70"/>
            <a:stretch/>
          </p:blipFill>
          <p:spPr>
            <a:xfrm>
              <a:off x="0" y="0"/>
              <a:ext cx="3238500" cy="1819200"/>
            </a:xfrm>
            <a:prstGeom prst="roundRect">
              <a:avLst>
                <a:gd fmla="val 3141" name="adj"/>
              </a:avLst>
            </a:prstGeom>
            <a:noFill/>
            <a:ln>
              <a:noFill/>
            </a:ln>
          </p:spPr>
        </p:pic>
        <p:sp>
          <p:nvSpPr>
            <p:cNvPr id="812" name="Google Shape;812;p36"/>
            <p:cNvSpPr/>
            <p:nvPr/>
          </p:nvSpPr>
          <p:spPr>
            <a:xfrm>
              <a:off x="0" y="1819275"/>
              <a:ext cx="3238500" cy="285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3" name="Google Shape;813;p36"/>
            <p:cNvSpPr txBox="1"/>
            <p:nvPr/>
          </p:nvSpPr>
          <p:spPr>
            <a:xfrm>
              <a:off x="190500" y="1952625"/>
              <a:ext cx="2857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50">
                  <a:solidFill>
                    <a:srgbClr val="045A36"/>
                  </a:solidFill>
                  <a:latin typeface="Montserrat"/>
                  <a:ea typeface="Montserrat"/>
                  <a:cs typeface="Montserrat"/>
                  <a:sym typeface="Montserrat"/>
                </a:rPr>
                <a:t>1. LED Dimmer</a:t>
              </a:r>
              <a:endParaRPr b="1" sz="1350">
                <a:solidFill>
                  <a:srgbClr val="045A36"/>
                </a:solidFill>
                <a:latin typeface="Montserrat"/>
                <a:ea typeface="Montserrat"/>
                <a:cs typeface="Montserrat"/>
                <a:sym typeface="Montserrat"/>
              </a:endParaRPr>
            </a:p>
          </p:txBody>
        </p:sp>
        <p:sp>
          <p:nvSpPr>
            <p:cNvPr id="814" name="Google Shape;814;p36"/>
            <p:cNvSpPr txBox="1"/>
            <p:nvPr/>
          </p:nvSpPr>
          <p:spPr>
            <a:xfrm>
              <a:off x="190500" y="2333625"/>
              <a:ext cx="2857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374151"/>
                  </a:solidFill>
                  <a:latin typeface="Inter"/>
                  <a:ea typeface="Inter"/>
                  <a:cs typeface="Inter"/>
                  <a:sym typeface="Inter"/>
                </a:rPr>
                <a:t>Reads a variable analog voltage from a potentiometer (0V-5V, analogRead range 0-1023), uses the </a:t>
              </a:r>
              <a:r>
                <a:rPr b="0" lang="en" sz="1000">
                  <a:solidFill>
                    <a:srgbClr val="0B7A4B"/>
                  </a:solidFill>
                  <a:latin typeface="Arial"/>
                  <a:ea typeface="Arial"/>
                  <a:cs typeface="Arial"/>
                  <a:sym typeface="Arial"/>
                </a:rPr>
                <a:t>map()</a:t>
              </a:r>
              <a:r>
                <a:rPr b="0" lang="en" sz="1000">
                  <a:solidFill>
                    <a:srgbClr val="374151"/>
                  </a:solidFill>
                  <a:latin typeface="Inter"/>
                  <a:ea typeface="Inter"/>
                  <a:cs typeface="Inter"/>
                  <a:sym typeface="Inter"/>
                </a:rPr>
                <a:t> function to scale to 0-255, and outputs a PWM signal to smoothly dim an LED.</a:t>
              </a:r>
              <a:endParaRPr b="0" sz="1000">
                <a:solidFill>
                  <a:srgbClr val="374151"/>
                </a:solidFill>
                <a:latin typeface="Inter"/>
                <a:ea typeface="Inter"/>
                <a:cs typeface="Inter"/>
                <a:sym typeface="Inter"/>
              </a:endParaRPr>
            </a:p>
          </p:txBody>
        </p:sp>
      </p:grpSp>
      <p:grpSp>
        <p:nvGrpSpPr>
          <p:cNvPr id="815" name="Google Shape;815;p36"/>
          <p:cNvGrpSpPr/>
          <p:nvPr/>
        </p:nvGrpSpPr>
        <p:grpSpPr>
          <a:xfrm>
            <a:off x="4476750" y="1952625"/>
            <a:ext cx="3238500" cy="3238500"/>
            <a:chOff x="0" y="0"/>
            <a:chExt cx="3238500" cy="3238500"/>
          </a:xfrm>
        </p:grpSpPr>
        <p:sp>
          <p:nvSpPr>
            <p:cNvPr id="816" name="Google Shape;816;p36"/>
            <p:cNvSpPr/>
            <p:nvPr/>
          </p:nvSpPr>
          <p:spPr>
            <a:xfrm>
              <a:off x="0" y="0"/>
              <a:ext cx="3238500" cy="3238500"/>
            </a:xfrm>
            <a:prstGeom prst="roundRect">
              <a:avLst>
                <a:gd fmla="val 176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17" name="Google Shape;817;p36"/>
            <p:cNvPicPr preferRelativeResize="0"/>
            <p:nvPr/>
          </p:nvPicPr>
          <p:blipFill rotWithShape="1">
            <a:blip r:embed="rId5">
              <a:alphaModFix/>
            </a:blip>
            <a:srcRect b="60" l="0" r="0" t="70"/>
            <a:stretch/>
          </p:blipFill>
          <p:spPr>
            <a:xfrm>
              <a:off x="0" y="0"/>
              <a:ext cx="3238500" cy="1819200"/>
            </a:xfrm>
            <a:prstGeom prst="roundRect">
              <a:avLst>
                <a:gd fmla="val 3141" name="adj"/>
              </a:avLst>
            </a:prstGeom>
            <a:noFill/>
            <a:ln>
              <a:noFill/>
            </a:ln>
          </p:spPr>
        </p:pic>
        <p:sp>
          <p:nvSpPr>
            <p:cNvPr id="818" name="Google Shape;818;p36"/>
            <p:cNvSpPr/>
            <p:nvPr/>
          </p:nvSpPr>
          <p:spPr>
            <a:xfrm>
              <a:off x="0" y="1819275"/>
              <a:ext cx="3238500" cy="285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9" name="Google Shape;819;p36"/>
            <p:cNvSpPr txBox="1"/>
            <p:nvPr/>
          </p:nvSpPr>
          <p:spPr>
            <a:xfrm>
              <a:off x="190500" y="1952625"/>
              <a:ext cx="2857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50">
                  <a:solidFill>
                    <a:srgbClr val="045A36"/>
                  </a:solidFill>
                  <a:latin typeface="Montserrat"/>
                  <a:ea typeface="Montserrat"/>
                  <a:cs typeface="Montserrat"/>
                  <a:sym typeface="Montserrat"/>
                </a:rPr>
                <a:t>2. Flyback Motor Driver</a:t>
              </a:r>
              <a:endParaRPr b="1" sz="1350">
                <a:solidFill>
                  <a:srgbClr val="045A36"/>
                </a:solidFill>
                <a:latin typeface="Montserrat"/>
                <a:ea typeface="Montserrat"/>
                <a:cs typeface="Montserrat"/>
                <a:sym typeface="Montserrat"/>
              </a:endParaRPr>
            </a:p>
          </p:txBody>
        </p:sp>
        <p:sp>
          <p:nvSpPr>
            <p:cNvPr id="820" name="Google Shape;820;p36"/>
            <p:cNvSpPr txBox="1"/>
            <p:nvPr/>
          </p:nvSpPr>
          <p:spPr>
            <a:xfrm>
              <a:off x="190500" y="2333625"/>
              <a:ext cx="2857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374151"/>
                  </a:solidFill>
                  <a:latin typeface="Inter"/>
                  <a:ea typeface="Inter"/>
                  <a:cs typeface="Inter"/>
                  <a:sym typeface="Inter"/>
                </a:rPr>
                <a:t>Implements a high-current transistor or MOSFET switch to control a heavy DC motor from an Arduino pin. It requires a parallel flyback diode to route inductive voltage spikes safely away from the transistor.</a:t>
              </a:r>
              <a:endParaRPr b="0" sz="1000">
                <a:solidFill>
                  <a:srgbClr val="374151"/>
                </a:solidFill>
                <a:latin typeface="Inter"/>
                <a:ea typeface="Inter"/>
                <a:cs typeface="Inter"/>
                <a:sym typeface="Inter"/>
              </a:endParaRPr>
            </a:p>
          </p:txBody>
        </p:sp>
      </p:grpSp>
      <p:grpSp>
        <p:nvGrpSpPr>
          <p:cNvPr id="821" name="Google Shape;821;p36"/>
          <p:cNvGrpSpPr/>
          <p:nvPr/>
        </p:nvGrpSpPr>
        <p:grpSpPr>
          <a:xfrm>
            <a:off x="8191500" y="1952625"/>
            <a:ext cx="3238500" cy="3238500"/>
            <a:chOff x="0" y="0"/>
            <a:chExt cx="3238500" cy="3238500"/>
          </a:xfrm>
        </p:grpSpPr>
        <p:sp>
          <p:nvSpPr>
            <p:cNvPr id="822" name="Google Shape;822;p36"/>
            <p:cNvSpPr/>
            <p:nvPr/>
          </p:nvSpPr>
          <p:spPr>
            <a:xfrm>
              <a:off x="0" y="0"/>
              <a:ext cx="3238500" cy="3238500"/>
            </a:xfrm>
            <a:prstGeom prst="roundRect">
              <a:avLst>
                <a:gd fmla="val 176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23" name="Google Shape;823;p36"/>
            <p:cNvPicPr preferRelativeResize="0"/>
            <p:nvPr/>
          </p:nvPicPr>
          <p:blipFill rotWithShape="1">
            <a:blip r:embed="rId6">
              <a:alphaModFix/>
            </a:blip>
            <a:srcRect b="60" l="0" r="0" t="70"/>
            <a:stretch/>
          </p:blipFill>
          <p:spPr>
            <a:xfrm>
              <a:off x="0" y="0"/>
              <a:ext cx="3238500" cy="1819200"/>
            </a:xfrm>
            <a:prstGeom prst="roundRect">
              <a:avLst>
                <a:gd fmla="val 3141" name="adj"/>
              </a:avLst>
            </a:prstGeom>
            <a:noFill/>
            <a:ln>
              <a:noFill/>
            </a:ln>
          </p:spPr>
        </p:pic>
        <p:sp>
          <p:nvSpPr>
            <p:cNvPr id="824" name="Google Shape;824;p36"/>
            <p:cNvSpPr/>
            <p:nvPr/>
          </p:nvSpPr>
          <p:spPr>
            <a:xfrm>
              <a:off x="0" y="1819275"/>
              <a:ext cx="3238500" cy="285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5" name="Google Shape;825;p36"/>
            <p:cNvSpPr txBox="1"/>
            <p:nvPr/>
          </p:nvSpPr>
          <p:spPr>
            <a:xfrm>
              <a:off x="190500" y="1952625"/>
              <a:ext cx="2857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50">
                  <a:solidFill>
                    <a:srgbClr val="045A36"/>
                  </a:solidFill>
                  <a:latin typeface="Montserrat"/>
                  <a:ea typeface="Montserrat"/>
                  <a:cs typeface="Montserrat"/>
                  <a:sym typeface="Montserrat"/>
                </a:rPr>
                <a:t>3. Traffic Light Controller</a:t>
              </a:r>
              <a:endParaRPr b="1" sz="1350">
                <a:solidFill>
                  <a:srgbClr val="045A36"/>
                </a:solidFill>
                <a:latin typeface="Montserrat"/>
                <a:ea typeface="Montserrat"/>
                <a:cs typeface="Montserrat"/>
                <a:sym typeface="Montserrat"/>
              </a:endParaRPr>
            </a:p>
          </p:txBody>
        </p:sp>
        <p:sp>
          <p:nvSpPr>
            <p:cNvPr id="826" name="Google Shape;826;p36"/>
            <p:cNvSpPr txBox="1"/>
            <p:nvPr/>
          </p:nvSpPr>
          <p:spPr>
            <a:xfrm>
              <a:off x="190500" y="2333625"/>
              <a:ext cx="2857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374151"/>
                  </a:solidFill>
                  <a:latin typeface="Inter"/>
                  <a:ea typeface="Inter"/>
                  <a:cs typeface="Inter"/>
                  <a:sym typeface="Inter"/>
                </a:rPr>
                <a:t>Replicates a city traffic signal with Red, Yellow, and Green LEDs, each wired to digital output pins through 220-ohm current limiting resistors, managed by structured state-machine loops.</a:t>
              </a:r>
              <a:endParaRPr b="0" sz="1000">
                <a:solidFill>
                  <a:srgbClr val="374151"/>
                </a:solidFill>
                <a:latin typeface="Inter"/>
                <a:ea typeface="Inter"/>
                <a:cs typeface="Inter"/>
                <a:sym typeface="Inte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0" name="Shape 830"/>
        <p:cNvGrpSpPr/>
        <p:nvPr/>
      </p:nvGrpSpPr>
      <p:grpSpPr>
        <a:xfrm>
          <a:off x="0" y="0"/>
          <a:ext cx="0" cy="0"/>
          <a:chOff x="0" y="0"/>
          <a:chExt cx="0" cy="0"/>
        </a:xfrm>
      </p:grpSpPr>
      <p:grpSp>
        <p:nvGrpSpPr>
          <p:cNvPr id="831" name="Google Shape;831;p37"/>
          <p:cNvGrpSpPr/>
          <p:nvPr/>
        </p:nvGrpSpPr>
        <p:grpSpPr>
          <a:xfrm>
            <a:off x="0" y="0"/>
            <a:ext cx="12192000" cy="76350"/>
            <a:chOff x="0" y="0"/>
            <a:chExt cx="12192000" cy="76350"/>
          </a:xfrm>
        </p:grpSpPr>
        <p:sp>
          <p:nvSpPr>
            <p:cNvPr id="832" name="Google Shape;832;p37"/>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3" name="Google Shape;833;p37"/>
            <p:cNvSpPr/>
            <p:nvPr/>
          </p:nvSpPr>
          <p:spPr>
            <a:xfrm>
              <a:off x="0" y="57150"/>
              <a:ext cx="12192000" cy="192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34" name="Google Shape;834;p37"/>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Module 7 Summary: Integrated Component Synthesis</a:t>
            </a:r>
            <a:endParaRPr b="0" sz="2700">
              <a:solidFill>
                <a:srgbClr val="045A36"/>
              </a:solidFill>
              <a:latin typeface="Montserrat SemiBold"/>
              <a:ea typeface="Montserrat SemiBold"/>
              <a:cs typeface="Montserrat SemiBold"/>
              <a:sym typeface="Montserrat SemiBold"/>
            </a:endParaRPr>
          </a:p>
        </p:txBody>
      </p:sp>
      <p:sp>
        <p:nvSpPr>
          <p:cNvPr id="835" name="Google Shape;835;p37"/>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36" name="Google Shape;836;p37"/>
          <p:cNvGrpSpPr/>
          <p:nvPr/>
        </p:nvGrpSpPr>
        <p:grpSpPr>
          <a:xfrm>
            <a:off x="762000" y="1428750"/>
            <a:ext cx="5143500" cy="3905400"/>
            <a:chOff x="0" y="0"/>
            <a:chExt cx="5143500" cy="3905400"/>
          </a:xfrm>
        </p:grpSpPr>
        <p:sp>
          <p:nvSpPr>
            <p:cNvPr id="837" name="Google Shape;837;p37"/>
            <p:cNvSpPr/>
            <p:nvPr/>
          </p:nvSpPr>
          <p:spPr>
            <a:xfrm>
              <a:off x="0" y="0"/>
              <a:ext cx="5143500" cy="3905400"/>
            </a:xfrm>
            <a:prstGeom prst="roundRect">
              <a:avLst>
                <a:gd fmla="val 19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38" name="Google Shape;838;p37"/>
            <p:cNvPicPr preferRelativeResize="0"/>
            <p:nvPr/>
          </p:nvPicPr>
          <p:blipFill rotWithShape="1">
            <a:blip r:embed="rId4">
              <a:alphaModFix/>
            </a:blip>
            <a:srcRect b="0" l="0" r="0" t="0"/>
            <a:stretch/>
          </p:blipFill>
          <p:spPr>
            <a:xfrm>
              <a:off x="190500" y="166688"/>
              <a:ext cx="4762500" cy="3571800"/>
            </a:xfrm>
            <a:prstGeom prst="rect">
              <a:avLst/>
            </a:prstGeom>
            <a:noFill/>
            <a:ln>
              <a:noFill/>
            </a:ln>
          </p:spPr>
        </p:pic>
      </p:grpSp>
      <p:sp>
        <p:nvSpPr>
          <p:cNvPr id="839" name="Google Shape;839;p37"/>
          <p:cNvSpPr txBox="1"/>
          <p:nvPr/>
        </p:nvSpPr>
        <p:spPr>
          <a:xfrm>
            <a:off x="6191250" y="1428750"/>
            <a:ext cx="5238900" cy="390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49">
                <a:solidFill>
                  <a:srgbClr val="045A36"/>
                </a:solidFill>
                <a:latin typeface="Inter SemiBold"/>
                <a:ea typeface="Inter SemiBold"/>
                <a:cs typeface="Inter SemiBold"/>
                <a:sym typeface="Inter SemiBold"/>
              </a:rPr>
              <a:t>Designing reliable robotic hardware requires a solid understanding of how passive components, semiconductor guards, and digital controllers interact.</a:t>
            </a:r>
            <a:endParaRPr b="0" sz="1249">
              <a:solidFill>
                <a:srgbClr val="045A36"/>
              </a:solidFill>
              <a:latin typeface="Inter SemiBold"/>
              <a:ea typeface="Inter SemiBold"/>
              <a:cs typeface="Inter SemiBold"/>
              <a:sym typeface="Inter SemiBold"/>
            </a:endParaRPr>
          </a:p>
          <a:p>
            <a:pPr indent="0" lvl="0" marL="0" rtl="0" algn="l">
              <a:spcBef>
                <a:spcPts val="1200"/>
              </a:spcBef>
              <a:spcAft>
                <a:spcPts val="0"/>
              </a:spcAft>
              <a:buNone/>
            </a:pPr>
            <a:r>
              <a:rPr b="1" lang="en" sz="1156">
                <a:solidFill>
                  <a:srgbClr val="D4A017"/>
                </a:solidFill>
                <a:latin typeface="Inter"/>
                <a:ea typeface="Inter"/>
                <a:cs typeface="Inter"/>
                <a:sym typeface="Inter"/>
              </a:rPr>
              <a:t>• Power Stabilization:</a:t>
            </a:r>
            <a:r>
              <a:rPr b="0" lang="en" sz="1156">
                <a:solidFill>
                  <a:srgbClr val="374151"/>
                </a:solidFill>
                <a:latin typeface="Inter"/>
                <a:ea typeface="Inter"/>
                <a:cs typeface="Inter"/>
                <a:sym typeface="Inter"/>
              </a:rPr>
              <a:t> Capacitors serve as the primary reservoirs, smoothing voltage ripples and decoupling sensor lines from high-frequency power spikes.</a:t>
            </a:r>
            <a:endParaRPr b="0" sz="1156">
              <a:solidFill>
                <a:srgbClr val="374151"/>
              </a:solidFill>
              <a:latin typeface="Inter"/>
              <a:ea typeface="Inter"/>
              <a:cs typeface="Inter"/>
              <a:sym typeface="Inter"/>
            </a:endParaRPr>
          </a:p>
          <a:p>
            <a:pPr indent="0" lvl="0" marL="0" rtl="0" algn="l">
              <a:spcBef>
                <a:spcPts val="900"/>
              </a:spcBef>
              <a:spcAft>
                <a:spcPts val="0"/>
              </a:spcAft>
              <a:buNone/>
            </a:pPr>
            <a:r>
              <a:rPr b="1" lang="en" sz="1156">
                <a:solidFill>
                  <a:srgbClr val="D4A017"/>
                </a:solidFill>
                <a:latin typeface="Inter"/>
                <a:ea typeface="Inter"/>
                <a:cs typeface="Inter"/>
                <a:sym typeface="Inter"/>
              </a:rPr>
              <a:t>• Actuation &amp; Magnetics:</a:t>
            </a:r>
            <a:r>
              <a:rPr b="0" lang="en" sz="1156">
                <a:solidFill>
                  <a:srgbClr val="374151"/>
                </a:solidFill>
                <a:latin typeface="Inter"/>
                <a:ea typeface="Inter"/>
                <a:cs typeface="Inter"/>
                <a:sym typeface="Inter"/>
              </a:rPr>
              <a:t> Inductors wrapped inside motors and relay coils generate the electromagnetic fields needed for motion, but generate high-voltage spikes when deactivated.</a:t>
            </a:r>
            <a:endParaRPr b="0" sz="1156">
              <a:solidFill>
                <a:srgbClr val="374151"/>
              </a:solidFill>
              <a:latin typeface="Inter"/>
              <a:ea typeface="Inter"/>
              <a:cs typeface="Inter"/>
              <a:sym typeface="Inter"/>
            </a:endParaRPr>
          </a:p>
          <a:p>
            <a:pPr indent="0" lvl="0" marL="0" rtl="0" algn="l">
              <a:spcBef>
                <a:spcPts val="900"/>
              </a:spcBef>
              <a:spcAft>
                <a:spcPts val="0"/>
              </a:spcAft>
              <a:buNone/>
            </a:pPr>
            <a:r>
              <a:rPr b="1" lang="en" sz="1156">
                <a:solidFill>
                  <a:srgbClr val="D4A017"/>
                </a:solidFill>
                <a:latin typeface="Inter"/>
                <a:ea typeface="Inter"/>
                <a:cs typeface="Inter"/>
                <a:sym typeface="Inter"/>
              </a:rPr>
              <a:t>• Active System Protection:</a:t>
            </a:r>
            <a:r>
              <a:rPr b="0" lang="en" sz="1156">
                <a:solidFill>
                  <a:srgbClr val="374151"/>
                </a:solidFill>
                <a:latin typeface="Inter"/>
                <a:ea typeface="Inter"/>
                <a:cs typeface="Inter"/>
                <a:sym typeface="Inter"/>
              </a:rPr>
              <a:t> Diodes act as essential system bodyguards, safely shunting inductive motor surges away from the Arduino and blocking reverse-polarity battery damage.</a:t>
            </a:r>
            <a:endParaRPr b="0" sz="1156">
              <a:solidFill>
                <a:srgbClr val="374151"/>
              </a:solidFill>
              <a:latin typeface="Inter"/>
              <a:ea typeface="Inter"/>
              <a:cs typeface="Inter"/>
              <a:sym typeface="Inter"/>
            </a:endParaRPr>
          </a:p>
          <a:p>
            <a:pPr indent="0" lvl="0" marL="0" rtl="0" algn="l">
              <a:spcBef>
                <a:spcPts val="900"/>
              </a:spcBef>
              <a:spcAft>
                <a:spcPts val="0"/>
              </a:spcAft>
              <a:buNone/>
            </a:pPr>
            <a:r>
              <a:rPr b="1" lang="en" sz="1156">
                <a:solidFill>
                  <a:srgbClr val="D4A017"/>
                </a:solidFill>
                <a:latin typeface="Inter"/>
                <a:ea typeface="Inter"/>
                <a:cs typeface="Inter"/>
                <a:sym typeface="Inter"/>
              </a:rPr>
              <a:t>• Visual Telemetry:</a:t>
            </a:r>
            <a:r>
              <a:rPr b="0" lang="en" sz="1156">
                <a:solidFill>
                  <a:srgbClr val="374151"/>
                </a:solidFill>
                <a:latin typeface="Inter"/>
                <a:ea typeface="Inter"/>
                <a:cs typeface="Inter"/>
                <a:sym typeface="Inter"/>
              </a:rPr>
              <a:t> LEDs provide efficient, low-power visual indicators, safely guarded by calculated current limiting series resistors.</a:t>
            </a:r>
            <a:endParaRPr b="0" sz="1156">
              <a:solidFill>
                <a:srgbClr val="374151"/>
              </a:solidFill>
              <a:latin typeface="Inter"/>
              <a:ea typeface="Inter"/>
              <a:cs typeface="Inter"/>
              <a:sym typeface="Inter"/>
            </a:endParaRPr>
          </a:p>
          <a:p>
            <a:pPr indent="0" lvl="0" marL="0" rtl="0" algn="l">
              <a:spcBef>
                <a:spcPts val="900"/>
              </a:spcBef>
              <a:spcAft>
                <a:spcPts val="0"/>
              </a:spcAft>
              <a:buNone/>
            </a:pPr>
            <a:r>
              <a:rPr b="1" lang="en" sz="1156">
                <a:solidFill>
                  <a:srgbClr val="D4A017"/>
                </a:solidFill>
                <a:latin typeface="Inter"/>
                <a:ea typeface="Inter"/>
                <a:cs typeface="Inter"/>
                <a:sym typeface="Inter"/>
              </a:rPr>
              <a:t>• Emulated Actuation:</a:t>
            </a:r>
            <a:r>
              <a:rPr b="0" lang="en" sz="1156">
                <a:solidFill>
                  <a:srgbClr val="374151"/>
                </a:solidFill>
                <a:latin typeface="Inter"/>
                <a:ea typeface="Inter"/>
                <a:cs typeface="Inter"/>
                <a:sym typeface="Inter"/>
              </a:rPr>
              <a:t> Pulse Width Modulation (PWM) acts as the bridge between digital code and analog actuation, controlling motor speed and LED dimming efficiently.</a:t>
            </a:r>
            <a:endParaRPr b="0" sz="1156">
              <a:solidFill>
                <a:srgbClr val="374151"/>
              </a:solidFill>
              <a:latin typeface="Inter"/>
              <a:ea typeface="Inter"/>
              <a:cs typeface="Inter"/>
              <a:sym typeface="Inter"/>
            </a:endParaRPr>
          </a:p>
        </p:txBody>
      </p:sp>
      <p:sp>
        <p:nvSpPr>
          <p:cNvPr id="840" name="Google Shape;840;p37"/>
          <p:cNvSpPr txBox="1"/>
          <p:nvPr/>
        </p:nvSpPr>
        <p:spPr>
          <a:xfrm>
            <a:off x="762000" y="6134100"/>
            <a:ext cx="7620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75">
                <a:solidFill>
                  <a:srgbClr val="6B7280"/>
                </a:solidFill>
                <a:latin typeface="Inter"/>
                <a:ea typeface="Inter"/>
                <a:cs typeface="Inter"/>
                <a:sym typeface="Inter"/>
              </a:rPr>
              <a:t>Module 7: Electronics for Arduino Programming | Robotics and Automation Systems</a:t>
            </a:r>
            <a:endParaRPr b="0" sz="975">
              <a:solidFill>
                <a:srgbClr val="6B7280"/>
              </a:solidFill>
              <a:latin typeface="Inter"/>
              <a:ea typeface="Inter"/>
              <a:cs typeface="Inter"/>
              <a:sym typeface="Inter"/>
            </a:endParaRPr>
          </a:p>
        </p:txBody>
      </p:sp>
      <p:pic>
        <p:nvPicPr>
          <p:cNvPr id="841" name="Google Shape;841;p37"/>
          <p:cNvPicPr preferRelativeResize="0"/>
          <p:nvPr/>
        </p:nvPicPr>
        <p:blipFill rotWithShape="1">
          <a:blip r:embed="rId5">
            <a:alphaModFix/>
          </a:blip>
          <a:srcRect b="0" l="0" r="0" t="0"/>
          <a:stretch/>
        </p:blipFill>
        <p:spPr>
          <a:xfrm>
            <a:off x="10287000" y="5457825"/>
            <a:ext cx="1524000" cy="1019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