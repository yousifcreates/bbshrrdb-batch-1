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Montserrat SemiBold"/>
      <p:regular r:id="rId31"/>
      <p:bold r:id="rId32"/>
      <p:italic r:id="rId33"/>
      <p:boldItalic r:id="rId34"/>
    </p:embeddedFont>
    <p:embeddedFont>
      <p:font typeface="Roboto Mono SemiBold"/>
      <p:regular r:id="rId35"/>
      <p:bold r:id="rId36"/>
      <p:italic r:id="rId37"/>
      <p:boldItalic r:id="rId38"/>
    </p:embeddedFont>
    <p:embeddedFont>
      <p:font typeface="Roboto Mono Medium"/>
      <p:regular r:id="rId39"/>
      <p:bold r:id="rId40"/>
      <p:italic r:id="rId41"/>
      <p:boldItalic r:id="rId42"/>
    </p:embeddedFont>
    <p:embeddedFont>
      <p:font typeface="Inter SemiBold"/>
      <p:regular r:id="rId43"/>
      <p:bold r:id="rId44"/>
      <p:italic r:id="rId45"/>
      <p:boldItalic r:id="rId46"/>
    </p:embeddedFont>
    <p:embeddedFont>
      <p:font typeface="Inter"/>
      <p:bold r:id="rId47"/>
      <p:boldItalic r:id="rId48"/>
    </p:embeddedFont>
    <p:embeddedFont>
      <p:font typeface="Montserrat"/>
      <p:bold r:id="rId49"/>
      <p:boldItalic r:id="rId50"/>
    </p:embeddedFont>
    <p:embeddedFont>
      <p:font typeface="Montserrat Medium"/>
      <p:regular r:id="rId51"/>
      <p:bold r:id="rId52"/>
      <p:italic r:id="rId53"/>
      <p:boldItalic r:id="rId54"/>
    </p:embeddedFont>
    <p:embeddedFont>
      <p:font typeface="Roboto Mono"/>
      <p:bold r:id="rId55"/>
      <p:boldItalic r:id="rId56"/>
    </p:embeddedFont>
    <p:embeddedFont>
      <p:font typeface="Inter Medium"/>
      <p:regular r:id="rId57"/>
      <p:bold r:id="rId58"/>
      <p:italic r:id="rId59"/>
      <p:boldItalic r:id="rId60"/>
    </p:embeddedFont>
    <p:embeddedFont>
      <p:font typeface="Inter Black"/>
      <p:bold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Medium-bold.fntdata"/><Relationship Id="rId42" Type="http://schemas.openxmlformats.org/officeDocument/2006/relationships/font" Target="fonts/RobotoMonoMedium-boldItalic.fntdata"/><Relationship Id="rId41" Type="http://schemas.openxmlformats.org/officeDocument/2006/relationships/font" Target="fonts/RobotoMonoMedium-italic.fntdata"/><Relationship Id="rId44" Type="http://schemas.openxmlformats.org/officeDocument/2006/relationships/font" Target="fonts/InterSemiBold-bold.fntdata"/><Relationship Id="rId43" Type="http://schemas.openxmlformats.org/officeDocument/2006/relationships/font" Target="fonts/InterSemiBold-regular.fntdata"/><Relationship Id="rId46" Type="http://schemas.openxmlformats.org/officeDocument/2006/relationships/font" Target="fonts/InterSemiBold-boldItalic.fntdata"/><Relationship Id="rId45" Type="http://schemas.openxmlformats.org/officeDocument/2006/relationships/font" Target="fonts/Inter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nter-boldItalic.fntdata"/><Relationship Id="rId47" Type="http://schemas.openxmlformats.org/officeDocument/2006/relationships/font" Target="fonts/Inter-bold.fntdata"/><Relationship Id="rId49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SemiBold-regular.fntdata"/><Relationship Id="rId30" Type="http://schemas.openxmlformats.org/officeDocument/2006/relationships/slide" Target="slides/slide25.xml"/><Relationship Id="rId33" Type="http://schemas.openxmlformats.org/officeDocument/2006/relationships/font" Target="fonts/MontserratSemiBold-italic.fntdata"/><Relationship Id="rId32" Type="http://schemas.openxmlformats.org/officeDocument/2006/relationships/font" Target="fonts/MontserratSemiBold-bold.fntdata"/><Relationship Id="rId35" Type="http://schemas.openxmlformats.org/officeDocument/2006/relationships/font" Target="fonts/RobotoMonoSemiBold-regular.fntdata"/><Relationship Id="rId34" Type="http://schemas.openxmlformats.org/officeDocument/2006/relationships/font" Target="fonts/MontserratSemiBold-boldItalic.fntdata"/><Relationship Id="rId37" Type="http://schemas.openxmlformats.org/officeDocument/2006/relationships/font" Target="fonts/RobotoMonoSemiBold-italic.fntdata"/><Relationship Id="rId36" Type="http://schemas.openxmlformats.org/officeDocument/2006/relationships/font" Target="fonts/RobotoMonoSemiBold-bold.fntdata"/><Relationship Id="rId39" Type="http://schemas.openxmlformats.org/officeDocument/2006/relationships/font" Target="fonts/RobotoMonoMedium-regular.fntdata"/><Relationship Id="rId38" Type="http://schemas.openxmlformats.org/officeDocument/2006/relationships/font" Target="fonts/RobotoMonoSemiBold-boldItalic.fntdata"/><Relationship Id="rId62" Type="http://schemas.openxmlformats.org/officeDocument/2006/relationships/font" Target="fonts/InterBlack-boldItalic.fntdata"/><Relationship Id="rId61" Type="http://schemas.openxmlformats.org/officeDocument/2006/relationships/font" Target="fonts/InterBlack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InterMedium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MontserratMedium-regular.fntdata"/><Relationship Id="rId50" Type="http://schemas.openxmlformats.org/officeDocument/2006/relationships/font" Target="fonts/Montserrat-boldItalic.fntdata"/><Relationship Id="rId53" Type="http://schemas.openxmlformats.org/officeDocument/2006/relationships/font" Target="fonts/MontserratMedium-italic.fntdata"/><Relationship Id="rId52" Type="http://schemas.openxmlformats.org/officeDocument/2006/relationships/font" Target="fonts/MontserratMedium-bold.fntdata"/><Relationship Id="rId11" Type="http://schemas.openxmlformats.org/officeDocument/2006/relationships/slide" Target="slides/slide6.xml"/><Relationship Id="rId55" Type="http://schemas.openxmlformats.org/officeDocument/2006/relationships/font" Target="fonts/RobotoMono-bold.fntdata"/><Relationship Id="rId10" Type="http://schemas.openxmlformats.org/officeDocument/2006/relationships/slide" Target="slides/slide5.xml"/><Relationship Id="rId54" Type="http://schemas.openxmlformats.org/officeDocument/2006/relationships/font" Target="fonts/MontserratMedium-boldItalic.fntdata"/><Relationship Id="rId13" Type="http://schemas.openxmlformats.org/officeDocument/2006/relationships/slide" Target="slides/slide8.xml"/><Relationship Id="rId57" Type="http://schemas.openxmlformats.org/officeDocument/2006/relationships/font" Target="fonts/InterMedium-regular.fntdata"/><Relationship Id="rId12" Type="http://schemas.openxmlformats.org/officeDocument/2006/relationships/slide" Target="slides/slide7.xml"/><Relationship Id="rId56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59" Type="http://schemas.openxmlformats.org/officeDocument/2006/relationships/font" Target="fonts/InterMedium-italic.fntdata"/><Relationship Id="rId14" Type="http://schemas.openxmlformats.org/officeDocument/2006/relationships/slide" Target="slides/slide9.xml"/><Relationship Id="rId58" Type="http://schemas.openxmlformats.org/officeDocument/2006/relationships/font" Target="fonts/InterMedium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5981b7ba3_3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5981b7ba3_3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5981b7ba3_3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5981b7ba3_3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5981b7ba3_3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5981b7ba3_3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5981b7ba3_2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5981b7ba3_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5981b7ba3_2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5981b7ba3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5981b7ba3_2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5981b7ba3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5981b7ba3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5981b7ba3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5981b7ba3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f5981b7ba3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5981b7ba3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5981b7ba3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5981b7ba3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f5981b7ba3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5981b7ba3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f5981b7ba3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f5981b7ba3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f5981b7ba3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f5981b7ba3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f5981b7ba3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f5981b7ba3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f5981b7ba3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f5981b7ba3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f5981b7ba3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f5981b7ba3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f5981b7ba3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f5981b7ba3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f5981b7ba3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f5981b7ba3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f5981b7ba3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f5981b7ba3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f5981b7ba3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f5981b7ba3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f5981b7ba3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f5981b7ba3_1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3f5981b7ba3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f5981b7ba3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3f5981b7ba3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f5981b7ba3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3f5981b7ba3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f5981b7ba3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3f5981b7ba3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f5981b7ba3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3f5981b7ba3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5981b7ba3_7_0)">
  <p:cSld name="Generated (g3f5981b7ba3_7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3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6.jp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39.jpg"/><Relationship Id="rId6" Type="http://schemas.openxmlformats.org/officeDocument/2006/relationships/image" Target="../media/image9.png"/><Relationship Id="rId7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1.jpg"/><Relationship Id="rId5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4"/>
          <p:cNvPicPr preferRelativeResize="0"/>
          <p:nvPr/>
        </p:nvPicPr>
        <p:blipFill rotWithShape="1">
          <a:blip r:embed="rId4">
            <a:alphaModFix/>
          </a:blip>
          <a:srcRect b="0" l="0" r="10" t="0"/>
          <a:stretch/>
        </p:blipFill>
        <p:spPr>
          <a:xfrm>
            <a:off x="762000" y="571500"/>
            <a:ext cx="2533800" cy="8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44125" y="428625"/>
            <a:ext cx="1143000" cy="1278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14"/>
          <p:cNvGrpSpPr/>
          <p:nvPr/>
        </p:nvGrpSpPr>
        <p:grpSpPr>
          <a:xfrm>
            <a:off x="2333625" y="2190750"/>
            <a:ext cx="7524900" cy="2762250"/>
            <a:chOff x="2333625" y="2190750"/>
            <a:chExt cx="7524900" cy="2762250"/>
          </a:xfrm>
        </p:grpSpPr>
        <p:sp>
          <p:nvSpPr>
            <p:cNvPr id="59" name="Google Shape;59;p14"/>
            <p:cNvSpPr txBox="1"/>
            <p:nvPr/>
          </p:nvSpPr>
          <p:spPr>
            <a:xfrm>
              <a:off x="2514600" y="2190750"/>
              <a:ext cx="7162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PYTHON PROGRAMMING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0" name="Google Shape;60;p14"/>
            <p:cNvSpPr txBox="1"/>
            <p:nvPr/>
          </p:nvSpPr>
          <p:spPr>
            <a:xfrm>
              <a:off x="2333625" y="2619375"/>
              <a:ext cx="752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45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Python shutil Module</a:t>
              </a:r>
              <a:endParaRPr b="1" sz="345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5381625" y="3905250"/>
              <a:ext cx="1428900" cy="381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 txBox="1"/>
            <p:nvPr/>
          </p:nvSpPr>
          <p:spPr>
            <a:xfrm>
              <a:off x="2514600" y="4191000"/>
              <a:ext cx="71628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File and Folder Automation for Beginners</a:t>
              </a:r>
              <a:endParaRPr b="0" sz="135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3" name="Google Shape;63;p14"/>
          <p:cNvGrpSpPr/>
          <p:nvPr/>
        </p:nvGrpSpPr>
        <p:grpSpPr>
          <a:xfrm>
            <a:off x="762000" y="5829300"/>
            <a:ext cx="2857500" cy="476400"/>
            <a:chOff x="0" y="0"/>
            <a:chExt cx="2857500" cy="476400"/>
          </a:xfrm>
        </p:grpSpPr>
        <p:sp>
          <p:nvSpPr>
            <p:cNvPr id="64" name="Google Shape;64;p14"/>
            <p:cNvSpPr txBox="1"/>
            <p:nvPr/>
          </p:nvSpPr>
          <p:spPr>
            <a:xfrm>
              <a:off x="0" y="0"/>
              <a:ext cx="285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PRESENTED BY</a:t>
              </a:r>
              <a:endParaRPr b="0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0" y="19050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Muhammd Yousif Memon</a:t>
              </a:r>
              <a:endParaRPr b="0" sz="135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6" name="Google Shape;66;p14"/>
          <p:cNvGrpSpPr/>
          <p:nvPr/>
        </p:nvGrpSpPr>
        <p:grpSpPr>
          <a:xfrm>
            <a:off x="9858525" y="5829300"/>
            <a:ext cx="1905000" cy="476400"/>
            <a:chOff x="0" y="0"/>
            <a:chExt cx="1905000" cy="476400"/>
          </a:xfrm>
        </p:grpSpPr>
        <p:sp>
          <p:nvSpPr>
            <p:cNvPr id="67" name="Google Shape;67;p14"/>
            <p:cNvSpPr txBox="1"/>
            <p:nvPr/>
          </p:nvSpPr>
          <p:spPr>
            <a:xfrm>
              <a:off x="0" y="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DATE OF SESSION</a:t>
              </a:r>
              <a:endParaRPr b="0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0" y="19050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July 23, 2026</a:t>
              </a:r>
              <a:endParaRPr b="0" sz="135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b="0" l="130" r="13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 rotWithShape="1">
          <a:blip r:embed="rId5">
            <a:alphaModFix/>
          </a:blip>
          <a:srcRect b="466" l="10" r="0" t="466"/>
          <a:stretch/>
        </p:blipFill>
        <p:spPr>
          <a:xfrm>
            <a:off x="10287000" y="5457825"/>
            <a:ext cx="1524000" cy="1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762000" y="61341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shutil Module: File and Folder Automation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is the shutil Module?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762000" y="1428750"/>
            <a:ext cx="514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rPr>
              <a:t>Understanding Shell Utilities in Python</a:t>
            </a:r>
            <a:endParaRPr b="1" sz="1650">
              <a:solidFill>
                <a:srgbClr val="045A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1" name="Google Shape;81;p15"/>
          <p:cNvGrpSpPr/>
          <p:nvPr/>
        </p:nvGrpSpPr>
        <p:grpSpPr>
          <a:xfrm>
            <a:off x="762000" y="1905000"/>
            <a:ext cx="5143575" cy="1238400"/>
            <a:chOff x="0" y="0"/>
            <a:chExt cx="5143575" cy="1238400"/>
          </a:xfrm>
        </p:grpSpPr>
        <p:grpSp>
          <p:nvGrpSpPr>
            <p:cNvPr id="82" name="Google Shape;82;p15"/>
            <p:cNvGrpSpPr/>
            <p:nvPr/>
          </p:nvGrpSpPr>
          <p:grpSpPr>
            <a:xfrm>
              <a:off x="0" y="42863"/>
              <a:ext cx="190500" cy="190500"/>
              <a:chOff x="0" y="4763"/>
              <a:chExt cx="190500" cy="190500"/>
            </a:xfrm>
          </p:grpSpPr>
          <p:sp>
            <p:nvSpPr>
              <p:cNvPr id="83" name="Google Shape;83;p15"/>
              <p:cNvSpPr/>
              <p:nvPr/>
            </p:nvSpPr>
            <p:spPr>
              <a:xfrm>
                <a:off x="0" y="4763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>
                <a:off x="57150" y="80975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7987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5" name="Google Shape;85;p15"/>
            <p:cNvSpPr txBox="1"/>
            <p:nvPr/>
          </p:nvSpPr>
          <p:spPr>
            <a:xfrm>
              <a:off x="333375" y="0"/>
              <a:ext cx="48102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Meaning &amp; Standard Library:</a:t>
              </a: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The name </a:t>
              </a:r>
              <a:r>
                <a:rPr b="0" lang="en" sz="1100">
                  <a:solidFill>
                    <a:srgbClr val="045A3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shutil</a:t>
              </a: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stands for "Shell Utilities," reflecting its purpose of providing shell-like file manipulation capabilities within Python. It comes pre-installed with Python, requiring no external packages via pip.</a:t>
              </a:r>
              <a:endParaRPr b="0" sz="13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6" name="Google Shape;86;p15"/>
          <p:cNvGrpSpPr/>
          <p:nvPr/>
        </p:nvGrpSpPr>
        <p:grpSpPr>
          <a:xfrm>
            <a:off x="762000" y="3286125"/>
            <a:ext cx="5143575" cy="762000"/>
            <a:chOff x="0" y="0"/>
            <a:chExt cx="5143575" cy="762000"/>
          </a:xfrm>
        </p:grpSpPr>
        <p:grpSp>
          <p:nvGrpSpPr>
            <p:cNvPr id="87" name="Google Shape;87;p15"/>
            <p:cNvGrpSpPr/>
            <p:nvPr/>
          </p:nvGrpSpPr>
          <p:grpSpPr>
            <a:xfrm>
              <a:off x="0" y="42863"/>
              <a:ext cx="190500" cy="190500"/>
              <a:chOff x="0" y="4763"/>
              <a:chExt cx="190500" cy="190500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0" y="4763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57150" y="80975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7987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0" name="Google Shape;90;p15"/>
            <p:cNvSpPr txBox="1"/>
            <p:nvPr/>
          </p:nvSpPr>
          <p:spPr>
            <a:xfrm>
              <a:off x="333375" y="0"/>
              <a:ext cx="4810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High-Level Operations &amp; Scope:</a:t>
              </a: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Designed for copying, moving, and deleting entire collections of files, directories, and complex nested directory trees.</a:t>
              </a:r>
              <a:endParaRPr b="0" sz="13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1" name="Google Shape;91;p15"/>
          <p:cNvGrpSpPr/>
          <p:nvPr/>
        </p:nvGrpSpPr>
        <p:grpSpPr>
          <a:xfrm>
            <a:off x="762000" y="4191000"/>
            <a:ext cx="5143575" cy="1238400"/>
            <a:chOff x="0" y="0"/>
            <a:chExt cx="5143575" cy="1238400"/>
          </a:xfrm>
        </p:grpSpPr>
        <p:grpSp>
          <p:nvGrpSpPr>
            <p:cNvPr id="92" name="Google Shape;92;p15"/>
            <p:cNvGrpSpPr/>
            <p:nvPr/>
          </p:nvGrpSpPr>
          <p:grpSpPr>
            <a:xfrm>
              <a:off x="0" y="42863"/>
              <a:ext cx="190500" cy="190500"/>
              <a:chOff x="0" y="4763"/>
              <a:chExt cx="190500" cy="190500"/>
            </a:xfrm>
          </p:grpSpPr>
          <p:sp>
            <p:nvSpPr>
              <p:cNvPr id="93" name="Google Shape;93;p15"/>
              <p:cNvSpPr/>
              <p:nvPr/>
            </p:nvSpPr>
            <p:spPr>
              <a:xfrm>
                <a:off x="0" y="4763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57150" y="80975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7987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5" name="Google Shape;95;p15"/>
            <p:cNvSpPr txBox="1"/>
            <p:nvPr/>
          </p:nvSpPr>
          <p:spPr>
            <a:xfrm>
              <a:off x="333375" y="0"/>
              <a:ext cx="48102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Contrast with Low-Level I/O:</a:t>
              </a: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Unlike low-level I/O operations (e.g., </a:t>
              </a:r>
              <a:r>
                <a:rPr b="0" lang="en" sz="1100">
                  <a:solidFill>
                    <a:srgbClr val="045A3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open()</a:t>
              </a: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b="0" lang="en" sz="1100">
                  <a:solidFill>
                    <a:srgbClr val="045A3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read()</a:t>
              </a: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b="0" lang="en" sz="1100">
                  <a:solidFill>
                    <a:srgbClr val="045A3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write()</a:t>
              </a: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), which handle stream reading and writing of file contents, </a:t>
              </a:r>
              <a:r>
                <a:rPr b="0" lang="en" sz="1100">
                  <a:solidFill>
                    <a:srgbClr val="045A3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shutil</a:t>
              </a: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deals with file structures, metadata, and the movement of data at the system level.</a:t>
              </a:r>
              <a:endParaRPr b="0" sz="13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6" name="Google Shape;96;p15"/>
          <p:cNvSpPr/>
          <p:nvPr/>
        </p:nvSpPr>
        <p:spPr>
          <a:xfrm>
            <a:off x="6286500" y="1524000"/>
            <a:ext cx="5143500" cy="3857700"/>
          </a:xfrm>
          <a:prstGeom prst="roundRect">
            <a:avLst>
              <a:gd fmla="val 1975" name="adj"/>
            </a:avLst>
          </a:prstGeom>
          <a:solidFill>
            <a:srgbClr val="000000">
              <a:alpha val="0"/>
            </a:srgbClr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524000"/>
            <a:ext cx="5143500" cy="3857700"/>
          </a:xfrm>
          <a:prstGeom prst="roundRect">
            <a:avLst>
              <a:gd fmla="val 19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762000" y="61341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shutil Module: File and Folder Automation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6"/>
          <p:cNvSpPr/>
          <p:nvPr>
            <p:ph idx="2" type="pic"/>
          </p:nvPr>
        </p:nvSpPr>
        <p:spPr>
          <a:xfrm>
            <a:off x="10287000" y="5457825"/>
            <a:ext cx="1524000" cy="10194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6"/>
          <p:cNvSpPr txBox="1"/>
          <p:nvPr/>
        </p:nvSpPr>
        <p:spPr>
          <a:xfrm>
            <a:off x="762000" y="428625"/>
            <a:ext cx="9525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98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os, pathlib, and shutil</a:t>
            </a:r>
            <a:endParaRPr b="0" sz="2498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018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Comparing Python's File Management Modules</a:t>
            </a:r>
            <a:endParaRPr b="0" sz="1018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08" name="Google Shape;108;p16"/>
          <p:cNvGrpSpPr/>
          <p:nvPr/>
        </p:nvGrpSpPr>
        <p:grpSpPr>
          <a:xfrm>
            <a:off x="762000" y="1524000"/>
            <a:ext cx="3048000" cy="3048000"/>
            <a:chOff x="0" y="0"/>
            <a:chExt cx="3048000" cy="3048000"/>
          </a:xfrm>
        </p:grpSpPr>
        <p:sp>
          <p:nvSpPr>
            <p:cNvPr id="109" name="Google Shape;109;p16"/>
            <p:cNvSpPr/>
            <p:nvPr/>
          </p:nvSpPr>
          <p:spPr>
            <a:xfrm>
              <a:off x="0" y="0"/>
              <a:ext cx="3048000" cy="3048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0" y="0"/>
              <a:ext cx="3048000" cy="114300"/>
            </a:xfrm>
            <a:custGeom>
              <a:rect b="b" l="l" r="r" t="t"/>
              <a:pathLst>
                <a:path extrusionOk="0" h="120000" w="120000">
                  <a:moveTo>
                    <a:pt x="3000" y="0"/>
                  </a:moveTo>
                  <a:lnTo>
                    <a:pt x="117000" y="0"/>
                  </a:lnTo>
                  <a:cubicBezTo>
                    <a:pt x="118657" y="0"/>
                    <a:pt x="120000" y="35817"/>
                    <a:pt x="120000" y="80000"/>
                  </a:cubicBezTo>
                  <a:lnTo>
                    <a:pt x="120000" y="120000"/>
                  </a:lnTo>
                  <a:lnTo>
                    <a:pt x="0" y="120000"/>
                  </a:lnTo>
                  <a:lnTo>
                    <a:pt x="0" y="80000"/>
                  </a:lnTo>
                  <a:cubicBezTo>
                    <a:pt x="0" y="35817"/>
                    <a:pt x="1343" y="0"/>
                    <a:pt x="3000" y="0"/>
                  </a:cubicBezTo>
                  <a:close/>
                </a:path>
              </a:pathLst>
            </a:cu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16"/>
          <p:cNvSpPr txBox="1"/>
          <p:nvPr/>
        </p:nvSpPr>
        <p:spPr>
          <a:xfrm>
            <a:off x="904875" y="1714500"/>
            <a:ext cx="27624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45A36"/>
                </a:solidFill>
                <a:latin typeface="Roboto Mono"/>
                <a:ea typeface="Roboto Mono"/>
                <a:cs typeface="Roboto Mono"/>
                <a:sym typeface="Roboto Mono"/>
              </a:rPr>
              <a:t>os</a:t>
            </a:r>
            <a:endParaRPr b="1" sz="1600">
              <a:solidFill>
                <a:srgbClr val="045A3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45A3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terminal</a:t>
            </a:r>
            <a:endParaRPr sz="2800">
              <a:solidFill>
                <a:srgbClr val="045A3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Focused on low-level operating system interactions.</a:t>
            </a:r>
            <a:endParaRPr b="0" sz="1050">
              <a:solidFill>
                <a:srgbClr val="1F293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292100" lvl="0" marL="457200" rtl="0" algn="l">
              <a:spcBef>
                <a:spcPts val="9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Creating single directories</a:t>
            </a:r>
            <a:endParaRPr sz="10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45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Managing environment variables</a:t>
            </a:r>
            <a:endParaRPr sz="10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45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Process management</a:t>
            </a:r>
            <a:endParaRPr sz="10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4000500" y="2952750"/>
            <a:ext cx="381000" cy="1905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20000" y="60000"/>
                </a:lnTo>
                <a:moveTo>
                  <a:pt x="90000" y="0"/>
                </a:moveTo>
                <a:lnTo>
                  <a:pt x="120000" y="60000"/>
                </a:lnTo>
                <a:lnTo>
                  <a:pt x="90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2857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" name="Google Shape;113;p16"/>
          <p:cNvGrpSpPr/>
          <p:nvPr/>
        </p:nvGrpSpPr>
        <p:grpSpPr>
          <a:xfrm>
            <a:off x="4572000" y="1524000"/>
            <a:ext cx="3048000" cy="3048000"/>
            <a:chOff x="0" y="0"/>
            <a:chExt cx="3048000" cy="3048000"/>
          </a:xfrm>
        </p:grpSpPr>
        <p:sp>
          <p:nvSpPr>
            <p:cNvPr id="114" name="Google Shape;114;p16"/>
            <p:cNvSpPr/>
            <p:nvPr/>
          </p:nvSpPr>
          <p:spPr>
            <a:xfrm>
              <a:off x="0" y="0"/>
              <a:ext cx="3048000" cy="3048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0" y="0"/>
              <a:ext cx="3048000" cy="114300"/>
            </a:xfrm>
            <a:custGeom>
              <a:rect b="b" l="l" r="r" t="t"/>
              <a:pathLst>
                <a:path extrusionOk="0" h="120000" w="120000">
                  <a:moveTo>
                    <a:pt x="3000" y="0"/>
                  </a:moveTo>
                  <a:lnTo>
                    <a:pt x="117000" y="0"/>
                  </a:lnTo>
                  <a:cubicBezTo>
                    <a:pt x="118657" y="0"/>
                    <a:pt x="120000" y="35817"/>
                    <a:pt x="120000" y="80000"/>
                  </a:cubicBezTo>
                  <a:lnTo>
                    <a:pt x="120000" y="120000"/>
                  </a:lnTo>
                  <a:lnTo>
                    <a:pt x="0" y="120000"/>
                  </a:lnTo>
                  <a:lnTo>
                    <a:pt x="0" y="80000"/>
                  </a:lnTo>
                  <a:cubicBezTo>
                    <a:pt x="0" y="35817"/>
                    <a:pt x="1343" y="0"/>
                    <a:pt x="3000" y="0"/>
                  </a:cubicBezTo>
                  <a:close/>
                </a:path>
              </a:pathLst>
            </a:custGeom>
            <a:solidFill>
              <a:srgbClr val="0B7A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6"/>
          <p:cNvSpPr txBox="1"/>
          <p:nvPr/>
        </p:nvSpPr>
        <p:spPr>
          <a:xfrm>
            <a:off x="4714875" y="1714500"/>
            <a:ext cx="27624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45A36"/>
                </a:solidFill>
                <a:latin typeface="Roboto Mono"/>
                <a:ea typeface="Roboto Mono"/>
                <a:cs typeface="Roboto Mono"/>
                <a:sym typeface="Roboto Mono"/>
              </a:rPr>
              <a:t>pathlib</a:t>
            </a:r>
            <a:endParaRPr b="1" sz="1600">
              <a:solidFill>
                <a:srgbClr val="045A3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B7A4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folder_open</a:t>
            </a:r>
            <a:endParaRPr sz="2800">
              <a:solidFill>
                <a:srgbClr val="0B7A4B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Provides object-oriented path manipulation.</a:t>
            </a:r>
            <a:endParaRPr b="0" sz="1050">
              <a:solidFill>
                <a:srgbClr val="1F293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292100" lvl="0" marL="457200" rtl="0" algn="l">
              <a:spcBef>
                <a:spcPts val="9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Working with Path objects</a:t>
            </a:r>
            <a:endParaRPr sz="10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45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Path slicing</a:t>
            </a:r>
            <a:endParaRPr sz="10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45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Checking file extensions</a:t>
            </a:r>
            <a:endParaRPr sz="10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7810500" y="2952750"/>
            <a:ext cx="381000" cy="1905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20000" y="60000"/>
                </a:lnTo>
                <a:moveTo>
                  <a:pt x="90000" y="0"/>
                </a:moveTo>
                <a:lnTo>
                  <a:pt x="120000" y="60000"/>
                </a:lnTo>
                <a:lnTo>
                  <a:pt x="90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2857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" name="Google Shape;118;p16"/>
          <p:cNvGrpSpPr/>
          <p:nvPr/>
        </p:nvGrpSpPr>
        <p:grpSpPr>
          <a:xfrm>
            <a:off x="8382000" y="1524000"/>
            <a:ext cx="3048000" cy="3048000"/>
            <a:chOff x="0" y="0"/>
            <a:chExt cx="3048000" cy="3048000"/>
          </a:xfrm>
        </p:grpSpPr>
        <p:sp>
          <p:nvSpPr>
            <p:cNvPr id="119" name="Google Shape;119;p16"/>
            <p:cNvSpPr/>
            <p:nvPr/>
          </p:nvSpPr>
          <p:spPr>
            <a:xfrm>
              <a:off x="0" y="0"/>
              <a:ext cx="3048000" cy="3048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0" y="0"/>
              <a:ext cx="3048000" cy="114300"/>
            </a:xfrm>
            <a:custGeom>
              <a:rect b="b" l="l" r="r" t="t"/>
              <a:pathLst>
                <a:path extrusionOk="0" h="120000" w="120000">
                  <a:moveTo>
                    <a:pt x="3000" y="0"/>
                  </a:moveTo>
                  <a:lnTo>
                    <a:pt x="117000" y="0"/>
                  </a:lnTo>
                  <a:cubicBezTo>
                    <a:pt x="118657" y="0"/>
                    <a:pt x="120000" y="35817"/>
                    <a:pt x="120000" y="80000"/>
                  </a:cubicBezTo>
                  <a:lnTo>
                    <a:pt x="120000" y="120000"/>
                  </a:lnTo>
                  <a:lnTo>
                    <a:pt x="0" y="120000"/>
                  </a:lnTo>
                  <a:lnTo>
                    <a:pt x="0" y="80000"/>
                  </a:lnTo>
                  <a:cubicBezTo>
                    <a:pt x="0" y="35817"/>
                    <a:pt x="1343" y="0"/>
                    <a:pt x="3000" y="0"/>
                  </a:cubicBezTo>
                  <a:close/>
                </a:path>
              </a:pathLst>
            </a:cu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" name="Google Shape;121;p16"/>
          <p:cNvSpPr txBox="1"/>
          <p:nvPr/>
        </p:nvSpPr>
        <p:spPr>
          <a:xfrm>
            <a:off x="8524875" y="1714500"/>
            <a:ext cx="27624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45A36"/>
                </a:solidFill>
                <a:latin typeface="Roboto Mono"/>
                <a:ea typeface="Roboto Mono"/>
                <a:cs typeface="Roboto Mono"/>
                <a:sym typeface="Roboto Mono"/>
              </a:rPr>
              <a:t>shutil</a:t>
            </a:r>
            <a:endParaRPr b="1" sz="1600">
              <a:solidFill>
                <a:srgbClr val="045A3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D4A017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file_copy</a:t>
            </a:r>
            <a:endParaRPr sz="2800">
              <a:solidFill>
                <a:srgbClr val="D4A01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Focused on high-level file and directory operations.</a:t>
            </a:r>
            <a:endParaRPr b="0" sz="1050">
              <a:solidFill>
                <a:srgbClr val="1F293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292100" lvl="0" marL="457200" rtl="0" algn="l">
              <a:spcBef>
                <a:spcPts val="9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Copying, moving, and archiving</a:t>
            </a:r>
            <a:endParaRPr sz="10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45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Recursively deleting files and folders</a:t>
            </a:r>
            <a:endParaRPr sz="10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2" name="Google Shape;122;p16"/>
          <p:cNvGrpSpPr/>
          <p:nvPr/>
        </p:nvGrpSpPr>
        <p:grpSpPr>
          <a:xfrm>
            <a:off x="762000" y="4810125"/>
            <a:ext cx="10668000" cy="952500"/>
            <a:chOff x="0" y="0"/>
            <a:chExt cx="10668000" cy="952500"/>
          </a:xfrm>
        </p:grpSpPr>
        <p:sp>
          <p:nvSpPr>
            <p:cNvPr id="123" name="Google Shape;123;p16"/>
            <p:cNvSpPr/>
            <p:nvPr/>
          </p:nvSpPr>
          <p:spPr>
            <a:xfrm>
              <a:off x="0" y="0"/>
              <a:ext cx="10668000" cy="9525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190500" y="190500"/>
              <a:ext cx="47700" cy="5715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381000" y="142875"/>
              <a:ext cx="10048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Architectural Relationship</a:t>
              </a:r>
              <a:endParaRPr b="1" sz="125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In a production automation script, these modules often work together. </a:t>
              </a:r>
              <a:r>
                <a:rPr b="0" lang="en" sz="950">
                  <a:solidFill>
                    <a:srgbClr val="045A36"/>
                  </a:solidFill>
                  <a:highlight>
                    <a:srgbClr val="F1F5F9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pathlib</a:t>
              </a:r>
              <a:r>
                <a:rPr lang="en" sz="10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is used to construct and validate paths, </a:t>
              </a:r>
              <a:r>
                <a:rPr b="0" lang="en" sz="950">
                  <a:solidFill>
                    <a:srgbClr val="045A36"/>
                  </a:solidFill>
                  <a:highlight>
                    <a:srgbClr val="F1F5F9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os</a:t>
              </a:r>
              <a:r>
                <a:rPr lang="en" sz="10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might handle specific system-level checks, and </a:t>
              </a:r>
              <a:r>
                <a:rPr b="0" lang="en" sz="950">
                  <a:solidFill>
                    <a:srgbClr val="045A36"/>
                  </a:solidFill>
                  <a:highlight>
                    <a:srgbClr val="F1F5F9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shutil</a:t>
              </a:r>
              <a:r>
                <a:rPr lang="en" sz="10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executes the heavy lifting of moving or copying the data.</a:t>
              </a:r>
              <a:endParaRPr sz="10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762000" y="28575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Importing and Setting Up shutil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D4A01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Best Practices for Path Management</a:t>
            </a:r>
            <a:endParaRPr b="0" sz="1100">
              <a:solidFill>
                <a:srgbClr val="D4A01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" name="Google Shape;134;p17"/>
          <p:cNvGrpSpPr/>
          <p:nvPr/>
        </p:nvGrpSpPr>
        <p:grpSpPr>
          <a:xfrm>
            <a:off x="762000" y="1333500"/>
            <a:ext cx="10668000" cy="1381200"/>
            <a:chOff x="0" y="0"/>
            <a:chExt cx="10668000" cy="1381200"/>
          </a:xfrm>
        </p:grpSpPr>
        <p:sp>
          <p:nvSpPr>
            <p:cNvPr id="135" name="Google Shape;135;p17"/>
            <p:cNvSpPr/>
            <p:nvPr/>
          </p:nvSpPr>
          <p:spPr>
            <a:xfrm>
              <a:off x="0" y="0"/>
              <a:ext cx="10668000" cy="1381200"/>
            </a:xfrm>
            <a:prstGeom prst="roundRect">
              <a:avLst>
                <a:gd fmla="val 4137" name="adj"/>
              </a:avLst>
            </a:prstGeom>
            <a:solidFill>
              <a:srgbClr val="1F29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0" y="0"/>
              <a:ext cx="57300" cy="1381200"/>
            </a:xfrm>
            <a:prstGeom prst="roundRect">
              <a:avLst>
                <a:gd fmla="val 33333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285750" y="142875"/>
              <a:ext cx="10096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6B72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Import shutil and pathlib together</a:t>
              </a:r>
              <a:endParaRPr b="0" sz="1300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import</a:t>
              </a:r>
              <a:r>
                <a:rPr b="0" lang="en" sz="13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shutil</a:t>
              </a:r>
              <a:endParaRPr b="0" sz="1300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from</a:t>
              </a:r>
              <a:r>
                <a:rPr b="0" lang="en" sz="13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pathlib </a:t>
              </a:r>
              <a:r>
                <a:rPr b="1" lang="en" sz="1300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import</a:t>
              </a:r>
              <a:r>
                <a:rPr b="0" lang="en" sz="13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Path</a:t>
              </a:r>
              <a:endParaRPr b="0" sz="1300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38" name="Google Shape;138;p17"/>
          <p:cNvGrpSpPr/>
          <p:nvPr/>
        </p:nvGrpSpPr>
        <p:grpSpPr>
          <a:xfrm>
            <a:off x="762000" y="2952750"/>
            <a:ext cx="4952925" cy="2381400"/>
            <a:chOff x="0" y="0"/>
            <a:chExt cx="4952925" cy="2381400"/>
          </a:xfrm>
        </p:grpSpPr>
        <p:sp>
          <p:nvSpPr>
            <p:cNvPr id="139" name="Google Shape;139;p17"/>
            <p:cNvSpPr/>
            <p:nvPr/>
          </p:nvSpPr>
          <p:spPr>
            <a:xfrm>
              <a:off x="0" y="0"/>
              <a:ext cx="38100" cy="23814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 txBox="1"/>
            <p:nvPr/>
          </p:nvSpPr>
          <p:spPr>
            <a:xfrm>
              <a:off x="238125" y="0"/>
              <a:ext cx="47148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Relative vs. Absolute Paths</a:t>
              </a:r>
              <a:endParaRPr b="1" sz="15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Absolute paths specify the full directory structure, making them safer and more reliable for background automation scripts where the working directory might change.</a:t>
              </a:r>
              <a:endParaRPr b="0" sz="12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1" name="Google Shape;141;p17"/>
            <p:cNvSpPr/>
            <p:nvPr/>
          </p:nvSpPr>
          <p:spPr>
            <a:xfrm>
              <a:off x="238125" y="1476375"/>
              <a:ext cx="4714800" cy="809700"/>
            </a:xfrm>
            <a:prstGeom prst="roundRect">
              <a:avLst>
                <a:gd fmla="val 7058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7"/>
            <p:cNvSpPr/>
            <p:nvPr/>
          </p:nvSpPr>
          <p:spPr>
            <a:xfrm>
              <a:off x="238125" y="1476375"/>
              <a:ext cx="38100" cy="8097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7"/>
            <p:cNvSpPr txBox="1"/>
            <p:nvPr/>
          </p:nvSpPr>
          <p:spPr>
            <a:xfrm>
              <a:off x="428625" y="1571625"/>
              <a:ext cx="4381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B72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Define absolute paths cleanly</a:t>
              </a:r>
              <a:endParaRPr b="0" sz="105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src = Path(</a:t>
              </a:r>
              <a:r>
                <a:rPr b="1" lang="en" sz="105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'/path/to/source'</a:t>
              </a:r>
              <a:r>
                <a:rPr b="0" lang="en" sz="10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b="0" sz="105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dst = Path(</a:t>
              </a:r>
              <a:r>
                <a:rPr b="1" lang="en" sz="105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'/path/to/destination'</a:t>
              </a:r>
              <a:r>
                <a:rPr b="0" lang="en" sz="10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b="0" sz="105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44" name="Google Shape;144;p17"/>
          <p:cNvGrpSpPr/>
          <p:nvPr/>
        </p:nvGrpSpPr>
        <p:grpSpPr>
          <a:xfrm>
            <a:off x="6477000" y="2952750"/>
            <a:ext cx="4952925" cy="2381400"/>
            <a:chOff x="0" y="0"/>
            <a:chExt cx="4952925" cy="2381400"/>
          </a:xfrm>
        </p:grpSpPr>
        <p:sp>
          <p:nvSpPr>
            <p:cNvPr id="145" name="Google Shape;145;p17"/>
            <p:cNvSpPr/>
            <p:nvPr/>
          </p:nvSpPr>
          <p:spPr>
            <a:xfrm>
              <a:off x="0" y="0"/>
              <a:ext cx="38100" cy="23814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238125" y="0"/>
              <a:ext cx="47148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75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Path Validation &amp; Safety</a:t>
              </a:r>
              <a:endParaRPr b="1" sz="1275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63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Always verify paths and prepare target folders before running automation scripts.</a:t>
              </a:r>
              <a:endParaRPr b="0" sz="1063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7" name="Google Shape;147;p17"/>
            <p:cNvSpPr txBox="1"/>
            <p:nvPr/>
          </p:nvSpPr>
          <p:spPr>
            <a:xfrm>
              <a:off x="238125" y="714375"/>
              <a:ext cx="4714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1. Use </a:t>
              </a:r>
              <a:r>
                <a:rPr b="0" lang="en" sz="1150">
                  <a:solidFill>
                    <a:srgbClr val="045A3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Path.exists()</a:t>
              </a: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to prevent errors:</a:t>
              </a:r>
              <a:endParaRPr b="0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238125" y="1095375"/>
              <a:ext cx="4714800" cy="381000"/>
            </a:xfrm>
            <a:prstGeom prst="roundRect">
              <a:avLst>
                <a:gd fmla="val 10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238125" y="1095375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428625" y="1095375"/>
              <a:ext cx="438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if</a:t>
              </a:r>
              <a:r>
                <a:rPr b="0" lang="en" sz="10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src.exists(): </a:t>
              </a:r>
              <a:r>
                <a:rPr b="0" lang="en" sz="1050">
                  <a:solidFill>
                    <a:srgbClr val="6B72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Proceed safely</a:t>
              </a:r>
              <a:endParaRPr b="0" sz="105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51" name="Google Shape;151;p17"/>
            <p:cNvSpPr txBox="1"/>
            <p:nvPr/>
          </p:nvSpPr>
          <p:spPr>
            <a:xfrm>
              <a:off x="238125" y="1571625"/>
              <a:ext cx="4714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2. Pre-create parent folders automatically:</a:t>
              </a:r>
              <a:endParaRPr b="0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238125" y="1952625"/>
              <a:ext cx="4714800" cy="381000"/>
            </a:xfrm>
            <a:prstGeom prst="roundRect">
              <a:avLst>
                <a:gd fmla="val 10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238125" y="1952625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428625" y="1952625"/>
              <a:ext cx="438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dst.parent.mkdir(parents=</a:t>
              </a:r>
              <a:r>
                <a:rPr b="1" lang="en" sz="105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True</a:t>
              </a:r>
              <a:r>
                <a:rPr b="0" lang="en" sz="10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 exist_ok=</a:t>
              </a:r>
              <a:r>
                <a:rPr b="1" lang="en" sz="105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True</a:t>
              </a:r>
              <a:r>
                <a:rPr b="0" lang="en" sz="10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b="0" sz="105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155" name="Google Shape;155;p17"/>
          <p:cNvSpPr txBox="1"/>
          <p:nvPr/>
        </p:nvSpPr>
        <p:spPr>
          <a:xfrm>
            <a:off x="762000" y="622935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shutil Module: File and Folder Automation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Google Shape;156;p17"/>
          <p:cNvSpPr/>
          <p:nvPr>
            <p:ph idx="2" type="pic"/>
          </p:nvPr>
        </p:nvSpPr>
        <p:spPr>
          <a:xfrm>
            <a:off x="10287000" y="5457825"/>
            <a:ext cx="1524000" cy="1019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" name="Google Shape;163;p18"/>
          <p:cNvGrpSpPr/>
          <p:nvPr/>
        </p:nvGrpSpPr>
        <p:grpSpPr>
          <a:xfrm>
            <a:off x="762000" y="476250"/>
            <a:ext cx="9525000" cy="619125"/>
            <a:chOff x="0" y="0"/>
            <a:chExt cx="9525000" cy="619125"/>
          </a:xfrm>
        </p:grpSpPr>
        <p:sp>
          <p:nvSpPr>
            <p:cNvPr id="164" name="Google Shape;164;p18"/>
            <p:cNvSpPr txBox="1"/>
            <p:nvPr/>
          </p:nvSpPr>
          <p:spPr>
            <a:xfrm>
              <a:off x="0" y="0"/>
              <a:ext cx="952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700">
                  <a:solidFill>
                    <a:srgbClr val="045A36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Copying Files with shutil.copy()</a:t>
              </a:r>
              <a:endParaRPr b="0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0" y="428625"/>
              <a:ext cx="952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D4A01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Basic File Duplication</a:t>
              </a:r>
              <a:endParaRPr b="0" sz="1200">
                <a:solidFill>
                  <a:srgbClr val="D4A01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66" name="Google Shape;166;p18"/>
          <p:cNvGrpSpPr/>
          <p:nvPr/>
        </p:nvGrpSpPr>
        <p:grpSpPr>
          <a:xfrm>
            <a:off x="762000" y="1352550"/>
            <a:ext cx="10668000" cy="1828800"/>
            <a:chOff x="0" y="0"/>
            <a:chExt cx="10668000" cy="1828800"/>
          </a:xfrm>
        </p:grpSpPr>
        <p:sp>
          <p:nvSpPr>
            <p:cNvPr id="167" name="Google Shape;167;p18"/>
            <p:cNvSpPr txBox="1"/>
            <p:nvPr/>
          </p:nvSpPr>
          <p:spPr>
            <a:xfrm>
              <a:off x="0" y="0"/>
              <a:ext cx="10668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Purpose:</a:t>
              </a: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Used to copy the contents and permission mode of a single file to a destination.</a:t>
              </a:r>
              <a:endParaRPr b="0" sz="13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45A3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shutil.copy(src, dst, *, follow_symlinks=True)</a:t>
              </a:r>
              <a:endParaRPr b="0" sz="1300">
                <a:solidFill>
                  <a:srgbClr val="045A3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grpSp>
          <p:nvGrpSpPr>
            <p:cNvPr id="168" name="Google Shape;168;p18"/>
            <p:cNvGrpSpPr/>
            <p:nvPr/>
          </p:nvGrpSpPr>
          <p:grpSpPr>
            <a:xfrm>
              <a:off x="0" y="590550"/>
              <a:ext cx="10668000" cy="495300"/>
              <a:chOff x="0" y="0"/>
              <a:chExt cx="10668000" cy="495300"/>
            </a:xfrm>
          </p:grpSpPr>
          <p:sp>
            <p:nvSpPr>
              <p:cNvPr id="169" name="Google Shape;169;p18"/>
              <p:cNvSpPr/>
              <p:nvPr/>
            </p:nvSpPr>
            <p:spPr>
              <a:xfrm>
                <a:off x="0" y="0"/>
                <a:ext cx="10668000" cy="4953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8"/>
              <p:cNvSpPr/>
              <p:nvPr/>
            </p:nvSpPr>
            <p:spPr>
              <a:xfrm>
                <a:off x="0" y="0"/>
                <a:ext cx="57300" cy="495300"/>
              </a:xfrm>
              <a:prstGeom prst="rect">
                <a:avLst/>
              </a:prstGeom>
              <a:solidFill>
                <a:srgbClr val="0B7A4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8"/>
              <p:cNvSpPr txBox="1"/>
              <p:nvPr/>
            </p:nvSpPr>
            <p:spPr>
              <a:xfrm>
                <a:off x="190500" y="76200"/>
                <a:ext cx="1428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045A3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src</a:t>
                </a:r>
                <a:endParaRPr b="1" sz="125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72" name="Google Shape;172;p18"/>
              <p:cNvSpPr txBox="1"/>
              <p:nvPr/>
            </p:nvSpPr>
            <p:spPr>
              <a:xfrm>
                <a:off x="1809750" y="76200"/>
                <a:ext cx="8667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The path to the file to be copied.</a:t>
                </a:r>
                <a:endParaRPr b="0" sz="12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73" name="Google Shape;173;p18"/>
            <p:cNvGrpSpPr/>
            <p:nvPr/>
          </p:nvGrpSpPr>
          <p:grpSpPr>
            <a:xfrm>
              <a:off x="0" y="1181100"/>
              <a:ext cx="10668000" cy="647700"/>
              <a:chOff x="0" y="0"/>
              <a:chExt cx="10668000" cy="647700"/>
            </a:xfrm>
          </p:grpSpPr>
          <p:sp>
            <p:nvSpPr>
              <p:cNvPr id="174" name="Google Shape;174;p18"/>
              <p:cNvSpPr/>
              <p:nvPr/>
            </p:nvSpPr>
            <p:spPr>
              <a:xfrm>
                <a:off x="0" y="0"/>
                <a:ext cx="10668000" cy="6477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8"/>
              <p:cNvSpPr/>
              <p:nvPr/>
            </p:nvSpPr>
            <p:spPr>
              <a:xfrm>
                <a:off x="0" y="0"/>
                <a:ext cx="57300" cy="647700"/>
              </a:xfrm>
              <a:prstGeom prst="rect">
                <a:avLst/>
              </a:prstGeom>
              <a:solidFill>
                <a:srgbClr val="0B7A4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8"/>
              <p:cNvSpPr txBox="1"/>
              <p:nvPr/>
            </p:nvSpPr>
            <p:spPr>
              <a:xfrm>
                <a:off x="190500" y="76200"/>
                <a:ext cx="14289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045A3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dst</a:t>
                </a:r>
                <a:endParaRPr b="1" sz="125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77" name="Google Shape;177;p18"/>
              <p:cNvSpPr txBox="1"/>
              <p:nvPr/>
            </p:nvSpPr>
            <p:spPr>
              <a:xfrm>
                <a:off x="1809750" y="76200"/>
                <a:ext cx="86679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The destination path. If </a:t>
                </a:r>
                <a:r>
                  <a:rPr b="0" lang="en" sz="125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dst</a:t>
                </a:r>
                <a:r>
                  <a:rPr b="0" lang="en" sz="12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is a directory, the file is copied into it with its original name. If it is a file path, it specifies the new name (enabling simultaneous renaming).</a:t>
                </a:r>
                <a:endParaRPr b="0" sz="12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78" name="Google Shape;178;p18"/>
          <p:cNvGrpSpPr/>
          <p:nvPr/>
        </p:nvGrpSpPr>
        <p:grpSpPr>
          <a:xfrm>
            <a:off x="762000" y="3762375"/>
            <a:ext cx="9048900" cy="2076450"/>
            <a:chOff x="0" y="0"/>
            <a:chExt cx="9048900" cy="2076450"/>
          </a:xfrm>
        </p:grpSpPr>
        <p:sp>
          <p:nvSpPr>
            <p:cNvPr id="179" name="Google Shape;179;p18"/>
            <p:cNvSpPr txBox="1"/>
            <p:nvPr/>
          </p:nvSpPr>
          <p:spPr>
            <a:xfrm>
              <a:off x="0" y="0"/>
              <a:ext cx="9048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5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Basic Automation &amp; Renaming Example</a:t>
              </a:r>
              <a:endParaRPr b="1" sz="145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80" name="Google Shape;180;p18"/>
            <p:cNvGrpSpPr/>
            <p:nvPr/>
          </p:nvGrpSpPr>
          <p:grpSpPr>
            <a:xfrm>
              <a:off x="0" y="400050"/>
              <a:ext cx="9048900" cy="1676400"/>
              <a:chOff x="0" y="0"/>
              <a:chExt cx="9048900" cy="1676400"/>
            </a:xfrm>
          </p:grpSpPr>
          <p:sp>
            <p:nvSpPr>
              <p:cNvPr id="181" name="Google Shape;181;p18"/>
              <p:cNvSpPr/>
              <p:nvPr/>
            </p:nvSpPr>
            <p:spPr>
              <a:xfrm>
                <a:off x="0" y="0"/>
                <a:ext cx="9048900" cy="1676400"/>
              </a:xfrm>
              <a:prstGeom prst="roundRect">
                <a:avLst>
                  <a:gd fmla="val 2272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8"/>
              <p:cNvSpPr/>
              <p:nvPr/>
            </p:nvSpPr>
            <p:spPr>
              <a:xfrm>
                <a:off x="0" y="0"/>
                <a:ext cx="57300" cy="1676400"/>
              </a:xfrm>
              <a:prstGeom prst="roundRect">
                <a:avLst>
                  <a:gd fmla="val 33333" name="adj"/>
                </a:avLst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8"/>
              <p:cNvSpPr txBox="1"/>
              <p:nvPr/>
            </p:nvSpPr>
            <p:spPr>
              <a:xfrm>
                <a:off x="238125" y="142875"/>
                <a:ext cx="8572500" cy="13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3">
                    <a:solidFill>
                      <a:srgbClr val="045A36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import </a:t>
                </a:r>
                <a:r>
                  <a:rPr b="0" lang="en" sz="853">
                    <a:solidFill>
                      <a:srgbClr val="1F2937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shutil</a:t>
                </a:r>
                <a:endParaRPr b="0" sz="853">
                  <a:solidFill>
                    <a:srgbClr val="045A3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853">
                    <a:solidFill>
                      <a:srgbClr val="045A36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from </a:t>
                </a:r>
                <a:r>
                  <a:rPr b="0" lang="en" sz="853">
                    <a:solidFill>
                      <a:srgbClr val="1F2937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pathlib</a:t>
                </a:r>
                <a:r>
                  <a:rPr b="0" lang="en" sz="853">
                    <a:solidFill>
                      <a:srgbClr val="045A36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 import </a:t>
                </a:r>
                <a:r>
                  <a:rPr b="0" lang="en" sz="853">
                    <a:solidFill>
                      <a:srgbClr val="1F2937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Path</a:t>
                </a:r>
                <a:endParaRPr b="0" sz="853">
                  <a:solidFill>
                    <a:srgbClr val="045A3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853">
                    <a:solidFill>
                      <a:srgbClr val="1F293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src = Path(</a:t>
                </a:r>
                <a:r>
                  <a:rPr b="0" lang="en" sz="853">
                    <a:solidFill>
                      <a:srgbClr val="D4A01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'config.ini'</a:t>
                </a:r>
                <a:r>
                  <a:rPr b="0" lang="en" sz="853">
                    <a:solidFill>
                      <a:srgbClr val="1F293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)</a:t>
                </a:r>
                <a:endParaRPr b="0" sz="853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853">
                    <a:solidFill>
                      <a:srgbClr val="1F293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dst = Path(</a:t>
                </a:r>
                <a:r>
                  <a:rPr b="0" lang="en" sz="853">
                    <a:solidFill>
                      <a:srgbClr val="D4A01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'backup/config_backup.ini'</a:t>
                </a:r>
                <a:r>
                  <a:rPr b="0" lang="en" sz="853">
                    <a:solidFill>
                      <a:srgbClr val="1F293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)</a:t>
                </a:r>
                <a:endParaRPr b="0" sz="853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i="1" lang="en" sz="853">
                    <a:solidFill>
                      <a:srgbClr val="6B72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# Ensure backup directory exists</a:t>
                </a:r>
                <a:endParaRPr b="0" i="1" sz="853">
                  <a:solidFill>
                    <a:srgbClr val="6B7280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853">
                    <a:solidFill>
                      <a:srgbClr val="1F293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dst.parent.mkdir(parents=</a:t>
                </a:r>
                <a:r>
                  <a:rPr b="0" lang="en" sz="853">
                    <a:solidFill>
                      <a:srgbClr val="0B7A4B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True</a:t>
                </a:r>
                <a:r>
                  <a:rPr b="0" lang="en" sz="853">
                    <a:solidFill>
                      <a:srgbClr val="1F293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, exist_ok=</a:t>
                </a:r>
                <a:r>
                  <a:rPr b="0" lang="en" sz="853">
                    <a:solidFill>
                      <a:srgbClr val="0B7A4B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True</a:t>
                </a:r>
                <a:r>
                  <a:rPr b="0" lang="en" sz="853">
                    <a:solidFill>
                      <a:srgbClr val="1F293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)</a:t>
                </a:r>
                <a:endParaRPr b="0" sz="853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853">
                    <a:solidFill>
                      <a:srgbClr val="1F2937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shutil.copy(src, dst)</a:t>
                </a:r>
                <a:endParaRPr b="0" sz="853">
                  <a:solidFill>
                    <a:srgbClr val="1F2937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</p:txBody>
          </p:sp>
        </p:grpSp>
      </p:grpSp>
      <p:sp>
        <p:nvSpPr>
          <p:cNvPr id="184" name="Google Shape;184;p18"/>
          <p:cNvSpPr txBox="1"/>
          <p:nvPr/>
        </p:nvSpPr>
        <p:spPr>
          <a:xfrm>
            <a:off x="762000" y="61341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shutil Module: File and Folder Automation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18"/>
          <p:cNvSpPr/>
          <p:nvPr>
            <p:ph idx="2" type="pic"/>
          </p:nvPr>
        </p:nvSpPr>
        <p:spPr>
          <a:xfrm>
            <a:off x="10287000" y="5457825"/>
            <a:ext cx="1524000" cy="1019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762000" y="381000"/>
            <a:ext cx="1066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Preserving Metadata with shutil.copy2()</a:t>
            </a:r>
            <a:endParaRPr b="0" sz="25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762000" y="809625"/>
            <a:ext cx="10668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6B728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Retaining File History During Copies</a:t>
            </a:r>
            <a:endParaRPr b="0" sz="1400">
              <a:solidFill>
                <a:srgbClr val="6B728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95" name="Google Shape;195;p19"/>
          <p:cNvGrpSpPr/>
          <p:nvPr/>
        </p:nvGrpSpPr>
        <p:grpSpPr>
          <a:xfrm>
            <a:off x="762000" y="1381125"/>
            <a:ext cx="5905575" cy="3048150"/>
            <a:chOff x="762000" y="1381125"/>
            <a:chExt cx="5905575" cy="3048150"/>
          </a:xfrm>
        </p:grpSpPr>
        <p:grpSp>
          <p:nvGrpSpPr>
            <p:cNvPr id="196" name="Google Shape;196;p19"/>
            <p:cNvGrpSpPr/>
            <p:nvPr/>
          </p:nvGrpSpPr>
          <p:grpSpPr>
            <a:xfrm>
              <a:off x="762000" y="1381125"/>
              <a:ext cx="5905575" cy="714300"/>
              <a:chOff x="762000" y="1381125"/>
              <a:chExt cx="5905575" cy="714300"/>
            </a:xfrm>
          </p:grpSpPr>
          <p:grpSp>
            <p:nvGrpSpPr>
              <p:cNvPr id="197" name="Google Shape;197;p19"/>
              <p:cNvGrpSpPr/>
              <p:nvPr/>
            </p:nvGrpSpPr>
            <p:grpSpPr>
              <a:xfrm>
                <a:off x="762000" y="1414463"/>
                <a:ext cx="190500" cy="190500"/>
                <a:chOff x="0" y="4763"/>
                <a:chExt cx="190500" cy="190500"/>
              </a:xfrm>
            </p:grpSpPr>
            <p:sp>
              <p:nvSpPr>
                <p:cNvPr id="198" name="Google Shape;198;p19"/>
                <p:cNvSpPr/>
                <p:nvPr/>
              </p:nvSpPr>
              <p:spPr>
                <a:xfrm>
                  <a:off x="0" y="4763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" name="Google Shape;199;p19"/>
                <p:cNvSpPr/>
                <p:nvPr/>
              </p:nvSpPr>
              <p:spPr>
                <a:xfrm>
                  <a:off x="57150" y="80975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7987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8FAF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00" name="Google Shape;200;p19"/>
              <p:cNvSpPr txBox="1"/>
              <p:nvPr/>
            </p:nvSpPr>
            <p:spPr>
              <a:xfrm>
                <a:off x="1095375" y="1381125"/>
                <a:ext cx="55722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Crucial Difference:</a:t>
                </a:r>
                <a:r>
                  <a:rPr b="0" lang="en" sz="13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While </a:t>
                </a:r>
                <a:r>
                  <a:rPr b="0" lang="en" sz="1150">
                    <a:solidFill>
                      <a:srgbClr val="1F2937"/>
                    </a:solidFill>
                    <a:highlight>
                      <a:srgbClr val="E2E8F0"/>
                    </a:highlight>
                    <a:latin typeface="Roboto Mono"/>
                    <a:ea typeface="Roboto Mono"/>
                    <a:cs typeface="Roboto Mono"/>
                    <a:sym typeface="Roboto Mono"/>
                  </a:rPr>
                  <a:t>copy()</a:t>
                </a:r>
                <a:r>
                  <a:rPr b="0" lang="en" sz="13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only copies data and permission mode, </a:t>
                </a:r>
                <a:r>
                  <a:rPr b="0" lang="en" sz="1150">
                    <a:solidFill>
                      <a:srgbClr val="1F2937"/>
                    </a:solidFill>
                    <a:highlight>
                      <a:srgbClr val="E2E8F0"/>
                    </a:highlight>
                    <a:latin typeface="Roboto Mono"/>
                    <a:ea typeface="Roboto Mono"/>
                    <a:cs typeface="Roboto Mono"/>
                    <a:sym typeface="Roboto Mono"/>
                  </a:rPr>
                  <a:t>copy2()</a:t>
                </a:r>
                <a:r>
                  <a:rPr b="0" lang="en" sz="13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attempts to preserve all file metadata.</a:t>
                </a:r>
                <a:endParaRPr b="0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01" name="Google Shape;201;p19"/>
            <p:cNvGrpSpPr/>
            <p:nvPr/>
          </p:nvGrpSpPr>
          <p:grpSpPr>
            <a:xfrm>
              <a:off x="762000" y="2190750"/>
              <a:ext cx="5905575" cy="714300"/>
              <a:chOff x="762000" y="1381125"/>
              <a:chExt cx="5905575" cy="714300"/>
            </a:xfrm>
          </p:grpSpPr>
          <p:grpSp>
            <p:nvGrpSpPr>
              <p:cNvPr id="202" name="Google Shape;202;p19"/>
              <p:cNvGrpSpPr/>
              <p:nvPr/>
            </p:nvGrpSpPr>
            <p:grpSpPr>
              <a:xfrm>
                <a:off x="762000" y="1414463"/>
                <a:ext cx="190500" cy="190500"/>
                <a:chOff x="0" y="4763"/>
                <a:chExt cx="190500" cy="190500"/>
              </a:xfrm>
            </p:grpSpPr>
            <p:sp>
              <p:nvSpPr>
                <p:cNvPr id="203" name="Google Shape;203;p19"/>
                <p:cNvSpPr/>
                <p:nvPr/>
              </p:nvSpPr>
              <p:spPr>
                <a:xfrm>
                  <a:off x="0" y="4763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" name="Google Shape;204;p19"/>
                <p:cNvSpPr/>
                <p:nvPr/>
              </p:nvSpPr>
              <p:spPr>
                <a:xfrm>
                  <a:off x="57150" y="80975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7987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8FAF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05" name="Google Shape;205;p19"/>
              <p:cNvSpPr txBox="1"/>
              <p:nvPr/>
            </p:nvSpPr>
            <p:spPr>
              <a:xfrm>
                <a:off x="1095375" y="1381125"/>
                <a:ext cx="55722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Understanding File Metadata:</a:t>
                </a:r>
                <a:r>
                  <a:rPr b="0" lang="en" sz="13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Metadata includes creation time, modification time, system flags, and extended attributes.</a:t>
                </a:r>
                <a:endParaRPr b="0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06" name="Google Shape;206;p19"/>
            <p:cNvGrpSpPr/>
            <p:nvPr/>
          </p:nvGrpSpPr>
          <p:grpSpPr>
            <a:xfrm>
              <a:off x="762000" y="3000375"/>
              <a:ext cx="5905575" cy="1428900"/>
              <a:chOff x="762000" y="1381125"/>
              <a:chExt cx="5905575" cy="1428900"/>
            </a:xfrm>
          </p:grpSpPr>
          <p:grpSp>
            <p:nvGrpSpPr>
              <p:cNvPr id="207" name="Google Shape;207;p19"/>
              <p:cNvGrpSpPr/>
              <p:nvPr/>
            </p:nvGrpSpPr>
            <p:grpSpPr>
              <a:xfrm>
                <a:off x="762000" y="1414463"/>
                <a:ext cx="190500" cy="190500"/>
                <a:chOff x="0" y="4763"/>
                <a:chExt cx="190500" cy="190500"/>
              </a:xfrm>
            </p:grpSpPr>
            <p:sp>
              <p:nvSpPr>
                <p:cNvPr id="208" name="Google Shape;208;p19"/>
                <p:cNvSpPr/>
                <p:nvPr/>
              </p:nvSpPr>
              <p:spPr>
                <a:xfrm>
                  <a:off x="0" y="4763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" name="Google Shape;209;p19"/>
                <p:cNvSpPr/>
                <p:nvPr/>
              </p:nvSpPr>
              <p:spPr>
                <a:xfrm>
                  <a:off x="57150" y="80975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7987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8FAF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0" name="Google Shape;210;p19"/>
              <p:cNvSpPr txBox="1"/>
              <p:nvPr/>
            </p:nvSpPr>
            <p:spPr>
              <a:xfrm>
                <a:off x="1095375" y="1381125"/>
                <a:ext cx="55722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Preserving Modification Timestamps:</a:t>
                </a:r>
                <a:r>
                  <a:rPr b="0" lang="en" sz="13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b="0" lang="en" sz="1150">
                    <a:solidFill>
                      <a:srgbClr val="1F2937"/>
                    </a:solidFill>
                    <a:highlight>
                      <a:srgbClr val="E2E8F0"/>
                    </a:highlight>
                    <a:latin typeface="Roboto Mono"/>
                    <a:ea typeface="Roboto Mono"/>
                    <a:cs typeface="Roboto Mono"/>
                    <a:sym typeface="Roboto Mono"/>
                  </a:rPr>
                  <a:t>copy2()</a:t>
                </a:r>
                <a:r>
                  <a:rPr b="0" lang="en" sz="13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ensures that the copied file retains the exact modification and access timestamps of the original source file.</a:t>
                </a:r>
                <a:endParaRPr b="0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When Preferred:</a:t>
                </a:r>
                <a:r>
                  <a:rPr b="0" lang="en" sz="13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Highly valued in incremental backup systems (where timestamps dictate changes) and forensic data preservation.</a:t>
                </a:r>
                <a:endParaRPr b="0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11" name="Google Shape;211;p19"/>
          <p:cNvGrpSpPr/>
          <p:nvPr/>
        </p:nvGrpSpPr>
        <p:grpSpPr>
          <a:xfrm>
            <a:off x="7048500" y="1381125"/>
            <a:ext cx="4381500" cy="3286200"/>
            <a:chOff x="7048500" y="1381125"/>
            <a:chExt cx="4381500" cy="3286200"/>
          </a:xfrm>
        </p:grpSpPr>
        <p:pic>
          <p:nvPicPr>
            <p:cNvPr id="212" name="Google Shape;212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048500" y="1381125"/>
              <a:ext cx="4381500" cy="3286200"/>
            </a:xfrm>
            <a:prstGeom prst="roundRect">
              <a:avLst>
                <a:gd fmla="val 2318" name="adj"/>
              </a:avLst>
            </a:prstGeom>
            <a:noFill/>
            <a:ln>
              <a:noFill/>
            </a:ln>
          </p:spPr>
        </p:pic>
        <p:sp>
          <p:nvSpPr>
            <p:cNvPr id="213" name="Google Shape;213;p19"/>
            <p:cNvSpPr/>
            <p:nvPr/>
          </p:nvSpPr>
          <p:spPr>
            <a:xfrm>
              <a:off x="7048500" y="1381125"/>
              <a:ext cx="4381500" cy="3286200"/>
            </a:xfrm>
            <a:prstGeom prst="roundRect">
              <a:avLst>
                <a:gd fmla="val 2318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" name="Google Shape;214;p19"/>
          <p:cNvGrpSpPr/>
          <p:nvPr/>
        </p:nvGrpSpPr>
        <p:grpSpPr>
          <a:xfrm>
            <a:off x="762000" y="4619625"/>
            <a:ext cx="9334500" cy="1095300"/>
            <a:chOff x="0" y="0"/>
            <a:chExt cx="9334500" cy="1095300"/>
          </a:xfrm>
        </p:grpSpPr>
        <p:sp>
          <p:nvSpPr>
            <p:cNvPr id="215" name="Google Shape;215;p19"/>
            <p:cNvSpPr/>
            <p:nvPr/>
          </p:nvSpPr>
          <p:spPr>
            <a:xfrm>
              <a:off x="0" y="0"/>
              <a:ext cx="9334500" cy="1095300"/>
            </a:xfrm>
            <a:prstGeom prst="roundRect">
              <a:avLst>
                <a:gd fmla="val 5217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9"/>
            <p:cNvSpPr/>
            <p:nvPr/>
          </p:nvSpPr>
          <p:spPr>
            <a:xfrm>
              <a:off x="0" y="0"/>
              <a:ext cx="57300" cy="10953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9"/>
            <p:cNvSpPr txBox="1"/>
            <p:nvPr/>
          </p:nvSpPr>
          <p:spPr>
            <a:xfrm>
              <a:off x="285750" y="142875"/>
              <a:ext cx="8763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import </a:t>
              </a:r>
              <a:r>
                <a:rPr b="0" lang="en" sz="12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shutil</a:t>
              </a:r>
              <a:endParaRPr b="1" sz="1200">
                <a:solidFill>
                  <a:srgbClr val="045A3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6B72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The copied file will have the same modification time as the original</a:t>
              </a:r>
              <a:endParaRPr i="1" sz="11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shutil.copy2(</a:t>
              </a:r>
              <a:r>
                <a:rPr lang="en" sz="1200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'important_data.csv'</a:t>
              </a:r>
              <a:r>
                <a:rPr lang="en" sz="12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 </a:t>
              </a:r>
              <a:r>
                <a:rPr lang="en" sz="1200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'backup_drive/important_data.csv'</a:t>
              </a:r>
              <a:r>
                <a:rPr lang="en" sz="12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120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218" name="Google Shape;218;p19"/>
          <p:cNvSpPr txBox="1"/>
          <p:nvPr/>
        </p:nvSpPr>
        <p:spPr>
          <a:xfrm>
            <a:off x="762000" y="61341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shutil Module: File and Folder Automation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9" name="Google Shape;219;p19"/>
          <p:cNvPicPr preferRelativeResize="0"/>
          <p:nvPr/>
        </p:nvPicPr>
        <p:blipFill rotWithShape="1">
          <a:blip r:embed="rId4">
            <a:alphaModFix/>
          </a:blip>
          <a:srcRect b="0" l="10" r="0" t="0"/>
          <a:stretch/>
        </p:blipFill>
        <p:spPr>
          <a:xfrm>
            <a:off x="10287000" y="5457825"/>
            <a:ext cx="1524000" cy="10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/>
          <p:cNvPicPr preferRelativeResize="0"/>
          <p:nvPr/>
        </p:nvPicPr>
        <p:blipFill rotWithShape="1">
          <a:blip r:embed="rId4">
            <a:alphaModFix/>
          </a:blip>
          <a:srcRect b="0" l="130" r="13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762000" y="61341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shutil Module: File and Folder Automation</a:t>
            </a:r>
            <a:endParaRPr b="0" i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8" name="Google Shape;228;p20"/>
          <p:cNvPicPr preferRelativeResize="0"/>
          <p:nvPr/>
        </p:nvPicPr>
        <p:blipFill rotWithShape="1">
          <a:blip r:embed="rId6">
            <a:alphaModFix/>
          </a:blip>
          <a:srcRect b="466" l="10" r="0" t="466"/>
          <a:stretch/>
        </p:blipFill>
        <p:spPr>
          <a:xfrm>
            <a:off x="10287000" y="5457825"/>
            <a:ext cx="1524000" cy="1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762000" y="400050"/>
            <a:ext cx="10668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Copying File Permissions with shutil.copymode()</a:t>
            </a:r>
            <a:endParaRPr b="0" sz="24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rPr>
              <a:t>Managing Access Rights</a:t>
            </a:r>
            <a:endParaRPr b="1" sz="1100">
              <a:solidFill>
                <a:srgbClr val="D4A01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1" name="Google Shape;231;p20"/>
          <p:cNvGrpSpPr/>
          <p:nvPr/>
        </p:nvGrpSpPr>
        <p:grpSpPr>
          <a:xfrm>
            <a:off x="762000" y="1381125"/>
            <a:ext cx="5048400" cy="2143275"/>
            <a:chOff x="0" y="0"/>
            <a:chExt cx="5048400" cy="2143275"/>
          </a:xfrm>
        </p:grpSpPr>
        <p:sp>
          <p:nvSpPr>
            <p:cNvPr id="232" name="Google Shape;232;p20"/>
            <p:cNvSpPr txBox="1"/>
            <p:nvPr/>
          </p:nvSpPr>
          <p:spPr>
            <a:xfrm>
              <a:off x="0" y="0"/>
              <a:ext cx="5048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File Permission Modes</a:t>
              </a:r>
              <a:endParaRPr b="1" sz="15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33" name="Google Shape;233;p20"/>
            <p:cNvGrpSpPr/>
            <p:nvPr/>
          </p:nvGrpSpPr>
          <p:grpSpPr>
            <a:xfrm>
              <a:off x="0" y="381000"/>
              <a:ext cx="5048250" cy="1762275"/>
              <a:chOff x="0" y="0"/>
              <a:chExt cx="5048250" cy="1762275"/>
            </a:xfrm>
          </p:grpSpPr>
          <p:grpSp>
            <p:nvGrpSpPr>
              <p:cNvPr id="234" name="Google Shape;234;p20"/>
              <p:cNvGrpSpPr/>
              <p:nvPr/>
            </p:nvGrpSpPr>
            <p:grpSpPr>
              <a:xfrm>
                <a:off x="0" y="0"/>
                <a:ext cx="5048250" cy="857400"/>
                <a:chOff x="0" y="0"/>
                <a:chExt cx="5048250" cy="857400"/>
              </a:xfrm>
            </p:grpSpPr>
            <p:grpSp>
              <p:nvGrpSpPr>
                <p:cNvPr id="235" name="Google Shape;235;p20"/>
                <p:cNvGrpSpPr/>
                <p:nvPr/>
              </p:nvGrpSpPr>
              <p:grpSpPr>
                <a:xfrm>
                  <a:off x="0" y="33338"/>
                  <a:ext cx="190500" cy="190500"/>
                  <a:chOff x="0" y="4763"/>
                  <a:chExt cx="190500" cy="190500"/>
                </a:xfrm>
              </p:grpSpPr>
              <p:sp>
                <p:nvSpPr>
                  <p:cNvPr id="236" name="Google Shape;236;p20"/>
                  <p:cNvSpPr/>
                  <p:nvPr/>
                </p:nvSpPr>
                <p:spPr>
                  <a:xfrm>
                    <a:off x="0" y="4763"/>
                    <a:ext cx="190500" cy="190500"/>
                  </a:xfrm>
                  <a:prstGeom prst="ellipse">
                    <a:avLst/>
                  </a:prstGeom>
                  <a:solidFill>
                    <a:srgbClr val="045A36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7" name="Google Shape;237;p20"/>
                  <p:cNvSpPr/>
                  <p:nvPr/>
                </p:nvSpPr>
                <p:spPr>
                  <a:xfrm>
                    <a:off x="57150" y="80975"/>
                    <a:ext cx="76200" cy="47700"/>
                  </a:xfrm>
                  <a:custGeom>
                    <a:rect b="b" l="l" r="r" t="t"/>
                    <a:pathLst>
                      <a:path extrusionOk="0" h="120000" w="120000">
                        <a:moveTo>
                          <a:pt x="0" y="47987"/>
                        </a:moveTo>
                        <a:lnTo>
                          <a:pt x="45000" y="120000"/>
                        </a:lnTo>
                        <a:lnTo>
                          <a:pt x="120000" y="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cap="rnd" cmpd="sng" w="19050">
                    <a:solidFill>
                      <a:srgbClr val="F8FAFC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38" name="Google Shape;238;p20"/>
                <p:cNvSpPr txBox="1"/>
                <p:nvPr/>
              </p:nvSpPr>
              <p:spPr>
                <a:xfrm>
                  <a:off x="285750" y="0"/>
                  <a:ext cx="4762500" cy="85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35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In Unix/POSIX systems, files have </a:t>
                  </a:r>
                  <a:r>
                    <a:rPr b="0" lang="en" sz="1350">
                      <a:solidFill>
                        <a:srgbClr val="045A36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read, write, and execute</a:t>
                  </a:r>
                  <a:r>
                    <a:rPr b="0" lang="en" sz="135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permissions for the owner, group, and others.</a:t>
                  </a:r>
                  <a:endParaRPr b="0" sz="13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39" name="Google Shape;239;p20"/>
              <p:cNvGrpSpPr/>
              <p:nvPr/>
            </p:nvGrpSpPr>
            <p:grpSpPr>
              <a:xfrm>
                <a:off x="0" y="904875"/>
                <a:ext cx="5048250" cy="857400"/>
                <a:chOff x="0" y="0"/>
                <a:chExt cx="5048250" cy="857400"/>
              </a:xfrm>
            </p:grpSpPr>
            <p:grpSp>
              <p:nvGrpSpPr>
                <p:cNvPr id="240" name="Google Shape;240;p20"/>
                <p:cNvGrpSpPr/>
                <p:nvPr/>
              </p:nvGrpSpPr>
              <p:grpSpPr>
                <a:xfrm>
                  <a:off x="0" y="33338"/>
                  <a:ext cx="190500" cy="190500"/>
                  <a:chOff x="0" y="4763"/>
                  <a:chExt cx="190500" cy="190500"/>
                </a:xfrm>
              </p:grpSpPr>
              <p:sp>
                <p:nvSpPr>
                  <p:cNvPr id="241" name="Google Shape;241;p20"/>
                  <p:cNvSpPr/>
                  <p:nvPr/>
                </p:nvSpPr>
                <p:spPr>
                  <a:xfrm>
                    <a:off x="0" y="4763"/>
                    <a:ext cx="190500" cy="190500"/>
                  </a:xfrm>
                  <a:prstGeom prst="ellipse">
                    <a:avLst/>
                  </a:prstGeom>
                  <a:solidFill>
                    <a:srgbClr val="045A36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2" name="Google Shape;242;p20"/>
                  <p:cNvSpPr/>
                  <p:nvPr/>
                </p:nvSpPr>
                <p:spPr>
                  <a:xfrm>
                    <a:off x="57150" y="80975"/>
                    <a:ext cx="76200" cy="47700"/>
                  </a:xfrm>
                  <a:custGeom>
                    <a:rect b="b" l="l" r="r" t="t"/>
                    <a:pathLst>
                      <a:path extrusionOk="0" h="120000" w="120000">
                        <a:moveTo>
                          <a:pt x="0" y="47987"/>
                        </a:moveTo>
                        <a:lnTo>
                          <a:pt x="45000" y="120000"/>
                        </a:lnTo>
                        <a:lnTo>
                          <a:pt x="120000" y="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cap="rnd" cmpd="sng" w="19050">
                    <a:solidFill>
                      <a:srgbClr val="F8FAFC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43" name="Google Shape;243;p20"/>
                <p:cNvSpPr txBox="1"/>
                <p:nvPr/>
              </p:nvSpPr>
              <p:spPr>
                <a:xfrm>
                  <a:off x="285750" y="0"/>
                  <a:ext cx="4762500" cy="85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35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Use </a:t>
                  </a:r>
                  <a:r>
                    <a:rPr b="0" lang="en" sz="1200">
                      <a:solidFill>
                        <a:srgbClr val="045A36"/>
                      </a:solidFill>
                      <a:latin typeface="Roboto Mono SemiBold"/>
                      <a:ea typeface="Roboto Mono SemiBold"/>
                      <a:cs typeface="Roboto Mono SemiBold"/>
                      <a:sym typeface="Roboto Mono SemiBold"/>
                    </a:rPr>
                    <a:t>shutil.copymode(src, dst)</a:t>
                  </a:r>
                  <a:r>
                    <a:rPr b="0" lang="en" sz="135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to copy permission bits from the source to the destination file.</a:t>
                  </a:r>
                  <a:endParaRPr b="0" sz="13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  <p:grpSp>
        <p:nvGrpSpPr>
          <p:cNvPr id="244" name="Google Shape;244;p20"/>
          <p:cNvGrpSpPr/>
          <p:nvPr/>
        </p:nvGrpSpPr>
        <p:grpSpPr>
          <a:xfrm>
            <a:off x="6381750" y="1381125"/>
            <a:ext cx="5048400" cy="2143275"/>
            <a:chOff x="0" y="0"/>
            <a:chExt cx="5048400" cy="2143275"/>
          </a:xfrm>
        </p:grpSpPr>
        <p:sp>
          <p:nvSpPr>
            <p:cNvPr id="245" name="Google Shape;245;p20"/>
            <p:cNvSpPr txBox="1"/>
            <p:nvPr/>
          </p:nvSpPr>
          <p:spPr>
            <a:xfrm>
              <a:off x="0" y="0"/>
              <a:ext cx="5048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Content &amp; Platform Rules</a:t>
              </a:r>
              <a:endParaRPr b="1" sz="15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46" name="Google Shape;246;p20"/>
            <p:cNvGrpSpPr/>
            <p:nvPr/>
          </p:nvGrpSpPr>
          <p:grpSpPr>
            <a:xfrm>
              <a:off x="0" y="381000"/>
              <a:ext cx="5048250" cy="1762275"/>
              <a:chOff x="0" y="0"/>
              <a:chExt cx="5048250" cy="1762275"/>
            </a:xfrm>
          </p:grpSpPr>
          <p:grpSp>
            <p:nvGrpSpPr>
              <p:cNvPr id="247" name="Google Shape;247;p20"/>
              <p:cNvGrpSpPr/>
              <p:nvPr/>
            </p:nvGrpSpPr>
            <p:grpSpPr>
              <a:xfrm>
                <a:off x="0" y="0"/>
                <a:ext cx="5048250" cy="857400"/>
                <a:chOff x="0" y="0"/>
                <a:chExt cx="5048250" cy="857400"/>
              </a:xfrm>
            </p:grpSpPr>
            <p:grpSp>
              <p:nvGrpSpPr>
                <p:cNvPr id="248" name="Google Shape;248;p20"/>
                <p:cNvGrpSpPr/>
                <p:nvPr/>
              </p:nvGrpSpPr>
              <p:grpSpPr>
                <a:xfrm>
                  <a:off x="0" y="33338"/>
                  <a:ext cx="190500" cy="190500"/>
                  <a:chOff x="0" y="4763"/>
                  <a:chExt cx="190500" cy="190500"/>
                </a:xfrm>
              </p:grpSpPr>
              <p:sp>
                <p:nvSpPr>
                  <p:cNvPr id="249" name="Google Shape;249;p20"/>
                  <p:cNvSpPr/>
                  <p:nvPr/>
                </p:nvSpPr>
                <p:spPr>
                  <a:xfrm>
                    <a:off x="0" y="4763"/>
                    <a:ext cx="190500" cy="190500"/>
                  </a:xfrm>
                  <a:prstGeom prst="ellipse">
                    <a:avLst/>
                  </a:prstGeom>
                  <a:solidFill>
                    <a:srgbClr val="045A36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0" name="Google Shape;250;p20"/>
                  <p:cNvSpPr/>
                  <p:nvPr/>
                </p:nvSpPr>
                <p:spPr>
                  <a:xfrm>
                    <a:off x="57150" y="80975"/>
                    <a:ext cx="76200" cy="47700"/>
                  </a:xfrm>
                  <a:custGeom>
                    <a:rect b="b" l="l" r="r" t="t"/>
                    <a:pathLst>
                      <a:path extrusionOk="0" h="120000" w="120000">
                        <a:moveTo>
                          <a:pt x="0" y="47987"/>
                        </a:moveTo>
                        <a:lnTo>
                          <a:pt x="45000" y="120000"/>
                        </a:lnTo>
                        <a:lnTo>
                          <a:pt x="120000" y="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cap="rnd" cmpd="sng" w="19050">
                    <a:solidFill>
                      <a:srgbClr val="F8FAFC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51" name="Google Shape;251;p20"/>
                <p:cNvSpPr txBox="1"/>
                <p:nvPr/>
              </p:nvSpPr>
              <p:spPr>
                <a:xfrm>
                  <a:off x="285750" y="0"/>
                  <a:ext cx="4762500" cy="85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35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Crucially, </a:t>
                  </a:r>
                  <a:r>
                    <a:rPr b="0" lang="en" sz="1200">
                      <a:solidFill>
                        <a:srgbClr val="045A36"/>
                      </a:solidFill>
                      <a:latin typeface="Roboto Mono SemiBold"/>
                      <a:ea typeface="Roboto Mono SemiBold"/>
                      <a:cs typeface="Roboto Mono SemiBold"/>
                      <a:sym typeface="Roboto Mono SemiBold"/>
                    </a:rPr>
                    <a:t>copymode()</a:t>
                  </a:r>
                  <a:r>
                    <a:rPr b="0" lang="en" sz="135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does </a:t>
                  </a:r>
                  <a:r>
                    <a:rPr b="0" lang="en" sz="1350">
                      <a:solidFill>
                        <a:srgbClr val="D4A01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not</a:t>
                  </a:r>
                  <a:r>
                    <a:rPr b="0" lang="en" sz="135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modify file content. It only updates the destination's permission bits.</a:t>
                  </a:r>
                  <a:endParaRPr b="0" sz="13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52" name="Google Shape;252;p20"/>
              <p:cNvGrpSpPr/>
              <p:nvPr/>
            </p:nvGrpSpPr>
            <p:grpSpPr>
              <a:xfrm>
                <a:off x="0" y="904875"/>
                <a:ext cx="5048250" cy="857400"/>
                <a:chOff x="0" y="0"/>
                <a:chExt cx="5048250" cy="857400"/>
              </a:xfrm>
            </p:grpSpPr>
            <p:grpSp>
              <p:nvGrpSpPr>
                <p:cNvPr id="253" name="Google Shape;253;p20"/>
                <p:cNvGrpSpPr/>
                <p:nvPr/>
              </p:nvGrpSpPr>
              <p:grpSpPr>
                <a:xfrm>
                  <a:off x="0" y="33338"/>
                  <a:ext cx="190500" cy="190500"/>
                  <a:chOff x="0" y="4763"/>
                  <a:chExt cx="190500" cy="190500"/>
                </a:xfrm>
              </p:grpSpPr>
              <p:sp>
                <p:nvSpPr>
                  <p:cNvPr id="254" name="Google Shape;254;p20"/>
                  <p:cNvSpPr/>
                  <p:nvPr/>
                </p:nvSpPr>
                <p:spPr>
                  <a:xfrm>
                    <a:off x="0" y="4763"/>
                    <a:ext cx="190500" cy="190500"/>
                  </a:xfrm>
                  <a:prstGeom prst="ellipse">
                    <a:avLst/>
                  </a:prstGeom>
                  <a:solidFill>
                    <a:srgbClr val="045A36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5" name="Google Shape;255;p20"/>
                  <p:cNvSpPr/>
                  <p:nvPr/>
                </p:nvSpPr>
                <p:spPr>
                  <a:xfrm>
                    <a:off x="57150" y="80975"/>
                    <a:ext cx="76200" cy="47700"/>
                  </a:xfrm>
                  <a:custGeom>
                    <a:rect b="b" l="l" r="r" t="t"/>
                    <a:pathLst>
                      <a:path extrusionOk="0" h="120000" w="120000">
                        <a:moveTo>
                          <a:pt x="0" y="47987"/>
                        </a:moveTo>
                        <a:lnTo>
                          <a:pt x="45000" y="120000"/>
                        </a:lnTo>
                        <a:lnTo>
                          <a:pt x="120000" y="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cap="rnd" cmpd="sng" w="19050">
                    <a:solidFill>
                      <a:srgbClr val="F8FAFC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56" name="Google Shape;256;p20"/>
                <p:cNvSpPr txBox="1"/>
                <p:nvPr/>
              </p:nvSpPr>
              <p:spPr>
                <a:xfrm>
                  <a:off x="285750" y="0"/>
                  <a:ext cx="4762500" cy="85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350">
                      <a:solidFill>
                        <a:srgbClr val="045A36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Platform mapping:</a:t>
                  </a:r>
                  <a:r>
                    <a:rPr b="0" lang="en" sz="135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Unix/POSIX fully supports permission structures, while Windows is limited to read-only attributes.</a:t>
                  </a:r>
                  <a:endParaRPr b="0" sz="13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  <p:grpSp>
        <p:nvGrpSpPr>
          <p:cNvPr id="257" name="Google Shape;257;p20"/>
          <p:cNvGrpSpPr/>
          <p:nvPr/>
        </p:nvGrpSpPr>
        <p:grpSpPr>
          <a:xfrm>
            <a:off x="762000" y="3714750"/>
            <a:ext cx="10668000" cy="1666800"/>
            <a:chOff x="0" y="0"/>
            <a:chExt cx="10668000" cy="1666800"/>
          </a:xfrm>
        </p:grpSpPr>
        <p:sp>
          <p:nvSpPr>
            <p:cNvPr id="258" name="Google Shape;258;p20"/>
            <p:cNvSpPr/>
            <p:nvPr/>
          </p:nvSpPr>
          <p:spPr>
            <a:xfrm>
              <a:off x="0" y="0"/>
              <a:ext cx="10668000" cy="1666800"/>
            </a:xfrm>
            <a:prstGeom prst="roundRect">
              <a:avLst>
                <a:gd fmla="val 3428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0"/>
            <p:cNvSpPr/>
            <p:nvPr/>
          </p:nvSpPr>
          <p:spPr>
            <a:xfrm>
              <a:off x="0" y="0"/>
              <a:ext cx="57300" cy="1666800"/>
            </a:xfrm>
            <a:prstGeom prst="roundRect">
              <a:avLst>
                <a:gd fmla="val 33333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9429750" y="95250"/>
              <a:ext cx="1047900" cy="209700"/>
            </a:xfrm>
            <a:prstGeom prst="roundRect">
              <a:avLst>
                <a:gd fmla="val 13636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0"/>
            <p:cNvSpPr txBox="1"/>
            <p:nvPr/>
          </p:nvSpPr>
          <p:spPr>
            <a:xfrm>
              <a:off x="9429750" y="95250"/>
              <a:ext cx="10479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python example</a:t>
              </a:r>
              <a:endParaRPr b="1" sz="80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2" name="Google Shape;262;p20"/>
            <p:cNvSpPr txBox="1"/>
            <p:nvPr/>
          </p:nvSpPr>
          <p:spPr>
            <a:xfrm>
              <a:off x="285750" y="209550"/>
              <a:ext cx="100965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45A3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import</a:t>
              </a:r>
              <a:r>
                <a:rPr b="0" lang="en" sz="13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shutil</a:t>
              </a:r>
              <a:endParaRPr b="0" sz="130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6B72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Assuming 'script.sh' has execute permissions and 'new_script.sh' does not</a:t>
              </a:r>
              <a:endParaRPr b="0" sz="115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shutil.copymode(</a:t>
              </a:r>
              <a:r>
                <a:rPr b="0" lang="en" sz="1300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'script.sh'</a:t>
              </a:r>
              <a:r>
                <a:rPr b="0" lang="en" sz="13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 </a:t>
              </a:r>
              <a:r>
                <a:rPr b="0" lang="en" sz="1300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'new_script.sh'</a:t>
              </a:r>
              <a:r>
                <a:rPr b="0" lang="en" sz="13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b="0" sz="130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6B72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'new_script.sh' now has the same permissions as 'script.sh'</a:t>
              </a:r>
              <a:endParaRPr b="0" sz="115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1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762000" y="428625"/>
            <a:ext cx="10668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Copying File Metadata with shutil.copystat()</a:t>
            </a:r>
            <a:endParaRPr b="0" sz="26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D4A01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Comprehensive Status Transfer</a:t>
            </a:r>
            <a:endParaRPr b="0" sz="1000">
              <a:solidFill>
                <a:srgbClr val="D4A01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762000" y="1428750"/>
            <a:ext cx="50484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rPr>
              <a:t>Metadata Capabilities</a:t>
            </a:r>
            <a:endParaRPr b="1" sz="1650">
              <a:solidFill>
                <a:srgbClr val="045A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shutil.copystat(src, dst)</a:t>
            </a: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copies permission bits, last access time, last modification time, and flags from the source to the destination.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copystat() vs copymode()</a:t>
            </a: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: While </a:t>
            </a:r>
            <a:r>
              <a:rPr b="0" lang="en" sz="1100">
                <a:solidFill>
                  <a:srgbClr val="045A36"/>
                </a:solidFill>
                <a:latin typeface="Roboto Mono"/>
                <a:ea typeface="Roboto Mono"/>
                <a:cs typeface="Roboto Mono"/>
                <a:sym typeface="Roboto Mono"/>
              </a:rPr>
              <a:t>copymode()</a:t>
            </a: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strictly transfers permission bits, </a:t>
            </a:r>
            <a:r>
              <a:rPr b="0" lang="en" sz="1100">
                <a:solidFill>
                  <a:srgbClr val="045A36"/>
                </a:solidFill>
                <a:latin typeface="Roboto Mono"/>
                <a:ea typeface="Roboto Mono"/>
                <a:cs typeface="Roboto Mono"/>
                <a:sym typeface="Roboto Mono"/>
              </a:rPr>
              <a:t>copystat()</a:t>
            </a: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synchronizes timestamps and system flags as well.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Preservation</a:t>
            </a: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: Similar to </a:t>
            </a:r>
            <a:r>
              <a:rPr b="0" lang="en" sz="1100">
                <a:solidFill>
                  <a:srgbClr val="045A36"/>
                </a:solidFill>
                <a:latin typeface="Roboto Mono"/>
                <a:ea typeface="Roboto Mono"/>
                <a:cs typeface="Roboto Mono"/>
                <a:sym typeface="Roboto Mono"/>
              </a:rPr>
              <a:t>copymode()</a:t>
            </a: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, the actual data contents of the destination file remain completely untouched.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6381750" y="1428750"/>
            <a:ext cx="50484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26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rPr>
              <a:t>Practical Use Cases</a:t>
            </a:r>
            <a:endParaRPr b="1" sz="1526">
              <a:solidFill>
                <a:srgbClr val="045A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388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Synchronization Utilities</a:t>
            </a:r>
            <a:br>
              <a:rPr b="0" lang="en" sz="1388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lang="en" sz="1388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Ideal for folder-mirroring and sync tools where you need a destination file to perfectly match the metadata of a source file after its contents have been updated independently.</a:t>
            </a:r>
            <a:endParaRPr b="0" sz="1388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388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Timeline Integrity</a:t>
            </a:r>
            <a:br>
              <a:rPr b="0" lang="en" sz="1388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lang="en" sz="1388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Ensures that administrative actions, backups, or automated build tasks preserve accurate historical access and modification timelines without rewriting actual content.</a:t>
            </a:r>
            <a:endParaRPr b="0" sz="1388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73" name="Google Shape;273;p21"/>
          <p:cNvGrpSpPr/>
          <p:nvPr/>
        </p:nvGrpSpPr>
        <p:grpSpPr>
          <a:xfrm>
            <a:off x="762000" y="4381500"/>
            <a:ext cx="10668000" cy="952500"/>
            <a:chOff x="762000" y="4381500"/>
            <a:chExt cx="10668000" cy="952500"/>
          </a:xfrm>
        </p:grpSpPr>
        <p:sp>
          <p:nvSpPr>
            <p:cNvPr id="274" name="Google Shape;274;p21"/>
            <p:cNvSpPr/>
            <p:nvPr/>
          </p:nvSpPr>
          <p:spPr>
            <a:xfrm>
              <a:off x="762000" y="4381500"/>
              <a:ext cx="10668000" cy="952500"/>
            </a:xfrm>
            <a:prstGeom prst="roundRect">
              <a:avLst>
                <a:gd fmla="val 4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1"/>
            <p:cNvSpPr/>
            <p:nvPr/>
          </p:nvSpPr>
          <p:spPr>
            <a:xfrm>
              <a:off x="762000" y="4381500"/>
              <a:ext cx="57300" cy="952500"/>
            </a:xfrm>
            <a:prstGeom prst="roundRect">
              <a:avLst>
                <a:gd fmla="val 33333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1"/>
            <p:cNvSpPr txBox="1"/>
            <p:nvPr/>
          </p:nvSpPr>
          <p:spPr>
            <a:xfrm>
              <a:off x="1047750" y="4524375"/>
              <a:ext cx="10096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import</a:t>
              </a:r>
              <a:r>
                <a:rPr b="0" lang="en" sz="12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shutil</a:t>
              </a:r>
              <a:endParaRPr b="0" sz="120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shutil.copystat(</a:t>
              </a:r>
              <a:r>
                <a:rPr b="0" lang="en" sz="1200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'source_file.txt'</a:t>
              </a:r>
              <a:r>
                <a:rPr b="0" lang="en" sz="12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 </a:t>
              </a:r>
              <a:r>
                <a:rPr b="0" lang="en" sz="1200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'destination_file.txt'</a:t>
              </a:r>
              <a:r>
                <a:rPr b="0" lang="en" sz="12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b="0" sz="120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277" name="Google Shape;277;p21"/>
          <p:cNvSpPr txBox="1"/>
          <p:nvPr/>
        </p:nvSpPr>
        <p:spPr>
          <a:xfrm>
            <a:off x="762000" y="61341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shutil Module: File and Folder Automation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78" name="Google Shape;278;p21"/>
          <p:cNvPicPr preferRelativeResize="0"/>
          <p:nvPr/>
        </p:nvPicPr>
        <p:blipFill rotWithShape="1">
          <a:blip r:embed="rId3">
            <a:alphaModFix/>
          </a:blip>
          <a:srcRect b="0" l="10" r="0" t="0"/>
          <a:stretch/>
        </p:blipFill>
        <p:spPr>
          <a:xfrm>
            <a:off x="10287000" y="5453079"/>
            <a:ext cx="1524000" cy="10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2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762000" y="61341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shutil Module: File and Folder Automation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22"/>
          <p:cNvSpPr/>
          <p:nvPr>
            <p:ph idx="2" type="pic"/>
          </p:nvPr>
        </p:nvSpPr>
        <p:spPr>
          <a:xfrm>
            <a:off x="10287000" y="5457825"/>
            <a:ext cx="1524000" cy="10194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22"/>
          <p:cNvSpPr txBox="1"/>
          <p:nvPr/>
        </p:nvSpPr>
        <p:spPr>
          <a:xfrm>
            <a:off x="762000" y="381000"/>
            <a:ext cx="10668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Copying Complete Directories with shutil.copytree()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762000" y="838200"/>
            <a:ext cx="10668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D4A01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Recursive Folder Duplication</a:t>
            </a:r>
            <a:endParaRPr b="0" sz="1100">
              <a:solidFill>
                <a:srgbClr val="D4A01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290" name="Google Shape;290;p22"/>
          <p:cNvGrpSpPr/>
          <p:nvPr/>
        </p:nvGrpSpPr>
        <p:grpSpPr>
          <a:xfrm>
            <a:off x="762000" y="1333500"/>
            <a:ext cx="5143575" cy="809700"/>
            <a:chOff x="762000" y="1333500"/>
            <a:chExt cx="5143575" cy="809700"/>
          </a:xfrm>
        </p:grpSpPr>
        <p:grpSp>
          <p:nvGrpSpPr>
            <p:cNvPr id="291" name="Google Shape;291;p22"/>
            <p:cNvGrpSpPr/>
            <p:nvPr/>
          </p:nvGrpSpPr>
          <p:grpSpPr>
            <a:xfrm>
              <a:off x="762000" y="1357313"/>
              <a:ext cx="190500" cy="190500"/>
              <a:chOff x="0" y="4763"/>
              <a:chExt cx="190500" cy="190500"/>
            </a:xfrm>
          </p:grpSpPr>
          <p:sp>
            <p:nvSpPr>
              <p:cNvPr id="292" name="Google Shape;292;p22"/>
              <p:cNvSpPr/>
              <p:nvPr/>
            </p:nvSpPr>
            <p:spPr>
              <a:xfrm>
                <a:off x="0" y="4763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22"/>
              <p:cNvSpPr/>
              <p:nvPr/>
            </p:nvSpPr>
            <p:spPr>
              <a:xfrm>
                <a:off x="57150" y="80975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7987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4" name="Google Shape;294;p22"/>
            <p:cNvSpPr txBox="1"/>
            <p:nvPr/>
          </p:nvSpPr>
          <p:spPr>
            <a:xfrm>
              <a:off x="1095375" y="1333500"/>
              <a:ext cx="48102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Copying an Entire Directory Structure</a:t>
              </a:r>
              <a:endParaRPr b="0" sz="14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45A3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shutil.copytree(src, dst)</a:t>
              </a:r>
              <a:r>
                <a:rPr b="0" lang="en" sz="12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recursively copies an entire directory tree, including all nested folders and files.</a:t>
              </a:r>
              <a:endParaRPr b="0" sz="12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5" name="Google Shape;295;p22"/>
          <p:cNvGrpSpPr/>
          <p:nvPr/>
        </p:nvGrpSpPr>
        <p:grpSpPr>
          <a:xfrm>
            <a:off x="762000" y="2381250"/>
            <a:ext cx="5143575" cy="809700"/>
            <a:chOff x="762000" y="2381250"/>
            <a:chExt cx="5143575" cy="809700"/>
          </a:xfrm>
        </p:grpSpPr>
        <p:grpSp>
          <p:nvGrpSpPr>
            <p:cNvPr id="296" name="Google Shape;296;p22"/>
            <p:cNvGrpSpPr/>
            <p:nvPr/>
          </p:nvGrpSpPr>
          <p:grpSpPr>
            <a:xfrm>
              <a:off x="762000" y="2405063"/>
              <a:ext cx="190500" cy="190500"/>
              <a:chOff x="0" y="4763"/>
              <a:chExt cx="190500" cy="190500"/>
            </a:xfrm>
          </p:grpSpPr>
          <p:sp>
            <p:nvSpPr>
              <p:cNvPr id="297" name="Google Shape;297;p22"/>
              <p:cNvSpPr/>
              <p:nvPr/>
            </p:nvSpPr>
            <p:spPr>
              <a:xfrm>
                <a:off x="0" y="4763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22"/>
              <p:cNvSpPr/>
              <p:nvPr/>
            </p:nvSpPr>
            <p:spPr>
              <a:xfrm>
                <a:off x="57150" y="80975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7987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9" name="Google Shape;299;p22"/>
            <p:cNvSpPr txBox="1"/>
            <p:nvPr/>
          </p:nvSpPr>
          <p:spPr>
            <a:xfrm>
              <a:off x="1095375" y="2381250"/>
              <a:ext cx="48102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No Manual Loops Required</a:t>
              </a:r>
              <a:endParaRPr b="0" sz="14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It handles the traversal of the directory structure automatically, saving you from writing complex recursive loops.</a:t>
              </a:r>
              <a:endParaRPr b="0" sz="12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0" name="Google Shape;300;p22"/>
          <p:cNvGrpSpPr/>
          <p:nvPr/>
        </p:nvGrpSpPr>
        <p:grpSpPr>
          <a:xfrm>
            <a:off x="762000" y="3429000"/>
            <a:ext cx="5143575" cy="809700"/>
            <a:chOff x="762000" y="3429000"/>
            <a:chExt cx="5143575" cy="809700"/>
          </a:xfrm>
        </p:grpSpPr>
        <p:grpSp>
          <p:nvGrpSpPr>
            <p:cNvPr id="301" name="Google Shape;301;p22"/>
            <p:cNvGrpSpPr/>
            <p:nvPr/>
          </p:nvGrpSpPr>
          <p:grpSpPr>
            <a:xfrm>
              <a:off x="762000" y="3452813"/>
              <a:ext cx="190500" cy="190500"/>
              <a:chOff x="0" y="4763"/>
              <a:chExt cx="190500" cy="190500"/>
            </a:xfrm>
          </p:grpSpPr>
          <p:sp>
            <p:nvSpPr>
              <p:cNvPr id="302" name="Google Shape;302;p22"/>
              <p:cNvSpPr/>
              <p:nvPr/>
            </p:nvSpPr>
            <p:spPr>
              <a:xfrm>
                <a:off x="0" y="4763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22"/>
              <p:cNvSpPr/>
              <p:nvPr/>
            </p:nvSpPr>
            <p:spPr>
              <a:xfrm>
                <a:off x="57150" y="80975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7987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4" name="Google Shape;304;p22"/>
            <p:cNvSpPr txBox="1"/>
            <p:nvPr/>
          </p:nvSpPr>
          <p:spPr>
            <a:xfrm>
              <a:off x="1095375" y="3429000"/>
              <a:ext cx="48102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Source and Destination Rules</a:t>
              </a:r>
              <a:endParaRPr b="0" sz="14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By default, the destination directory </a:t>
              </a:r>
              <a:r>
                <a:rPr b="0" lang="en" sz="1250">
                  <a:solidFill>
                    <a:srgbClr val="D4A01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MUST NOT exist</a:t>
              </a:r>
              <a:r>
                <a:rPr b="0" lang="en" sz="12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beforehand. </a:t>
              </a:r>
              <a:r>
                <a:rPr b="0" lang="en" sz="1150">
                  <a:solidFill>
                    <a:srgbClr val="045A3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copytree()</a:t>
              </a:r>
              <a:r>
                <a:rPr b="0" lang="en" sz="12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will create it.</a:t>
              </a:r>
              <a:endParaRPr b="0" sz="12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5" name="Google Shape;305;p22"/>
          <p:cNvGrpSpPr/>
          <p:nvPr/>
        </p:nvGrpSpPr>
        <p:grpSpPr>
          <a:xfrm>
            <a:off x="762000" y="4476750"/>
            <a:ext cx="5143575" cy="809700"/>
            <a:chOff x="762000" y="4476750"/>
            <a:chExt cx="5143575" cy="809700"/>
          </a:xfrm>
        </p:grpSpPr>
        <p:grpSp>
          <p:nvGrpSpPr>
            <p:cNvPr id="306" name="Google Shape;306;p22"/>
            <p:cNvGrpSpPr/>
            <p:nvPr/>
          </p:nvGrpSpPr>
          <p:grpSpPr>
            <a:xfrm>
              <a:off x="762000" y="4500563"/>
              <a:ext cx="190500" cy="190500"/>
              <a:chOff x="0" y="4763"/>
              <a:chExt cx="190500" cy="190500"/>
            </a:xfrm>
          </p:grpSpPr>
          <p:sp>
            <p:nvSpPr>
              <p:cNvPr id="307" name="Google Shape;307;p22"/>
              <p:cNvSpPr/>
              <p:nvPr/>
            </p:nvSpPr>
            <p:spPr>
              <a:xfrm>
                <a:off x="0" y="4763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22"/>
              <p:cNvSpPr/>
              <p:nvPr/>
            </p:nvSpPr>
            <p:spPr>
              <a:xfrm>
                <a:off x="57150" y="80975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7987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9" name="Google Shape;309;p22"/>
            <p:cNvSpPr txBox="1"/>
            <p:nvPr/>
          </p:nvSpPr>
          <p:spPr>
            <a:xfrm>
              <a:off x="1095375" y="4476750"/>
              <a:ext cx="48102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Using 'dirs_exist_ok' (Python 3.8+)</a:t>
              </a:r>
              <a:endParaRPr b="0" sz="14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To merge folders safely into an existing directory, use </a:t>
              </a:r>
              <a:r>
                <a:rPr b="0" lang="en" sz="1150">
                  <a:solidFill>
                    <a:srgbClr val="045A3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dirs_exist_ok=True</a:t>
              </a:r>
              <a:r>
                <a:rPr b="0" lang="en" sz="12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2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0" name="Google Shape;310;p22"/>
          <p:cNvGrpSpPr/>
          <p:nvPr/>
        </p:nvGrpSpPr>
        <p:grpSpPr>
          <a:xfrm>
            <a:off x="6286500" y="1333500"/>
            <a:ext cx="5143500" cy="3143400"/>
            <a:chOff x="0" y="0"/>
            <a:chExt cx="5143500" cy="3143400"/>
          </a:xfrm>
        </p:grpSpPr>
        <p:sp>
          <p:nvSpPr>
            <p:cNvPr id="311" name="Google Shape;311;p22"/>
            <p:cNvSpPr/>
            <p:nvPr/>
          </p:nvSpPr>
          <p:spPr>
            <a:xfrm>
              <a:off x="0" y="0"/>
              <a:ext cx="5143500" cy="3143400"/>
            </a:xfrm>
            <a:prstGeom prst="roundRect">
              <a:avLst>
                <a:gd fmla="val 2424" name="adj"/>
              </a:avLst>
            </a:prstGeom>
            <a:solidFill>
              <a:srgbClr val="1F29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0" y="0"/>
              <a:ext cx="57300" cy="31434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2"/>
            <p:cNvSpPr txBox="1"/>
            <p:nvPr/>
          </p:nvSpPr>
          <p:spPr>
            <a:xfrm>
              <a:off x="285750" y="190500"/>
              <a:ext cx="457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PRACTICAL BACKUP AUTOMATION</a:t>
              </a:r>
              <a:endParaRPr b="1" sz="95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4" name="Google Shape;314;p22"/>
            <p:cNvSpPr txBox="1"/>
            <p:nvPr/>
          </p:nvSpPr>
          <p:spPr>
            <a:xfrm>
              <a:off x="285750" y="571500"/>
              <a:ext cx="45720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8FAFC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import</a:t>
              </a:r>
              <a:r>
                <a:rPr lang="en" sz="1100">
                  <a:solidFill>
                    <a:srgbClr val="A7F3D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shutil</a:t>
              </a:r>
              <a:endParaRPr sz="110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9CA3A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Copy entire project folder to a backup location</a:t>
              </a:r>
              <a:endParaRPr sz="95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9CA3A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dirs_exist_ok allows overwriting/merging</a:t>
              </a:r>
              <a:endParaRPr sz="95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shutil.copytree(</a:t>
              </a:r>
              <a:endParaRPr sz="1100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    </a:t>
              </a:r>
              <a:r>
                <a:rPr lang="en" sz="1100">
                  <a:solidFill>
                    <a:srgbClr val="FCD34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'my_project'</a:t>
              </a:r>
              <a:r>
                <a:rPr lang="en" sz="11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</a:t>
              </a:r>
              <a:endParaRPr sz="1100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    </a:t>
              </a:r>
              <a:r>
                <a:rPr lang="en" sz="1100">
                  <a:solidFill>
                    <a:srgbClr val="FCD34D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'backup_v1'</a:t>
              </a:r>
              <a:r>
                <a:rPr lang="en" sz="11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</a:t>
              </a:r>
              <a:endParaRPr sz="1100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    </a:t>
              </a:r>
              <a:r>
                <a:rPr lang="en" sz="1100">
                  <a:solidFill>
                    <a:srgbClr val="FCA5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dirs_exist_ok</a:t>
              </a:r>
              <a:r>
                <a:rPr lang="en" sz="11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lang="en" sz="1100">
                  <a:solidFill>
                    <a:srgbClr val="6EE7B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True</a:t>
              </a:r>
              <a:endParaRPr sz="1100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1100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315" name="Google Shape;315;p22"/>
          <p:cNvGrpSpPr/>
          <p:nvPr/>
        </p:nvGrpSpPr>
        <p:grpSpPr>
          <a:xfrm>
            <a:off x="6286500" y="4667250"/>
            <a:ext cx="5143500" cy="952500"/>
            <a:chOff x="0" y="0"/>
            <a:chExt cx="5143500" cy="952500"/>
          </a:xfrm>
        </p:grpSpPr>
        <p:sp>
          <p:nvSpPr>
            <p:cNvPr id="316" name="Google Shape;316;p22"/>
            <p:cNvSpPr/>
            <p:nvPr/>
          </p:nvSpPr>
          <p:spPr>
            <a:xfrm>
              <a:off x="0" y="0"/>
              <a:ext cx="5143500" cy="952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4300">
              <a:solidFill>
                <a:srgbClr val="D4A01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2"/>
            <p:cNvSpPr txBox="1"/>
            <p:nvPr/>
          </p:nvSpPr>
          <p:spPr>
            <a:xfrm>
              <a:off x="142875" y="273177"/>
              <a:ext cx="38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D4A01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2400">
                <a:solidFill>
                  <a:srgbClr val="D4A01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8" name="Google Shape;318;p22"/>
            <p:cNvSpPr txBox="1"/>
            <p:nvPr/>
          </p:nvSpPr>
          <p:spPr>
            <a:xfrm>
              <a:off x="619125" y="142875"/>
              <a:ext cx="4333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Destination Folder Constraint</a:t>
              </a:r>
              <a:endParaRPr b="0" sz="115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Destination must not exist beforehand unless </a:t>
              </a:r>
              <a:r>
                <a:rPr b="0" lang="en" sz="950">
                  <a:solidFill>
                    <a:srgbClr val="045A3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dirs_exist_ok=True</a:t>
              </a:r>
              <a:r>
                <a:rPr b="0" lang="en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is set (Python 3.8+).</a:t>
              </a:r>
              <a:endParaRPr b="0" sz="10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3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3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5" name="Google Shape;325;p23"/>
          <p:cNvGrpSpPr/>
          <p:nvPr/>
        </p:nvGrpSpPr>
        <p:grpSpPr>
          <a:xfrm>
            <a:off x="762000" y="381000"/>
            <a:ext cx="10668000" cy="695400"/>
            <a:chOff x="0" y="0"/>
            <a:chExt cx="10668000" cy="695400"/>
          </a:xfrm>
        </p:grpSpPr>
        <p:sp>
          <p:nvSpPr>
            <p:cNvPr id="326" name="Google Shape;326;p23"/>
            <p:cNvSpPr txBox="1"/>
            <p:nvPr/>
          </p:nvSpPr>
          <p:spPr>
            <a:xfrm>
              <a:off x="0" y="0"/>
              <a:ext cx="10668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700">
                  <a:solidFill>
                    <a:srgbClr val="045A36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Ignoring Files During Directory Copying</a:t>
              </a:r>
              <a:endParaRPr b="0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327" name="Google Shape;327;p23"/>
            <p:cNvSpPr txBox="1"/>
            <p:nvPr/>
          </p:nvSpPr>
          <p:spPr>
            <a:xfrm>
              <a:off x="0" y="457200"/>
              <a:ext cx="10668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Selective Recursive Copies</a:t>
              </a:r>
              <a:endParaRPr b="0" sz="135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28" name="Google Shape;328;p23"/>
          <p:cNvGrpSpPr/>
          <p:nvPr/>
        </p:nvGrpSpPr>
        <p:grpSpPr>
          <a:xfrm>
            <a:off x="762000" y="1428750"/>
            <a:ext cx="5095875" cy="762000"/>
            <a:chOff x="0" y="0"/>
            <a:chExt cx="5095875" cy="762000"/>
          </a:xfrm>
        </p:grpSpPr>
        <p:grpSp>
          <p:nvGrpSpPr>
            <p:cNvPr id="329" name="Google Shape;329;p23"/>
            <p:cNvGrpSpPr/>
            <p:nvPr/>
          </p:nvGrpSpPr>
          <p:grpSpPr>
            <a:xfrm>
              <a:off x="0" y="42863"/>
              <a:ext cx="190500" cy="190500"/>
              <a:chOff x="0" y="4763"/>
              <a:chExt cx="190500" cy="190500"/>
            </a:xfrm>
          </p:grpSpPr>
          <p:sp>
            <p:nvSpPr>
              <p:cNvPr id="330" name="Google Shape;330;p23"/>
              <p:cNvSpPr/>
              <p:nvPr/>
            </p:nvSpPr>
            <p:spPr>
              <a:xfrm>
                <a:off x="0" y="4763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23"/>
              <p:cNvSpPr/>
              <p:nvPr/>
            </p:nvSpPr>
            <p:spPr>
              <a:xfrm>
                <a:off x="57150" y="80975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7987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2" name="Google Shape;332;p23"/>
            <p:cNvSpPr txBox="1"/>
            <p:nvPr/>
          </p:nvSpPr>
          <p:spPr>
            <a:xfrm>
              <a:off x="333375" y="0"/>
              <a:ext cx="476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Using the ignore Parameter</a:t>
              </a:r>
              <a:endParaRPr b="0" sz="135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shutil.copytree() accepts an ignore callable to filter which files and directories are copied.</a:t>
              </a:r>
              <a:endParaRPr b="0" sz="11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3" name="Google Shape;333;p23"/>
          <p:cNvGrpSpPr/>
          <p:nvPr/>
        </p:nvGrpSpPr>
        <p:grpSpPr>
          <a:xfrm>
            <a:off x="762000" y="2381250"/>
            <a:ext cx="5095875" cy="762000"/>
            <a:chOff x="0" y="0"/>
            <a:chExt cx="5095875" cy="762000"/>
          </a:xfrm>
        </p:grpSpPr>
        <p:grpSp>
          <p:nvGrpSpPr>
            <p:cNvPr id="334" name="Google Shape;334;p23"/>
            <p:cNvGrpSpPr/>
            <p:nvPr/>
          </p:nvGrpSpPr>
          <p:grpSpPr>
            <a:xfrm>
              <a:off x="0" y="42863"/>
              <a:ext cx="190500" cy="190500"/>
              <a:chOff x="0" y="4763"/>
              <a:chExt cx="190500" cy="190500"/>
            </a:xfrm>
          </p:grpSpPr>
          <p:sp>
            <p:nvSpPr>
              <p:cNvPr id="335" name="Google Shape;335;p23"/>
              <p:cNvSpPr/>
              <p:nvPr/>
            </p:nvSpPr>
            <p:spPr>
              <a:xfrm>
                <a:off x="0" y="4763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23"/>
              <p:cNvSpPr/>
              <p:nvPr/>
            </p:nvSpPr>
            <p:spPr>
              <a:xfrm>
                <a:off x="57150" y="80975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7987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7" name="Google Shape;337;p23"/>
            <p:cNvSpPr txBox="1"/>
            <p:nvPr/>
          </p:nvSpPr>
          <p:spPr>
            <a:xfrm>
              <a:off x="333375" y="0"/>
              <a:ext cx="476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Using shutil.ignore_patterns()</a:t>
              </a:r>
              <a:endParaRPr b="0" sz="135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The shutil.ignore_patterns(*patterns) factory function creates a callable that ignores files matching specific glob-style patterns.</a:t>
              </a:r>
              <a:endParaRPr b="0" sz="11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8" name="Google Shape;338;p23"/>
          <p:cNvGrpSpPr/>
          <p:nvPr/>
        </p:nvGrpSpPr>
        <p:grpSpPr>
          <a:xfrm>
            <a:off x="762000" y="3333750"/>
            <a:ext cx="5095875" cy="1000200"/>
            <a:chOff x="0" y="0"/>
            <a:chExt cx="5095875" cy="1000200"/>
          </a:xfrm>
        </p:grpSpPr>
        <p:grpSp>
          <p:nvGrpSpPr>
            <p:cNvPr id="339" name="Google Shape;339;p23"/>
            <p:cNvGrpSpPr/>
            <p:nvPr/>
          </p:nvGrpSpPr>
          <p:grpSpPr>
            <a:xfrm>
              <a:off x="0" y="42863"/>
              <a:ext cx="190500" cy="190500"/>
              <a:chOff x="0" y="4763"/>
              <a:chExt cx="190500" cy="190500"/>
            </a:xfrm>
          </p:grpSpPr>
          <p:sp>
            <p:nvSpPr>
              <p:cNvPr id="340" name="Google Shape;340;p23"/>
              <p:cNvSpPr/>
              <p:nvPr/>
            </p:nvSpPr>
            <p:spPr>
              <a:xfrm>
                <a:off x="0" y="4763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23"/>
              <p:cNvSpPr/>
              <p:nvPr/>
            </p:nvSpPr>
            <p:spPr>
              <a:xfrm>
                <a:off x="57150" y="80975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7987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2" name="Google Shape;342;p23"/>
            <p:cNvSpPr txBox="1"/>
            <p:nvPr/>
          </p:nvSpPr>
          <p:spPr>
            <a:xfrm>
              <a:off x="333375" y="0"/>
              <a:ext cx="47625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Practical Exclusions</a:t>
              </a:r>
              <a:endParaRPr b="0" sz="135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• Temporary files: *.tmp</a:t>
              </a:r>
              <a:endParaRPr b="0" sz="11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• System files: .DS_Store, Thumbs.db</a:t>
              </a:r>
              <a:endParaRPr b="0" sz="11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• Cache folders: __pycache__</a:t>
              </a:r>
              <a:endParaRPr b="0" sz="11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3" name="Google Shape;343;p23"/>
          <p:cNvGrpSpPr/>
          <p:nvPr/>
        </p:nvGrpSpPr>
        <p:grpSpPr>
          <a:xfrm>
            <a:off x="762000" y="4524375"/>
            <a:ext cx="5095875" cy="762000"/>
            <a:chOff x="0" y="0"/>
            <a:chExt cx="5095875" cy="762000"/>
          </a:xfrm>
        </p:grpSpPr>
        <p:grpSp>
          <p:nvGrpSpPr>
            <p:cNvPr id="344" name="Google Shape;344;p23"/>
            <p:cNvGrpSpPr/>
            <p:nvPr/>
          </p:nvGrpSpPr>
          <p:grpSpPr>
            <a:xfrm>
              <a:off x="0" y="42863"/>
              <a:ext cx="190500" cy="190500"/>
              <a:chOff x="0" y="4763"/>
              <a:chExt cx="190500" cy="190500"/>
            </a:xfrm>
          </p:grpSpPr>
          <p:sp>
            <p:nvSpPr>
              <p:cNvPr id="345" name="Google Shape;345;p23"/>
              <p:cNvSpPr/>
              <p:nvPr/>
            </p:nvSpPr>
            <p:spPr>
              <a:xfrm>
                <a:off x="0" y="4763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23"/>
              <p:cNvSpPr/>
              <p:nvPr/>
            </p:nvSpPr>
            <p:spPr>
              <a:xfrm>
                <a:off x="57150" y="80975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7987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7" name="Google Shape;347;p23"/>
            <p:cNvSpPr txBox="1"/>
            <p:nvPr/>
          </p:nvSpPr>
          <p:spPr>
            <a:xfrm>
              <a:off x="333375" y="0"/>
              <a:ext cx="476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Excluding Specific File Extensions</a:t>
              </a:r>
              <a:endParaRPr b="0" sz="135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Useful for excluding large or unnecessary files, like .log or .git directories.</a:t>
              </a:r>
              <a:endParaRPr b="0" sz="11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48" name="Google Shape;348;p23"/>
          <p:cNvSpPr txBox="1"/>
          <p:nvPr/>
        </p:nvSpPr>
        <p:spPr>
          <a:xfrm>
            <a:off x="6096000" y="1428750"/>
            <a:ext cx="5334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rPr>
              <a:t>Creating Selective Backup Systems</a:t>
            </a:r>
            <a:endParaRPr b="1" sz="1400">
              <a:solidFill>
                <a:srgbClr val="045A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49" name="Google Shape;349;p23"/>
          <p:cNvGrpSpPr/>
          <p:nvPr/>
        </p:nvGrpSpPr>
        <p:grpSpPr>
          <a:xfrm>
            <a:off x="6096000" y="1809750"/>
            <a:ext cx="5334000" cy="3476700"/>
            <a:chOff x="0" y="0"/>
            <a:chExt cx="5334000" cy="3476700"/>
          </a:xfrm>
        </p:grpSpPr>
        <p:sp>
          <p:nvSpPr>
            <p:cNvPr id="350" name="Google Shape;350;p23"/>
            <p:cNvSpPr/>
            <p:nvPr/>
          </p:nvSpPr>
          <p:spPr>
            <a:xfrm>
              <a:off x="0" y="0"/>
              <a:ext cx="5334000" cy="3476700"/>
            </a:xfrm>
            <a:prstGeom prst="roundRect">
              <a:avLst>
                <a:gd fmla="val 1643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3"/>
            <p:cNvSpPr/>
            <p:nvPr/>
          </p:nvSpPr>
          <p:spPr>
            <a:xfrm>
              <a:off x="0" y="0"/>
              <a:ext cx="57300" cy="3476700"/>
            </a:xfrm>
            <a:prstGeom prst="roundRect">
              <a:avLst>
                <a:gd fmla="val 33333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3"/>
            <p:cNvSpPr txBox="1"/>
            <p:nvPr/>
          </p:nvSpPr>
          <p:spPr>
            <a:xfrm>
              <a:off x="285750" y="285750"/>
              <a:ext cx="4762500" cy="29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import</a:t>
              </a:r>
              <a:r>
                <a:rPr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shutil</a:t>
              </a:r>
              <a:endParaRPr sz="110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B72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Copy project, ignoring cache and git folders</a:t>
              </a:r>
              <a:endParaRPr sz="11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shutil.copytree(</a:t>
              </a:r>
              <a:endParaRPr sz="110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'source_code'</a:t>
              </a:r>
              <a:r>
                <a:rPr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</a:t>
              </a:r>
              <a:endParaRPr sz="110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'clean_backup'</a:t>
              </a:r>
              <a:r>
                <a:rPr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</a:t>
              </a:r>
              <a:endParaRPr sz="110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ignore=shutil.ignore_patterns(</a:t>
              </a:r>
              <a:endParaRPr sz="110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'__pycache__'</a:t>
              </a:r>
              <a:r>
                <a:rPr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</a:t>
              </a:r>
              <a:endParaRPr sz="110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'.git'</a:t>
              </a:r>
              <a:r>
                <a:rPr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</a:t>
              </a:r>
              <a:endParaRPr sz="110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'*.tmp'</a:t>
              </a:r>
              <a:endParaRPr sz="110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110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110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353" name="Google Shape;353;p23"/>
          <p:cNvSpPr txBox="1"/>
          <p:nvPr/>
        </p:nvSpPr>
        <p:spPr>
          <a:xfrm>
            <a:off x="762000" y="61341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shutil Module: File and Folder Automation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Google Shape;354;p23"/>
          <p:cNvSpPr/>
          <p:nvPr>
            <p:ph idx="2" type="pic"/>
          </p:nvPr>
        </p:nvSpPr>
        <p:spPr>
          <a:xfrm>
            <a:off x="10287000" y="5457825"/>
            <a:ext cx="1524000" cy="1019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oogle Shape;359;p2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60" name="Google Shape;360;p2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4"/>
            <p:cNvSpPr/>
            <p:nvPr/>
          </p:nvSpPr>
          <p:spPr>
            <a:xfrm>
              <a:off x="0" y="0"/>
              <a:ext cx="12192000" cy="57300"/>
            </a:xfrm>
            <a:prstGeom prst="rect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4"/>
            <p:cNvSpPr/>
            <p:nvPr/>
          </p:nvSpPr>
          <p:spPr>
            <a:xfrm>
              <a:off x="762000" y="1123950"/>
              <a:ext cx="106680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4"/>
            <p:cNvSpPr txBox="1"/>
            <p:nvPr/>
          </p:nvSpPr>
          <p:spPr>
            <a:xfrm>
              <a:off x="762000" y="6134100"/>
              <a:ext cx="571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Python shutil Module: File and Folder Automation</a:t>
              </a:r>
              <a:endParaRPr b="0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364" name="Google Shape;364;p24"/>
            <p:cNvPicPr preferRelativeResize="0"/>
            <p:nvPr/>
          </p:nvPicPr>
          <p:blipFill rotWithShape="1">
            <a:blip r:embed="rId3">
              <a:alphaModFix/>
            </a:blip>
            <a:srcRect b="0" l="10" r="0" t="0"/>
            <a:stretch/>
          </p:blipFill>
          <p:spPr>
            <a:xfrm>
              <a:off x="10287000" y="5457825"/>
              <a:ext cx="1524000" cy="1019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5" name="Google Shape;365;p24"/>
          <p:cNvSpPr txBox="1"/>
          <p:nvPr/>
        </p:nvSpPr>
        <p:spPr>
          <a:xfrm>
            <a:off x="762000" y="333375"/>
            <a:ext cx="10668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Moving Files and Folders with shutil.move()</a:t>
            </a:r>
            <a:endParaRPr b="0" sz="24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1150">
                <a:solidFill>
                  <a:srgbClr val="D4A01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Relocating Data Efficiently</a:t>
            </a:r>
            <a:endParaRPr b="0" sz="1150">
              <a:solidFill>
                <a:srgbClr val="D4A01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366" name="Google Shape;366;p24"/>
          <p:cNvGrpSpPr/>
          <p:nvPr/>
        </p:nvGrpSpPr>
        <p:grpSpPr>
          <a:xfrm>
            <a:off x="762000" y="1428750"/>
            <a:ext cx="4953150" cy="3905250"/>
            <a:chOff x="762000" y="1428750"/>
            <a:chExt cx="4953150" cy="3905250"/>
          </a:xfrm>
        </p:grpSpPr>
        <p:grpSp>
          <p:nvGrpSpPr>
            <p:cNvPr id="367" name="Google Shape;367;p24"/>
            <p:cNvGrpSpPr/>
            <p:nvPr/>
          </p:nvGrpSpPr>
          <p:grpSpPr>
            <a:xfrm>
              <a:off x="762000" y="1428750"/>
              <a:ext cx="4953000" cy="476400"/>
              <a:chOff x="0" y="0"/>
              <a:chExt cx="4953000" cy="476400"/>
            </a:xfrm>
          </p:grpSpPr>
          <p:sp>
            <p:nvSpPr>
              <p:cNvPr id="368" name="Google Shape;368;p24"/>
              <p:cNvSpPr/>
              <p:nvPr/>
            </p:nvSpPr>
            <p:spPr>
              <a:xfrm>
                <a:off x="0" y="0"/>
                <a:ext cx="4953000" cy="476400"/>
              </a:xfrm>
              <a:prstGeom prst="roundRect">
                <a:avLst>
                  <a:gd fmla="val 12000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4"/>
              <p:cNvSpPr/>
              <p:nvPr/>
            </p:nvSpPr>
            <p:spPr>
              <a:xfrm>
                <a:off x="0" y="0"/>
                <a:ext cx="57300" cy="476400"/>
              </a:xfrm>
              <a:prstGeom prst="roundRect">
                <a:avLst>
                  <a:gd fmla="val 33333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24"/>
              <p:cNvSpPr txBox="1"/>
              <p:nvPr/>
            </p:nvSpPr>
            <p:spPr>
              <a:xfrm>
                <a:off x="190500" y="0"/>
                <a:ext cx="4572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6B72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Signature: </a:t>
                </a:r>
                <a:r>
                  <a:rPr b="1" lang="en" sz="1350">
                    <a:solidFill>
                      <a:srgbClr val="045A3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shutil.move(src, dst)</a:t>
                </a:r>
                <a:endParaRPr b="1" sz="135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sp>
          <p:nvSpPr>
            <p:cNvPr id="371" name="Google Shape;371;p24"/>
            <p:cNvSpPr txBox="1"/>
            <p:nvPr/>
          </p:nvSpPr>
          <p:spPr>
            <a:xfrm>
              <a:off x="762000" y="2095500"/>
              <a:ext cx="4953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Moving Files and Folders</a:t>
              </a:r>
              <a:endParaRPr b="1" sz="15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Efficiently moves files or complete directory trees to a new location.</a:t>
              </a:r>
              <a:endParaRPr b="0" sz="12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2" name="Google Shape;372;p24"/>
            <p:cNvSpPr txBox="1"/>
            <p:nvPr/>
          </p:nvSpPr>
          <p:spPr>
            <a:xfrm>
              <a:off x="762000" y="2952750"/>
              <a:ext cx="4953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Renaming Files and Folders</a:t>
              </a:r>
              <a:endParaRPr b="1" sz="15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If the destination path specifies a new name, </a:t>
              </a:r>
              <a:r>
                <a:rPr b="0" lang="en" sz="1100">
                  <a:solidFill>
                    <a:srgbClr val="374151"/>
                  </a:solidFill>
                  <a:highlight>
                    <a:srgbClr val="E2E8F0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move()</a:t>
              </a:r>
              <a:r>
                <a:rPr b="0" lang="en" sz="12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effectively renames the item during the move.</a:t>
              </a:r>
              <a:endParaRPr b="0" sz="12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73" name="Google Shape;373;p24"/>
            <p:cNvGrpSpPr/>
            <p:nvPr/>
          </p:nvGrpSpPr>
          <p:grpSpPr>
            <a:xfrm>
              <a:off x="762000" y="3857625"/>
              <a:ext cx="4953150" cy="1476375"/>
              <a:chOff x="0" y="0"/>
              <a:chExt cx="4953150" cy="1476375"/>
            </a:xfrm>
          </p:grpSpPr>
          <p:sp>
            <p:nvSpPr>
              <p:cNvPr id="374" name="Google Shape;374;p24"/>
              <p:cNvSpPr txBox="1"/>
              <p:nvPr/>
            </p:nvSpPr>
            <p:spPr>
              <a:xfrm>
                <a:off x="0" y="0"/>
                <a:ext cx="4953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45A36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Behind the Scenes: How it Works</a:t>
                </a:r>
                <a:endParaRPr b="1" sz="15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grpSp>
            <p:nvGrpSpPr>
              <p:cNvPr id="375" name="Google Shape;375;p24"/>
              <p:cNvGrpSpPr/>
              <p:nvPr/>
            </p:nvGrpSpPr>
            <p:grpSpPr>
              <a:xfrm>
                <a:off x="0" y="333375"/>
                <a:ext cx="4953150" cy="571500"/>
                <a:chOff x="0" y="0"/>
                <a:chExt cx="4953150" cy="571500"/>
              </a:xfrm>
            </p:grpSpPr>
            <p:grpSp>
              <p:nvGrpSpPr>
                <p:cNvPr id="376" name="Google Shape;376;p24"/>
                <p:cNvGrpSpPr/>
                <p:nvPr/>
              </p:nvGrpSpPr>
              <p:grpSpPr>
                <a:xfrm>
                  <a:off x="0" y="23813"/>
                  <a:ext cx="190500" cy="190500"/>
                  <a:chOff x="0" y="4763"/>
                  <a:chExt cx="190500" cy="190500"/>
                </a:xfrm>
              </p:grpSpPr>
              <p:sp>
                <p:nvSpPr>
                  <p:cNvPr id="377" name="Google Shape;377;p24"/>
                  <p:cNvSpPr/>
                  <p:nvPr/>
                </p:nvSpPr>
                <p:spPr>
                  <a:xfrm>
                    <a:off x="0" y="4763"/>
                    <a:ext cx="190500" cy="190500"/>
                  </a:xfrm>
                  <a:prstGeom prst="ellipse">
                    <a:avLst/>
                  </a:prstGeom>
                  <a:solidFill>
                    <a:srgbClr val="045A36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8" name="Google Shape;378;p24"/>
                  <p:cNvSpPr/>
                  <p:nvPr/>
                </p:nvSpPr>
                <p:spPr>
                  <a:xfrm>
                    <a:off x="57150" y="80975"/>
                    <a:ext cx="76200" cy="47700"/>
                  </a:xfrm>
                  <a:custGeom>
                    <a:rect b="b" l="l" r="r" t="t"/>
                    <a:pathLst>
                      <a:path extrusionOk="0" h="120000" w="120000">
                        <a:moveTo>
                          <a:pt x="0" y="47987"/>
                        </a:moveTo>
                        <a:lnTo>
                          <a:pt x="45000" y="120000"/>
                        </a:lnTo>
                        <a:lnTo>
                          <a:pt x="120000" y="0"/>
                        </a:lnTo>
                      </a:path>
                    </a:pathLst>
                  </a:custGeom>
                  <a:solidFill>
                    <a:srgbClr val="000000"/>
                  </a:solidFill>
                  <a:ln cap="rnd" cmpd="sng" w="19050">
                    <a:solidFill>
                      <a:srgbClr val="F8FAFC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79" name="Google Shape;379;p24"/>
                <p:cNvSpPr txBox="1"/>
                <p:nvPr/>
              </p:nvSpPr>
              <p:spPr>
                <a:xfrm>
                  <a:off x="285750" y="0"/>
                  <a:ext cx="46674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250">
                      <a:solidFill>
                        <a:srgbClr val="045A36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Same Filesystem:</a:t>
                  </a:r>
                  <a:r>
                    <a:rPr b="0" lang="en" sz="125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Defaults to </a:t>
                  </a:r>
                  <a:r>
                    <a:rPr b="0" lang="en" sz="1100">
                      <a:solidFill>
                        <a:srgbClr val="374151"/>
                      </a:solidFill>
                      <a:highlight>
                        <a:srgbClr val="E2E8F0"/>
                      </a:highlight>
                      <a:latin typeface="Roboto Mono"/>
                      <a:ea typeface="Roboto Mono"/>
                      <a:cs typeface="Roboto Mono"/>
                      <a:sym typeface="Roboto Mono"/>
                    </a:rPr>
                    <a:t>os.rename()</a:t>
                  </a:r>
                  <a:r>
                    <a:rPr b="0" lang="en" sz="125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for near-instantaneous operation.</a:t>
                  </a:r>
                  <a:endParaRPr b="0" sz="12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380" name="Google Shape;380;p24"/>
              <p:cNvGrpSpPr/>
              <p:nvPr/>
            </p:nvGrpSpPr>
            <p:grpSpPr>
              <a:xfrm>
                <a:off x="0" y="904875"/>
                <a:ext cx="4953150" cy="571500"/>
                <a:chOff x="0" y="0"/>
                <a:chExt cx="4953150" cy="571500"/>
              </a:xfrm>
            </p:grpSpPr>
            <p:grpSp>
              <p:nvGrpSpPr>
                <p:cNvPr id="381" name="Google Shape;381;p24"/>
                <p:cNvGrpSpPr/>
                <p:nvPr/>
              </p:nvGrpSpPr>
              <p:grpSpPr>
                <a:xfrm>
                  <a:off x="0" y="23813"/>
                  <a:ext cx="190500" cy="190500"/>
                  <a:chOff x="0" y="4763"/>
                  <a:chExt cx="190500" cy="190500"/>
                </a:xfrm>
              </p:grpSpPr>
              <p:sp>
                <p:nvSpPr>
                  <p:cNvPr id="382" name="Google Shape;382;p24"/>
                  <p:cNvSpPr/>
                  <p:nvPr/>
                </p:nvSpPr>
                <p:spPr>
                  <a:xfrm>
                    <a:off x="0" y="4763"/>
                    <a:ext cx="190500" cy="190500"/>
                  </a:xfrm>
                  <a:prstGeom prst="ellipse">
                    <a:avLst/>
                  </a:prstGeom>
                  <a:solidFill>
                    <a:srgbClr val="045A36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3" name="Google Shape;383;p24"/>
                  <p:cNvSpPr/>
                  <p:nvPr/>
                </p:nvSpPr>
                <p:spPr>
                  <a:xfrm>
                    <a:off x="57150" y="80975"/>
                    <a:ext cx="76200" cy="47700"/>
                  </a:xfrm>
                  <a:custGeom>
                    <a:rect b="b" l="l" r="r" t="t"/>
                    <a:pathLst>
                      <a:path extrusionOk="0" h="120000" w="120000">
                        <a:moveTo>
                          <a:pt x="0" y="47987"/>
                        </a:moveTo>
                        <a:lnTo>
                          <a:pt x="45000" y="120000"/>
                        </a:lnTo>
                        <a:lnTo>
                          <a:pt x="120000" y="0"/>
                        </a:lnTo>
                      </a:path>
                    </a:pathLst>
                  </a:custGeom>
                  <a:solidFill>
                    <a:srgbClr val="000000"/>
                  </a:solidFill>
                  <a:ln cap="rnd" cmpd="sng" w="19050">
                    <a:solidFill>
                      <a:srgbClr val="F8FAFC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84" name="Google Shape;384;p24"/>
                <p:cNvSpPr txBox="1"/>
                <p:nvPr/>
              </p:nvSpPr>
              <p:spPr>
                <a:xfrm>
                  <a:off x="285750" y="0"/>
                  <a:ext cx="46674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250">
                      <a:solidFill>
                        <a:srgbClr val="045A36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Across Physical Drives:</a:t>
                  </a:r>
                  <a:r>
                    <a:rPr b="0" lang="en" sz="125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Falls back to copying data (via </a:t>
                  </a:r>
                  <a:r>
                    <a:rPr b="0" lang="en" sz="1100">
                      <a:solidFill>
                        <a:srgbClr val="374151"/>
                      </a:solidFill>
                      <a:highlight>
                        <a:srgbClr val="E2E8F0"/>
                      </a:highlight>
                      <a:latin typeface="Roboto Mono"/>
                      <a:ea typeface="Roboto Mono"/>
                      <a:cs typeface="Roboto Mono"/>
                      <a:sym typeface="Roboto Mono"/>
                    </a:rPr>
                    <a:t>copy2()</a:t>
                  </a:r>
                  <a:r>
                    <a:rPr b="0" lang="en" sz="125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) and then deleting the source.</a:t>
                  </a:r>
                  <a:endParaRPr b="0" sz="12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  <p:grpSp>
        <p:nvGrpSpPr>
          <p:cNvPr id="385" name="Google Shape;385;p24"/>
          <p:cNvGrpSpPr/>
          <p:nvPr/>
        </p:nvGrpSpPr>
        <p:grpSpPr>
          <a:xfrm>
            <a:off x="6191250" y="1428750"/>
            <a:ext cx="5238900" cy="3952800"/>
            <a:chOff x="0" y="0"/>
            <a:chExt cx="5238900" cy="3952800"/>
          </a:xfrm>
        </p:grpSpPr>
        <p:sp>
          <p:nvSpPr>
            <p:cNvPr id="386" name="Google Shape;386;p24"/>
            <p:cNvSpPr/>
            <p:nvPr/>
          </p:nvSpPr>
          <p:spPr>
            <a:xfrm>
              <a:off x="0" y="0"/>
              <a:ext cx="5238900" cy="3952800"/>
            </a:xfrm>
            <a:prstGeom prst="roundRect">
              <a:avLst>
                <a:gd fmla="val 192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4"/>
            <p:cNvSpPr/>
            <p:nvPr/>
          </p:nvSpPr>
          <p:spPr>
            <a:xfrm>
              <a:off x="0" y="0"/>
              <a:ext cx="5238900" cy="381000"/>
            </a:xfrm>
            <a:custGeom>
              <a:rect b="b" l="l" r="r" t="t"/>
              <a:pathLst>
                <a:path extrusionOk="0" h="120000" w="120000">
                  <a:moveTo>
                    <a:pt x="0" y="24000"/>
                  </a:moveTo>
                  <a:cubicBezTo>
                    <a:pt x="0" y="10745"/>
                    <a:pt x="781" y="0"/>
                    <a:pt x="1745" y="0"/>
                  </a:cubicBezTo>
                  <a:lnTo>
                    <a:pt x="118255" y="0"/>
                  </a:lnTo>
                  <a:cubicBezTo>
                    <a:pt x="119219" y="3"/>
                    <a:pt x="120000" y="10748"/>
                    <a:pt x="120000" y="24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4"/>
            <p:cNvSpPr txBox="1"/>
            <p:nvPr/>
          </p:nvSpPr>
          <p:spPr>
            <a:xfrm>
              <a:off x="142875" y="95250"/>
              <a:ext cx="3810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045A3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r>
                <a:rPr lang="en"/>
                <a:t> </a:t>
              </a:r>
              <a:r>
                <a:rPr b="1" lang="en" sz="975">
                  <a:solidFill>
                    <a:srgbClr val="37415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organize_downloads.py</a:t>
              </a:r>
              <a:endParaRPr/>
            </a:p>
          </p:txBody>
        </p:sp>
        <p:sp>
          <p:nvSpPr>
            <p:cNvPr id="389" name="Google Shape;389;p24"/>
            <p:cNvSpPr/>
            <p:nvPr/>
          </p:nvSpPr>
          <p:spPr>
            <a:xfrm>
              <a:off x="0" y="0"/>
              <a:ext cx="38100" cy="39528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4"/>
            <p:cNvSpPr txBox="1"/>
            <p:nvPr/>
          </p:nvSpPr>
          <p:spPr>
            <a:xfrm>
              <a:off x="238125" y="571500"/>
              <a:ext cx="47625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Organizing Downloaded Files Example</a:t>
              </a:r>
              <a:endParaRPr b="0" sz="135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import</a:t>
              </a:r>
              <a:r>
                <a:rPr b="0" lang="en" sz="12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shutil</a:t>
              </a:r>
              <a:endParaRPr b="0" sz="125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from</a:t>
              </a:r>
              <a:r>
                <a:rPr b="0" lang="en" sz="12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pathlib </a:t>
              </a:r>
              <a:r>
                <a:rPr b="1" lang="en" sz="125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import</a:t>
              </a:r>
              <a:r>
                <a:rPr b="0" lang="en" sz="12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Path</a:t>
              </a:r>
              <a:endParaRPr b="0" sz="125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src = Path(</a:t>
              </a:r>
              <a:r>
                <a:rPr b="0" lang="en" sz="1250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'downloads/report.pdf'</a:t>
              </a:r>
              <a:r>
                <a:rPr b="0" lang="en" sz="12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b="0" sz="125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dst = Path(</a:t>
              </a:r>
              <a:r>
                <a:rPr b="0" lang="en" sz="1250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'documents/reports/q3_report.pdf'</a:t>
              </a:r>
              <a:r>
                <a:rPr b="0" lang="en" sz="12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b="0" sz="125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1" lang="en" sz="1250">
                  <a:solidFill>
                    <a:srgbClr val="6B72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Moves and renames the file</a:t>
              </a:r>
              <a:endParaRPr b="0" i="1" sz="125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shutil.move(src, dst)</a:t>
              </a:r>
              <a:endParaRPr b="1" sz="1250">
                <a:solidFill>
                  <a:srgbClr val="045A3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5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5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5"/>
          <p:cNvSpPr txBox="1"/>
          <p:nvPr/>
        </p:nvSpPr>
        <p:spPr>
          <a:xfrm>
            <a:off x="762000" y="61341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shutil Module: File and Folder Automation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9" name="Google Shape;399;p25"/>
          <p:cNvSpPr/>
          <p:nvPr>
            <p:ph idx="2" type="pic"/>
          </p:nvPr>
        </p:nvSpPr>
        <p:spPr>
          <a:xfrm>
            <a:off x="10287000" y="5457825"/>
            <a:ext cx="1524000" cy="10194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25"/>
          <p:cNvSpPr txBox="1"/>
          <p:nvPr/>
        </p:nvSpPr>
        <p:spPr>
          <a:xfrm>
            <a:off x="762000" y="457200"/>
            <a:ext cx="10668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Deleting Directory Trees with shutil.rmtree()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975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rPr>
              <a:t>Permanent Recursive Deletion</a:t>
            </a:r>
            <a:endParaRPr b="1" sz="975">
              <a:solidFill>
                <a:srgbClr val="D4A01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01" name="Google Shape;401;p25"/>
          <p:cNvGrpSpPr/>
          <p:nvPr/>
        </p:nvGrpSpPr>
        <p:grpSpPr>
          <a:xfrm>
            <a:off x="762000" y="1428750"/>
            <a:ext cx="5143500" cy="1285800"/>
            <a:chOff x="0" y="0"/>
            <a:chExt cx="5143500" cy="1285800"/>
          </a:xfrm>
        </p:grpSpPr>
        <p:sp>
          <p:nvSpPr>
            <p:cNvPr id="402" name="Google Shape;402;p25"/>
            <p:cNvSpPr/>
            <p:nvPr/>
          </p:nvSpPr>
          <p:spPr>
            <a:xfrm>
              <a:off x="0" y="0"/>
              <a:ext cx="5143500" cy="12858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19050">
              <a:solidFill>
                <a:srgbClr val="D4A01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5"/>
            <p:cNvSpPr txBox="1"/>
            <p:nvPr/>
          </p:nvSpPr>
          <p:spPr>
            <a:xfrm>
              <a:off x="142875" y="180848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D4A01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2600">
                <a:solidFill>
                  <a:srgbClr val="D4A01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04" name="Google Shape;404;p25"/>
            <p:cNvSpPr txBox="1"/>
            <p:nvPr/>
          </p:nvSpPr>
          <p:spPr>
            <a:xfrm>
              <a:off x="619125" y="142875"/>
              <a:ext cx="43338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D4A01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Safety Considerations</a:t>
              </a:r>
              <a:endParaRPr b="0" sz="1500">
                <a:solidFill>
                  <a:srgbClr val="D4A01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WARNING:</a:t>
              </a:r>
              <a:r>
                <a:rPr b="0"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This operation is permanent. It bypasses the system Trash/Recycle Bin. Data cannot be easily recovered.</a:t>
              </a:r>
              <a:endParaRPr b="0" sz="11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5" name="Google Shape;405;p25"/>
          <p:cNvGrpSpPr/>
          <p:nvPr/>
        </p:nvGrpSpPr>
        <p:grpSpPr>
          <a:xfrm>
            <a:off x="762000" y="2905125"/>
            <a:ext cx="5143500" cy="2524200"/>
            <a:chOff x="0" y="0"/>
            <a:chExt cx="5143500" cy="2524200"/>
          </a:xfrm>
        </p:grpSpPr>
        <p:sp>
          <p:nvSpPr>
            <p:cNvPr id="406" name="Google Shape;406;p25"/>
            <p:cNvSpPr/>
            <p:nvPr/>
          </p:nvSpPr>
          <p:spPr>
            <a:xfrm>
              <a:off x="0" y="0"/>
              <a:ext cx="5143500" cy="2524200"/>
            </a:xfrm>
            <a:prstGeom prst="roundRect">
              <a:avLst>
                <a:gd fmla="val 2264" name="adj"/>
              </a:avLst>
            </a:prstGeom>
            <a:solidFill>
              <a:srgbClr val="1F29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5"/>
            <p:cNvSpPr/>
            <p:nvPr/>
          </p:nvSpPr>
          <p:spPr>
            <a:xfrm>
              <a:off x="0" y="0"/>
              <a:ext cx="57300" cy="2524200"/>
            </a:xfrm>
            <a:prstGeom prst="roundRect">
              <a:avLst>
                <a:gd fmla="val 33333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5"/>
            <p:cNvSpPr txBox="1"/>
            <p:nvPr/>
          </p:nvSpPr>
          <p:spPr>
            <a:xfrm>
              <a:off x="238125" y="142875"/>
              <a:ext cx="4667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9CA3A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Implementing Validations</a:t>
              </a:r>
              <a:endParaRPr b="0" sz="975">
                <a:solidFill>
                  <a:srgbClr val="9CA3A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09" name="Google Shape;409;p25"/>
            <p:cNvSpPr txBox="1"/>
            <p:nvPr/>
          </p:nvSpPr>
          <p:spPr>
            <a:xfrm>
              <a:off x="238125" y="428625"/>
              <a:ext cx="4667400" cy="19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43F5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import</a:t>
              </a:r>
              <a:r>
                <a:rPr lang="en" sz="11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shutil</a:t>
              </a:r>
              <a:endParaRPr sz="1100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43F5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from</a:t>
              </a:r>
              <a:r>
                <a:rPr lang="en" sz="11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pathlib </a:t>
              </a:r>
              <a:r>
                <a:rPr lang="en" sz="1100">
                  <a:solidFill>
                    <a:srgbClr val="F43F5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import</a:t>
              </a:r>
              <a:r>
                <a:rPr lang="en" sz="11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Path</a:t>
              </a:r>
              <a:endParaRPr sz="1100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 </a:t>
              </a:r>
              <a:endParaRPr sz="1100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target = Path(</a:t>
              </a:r>
              <a:r>
                <a:rPr lang="en" sz="1100">
                  <a:solidFill>
                    <a:srgbClr val="10B98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'temp_build_files'</a:t>
              </a:r>
              <a:r>
                <a:rPr lang="en" sz="11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1100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43F5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if</a:t>
              </a:r>
              <a:r>
                <a:rPr lang="en" sz="11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target.exists() </a:t>
              </a:r>
              <a:r>
                <a:rPr lang="en" sz="1100">
                  <a:solidFill>
                    <a:srgbClr val="F43F5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and</a:t>
              </a:r>
              <a:r>
                <a:rPr lang="en" sz="11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target.is_dir():</a:t>
              </a:r>
              <a:endParaRPr sz="1100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9CA3A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    # Proceed with caution</a:t>
              </a:r>
              <a:endParaRPr sz="11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    shutil.rmtree(target)</a:t>
              </a:r>
              <a:endParaRPr sz="1100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410" name="Google Shape;410;p25"/>
          <p:cNvGrpSpPr/>
          <p:nvPr/>
        </p:nvGrpSpPr>
        <p:grpSpPr>
          <a:xfrm>
            <a:off x="6286500" y="1428750"/>
            <a:ext cx="5143500" cy="714300"/>
            <a:chOff x="0" y="0"/>
            <a:chExt cx="5143500" cy="714300"/>
          </a:xfrm>
        </p:grpSpPr>
        <p:sp>
          <p:nvSpPr>
            <p:cNvPr id="411" name="Google Shape;411;p25"/>
            <p:cNvSpPr/>
            <p:nvPr/>
          </p:nvSpPr>
          <p:spPr>
            <a:xfrm>
              <a:off x="0" y="0"/>
              <a:ext cx="38100" cy="714300"/>
            </a:xfrm>
            <a:prstGeom prst="rect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5"/>
            <p:cNvSpPr txBox="1"/>
            <p:nvPr/>
          </p:nvSpPr>
          <p:spPr>
            <a:xfrm>
              <a:off x="190500" y="0"/>
              <a:ext cx="4953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Removing Directories Recursively</a:t>
              </a:r>
              <a:endParaRPr b="1" sz="14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45A36"/>
                  </a:solidFill>
                  <a:highlight>
                    <a:srgbClr val="F1F5F9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shutil.rmtree(path)</a:t>
              </a:r>
              <a:r>
                <a:rPr b="0" lang="en" sz="12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deletes an entire directory tree, including all contents.</a:t>
              </a:r>
              <a:endParaRPr b="0" sz="12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3" name="Google Shape;413;p25"/>
          <p:cNvGrpSpPr/>
          <p:nvPr/>
        </p:nvGrpSpPr>
        <p:grpSpPr>
          <a:xfrm>
            <a:off x="6286500" y="2333625"/>
            <a:ext cx="5143500" cy="1476300"/>
            <a:chOff x="0" y="0"/>
            <a:chExt cx="5143500" cy="1476300"/>
          </a:xfrm>
        </p:grpSpPr>
        <p:sp>
          <p:nvSpPr>
            <p:cNvPr id="414" name="Google Shape;414;p25"/>
            <p:cNvSpPr txBox="1"/>
            <p:nvPr/>
          </p:nvSpPr>
          <p:spPr>
            <a:xfrm>
              <a:off x="0" y="0"/>
              <a:ext cx="5143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Key Difference: os.remove vs shutil.rmtree</a:t>
              </a:r>
              <a:endParaRPr b="1" sz="14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15" name="Google Shape;415;p25"/>
            <p:cNvGrpSpPr/>
            <p:nvPr/>
          </p:nvGrpSpPr>
          <p:grpSpPr>
            <a:xfrm>
              <a:off x="0" y="333375"/>
              <a:ext cx="5143500" cy="523800"/>
              <a:chOff x="0" y="0"/>
              <a:chExt cx="5143500" cy="523800"/>
            </a:xfrm>
          </p:grpSpPr>
          <p:sp>
            <p:nvSpPr>
              <p:cNvPr id="416" name="Google Shape;416;p25"/>
              <p:cNvSpPr/>
              <p:nvPr/>
            </p:nvSpPr>
            <p:spPr>
              <a:xfrm>
                <a:off x="0" y="0"/>
                <a:ext cx="5143500" cy="523800"/>
              </a:xfrm>
              <a:prstGeom prst="roundRect">
                <a:avLst>
                  <a:gd fmla="val 727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5"/>
              <p:cNvSpPr/>
              <p:nvPr/>
            </p:nvSpPr>
            <p:spPr>
              <a:xfrm>
                <a:off x="0" y="0"/>
                <a:ext cx="38100" cy="523800"/>
              </a:xfrm>
              <a:prstGeom prst="roundRect">
                <a:avLst>
                  <a:gd fmla="val 50000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5"/>
              <p:cNvSpPr txBox="1"/>
              <p:nvPr/>
            </p:nvSpPr>
            <p:spPr>
              <a:xfrm>
                <a:off x="190500" y="95250"/>
                <a:ext cx="12384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F293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os.remove()</a:t>
                </a:r>
                <a:endParaRPr b="1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419" name="Google Shape;419;p25"/>
              <p:cNvSpPr txBox="1"/>
              <p:nvPr/>
            </p:nvSpPr>
            <p:spPr>
              <a:xfrm>
                <a:off x="1524000" y="95250"/>
                <a:ext cx="34290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Deletes a </a:t>
                </a:r>
                <a:r>
                  <a:rPr b="0" lang="en" sz="115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single file</a:t>
                </a: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20" name="Google Shape;420;p25"/>
            <p:cNvGrpSpPr/>
            <p:nvPr/>
          </p:nvGrpSpPr>
          <p:grpSpPr>
            <a:xfrm>
              <a:off x="0" y="952500"/>
              <a:ext cx="5143500" cy="523800"/>
              <a:chOff x="0" y="0"/>
              <a:chExt cx="5143500" cy="523800"/>
            </a:xfrm>
          </p:grpSpPr>
          <p:sp>
            <p:nvSpPr>
              <p:cNvPr id="421" name="Google Shape;421;p25"/>
              <p:cNvSpPr/>
              <p:nvPr/>
            </p:nvSpPr>
            <p:spPr>
              <a:xfrm>
                <a:off x="0" y="0"/>
                <a:ext cx="5143500" cy="523800"/>
              </a:xfrm>
              <a:prstGeom prst="roundRect">
                <a:avLst>
                  <a:gd fmla="val 727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25"/>
              <p:cNvSpPr/>
              <p:nvPr/>
            </p:nvSpPr>
            <p:spPr>
              <a:xfrm>
                <a:off x="0" y="0"/>
                <a:ext cx="38100" cy="523800"/>
              </a:xfrm>
              <a:prstGeom prst="roundRect">
                <a:avLst>
                  <a:gd fmla="val 50000" name="adj"/>
                </a:avLst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25"/>
              <p:cNvSpPr txBox="1"/>
              <p:nvPr/>
            </p:nvSpPr>
            <p:spPr>
              <a:xfrm>
                <a:off x="190500" y="95250"/>
                <a:ext cx="12384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18">
                    <a:solidFill>
                      <a:srgbClr val="1F293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shutil.rmtree()</a:t>
                </a:r>
                <a:endParaRPr b="1" sz="1018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424" name="Google Shape;424;p25"/>
              <p:cNvSpPr txBox="1"/>
              <p:nvPr/>
            </p:nvSpPr>
            <p:spPr>
              <a:xfrm>
                <a:off x="1524000" y="95250"/>
                <a:ext cx="34290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Deletes a </a:t>
                </a:r>
                <a:r>
                  <a:rPr b="0" lang="en" sz="115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folder and everything</a:t>
                </a: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inside it.</a:t>
                </a:r>
                <a:endParaRPr b="0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25" name="Google Shape;425;p25"/>
          <p:cNvGrpSpPr/>
          <p:nvPr/>
        </p:nvGrpSpPr>
        <p:grpSpPr>
          <a:xfrm>
            <a:off x="6286500" y="4000500"/>
            <a:ext cx="5143650" cy="1095375"/>
            <a:chOff x="0" y="0"/>
            <a:chExt cx="5143650" cy="1095375"/>
          </a:xfrm>
        </p:grpSpPr>
        <p:sp>
          <p:nvSpPr>
            <p:cNvPr id="426" name="Google Shape;426;p25"/>
            <p:cNvSpPr txBox="1"/>
            <p:nvPr/>
          </p:nvSpPr>
          <p:spPr>
            <a:xfrm>
              <a:off x="0" y="0"/>
              <a:ext cx="5143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Common Use Cases</a:t>
              </a:r>
              <a:endParaRPr b="1" sz="14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27" name="Google Shape;427;p25"/>
            <p:cNvGrpSpPr/>
            <p:nvPr/>
          </p:nvGrpSpPr>
          <p:grpSpPr>
            <a:xfrm>
              <a:off x="0" y="333375"/>
              <a:ext cx="5143650" cy="762000"/>
              <a:chOff x="0" y="0"/>
              <a:chExt cx="5143650" cy="762000"/>
            </a:xfrm>
          </p:grpSpPr>
          <p:grpSp>
            <p:nvGrpSpPr>
              <p:cNvPr id="428" name="Google Shape;428;p25"/>
              <p:cNvGrpSpPr/>
              <p:nvPr/>
            </p:nvGrpSpPr>
            <p:grpSpPr>
              <a:xfrm>
                <a:off x="0" y="23813"/>
                <a:ext cx="190500" cy="190500"/>
                <a:chOff x="0" y="4763"/>
                <a:chExt cx="190500" cy="190500"/>
              </a:xfrm>
            </p:grpSpPr>
            <p:sp>
              <p:nvSpPr>
                <p:cNvPr id="429" name="Google Shape;429;p25"/>
                <p:cNvSpPr/>
                <p:nvPr/>
              </p:nvSpPr>
              <p:spPr>
                <a:xfrm>
                  <a:off x="0" y="4763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" name="Google Shape;430;p25"/>
                <p:cNvSpPr/>
                <p:nvPr/>
              </p:nvSpPr>
              <p:spPr>
                <a:xfrm>
                  <a:off x="57150" y="80975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7987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8FAF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31" name="Google Shape;431;p25"/>
              <p:cNvSpPr txBox="1"/>
              <p:nvPr/>
            </p:nvSpPr>
            <p:spPr>
              <a:xfrm>
                <a:off x="285750" y="0"/>
                <a:ext cx="4857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Removing temporary folders generated during software builds or automation scripts.</a:t>
                </a:r>
                <a:endParaRPr b="0" sz="12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26"/>
          <p:cNvPicPr preferRelativeResize="0"/>
          <p:nvPr/>
        </p:nvPicPr>
        <p:blipFill rotWithShape="1">
          <a:blip r:embed="rId4">
            <a:alphaModFix/>
          </a:blip>
          <a:srcRect b="0" l="130" r="13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6"/>
          <p:cNvSpPr txBox="1"/>
          <p:nvPr/>
        </p:nvSpPr>
        <p:spPr>
          <a:xfrm>
            <a:off x="762000" y="428625"/>
            <a:ext cx="9525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rPr>
              <a:t>Monitoring Storage Availability</a:t>
            </a:r>
            <a:endParaRPr b="1" sz="1000">
              <a:solidFill>
                <a:srgbClr val="D4A01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Working with Disk Usage</a:t>
            </a:r>
            <a:endParaRPr b="0" sz="24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38" name="Google Shape;438;p26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6"/>
          <p:cNvSpPr txBox="1"/>
          <p:nvPr/>
        </p:nvSpPr>
        <p:spPr>
          <a:xfrm>
            <a:off x="762000" y="1333500"/>
            <a:ext cx="7239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Using </a:t>
            </a:r>
            <a:r>
              <a:rPr b="0" lang="en" sz="1350">
                <a:solidFill>
                  <a:srgbClr val="1F2937"/>
                </a:solidFill>
                <a:highlight>
                  <a:srgbClr val="F1F5F9"/>
                </a:highlight>
                <a:latin typeface="Roboto Mono"/>
                <a:ea typeface="Roboto Mono"/>
                <a:cs typeface="Roboto Mono"/>
                <a:sym typeface="Roboto Mono"/>
              </a:rPr>
              <a:t>shutil.disk_usage(path)</a:t>
            </a:r>
            <a:r>
              <a:rPr b="0" lang="en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to monitor storage:</a:t>
            </a:r>
            <a:endParaRPr b="0" sz="1500">
              <a:solidFill>
                <a:srgbClr val="045A3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440" name="Google Shape;440;p26"/>
          <p:cNvGrpSpPr/>
          <p:nvPr/>
        </p:nvGrpSpPr>
        <p:grpSpPr>
          <a:xfrm>
            <a:off x="762000" y="1762125"/>
            <a:ext cx="7239150" cy="428700"/>
            <a:chOff x="0" y="0"/>
            <a:chExt cx="7239150" cy="428700"/>
          </a:xfrm>
        </p:grpSpPr>
        <p:grpSp>
          <p:nvGrpSpPr>
            <p:cNvPr id="441" name="Google Shape;441;p26"/>
            <p:cNvGrpSpPr/>
            <p:nvPr/>
          </p:nvGrpSpPr>
          <p:grpSpPr>
            <a:xfrm>
              <a:off x="0" y="19050"/>
              <a:ext cx="190500" cy="190500"/>
              <a:chOff x="0" y="0"/>
              <a:chExt cx="190500" cy="190500"/>
            </a:xfrm>
          </p:grpSpPr>
          <p:sp>
            <p:nvSpPr>
              <p:cNvPr id="442" name="Google Shape;442;p26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6"/>
              <p:cNvSpPr/>
              <p:nvPr/>
            </p:nvSpPr>
            <p:spPr>
              <a:xfrm>
                <a:off x="57150" y="80963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8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4" name="Google Shape;444;p26"/>
            <p:cNvSpPr txBox="1"/>
            <p:nvPr/>
          </p:nvSpPr>
          <p:spPr>
            <a:xfrm>
              <a:off x="285750" y="0"/>
              <a:ext cx="6953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Returns a Named Tuple:</a:t>
              </a:r>
              <a:r>
                <a:rPr b="0" lang="en" sz="13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Provides </a:t>
              </a:r>
              <a:r>
                <a:rPr b="0" lang="en" sz="1200">
                  <a:solidFill>
                    <a:srgbClr val="045A3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(total, used, free)</a:t>
              </a:r>
              <a:r>
                <a:rPr b="0" lang="en" sz="13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space measured in bytes.</a:t>
              </a:r>
              <a:endParaRPr b="0" sz="13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5" name="Google Shape;445;p26"/>
          <p:cNvGrpSpPr/>
          <p:nvPr/>
        </p:nvGrpSpPr>
        <p:grpSpPr>
          <a:xfrm>
            <a:off x="762000" y="2286000"/>
            <a:ext cx="7239150" cy="523800"/>
            <a:chOff x="0" y="0"/>
            <a:chExt cx="7239150" cy="523800"/>
          </a:xfrm>
        </p:grpSpPr>
        <p:grpSp>
          <p:nvGrpSpPr>
            <p:cNvPr id="446" name="Google Shape;446;p26"/>
            <p:cNvGrpSpPr/>
            <p:nvPr/>
          </p:nvGrpSpPr>
          <p:grpSpPr>
            <a:xfrm>
              <a:off x="0" y="19050"/>
              <a:ext cx="190500" cy="190500"/>
              <a:chOff x="0" y="0"/>
              <a:chExt cx="190500" cy="190500"/>
            </a:xfrm>
          </p:grpSpPr>
          <p:sp>
            <p:nvSpPr>
              <p:cNvPr id="447" name="Google Shape;447;p26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6"/>
              <p:cNvSpPr/>
              <p:nvPr/>
            </p:nvSpPr>
            <p:spPr>
              <a:xfrm>
                <a:off x="57150" y="80963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8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9" name="Google Shape;449;p26"/>
            <p:cNvSpPr txBox="1"/>
            <p:nvPr/>
          </p:nvSpPr>
          <p:spPr>
            <a:xfrm>
              <a:off x="285750" y="0"/>
              <a:ext cx="6953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Converting Bytes to Gigabytes (GB):</a:t>
              </a:r>
              <a:r>
                <a:rPr b="0" lang="en" sz="13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Essential for human-readable logs: </a:t>
              </a:r>
              <a:r>
                <a:rPr b="0" lang="en" sz="1150">
                  <a:solidFill>
                    <a:srgbClr val="1F2937"/>
                  </a:solidFill>
                  <a:highlight>
                    <a:srgbClr val="F1F5F9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gb = bytes / (1024 ** 3)</a:t>
              </a:r>
              <a:endParaRPr b="0" sz="13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0" name="Google Shape;450;p26"/>
          <p:cNvGrpSpPr/>
          <p:nvPr/>
        </p:nvGrpSpPr>
        <p:grpSpPr>
          <a:xfrm>
            <a:off x="762000" y="2905125"/>
            <a:ext cx="7239150" cy="523800"/>
            <a:chOff x="0" y="0"/>
            <a:chExt cx="7239150" cy="523800"/>
          </a:xfrm>
        </p:grpSpPr>
        <p:grpSp>
          <p:nvGrpSpPr>
            <p:cNvPr id="451" name="Google Shape;451;p26"/>
            <p:cNvGrpSpPr/>
            <p:nvPr/>
          </p:nvGrpSpPr>
          <p:grpSpPr>
            <a:xfrm>
              <a:off x="0" y="19050"/>
              <a:ext cx="190500" cy="190500"/>
              <a:chOff x="0" y="0"/>
              <a:chExt cx="190500" cy="190500"/>
            </a:xfrm>
          </p:grpSpPr>
          <p:sp>
            <p:nvSpPr>
              <p:cNvPr id="452" name="Google Shape;452;p26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26"/>
              <p:cNvSpPr/>
              <p:nvPr/>
            </p:nvSpPr>
            <p:spPr>
              <a:xfrm>
                <a:off x="57150" y="80963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8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4" name="Google Shape;454;p26"/>
            <p:cNvSpPr txBox="1"/>
            <p:nvPr/>
          </p:nvSpPr>
          <p:spPr>
            <a:xfrm>
              <a:off x="285750" y="0"/>
              <a:ext cx="6953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Practical Use Case:</a:t>
              </a:r>
              <a:r>
                <a:rPr b="0" lang="en" sz="13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Check free space before starting a heavy copy or backup operation to safely prevent disk-full errors.</a:t>
              </a:r>
              <a:endParaRPr b="0" sz="13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55" name="Google Shape;455;p26"/>
          <p:cNvSpPr/>
          <p:nvPr/>
        </p:nvSpPr>
        <p:spPr>
          <a:xfrm>
            <a:off x="8372475" y="1323975"/>
            <a:ext cx="3067200" cy="2305200"/>
          </a:xfrm>
          <a:prstGeom prst="roundRect">
            <a:avLst>
              <a:gd fmla="val 3305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6" name="Google Shape;45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0" y="1333500"/>
            <a:ext cx="3048000" cy="2286000"/>
          </a:xfrm>
          <a:prstGeom prst="roundRect">
            <a:avLst>
              <a:gd fmla="val 3333" name="adj"/>
            </a:avLst>
          </a:prstGeom>
          <a:noFill/>
          <a:ln>
            <a:noFill/>
          </a:ln>
        </p:spPr>
      </p:pic>
      <p:grpSp>
        <p:nvGrpSpPr>
          <p:cNvPr id="457" name="Google Shape;457;p26"/>
          <p:cNvGrpSpPr/>
          <p:nvPr/>
        </p:nvGrpSpPr>
        <p:grpSpPr>
          <a:xfrm>
            <a:off x="762000" y="3762375"/>
            <a:ext cx="10668000" cy="1619100"/>
            <a:chOff x="0" y="0"/>
            <a:chExt cx="10668000" cy="1619100"/>
          </a:xfrm>
        </p:grpSpPr>
        <p:sp>
          <p:nvSpPr>
            <p:cNvPr id="458" name="Google Shape;458;p26"/>
            <p:cNvSpPr/>
            <p:nvPr/>
          </p:nvSpPr>
          <p:spPr>
            <a:xfrm>
              <a:off x="0" y="0"/>
              <a:ext cx="10668000" cy="1619100"/>
            </a:xfrm>
            <a:prstGeom prst="roundRect">
              <a:avLst>
                <a:gd fmla="val 3529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6"/>
            <p:cNvSpPr/>
            <p:nvPr/>
          </p:nvSpPr>
          <p:spPr>
            <a:xfrm>
              <a:off x="0" y="0"/>
              <a:ext cx="57300" cy="1619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6"/>
            <p:cNvSpPr txBox="1"/>
            <p:nvPr/>
          </p:nvSpPr>
          <p:spPr>
            <a:xfrm>
              <a:off x="285750" y="142875"/>
              <a:ext cx="10096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import</a:t>
              </a:r>
              <a:r>
                <a:rPr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shutil</a:t>
              </a:r>
              <a:endParaRPr sz="110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usage = shutil.disk_usage(</a:t>
              </a:r>
              <a:r>
                <a:rPr lang="en" sz="1100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"/"</a:t>
              </a:r>
              <a:r>
                <a:rPr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110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free_gb = usage.free / (</a:t>
              </a:r>
              <a:r>
                <a:rPr b="0" lang="en" sz="1100">
                  <a:solidFill>
                    <a:srgbClr val="D4A017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1024</a:t>
              </a:r>
              <a:r>
                <a:rPr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** </a:t>
              </a:r>
              <a:r>
                <a:rPr b="0" lang="en" sz="1100">
                  <a:solidFill>
                    <a:srgbClr val="D4A017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3</a:t>
              </a:r>
              <a:r>
                <a:rPr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110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print(</a:t>
              </a:r>
              <a:r>
                <a:rPr lang="en" sz="1100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f"Free space: {free_gb:.2f} GB"</a:t>
              </a:r>
              <a:r>
                <a:rPr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110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if</a:t>
              </a:r>
              <a:r>
                <a:rPr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free_gb &lt; </a:t>
              </a:r>
              <a:r>
                <a:rPr b="0" lang="en" sz="1100">
                  <a:solidFill>
                    <a:srgbClr val="D4A017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10</a:t>
              </a:r>
              <a:r>
                <a:rPr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</a:t>
              </a:r>
              <a:endParaRPr sz="110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    print(</a:t>
              </a:r>
              <a:r>
                <a:rPr b="1" lang="en" sz="1100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"Warning: Low disk space! Aborting backup."</a:t>
              </a:r>
              <a:r>
                <a:rPr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110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pic>
        <p:nvPicPr>
          <p:cNvPr id="461" name="Google Shape;46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26"/>
          <p:cNvPicPr preferRelativeResize="0"/>
          <p:nvPr/>
        </p:nvPicPr>
        <p:blipFill rotWithShape="1">
          <a:blip r:embed="rId7">
            <a:alphaModFix/>
          </a:blip>
          <a:srcRect b="0" l="10" r="0" t="0"/>
          <a:stretch/>
        </p:blipFill>
        <p:spPr>
          <a:xfrm>
            <a:off x="10287000" y="5453079"/>
            <a:ext cx="1524000" cy="1019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3" name="Google Shape;463;p26"/>
          <p:cNvGrpSpPr/>
          <p:nvPr/>
        </p:nvGrpSpPr>
        <p:grpSpPr>
          <a:xfrm>
            <a:off x="762000" y="6134100"/>
            <a:ext cx="5715000" cy="190500"/>
            <a:chOff x="0" y="0"/>
            <a:chExt cx="5715000" cy="190500"/>
          </a:xfrm>
        </p:grpSpPr>
        <p:sp>
          <p:nvSpPr>
            <p:cNvPr id="464" name="Google Shape;464;p26"/>
            <p:cNvSpPr/>
            <p:nvPr/>
          </p:nvSpPr>
          <p:spPr>
            <a:xfrm>
              <a:off x="0" y="0"/>
              <a:ext cx="5715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6"/>
            <p:cNvSpPr txBox="1"/>
            <p:nvPr/>
          </p:nvSpPr>
          <p:spPr>
            <a:xfrm>
              <a:off x="0" y="0"/>
              <a:ext cx="571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Python shutil Module: File and Folder Automation</a:t>
              </a:r>
              <a:endParaRPr b="0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7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7"/>
          <p:cNvSpPr txBox="1"/>
          <p:nvPr/>
        </p:nvSpPr>
        <p:spPr>
          <a:xfrm>
            <a:off x="762000" y="476250"/>
            <a:ext cx="10668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Finding Executable Programs with shutil.which()</a:t>
            </a:r>
            <a:endParaRPr b="0" sz="26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D4A01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Locating Command-Line Tools</a:t>
            </a:r>
            <a:endParaRPr b="0" sz="1100">
              <a:solidFill>
                <a:srgbClr val="D4A01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72" name="Google Shape;472;p27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3" name="Google Shape;473;p27"/>
          <p:cNvGrpSpPr/>
          <p:nvPr/>
        </p:nvGrpSpPr>
        <p:grpSpPr>
          <a:xfrm>
            <a:off x="762000" y="1524000"/>
            <a:ext cx="4953075" cy="952500"/>
            <a:chOff x="762000" y="1524000"/>
            <a:chExt cx="4953075" cy="952500"/>
          </a:xfrm>
        </p:grpSpPr>
        <p:grpSp>
          <p:nvGrpSpPr>
            <p:cNvPr id="474" name="Google Shape;474;p27"/>
            <p:cNvGrpSpPr/>
            <p:nvPr/>
          </p:nvGrpSpPr>
          <p:grpSpPr>
            <a:xfrm>
              <a:off x="762000" y="1528763"/>
              <a:ext cx="190500" cy="190500"/>
              <a:chOff x="0" y="4763"/>
              <a:chExt cx="190500" cy="190500"/>
            </a:xfrm>
          </p:grpSpPr>
          <p:sp>
            <p:nvSpPr>
              <p:cNvPr id="475" name="Google Shape;475;p27"/>
              <p:cNvSpPr/>
              <p:nvPr/>
            </p:nvSpPr>
            <p:spPr>
              <a:xfrm>
                <a:off x="0" y="4763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27"/>
              <p:cNvSpPr/>
              <p:nvPr/>
            </p:nvSpPr>
            <p:spPr>
              <a:xfrm>
                <a:off x="57150" y="80975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7987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77" name="Google Shape;477;p27"/>
            <p:cNvSpPr txBox="1"/>
            <p:nvPr/>
          </p:nvSpPr>
          <p:spPr>
            <a:xfrm>
              <a:off x="1095375" y="1524000"/>
              <a:ext cx="46197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Purpose of shutil.which(cmd)</a:t>
              </a:r>
              <a:endParaRPr b="0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Searches the system PATH environment variable to find the executable file for a given command.</a:t>
              </a:r>
              <a:endParaRPr b="0" sz="13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78" name="Google Shape;478;p27"/>
          <p:cNvGrpSpPr/>
          <p:nvPr/>
        </p:nvGrpSpPr>
        <p:grpSpPr>
          <a:xfrm>
            <a:off x="762000" y="2762250"/>
            <a:ext cx="4953075" cy="1143000"/>
            <a:chOff x="762000" y="2762250"/>
            <a:chExt cx="4953075" cy="1143000"/>
          </a:xfrm>
        </p:grpSpPr>
        <p:grpSp>
          <p:nvGrpSpPr>
            <p:cNvPr id="479" name="Google Shape;479;p27"/>
            <p:cNvGrpSpPr/>
            <p:nvPr/>
          </p:nvGrpSpPr>
          <p:grpSpPr>
            <a:xfrm>
              <a:off x="762000" y="2767013"/>
              <a:ext cx="190500" cy="190500"/>
              <a:chOff x="0" y="4763"/>
              <a:chExt cx="190500" cy="190500"/>
            </a:xfrm>
          </p:grpSpPr>
          <p:sp>
            <p:nvSpPr>
              <p:cNvPr id="480" name="Google Shape;480;p27"/>
              <p:cNvSpPr/>
              <p:nvPr/>
            </p:nvSpPr>
            <p:spPr>
              <a:xfrm>
                <a:off x="0" y="4763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27"/>
              <p:cNvSpPr/>
              <p:nvPr/>
            </p:nvSpPr>
            <p:spPr>
              <a:xfrm>
                <a:off x="57150" y="80975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7987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82" name="Google Shape;482;p27"/>
            <p:cNvSpPr txBox="1"/>
            <p:nvPr/>
          </p:nvSpPr>
          <p:spPr>
            <a:xfrm>
              <a:off x="1095375" y="2762250"/>
              <a:ext cx="4619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Checking Dependencies</a:t>
              </a:r>
              <a:endParaRPr b="0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Useful for verifying if a required command-line tool (e.g., 'git', 'ffmpeg', 'python') is installed and accessible before running subprocesses.</a:t>
              </a:r>
              <a:endParaRPr b="0" sz="13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3" name="Google Shape;483;p27"/>
          <p:cNvGrpSpPr/>
          <p:nvPr/>
        </p:nvGrpSpPr>
        <p:grpSpPr>
          <a:xfrm>
            <a:off x="762000" y="4191000"/>
            <a:ext cx="4953075" cy="1143000"/>
            <a:chOff x="762000" y="4191000"/>
            <a:chExt cx="4953075" cy="1143000"/>
          </a:xfrm>
        </p:grpSpPr>
        <p:grpSp>
          <p:nvGrpSpPr>
            <p:cNvPr id="484" name="Google Shape;484;p27"/>
            <p:cNvGrpSpPr/>
            <p:nvPr/>
          </p:nvGrpSpPr>
          <p:grpSpPr>
            <a:xfrm>
              <a:off x="762000" y="4195763"/>
              <a:ext cx="190500" cy="190500"/>
              <a:chOff x="0" y="4763"/>
              <a:chExt cx="190500" cy="190500"/>
            </a:xfrm>
          </p:grpSpPr>
          <p:sp>
            <p:nvSpPr>
              <p:cNvPr id="485" name="Google Shape;485;p27"/>
              <p:cNvSpPr/>
              <p:nvPr/>
            </p:nvSpPr>
            <p:spPr>
              <a:xfrm>
                <a:off x="0" y="4763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27"/>
              <p:cNvSpPr/>
              <p:nvPr/>
            </p:nvSpPr>
            <p:spPr>
              <a:xfrm>
                <a:off x="57150" y="80975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7987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87" name="Google Shape;487;p27"/>
            <p:cNvSpPr txBox="1"/>
            <p:nvPr/>
          </p:nvSpPr>
          <p:spPr>
            <a:xfrm>
              <a:off x="1095375" y="4191000"/>
              <a:ext cx="4619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Handling Platform Differences</a:t>
              </a:r>
              <a:endParaRPr b="0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Automatically handles platform-specific executable extensions (e.g., appending </a:t>
              </a:r>
              <a:r>
                <a:rPr b="1" lang="en" sz="1350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.exe</a:t>
              </a: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on Windows).</a:t>
              </a:r>
              <a:endParaRPr b="0" sz="13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8" name="Google Shape;488;p27"/>
          <p:cNvGrpSpPr/>
          <p:nvPr/>
        </p:nvGrpSpPr>
        <p:grpSpPr>
          <a:xfrm>
            <a:off x="6286500" y="1524000"/>
            <a:ext cx="5143650" cy="3619500"/>
            <a:chOff x="6286500" y="1524000"/>
            <a:chExt cx="5143650" cy="3619500"/>
          </a:xfrm>
        </p:grpSpPr>
        <p:sp>
          <p:nvSpPr>
            <p:cNvPr id="489" name="Google Shape;489;p27"/>
            <p:cNvSpPr/>
            <p:nvPr/>
          </p:nvSpPr>
          <p:spPr>
            <a:xfrm>
              <a:off x="6286500" y="1524000"/>
              <a:ext cx="5143500" cy="3619500"/>
            </a:xfrm>
            <a:prstGeom prst="roundRect">
              <a:avLst>
                <a:gd fmla="val 2105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7"/>
            <p:cNvSpPr/>
            <p:nvPr/>
          </p:nvSpPr>
          <p:spPr>
            <a:xfrm>
              <a:off x="6286500" y="1524000"/>
              <a:ext cx="57300" cy="3619500"/>
            </a:xfrm>
            <a:prstGeom prst="roundRect">
              <a:avLst>
                <a:gd fmla="val 33333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7"/>
            <p:cNvSpPr/>
            <p:nvPr/>
          </p:nvSpPr>
          <p:spPr>
            <a:xfrm>
              <a:off x="6524625" y="171450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7"/>
            <p:cNvSpPr/>
            <p:nvPr/>
          </p:nvSpPr>
          <p:spPr>
            <a:xfrm>
              <a:off x="6667500" y="1714500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7"/>
            <p:cNvSpPr/>
            <p:nvPr/>
          </p:nvSpPr>
          <p:spPr>
            <a:xfrm>
              <a:off x="6810375" y="1714500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7"/>
            <p:cNvSpPr txBox="1"/>
            <p:nvPr/>
          </p:nvSpPr>
          <p:spPr>
            <a:xfrm>
              <a:off x="7048500" y="1657350"/>
              <a:ext cx="1905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B728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git_check.py</a:t>
              </a:r>
              <a:endParaRPr b="0" sz="1000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cxnSp>
          <p:nvCxnSpPr>
            <p:cNvPr id="495" name="Google Shape;495;p27"/>
            <p:cNvCxnSpPr/>
            <p:nvPr/>
          </p:nvCxnSpPr>
          <p:spPr>
            <a:xfrm>
              <a:off x="6343650" y="1952625"/>
              <a:ext cx="5086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96" name="Google Shape;496;p27"/>
            <p:cNvSpPr txBox="1"/>
            <p:nvPr/>
          </p:nvSpPr>
          <p:spPr>
            <a:xfrm>
              <a:off x="6572250" y="2143125"/>
              <a:ext cx="4572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import</a:t>
              </a:r>
              <a:r>
                <a:rPr lang="en" sz="12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shutil</a:t>
              </a:r>
              <a:endParaRPr sz="125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2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git_path = shutil.</a:t>
              </a:r>
              <a:r>
                <a:rPr b="1" lang="en" sz="1250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which</a:t>
              </a:r>
              <a:r>
                <a:rPr lang="en" sz="12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</a:t>
              </a:r>
              <a:r>
                <a:rPr lang="en" sz="1250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'git'</a:t>
              </a:r>
              <a:r>
                <a:rPr lang="en" sz="12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125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if</a:t>
              </a:r>
              <a:r>
                <a:rPr lang="en" sz="12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git_path:</a:t>
              </a:r>
              <a:endParaRPr sz="125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print</a:t>
              </a:r>
              <a:r>
                <a:rPr lang="en" sz="12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</a:t>
              </a:r>
              <a:r>
                <a:rPr lang="en" sz="1250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f"Git found at: {git_path}"</a:t>
              </a:r>
              <a:r>
                <a:rPr lang="en" sz="12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125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else</a:t>
              </a:r>
              <a:r>
                <a:rPr lang="en" sz="12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</a:t>
              </a:r>
              <a:endParaRPr sz="125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print</a:t>
              </a:r>
              <a:r>
                <a:rPr lang="en" sz="12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</a:t>
              </a:r>
              <a:r>
                <a:rPr lang="en" sz="1250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"Git is not installed or not in PATH."</a:t>
              </a:r>
              <a:r>
                <a:rPr lang="en" sz="12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125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497" name="Google Shape;497;p27"/>
          <p:cNvSpPr txBox="1"/>
          <p:nvPr/>
        </p:nvSpPr>
        <p:spPr>
          <a:xfrm>
            <a:off x="762000" y="6134100"/>
            <a:ext cx="571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shutil Module: File and Folder Automation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8" name="Google Shape;498;p27"/>
          <p:cNvSpPr/>
          <p:nvPr>
            <p:ph idx="2" type="pic"/>
          </p:nvPr>
        </p:nvSpPr>
        <p:spPr>
          <a:xfrm>
            <a:off x="10287000" y="5457825"/>
            <a:ext cx="1524000" cy="1019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8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8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8"/>
          <p:cNvSpPr txBox="1"/>
          <p:nvPr/>
        </p:nvSpPr>
        <p:spPr>
          <a:xfrm>
            <a:off x="762000" y="381000"/>
            <a:ext cx="10668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Creating Archives with </a:t>
            </a:r>
            <a:r>
              <a:rPr b="0" lang="en" sz="2000">
                <a:solidFill>
                  <a:srgbClr val="045A36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shutil.make_archive()</a:t>
            </a:r>
            <a:endParaRPr b="0" sz="24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50">
                <a:solidFill>
                  <a:srgbClr val="D4A01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Programmatic File Compression</a:t>
            </a:r>
            <a:endParaRPr b="0" sz="1150">
              <a:solidFill>
                <a:srgbClr val="D4A01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506" name="Google Shape;506;p28"/>
          <p:cNvGrpSpPr/>
          <p:nvPr/>
        </p:nvGrpSpPr>
        <p:grpSpPr>
          <a:xfrm>
            <a:off x="762000" y="1381125"/>
            <a:ext cx="6477150" cy="2714550"/>
            <a:chOff x="762000" y="1381125"/>
            <a:chExt cx="6477150" cy="2714550"/>
          </a:xfrm>
        </p:grpSpPr>
        <p:sp>
          <p:nvSpPr>
            <p:cNvPr id="507" name="Google Shape;507;p28"/>
            <p:cNvSpPr txBox="1"/>
            <p:nvPr/>
          </p:nvSpPr>
          <p:spPr>
            <a:xfrm>
              <a:off x="762000" y="1381125"/>
              <a:ext cx="64770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What is File Archiving &amp; Compression?</a:t>
              </a:r>
              <a:endParaRPr b="1" sz="11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Bundling multiple files into a single archive file and reducing their overall storage footprint through compression.</a:t>
              </a:r>
              <a:endParaRPr b="0" sz="11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Core Method Syntax</a:t>
              </a:r>
              <a:endParaRPr b="1" sz="11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1F2937"/>
                  </a:solidFill>
                  <a:highlight>
                    <a:srgbClr val="F1F5F9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shutil.make_archive(base_name, format, root_dir)</a:t>
              </a:r>
              <a:endParaRPr sz="1050">
                <a:solidFill>
                  <a:srgbClr val="1F2937"/>
                </a:solidFill>
                <a:highlight>
                  <a:srgbClr val="F1F5F9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508" name="Google Shape;508;p28"/>
            <p:cNvSpPr txBox="1"/>
            <p:nvPr/>
          </p:nvSpPr>
          <p:spPr>
            <a:xfrm>
              <a:off x="762000" y="3048000"/>
              <a:ext cx="6477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Common Use Cases</a:t>
              </a:r>
              <a:endParaRPr b="1" sz="11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509" name="Google Shape;509;p28"/>
            <p:cNvGrpSpPr/>
            <p:nvPr/>
          </p:nvGrpSpPr>
          <p:grpSpPr>
            <a:xfrm>
              <a:off x="762000" y="3333750"/>
              <a:ext cx="6477150" cy="333300"/>
              <a:chOff x="0" y="0"/>
              <a:chExt cx="6477150" cy="333300"/>
            </a:xfrm>
          </p:grpSpPr>
          <p:grpSp>
            <p:nvGrpSpPr>
              <p:cNvPr id="510" name="Google Shape;510;p28"/>
              <p:cNvGrpSpPr/>
              <p:nvPr/>
            </p:nvGrpSpPr>
            <p:grpSpPr>
              <a:xfrm>
                <a:off x="0" y="23813"/>
                <a:ext cx="190500" cy="190500"/>
                <a:chOff x="0" y="4763"/>
                <a:chExt cx="190500" cy="190500"/>
              </a:xfrm>
            </p:grpSpPr>
            <p:sp>
              <p:nvSpPr>
                <p:cNvPr id="511" name="Google Shape;511;p28"/>
                <p:cNvSpPr/>
                <p:nvPr/>
              </p:nvSpPr>
              <p:spPr>
                <a:xfrm>
                  <a:off x="0" y="4763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2" name="Google Shape;512;p28"/>
                <p:cNvSpPr/>
                <p:nvPr/>
              </p:nvSpPr>
              <p:spPr>
                <a:xfrm>
                  <a:off x="57150" y="80963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8000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8FAF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13" name="Google Shape;513;p28"/>
              <p:cNvSpPr txBox="1"/>
              <p:nvPr/>
            </p:nvSpPr>
            <p:spPr>
              <a:xfrm>
                <a:off x="285750" y="0"/>
                <a:ext cx="61914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Compressing active project folders to save disk space dynamically.</a:t>
                </a:r>
                <a:endParaRPr sz="11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14" name="Google Shape;514;p28"/>
            <p:cNvGrpSpPr/>
            <p:nvPr/>
          </p:nvGrpSpPr>
          <p:grpSpPr>
            <a:xfrm>
              <a:off x="762000" y="3762375"/>
              <a:ext cx="6477150" cy="333300"/>
              <a:chOff x="0" y="0"/>
              <a:chExt cx="6477150" cy="333300"/>
            </a:xfrm>
          </p:grpSpPr>
          <p:grpSp>
            <p:nvGrpSpPr>
              <p:cNvPr id="515" name="Google Shape;515;p28"/>
              <p:cNvGrpSpPr/>
              <p:nvPr/>
            </p:nvGrpSpPr>
            <p:grpSpPr>
              <a:xfrm>
                <a:off x="0" y="23813"/>
                <a:ext cx="190500" cy="190500"/>
                <a:chOff x="0" y="4763"/>
                <a:chExt cx="190500" cy="190500"/>
              </a:xfrm>
            </p:grpSpPr>
            <p:sp>
              <p:nvSpPr>
                <p:cNvPr id="516" name="Google Shape;516;p28"/>
                <p:cNvSpPr/>
                <p:nvPr/>
              </p:nvSpPr>
              <p:spPr>
                <a:xfrm>
                  <a:off x="0" y="4763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7" name="Google Shape;517;p28"/>
                <p:cNvSpPr/>
                <p:nvPr/>
              </p:nvSpPr>
              <p:spPr>
                <a:xfrm>
                  <a:off x="57150" y="80963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8000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8FAF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18" name="Google Shape;518;p28"/>
              <p:cNvSpPr txBox="1"/>
              <p:nvPr/>
            </p:nvSpPr>
            <p:spPr>
              <a:xfrm>
                <a:off x="285750" y="0"/>
                <a:ext cx="61914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Creating automated, timestamped backup archives for deployment pipelines.</a:t>
                </a:r>
                <a:endParaRPr sz="11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19" name="Google Shape;519;p28"/>
          <p:cNvGrpSpPr/>
          <p:nvPr/>
        </p:nvGrpSpPr>
        <p:grpSpPr>
          <a:xfrm>
            <a:off x="7610475" y="1371600"/>
            <a:ext cx="3829200" cy="2876700"/>
            <a:chOff x="7610475" y="1371600"/>
            <a:chExt cx="3829200" cy="2876700"/>
          </a:xfrm>
        </p:grpSpPr>
        <p:sp>
          <p:nvSpPr>
            <p:cNvPr id="520" name="Google Shape;520;p28"/>
            <p:cNvSpPr/>
            <p:nvPr/>
          </p:nvSpPr>
          <p:spPr>
            <a:xfrm>
              <a:off x="7610475" y="1371600"/>
              <a:ext cx="3829200" cy="2876700"/>
            </a:xfrm>
            <a:prstGeom prst="roundRect">
              <a:avLst>
                <a:gd fmla="val 2317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21" name="Google Shape;521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000" y="1381125"/>
              <a:ext cx="3810000" cy="2857500"/>
            </a:xfrm>
            <a:prstGeom prst="roundRect">
              <a:avLst>
                <a:gd fmla="val 2000" name="adj"/>
              </a:avLst>
            </a:prstGeom>
            <a:noFill/>
            <a:ln>
              <a:noFill/>
            </a:ln>
          </p:spPr>
        </p:pic>
      </p:grpSp>
      <p:grpSp>
        <p:nvGrpSpPr>
          <p:cNvPr id="522" name="Google Shape;522;p28"/>
          <p:cNvGrpSpPr/>
          <p:nvPr/>
        </p:nvGrpSpPr>
        <p:grpSpPr>
          <a:xfrm>
            <a:off x="762000" y="4429125"/>
            <a:ext cx="10668000" cy="1285800"/>
            <a:chOff x="0" y="0"/>
            <a:chExt cx="10668000" cy="1285800"/>
          </a:xfrm>
        </p:grpSpPr>
        <p:sp>
          <p:nvSpPr>
            <p:cNvPr id="523" name="Google Shape;523;p28"/>
            <p:cNvSpPr/>
            <p:nvPr/>
          </p:nvSpPr>
          <p:spPr>
            <a:xfrm>
              <a:off x="0" y="0"/>
              <a:ext cx="10668000" cy="1285800"/>
            </a:xfrm>
            <a:prstGeom prst="roundRect">
              <a:avLst>
                <a:gd fmla="val 4444" name="adj"/>
              </a:avLst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8"/>
            <p:cNvSpPr/>
            <p:nvPr/>
          </p:nvSpPr>
          <p:spPr>
            <a:xfrm>
              <a:off x="0" y="0"/>
              <a:ext cx="57300" cy="1285800"/>
            </a:xfrm>
            <a:prstGeom prst="roundRect">
              <a:avLst>
                <a:gd fmla="val 33333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8"/>
            <p:cNvSpPr txBox="1"/>
            <p:nvPr/>
          </p:nvSpPr>
          <p:spPr>
            <a:xfrm>
              <a:off x="285750" y="142875"/>
              <a:ext cx="100965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9CA3A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Creates 'project_backup.zip' containing the contents of 'my_project' folder</a:t>
              </a:r>
              <a:endParaRPr i="1" sz="11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472B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import</a:t>
              </a:r>
              <a:r>
                <a:rPr lang="en" sz="11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shutil</a:t>
              </a:r>
              <a:endParaRPr sz="1100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shutil.</a:t>
              </a:r>
              <a:r>
                <a:rPr lang="en" sz="1100">
                  <a:solidFill>
                    <a:srgbClr val="6EE7B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make_archive</a:t>
              </a:r>
              <a:r>
                <a:rPr lang="en" sz="11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</a:t>
              </a:r>
              <a:r>
                <a:rPr lang="en" sz="1100">
                  <a:solidFill>
                    <a:srgbClr val="38BDF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'project_backup'</a:t>
              </a:r>
              <a:r>
                <a:rPr lang="en" sz="11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 </a:t>
              </a:r>
              <a:r>
                <a:rPr lang="en" sz="1100">
                  <a:solidFill>
                    <a:srgbClr val="38BDF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'zip'</a:t>
              </a:r>
              <a:r>
                <a:rPr lang="en" sz="11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 </a:t>
              </a:r>
              <a:r>
                <a:rPr lang="en" sz="1100">
                  <a:solidFill>
                    <a:srgbClr val="38BDF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'my_project'</a:t>
              </a:r>
              <a:r>
                <a:rPr lang="en" sz="110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1100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526" name="Google Shape;526;p28"/>
          <p:cNvSpPr txBox="1"/>
          <p:nvPr/>
        </p:nvSpPr>
        <p:spPr>
          <a:xfrm>
            <a:off x="762000" y="61341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shutil Module: File and Folder Automation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27" name="Google Shape;52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7000" y="5457825"/>
            <a:ext cx="1524000" cy="10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9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9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9"/>
          <p:cNvSpPr txBox="1"/>
          <p:nvPr/>
        </p:nvSpPr>
        <p:spPr>
          <a:xfrm>
            <a:off x="762000" y="6134100"/>
            <a:ext cx="571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shutil Module: File and Folder Automation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Google Shape;536;p29"/>
          <p:cNvSpPr/>
          <p:nvPr>
            <p:ph idx="2" type="pic"/>
          </p:nvPr>
        </p:nvSpPr>
        <p:spPr>
          <a:xfrm>
            <a:off x="10287000" y="5457825"/>
            <a:ext cx="1524000" cy="1019400"/>
          </a:xfrm>
          <a:prstGeom prst="rect">
            <a:avLst/>
          </a:prstGeom>
          <a:noFill/>
          <a:ln>
            <a:noFill/>
          </a:ln>
        </p:spPr>
      </p:sp>
      <p:sp>
        <p:nvSpPr>
          <p:cNvPr id="537" name="Google Shape;537;p29"/>
          <p:cNvSpPr txBox="1"/>
          <p:nvPr/>
        </p:nvSpPr>
        <p:spPr>
          <a:xfrm>
            <a:off x="762000" y="381000"/>
            <a:ext cx="10668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Extracting Archives with </a:t>
            </a:r>
            <a:r>
              <a:rPr b="1" lang="en" sz="1900">
                <a:solidFill>
                  <a:srgbClr val="D4A017"/>
                </a:solidFill>
                <a:latin typeface="Roboto Mono"/>
                <a:ea typeface="Roboto Mono"/>
                <a:cs typeface="Roboto Mono"/>
                <a:sym typeface="Roboto Mono"/>
              </a:rPr>
              <a:t>shutil.unpack_archive()</a:t>
            </a:r>
            <a:endParaRPr b="0" sz="24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6B728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Automated Data Ingestion</a:t>
            </a:r>
            <a:endParaRPr b="0" sz="1100">
              <a:solidFill>
                <a:srgbClr val="6B728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538" name="Google Shape;538;p29"/>
          <p:cNvGrpSpPr/>
          <p:nvPr/>
        </p:nvGrpSpPr>
        <p:grpSpPr>
          <a:xfrm>
            <a:off x="762000" y="1333500"/>
            <a:ext cx="5905500" cy="428700"/>
            <a:chOff x="0" y="0"/>
            <a:chExt cx="5905500" cy="428700"/>
          </a:xfrm>
        </p:grpSpPr>
        <p:sp>
          <p:nvSpPr>
            <p:cNvPr id="539" name="Google Shape;539;p29"/>
            <p:cNvSpPr/>
            <p:nvPr/>
          </p:nvSpPr>
          <p:spPr>
            <a:xfrm>
              <a:off x="0" y="0"/>
              <a:ext cx="5905500" cy="428700"/>
            </a:xfrm>
            <a:prstGeom prst="roundRect">
              <a:avLst>
                <a:gd fmla="val 13333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9"/>
            <p:cNvSpPr/>
            <p:nvPr/>
          </p:nvSpPr>
          <p:spPr>
            <a:xfrm>
              <a:off x="0" y="0"/>
              <a:ext cx="47700" cy="428700"/>
            </a:xfrm>
            <a:prstGeom prst="roundRect">
              <a:avLst>
                <a:gd fmla="val 4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9"/>
            <p:cNvSpPr txBox="1"/>
            <p:nvPr/>
          </p:nvSpPr>
          <p:spPr>
            <a:xfrm>
              <a:off x="190500" y="0"/>
              <a:ext cx="552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shutil.</a:t>
              </a:r>
              <a:r>
                <a:rPr b="1" lang="en" sz="110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unpack_archive</a:t>
              </a:r>
              <a:r>
                <a:rPr b="0"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</a:t>
              </a:r>
              <a:r>
                <a:rPr b="0" lang="en" sz="1100">
                  <a:solidFill>
                    <a:srgbClr val="37415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filename</a:t>
              </a:r>
              <a:r>
                <a:rPr b="0"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 </a:t>
              </a:r>
              <a:r>
                <a:rPr b="0" lang="en" sz="1100">
                  <a:solidFill>
                    <a:srgbClr val="6B72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extract_dir=None</a:t>
              </a:r>
              <a:r>
                <a:rPr b="0"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 </a:t>
              </a:r>
              <a:r>
                <a:rPr b="0" lang="en" sz="1100">
                  <a:solidFill>
                    <a:srgbClr val="6B72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format=None</a:t>
              </a:r>
              <a:r>
                <a:rPr b="0"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b="0" sz="110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542" name="Google Shape;542;p29"/>
          <p:cNvGrpSpPr/>
          <p:nvPr/>
        </p:nvGrpSpPr>
        <p:grpSpPr>
          <a:xfrm>
            <a:off x="762000" y="1905000"/>
            <a:ext cx="5905650" cy="571500"/>
            <a:chOff x="0" y="0"/>
            <a:chExt cx="5905650" cy="571500"/>
          </a:xfrm>
        </p:grpSpPr>
        <p:grpSp>
          <p:nvGrpSpPr>
            <p:cNvPr id="543" name="Google Shape;543;p29"/>
            <p:cNvGrpSpPr/>
            <p:nvPr/>
          </p:nvGrpSpPr>
          <p:grpSpPr>
            <a:xfrm>
              <a:off x="0" y="23813"/>
              <a:ext cx="190500" cy="190500"/>
              <a:chOff x="0" y="4763"/>
              <a:chExt cx="190500" cy="190500"/>
            </a:xfrm>
          </p:grpSpPr>
          <p:sp>
            <p:nvSpPr>
              <p:cNvPr id="544" name="Google Shape;544;p29"/>
              <p:cNvSpPr/>
              <p:nvPr/>
            </p:nvSpPr>
            <p:spPr>
              <a:xfrm>
                <a:off x="0" y="4763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29"/>
              <p:cNvSpPr/>
              <p:nvPr/>
            </p:nvSpPr>
            <p:spPr>
              <a:xfrm>
                <a:off x="57150" y="80975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7987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46" name="Google Shape;546;p29"/>
            <p:cNvSpPr txBox="1"/>
            <p:nvPr/>
          </p:nvSpPr>
          <p:spPr>
            <a:xfrm>
              <a:off x="285750" y="0"/>
              <a:ext cx="5619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Extracting Archives</a:t>
              </a:r>
              <a:endParaRPr b="1" sz="125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Extract ZIP, TAR, and GZ archives with a single line of code.</a:t>
              </a:r>
              <a:endParaRPr b="0" sz="11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7" name="Google Shape;547;p29"/>
          <p:cNvGrpSpPr/>
          <p:nvPr/>
        </p:nvGrpSpPr>
        <p:grpSpPr>
          <a:xfrm>
            <a:off x="762000" y="2571750"/>
            <a:ext cx="5905650" cy="571500"/>
            <a:chOff x="0" y="0"/>
            <a:chExt cx="5905650" cy="571500"/>
          </a:xfrm>
        </p:grpSpPr>
        <p:grpSp>
          <p:nvGrpSpPr>
            <p:cNvPr id="548" name="Google Shape;548;p29"/>
            <p:cNvGrpSpPr/>
            <p:nvPr/>
          </p:nvGrpSpPr>
          <p:grpSpPr>
            <a:xfrm>
              <a:off x="0" y="23813"/>
              <a:ext cx="190500" cy="190500"/>
              <a:chOff x="0" y="4763"/>
              <a:chExt cx="190500" cy="190500"/>
            </a:xfrm>
          </p:grpSpPr>
          <p:sp>
            <p:nvSpPr>
              <p:cNvPr id="549" name="Google Shape;549;p29"/>
              <p:cNvSpPr/>
              <p:nvPr/>
            </p:nvSpPr>
            <p:spPr>
              <a:xfrm>
                <a:off x="0" y="4763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29"/>
              <p:cNvSpPr/>
              <p:nvPr/>
            </p:nvSpPr>
            <p:spPr>
              <a:xfrm>
                <a:off x="57150" y="80975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7987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51" name="Google Shape;551;p29"/>
            <p:cNvSpPr txBox="1"/>
            <p:nvPr/>
          </p:nvSpPr>
          <p:spPr>
            <a:xfrm>
              <a:off x="285750" y="0"/>
              <a:ext cx="5619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Defining Custom Extraction Destinations</a:t>
              </a:r>
              <a:endParaRPr b="1" sz="125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Use the </a:t>
              </a:r>
              <a:r>
                <a:rPr b="0" lang="en" sz="1000">
                  <a:solidFill>
                    <a:srgbClr val="045A3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extract_dir</a:t>
              </a:r>
              <a:r>
                <a:rPr b="0" lang="en" sz="11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parameter to specify exactly where the contents should be unpacked.</a:t>
              </a:r>
              <a:endParaRPr b="0" sz="11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2" name="Google Shape;552;p29"/>
          <p:cNvGrpSpPr/>
          <p:nvPr/>
        </p:nvGrpSpPr>
        <p:grpSpPr>
          <a:xfrm>
            <a:off x="762000" y="3238500"/>
            <a:ext cx="5905650" cy="571500"/>
            <a:chOff x="0" y="0"/>
            <a:chExt cx="5905650" cy="571500"/>
          </a:xfrm>
        </p:grpSpPr>
        <p:grpSp>
          <p:nvGrpSpPr>
            <p:cNvPr id="553" name="Google Shape;553;p29"/>
            <p:cNvGrpSpPr/>
            <p:nvPr/>
          </p:nvGrpSpPr>
          <p:grpSpPr>
            <a:xfrm>
              <a:off x="0" y="23813"/>
              <a:ext cx="190500" cy="190500"/>
              <a:chOff x="0" y="4763"/>
              <a:chExt cx="190500" cy="190500"/>
            </a:xfrm>
          </p:grpSpPr>
          <p:sp>
            <p:nvSpPr>
              <p:cNvPr id="554" name="Google Shape;554;p29"/>
              <p:cNvSpPr/>
              <p:nvPr/>
            </p:nvSpPr>
            <p:spPr>
              <a:xfrm>
                <a:off x="0" y="4763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29"/>
              <p:cNvSpPr/>
              <p:nvPr/>
            </p:nvSpPr>
            <p:spPr>
              <a:xfrm>
                <a:off x="57150" y="80975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7987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56" name="Google Shape;556;p29"/>
            <p:cNvSpPr txBox="1"/>
            <p:nvPr/>
          </p:nvSpPr>
          <p:spPr>
            <a:xfrm>
              <a:off x="285750" y="0"/>
              <a:ext cx="5619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Automated Ingestion Pipelines</a:t>
              </a:r>
              <a:endParaRPr b="1" sz="125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Ideal for handling downloaded datasets, zipped project files, or processing incoming data feeds.</a:t>
              </a:r>
              <a:endParaRPr b="0" sz="11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7" name="Google Shape;557;p29"/>
          <p:cNvGrpSpPr/>
          <p:nvPr/>
        </p:nvGrpSpPr>
        <p:grpSpPr>
          <a:xfrm>
            <a:off x="762000" y="3905250"/>
            <a:ext cx="5905650" cy="571500"/>
            <a:chOff x="0" y="0"/>
            <a:chExt cx="5905650" cy="571500"/>
          </a:xfrm>
        </p:grpSpPr>
        <p:grpSp>
          <p:nvGrpSpPr>
            <p:cNvPr id="558" name="Google Shape;558;p29"/>
            <p:cNvGrpSpPr/>
            <p:nvPr/>
          </p:nvGrpSpPr>
          <p:grpSpPr>
            <a:xfrm>
              <a:off x="0" y="23813"/>
              <a:ext cx="190500" cy="190500"/>
              <a:chOff x="0" y="4763"/>
              <a:chExt cx="190500" cy="190500"/>
            </a:xfrm>
          </p:grpSpPr>
          <p:sp>
            <p:nvSpPr>
              <p:cNvPr id="559" name="Google Shape;559;p29"/>
              <p:cNvSpPr/>
              <p:nvPr/>
            </p:nvSpPr>
            <p:spPr>
              <a:xfrm>
                <a:off x="0" y="4763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29"/>
              <p:cNvSpPr/>
              <p:nvPr/>
            </p:nvSpPr>
            <p:spPr>
              <a:xfrm>
                <a:off x="57150" y="80975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7987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61" name="Google Shape;561;p29"/>
            <p:cNvSpPr txBox="1"/>
            <p:nvPr/>
          </p:nvSpPr>
          <p:spPr>
            <a:xfrm>
              <a:off x="285750" y="0"/>
              <a:ext cx="5619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Error Safety</a:t>
              </a:r>
              <a:endParaRPr b="1" sz="125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Always verify the extracted structures and handle potential errors if the archive is corrupted.</a:t>
              </a:r>
              <a:endParaRPr b="0" sz="11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562" name="Google Shape;56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3250" y="1333500"/>
            <a:ext cx="4476900" cy="3357600"/>
          </a:xfrm>
          <a:prstGeom prst="roundRect">
            <a:avLst>
              <a:gd fmla="val 2269" name="adj"/>
            </a:avLst>
          </a:prstGeom>
          <a:noFill/>
          <a:ln>
            <a:noFill/>
          </a:ln>
        </p:spPr>
      </p:pic>
      <p:sp>
        <p:nvSpPr>
          <p:cNvPr id="563" name="Google Shape;563;p29"/>
          <p:cNvSpPr/>
          <p:nvPr/>
        </p:nvSpPr>
        <p:spPr>
          <a:xfrm>
            <a:off x="6953250" y="1333500"/>
            <a:ext cx="4476900" cy="3357600"/>
          </a:xfrm>
          <a:prstGeom prst="roundRect">
            <a:avLst>
              <a:gd fmla="val 2269" name="adj"/>
            </a:avLst>
          </a:prstGeom>
          <a:solidFill>
            <a:srgbClr val="000000">
              <a:alpha val="0"/>
            </a:srgbClr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4" name="Google Shape;564;p29"/>
          <p:cNvGrpSpPr/>
          <p:nvPr/>
        </p:nvGrpSpPr>
        <p:grpSpPr>
          <a:xfrm>
            <a:off x="762000" y="4857750"/>
            <a:ext cx="9144000" cy="1047900"/>
            <a:chOff x="0" y="0"/>
            <a:chExt cx="9144000" cy="1047900"/>
          </a:xfrm>
        </p:grpSpPr>
        <p:sp>
          <p:nvSpPr>
            <p:cNvPr id="565" name="Google Shape;565;p29"/>
            <p:cNvSpPr/>
            <p:nvPr/>
          </p:nvSpPr>
          <p:spPr>
            <a:xfrm>
              <a:off x="0" y="0"/>
              <a:ext cx="9144000" cy="1047900"/>
            </a:xfrm>
            <a:prstGeom prst="roundRect">
              <a:avLst>
                <a:gd fmla="val 5454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9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9"/>
            <p:cNvSpPr txBox="1"/>
            <p:nvPr/>
          </p:nvSpPr>
          <p:spPr>
            <a:xfrm>
              <a:off x="238125" y="142875"/>
              <a:ext cx="8667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B5563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import</a:t>
              </a:r>
              <a:r>
                <a:rPr b="1" lang="en" sz="115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shutil</a:t>
              </a:r>
              <a:endParaRPr b="1" sz="1150">
                <a:solidFill>
                  <a:srgbClr val="045A3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6B72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Extracts the contents of 'data.zip' into the 'processed_data' folder</a:t>
              </a:r>
              <a:endParaRPr i="1" sz="11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shutil.unpack_archive(</a:t>
              </a:r>
              <a:r>
                <a:rPr lang="en" sz="1150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'data.zip'</a:t>
              </a:r>
              <a:r>
                <a:rPr lang="en" sz="11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 extract_dir=</a:t>
              </a:r>
              <a:r>
                <a:rPr lang="en" sz="1150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'processed_data'</a:t>
              </a:r>
              <a:r>
                <a:rPr lang="en" sz="11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1150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0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30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0"/>
          <p:cNvSpPr txBox="1"/>
          <p:nvPr/>
        </p:nvSpPr>
        <p:spPr>
          <a:xfrm>
            <a:off x="762000" y="61341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shutil Module: File and Folder Automation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76" name="Google Shape;576;p30"/>
          <p:cNvPicPr preferRelativeResize="0"/>
          <p:nvPr/>
        </p:nvPicPr>
        <p:blipFill rotWithShape="1">
          <a:blip r:embed="rId3">
            <a:alphaModFix/>
          </a:blip>
          <a:srcRect b="0" l="10" r="0" t="0"/>
          <a:stretch/>
        </p:blipFill>
        <p:spPr>
          <a:xfrm>
            <a:off x="10287000" y="5457825"/>
            <a:ext cx="1524000" cy="10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30"/>
          <p:cNvSpPr txBox="1"/>
          <p:nvPr/>
        </p:nvSpPr>
        <p:spPr>
          <a:xfrm>
            <a:off x="762000" y="381000"/>
            <a:ext cx="9525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Available Archive Formats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rPr>
              <a:t>Supported Compression Types</a:t>
            </a:r>
            <a:endParaRPr b="1" sz="1200">
              <a:solidFill>
                <a:srgbClr val="D4A01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78" name="Google Shape;578;p30"/>
          <p:cNvGrpSpPr/>
          <p:nvPr/>
        </p:nvGrpSpPr>
        <p:grpSpPr>
          <a:xfrm>
            <a:off x="762000" y="1524000"/>
            <a:ext cx="5143575" cy="3000450"/>
            <a:chOff x="762000" y="1524000"/>
            <a:chExt cx="5143575" cy="3000450"/>
          </a:xfrm>
        </p:grpSpPr>
        <p:sp>
          <p:nvSpPr>
            <p:cNvPr id="579" name="Google Shape;579;p30"/>
            <p:cNvSpPr txBox="1"/>
            <p:nvPr/>
          </p:nvSpPr>
          <p:spPr>
            <a:xfrm>
              <a:off x="762000" y="1524000"/>
              <a:ext cx="5143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5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Common Built-in Formats</a:t>
              </a:r>
              <a:endParaRPr b="1" sz="165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580" name="Google Shape;580;p30"/>
            <p:cNvGrpSpPr/>
            <p:nvPr/>
          </p:nvGrpSpPr>
          <p:grpSpPr>
            <a:xfrm>
              <a:off x="762000" y="2000250"/>
              <a:ext cx="5143575" cy="428700"/>
              <a:chOff x="0" y="0"/>
              <a:chExt cx="5143575" cy="428700"/>
            </a:xfrm>
          </p:grpSpPr>
          <p:grpSp>
            <p:nvGrpSpPr>
              <p:cNvPr id="581" name="Google Shape;581;p30"/>
              <p:cNvGrpSpPr/>
              <p:nvPr/>
            </p:nvGrpSpPr>
            <p:grpSpPr>
              <a:xfrm>
                <a:off x="0" y="42863"/>
                <a:ext cx="190500" cy="190500"/>
                <a:chOff x="0" y="4763"/>
                <a:chExt cx="190500" cy="190500"/>
              </a:xfrm>
            </p:grpSpPr>
            <p:sp>
              <p:nvSpPr>
                <p:cNvPr id="582" name="Google Shape;582;p30"/>
                <p:cNvSpPr/>
                <p:nvPr/>
              </p:nvSpPr>
              <p:spPr>
                <a:xfrm>
                  <a:off x="0" y="4763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3" name="Google Shape;583;p30"/>
                <p:cNvSpPr/>
                <p:nvPr/>
              </p:nvSpPr>
              <p:spPr>
                <a:xfrm>
                  <a:off x="57150" y="80975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7987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/>
                </a:solidFill>
                <a:ln cap="rnd" cmpd="sng" w="19050">
                  <a:solidFill>
                    <a:srgbClr val="F8FAF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84" name="Google Shape;584;p30"/>
              <p:cNvSpPr txBox="1"/>
              <p:nvPr/>
            </p:nvSpPr>
            <p:spPr>
              <a:xfrm>
                <a:off x="333375" y="0"/>
                <a:ext cx="48102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45A3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zip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— Standard ZIP file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85" name="Google Shape;585;p30"/>
            <p:cNvGrpSpPr/>
            <p:nvPr/>
          </p:nvGrpSpPr>
          <p:grpSpPr>
            <a:xfrm>
              <a:off x="762000" y="2524125"/>
              <a:ext cx="5143575" cy="428700"/>
              <a:chOff x="0" y="0"/>
              <a:chExt cx="5143575" cy="428700"/>
            </a:xfrm>
          </p:grpSpPr>
          <p:grpSp>
            <p:nvGrpSpPr>
              <p:cNvPr id="586" name="Google Shape;586;p30"/>
              <p:cNvGrpSpPr/>
              <p:nvPr/>
            </p:nvGrpSpPr>
            <p:grpSpPr>
              <a:xfrm>
                <a:off x="0" y="42863"/>
                <a:ext cx="190500" cy="190500"/>
                <a:chOff x="0" y="4763"/>
                <a:chExt cx="190500" cy="190500"/>
              </a:xfrm>
            </p:grpSpPr>
            <p:sp>
              <p:nvSpPr>
                <p:cNvPr id="587" name="Google Shape;587;p30"/>
                <p:cNvSpPr/>
                <p:nvPr/>
              </p:nvSpPr>
              <p:spPr>
                <a:xfrm>
                  <a:off x="0" y="4763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8" name="Google Shape;588;p30"/>
                <p:cNvSpPr/>
                <p:nvPr/>
              </p:nvSpPr>
              <p:spPr>
                <a:xfrm>
                  <a:off x="57150" y="80975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7987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/>
                </a:solidFill>
                <a:ln cap="rnd" cmpd="sng" w="19050">
                  <a:solidFill>
                    <a:srgbClr val="F8FAF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89" name="Google Shape;589;p30"/>
              <p:cNvSpPr txBox="1"/>
              <p:nvPr/>
            </p:nvSpPr>
            <p:spPr>
              <a:xfrm>
                <a:off x="333375" y="0"/>
                <a:ext cx="48102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45A3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tar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— Uncompressed TAR archive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90" name="Google Shape;590;p30"/>
            <p:cNvGrpSpPr/>
            <p:nvPr/>
          </p:nvGrpSpPr>
          <p:grpSpPr>
            <a:xfrm>
              <a:off x="762000" y="3048000"/>
              <a:ext cx="5143575" cy="428700"/>
              <a:chOff x="0" y="0"/>
              <a:chExt cx="5143575" cy="428700"/>
            </a:xfrm>
          </p:grpSpPr>
          <p:grpSp>
            <p:nvGrpSpPr>
              <p:cNvPr id="591" name="Google Shape;591;p30"/>
              <p:cNvGrpSpPr/>
              <p:nvPr/>
            </p:nvGrpSpPr>
            <p:grpSpPr>
              <a:xfrm>
                <a:off x="0" y="42863"/>
                <a:ext cx="190500" cy="190500"/>
                <a:chOff x="0" y="4763"/>
                <a:chExt cx="190500" cy="190500"/>
              </a:xfrm>
            </p:grpSpPr>
            <p:sp>
              <p:nvSpPr>
                <p:cNvPr id="592" name="Google Shape;592;p30"/>
                <p:cNvSpPr/>
                <p:nvPr/>
              </p:nvSpPr>
              <p:spPr>
                <a:xfrm>
                  <a:off x="0" y="4763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3" name="Google Shape;593;p30"/>
                <p:cNvSpPr/>
                <p:nvPr/>
              </p:nvSpPr>
              <p:spPr>
                <a:xfrm>
                  <a:off x="57150" y="80975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7987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/>
                </a:solidFill>
                <a:ln cap="rnd" cmpd="sng" w="19050">
                  <a:solidFill>
                    <a:srgbClr val="F8FAF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94" name="Google Shape;594;p30"/>
              <p:cNvSpPr txBox="1"/>
              <p:nvPr/>
            </p:nvSpPr>
            <p:spPr>
              <a:xfrm>
                <a:off x="333375" y="0"/>
                <a:ext cx="48102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45A3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gztar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— GZIP compressed TAR archive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95" name="Google Shape;595;p30"/>
            <p:cNvGrpSpPr/>
            <p:nvPr/>
          </p:nvGrpSpPr>
          <p:grpSpPr>
            <a:xfrm>
              <a:off x="762000" y="3571875"/>
              <a:ext cx="5143575" cy="428700"/>
              <a:chOff x="0" y="0"/>
              <a:chExt cx="5143575" cy="428700"/>
            </a:xfrm>
          </p:grpSpPr>
          <p:grpSp>
            <p:nvGrpSpPr>
              <p:cNvPr id="596" name="Google Shape;596;p30"/>
              <p:cNvGrpSpPr/>
              <p:nvPr/>
            </p:nvGrpSpPr>
            <p:grpSpPr>
              <a:xfrm>
                <a:off x="0" y="42863"/>
                <a:ext cx="190500" cy="190500"/>
                <a:chOff x="0" y="4763"/>
                <a:chExt cx="190500" cy="190500"/>
              </a:xfrm>
            </p:grpSpPr>
            <p:sp>
              <p:nvSpPr>
                <p:cNvPr id="597" name="Google Shape;597;p30"/>
                <p:cNvSpPr/>
                <p:nvPr/>
              </p:nvSpPr>
              <p:spPr>
                <a:xfrm>
                  <a:off x="0" y="4763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8" name="Google Shape;598;p30"/>
                <p:cNvSpPr/>
                <p:nvPr/>
              </p:nvSpPr>
              <p:spPr>
                <a:xfrm>
                  <a:off x="57150" y="80975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7987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/>
                </a:solidFill>
                <a:ln cap="rnd" cmpd="sng" w="19050">
                  <a:solidFill>
                    <a:srgbClr val="F8FAF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99" name="Google Shape;599;p30"/>
              <p:cNvSpPr txBox="1"/>
              <p:nvPr/>
            </p:nvSpPr>
            <p:spPr>
              <a:xfrm>
                <a:off x="333375" y="0"/>
                <a:ext cx="48102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45A3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bztar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— BZIP2 compressed TAR archive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00" name="Google Shape;600;p30"/>
            <p:cNvGrpSpPr/>
            <p:nvPr/>
          </p:nvGrpSpPr>
          <p:grpSpPr>
            <a:xfrm>
              <a:off x="762000" y="4095750"/>
              <a:ext cx="5143575" cy="428700"/>
              <a:chOff x="0" y="0"/>
              <a:chExt cx="5143575" cy="428700"/>
            </a:xfrm>
          </p:grpSpPr>
          <p:grpSp>
            <p:nvGrpSpPr>
              <p:cNvPr id="601" name="Google Shape;601;p30"/>
              <p:cNvGrpSpPr/>
              <p:nvPr/>
            </p:nvGrpSpPr>
            <p:grpSpPr>
              <a:xfrm>
                <a:off x="0" y="42863"/>
                <a:ext cx="190500" cy="190500"/>
                <a:chOff x="0" y="4763"/>
                <a:chExt cx="190500" cy="190500"/>
              </a:xfrm>
            </p:grpSpPr>
            <p:sp>
              <p:nvSpPr>
                <p:cNvPr id="602" name="Google Shape;602;p30"/>
                <p:cNvSpPr/>
                <p:nvPr/>
              </p:nvSpPr>
              <p:spPr>
                <a:xfrm>
                  <a:off x="0" y="4763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3" name="Google Shape;603;p30"/>
                <p:cNvSpPr/>
                <p:nvPr/>
              </p:nvSpPr>
              <p:spPr>
                <a:xfrm>
                  <a:off x="57150" y="80975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7987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/>
                </a:solidFill>
                <a:ln cap="rnd" cmpd="sng" w="19050">
                  <a:solidFill>
                    <a:srgbClr val="F8FAF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04" name="Google Shape;604;p30"/>
              <p:cNvSpPr txBox="1"/>
              <p:nvPr/>
            </p:nvSpPr>
            <p:spPr>
              <a:xfrm>
                <a:off x="333375" y="0"/>
                <a:ext cx="48102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45A3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xztar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— XZ compressed TAR archive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05" name="Google Shape;605;p30"/>
          <p:cNvGrpSpPr/>
          <p:nvPr/>
        </p:nvGrpSpPr>
        <p:grpSpPr>
          <a:xfrm>
            <a:off x="6286500" y="1524000"/>
            <a:ext cx="5143500" cy="4095900"/>
            <a:chOff x="6286500" y="1524000"/>
            <a:chExt cx="5143500" cy="4095900"/>
          </a:xfrm>
        </p:grpSpPr>
        <p:grpSp>
          <p:nvGrpSpPr>
            <p:cNvPr id="606" name="Google Shape;606;p30"/>
            <p:cNvGrpSpPr/>
            <p:nvPr/>
          </p:nvGrpSpPr>
          <p:grpSpPr>
            <a:xfrm>
              <a:off x="6286500" y="1524000"/>
              <a:ext cx="5143500" cy="1428675"/>
              <a:chOff x="0" y="0"/>
              <a:chExt cx="5143500" cy="1428675"/>
            </a:xfrm>
          </p:grpSpPr>
          <p:sp>
            <p:nvSpPr>
              <p:cNvPr id="607" name="Google Shape;607;p30"/>
              <p:cNvSpPr txBox="1"/>
              <p:nvPr/>
            </p:nvSpPr>
            <p:spPr>
              <a:xfrm>
                <a:off x="0" y="0"/>
                <a:ext cx="5143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50">
                    <a:solidFill>
                      <a:srgbClr val="045A36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Discovering Formats</a:t>
                </a:r>
                <a:endParaRPr b="1" sz="165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08" name="Google Shape;608;p30"/>
              <p:cNvSpPr txBox="1"/>
              <p:nvPr/>
            </p:nvSpPr>
            <p:spPr>
              <a:xfrm>
                <a:off x="0" y="333375"/>
                <a:ext cx="5143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Query your environment to view all archive formats currently supported on your target system: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609" name="Google Shape;609;p30"/>
              <p:cNvGrpSpPr/>
              <p:nvPr/>
            </p:nvGrpSpPr>
            <p:grpSpPr>
              <a:xfrm>
                <a:off x="0" y="904875"/>
                <a:ext cx="5143500" cy="523800"/>
                <a:chOff x="0" y="0"/>
                <a:chExt cx="5143500" cy="523800"/>
              </a:xfrm>
            </p:grpSpPr>
            <p:sp>
              <p:nvSpPr>
                <p:cNvPr id="610" name="Google Shape;610;p30"/>
                <p:cNvSpPr/>
                <p:nvPr/>
              </p:nvSpPr>
              <p:spPr>
                <a:xfrm>
                  <a:off x="0" y="0"/>
                  <a:ext cx="5143500" cy="523800"/>
                </a:xfrm>
                <a:prstGeom prst="roundRect">
                  <a:avLst>
                    <a:gd fmla="val 7272" name="adj"/>
                  </a:avLst>
                </a:prstGeom>
                <a:solidFill>
                  <a:srgbClr val="F1F5F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1" name="Google Shape;611;p30"/>
                <p:cNvSpPr/>
                <p:nvPr/>
              </p:nvSpPr>
              <p:spPr>
                <a:xfrm>
                  <a:off x="0" y="0"/>
                  <a:ext cx="57300" cy="523800"/>
                </a:xfrm>
                <a:prstGeom prst="roundRect">
                  <a:avLst>
                    <a:gd fmla="val 33333" name="adj"/>
                  </a:avLst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2" name="Google Shape;612;p30"/>
                <p:cNvSpPr txBox="1"/>
                <p:nvPr/>
              </p:nvSpPr>
              <p:spPr>
                <a:xfrm>
                  <a:off x="190500" y="76200"/>
                  <a:ext cx="47625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300">
                      <a:solidFill>
                        <a:srgbClr val="045A36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shutil.get_archive_formats()</a:t>
                  </a:r>
                  <a:endParaRPr b="1" sz="1300">
                    <a:solidFill>
                      <a:srgbClr val="045A36"/>
                    </a:solidFill>
                    <a:latin typeface="Roboto Mono"/>
                    <a:ea typeface="Roboto Mono"/>
                    <a:cs typeface="Roboto Mono"/>
                    <a:sym typeface="Roboto Mono"/>
                  </a:endParaRPr>
                </a:p>
              </p:txBody>
            </p:sp>
          </p:grpSp>
        </p:grpSp>
        <p:grpSp>
          <p:nvGrpSpPr>
            <p:cNvPr id="613" name="Google Shape;613;p30"/>
            <p:cNvGrpSpPr/>
            <p:nvPr/>
          </p:nvGrpSpPr>
          <p:grpSpPr>
            <a:xfrm>
              <a:off x="6286500" y="3190875"/>
              <a:ext cx="5143500" cy="1143075"/>
              <a:chOff x="0" y="0"/>
              <a:chExt cx="5143500" cy="1143075"/>
            </a:xfrm>
          </p:grpSpPr>
          <p:sp>
            <p:nvSpPr>
              <p:cNvPr id="614" name="Google Shape;614;p30"/>
              <p:cNvSpPr txBox="1"/>
              <p:nvPr/>
            </p:nvSpPr>
            <p:spPr>
              <a:xfrm>
                <a:off x="0" y="0"/>
                <a:ext cx="5143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50">
                    <a:solidFill>
                      <a:srgbClr val="045A36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Customizing Formats</a:t>
                </a:r>
                <a:endParaRPr b="1" sz="165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15" name="Google Shape;615;p30"/>
              <p:cNvSpPr txBox="1"/>
              <p:nvPr/>
            </p:nvSpPr>
            <p:spPr>
              <a:xfrm>
                <a:off x="0" y="333375"/>
                <a:ext cx="51435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Register new archivers or customize existing formats dynamically by invoking the registration function: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45A3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shutil.register_archive_format()</a:t>
                </a:r>
                <a:endParaRPr b="1" sz="130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grpSp>
          <p:nvGrpSpPr>
            <p:cNvPr id="616" name="Google Shape;616;p30"/>
            <p:cNvGrpSpPr/>
            <p:nvPr/>
          </p:nvGrpSpPr>
          <p:grpSpPr>
            <a:xfrm>
              <a:off x="6286500" y="4572000"/>
              <a:ext cx="5143500" cy="1047900"/>
              <a:chOff x="0" y="0"/>
              <a:chExt cx="5143500" cy="1047900"/>
            </a:xfrm>
          </p:grpSpPr>
          <p:sp>
            <p:nvSpPr>
              <p:cNvPr id="617" name="Google Shape;617;p30"/>
              <p:cNvSpPr/>
              <p:nvPr/>
            </p:nvSpPr>
            <p:spPr>
              <a:xfrm>
                <a:off x="0" y="0"/>
                <a:ext cx="5143500" cy="1047900"/>
              </a:xfrm>
              <a:prstGeom prst="roundRect">
                <a:avLst>
                  <a:gd fmla="val 545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D4A0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30"/>
              <p:cNvSpPr txBox="1"/>
              <p:nvPr/>
            </p:nvSpPr>
            <p:spPr>
              <a:xfrm>
                <a:off x="142875" y="333375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!</a:t>
                </a:r>
                <a:endParaRPr b="1" sz="20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9" name="Google Shape;619;p30"/>
              <p:cNvSpPr txBox="1"/>
              <p:nvPr/>
            </p:nvSpPr>
            <p:spPr>
              <a:xfrm>
                <a:off x="619125" y="142875"/>
                <a:ext cx="43338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Platform-Dependent Availability</a:t>
                </a:r>
                <a:endParaRPr b="0" sz="13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Some compression formats may depend on the availability of underlying operating system utilities and libraries.</a:t>
                </a:r>
                <a:endParaRPr b="0" sz="11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1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1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1"/>
          <p:cNvSpPr txBox="1"/>
          <p:nvPr/>
        </p:nvSpPr>
        <p:spPr>
          <a:xfrm>
            <a:off x="762000" y="61341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shutil Module: File and Folder Automation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8" name="Google Shape;628;p31"/>
          <p:cNvSpPr/>
          <p:nvPr>
            <p:ph idx="2" type="pic"/>
          </p:nvPr>
        </p:nvSpPr>
        <p:spPr>
          <a:xfrm>
            <a:off x="10287000" y="5457825"/>
            <a:ext cx="1524000" cy="1019400"/>
          </a:xfrm>
          <a:prstGeom prst="rect">
            <a:avLst/>
          </a:prstGeom>
          <a:noFill/>
          <a:ln>
            <a:noFill/>
          </a:ln>
        </p:spPr>
      </p:sp>
      <p:sp>
        <p:nvSpPr>
          <p:cNvPr id="629" name="Google Shape;629;p31"/>
          <p:cNvSpPr txBox="1"/>
          <p:nvPr/>
        </p:nvSpPr>
        <p:spPr>
          <a:xfrm>
            <a:off x="762000" y="49530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98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Handling Paths Safely</a:t>
            </a:r>
            <a:endParaRPr b="0" sz="2498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" sz="902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rPr>
              <a:t>Cross-Platform Reliability</a:t>
            </a:r>
            <a:endParaRPr b="1" sz="902">
              <a:solidFill>
                <a:srgbClr val="D4A01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30" name="Google Shape;630;p31"/>
          <p:cNvGrpSpPr/>
          <p:nvPr/>
        </p:nvGrpSpPr>
        <p:grpSpPr>
          <a:xfrm>
            <a:off x="762000" y="1428750"/>
            <a:ext cx="4914900" cy="3286050"/>
            <a:chOff x="0" y="0"/>
            <a:chExt cx="4914900" cy="3286050"/>
          </a:xfrm>
        </p:grpSpPr>
        <p:grpSp>
          <p:nvGrpSpPr>
            <p:cNvPr id="631" name="Google Shape;631;p31"/>
            <p:cNvGrpSpPr/>
            <p:nvPr/>
          </p:nvGrpSpPr>
          <p:grpSpPr>
            <a:xfrm>
              <a:off x="0" y="0"/>
              <a:ext cx="4914900" cy="666900"/>
              <a:chOff x="0" y="0"/>
              <a:chExt cx="4914900" cy="666900"/>
            </a:xfrm>
          </p:grpSpPr>
          <p:sp>
            <p:nvSpPr>
              <p:cNvPr id="632" name="Google Shape;632;p31"/>
              <p:cNvSpPr/>
              <p:nvPr/>
            </p:nvSpPr>
            <p:spPr>
              <a:xfrm>
                <a:off x="0" y="0"/>
                <a:ext cx="38100" cy="619200"/>
              </a:xfrm>
              <a:prstGeom prst="roundRect">
                <a:avLst>
                  <a:gd fmla="val 50000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31"/>
              <p:cNvSpPr txBox="1"/>
              <p:nvPr/>
            </p:nvSpPr>
            <p:spPr>
              <a:xfrm>
                <a:off x="152400" y="0"/>
                <a:ext cx="4762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5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Best Practices: Using pathlib.Path</a:t>
                </a:r>
                <a:endParaRPr b="0" sz="125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shutil functions accept pathlib.Path objects directly, which is highly recommended over raw strings.</a:t>
                </a:r>
                <a:endParaRPr b="0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34" name="Google Shape;634;p31"/>
            <p:cNvGrpSpPr/>
            <p:nvPr/>
          </p:nvGrpSpPr>
          <p:grpSpPr>
            <a:xfrm>
              <a:off x="0" y="857250"/>
              <a:ext cx="4914900" cy="666900"/>
              <a:chOff x="0" y="0"/>
              <a:chExt cx="4914900" cy="666900"/>
            </a:xfrm>
          </p:grpSpPr>
          <p:sp>
            <p:nvSpPr>
              <p:cNvPr id="635" name="Google Shape;635;p31"/>
              <p:cNvSpPr/>
              <p:nvPr/>
            </p:nvSpPr>
            <p:spPr>
              <a:xfrm>
                <a:off x="0" y="0"/>
                <a:ext cx="38100" cy="619200"/>
              </a:xfrm>
              <a:prstGeom prst="roundRect">
                <a:avLst>
                  <a:gd fmla="val 50000" name="adj"/>
                </a:avLst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31"/>
              <p:cNvSpPr txBox="1"/>
              <p:nvPr/>
            </p:nvSpPr>
            <p:spPr>
              <a:xfrm>
                <a:off x="152400" y="0"/>
                <a:ext cx="4762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5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Building Platform-Independent Paths</a:t>
                </a:r>
                <a:endParaRPr b="0" sz="125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pathlib handles path separators automatically (/ on Unix, \ on Windows), preventing hard-coded path string errors.</a:t>
                </a:r>
                <a:endParaRPr b="0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37" name="Google Shape;637;p31"/>
            <p:cNvGrpSpPr/>
            <p:nvPr/>
          </p:nvGrpSpPr>
          <p:grpSpPr>
            <a:xfrm>
              <a:off x="0" y="1714500"/>
              <a:ext cx="4914900" cy="666900"/>
              <a:chOff x="0" y="0"/>
              <a:chExt cx="4914900" cy="666900"/>
            </a:xfrm>
          </p:grpSpPr>
          <p:sp>
            <p:nvSpPr>
              <p:cNvPr id="638" name="Google Shape;638;p31"/>
              <p:cNvSpPr/>
              <p:nvPr/>
            </p:nvSpPr>
            <p:spPr>
              <a:xfrm>
                <a:off x="0" y="0"/>
                <a:ext cx="38100" cy="619200"/>
              </a:xfrm>
              <a:prstGeom prst="roundRect">
                <a:avLst>
                  <a:gd fmla="val 50000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31"/>
              <p:cNvSpPr txBox="1"/>
              <p:nvPr/>
            </p:nvSpPr>
            <p:spPr>
              <a:xfrm>
                <a:off x="152400" y="0"/>
                <a:ext cx="4762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5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Checking File Existence</a:t>
                </a:r>
                <a:endParaRPr b="0" sz="125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Verify files exist and you have write permissions before starting operations to avoid crashes.</a:t>
                </a:r>
                <a:endParaRPr b="0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40" name="Google Shape;640;p31"/>
            <p:cNvGrpSpPr/>
            <p:nvPr/>
          </p:nvGrpSpPr>
          <p:grpSpPr>
            <a:xfrm>
              <a:off x="0" y="2571750"/>
              <a:ext cx="4914900" cy="714300"/>
              <a:chOff x="0" y="0"/>
              <a:chExt cx="4914900" cy="714300"/>
            </a:xfrm>
          </p:grpSpPr>
          <p:sp>
            <p:nvSpPr>
              <p:cNvPr id="641" name="Google Shape;641;p31"/>
              <p:cNvSpPr/>
              <p:nvPr/>
            </p:nvSpPr>
            <p:spPr>
              <a:xfrm>
                <a:off x="0" y="0"/>
                <a:ext cx="38100" cy="619200"/>
              </a:xfrm>
              <a:prstGeom prst="roundRect">
                <a:avLst>
                  <a:gd fmla="val 50000" name="adj"/>
                </a:avLst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31"/>
              <p:cNvSpPr txBox="1"/>
              <p:nvPr/>
            </p:nvSpPr>
            <p:spPr>
              <a:xfrm>
                <a:off x="152400" y="0"/>
                <a:ext cx="4762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5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Avoiding Hard-Coded Path Strings</a:t>
                </a:r>
                <a:endParaRPr b="0" sz="125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Use relative paths based on the script's location or configuration files rather than hard-coding absolute paths like C:\Users\...</a:t>
                </a:r>
                <a:endParaRPr b="0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43" name="Google Shape;643;p31"/>
          <p:cNvGrpSpPr/>
          <p:nvPr/>
        </p:nvGrpSpPr>
        <p:grpSpPr>
          <a:xfrm>
            <a:off x="6286500" y="1428750"/>
            <a:ext cx="5143500" cy="3286125"/>
            <a:chOff x="0" y="0"/>
            <a:chExt cx="5143500" cy="3286125"/>
          </a:xfrm>
        </p:grpSpPr>
        <p:sp>
          <p:nvSpPr>
            <p:cNvPr id="644" name="Google Shape;644;p31"/>
            <p:cNvSpPr txBox="1"/>
            <p:nvPr/>
          </p:nvSpPr>
          <p:spPr>
            <a:xfrm>
              <a:off x="0" y="0"/>
              <a:ext cx="5143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Creating Destination Directories Dynamically</a:t>
              </a:r>
              <a:endParaRPr b="1" sz="15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Create parent and sub-directories safely on-the-fly before writing files:</a:t>
              </a:r>
              <a:endParaRPr b="0" sz="11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45" name="Google Shape;645;p31"/>
            <p:cNvGrpSpPr/>
            <p:nvPr/>
          </p:nvGrpSpPr>
          <p:grpSpPr>
            <a:xfrm>
              <a:off x="0" y="809625"/>
              <a:ext cx="5143500" cy="2476500"/>
              <a:chOff x="0" y="0"/>
              <a:chExt cx="5143500" cy="2476500"/>
            </a:xfrm>
          </p:grpSpPr>
          <p:sp>
            <p:nvSpPr>
              <p:cNvPr id="646" name="Google Shape;646;p31"/>
              <p:cNvSpPr/>
              <p:nvPr/>
            </p:nvSpPr>
            <p:spPr>
              <a:xfrm>
                <a:off x="0" y="0"/>
                <a:ext cx="5143500" cy="2476500"/>
              </a:xfrm>
              <a:prstGeom prst="roundRect">
                <a:avLst>
                  <a:gd fmla="val 2307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31"/>
              <p:cNvSpPr/>
              <p:nvPr/>
            </p:nvSpPr>
            <p:spPr>
              <a:xfrm>
                <a:off x="0" y="0"/>
                <a:ext cx="57300" cy="2476500"/>
              </a:xfrm>
              <a:prstGeom prst="roundRect">
                <a:avLst>
                  <a:gd fmla="val 50000" name="adj"/>
                </a:avLst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31"/>
              <p:cNvSpPr txBox="1"/>
              <p:nvPr/>
            </p:nvSpPr>
            <p:spPr>
              <a:xfrm>
                <a:off x="238125" y="238125"/>
                <a:ext cx="46674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45A3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from</a:t>
                </a:r>
                <a:r>
                  <a:rPr b="0" lang="en" sz="1100">
                    <a:solidFill>
                      <a:srgbClr val="1F293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pathlib </a:t>
                </a:r>
                <a:r>
                  <a:rPr b="1" lang="en" sz="1100">
                    <a:solidFill>
                      <a:srgbClr val="045A3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import</a:t>
                </a:r>
                <a:r>
                  <a:rPr b="0" lang="en" sz="1100">
                    <a:solidFill>
                      <a:srgbClr val="1F293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Path</a:t>
                </a:r>
                <a:endParaRPr b="0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F293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dst_dir = Path(</a:t>
                </a:r>
                <a:r>
                  <a:rPr b="0" lang="en" sz="1100">
                    <a:solidFill>
                      <a:srgbClr val="0B7A4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'backups/2026'</a:t>
                </a:r>
                <a:r>
                  <a:rPr b="0" lang="en" sz="1100">
                    <a:solidFill>
                      <a:srgbClr val="1F293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)</a:t>
                </a:r>
                <a:endParaRPr b="0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i="1" lang="en" sz="1100">
                    <a:solidFill>
                      <a:srgbClr val="6B72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# Creates 'backups' and '2026' if they don't exist</a:t>
                </a:r>
                <a:endParaRPr b="0" i="1" sz="1100">
                  <a:solidFill>
                    <a:srgbClr val="6B7280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F293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dst_dir.mkdir(parents=</a:t>
                </a:r>
                <a:r>
                  <a:rPr b="1" lang="en" sz="1100">
                    <a:solidFill>
                      <a:srgbClr val="D4A01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True</a:t>
                </a:r>
                <a:r>
                  <a:rPr b="0" lang="en" sz="1100">
                    <a:solidFill>
                      <a:srgbClr val="1F293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, exist_ok=</a:t>
                </a:r>
                <a:r>
                  <a:rPr b="1" lang="en" sz="1100">
                    <a:solidFill>
                      <a:srgbClr val="D4A01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True</a:t>
                </a:r>
                <a:r>
                  <a:rPr b="0" lang="en" sz="1100">
                    <a:solidFill>
                      <a:srgbClr val="1F293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)</a:t>
                </a:r>
                <a:endParaRPr b="0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2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2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2"/>
          <p:cNvSpPr txBox="1"/>
          <p:nvPr/>
        </p:nvSpPr>
        <p:spPr>
          <a:xfrm>
            <a:off x="762000" y="428625"/>
            <a:ext cx="10668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Error Handling in File Automation</a:t>
            </a:r>
            <a:endParaRPr b="0" sz="24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rPr>
              <a:t>Building Robust Scripts</a:t>
            </a:r>
            <a:endParaRPr b="1" sz="1100">
              <a:solidFill>
                <a:srgbClr val="D4A01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6" name="Google Shape;656;p32"/>
          <p:cNvSpPr txBox="1"/>
          <p:nvPr/>
        </p:nvSpPr>
        <p:spPr>
          <a:xfrm>
            <a:off x="762000" y="1285875"/>
            <a:ext cx="10668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rPr>
              <a:t>Why File Operations Fail:</a:t>
            </a:r>
            <a:r>
              <a:rPr b="0" lang="en" sz="12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Operations can fail due to missing files, locked files, or disk space issues. Wrap critical file operations in robust blocks to prevent crashes.</a:t>
            </a:r>
            <a:endParaRPr b="0" sz="125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57" name="Google Shape;657;p32"/>
          <p:cNvGrpSpPr/>
          <p:nvPr/>
        </p:nvGrpSpPr>
        <p:grpSpPr>
          <a:xfrm>
            <a:off x="762000" y="1857375"/>
            <a:ext cx="5143500" cy="1428900"/>
            <a:chOff x="0" y="0"/>
            <a:chExt cx="5143500" cy="1428900"/>
          </a:xfrm>
        </p:grpSpPr>
        <p:sp>
          <p:nvSpPr>
            <p:cNvPr id="658" name="Google Shape;658;p32"/>
            <p:cNvSpPr/>
            <p:nvPr/>
          </p:nvSpPr>
          <p:spPr>
            <a:xfrm>
              <a:off x="0" y="0"/>
              <a:ext cx="5143500" cy="14289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2"/>
            <p:cNvSpPr/>
            <p:nvPr/>
          </p:nvSpPr>
          <p:spPr>
            <a:xfrm>
              <a:off x="0" y="0"/>
              <a:ext cx="57300" cy="1428900"/>
            </a:xfrm>
            <a:prstGeom prst="roundRect">
              <a:avLst>
                <a:gd fmla="val 33333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2"/>
            <p:cNvSpPr txBox="1"/>
            <p:nvPr/>
          </p:nvSpPr>
          <p:spPr>
            <a:xfrm>
              <a:off x="238125" y="142875"/>
              <a:ext cx="4667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Missing Files &amp; OS Errors</a:t>
              </a:r>
              <a:endParaRPr b="0" sz="135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FileNotFoundError:</a:t>
              </a:r>
              <a:r>
                <a:rPr b="0" lang="en" sz="11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The source file or directory does not exist.</a:t>
              </a:r>
              <a:endParaRPr b="0" sz="11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OSError:</a:t>
              </a:r>
              <a:r>
                <a:rPr b="0" lang="en" sz="11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Broad category including disk full or disconnected network drives.</a:t>
              </a:r>
              <a:endParaRPr b="0" sz="11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61" name="Google Shape;661;p32"/>
          <p:cNvGrpSpPr/>
          <p:nvPr/>
        </p:nvGrpSpPr>
        <p:grpSpPr>
          <a:xfrm>
            <a:off x="6286500" y="1857375"/>
            <a:ext cx="5143500" cy="1428900"/>
            <a:chOff x="0" y="0"/>
            <a:chExt cx="5143500" cy="1428900"/>
          </a:xfrm>
        </p:grpSpPr>
        <p:sp>
          <p:nvSpPr>
            <p:cNvPr id="662" name="Google Shape;662;p32"/>
            <p:cNvSpPr/>
            <p:nvPr/>
          </p:nvSpPr>
          <p:spPr>
            <a:xfrm>
              <a:off x="0" y="0"/>
              <a:ext cx="5143500" cy="14289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32"/>
            <p:cNvSpPr/>
            <p:nvPr/>
          </p:nvSpPr>
          <p:spPr>
            <a:xfrm>
              <a:off x="0" y="0"/>
              <a:ext cx="57300" cy="1428900"/>
            </a:xfrm>
            <a:prstGeom prst="roundRect">
              <a:avLst>
                <a:gd fmla="val 33333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32"/>
            <p:cNvSpPr txBox="1"/>
            <p:nvPr/>
          </p:nvSpPr>
          <p:spPr>
            <a:xfrm>
              <a:off x="238125" y="142875"/>
              <a:ext cx="4667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Permission &amp; Logging Failures</a:t>
              </a:r>
              <a:endParaRPr b="0" sz="135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PermissionError:</a:t>
              </a:r>
              <a:r>
                <a:rPr b="0" lang="en" sz="11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The file is locked, read-only, or you lack admin rights.</a:t>
              </a:r>
              <a:endParaRPr b="0" sz="11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Logging Failures:</a:t>
              </a:r>
              <a:r>
                <a:rPr b="0" lang="en" sz="11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Log errors to a file instead of just printing to the console, allowing for post-mortem analysis.</a:t>
              </a:r>
              <a:endParaRPr b="0" sz="11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65" name="Google Shape;665;p32"/>
          <p:cNvGrpSpPr/>
          <p:nvPr/>
        </p:nvGrpSpPr>
        <p:grpSpPr>
          <a:xfrm>
            <a:off x="762000" y="3476625"/>
            <a:ext cx="9144000" cy="1952700"/>
            <a:chOff x="0" y="0"/>
            <a:chExt cx="9144000" cy="1952700"/>
          </a:xfrm>
        </p:grpSpPr>
        <p:sp>
          <p:nvSpPr>
            <p:cNvPr id="666" name="Google Shape;666;p32"/>
            <p:cNvSpPr/>
            <p:nvPr/>
          </p:nvSpPr>
          <p:spPr>
            <a:xfrm>
              <a:off x="0" y="0"/>
              <a:ext cx="9144000" cy="1952700"/>
            </a:xfrm>
            <a:prstGeom prst="roundRect">
              <a:avLst>
                <a:gd fmla="val 2926" name="adj"/>
              </a:avLst>
            </a:prstGeom>
            <a:solidFill>
              <a:srgbClr val="1F29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2"/>
            <p:cNvSpPr/>
            <p:nvPr/>
          </p:nvSpPr>
          <p:spPr>
            <a:xfrm>
              <a:off x="0" y="0"/>
              <a:ext cx="57300" cy="1952700"/>
            </a:xfrm>
            <a:prstGeom prst="roundRect">
              <a:avLst>
                <a:gd fmla="val 33333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2"/>
            <p:cNvSpPr txBox="1"/>
            <p:nvPr/>
          </p:nvSpPr>
          <p:spPr>
            <a:xfrm>
              <a:off x="285750" y="190500"/>
              <a:ext cx="8572500" cy="15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import</a:t>
              </a:r>
              <a:r>
                <a:rPr lang="en" sz="935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shutil</a:t>
              </a:r>
              <a:endParaRPr sz="935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import</a:t>
              </a:r>
              <a:r>
                <a:rPr lang="en" sz="935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logging</a:t>
              </a:r>
              <a:endParaRPr sz="935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try</a:t>
              </a:r>
              <a:r>
                <a:rPr lang="en" sz="935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</a:t>
              </a:r>
              <a:endParaRPr sz="935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35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shutil.copy(</a:t>
              </a:r>
              <a:r>
                <a:rPr lang="en" sz="935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'source.txt'</a:t>
              </a:r>
              <a:r>
                <a:rPr lang="en" sz="935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, </a:t>
              </a:r>
              <a:r>
                <a:rPr lang="en" sz="935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'dest.txt'</a:t>
              </a:r>
              <a:r>
                <a:rPr lang="en" sz="935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935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except</a:t>
              </a:r>
              <a:r>
                <a:rPr lang="en" sz="935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0" lang="en" sz="935">
                  <a:solidFill>
                    <a:srgbClr val="F8FAFC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FileNotFoundError</a:t>
              </a:r>
              <a:r>
                <a:rPr lang="en" sz="935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</a:t>
              </a:r>
              <a:endParaRPr sz="935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35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logging.error(</a:t>
              </a:r>
              <a:r>
                <a:rPr lang="en" sz="935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"Source file not found."</a:t>
              </a:r>
              <a:r>
                <a:rPr lang="en" sz="935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935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except</a:t>
              </a:r>
              <a:r>
                <a:rPr lang="en" sz="935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0" lang="en" sz="935">
                  <a:solidFill>
                    <a:srgbClr val="F8FAFC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PermissionError</a:t>
              </a:r>
              <a:r>
                <a:rPr lang="en" sz="935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</a:t>
              </a:r>
              <a:endParaRPr sz="935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35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logging.error(</a:t>
              </a:r>
              <a:r>
                <a:rPr lang="en" sz="935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"Permission denied."</a:t>
              </a:r>
              <a:r>
                <a:rPr lang="en" sz="935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935">
                <a:solidFill>
                  <a:srgbClr val="F8FAF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669" name="Google Shape;669;p32"/>
          <p:cNvSpPr txBox="1"/>
          <p:nvPr/>
        </p:nvSpPr>
        <p:spPr>
          <a:xfrm>
            <a:off x="762000" y="61341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shutil Module: File and Folder Automation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70" name="Google Shape;670;p32"/>
          <p:cNvPicPr preferRelativeResize="0"/>
          <p:nvPr/>
        </p:nvPicPr>
        <p:blipFill rotWithShape="1">
          <a:blip r:embed="rId4">
            <a:alphaModFix/>
          </a:blip>
          <a:srcRect b="0" l="10" r="0" t="0"/>
          <a:stretch/>
        </p:blipFill>
        <p:spPr>
          <a:xfrm>
            <a:off x="10287000" y="5457825"/>
            <a:ext cx="1524000" cy="10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3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3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3"/>
          <p:cNvSpPr txBox="1"/>
          <p:nvPr/>
        </p:nvSpPr>
        <p:spPr>
          <a:xfrm>
            <a:off x="762000" y="61341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shutil Module: File and Folder Automation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78" name="Google Shape;678;p33"/>
          <p:cNvPicPr preferRelativeResize="0"/>
          <p:nvPr/>
        </p:nvPicPr>
        <p:blipFill rotWithShape="1">
          <a:blip r:embed="rId4">
            <a:alphaModFix/>
          </a:blip>
          <a:srcRect b="0" l="10" r="0" t="0"/>
          <a:stretch/>
        </p:blipFill>
        <p:spPr>
          <a:xfrm>
            <a:off x="10287000" y="5453079"/>
            <a:ext cx="1524000" cy="10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33"/>
          <p:cNvSpPr txBox="1"/>
          <p:nvPr/>
        </p:nvSpPr>
        <p:spPr>
          <a:xfrm>
            <a:off x="762000" y="304800"/>
            <a:ext cx="952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rPr>
              <a:t>Practical Walk-Through</a:t>
            </a:r>
            <a:endParaRPr b="1" sz="1100">
              <a:solidFill>
                <a:srgbClr val="D4A01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0" name="Google Shape;680;p33"/>
          <p:cNvSpPr txBox="1"/>
          <p:nvPr/>
        </p:nvSpPr>
        <p:spPr>
          <a:xfrm>
            <a:off x="762000" y="552450"/>
            <a:ext cx="9525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Automation Example: Automatic File Organizer</a:t>
            </a:r>
            <a:endParaRPr b="0" sz="26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81" name="Google Shape;681;p33"/>
          <p:cNvSpPr txBox="1"/>
          <p:nvPr/>
        </p:nvSpPr>
        <p:spPr>
          <a:xfrm>
            <a:off x="762000" y="1333500"/>
            <a:ext cx="4953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4A017"/>
                </a:solidFill>
                <a:latin typeface="Montserrat"/>
                <a:ea typeface="Montserrat"/>
                <a:cs typeface="Montserrat"/>
                <a:sym typeface="Montserrat"/>
              </a:rPr>
              <a:t>Scenario</a:t>
            </a:r>
            <a:endParaRPr b="1" sz="1200">
              <a:solidFill>
                <a:srgbClr val="D4A0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145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Cleaning up a Downloads folder</a:t>
            </a:r>
            <a:endParaRPr b="0" sz="1450">
              <a:solidFill>
                <a:srgbClr val="1F293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682" name="Google Shape;682;p33"/>
          <p:cNvGrpSpPr/>
          <p:nvPr/>
        </p:nvGrpSpPr>
        <p:grpSpPr>
          <a:xfrm>
            <a:off x="762000" y="1952625"/>
            <a:ext cx="4953150" cy="285900"/>
            <a:chOff x="0" y="0"/>
            <a:chExt cx="4953150" cy="285900"/>
          </a:xfrm>
        </p:grpSpPr>
        <p:grpSp>
          <p:nvGrpSpPr>
            <p:cNvPr id="683" name="Google Shape;683;p33"/>
            <p:cNvGrpSpPr/>
            <p:nvPr/>
          </p:nvGrpSpPr>
          <p:grpSpPr>
            <a:xfrm>
              <a:off x="0" y="19050"/>
              <a:ext cx="190500" cy="190500"/>
              <a:chOff x="0" y="0"/>
              <a:chExt cx="190500" cy="190500"/>
            </a:xfrm>
          </p:grpSpPr>
          <p:sp>
            <p:nvSpPr>
              <p:cNvPr id="684" name="Google Shape;684;p33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33"/>
              <p:cNvSpPr/>
              <p:nvPr/>
            </p:nvSpPr>
            <p:spPr>
              <a:xfrm>
                <a:off x="57150" y="80963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8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86" name="Google Shape;686;p33"/>
            <p:cNvSpPr txBox="1"/>
            <p:nvPr/>
          </p:nvSpPr>
          <p:spPr>
            <a:xfrm>
              <a:off x="285750" y="0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Scan files inside a directory using </a:t>
              </a:r>
              <a:r>
                <a:rPr b="0" lang="en" sz="1100">
                  <a:solidFill>
                    <a:srgbClr val="045A36"/>
                  </a:solidFill>
                  <a:highlight>
                    <a:srgbClr val="E2E8F0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pathlib</a:t>
              </a: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7" name="Google Shape;687;p33"/>
          <p:cNvGrpSpPr/>
          <p:nvPr/>
        </p:nvGrpSpPr>
        <p:grpSpPr>
          <a:xfrm>
            <a:off x="762000" y="2333625"/>
            <a:ext cx="4953150" cy="428700"/>
            <a:chOff x="0" y="0"/>
            <a:chExt cx="4953150" cy="428700"/>
          </a:xfrm>
        </p:grpSpPr>
        <p:grpSp>
          <p:nvGrpSpPr>
            <p:cNvPr id="688" name="Google Shape;688;p33"/>
            <p:cNvGrpSpPr/>
            <p:nvPr/>
          </p:nvGrpSpPr>
          <p:grpSpPr>
            <a:xfrm>
              <a:off x="0" y="19050"/>
              <a:ext cx="190500" cy="190500"/>
              <a:chOff x="0" y="0"/>
              <a:chExt cx="190500" cy="190500"/>
            </a:xfrm>
          </p:grpSpPr>
          <p:sp>
            <p:nvSpPr>
              <p:cNvPr id="689" name="Google Shape;689;p33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33"/>
              <p:cNvSpPr/>
              <p:nvPr/>
            </p:nvSpPr>
            <p:spPr>
              <a:xfrm>
                <a:off x="57150" y="80963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8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91" name="Google Shape;691;p33"/>
            <p:cNvSpPr txBox="1"/>
            <p:nvPr/>
          </p:nvSpPr>
          <p:spPr>
            <a:xfrm>
              <a:off x="285750" y="0"/>
              <a:ext cx="4667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Identify files by extension (e.g., </a:t>
              </a:r>
              <a:r>
                <a:rPr b="0" lang="en" sz="1100">
                  <a:solidFill>
                    <a:srgbClr val="045A36"/>
                  </a:solidFill>
                  <a:highlight>
                    <a:srgbClr val="E2E8F0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.pdf</a:t>
              </a: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Documents, </a:t>
              </a:r>
              <a:r>
                <a:rPr b="0" lang="en" sz="1100">
                  <a:solidFill>
                    <a:srgbClr val="045A36"/>
                  </a:solidFill>
                  <a:highlight>
                    <a:srgbClr val="E2E8F0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.png</a:t>
              </a: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Images).</a:t>
              </a:r>
              <a:endParaRPr b="0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92" name="Google Shape;692;p33"/>
          <p:cNvGrpSpPr/>
          <p:nvPr/>
        </p:nvGrpSpPr>
        <p:grpSpPr>
          <a:xfrm>
            <a:off x="762000" y="2857500"/>
            <a:ext cx="4953150" cy="428700"/>
            <a:chOff x="0" y="0"/>
            <a:chExt cx="4953150" cy="428700"/>
          </a:xfrm>
        </p:grpSpPr>
        <p:grpSp>
          <p:nvGrpSpPr>
            <p:cNvPr id="693" name="Google Shape;693;p33"/>
            <p:cNvGrpSpPr/>
            <p:nvPr/>
          </p:nvGrpSpPr>
          <p:grpSpPr>
            <a:xfrm>
              <a:off x="0" y="19050"/>
              <a:ext cx="190500" cy="190500"/>
              <a:chOff x="0" y="0"/>
              <a:chExt cx="190500" cy="190500"/>
            </a:xfrm>
          </p:grpSpPr>
          <p:sp>
            <p:nvSpPr>
              <p:cNvPr id="694" name="Google Shape;694;p33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33"/>
              <p:cNvSpPr/>
              <p:nvPr/>
            </p:nvSpPr>
            <p:spPr>
              <a:xfrm>
                <a:off x="57150" y="80963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8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96" name="Google Shape;696;p33"/>
            <p:cNvSpPr txBox="1"/>
            <p:nvPr/>
          </p:nvSpPr>
          <p:spPr>
            <a:xfrm>
              <a:off x="285750" y="0"/>
              <a:ext cx="4667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Create category folders dynamically if they don't exist using </a:t>
              </a:r>
              <a:r>
                <a:rPr b="0" lang="en" sz="1000">
                  <a:solidFill>
                    <a:srgbClr val="045A36"/>
                  </a:solidFill>
                  <a:highlight>
                    <a:srgbClr val="E2E8F0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mkdir(parents=True, exist_ok=True)</a:t>
              </a: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97" name="Google Shape;697;p33"/>
          <p:cNvGrpSpPr/>
          <p:nvPr/>
        </p:nvGrpSpPr>
        <p:grpSpPr>
          <a:xfrm>
            <a:off x="762000" y="3381375"/>
            <a:ext cx="4953150" cy="285900"/>
            <a:chOff x="0" y="0"/>
            <a:chExt cx="4953150" cy="285900"/>
          </a:xfrm>
        </p:grpSpPr>
        <p:grpSp>
          <p:nvGrpSpPr>
            <p:cNvPr id="698" name="Google Shape;698;p33"/>
            <p:cNvGrpSpPr/>
            <p:nvPr/>
          </p:nvGrpSpPr>
          <p:grpSpPr>
            <a:xfrm>
              <a:off x="0" y="19050"/>
              <a:ext cx="190500" cy="190500"/>
              <a:chOff x="0" y="0"/>
              <a:chExt cx="190500" cy="190500"/>
            </a:xfrm>
          </p:grpSpPr>
          <p:sp>
            <p:nvSpPr>
              <p:cNvPr id="699" name="Google Shape;699;p33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33"/>
              <p:cNvSpPr/>
              <p:nvPr/>
            </p:nvSpPr>
            <p:spPr>
              <a:xfrm>
                <a:off x="57150" y="80963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8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01" name="Google Shape;701;p33"/>
            <p:cNvSpPr txBox="1"/>
            <p:nvPr/>
          </p:nvSpPr>
          <p:spPr>
            <a:xfrm>
              <a:off x="285750" y="0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Move files using </a:t>
              </a:r>
              <a:r>
                <a:rPr b="0" lang="en" sz="1100">
                  <a:solidFill>
                    <a:srgbClr val="045A36"/>
                  </a:solidFill>
                  <a:highlight>
                    <a:srgbClr val="E2E8F0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shutil.move()</a:t>
              </a: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02" name="Google Shape;702;p33"/>
          <p:cNvGrpSpPr/>
          <p:nvPr/>
        </p:nvGrpSpPr>
        <p:grpSpPr>
          <a:xfrm>
            <a:off x="762000" y="3762375"/>
            <a:ext cx="4953150" cy="285900"/>
            <a:chOff x="0" y="0"/>
            <a:chExt cx="4953150" cy="285900"/>
          </a:xfrm>
        </p:grpSpPr>
        <p:grpSp>
          <p:nvGrpSpPr>
            <p:cNvPr id="703" name="Google Shape;703;p33"/>
            <p:cNvGrpSpPr/>
            <p:nvPr/>
          </p:nvGrpSpPr>
          <p:grpSpPr>
            <a:xfrm>
              <a:off x="0" y="19050"/>
              <a:ext cx="190500" cy="190500"/>
              <a:chOff x="0" y="0"/>
              <a:chExt cx="190500" cy="190500"/>
            </a:xfrm>
          </p:grpSpPr>
          <p:sp>
            <p:nvSpPr>
              <p:cNvPr id="704" name="Google Shape;704;p33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33"/>
              <p:cNvSpPr/>
              <p:nvPr/>
            </p:nvSpPr>
            <p:spPr>
              <a:xfrm>
                <a:off x="57150" y="80963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8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06" name="Google Shape;706;p33"/>
            <p:cNvSpPr txBox="1"/>
            <p:nvPr/>
          </p:nvSpPr>
          <p:spPr>
            <a:xfrm>
              <a:off x="285750" y="0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Handle unknown file types by moving them to an 'Others' folder.</a:t>
              </a:r>
              <a:endParaRPr b="0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07" name="Google Shape;707;p33"/>
          <p:cNvGrpSpPr/>
          <p:nvPr/>
        </p:nvGrpSpPr>
        <p:grpSpPr>
          <a:xfrm>
            <a:off x="762000" y="4143375"/>
            <a:ext cx="4953150" cy="428700"/>
            <a:chOff x="0" y="0"/>
            <a:chExt cx="4953150" cy="428700"/>
          </a:xfrm>
        </p:grpSpPr>
        <p:grpSp>
          <p:nvGrpSpPr>
            <p:cNvPr id="708" name="Google Shape;708;p33"/>
            <p:cNvGrpSpPr/>
            <p:nvPr/>
          </p:nvGrpSpPr>
          <p:grpSpPr>
            <a:xfrm>
              <a:off x="0" y="19050"/>
              <a:ext cx="190500" cy="190500"/>
              <a:chOff x="0" y="0"/>
              <a:chExt cx="190500" cy="190500"/>
            </a:xfrm>
          </p:grpSpPr>
          <p:sp>
            <p:nvSpPr>
              <p:cNvPr id="709" name="Google Shape;709;p33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33"/>
              <p:cNvSpPr/>
              <p:nvPr/>
            </p:nvSpPr>
            <p:spPr>
              <a:xfrm>
                <a:off x="57150" y="80963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8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11" name="Google Shape;711;p33"/>
            <p:cNvSpPr txBox="1"/>
            <p:nvPr/>
          </p:nvSpPr>
          <p:spPr>
            <a:xfrm>
              <a:off x="285750" y="0"/>
              <a:ext cx="4667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Prevent duplicate filename overwrites by renaming duplicates (e.g., adding a </a:t>
              </a:r>
              <a:r>
                <a:rPr b="0" lang="en" sz="1100">
                  <a:solidFill>
                    <a:srgbClr val="045A36"/>
                  </a:solidFill>
                  <a:highlight>
                    <a:srgbClr val="E2E8F0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_1</a:t>
              </a: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suffix before moving).</a:t>
              </a:r>
              <a:endParaRPr b="0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12" name="Google Shape;712;p33"/>
          <p:cNvGrpSpPr/>
          <p:nvPr/>
        </p:nvGrpSpPr>
        <p:grpSpPr>
          <a:xfrm>
            <a:off x="762000" y="4714875"/>
            <a:ext cx="4953000" cy="714300"/>
            <a:chOff x="0" y="0"/>
            <a:chExt cx="4953000" cy="714300"/>
          </a:xfrm>
        </p:grpSpPr>
        <p:sp>
          <p:nvSpPr>
            <p:cNvPr id="713" name="Google Shape;713;p33"/>
            <p:cNvSpPr/>
            <p:nvPr/>
          </p:nvSpPr>
          <p:spPr>
            <a:xfrm>
              <a:off x="0" y="0"/>
              <a:ext cx="4953000" cy="714300"/>
            </a:xfrm>
            <a:prstGeom prst="roundRect">
              <a:avLst>
                <a:gd fmla="val 8000" name="adj"/>
              </a:avLst>
            </a:prstGeom>
            <a:solidFill>
              <a:srgbClr val="EBF5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3"/>
            <p:cNvSpPr/>
            <p:nvPr/>
          </p:nvSpPr>
          <p:spPr>
            <a:xfrm>
              <a:off x="0" y="0"/>
              <a:ext cx="38100" cy="7143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3"/>
            <p:cNvSpPr txBox="1"/>
            <p:nvPr/>
          </p:nvSpPr>
          <p:spPr>
            <a:xfrm>
              <a:off x="190500" y="95250"/>
              <a:ext cx="4572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045A3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This script demonstrates combining path manipulation, directory creation, and file moving into a cohesive utility.</a:t>
              </a:r>
              <a:endParaRPr b="0" i="1" sz="1100">
                <a:solidFill>
                  <a:srgbClr val="045A36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716" name="Google Shape;716;p33"/>
          <p:cNvGrpSpPr/>
          <p:nvPr/>
        </p:nvGrpSpPr>
        <p:grpSpPr>
          <a:xfrm>
            <a:off x="6096000" y="1838325"/>
            <a:ext cx="5334000" cy="3086100"/>
            <a:chOff x="0" y="0"/>
            <a:chExt cx="5334000" cy="3086100"/>
          </a:xfrm>
        </p:grpSpPr>
        <p:sp>
          <p:nvSpPr>
            <p:cNvPr id="717" name="Google Shape;717;p33"/>
            <p:cNvSpPr/>
            <p:nvPr/>
          </p:nvSpPr>
          <p:spPr>
            <a:xfrm>
              <a:off x="0" y="0"/>
              <a:ext cx="5334000" cy="3086100"/>
            </a:xfrm>
            <a:prstGeom prst="roundRect">
              <a:avLst>
                <a:gd fmla="val 246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18" name="Google Shape;718;p33"/>
            <p:cNvPicPr preferRelativeResize="0"/>
            <p:nvPr/>
          </p:nvPicPr>
          <p:blipFill rotWithShape="1">
            <a:blip r:embed="rId5">
              <a:alphaModFix/>
            </a:blip>
            <a:srcRect b="0" l="40" r="40" t="0"/>
            <a:stretch/>
          </p:blipFill>
          <p:spPr>
            <a:xfrm>
              <a:off x="95250" y="95250"/>
              <a:ext cx="5143500" cy="2895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4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4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4"/>
          <p:cNvSpPr txBox="1"/>
          <p:nvPr/>
        </p:nvSpPr>
        <p:spPr>
          <a:xfrm>
            <a:off x="762000" y="6134100"/>
            <a:ext cx="571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shutil Module: File and Folder Automation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26" name="Google Shape;726;p34"/>
          <p:cNvPicPr preferRelativeResize="0"/>
          <p:nvPr/>
        </p:nvPicPr>
        <p:blipFill rotWithShape="1">
          <a:blip r:embed="rId4">
            <a:alphaModFix/>
          </a:blip>
          <a:srcRect b="0" l="10" r="0" t="0"/>
          <a:stretch/>
        </p:blipFill>
        <p:spPr>
          <a:xfrm>
            <a:off x="10287000" y="5457825"/>
            <a:ext cx="1524000" cy="10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34"/>
          <p:cNvSpPr txBox="1"/>
          <p:nvPr/>
        </p:nvSpPr>
        <p:spPr>
          <a:xfrm>
            <a:off x="762000" y="428625"/>
            <a:ext cx="9525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Automation Example: Automated Backup System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" sz="975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rPr>
              <a:t>Practical Walk-Through</a:t>
            </a:r>
            <a:endParaRPr b="1" sz="975">
              <a:solidFill>
                <a:srgbClr val="D4A01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28" name="Google Shape;728;p34"/>
          <p:cNvGrpSpPr/>
          <p:nvPr/>
        </p:nvGrpSpPr>
        <p:grpSpPr>
          <a:xfrm>
            <a:off x="762000" y="1428750"/>
            <a:ext cx="5143500" cy="571500"/>
            <a:chOff x="0" y="0"/>
            <a:chExt cx="5143500" cy="571500"/>
          </a:xfrm>
        </p:grpSpPr>
        <p:sp>
          <p:nvSpPr>
            <p:cNvPr id="729" name="Google Shape;729;p34"/>
            <p:cNvSpPr/>
            <p:nvPr/>
          </p:nvSpPr>
          <p:spPr>
            <a:xfrm>
              <a:off x="0" y="19050"/>
              <a:ext cx="304800" cy="304800"/>
            </a:xfrm>
            <a:prstGeom prst="roundRect">
              <a:avLst>
                <a:gd fmla="val 1875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4"/>
            <p:cNvSpPr txBox="1"/>
            <p:nvPr/>
          </p:nvSpPr>
          <p:spPr>
            <a:xfrm>
              <a:off x="0" y="1905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01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31" name="Google Shape;731;p34"/>
            <p:cNvSpPr txBox="1"/>
            <p:nvPr/>
          </p:nvSpPr>
          <p:spPr>
            <a:xfrm>
              <a:off x="457200" y="0"/>
              <a:ext cx="4686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Initialize Configuration:</a:t>
              </a:r>
              <a:r>
                <a:rPr b="0" lang="en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Define source directory and backup storage destination paths.</a:t>
              </a:r>
              <a:endParaRPr b="0" sz="14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32" name="Google Shape;732;p34"/>
          <p:cNvGrpSpPr/>
          <p:nvPr/>
        </p:nvGrpSpPr>
        <p:grpSpPr>
          <a:xfrm>
            <a:off x="762000" y="2143125"/>
            <a:ext cx="5143500" cy="619200"/>
            <a:chOff x="0" y="0"/>
            <a:chExt cx="5143500" cy="619200"/>
          </a:xfrm>
        </p:grpSpPr>
        <p:sp>
          <p:nvSpPr>
            <p:cNvPr id="733" name="Google Shape;733;p34"/>
            <p:cNvSpPr/>
            <p:nvPr/>
          </p:nvSpPr>
          <p:spPr>
            <a:xfrm>
              <a:off x="0" y="19050"/>
              <a:ext cx="304800" cy="304800"/>
            </a:xfrm>
            <a:prstGeom prst="roundRect">
              <a:avLst>
                <a:gd fmla="val 1875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4"/>
            <p:cNvSpPr txBox="1"/>
            <p:nvPr/>
          </p:nvSpPr>
          <p:spPr>
            <a:xfrm>
              <a:off x="0" y="1905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35" name="Google Shape;735;p34"/>
            <p:cNvSpPr txBox="1"/>
            <p:nvPr/>
          </p:nvSpPr>
          <p:spPr>
            <a:xfrm>
              <a:off x="457200" y="0"/>
              <a:ext cx="46863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Name Generation:</a:t>
              </a:r>
              <a:r>
                <a:rPr b="0" lang="en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Generate a timestamped archive name (e.g., </a:t>
              </a:r>
              <a:r>
                <a:rPr b="0" lang="en" sz="1150">
                  <a:solidFill>
                    <a:srgbClr val="045A36"/>
                  </a:solidFill>
                  <a:highlight>
                    <a:srgbClr val="F1F5F9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backup_2026_03_30.zip</a:t>
              </a:r>
              <a:r>
                <a:rPr b="0" lang="en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).</a:t>
              </a:r>
              <a:endParaRPr b="0" sz="14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36" name="Google Shape;736;p34"/>
          <p:cNvGrpSpPr/>
          <p:nvPr/>
        </p:nvGrpSpPr>
        <p:grpSpPr>
          <a:xfrm>
            <a:off x="762000" y="2905125"/>
            <a:ext cx="5143500" cy="619200"/>
            <a:chOff x="0" y="0"/>
            <a:chExt cx="5143500" cy="619200"/>
          </a:xfrm>
        </p:grpSpPr>
        <p:sp>
          <p:nvSpPr>
            <p:cNvPr id="737" name="Google Shape;737;p34"/>
            <p:cNvSpPr/>
            <p:nvPr/>
          </p:nvSpPr>
          <p:spPr>
            <a:xfrm>
              <a:off x="0" y="19050"/>
              <a:ext cx="304800" cy="304800"/>
            </a:xfrm>
            <a:prstGeom prst="roundRect">
              <a:avLst>
                <a:gd fmla="val 1875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4"/>
            <p:cNvSpPr txBox="1"/>
            <p:nvPr/>
          </p:nvSpPr>
          <p:spPr>
            <a:xfrm>
              <a:off x="0" y="1905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03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39" name="Google Shape;739;p34"/>
            <p:cNvSpPr txBox="1"/>
            <p:nvPr/>
          </p:nvSpPr>
          <p:spPr>
            <a:xfrm>
              <a:off x="457200" y="0"/>
              <a:ext cx="46863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95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Capacity Validation:</a:t>
              </a:r>
              <a:r>
                <a:rPr b="0" lang="en" sz="1295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Check disk space using </a:t>
              </a:r>
              <a:r>
                <a:rPr b="0" lang="en" sz="1064">
                  <a:solidFill>
                    <a:srgbClr val="045A36"/>
                  </a:solidFill>
                  <a:highlight>
                    <a:srgbClr val="F1F5F9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shutil.disk_usage()</a:t>
              </a:r>
              <a:r>
                <a:rPr b="0" lang="en" sz="1295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before starting to ensure sufficient capacity.</a:t>
              </a:r>
              <a:endParaRPr b="0" sz="1295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40" name="Google Shape;740;p34"/>
          <p:cNvGrpSpPr/>
          <p:nvPr/>
        </p:nvGrpSpPr>
        <p:grpSpPr>
          <a:xfrm>
            <a:off x="762000" y="3667125"/>
            <a:ext cx="5143500" cy="619200"/>
            <a:chOff x="0" y="0"/>
            <a:chExt cx="5143500" cy="619200"/>
          </a:xfrm>
        </p:grpSpPr>
        <p:sp>
          <p:nvSpPr>
            <p:cNvPr id="741" name="Google Shape;741;p34"/>
            <p:cNvSpPr/>
            <p:nvPr/>
          </p:nvSpPr>
          <p:spPr>
            <a:xfrm>
              <a:off x="0" y="19050"/>
              <a:ext cx="304800" cy="304800"/>
            </a:xfrm>
            <a:prstGeom prst="roundRect">
              <a:avLst>
                <a:gd fmla="val 1875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4"/>
            <p:cNvSpPr txBox="1"/>
            <p:nvPr/>
          </p:nvSpPr>
          <p:spPr>
            <a:xfrm>
              <a:off x="0" y="1905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04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43" name="Google Shape;743;p34"/>
            <p:cNvSpPr txBox="1"/>
            <p:nvPr/>
          </p:nvSpPr>
          <p:spPr>
            <a:xfrm>
              <a:off x="457200" y="0"/>
              <a:ext cx="46863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Archive Creation:</a:t>
              </a:r>
              <a:r>
                <a:rPr b="0" lang="en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Compress the target directory into the specified format using </a:t>
              </a:r>
              <a:r>
                <a:rPr b="0" lang="en" sz="1150">
                  <a:solidFill>
                    <a:srgbClr val="045A36"/>
                  </a:solidFill>
                  <a:highlight>
                    <a:srgbClr val="F1F5F9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shutil.make_archive()</a:t>
              </a:r>
              <a:r>
                <a:rPr b="0" lang="en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4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44" name="Google Shape;744;p34"/>
          <p:cNvGrpSpPr/>
          <p:nvPr/>
        </p:nvGrpSpPr>
        <p:grpSpPr>
          <a:xfrm>
            <a:off x="762000" y="4429125"/>
            <a:ext cx="5143500" cy="809700"/>
            <a:chOff x="0" y="0"/>
            <a:chExt cx="5143500" cy="809700"/>
          </a:xfrm>
        </p:grpSpPr>
        <p:sp>
          <p:nvSpPr>
            <p:cNvPr id="745" name="Google Shape;745;p34"/>
            <p:cNvSpPr/>
            <p:nvPr/>
          </p:nvSpPr>
          <p:spPr>
            <a:xfrm>
              <a:off x="0" y="19050"/>
              <a:ext cx="304800" cy="304800"/>
            </a:xfrm>
            <a:prstGeom prst="roundRect">
              <a:avLst>
                <a:gd fmla="val 1875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4"/>
            <p:cNvSpPr txBox="1"/>
            <p:nvPr/>
          </p:nvSpPr>
          <p:spPr>
            <a:xfrm>
              <a:off x="0" y="1905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05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47" name="Google Shape;747;p34"/>
            <p:cNvSpPr txBox="1"/>
            <p:nvPr/>
          </p:nvSpPr>
          <p:spPr>
            <a:xfrm>
              <a:off x="457200" y="0"/>
              <a:ext cx="46863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Storage Pruning:</a:t>
              </a:r>
              <a:r>
                <a:rPr b="0" lang="en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Maintain only the 5 most recent archives using sorted lists and remove older ones with </a:t>
              </a:r>
              <a:r>
                <a:rPr b="0" lang="en" sz="1150">
                  <a:solidFill>
                    <a:srgbClr val="045A36"/>
                  </a:solidFill>
                  <a:highlight>
                    <a:srgbClr val="F1F5F9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os.remove</a:t>
              </a:r>
              <a:r>
                <a:rPr b="0" lang="en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or </a:t>
              </a:r>
              <a:r>
                <a:rPr b="0" lang="en" sz="1150">
                  <a:solidFill>
                    <a:srgbClr val="045A36"/>
                  </a:solidFill>
                  <a:highlight>
                    <a:srgbClr val="F1F5F9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shutil.rmtree</a:t>
              </a:r>
              <a:r>
                <a:rPr b="0" lang="en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4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48" name="Google Shape;748;p34"/>
          <p:cNvGrpSpPr/>
          <p:nvPr/>
        </p:nvGrpSpPr>
        <p:grpSpPr>
          <a:xfrm>
            <a:off x="6286500" y="1428750"/>
            <a:ext cx="5143500" cy="1047900"/>
            <a:chOff x="0" y="0"/>
            <a:chExt cx="5143500" cy="1047900"/>
          </a:xfrm>
        </p:grpSpPr>
        <p:sp>
          <p:nvSpPr>
            <p:cNvPr id="749" name="Google Shape;749;p34"/>
            <p:cNvSpPr/>
            <p:nvPr/>
          </p:nvSpPr>
          <p:spPr>
            <a:xfrm>
              <a:off x="0" y="0"/>
              <a:ext cx="5143500" cy="1047900"/>
            </a:xfrm>
            <a:prstGeom prst="roundRect">
              <a:avLst>
                <a:gd fmla="val 5454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4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33333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4"/>
            <p:cNvSpPr txBox="1"/>
            <p:nvPr/>
          </p:nvSpPr>
          <p:spPr>
            <a:xfrm>
              <a:off x="228600" y="152400"/>
              <a:ext cx="46863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Target Deployment Scenario</a:t>
              </a:r>
              <a:endParaRPr b="1" sz="119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48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Designed to run as a reliable daily cron job or task-scheduler style script, operating autonomously in headless environments.</a:t>
              </a:r>
              <a:endParaRPr b="0" sz="1148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52" name="Google Shape;752;p34"/>
          <p:cNvGrpSpPr/>
          <p:nvPr/>
        </p:nvGrpSpPr>
        <p:grpSpPr>
          <a:xfrm>
            <a:off x="6286500" y="2667000"/>
            <a:ext cx="5143500" cy="2238300"/>
            <a:chOff x="0" y="0"/>
            <a:chExt cx="5143500" cy="2238300"/>
          </a:xfrm>
        </p:grpSpPr>
        <p:sp>
          <p:nvSpPr>
            <p:cNvPr id="753" name="Google Shape;753;p34"/>
            <p:cNvSpPr/>
            <p:nvPr/>
          </p:nvSpPr>
          <p:spPr>
            <a:xfrm>
              <a:off x="0" y="0"/>
              <a:ext cx="5143500" cy="2238300"/>
            </a:xfrm>
            <a:prstGeom prst="roundRect">
              <a:avLst>
                <a:gd fmla="val 3404" name="adj"/>
              </a:avLst>
            </a:prstGeom>
            <a:solidFill>
              <a:srgbClr val="FFFFFF"/>
            </a:solidFill>
            <a:ln cap="flat" cmpd="sng" w="19050">
              <a:solidFill>
                <a:srgbClr val="D4A01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54" name="Google Shape;754;p34"/>
            <p:cNvGrpSpPr/>
            <p:nvPr/>
          </p:nvGrpSpPr>
          <p:grpSpPr>
            <a:xfrm>
              <a:off x="247650" y="247650"/>
              <a:ext cx="304800" cy="362805"/>
              <a:chOff x="19050" y="19050"/>
              <a:chExt cx="304800" cy="362805"/>
            </a:xfrm>
          </p:grpSpPr>
          <p:sp>
            <p:nvSpPr>
              <p:cNvPr id="755" name="Google Shape;755;p34"/>
              <p:cNvSpPr/>
              <p:nvPr/>
            </p:nvSpPr>
            <p:spPr>
              <a:xfrm>
                <a:off x="19050" y="19050"/>
                <a:ext cx="304800" cy="2859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34"/>
              <p:cNvSpPr txBox="1"/>
              <p:nvPr/>
            </p:nvSpPr>
            <p:spPr>
              <a:xfrm>
                <a:off x="124358" y="135255"/>
                <a:ext cx="94200" cy="24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FFFFFF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!</a:t>
                </a:r>
                <a:endParaRPr b="0" sz="1200">
                  <a:solidFill>
                    <a:srgbClr val="FFFFFF"/>
                  </a:solidFill>
                  <a:latin typeface="Inter Black"/>
                  <a:ea typeface="Inter Black"/>
                  <a:cs typeface="Inter Black"/>
                  <a:sym typeface="Inter Black"/>
                </a:endParaRPr>
              </a:p>
            </p:txBody>
          </p:sp>
        </p:grpSp>
        <p:sp>
          <p:nvSpPr>
            <p:cNvPr id="757" name="Google Shape;757;p34"/>
            <p:cNvSpPr txBox="1"/>
            <p:nvPr/>
          </p:nvSpPr>
          <p:spPr>
            <a:xfrm>
              <a:off x="762000" y="190500"/>
              <a:ext cx="41529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5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Resource-Aware Safety Strategy</a:t>
              </a:r>
              <a:endParaRPr b="0" sz="145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This script actively manages system storage to prevent host volume exhaustion, checking disk capacity before archive initialization.</a:t>
              </a:r>
              <a:endParaRPr b="0" sz="13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Guarantees continuous data safety while actively pruning outdated archive histories.</a:t>
              </a:r>
              <a:endParaRPr b="1" sz="135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35"/>
          <p:cNvPicPr preferRelativeResize="0"/>
          <p:nvPr/>
        </p:nvPicPr>
        <p:blipFill rotWithShape="1">
          <a:blip r:embed="rId4">
            <a:alphaModFix/>
          </a:blip>
          <a:srcRect b="466" l="10" r="0" t="466"/>
          <a:stretch/>
        </p:blipFill>
        <p:spPr>
          <a:xfrm>
            <a:off x="10287000" y="5457825"/>
            <a:ext cx="1524000" cy="1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35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5"/>
          <p:cNvSpPr txBox="1"/>
          <p:nvPr/>
        </p:nvSpPr>
        <p:spPr>
          <a:xfrm>
            <a:off x="762000" y="304800"/>
            <a:ext cx="9525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Automation Example: Temporary File Cleanup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65" name="Google Shape;765;p35"/>
          <p:cNvSpPr txBox="1"/>
          <p:nvPr/>
        </p:nvSpPr>
        <p:spPr>
          <a:xfrm>
            <a:off x="762000" y="809625"/>
            <a:ext cx="9525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rPr>
              <a:t>Practical Walk-Through</a:t>
            </a:r>
            <a:endParaRPr b="1" sz="1100">
              <a:solidFill>
                <a:srgbClr val="D4A01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6" name="Google Shape;766;p35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5"/>
          <p:cNvSpPr txBox="1"/>
          <p:nvPr/>
        </p:nvSpPr>
        <p:spPr>
          <a:xfrm>
            <a:off x="762000" y="1181100"/>
            <a:ext cx="10668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rPr>
              <a:t>Scenario:</a:t>
            </a:r>
            <a:r>
              <a:rPr b="0" lang="en" sz="1250">
                <a:solidFill>
                  <a:srgbClr val="6B728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Safe cleanup utility for temp/cache files.</a:t>
            </a:r>
            <a:endParaRPr b="0" sz="1250">
              <a:solidFill>
                <a:srgbClr val="6B728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768" name="Google Shape;768;p35"/>
          <p:cNvGrpSpPr/>
          <p:nvPr/>
        </p:nvGrpSpPr>
        <p:grpSpPr>
          <a:xfrm>
            <a:off x="762000" y="1524000"/>
            <a:ext cx="4953150" cy="3191025"/>
            <a:chOff x="762000" y="1524000"/>
            <a:chExt cx="4953150" cy="3191025"/>
          </a:xfrm>
        </p:grpSpPr>
        <p:sp>
          <p:nvSpPr>
            <p:cNvPr id="769" name="Google Shape;769;p35"/>
            <p:cNvSpPr txBox="1"/>
            <p:nvPr/>
          </p:nvSpPr>
          <p:spPr>
            <a:xfrm>
              <a:off x="762000" y="1524000"/>
              <a:ext cx="4953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Safety Concept &amp; Age Evaluation</a:t>
              </a:r>
              <a:endParaRPr b="1" sz="15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70" name="Google Shape;770;p35"/>
            <p:cNvGrpSpPr/>
            <p:nvPr/>
          </p:nvGrpSpPr>
          <p:grpSpPr>
            <a:xfrm>
              <a:off x="762000" y="1952625"/>
              <a:ext cx="4953150" cy="476400"/>
              <a:chOff x="0" y="0"/>
              <a:chExt cx="4953150" cy="476400"/>
            </a:xfrm>
          </p:grpSpPr>
          <p:grpSp>
            <p:nvGrpSpPr>
              <p:cNvPr id="771" name="Google Shape;771;p35"/>
              <p:cNvGrpSpPr/>
              <p:nvPr/>
            </p:nvGrpSpPr>
            <p:grpSpPr>
              <a:xfrm>
                <a:off x="0" y="42863"/>
                <a:ext cx="190500" cy="190500"/>
                <a:chOff x="0" y="4763"/>
                <a:chExt cx="190500" cy="190500"/>
              </a:xfrm>
            </p:grpSpPr>
            <p:sp>
              <p:nvSpPr>
                <p:cNvPr id="772" name="Google Shape;772;p35"/>
                <p:cNvSpPr/>
                <p:nvPr/>
              </p:nvSpPr>
              <p:spPr>
                <a:xfrm>
                  <a:off x="0" y="4763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3" name="Google Shape;773;p35"/>
                <p:cNvSpPr/>
                <p:nvPr/>
              </p:nvSpPr>
              <p:spPr>
                <a:xfrm>
                  <a:off x="57150" y="80963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8000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8FAF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74" name="Google Shape;774;p35"/>
              <p:cNvSpPr txBox="1"/>
              <p:nvPr/>
            </p:nvSpPr>
            <p:spPr>
              <a:xfrm>
                <a:off x="285750" y="0"/>
                <a:ext cx="4667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Identify Targets:</a:t>
                </a: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Locate temporary directories and cache files (e.g., </a:t>
                </a:r>
                <a:r>
                  <a:rPr b="0" lang="en" sz="1050">
                    <a:solidFill>
                      <a:srgbClr val="045A36"/>
                    </a:solidFill>
                    <a:highlight>
                      <a:srgbClr val="F1F5F9"/>
                    </a:highlight>
                    <a:latin typeface="Roboto Mono"/>
                    <a:ea typeface="Roboto Mono"/>
                    <a:cs typeface="Roboto Mono"/>
                    <a:sym typeface="Roboto Mono"/>
                  </a:rPr>
                  <a:t>__pycache__</a:t>
                </a: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, </a:t>
                </a:r>
                <a:r>
                  <a:rPr b="0" lang="en" sz="1050">
                    <a:solidFill>
                      <a:srgbClr val="045A36"/>
                    </a:solidFill>
                    <a:highlight>
                      <a:srgbClr val="F1F5F9"/>
                    </a:highlight>
                    <a:latin typeface="Roboto Mono"/>
                    <a:ea typeface="Roboto Mono"/>
                    <a:cs typeface="Roboto Mono"/>
                    <a:sym typeface="Roboto Mono"/>
                  </a:rPr>
                  <a:t>build</a:t>
                </a: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, </a:t>
                </a:r>
                <a:r>
                  <a:rPr b="0" lang="en" sz="1050">
                    <a:solidFill>
                      <a:srgbClr val="045A36"/>
                    </a:solidFill>
                    <a:highlight>
                      <a:srgbClr val="F1F5F9"/>
                    </a:highlight>
                    <a:latin typeface="Roboto Mono"/>
                    <a:ea typeface="Roboto Mono"/>
                    <a:cs typeface="Roboto Mono"/>
                    <a:sym typeface="Roboto Mono"/>
                  </a:rPr>
                  <a:t>.pytest_cache</a:t>
                </a: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).</a:t>
                </a:r>
                <a:endParaRPr b="0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75" name="Google Shape;775;p35"/>
            <p:cNvGrpSpPr/>
            <p:nvPr/>
          </p:nvGrpSpPr>
          <p:grpSpPr>
            <a:xfrm>
              <a:off x="762000" y="2524125"/>
              <a:ext cx="4953150" cy="476400"/>
              <a:chOff x="0" y="0"/>
              <a:chExt cx="4953150" cy="476400"/>
            </a:xfrm>
          </p:grpSpPr>
          <p:grpSp>
            <p:nvGrpSpPr>
              <p:cNvPr id="776" name="Google Shape;776;p35"/>
              <p:cNvGrpSpPr/>
              <p:nvPr/>
            </p:nvGrpSpPr>
            <p:grpSpPr>
              <a:xfrm>
                <a:off x="0" y="42863"/>
                <a:ext cx="190500" cy="190500"/>
                <a:chOff x="0" y="4763"/>
                <a:chExt cx="190500" cy="190500"/>
              </a:xfrm>
            </p:grpSpPr>
            <p:sp>
              <p:nvSpPr>
                <p:cNvPr id="777" name="Google Shape;777;p35"/>
                <p:cNvSpPr/>
                <p:nvPr/>
              </p:nvSpPr>
              <p:spPr>
                <a:xfrm>
                  <a:off x="0" y="4763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8" name="Google Shape;778;p35"/>
                <p:cNvSpPr/>
                <p:nvPr/>
              </p:nvSpPr>
              <p:spPr>
                <a:xfrm>
                  <a:off x="57150" y="80963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8000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8FAF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79" name="Google Shape;779;p35"/>
              <p:cNvSpPr txBox="1"/>
              <p:nvPr/>
            </p:nvSpPr>
            <p:spPr>
              <a:xfrm>
                <a:off x="285750" y="0"/>
                <a:ext cx="4667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Filter by Age:</a:t>
                </a: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Evaluate file modification time via </a:t>
                </a:r>
                <a:r>
                  <a:rPr b="0" lang="en" sz="1050">
                    <a:solidFill>
                      <a:srgbClr val="045A36"/>
                    </a:solidFill>
                    <a:highlight>
                      <a:srgbClr val="F1F5F9"/>
                    </a:highlight>
                    <a:latin typeface="Roboto Mono"/>
                    <a:ea typeface="Roboto Mono"/>
                    <a:cs typeface="Roboto Mono"/>
                    <a:sym typeface="Roboto Mono"/>
                  </a:rPr>
                  <a:t>path.stat().st_mtime</a:t>
                </a: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to filter files older than 7 days.</a:t>
                </a:r>
                <a:endParaRPr b="0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80" name="Google Shape;780;p35"/>
            <p:cNvGrpSpPr/>
            <p:nvPr/>
          </p:nvGrpSpPr>
          <p:grpSpPr>
            <a:xfrm>
              <a:off x="762000" y="3095625"/>
              <a:ext cx="4953150" cy="476400"/>
              <a:chOff x="0" y="0"/>
              <a:chExt cx="4953150" cy="476400"/>
            </a:xfrm>
          </p:grpSpPr>
          <p:grpSp>
            <p:nvGrpSpPr>
              <p:cNvPr id="781" name="Google Shape;781;p35"/>
              <p:cNvGrpSpPr/>
              <p:nvPr/>
            </p:nvGrpSpPr>
            <p:grpSpPr>
              <a:xfrm>
                <a:off x="0" y="42863"/>
                <a:ext cx="190500" cy="190500"/>
                <a:chOff x="0" y="4763"/>
                <a:chExt cx="190500" cy="190500"/>
              </a:xfrm>
            </p:grpSpPr>
            <p:sp>
              <p:nvSpPr>
                <p:cNvPr id="782" name="Google Shape;782;p35"/>
                <p:cNvSpPr/>
                <p:nvPr/>
              </p:nvSpPr>
              <p:spPr>
                <a:xfrm>
                  <a:off x="0" y="4763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3" name="Google Shape;783;p35"/>
                <p:cNvSpPr/>
                <p:nvPr/>
              </p:nvSpPr>
              <p:spPr>
                <a:xfrm>
                  <a:off x="57150" y="80963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8000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8FAF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84" name="Google Shape;784;p35"/>
              <p:cNvSpPr txBox="1"/>
              <p:nvPr/>
            </p:nvSpPr>
            <p:spPr>
              <a:xfrm>
                <a:off x="285750" y="0"/>
                <a:ext cx="4667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Dry-Run Safeguard:</a:t>
                </a: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Performs a safe simulation by printing target directories first without executing actual removals.</a:t>
                </a:r>
                <a:endParaRPr b="0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85" name="Google Shape;785;p35"/>
            <p:cNvGrpSpPr/>
            <p:nvPr/>
          </p:nvGrpSpPr>
          <p:grpSpPr>
            <a:xfrm>
              <a:off x="762000" y="3667125"/>
              <a:ext cx="4953000" cy="1047900"/>
              <a:chOff x="0" y="0"/>
              <a:chExt cx="4953000" cy="1047900"/>
            </a:xfrm>
          </p:grpSpPr>
          <p:sp>
            <p:nvSpPr>
              <p:cNvPr id="786" name="Google Shape;786;p35"/>
              <p:cNvSpPr/>
              <p:nvPr/>
            </p:nvSpPr>
            <p:spPr>
              <a:xfrm>
                <a:off x="0" y="0"/>
                <a:ext cx="4953000" cy="1047900"/>
              </a:xfrm>
              <a:prstGeom prst="roundRect">
                <a:avLst>
                  <a:gd fmla="val 3636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35"/>
              <p:cNvSpPr/>
              <p:nvPr/>
            </p:nvSpPr>
            <p:spPr>
              <a:xfrm>
                <a:off x="0" y="0"/>
                <a:ext cx="57300" cy="1047900"/>
              </a:xfrm>
              <a:prstGeom prst="roundRect">
                <a:avLst>
                  <a:gd fmla="val 33333" name="adj"/>
                </a:avLst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35"/>
              <p:cNvSpPr txBox="1"/>
              <p:nvPr/>
            </p:nvSpPr>
            <p:spPr>
              <a:xfrm>
                <a:off x="238125" y="142875"/>
                <a:ext cx="45720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0B7A4B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if</a:t>
                </a:r>
                <a:r>
                  <a:rPr b="0" lang="en" sz="1050">
                    <a:solidFill>
                      <a:srgbClr val="1F293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dry_run:</a:t>
                </a:r>
                <a:endParaRPr b="0" sz="10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1F293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print(</a:t>
                </a:r>
                <a:r>
                  <a:rPr b="0" lang="en" sz="1050">
                    <a:solidFill>
                      <a:srgbClr val="D4A01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f"Would delete: {path}"</a:t>
                </a:r>
                <a:r>
                  <a:rPr b="0" lang="en" sz="1050">
                    <a:solidFill>
                      <a:srgbClr val="1F293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)</a:t>
                </a:r>
                <a:endParaRPr b="0" sz="10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0B7A4B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else</a:t>
                </a:r>
                <a:r>
                  <a:rPr b="0" lang="en" sz="1050">
                    <a:solidFill>
                      <a:srgbClr val="1F293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:</a:t>
                </a:r>
                <a:endParaRPr b="0" sz="10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1F293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shutil.rmtree(path)</a:t>
                </a:r>
                <a:endParaRPr b="0" sz="105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  <p:grpSp>
        <p:nvGrpSpPr>
          <p:cNvPr id="789" name="Google Shape;789;p35"/>
          <p:cNvGrpSpPr/>
          <p:nvPr/>
        </p:nvGrpSpPr>
        <p:grpSpPr>
          <a:xfrm>
            <a:off x="6477000" y="1524000"/>
            <a:ext cx="4953150" cy="3190725"/>
            <a:chOff x="6477000" y="1524000"/>
            <a:chExt cx="4953150" cy="3190725"/>
          </a:xfrm>
        </p:grpSpPr>
        <p:sp>
          <p:nvSpPr>
            <p:cNvPr id="790" name="Google Shape;790;p35"/>
            <p:cNvSpPr txBox="1"/>
            <p:nvPr/>
          </p:nvSpPr>
          <p:spPr>
            <a:xfrm>
              <a:off x="6477000" y="1524000"/>
              <a:ext cx="4953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Removal &amp; Logging Execution</a:t>
              </a:r>
              <a:endParaRPr b="1" sz="15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91" name="Google Shape;791;p35"/>
            <p:cNvGrpSpPr/>
            <p:nvPr/>
          </p:nvGrpSpPr>
          <p:grpSpPr>
            <a:xfrm>
              <a:off x="6477000" y="1952625"/>
              <a:ext cx="4953150" cy="476400"/>
              <a:chOff x="0" y="0"/>
              <a:chExt cx="4953150" cy="476400"/>
            </a:xfrm>
          </p:grpSpPr>
          <p:grpSp>
            <p:nvGrpSpPr>
              <p:cNvPr id="792" name="Google Shape;792;p35"/>
              <p:cNvGrpSpPr/>
              <p:nvPr/>
            </p:nvGrpSpPr>
            <p:grpSpPr>
              <a:xfrm>
                <a:off x="0" y="42863"/>
                <a:ext cx="190500" cy="190500"/>
                <a:chOff x="0" y="4763"/>
                <a:chExt cx="190500" cy="190500"/>
              </a:xfrm>
            </p:grpSpPr>
            <p:sp>
              <p:nvSpPr>
                <p:cNvPr id="793" name="Google Shape;793;p35"/>
                <p:cNvSpPr/>
                <p:nvPr/>
              </p:nvSpPr>
              <p:spPr>
                <a:xfrm>
                  <a:off x="0" y="4763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4" name="Google Shape;794;p35"/>
                <p:cNvSpPr/>
                <p:nvPr/>
              </p:nvSpPr>
              <p:spPr>
                <a:xfrm>
                  <a:off x="57150" y="80963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8000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8FAF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95" name="Google Shape;795;p35"/>
              <p:cNvSpPr txBox="1"/>
              <p:nvPr/>
            </p:nvSpPr>
            <p:spPr>
              <a:xfrm>
                <a:off x="285750" y="0"/>
                <a:ext cx="4667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Exception-Safe Deletion:</a:t>
                </a: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Use </a:t>
                </a:r>
                <a:r>
                  <a:rPr b="0" lang="en" sz="1050">
                    <a:solidFill>
                      <a:srgbClr val="045A36"/>
                    </a:solidFill>
                    <a:highlight>
                      <a:srgbClr val="F1F5F9"/>
                    </a:highlight>
                    <a:latin typeface="Roboto Mono"/>
                    <a:ea typeface="Roboto Mono"/>
                    <a:cs typeface="Roboto Mono"/>
                    <a:sym typeface="Roboto Mono"/>
                  </a:rPr>
                  <a:t>shutil.rmtree()</a:t>
                </a: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inside a robust `try-except` block to gracefully bypass locked files.</a:t>
                </a:r>
                <a:endParaRPr b="0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96" name="Google Shape;796;p35"/>
            <p:cNvGrpSpPr/>
            <p:nvPr/>
          </p:nvGrpSpPr>
          <p:grpSpPr>
            <a:xfrm>
              <a:off x="6477000" y="2524125"/>
              <a:ext cx="4953150" cy="476400"/>
              <a:chOff x="0" y="0"/>
              <a:chExt cx="4953150" cy="476400"/>
            </a:xfrm>
          </p:grpSpPr>
          <p:grpSp>
            <p:nvGrpSpPr>
              <p:cNvPr id="797" name="Google Shape;797;p35"/>
              <p:cNvGrpSpPr/>
              <p:nvPr/>
            </p:nvGrpSpPr>
            <p:grpSpPr>
              <a:xfrm>
                <a:off x="0" y="42863"/>
                <a:ext cx="190500" cy="190500"/>
                <a:chOff x="0" y="4763"/>
                <a:chExt cx="190500" cy="190500"/>
              </a:xfrm>
            </p:grpSpPr>
            <p:sp>
              <p:nvSpPr>
                <p:cNvPr id="798" name="Google Shape;798;p35"/>
                <p:cNvSpPr/>
                <p:nvPr/>
              </p:nvSpPr>
              <p:spPr>
                <a:xfrm>
                  <a:off x="0" y="4763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9" name="Google Shape;799;p35"/>
                <p:cNvSpPr/>
                <p:nvPr/>
              </p:nvSpPr>
              <p:spPr>
                <a:xfrm>
                  <a:off x="57150" y="80963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8000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8FAF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00" name="Google Shape;800;p35"/>
              <p:cNvSpPr txBox="1"/>
              <p:nvPr/>
            </p:nvSpPr>
            <p:spPr>
              <a:xfrm>
                <a:off x="285750" y="0"/>
                <a:ext cx="4667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Storage Analytics:</a:t>
                </a: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Calculate directory sizes dynamically and log the total deleted storage space in Megabytes (MB).</a:t>
                </a:r>
                <a:endParaRPr b="0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01" name="Google Shape;801;p35"/>
            <p:cNvGrpSpPr/>
            <p:nvPr/>
          </p:nvGrpSpPr>
          <p:grpSpPr>
            <a:xfrm>
              <a:off x="6477000" y="3095625"/>
              <a:ext cx="4953000" cy="1619100"/>
              <a:chOff x="0" y="0"/>
              <a:chExt cx="4953000" cy="1619100"/>
            </a:xfrm>
          </p:grpSpPr>
          <p:sp>
            <p:nvSpPr>
              <p:cNvPr id="802" name="Google Shape;802;p35"/>
              <p:cNvSpPr/>
              <p:nvPr/>
            </p:nvSpPr>
            <p:spPr>
              <a:xfrm>
                <a:off x="0" y="0"/>
                <a:ext cx="4953000" cy="1619100"/>
              </a:xfrm>
              <a:prstGeom prst="roundRect">
                <a:avLst>
                  <a:gd fmla="val 3529" name="adj"/>
                </a:avLst>
              </a:prstGeom>
              <a:solidFill>
                <a:srgbClr val="1F29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35"/>
              <p:cNvSpPr/>
              <p:nvPr/>
            </p:nvSpPr>
            <p:spPr>
              <a:xfrm>
                <a:off x="0" y="0"/>
                <a:ext cx="57300" cy="1619100"/>
              </a:xfrm>
              <a:prstGeom prst="roundRect">
                <a:avLst>
                  <a:gd fmla="val 33333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35"/>
              <p:cNvSpPr txBox="1"/>
              <p:nvPr/>
            </p:nvSpPr>
            <p:spPr>
              <a:xfrm>
                <a:off x="238125" y="142875"/>
                <a:ext cx="45720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D4A01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try</a:t>
                </a:r>
                <a:r>
                  <a:rPr b="0" lang="en" sz="1050">
                    <a:solidFill>
                      <a:srgbClr val="F8FAFC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:</a:t>
                </a:r>
                <a:endParaRPr b="0" sz="105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F8FAFC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shutil.rmtree(target_path)</a:t>
                </a:r>
                <a:endParaRPr b="0" sz="105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F8FAFC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logger.info(</a:t>
                </a:r>
                <a:r>
                  <a:rPr b="0" lang="en" sz="1050">
                    <a:solidFill>
                      <a:srgbClr val="0B7A4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f"Reclaimed {size_mb:.1f} MB"</a:t>
                </a:r>
                <a:r>
                  <a:rPr b="0" lang="en" sz="1050">
                    <a:solidFill>
                      <a:srgbClr val="F8FAFC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)</a:t>
                </a:r>
                <a:endParaRPr b="0" sz="105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D4A01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except</a:t>
                </a:r>
                <a:r>
                  <a:rPr b="0" lang="en" sz="1050">
                    <a:solidFill>
                      <a:srgbClr val="F8FAFC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</a:t>
                </a:r>
                <a:r>
                  <a:rPr b="0" lang="en" sz="1050">
                    <a:solidFill>
                      <a:srgbClr val="F8FAFC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OSError</a:t>
                </a:r>
                <a:r>
                  <a:rPr b="0" lang="en" sz="1050">
                    <a:solidFill>
                      <a:srgbClr val="F8FAFC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</a:t>
                </a:r>
                <a:r>
                  <a:rPr b="0" lang="en" sz="1050">
                    <a:solidFill>
                      <a:srgbClr val="D4A01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as</a:t>
                </a:r>
                <a:r>
                  <a:rPr b="0" lang="en" sz="1050">
                    <a:solidFill>
                      <a:srgbClr val="F8FAFC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err:</a:t>
                </a:r>
                <a:endParaRPr b="0" sz="105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F8FAFC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logger.warning(</a:t>
                </a:r>
                <a:r>
                  <a:rPr b="0" lang="en" sz="1050">
                    <a:solidFill>
                      <a:srgbClr val="0B7A4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f"Locked: {err}"</a:t>
                </a:r>
                <a:r>
                  <a:rPr b="0" lang="en" sz="1050">
                    <a:solidFill>
                      <a:srgbClr val="F8FAFC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)</a:t>
                </a:r>
                <a:endParaRPr b="0" sz="105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  <p:grpSp>
        <p:nvGrpSpPr>
          <p:cNvPr id="805" name="Google Shape;805;p35"/>
          <p:cNvGrpSpPr/>
          <p:nvPr/>
        </p:nvGrpSpPr>
        <p:grpSpPr>
          <a:xfrm>
            <a:off x="762000" y="4838700"/>
            <a:ext cx="10668000" cy="590700"/>
            <a:chOff x="0" y="0"/>
            <a:chExt cx="10668000" cy="590700"/>
          </a:xfrm>
        </p:grpSpPr>
        <p:sp>
          <p:nvSpPr>
            <p:cNvPr id="806" name="Google Shape;806;p35"/>
            <p:cNvSpPr/>
            <p:nvPr/>
          </p:nvSpPr>
          <p:spPr>
            <a:xfrm>
              <a:off x="0" y="0"/>
              <a:ext cx="10668000" cy="590700"/>
            </a:xfrm>
            <a:prstGeom prst="roundRect">
              <a:avLst>
                <a:gd fmla="val 9677" name="adj"/>
              </a:avLst>
            </a:prstGeom>
            <a:solidFill>
              <a:srgbClr val="FFFFFF"/>
            </a:solidFill>
            <a:ln cap="flat" cmpd="sng" w="14300">
              <a:solidFill>
                <a:srgbClr val="D4A01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07" name="Google Shape;807;p35"/>
            <p:cNvGrpSpPr/>
            <p:nvPr/>
          </p:nvGrpSpPr>
          <p:grpSpPr>
            <a:xfrm>
              <a:off x="219075" y="180975"/>
              <a:ext cx="228600" cy="228600"/>
              <a:chOff x="28575" y="28575"/>
              <a:chExt cx="228600" cy="228600"/>
            </a:xfrm>
          </p:grpSpPr>
          <p:sp>
            <p:nvSpPr>
              <p:cNvPr id="808" name="Google Shape;808;p35"/>
              <p:cNvSpPr/>
              <p:nvPr/>
            </p:nvSpPr>
            <p:spPr>
              <a:xfrm>
                <a:off x="28575" y="28575"/>
                <a:ext cx="228600" cy="228600"/>
              </a:xfrm>
              <a:prstGeom prst="ellipse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09" name="Google Shape;809;p35"/>
              <p:cNvCxnSpPr/>
              <p:nvPr/>
            </p:nvCxnSpPr>
            <p:spPr>
              <a:xfrm>
                <a:off x="142875" y="133350"/>
                <a:ext cx="0" cy="57300"/>
              </a:xfrm>
              <a:prstGeom prst="straightConnector1">
                <a:avLst/>
              </a:prstGeom>
              <a:solidFill>
                <a:srgbClr val="FFFFFF"/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10" name="Google Shape;810;p35"/>
              <p:cNvSpPr/>
              <p:nvPr/>
            </p:nvSpPr>
            <p:spPr>
              <a:xfrm>
                <a:off x="128588" y="80963"/>
                <a:ext cx="28500" cy="285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11" name="Google Shape;811;p35"/>
            <p:cNvSpPr txBox="1"/>
            <p:nvPr/>
          </p:nvSpPr>
          <p:spPr>
            <a:xfrm>
              <a:off x="571500" y="0"/>
              <a:ext cx="99060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Takeaway: </a:t>
              </a: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This script demonstrates robust, safe filesystem deletion practices combined with precise directory metadata evaluation.</a:t>
              </a:r>
              <a:endParaRPr b="0" sz="12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812" name="Google Shape;812;p35"/>
          <p:cNvSpPr txBox="1"/>
          <p:nvPr/>
        </p:nvSpPr>
        <p:spPr>
          <a:xfrm>
            <a:off x="762000" y="61341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shutil Module: File and Folder Automation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36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6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36"/>
          <p:cNvSpPr txBox="1"/>
          <p:nvPr/>
        </p:nvSpPr>
        <p:spPr>
          <a:xfrm>
            <a:off x="762000" y="361950"/>
            <a:ext cx="10668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Combining shutil with Other Python Modules</a:t>
            </a:r>
            <a:endParaRPr b="0" sz="25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50">
                <a:solidFill>
                  <a:srgbClr val="D4A01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Building Comprehensive Tooling</a:t>
            </a:r>
            <a:endParaRPr b="0" sz="1250">
              <a:solidFill>
                <a:srgbClr val="D4A01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820" name="Google Shape;820;p36"/>
          <p:cNvGrpSpPr/>
          <p:nvPr/>
        </p:nvGrpSpPr>
        <p:grpSpPr>
          <a:xfrm>
            <a:off x="762000" y="1381125"/>
            <a:ext cx="10668000" cy="666900"/>
            <a:chOff x="762000" y="1381125"/>
            <a:chExt cx="10668000" cy="666900"/>
          </a:xfrm>
        </p:grpSpPr>
        <p:sp>
          <p:nvSpPr>
            <p:cNvPr id="821" name="Google Shape;821;p36"/>
            <p:cNvSpPr/>
            <p:nvPr/>
          </p:nvSpPr>
          <p:spPr>
            <a:xfrm>
              <a:off x="762000" y="1381125"/>
              <a:ext cx="10668000" cy="6669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6"/>
            <p:cNvSpPr/>
            <p:nvPr/>
          </p:nvSpPr>
          <p:spPr>
            <a:xfrm>
              <a:off x="762000" y="1381125"/>
              <a:ext cx="57300" cy="6669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3" name="Google Shape;823;p36"/>
            <p:cNvGrpSpPr/>
            <p:nvPr/>
          </p:nvGrpSpPr>
          <p:grpSpPr>
            <a:xfrm>
              <a:off x="952500" y="1600200"/>
              <a:ext cx="228600" cy="228600"/>
              <a:chOff x="0" y="0"/>
              <a:chExt cx="228600" cy="228600"/>
            </a:xfrm>
          </p:grpSpPr>
          <p:sp>
            <p:nvSpPr>
              <p:cNvPr id="824" name="Google Shape;824;p36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36"/>
              <p:cNvSpPr/>
              <p:nvPr/>
            </p:nvSpPr>
            <p:spPr>
              <a:xfrm>
                <a:off x="76200" y="85725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26" name="Google Shape;826;p36"/>
            <p:cNvSpPr txBox="1"/>
            <p:nvPr/>
          </p:nvSpPr>
          <p:spPr>
            <a:xfrm>
              <a:off x="1381125" y="1381125"/>
              <a:ext cx="2000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shutil + os</a:t>
              </a:r>
              <a:endParaRPr b="1" sz="1350">
                <a:solidFill>
                  <a:srgbClr val="045A3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cxnSp>
          <p:nvCxnSpPr>
            <p:cNvPr id="827" name="Google Shape;827;p36"/>
            <p:cNvCxnSpPr/>
            <p:nvPr/>
          </p:nvCxnSpPr>
          <p:spPr>
            <a:xfrm>
              <a:off x="3524250" y="1524000"/>
              <a:ext cx="0" cy="3810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28" name="Google Shape;828;p36"/>
            <p:cNvSpPr txBox="1"/>
            <p:nvPr/>
          </p:nvSpPr>
          <p:spPr>
            <a:xfrm>
              <a:off x="3714750" y="1381125"/>
              <a:ext cx="6762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Execute shell commands, manage environment variables, and change working directories around file operations.</a:t>
              </a:r>
              <a:endParaRPr b="0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29" name="Google Shape;829;p36"/>
          <p:cNvGrpSpPr/>
          <p:nvPr/>
        </p:nvGrpSpPr>
        <p:grpSpPr>
          <a:xfrm>
            <a:off x="762000" y="2190750"/>
            <a:ext cx="10668000" cy="666900"/>
            <a:chOff x="762000" y="1381125"/>
            <a:chExt cx="10668000" cy="666900"/>
          </a:xfrm>
        </p:grpSpPr>
        <p:sp>
          <p:nvSpPr>
            <p:cNvPr id="830" name="Google Shape;830;p36"/>
            <p:cNvSpPr/>
            <p:nvPr/>
          </p:nvSpPr>
          <p:spPr>
            <a:xfrm>
              <a:off x="762000" y="1381125"/>
              <a:ext cx="10668000" cy="6669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6"/>
            <p:cNvSpPr/>
            <p:nvPr/>
          </p:nvSpPr>
          <p:spPr>
            <a:xfrm>
              <a:off x="762000" y="1381125"/>
              <a:ext cx="57300" cy="6669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32" name="Google Shape;832;p36"/>
            <p:cNvGrpSpPr/>
            <p:nvPr/>
          </p:nvGrpSpPr>
          <p:grpSpPr>
            <a:xfrm>
              <a:off x="952500" y="1600200"/>
              <a:ext cx="228600" cy="228600"/>
              <a:chOff x="0" y="0"/>
              <a:chExt cx="228600" cy="228600"/>
            </a:xfrm>
          </p:grpSpPr>
          <p:sp>
            <p:nvSpPr>
              <p:cNvPr id="833" name="Google Shape;833;p36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36"/>
              <p:cNvSpPr/>
              <p:nvPr/>
            </p:nvSpPr>
            <p:spPr>
              <a:xfrm>
                <a:off x="76200" y="85725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35" name="Google Shape;835;p36"/>
            <p:cNvSpPr txBox="1"/>
            <p:nvPr/>
          </p:nvSpPr>
          <p:spPr>
            <a:xfrm>
              <a:off x="1381125" y="1381125"/>
              <a:ext cx="2000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shutil + pathlib</a:t>
              </a:r>
              <a:endParaRPr b="1" sz="1350">
                <a:solidFill>
                  <a:srgbClr val="045A3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cxnSp>
          <p:nvCxnSpPr>
            <p:cNvPr id="836" name="Google Shape;836;p36"/>
            <p:cNvCxnSpPr/>
            <p:nvPr/>
          </p:nvCxnSpPr>
          <p:spPr>
            <a:xfrm>
              <a:off x="3524250" y="1524000"/>
              <a:ext cx="0" cy="3810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37" name="Google Shape;837;p36"/>
            <p:cNvSpPr txBox="1"/>
            <p:nvPr/>
          </p:nvSpPr>
          <p:spPr>
            <a:xfrm>
              <a:off x="3714750" y="1381125"/>
              <a:ext cx="6762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Achieve elegant, clean path handling and efficient directory scanning.</a:t>
              </a:r>
              <a:endParaRPr b="0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38" name="Google Shape;838;p36"/>
          <p:cNvGrpSpPr/>
          <p:nvPr/>
        </p:nvGrpSpPr>
        <p:grpSpPr>
          <a:xfrm>
            <a:off x="762000" y="3000375"/>
            <a:ext cx="10668000" cy="666900"/>
            <a:chOff x="762000" y="1381125"/>
            <a:chExt cx="10668000" cy="666900"/>
          </a:xfrm>
        </p:grpSpPr>
        <p:sp>
          <p:nvSpPr>
            <p:cNvPr id="839" name="Google Shape;839;p36"/>
            <p:cNvSpPr/>
            <p:nvPr/>
          </p:nvSpPr>
          <p:spPr>
            <a:xfrm>
              <a:off x="762000" y="1381125"/>
              <a:ext cx="10668000" cy="6669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6"/>
            <p:cNvSpPr/>
            <p:nvPr/>
          </p:nvSpPr>
          <p:spPr>
            <a:xfrm>
              <a:off x="762000" y="1381125"/>
              <a:ext cx="57300" cy="6669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41" name="Google Shape;841;p36"/>
            <p:cNvGrpSpPr/>
            <p:nvPr/>
          </p:nvGrpSpPr>
          <p:grpSpPr>
            <a:xfrm>
              <a:off x="952500" y="1600200"/>
              <a:ext cx="228600" cy="228600"/>
              <a:chOff x="0" y="0"/>
              <a:chExt cx="228600" cy="228600"/>
            </a:xfrm>
          </p:grpSpPr>
          <p:sp>
            <p:nvSpPr>
              <p:cNvPr id="842" name="Google Shape;842;p36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36"/>
              <p:cNvSpPr/>
              <p:nvPr/>
            </p:nvSpPr>
            <p:spPr>
              <a:xfrm>
                <a:off x="76200" y="85725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44" name="Google Shape;844;p36"/>
            <p:cNvSpPr txBox="1"/>
            <p:nvPr/>
          </p:nvSpPr>
          <p:spPr>
            <a:xfrm>
              <a:off x="1381125" y="1381125"/>
              <a:ext cx="2000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shutil + datetime</a:t>
              </a:r>
              <a:endParaRPr b="1" sz="1350">
                <a:solidFill>
                  <a:srgbClr val="045A3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cxnSp>
          <p:nvCxnSpPr>
            <p:cNvPr id="845" name="Google Shape;845;p36"/>
            <p:cNvCxnSpPr/>
            <p:nvPr/>
          </p:nvCxnSpPr>
          <p:spPr>
            <a:xfrm>
              <a:off x="3524250" y="1524000"/>
              <a:ext cx="0" cy="3810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46" name="Google Shape;846;p36"/>
            <p:cNvSpPr txBox="1"/>
            <p:nvPr/>
          </p:nvSpPr>
          <p:spPr>
            <a:xfrm>
              <a:off x="3714750" y="1381125"/>
              <a:ext cx="6762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Append highly readable timestamps to files and archive names for version control.</a:t>
              </a:r>
              <a:endParaRPr b="0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47" name="Google Shape;847;p36"/>
          <p:cNvGrpSpPr/>
          <p:nvPr/>
        </p:nvGrpSpPr>
        <p:grpSpPr>
          <a:xfrm>
            <a:off x="762000" y="3810000"/>
            <a:ext cx="10668000" cy="666900"/>
            <a:chOff x="762000" y="1381125"/>
            <a:chExt cx="10668000" cy="666900"/>
          </a:xfrm>
        </p:grpSpPr>
        <p:sp>
          <p:nvSpPr>
            <p:cNvPr id="848" name="Google Shape;848;p36"/>
            <p:cNvSpPr/>
            <p:nvPr/>
          </p:nvSpPr>
          <p:spPr>
            <a:xfrm>
              <a:off x="762000" y="1381125"/>
              <a:ext cx="10668000" cy="6669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36"/>
            <p:cNvSpPr/>
            <p:nvPr/>
          </p:nvSpPr>
          <p:spPr>
            <a:xfrm>
              <a:off x="762000" y="1381125"/>
              <a:ext cx="57300" cy="6669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50" name="Google Shape;850;p36"/>
            <p:cNvGrpSpPr/>
            <p:nvPr/>
          </p:nvGrpSpPr>
          <p:grpSpPr>
            <a:xfrm>
              <a:off x="952500" y="1600200"/>
              <a:ext cx="228600" cy="228600"/>
              <a:chOff x="0" y="0"/>
              <a:chExt cx="228600" cy="228600"/>
            </a:xfrm>
          </p:grpSpPr>
          <p:sp>
            <p:nvSpPr>
              <p:cNvPr id="851" name="Google Shape;851;p36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36"/>
              <p:cNvSpPr/>
              <p:nvPr/>
            </p:nvSpPr>
            <p:spPr>
              <a:xfrm>
                <a:off x="76200" y="85725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53" name="Google Shape;853;p36"/>
            <p:cNvSpPr txBox="1"/>
            <p:nvPr/>
          </p:nvSpPr>
          <p:spPr>
            <a:xfrm>
              <a:off x="1381125" y="1381125"/>
              <a:ext cx="2000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shutil + logging</a:t>
              </a:r>
              <a:endParaRPr b="1" sz="1350">
                <a:solidFill>
                  <a:srgbClr val="045A3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cxnSp>
          <p:nvCxnSpPr>
            <p:cNvPr id="854" name="Google Shape;854;p36"/>
            <p:cNvCxnSpPr/>
            <p:nvPr/>
          </p:nvCxnSpPr>
          <p:spPr>
            <a:xfrm>
              <a:off x="3524250" y="1524000"/>
              <a:ext cx="0" cy="3810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5" name="Google Shape;855;p36"/>
            <p:cNvSpPr txBox="1"/>
            <p:nvPr/>
          </p:nvSpPr>
          <p:spPr>
            <a:xfrm>
              <a:off x="3714750" y="1381125"/>
              <a:ext cx="6762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Generate clean, structured audit logs for automated tasks, essential for debugging unattended scripts.</a:t>
              </a:r>
              <a:endParaRPr b="0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56" name="Google Shape;856;p36"/>
          <p:cNvGrpSpPr/>
          <p:nvPr/>
        </p:nvGrpSpPr>
        <p:grpSpPr>
          <a:xfrm>
            <a:off x="762000" y="4619625"/>
            <a:ext cx="10668000" cy="666900"/>
            <a:chOff x="762000" y="1381125"/>
            <a:chExt cx="10668000" cy="666900"/>
          </a:xfrm>
        </p:grpSpPr>
        <p:sp>
          <p:nvSpPr>
            <p:cNvPr id="857" name="Google Shape;857;p36"/>
            <p:cNvSpPr/>
            <p:nvPr/>
          </p:nvSpPr>
          <p:spPr>
            <a:xfrm>
              <a:off x="762000" y="1381125"/>
              <a:ext cx="10668000" cy="6669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36"/>
            <p:cNvSpPr/>
            <p:nvPr/>
          </p:nvSpPr>
          <p:spPr>
            <a:xfrm>
              <a:off x="762000" y="1381125"/>
              <a:ext cx="57300" cy="6669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59" name="Google Shape;859;p36"/>
            <p:cNvGrpSpPr/>
            <p:nvPr/>
          </p:nvGrpSpPr>
          <p:grpSpPr>
            <a:xfrm>
              <a:off x="952500" y="1600200"/>
              <a:ext cx="228600" cy="228600"/>
              <a:chOff x="0" y="0"/>
              <a:chExt cx="228600" cy="228600"/>
            </a:xfrm>
          </p:grpSpPr>
          <p:sp>
            <p:nvSpPr>
              <p:cNvPr id="860" name="Google Shape;860;p36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36"/>
              <p:cNvSpPr/>
              <p:nvPr/>
            </p:nvSpPr>
            <p:spPr>
              <a:xfrm>
                <a:off x="76200" y="85725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62" name="Google Shape;862;p36"/>
            <p:cNvSpPr txBox="1"/>
            <p:nvPr/>
          </p:nvSpPr>
          <p:spPr>
            <a:xfrm>
              <a:off x="1381125" y="1381125"/>
              <a:ext cx="2000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45A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shutil + schedule</a:t>
              </a:r>
              <a:endParaRPr b="1" sz="1350">
                <a:solidFill>
                  <a:srgbClr val="045A3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cxnSp>
          <p:nvCxnSpPr>
            <p:cNvPr id="863" name="Google Shape;863;p36"/>
            <p:cNvCxnSpPr/>
            <p:nvPr/>
          </p:nvCxnSpPr>
          <p:spPr>
            <a:xfrm>
              <a:off x="3524250" y="1524000"/>
              <a:ext cx="0" cy="3810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64" name="Google Shape;864;p36"/>
            <p:cNvSpPr txBox="1"/>
            <p:nvPr/>
          </p:nvSpPr>
          <p:spPr>
            <a:xfrm>
              <a:off x="3714750" y="1381125"/>
              <a:ext cx="6762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Create an active background daemon to run cleanup or backup tasks hourly or daily without external cron jobs.</a:t>
              </a:r>
              <a:endParaRPr b="0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865" name="Google Shape;865;p36"/>
          <p:cNvPicPr preferRelativeResize="0"/>
          <p:nvPr/>
        </p:nvPicPr>
        <p:blipFill rotWithShape="1">
          <a:blip r:embed="rId4">
            <a:alphaModFix/>
          </a:blip>
          <a:srcRect b="0" l="10" r="0" t="0"/>
          <a:stretch/>
        </p:blipFill>
        <p:spPr>
          <a:xfrm>
            <a:off x="10287000" y="5457825"/>
            <a:ext cx="1524000" cy="10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36"/>
          <p:cNvSpPr txBox="1"/>
          <p:nvPr/>
        </p:nvSpPr>
        <p:spPr>
          <a:xfrm>
            <a:off x="762000" y="61341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shutil Module | File and Folder Automation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37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7"/>
          <p:cNvSpPr txBox="1"/>
          <p:nvPr/>
        </p:nvSpPr>
        <p:spPr>
          <a:xfrm>
            <a:off x="762000" y="61341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shutil Module: File and Folder Automation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4" name="Google Shape;874;p37"/>
          <p:cNvSpPr/>
          <p:nvPr>
            <p:ph idx="2" type="pic"/>
          </p:nvPr>
        </p:nvSpPr>
        <p:spPr>
          <a:xfrm>
            <a:off x="10287000" y="5457825"/>
            <a:ext cx="1524000" cy="1019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875" name="Google Shape;875;p37"/>
          <p:cNvGrpSpPr/>
          <p:nvPr/>
        </p:nvGrpSpPr>
        <p:grpSpPr>
          <a:xfrm>
            <a:off x="762000" y="457200"/>
            <a:ext cx="10668000" cy="657300"/>
            <a:chOff x="0" y="0"/>
            <a:chExt cx="10668000" cy="657300"/>
          </a:xfrm>
        </p:grpSpPr>
        <p:sp>
          <p:nvSpPr>
            <p:cNvPr id="876" name="Google Shape;876;p37"/>
            <p:cNvSpPr txBox="1"/>
            <p:nvPr/>
          </p:nvSpPr>
          <p:spPr>
            <a:xfrm>
              <a:off x="0" y="0"/>
              <a:ext cx="10668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Mini Project: Smart File Management Automation</a:t>
              </a:r>
              <a:endParaRPr b="1" sz="24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77" name="Google Shape;877;p37"/>
            <p:cNvSpPr txBox="1"/>
            <p:nvPr/>
          </p:nvSpPr>
          <p:spPr>
            <a:xfrm>
              <a:off x="0" y="419100"/>
              <a:ext cx="10668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D4A01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Bringing It All Together</a:t>
              </a:r>
              <a:endParaRPr b="0" sz="1150">
                <a:solidFill>
                  <a:srgbClr val="D4A01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878" name="Google Shape;878;p37"/>
          <p:cNvSpPr/>
          <p:nvPr/>
        </p:nvSpPr>
        <p:spPr>
          <a:xfrm>
            <a:off x="762000" y="121920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9" name="Google Shape;879;p37"/>
          <p:cNvGrpSpPr/>
          <p:nvPr/>
        </p:nvGrpSpPr>
        <p:grpSpPr>
          <a:xfrm>
            <a:off x="762000" y="1352550"/>
            <a:ext cx="10668000" cy="285900"/>
            <a:chOff x="0" y="0"/>
            <a:chExt cx="10668000" cy="285900"/>
          </a:xfrm>
        </p:grpSpPr>
        <p:sp>
          <p:nvSpPr>
            <p:cNvPr id="880" name="Google Shape;880;p37"/>
            <p:cNvSpPr/>
            <p:nvPr/>
          </p:nvSpPr>
          <p:spPr>
            <a:xfrm>
              <a:off x="0" y="0"/>
              <a:ext cx="10668000" cy="285900"/>
            </a:xfrm>
            <a:prstGeom prst="roundRect">
              <a:avLst>
                <a:gd fmla="val 13333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7"/>
            <p:cNvSpPr txBox="1"/>
            <p:nvPr/>
          </p:nvSpPr>
          <p:spPr>
            <a:xfrm>
              <a:off x="190500" y="0"/>
              <a:ext cx="476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STATUS</a:t>
              </a:r>
              <a:endParaRPr b="1" sz="8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82" name="Google Shape;882;p37"/>
            <p:cNvSpPr txBox="1"/>
            <p:nvPr/>
          </p:nvSpPr>
          <p:spPr>
            <a:xfrm>
              <a:off x="666750" y="0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PHASE / FEATURE</a:t>
              </a:r>
              <a:endParaRPr b="1" sz="8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83" name="Google Shape;883;p37"/>
            <p:cNvSpPr txBox="1"/>
            <p:nvPr/>
          </p:nvSpPr>
          <p:spPr>
            <a:xfrm>
              <a:off x="2667000" y="0"/>
              <a:ext cx="476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FUNCTIONAL SPECIFICATION</a:t>
              </a:r>
              <a:endParaRPr b="1" sz="8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84" name="Google Shape;884;p37"/>
            <p:cNvSpPr txBox="1"/>
            <p:nvPr/>
          </p:nvSpPr>
          <p:spPr>
            <a:xfrm>
              <a:off x="7620000" y="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CORE TECHNICAL LOGIC</a:t>
              </a:r>
              <a:endParaRPr b="1" sz="8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85" name="Google Shape;885;p37"/>
          <p:cNvGrpSpPr/>
          <p:nvPr/>
        </p:nvGrpSpPr>
        <p:grpSpPr>
          <a:xfrm>
            <a:off x="762000" y="1714500"/>
            <a:ext cx="10668000" cy="647700"/>
            <a:chOff x="0" y="0"/>
            <a:chExt cx="10668000" cy="647700"/>
          </a:xfrm>
        </p:grpSpPr>
        <p:sp>
          <p:nvSpPr>
            <p:cNvPr id="886" name="Google Shape;886;p37"/>
            <p:cNvSpPr/>
            <p:nvPr/>
          </p:nvSpPr>
          <p:spPr>
            <a:xfrm>
              <a:off x="0" y="0"/>
              <a:ext cx="10668000" cy="647700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7"/>
            <p:cNvSpPr/>
            <p:nvPr/>
          </p:nvSpPr>
          <p:spPr>
            <a:xfrm>
              <a:off x="0" y="0"/>
              <a:ext cx="57300" cy="647700"/>
            </a:xfrm>
            <a:prstGeom prst="roundRect">
              <a:avLst>
                <a:gd fmla="val 33333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88" name="Google Shape;888;p37"/>
            <p:cNvGrpSpPr/>
            <p:nvPr/>
          </p:nvGrpSpPr>
          <p:grpSpPr>
            <a:xfrm>
              <a:off x="190500" y="233363"/>
              <a:ext cx="190500" cy="190500"/>
              <a:chOff x="0" y="4763"/>
              <a:chExt cx="190500" cy="190500"/>
            </a:xfrm>
          </p:grpSpPr>
          <p:sp>
            <p:nvSpPr>
              <p:cNvPr id="889" name="Google Shape;889;p37"/>
              <p:cNvSpPr/>
              <p:nvPr/>
            </p:nvSpPr>
            <p:spPr>
              <a:xfrm>
                <a:off x="0" y="4763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37"/>
              <p:cNvSpPr/>
              <p:nvPr/>
            </p:nvSpPr>
            <p:spPr>
              <a:xfrm>
                <a:off x="57150" y="80975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7987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91" name="Google Shape;891;p37"/>
            <p:cNvSpPr txBox="1"/>
            <p:nvPr/>
          </p:nvSpPr>
          <p:spPr>
            <a:xfrm>
              <a:off x="666750" y="0"/>
              <a:ext cx="1905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 | Monitor &amp; Scan</a:t>
              </a:r>
              <a:endParaRPr b="1" sz="11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2" name="Google Shape;892;p37"/>
            <p:cNvSpPr txBox="1"/>
            <p:nvPr/>
          </p:nvSpPr>
          <p:spPr>
            <a:xfrm>
              <a:off x="2667000" y="0"/>
              <a:ext cx="47625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Monitor/Scan:</a:t>
              </a:r>
              <a:r>
                <a:rPr b="0" lang="en" sz="10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Target a specific folder on startup.</a:t>
              </a:r>
              <a:endParaRPr b="0" sz="10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93" name="Google Shape;893;p37"/>
            <p:cNvSpPr/>
            <p:nvPr/>
          </p:nvSpPr>
          <p:spPr>
            <a:xfrm>
              <a:off x="7620000" y="95250"/>
              <a:ext cx="2857500" cy="457200"/>
            </a:xfrm>
            <a:prstGeom prst="roundRect">
              <a:avLst>
                <a:gd fmla="val 8333" name="adj"/>
              </a:avLst>
            </a:prstGeom>
            <a:solidFill>
              <a:srgbClr val="1F29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37"/>
            <p:cNvSpPr/>
            <p:nvPr/>
          </p:nvSpPr>
          <p:spPr>
            <a:xfrm>
              <a:off x="7620000" y="95250"/>
              <a:ext cx="38100" cy="4572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7"/>
            <p:cNvSpPr txBox="1"/>
            <p:nvPr/>
          </p:nvSpPr>
          <p:spPr>
            <a:xfrm>
              <a:off x="7762875" y="95250"/>
              <a:ext cx="2619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import</a:t>
              </a:r>
              <a:r>
                <a:rPr lang="en" sz="850"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lang="en" sz="85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os</a:t>
              </a:r>
              <a:br>
                <a:rPr lang="en" sz="850"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850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os.path.isdir(target_folder)</a:t>
              </a:r>
              <a:endParaRPr sz="85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896" name="Google Shape;896;p37"/>
          <p:cNvGrpSpPr/>
          <p:nvPr/>
        </p:nvGrpSpPr>
        <p:grpSpPr>
          <a:xfrm>
            <a:off x="762000" y="2438400"/>
            <a:ext cx="10668000" cy="647700"/>
            <a:chOff x="0" y="0"/>
            <a:chExt cx="10668000" cy="647700"/>
          </a:xfrm>
        </p:grpSpPr>
        <p:sp>
          <p:nvSpPr>
            <p:cNvPr id="897" name="Google Shape;897;p37"/>
            <p:cNvSpPr/>
            <p:nvPr/>
          </p:nvSpPr>
          <p:spPr>
            <a:xfrm>
              <a:off x="0" y="0"/>
              <a:ext cx="10668000" cy="647700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7"/>
            <p:cNvSpPr/>
            <p:nvPr/>
          </p:nvSpPr>
          <p:spPr>
            <a:xfrm>
              <a:off x="0" y="0"/>
              <a:ext cx="57300" cy="647700"/>
            </a:xfrm>
            <a:prstGeom prst="roundRect">
              <a:avLst>
                <a:gd fmla="val 33333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99" name="Google Shape;899;p37"/>
            <p:cNvGrpSpPr/>
            <p:nvPr/>
          </p:nvGrpSpPr>
          <p:grpSpPr>
            <a:xfrm>
              <a:off x="190500" y="233363"/>
              <a:ext cx="190500" cy="190500"/>
              <a:chOff x="0" y="4763"/>
              <a:chExt cx="190500" cy="190500"/>
            </a:xfrm>
          </p:grpSpPr>
          <p:sp>
            <p:nvSpPr>
              <p:cNvPr id="900" name="Google Shape;900;p37"/>
              <p:cNvSpPr/>
              <p:nvPr/>
            </p:nvSpPr>
            <p:spPr>
              <a:xfrm>
                <a:off x="0" y="4763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37"/>
              <p:cNvSpPr/>
              <p:nvPr/>
            </p:nvSpPr>
            <p:spPr>
              <a:xfrm>
                <a:off x="57150" y="80975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7987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02" name="Google Shape;902;p37"/>
            <p:cNvSpPr txBox="1"/>
            <p:nvPr/>
          </p:nvSpPr>
          <p:spPr>
            <a:xfrm>
              <a:off x="666750" y="0"/>
              <a:ext cx="1905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 | Pre-Op Backup</a:t>
              </a:r>
              <a:endParaRPr b="1" sz="11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03" name="Google Shape;903;p37"/>
            <p:cNvSpPr txBox="1"/>
            <p:nvPr/>
          </p:nvSpPr>
          <p:spPr>
            <a:xfrm>
              <a:off x="2667000" y="0"/>
              <a:ext cx="47625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1428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Pre-operation Backup:</a:t>
              </a:r>
              <a:r>
                <a:rPr b="0" lang="en" sz="10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Create a compressed backup of the target folder before making any changes using </a:t>
              </a:r>
              <a:r>
                <a:rPr b="0" lang="en" sz="900">
                  <a:solidFill>
                    <a:srgbClr val="045A36"/>
                  </a:solidFill>
                  <a:highlight>
                    <a:srgbClr val="F1F5F9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make_archive</a:t>
              </a:r>
              <a:r>
                <a:rPr b="0" lang="en" sz="10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04" name="Google Shape;904;p37"/>
            <p:cNvSpPr/>
            <p:nvPr/>
          </p:nvSpPr>
          <p:spPr>
            <a:xfrm>
              <a:off x="7620000" y="95250"/>
              <a:ext cx="2857500" cy="457200"/>
            </a:xfrm>
            <a:prstGeom prst="roundRect">
              <a:avLst>
                <a:gd fmla="val 8333" name="adj"/>
              </a:avLst>
            </a:prstGeom>
            <a:solidFill>
              <a:srgbClr val="1F29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7"/>
            <p:cNvSpPr/>
            <p:nvPr/>
          </p:nvSpPr>
          <p:spPr>
            <a:xfrm>
              <a:off x="7620000" y="95250"/>
              <a:ext cx="38100" cy="4572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7"/>
            <p:cNvSpPr txBox="1"/>
            <p:nvPr/>
          </p:nvSpPr>
          <p:spPr>
            <a:xfrm>
              <a:off x="7762875" y="95250"/>
              <a:ext cx="2619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import</a:t>
              </a:r>
              <a:r>
                <a:rPr lang="en" sz="850"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lang="en" sz="85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shutil</a:t>
              </a:r>
              <a:br>
                <a:rPr lang="en" sz="850"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850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shutil.make_archive(zip_name, 'zip')</a:t>
              </a:r>
              <a:endParaRPr sz="85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907" name="Google Shape;907;p37"/>
          <p:cNvGrpSpPr/>
          <p:nvPr/>
        </p:nvGrpSpPr>
        <p:grpSpPr>
          <a:xfrm>
            <a:off x="762000" y="3162300"/>
            <a:ext cx="10668000" cy="647700"/>
            <a:chOff x="0" y="0"/>
            <a:chExt cx="10668000" cy="647700"/>
          </a:xfrm>
        </p:grpSpPr>
        <p:sp>
          <p:nvSpPr>
            <p:cNvPr id="908" name="Google Shape;908;p37"/>
            <p:cNvSpPr/>
            <p:nvPr/>
          </p:nvSpPr>
          <p:spPr>
            <a:xfrm>
              <a:off x="0" y="0"/>
              <a:ext cx="10668000" cy="647700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7"/>
            <p:cNvSpPr/>
            <p:nvPr/>
          </p:nvSpPr>
          <p:spPr>
            <a:xfrm>
              <a:off x="0" y="0"/>
              <a:ext cx="57300" cy="647700"/>
            </a:xfrm>
            <a:prstGeom prst="roundRect">
              <a:avLst>
                <a:gd fmla="val 33333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10" name="Google Shape;910;p37"/>
            <p:cNvGrpSpPr/>
            <p:nvPr/>
          </p:nvGrpSpPr>
          <p:grpSpPr>
            <a:xfrm>
              <a:off x="190500" y="233363"/>
              <a:ext cx="190500" cy="190500"/>
              <a:chOff x="0" y="4763"/>
              <a:chExt cx="190500" cy="190500"/>
            </a:xfrm>
          </p:grpSpPr>
          <p:sp>
            <p:nvSpPr>
              <p:cNvPr id="911" name="Google Shape;911;p37"/>
              <p:cNvSpPr/>
              <p:nvPr/>
            </p:nvSpPr>
            <p:spPr>
              <a:xfrm>
                <a:off x="0" y="4763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37"/>
              <p:cNvSpPr/>
              <p:nvPr/>
            </p:nvSpPr>
            <p:spPr>
              <a:xfrm>
                <a:off x="57150" y="80975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7987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13" name="Google Shape;913;p37"/>
            <p:cNvSpPr txBox="1"/>
            <p:nvPr/>
          </p:nvSpPr>
          <p:spPr>
            <a:xfrm>
              <a:off x="666750" y="0"/>
              <a:ext cx="1905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 | Execution</a:t>
              </a:r>
              <a:endParaRPr b="1" sz="11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14" name="Google Shape;914;p37"/>
            <p:cNvSpPr txBox="1"/>
            <p:nvPr/>
          </p:nvSpPr>
          <p:spPr>
            <a:xfrm>
              <a:off x="2667000" y="0"/>
              <a:ext cx="47625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Execution:</a:t>
              </a:r>
              <a:r>
                <a:rPr b="0" lang="en" sz="10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Run a file categorization routine on the target folder.</a:t>
              </a:r>
              <a:endParaRPr b="0" sz="10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15" name="Google Shape;915;p37"/>
            <p:cNvSpPr/>
            <p:nvPr/>
          </p:nvSpPr>
          <p:spPr>
            <a:xfrm>
              <a:off x="7620000" y="95250"/>
              <a:ext cx="2857500" cy="457200"/>
            </a:xfrm>
            <a:prstGeom prst="roundRect">
              <a:avLst>
                <a:gd fmla="val 8333" name="adj"/>
              </a:avLst>
            </a:prstGeom>
            <a:solidFill>
              <a:srgbClr val="1F29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7"/>
            <p:cNvSpPr/>
            <p:nvPr/>
          </p:nvSpPr>
          <p:spPr>
            <a:xfrm>
              <a:off x="7620000" y="95250"/>
              <a:ext cx="38100" cy="4572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7"/>
            <p:cNvSpPr txBox="1"/>
            <p:nvPr/>
          </p:nvSpPr>
          <p:spPr>
            <a:xfrm>
              <a:off x="7762875" y="95250"/>
              <a:ext cx="2619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for</a:t>
              </a:r>
              <a:r>
                <a:rPr lang="en" sz="850"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lang="en" sz="85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file</a:t>
              </a:r>
              <a:r>
                <a:rPr lang="en" sz="850"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lang="en" sz="850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in</a:t>
              </a:r>
              <a:r>
                <a:rPr lang="en" sz="850"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lang="en" sz="85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files:</a:t>
              </a:r>
              <a:br>
                <a:rPr lang="en" sz="850"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850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shutil.move(file, dest_dir)</a:t>
              </a:r>
              <a:endParaRPr sz="85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918" name="Google Shape;918;p37"/>
          <p:cNvGrpSpPr/>
          <p:nvPr/>
        </p:nvGrpSpPr>
        <p:grpSpPr>
          <a:xfrm>
            <a:off x="762000" y="3886200"/>
            <a:ext cx="10668000" cy="647700"/>
            <a:chOff x="0" y="0"/>
            <a:chExt cx="10668000" cy="647700"/>
          </a:xfrm>
        </p:grpSpPr>
        <p:sp>
          <p:nvSpPr>
            <p:cNvPr id="919" name="Google Shape;919;p37"/>
            <p:cNvSpPr/>
            <p:nvPr/>
          </p:nvSpPr>
          <p:spPr>
            <a:xfrm>
              <a:off x="0" y="0"/>
              <a:ext cx="10668000" cy="647700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7"/>
            <p:cNvSpPr/>
            <p:nvPr/>
          </p:nvSpPr>
          <p:spPr>
            <a:xfrm>
              <a:off x="0" y="0"/>
              <a:ext cx="57300" cy="647700"/>
            </a:xfrm>
            <a:prstGeom prst="roundRect">
              <a:avLst>
                <a:gd fmla="val 33333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21" name="Google Shape;921;p37"/>
            <p:cNvGrpSpPr/>
            <p:nvPr/>
          </p:nvGrpSpPr>
          <p:grpSpPr>
            <a:xfrm>
              <a:off x="190500" y="233363"/>
              <a:ext cx="190500" cy="190500"/>
              <a:chOff x="0" y="4763"/>
              <a:chExt cx="190500" cy="190500"/>
            </a:xfrm>
          </p:grpSpPr>
          <p:sp>
            <p:nvSpPr>
              <p:cNvPr id="922" name="Google Shape;922;p37"/>
              <p:cNvSpPr/>
              <p:nvPr/>
            </p:nvSpPr>
            <p:spPr>
              <a:xfrm>
                <a:off x="0" y="4763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37"/>
              <p:cNvSpPr/>
              <p:nvPr/>
            </p:nvSpPr>
            <p:spPr>
              <a:xfrm>
                <a:off x="57150" y="80975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7987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24" name="Google Shape;924;p37"/>
            <p:cNvSpPr txBox="1"/>
            <p:nvPr/>
          </p:nvSpPr>
          <p:spPr>
            <a:xfrm>
              <a:off x="666750" y="0"/>
              <a:ext cx="1905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04 | Reporting</a:t>
              </a:r>
              <a:endParaRPr b="1" sz="11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5" name="Google Shape;925;p37"/>
            <p:cNvSpPr txBox="1"/>
            <p:nvPr/>
          </p:nvSpPr>
          <p:spPr>
            <a:xfrm>
              <a:off x="2667000" y="0"/>
              <a:ext cx="47625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1428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Reporting:</a:t>
              </a:r>
              <a:r>
                <a:rPr b="0" lang="en" sz="10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Output a formatted, detailed log file summarizing total files moved, space freed, and any skipped files due to </a:t>
              </a:r>
              <a:r>
                <a:rPr b="0" lang="en" sz="900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PermissionError</a:t>
              </a:r>
              <a:r>
                <a:rPr b="0" lang="en" sz="10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26" name="Google Shape;926;p37"/>
            <p:cNvSpPr/>
            <p:nvPr/>
          </p:nvSpPr>
          <p:spPr>
            <a:xfrm>
              <a:off x="7620000" y="95250"/>
              <a:ext cx="2857500" cy="457200"/>
            </a:xfrm>
            <a:prstGeom prst="roundRect">
              <a:avLst>
                <a:gd fmla="val 8333" name="adj"/>
              </a:avLst>
            </a:prstGeom>
            <a:solidFill>
              <a:srgbClr val="1F29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7"/>
            <p:cNvSpPr/>
            <p:nvPr/>
          </p:nvSpPr>
          <p:spPr>
            <a:xfrm>
              <a:off x="7620000" y="95250"/>
              <a:ext cx="38100" cy="4572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7"/>
            <p:cNvSpPr txBox="1"/>
            <p:nvPr/>
          </p:nvSpPr>
          <p:spPr>
            <a:xfrm>
              <a:off x="7762875" y="95250"/>
              <a:ext cx="2619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except</a:t>
              </a:r>
              <a:r>
                <a:rPr lang="en" sz="850"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lang="en" sz="85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PermissionError:</a:t>
              </a:r>
              <a:br>
                <a:rPr lang="en" sz="850"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850">
                  <a:solidFill>
                    <a:srgbClr val="0B7A4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log_skipped(file)</a:t>
              </a:r>
              <a:endParaRPr sz="85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929" name="Google Shape;929;p37"/>
          <p:cNvGrpSpPr/>
          <p:nvPr/>
        </p:nvGrpSpPr>
        <p:grpSpPr>
          <a:xfrm>
            <a:off x="762000" y="4610100"/>
            <a:ext cx="10668000" cy="647700"/>
            <a:chOff x="0" y="0"/>
            <a:chExt cx="10668000" cy="647700"/>
          </a:xfrm>
        </p:grpSpPr>
        <p:sp>
          <p:nvSpPr>
            <p:cNvPr id="930" name="Google Shape;930;p37"/>
            <p:cNvSpPr/>
            <p:nvPr/>
          </p:nvSpPr>
          <p:spPr>
            <a:xfrm>
              <a:off x="0" y="0"/>
              <a:ext cx="10668000" cy="647700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7"/>
            <p:cNvSpPr/>
            <p:nvPr/>
          </p:nvSpPr>
          <p:spPr>
            <a:xfrm>
              <a:off x="0" y="0"/>
              <a:ext cx="57300" cy="647700"/>
            </a:xfrm>
            <a:prstGeom prst="roundRect">
              <a:avLst>
                <a:gd fmla="val 33333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32" name="Google Shape;932;p37"/>
            <p:cNvGrpSpPr/>
            <p:nvPr/>
          </p:nvGrpSpPr>
          <p:grpSpPr>
            <a:xfrm>
              <a:off x="190500" y="233363"/>
              <a:ext cx="190500" cy="190500"/>
              <a:chOff x="0" y="4763"/>
              <a:chExt cx="190500" cy="190500"/>
            </a:xfrm>
          </p:grpSpPr>
          <p:sp>
            <p:nvSpPr>
              <p:cNvPr id="933" name="Google Shape;933;p37"/>
              <p:cNvSpPr/>
              <p:nvPr/>
            </p:nvSpPr>
            <p:spPr>
              <a:xfrm>
                <a:off x="0" y="4763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4" name="Google Shape;934;p37"/>
              <p:cNvSpPr/>
              <p:nvPr/>
            </p:nvSpPr>
            <p:spPr>
              <a:xfrm>
                <a:off x="57150" y="80975"/>
                <a:ext cx="76200" cy="47700"/>
              </a:xfrm>
              <a:custGeom>
                <a:rect b="b" l="l" r="r" t="t"/>
                <a:pathLst>
                  <a:path extrusionOk="0" h="120000" w="120000">
                    <a:moveTo>
                      <a:pt x="0" y="47987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8FA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35" name="Google Shape;935;p37"/>
            <p:cNvSpPr txBox="1"/>
            <p:nvPr/>
          </p:nvSpPr>
          <p:spPr>
            <a:xfrm>
              <a:off x="666750" y="0"/>
              <a:ext cx="1905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05 | Robustness</a:t>
              </a:r>
              <a:endParaRPr b="1" sz="11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36" name="Google Shape;936;p37"/>
            <p:cNvSpPr txBox="1"/>
            <p:nvPr/>
          </p:nvSpPr>
          <p:spPr>
            <a:xfrm>
              <a:off x="2667000" y="0"/>
              <a:ext cx="47625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1428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Absolute Robustness:</a:t>
              </a:r>
              <a:r>
                <a:rPr b="0" lang="en" sz="10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A master </a:t>
              </a:r>
              <a:r>
                <a:rPr b="0" lang="en" sz="900">
                  <a:solidFill>
                    <a:srgbClr val="045A36"/>
                  </a:solidFill>
                  <a:highlight>
                    <a:srgbClr val="F1F5F9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try-except</a:t>
              </a:r>
              <a:r>
                <a:rPr b="0" lang="en" sz="10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wrapper ensures the script terminates cleanly with a readable summary instead of raw Python stacktraces, even on critical failure.</a:t>
              </a:r>
              <a:endParaRPr b="0" sz="10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37" name="Google Shape;937;p37"/>
            <p:cNvSpPr/>
            <p:nvPr/>
          </p:nvSpPr>
          <p:spPr>
            <a:xfrm>
              <a:off x="7620000" y="95250"/>
              <a:ext cx="2857500" cy="457200"/>
            </a:xfrm>
            <a:prstGeom prst="roundRect">
              <a:avLst>
                <a:gd fmla="val 8333" name="adj"/>
              </a:avLst>
            </a:prstGeom>
            <a:solidFill>
              <a:srgbClr val="1F29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7"/>
            <p:cNvSpPr/>
            <p:nvPr/>
          </p:nvSpPr>
          <p:spPr>
            <a:xfrm>
              <a:off x="7620000" y="95250"/>
              <a:ext cx="38100" cy="4572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7"/>
            <p:cNvSpPr txBox="1"/>
            <p:nvPr/>
          </p:nvSpPr>
          <p:spPr>
            <a:xfrm>
              <a:off x="7762875" y="95250"/>
              <a:ext cx="2619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try</a:t>
              </a:r>
              <a:r>
                <a:rPr lang="en" sz="85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main_routine()</a:t>
              </a:r>
              <a:br>
                <a:rPr lang="en" sz="850"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850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except</a:t>
              </a:r>
              <a:r>
                <a:rPr lang="en" sz="850"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lang="en" sz="85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Exception</a:t>
              </a:r>
              <a:r>
                <a:rPr lang="en" sz="850"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lang="en" sz="850">
                  <a:solidFill>
                    <a:srgbClr val="D4A01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as</a:t>
              </a:r>
              <a:r>
                <a:rPr lang="en" sz="850"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lang="en" sz="850">
                  <a:solidFill>
                    <a:srgbClr val="F8FA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e:</a:t>
              </a:r>
              <a:endParaRPr sz="85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4" name="Google Shape;94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38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38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38"/>
          <p:cNvSpPr txBox="1"/>
          <p:nvPr/>
        </p:nvSpPr>
        <p:spPr>
          <a:xfrm>
            <a:off x="762000" y="428625"/>
            <a:ext cx="9525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Summary and Best Practices</a:t>
            </a:r>
            <a:endParaRPr b="0" sz="26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D4A01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Takeaways for File Automation</a:t>
            </a:r>
            <a:endParaRPr b="0" sz="1100">
              <a:solidFill>
                <a:srgbClr val="D4A01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948" name="Google Shape;948;p38"/>
          <p:cNvSpPr txBox="1"/>
          <p:nvPr/>
        </p:nvSpPr>
        <p:spPr>
          <a:xfrm>
            <a:off x="762000" y="61341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shutil Module: File and Folder Automation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49" name="Google Shape;949;p38"/>
          <p:cNvPicPr preferRelativeResize="0"/>
          <p:nvPr/>
        </p:nvPicPr>
        <p:blipFill rotWithShape="1">
          <a:blip r:embed="rId4">
            <a:alphaModFix/>
          </a:blip>
          <a:srcRect b="0" l="10" r="0" t="0"/>
          <a:stretch/>
        </p:blipFill>
        <p:spPr>
          <a:xfrm>
            <a:off x="10287000" y="5453079"/>
            <a:ext cx="1524000" cy="1019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0" name="Google Shape;950;p38"/>
          <p:cNvGrpSpPr/>
          <p:nvPr/>
        </p:nvGrpSpPr>
        <p:grpSpPr>
          <a:xfrm>
            <a:off x="762000" y="1428750"/>
            <a:ext cx="5143500" cy="1428675"/>
            <a:chOff x="0" y="0"/>
            <a:chExt cx="5143500" cy="1428675"/>
          </a:xfrm>
        </p:grpSpPr>
        <p:sp>
          <p:nvSpPr>
            <p:cNvPr id="951" name="Google Shape;951;p38"/>
            <p:cNvSpPr txBox="1"/>
            <p:nvPr/>
          </p:nvSpPr>
          <p:spPr>
            <a:xfrm>
              <a:off x="0" y="0"/>
              <a:ext cx="5143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Choosing the Right Function</a:t>
              </a:r>
              <a:endParaRPr b="1" sz="14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52" name="Google Shape;952;p38"/>
            <p:cNvSpPr txBox="1"/>
            <p:nvPr/>
          </p:nvSpPr>
          <p:spPr>
            <a:xfrm>
              <a:off x="0" y="333375"/>
              <a:ext cx="5143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45A36"/>
                  </a:solidFill>
                  <a:highlight>
                    <a:srgbClr val="E2E8F0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copy()</a:t>
              </a:r>
              <a:r>
                <a:rPr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vs </a:t>
              </a:r>
              <a:r>
                <a:rPr b="0" lang="en" sz="1150">
                  <a:solidFill>
                    <a:srgbClr val="045A36"/>
                  </a:solidFill>
                  <a:highlight>
                    <a:srgbClr val="E2E8F0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copy2()</a:t>
              </a:r>
              <a:r>
                <a:rPr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: Use </a:t>
              </a:r>
              <a:r>
                <a:rPr b="0" lang="en" sz="1150">
                  <a:solidFill>
                    <a:srgbClr val="045A3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copy2()</a:t>
              </a:r>
              <a:r>
                <a:rPr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to preserve metadata.</a:t>
              </a:r>
              <a:endParaRPr sz="11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45A36"/>
                  </a:solidFill>
                  <a:highlight>
                    <a:srgbClr val="E2E8F0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copytree()</a:t>
              </a:r>
              <a:r>
                <a:rPr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: Use for recursive folder duplication.</a:t>
              </a:r>
              <a:endParaRPr sz="11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045A36"/>
                  </a:solidFill>
                  <a:highlight>
                    <a:srgbClr val="E2E8F0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move()</a:t>
              </a:r>
              <a:r>
                <a:rPr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vs </a:t>
              </a:r>
              <a:r>
                <a:rPr b="0" lang="en" sz="1150">
                  <a:solidFill>
                    <a:srgbClr val="045A36"/>
                  </a:solidFill>
                  <a:highlight>
                    <a:srgbClr val="E2E8F0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pathlib.rename()</a:t>
              </a:r>
              <a:r>
                <a:rPr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: Use </a:t>
              </a:r>
              <a:r>
                <a:rPr b="0" lang="en" sz="1150">
                  <a:solidFill>
                    <a:srgbClr val="045A3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move()</a:t>
              </a:r>
              <a:r>
                <a:rPr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for cross-drive operations.</a:t>
              </a:r>
              <a:endParaRPr sz="11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53" name="Google Shape;953;p38"/>
          <p:cNvGrpSpPr/>
          <p:nvPr/>
        </p:nvGrpSpPr>
        <p:grpSpPr>
          <a:xfrm>
            <a:off x="762000" y="2952750"/>
            <a:ext cx="5143500" cy="904800"/>
            <a:chOff x="0" y="0"/>
            <a:chExt cx="5143500" cy="904800"/>
          </a:xfrm>
        </p:grpSpPr>
        <p:sp>
          <p:nvSpPr>
            <p:cNvPr id="954" name="Google Shape;954;p38"/>
            <p:cNvSpPr/>
            <p:nvPr/>
          </p:nvSpPr>
          <p:spPr>
            <a:xfrm>
              <a:off x="0" y="0"/>
              <a:ext cx="5143500" cy="904800"/>
            </a:xfrm>
            <a:prstGeom prst="roundRect">
              <a:avLst>
                <a:gd fmla="val 6315" name="adj"/>
              </a:avLst>
            </a:prstGeom>
            <a:solidFill>
              <a:srgbClr val="FFFFFF"/>
            </a:solidFill>
            <a:ln cap="flat" cmpd="sng" w="14300">
              <a:solidFill>
                <a:srgbClr val="D4A01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55" name="Google Shape;955;p38"/>
            <p:cNvGrpSpPr/>
            <p:nvPr/>
          </p:nvGrpSpPr>
          <p:grpSpPr>
            <a:xfrm>
              <a:off x="161925" y="304800"/>
              <a:ext cx="190500" cy="171600"/>
              <a:chOff x="19050" y="19050"/>
              <a:chExt cx="190500" cy="171600"/>
            </a:xfrm>
          </p:grpSpPr>
          <p:sp>
            <p:nvSpPr>
              <p:cNvPr id="956" name="Google Shape;956;p38"/>
              <p:cNvSpPr/>
              <p:nvPr/>
            </p:nvSpPr>
            <p:spPr>
              <a:xfrm>
                <a:off x="19050" y="19050"/>
                <a:ext cx="190500" cy="171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D4A017"/>
              </a:solidFill>
              <a:ln cap="flat" cmpd="sng" w="19050">
                <a:solidFill>
                  <a:srgbClr val="D4A0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38"/>
              <p:cNvSpPr/>
              <p:nvPr/>
            </p:nvSpPr>
            <p:spPr>
              <a:xfrm>
                <a:off x="104775" y="66675"/>
                <a:ext cx="19200" cy="66600"/>
              </a:xfrm>
              <a:prstGeom prst="roundRect">
                <a:avLst>
                  <a:gd fmla="val 50000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38"/>
              <p:cNvSpPr/>
              <p:nvPr/>
            </p:nvSpPr>
            <p:spPr>
              <a:xfrm>
                <a:off x="102870" y="150495"/>
                <a:ext cx="22800" cy="22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59" name="Google Shape;959;p38"/>
            <p:cNvSpPr txBox="1"/>
            <p:nvPr/>
          </p:nvSpPr>
          <p:spPr>
            <a:xfrm>
              <a:off x="476250" y="95250"/>
              <a:ext cx="4524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D4A0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Crucial Warning</a:t>
              </a:r>
              <a:endParaRPr b="1" sz="1000">
                <a:solidFill>
                  <a:srgbClr val="D4A0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F293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shutil.rmtree</a:t>
              </a:r>
              <a:r>
                <a:rPr b="0" lang="en" sz="1100">
                  <a:solidFill>
                    <a:srgbClr val="37415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is destructive, non-reversible, and bypasses the system trash bin. Use with extreme caution.</a:t>
              </a:r>
              <a:endParaRPr b="0" sz="1100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960" name="Google Shape;960;p38"/>
          <p:cNvGrpSpPr/>
          <p:nvPr/>
        </p:nvGrpSpPr>
        <p:grpSpPr>
          <a:xfrm>
            <a:off x="762000" y="4048125"/>
            <a:ext cx="5143575" cy="1476525"/>
            <a:chOff x="0" y="0"/>
            <a:chExt cx="5143575" cy="1476525"/>
          </a:xfrm>
        </p:grpSpPr>
        <p:grpSp>
          <p:nvGrpSpPr>
            <p:cNvPr id="961" name="Google Shape;961;p38"/>
            <p:cNvGrpSpPr/>
            <p:nvPr/>
          </p:nvGrpSpPr>
          <p:grpSpPr>
            <a:xfrm>
              <a:off x="0" y="0"/>
              <a:ext cx="5143575" cy="666900"/>
              <a:chOff x="0" y="0"/>
              <a:chExt cx="5143575" cy="666900"/>
            </a:xfrm>
          </p:grpSpPr>
          <p:grpSp>
            <p:nvGrpSpPr>
              <p:cNvPr id="962" name="Google Shape;962;p38"/>
              <p:cNvGrpSpPr/>
              <p:nvPr/>
            </p:nvGrpSpPr>
            <p:grpSpPr>
              <a:xfrm>
                <a:off x="0" y="28575"/>
                <a:ext cx="190500" cy="190500"/>
                <a:chOff x="0" y="0"/>
                <a:chExt cx="190500" cy="190500"/>
              </a:xfrm>
            </p:grpSpPr>
            <p:sp>
              <p:nvSpPr>
                <p:cNvPr id="963" name="Google Shape;963;p3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4" name="Google Shape;964;p38"/>
                <p:cNvSpPr/>
                <p:nvPr/>
              </p:nvSpPr>
              <p:spPr>
                <a:xfrm>
                  <a:off x="57150" y="76200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8000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8FAF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965" name="Google Shape;965;p38"/>
              <p:cNvSpPr txBox="1"/>
              <p:nvPr/>
            </p:nvSpPr>
            <p:spPr>
              <a:xfrm>
                <a:off x="333375" y="0"/>
                <a:ext cx="48102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045A36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Validation is Key</a:t>
                </a:r>
                <a:endParaRPr b="1" sz="125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Always validate storage availability with </a:t>
                </a:r>
                <a:r>
                  <a:rPr b="0" lang="en" sz="1150">
                    <a:solidFill>
                      <a:srgbClr val="045A36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disk_usage()</a:t>
                </a: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and verify paths with </a:t>
                </a:r>
                <a:r>
                  <a:rPr b="0" lang="en" sz="1150">
                    <a:solidFill>
                      <a:srgbClr val="045A36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exists()</a:t>
                </a: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before execution.</a:t>
                </a:r>
                <a:endParaRPr b="0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966" name="Google Shape;966;p38"/>
            <p:cNvGrpSpPr/>
            <p:nvPr/>
          </p:nvGrpSpPr>
          <p:grpSpPr>
            <a:xfrm>
              <a:off x="0" y="809625"/>
              <a:ext cx="5143575" cy="666900"/>
              <a:chOff x="0" y="0"/>
              <a:chExt cx="5143575" cy="666900"/>
            </a:xfrm>
          </p:grpSpPr>
          <p:grpSp>
            <p:nvGrpSpPr>
              <p:cNvPr id="967" name="Google Shape;967;p38"/>
              <p:cNvGrpSpPr/>
              <p:nvPr/>
            </p:nvGrpSpPr>
            <p:grpSpPr>
              <a:xfrm>
                <a:off x="0" y="28575"/>
                <a:ext cx="190500" cy="190500"/>
                <a:chOff x="0" y="0"/>
                <a:chExt cx="190500" cy="190500"/>
              </a:xfrm>
            </p:grpSpPr>
            <p:sp>
              <p:nvSpPr>
                <p:cNvPr id="968" name="Google Shape;968;p3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9" name="Google Shape;969;p38"/>
                <p:cNvSpPr/>
                <p:nvPr/>
              </p:nvSpPr>
              <p:spPr>
                <a:xfrm>
                  <a:off x="57150" y="76200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8000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8FAF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970" name="Google Shape;970;p38"/>
              <p:cNvSpPr txBox="1"/>
              <p:nvPr/>
            </p:nvSpPr>
            <p:spPr>
              <a:xfrm>
                <a:off x="333375" y="0"/>
                <a:ext cx="48102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045A36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Enterprise-Grade Automation</a:t>
                </a:r>
                <a:endParaRPr b="1" sz="125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Combine </a:t>
                </a:r>
                <a:r>
                  <a:rPr b="0" lang="en" sz="1150">
                    <a:solidFill>
                      <a:srgbClr val="045A36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shutil</a:t>
                </a: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operations with </a:t>
                </a:r>
                <a:r>
                  <a:rPr b="0" lang="en" sz="1150">
                    <a:solidFill>
                      <a:srgbClr val="045A36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logging</a:t>
                </a: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and comprehensive </a:t>
                </a:r>
                <a:r>
                  <a:rPr b="0" lang="en" sz="1150">
                    <a:solidFill>
                      <a:srgbClr val="045A36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try-except</a:t>
                </a: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blocks to create resilient scripts.</a:t>
                </a:r>
                <a:endParaRPr b="0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71" name="Google Shape;971;p38"/>
          <p:cNvGrpSpPr/>
          <p:nvPr/>
        </p:nvGrpSpPr>
        <p:grpSpPr>
          <a:xfrm>
            <a:off x="6286500" y="1428750"/>
            <a:ext cx="5143500" cy="4095900"/>
            <a:chOff x="0" y="0"/>
            <a:chExt cx="5143500" cy="4095900"/>
          </a:xfrm>
        </p:grpSpPr>
        <p:sp>
          <p:nvSpPr>
            <p:cNvPr id="972" name="Google Shape;972;p38"/>
            <p:cNvSpPr/>
            <p:nvPr/>
          </p:nvSpPr>
          <p:spPr>
            <a:xfrm>
              <a:off x="0" y="0"/>
              <a:ext cx="5143500" cy="4095900"/>
            </a:xfrm>
            <a:prstGeom prst="roundRect">
              <a:avLst>
                <a:gd fmla="val 186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73" name="Google Shape;973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5750" y="333375"/>
              <a:ext cx="4572000" cy="3429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4" name="Google Shape;974;p38"/>
            <p:cNvSpPr/>
            <p:nvPr/>
          </p:nvSpPr>
          <p:spPr>
            <a:xfrm>
              <a:off x="285750" y="333375"/>
              <a:ext cx="4572000" cy="3429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