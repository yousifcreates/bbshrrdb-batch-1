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slideMasters/_rels/slideMaster12.xml.rels" ContentType="application/vnd.openxmlformats-package.relationships+xml"/>
  <Override PartName="/ppt/slideMasters/_rels/slideMaster6.xml.rels" ContentType="application/vnd.openxmlformats-package.relationships+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1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slideLayouts/_rels/slideLayout9.xml.rels" ContentType="application/vnd.openxmlformats-package.relationships+xml"/>
  <Override PartName="/ppt/slideLayouts/_rels/slideLayout8.xml.rels" ContentType="application/vnd.openxmlformats-package.relationships+xml"/>
  <Override PartName="/ppt/slideLayouts/_rels/slideLayout12.xml.rels" ContentType="application/vnd.openxmlformats-package.relationships+xml"/>
  <Override PartName="/ppt/slideLayouts/_rels/slideLayout4.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5.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Layouts/slideLayout12.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s/_rels/slide5.xml.rels" ContentType="application/vnd.openxmlformats-package.relationships+xml"/>
  <Override PartName="/ppt/slides/_rels/slide21.xml.rels" ContentType="application/vnd.openxmlformats-package.relationships+xml"/>
  <Override PartName="/ppt/slides/_rels/slide19.xml.rels" ContentType="application/vnd.openxmlformats-package.relationships+xml"/>
  <Override PartName="/ppt/slides/_rels/slide4.xml.rels" ContentType="application/vnd.openxmlformats-package.relationships+xml"/>
  <Override PartName="/ppt/slides/_rels/slide20.xml.rels" ContentType="application/vnd.openxmlformats-package.relationships+xml"/>
  <Override PartName="/ppt/slides/_rels/slide18.xml.rels" ContentType="application/vnd.openxmlformats-package.relationships+xml"/>
  <Override PartName="/ppt/slides/_rels/slide3.xml.rels" ContentType="application/vnd.openxmlformats-package.relationships+xml"/>
  <Override PartName="/ppt/slides/_rels/slide17.xml.rels" ContentType="application/vnd.openxmlformats-package.relationships+xml"/>
  <Override PartName="/ppt/slides/_rels/slide2.xml.rels" ContentType="application/vnd.openxmlformats-package.relationships+xml"/>
  <Override PartName="/ppt/slides/_rels/slide16.xml.rels" ContentType="application/vnd.openxmlformats-package.relationships+xml"/>
  <Override PartName="/ppt/slides/_rels/slide1.xml.rels" ContentType="application/vnd.openxmlformats-package.relationships+xml"/>
  <Override PartName="/ppt/slides/_rels/slide13.xml.rels" ContentType="application/vnd.openxmlformats-package.relationships+xml"/>
  <Override PartName="/ppt/slides/_rels/slide12.xml.rels" ContentType="application/vnd.openxmlformats-package.relationships+xml"/>
  <Override PartName="/ppt/slides/_rels/slide24.xml.rels" ContentType="application/vnd.openxmlformats-package.relationships+xml"/>
  <Override PartName="/ppt/slides/_rels/slide9.xml.rels" ContentType="application/vnd.openxmlformats-package.relationships+xml"/>
  <Override PartName="/ppt/slides/_rels/slide11.xml.rels" ContentType="application/vnd.openxmlformats-package.relationships+xml"/>
  <Override PartName="/ppt/slides/_rels/slide23.xml.rels" ContentType="application/vnd.openxmlformats-package.relationships+xml"/>
  <Override PartName="/ppt/slides/_rels/slide8.xml.rels" ContentType="application/vnd.openxmlformats-package.relationships+xml"/>
  <Override PartName="/ppt/slides/_rels/slide10.xml.rels" ContentType="application/vnd.openxmlformats-package.relationships+xml"/>
  <Override PartName="/ppt/slides/_rels/slide22.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24.xml" ContentType="application/vnd.openxmlformats-officedocument.presentationml.slide+xml"/>
  <Override PartName="/ppt/slides/slide10.xml" ContentType="application/vnd.openxmlformats-officedocument.presentationml.slide+xml"/>
  <Override PartName="/ppt/slides/slide7.xml" ContentType="application/vnd.openxmlformats-officedocument.presentationml.slide+xml"/>
  <Override PartName="/ppt/slides/slide23.xml" ContentType="application/vnd.openxmlformats-officedocument.presentationml.slide+xml"/>
  <Override PartName="/ppt/slides/slide6.xml" ContentType="application/vnd.openxmlformats-officedocument.presentationml.slide+xml"/>
  <Override PartName="/ppt/slides/slide2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17.xml" ContentType="application/vnd.openxmlformats-officedocument.presentationml.slide+xml"/>
  <Override PartName="/ppt/slides/slide3.xml" ContentType="application/vnd.openxmlformats-officedocument.presentationml.slide+xml"/>
  <Override PartName="/ppt/slides/slide18.xml" ContentType="application/vnd.openxmlformats-officedocument.presentationml.slide+xml"/>
  <Override PartName="/ppt/slides/slide20.xml" ContentType="application/vnd.openxmlformats-officedocument.presentationml.slide+xml"/>
  <Override PartName="/ppt/slides/slide4.xml" ContentType="application/vnd.openxmlformats-officedocument.presentationml.slide+xml"/>
  <Override PartName="/ppt/slides/slide19.xml" ContentType="application/vnd.openxmlformats-officedocument.presentationml.slide+xml"/>
  <Override PartName="/ppt/slides/slide5.xml" ContentType="application/vnd.openxmlformats-officedocument.presentationml.slide+xml"/>
  <Override PartName="/ppt/slides/slide21.xml" ContentType="application/vnd.openxmlformats-officedocument.presentationml.slide+xml"/>
  <Override PartName="/ppt/_rels/presentation.xml.rels" ContentType="application/vnd.openxmlformats-package.relationships+xml"/>
  <Override PartName="/ppt/media/image13.png" ContentType="image/png"/>
  <Override PartName="/ppt/media/image4.png" ContentType="image/png"/>
  <Override PartName="/ppt/media/image11.jpeg" ContentType="image/jpeg"/>
  <Override PartName="/ppt/media/image10.jpeg" ContentType="image/jpeg"/>
  <Override PartName="/ppt/media/image18.png" ContentType="image/png"/>
  <Override PartName="/ppt/media/image19.png" ContentType="image/png"/>
  <Override PartName="/ppt/media/image2.png" ContentType="image/png"/>
  <Override PartName="/ppt/media/image16.jpeg" ContentType="image/jpeg"/>
  <Override PartName="/ppt/media/image1.png" ContentType="image/png"/>
  <Override PartName="/ppt/media/image9.jpeg" ContentType="image/jpeg"/>
  <Override PartName="/ppt/media/image12.png" ContentType="image/png"/>
  <Override PartName="/ppt/media/image3.png" ContentType="image/png"/>
  <Override PartName="/ppt/media/image14.png" ContentType="image/png"/>
  <Override PartName="/ppt/media/image5.png" ContentType="image/png"/>
  <Override PartName="/ppt/media/image15.png" ContentType="image/png"/>
  <Override PartName="/ppt/media/image6.png" ContentType="image/png"/>
  <Override PartName="/ppt/media/image7.png" ContentType="image/png"/>
  <Override PartName="/ppt/media/image17.png" ContentType="image/png"/>
  <Override PartName="/ppt/media/image8.png" ContentType="image/png"/>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 id="2147483670" r:id="rId13"/>
  </p:sldMasterIdLst>
  <p:sldIdLst>
    <p:sldId id="256" r:id="rId14"/>
    <p:sldId id="257" r:id="rId15"/>
    <p:sldId id="258" r:id="rId16"/>
    <p:sldId id="259" r:id="rId17"/>
    <p:sldId id="260" r:id="rId18"/>
    <p:sldId id="261" r:id="rId19"/>
    <p:sldId id="262" r:id="rId20"/>
    <p:sldId id="263" r:id="rId21"/>
    <p:sldId id="264" r:id="rId22"/>
    <p:sldId id="265" r:id="rId23"/>
    <p:sldId id="266" r:id="rId24"/>
    <p:sldId id="267" r:id="rId25"/>
    <p:sldId id="268" r:id="rId26"/>
    <p:sldId id="269" r:id="rId27"/>
    <p:sldId id="270" r:id="rId28"/>
    <p:sldId id="271" r:id="rId29"/>
    <p:sldId id="272" r:id="rId30"/>
    <p:sldId id="273" r:id="rId31"/>
    <p:sldId id="274" r:id="rId32"/>
    <p:sldId id="275" r:id="rId33"/>
    <p:sldId id="276" r:id="rId34"/>
    <p:sldId id="277" r:id="rId35"/>
    <p:sldId id="278" r:id="rId36"/>
    <p:sldId id="279" r:id="rId37"/>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Master" Target="slideMasters/slideMaster12.xml"/><Relationship Id="rId14" Type="http://schemas.openxmlformats.org/officeDocument/2006/relationships/slide" Target="slides/slide1.xml"/><Relationship Id="rId15" Type="http://schemas.openxmlformats.org/officeDocument/2006/relationships/slide" Target="slides/slide2.xml"/><Relationship Id="rId16" Type="http://schemas.openxmlformats.org/officeDocument/2006/relationships/slide" Target="slides/slide3.xml"/><Relationship Id="rId17" Type="http://schemas.openxmlformats.org/officeDocument/2006/relationships/slide" Target="slides/slide4.xml"/><Relationship Id="rId18" Type="http://schemas.openxmlformats.org/officeDocument/2006/relationships/slide" Target="slides/slide5.xml"/><Relationship Id="rId19" Type="http://schemas.openxmlformats.org/officeDocument/2006/relationships/slide" Target="slides/slide6.xml"/><Relationship Id="rId20" Type="http://schemas.openxmlformats.org/officeDocument/2006/relationships/slide" Target="slides/slide7.xml"/><Relationship Id="rId21" Type="http://schemas.openxmlformats.org/officeDocument/2006/relationships/slide" Target="slides/slide8.xml"/><Relationship Id="rId22" Type="http://schemas.openxmlformats.org/officeDocument/2006/relationships/slide" Target="slides/slide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12.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15.xml"/><Relationship Id="rId29" Type="http://schemas.openxmlformats.org/officeDocument/2006/relationships/slide" Target="slides/slide16.xml"/><Relationship Id="rId30" Type="http://schemas.openxmlformats.org/officeDocument/2006/relationships/slide" Target="slides/slide17.xml"/><Relationship Id="rId31" Type="http://schemas.openxmlformats.org/officeDocument/2006/relationships/slide" Target="slides/slide18.xml"/><Relationship Id="rId32" Type="http://schemas.openxmlformats.org/officeDocument/2006/relationships/slide" Target="slides/slide19.xml"/><Relationship Id="rId33" Type="http://schemas.openxmlformats.org/officeDocument/2006/relationships/slide" Target="slides/slide20.xml"/><Relationship Id="rId34" Type="http://schemas.openxmlformats.org/officeDocument/2006/relationships/slide" Target="slides/slide21.xml"/><Relationship Id="rId35" Type="http://schemas.openxmlformats.org/officeDocument/2006/relationships/slide" Target="slides/slide22.xml"/><Relationship Id="rId36" Type="http://schemas.openxmlformats.org/officeDocument/2006/relationships/slide" Target="slides/slide23.xml"/><Relationship Id="rId37" Type="http://schemas.openxmlformats.org/officeDocument/2006/relationships/slide" Target="slides/slide24.xml"/><Relationship Id="rId38"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2.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Generated (g3f7390a9a5a_7_0)">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APTION_ONLY">
    <p:spTree>
      <p:nvGrpSpPr>
        <p:cNvPr id="1" name=""/>
        <p:cNvGrpSpPr/>
        <p:nvPr/>
      </p:nvGrpSpPr>
      <p:grpSpPr>
        <a:xfrm>
          <a:off x="0" y="0"/>
          <a:ext cx="0" cy="0"/>
          <a:chOff x="0" y="0"/>
          <a:chExt cx="0" cy="0"/>
        </a:xfrm>
      </p:grpSpPr>
      <p:sp>
        <p:nvSpPr>
          <p:cNvPr id="2" name="PlaceHolder 1"/>
          <p:cNvSpPr>
            <a:spLocks noGrp="1"/>
          </p:cNvSpPr>
          <p:nvPr>
            <p:ph type="sldNum" idx="1"/>
          </p:nvPr>
        </p:nvSpPr>
        <p:spPr/>
        <p:txBody>
          <a:bodyPr/>
          <a:p>
            <a:fld id="{543495DC-C256-407E-8CE2-24215886A136}" type="slidenum">
              <a:t>&lt;#&gt;</a:t>
            </a:fld>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IG_NUMBER">
    <p:spTree>
      <p:nvGrpSpPr>
        <p:cNvPr id="1" name=""/>
        <p:cNvGrpSpPr/>
        <p:nvPr/>
      </p:nvGrpSpPr>
      <p:grpSpPr>
        <a:xfrm>
          <a:off x="0" y="0"/>
          <a:ext cx="0" cy="0"/>
          <a:chOff x="0" y="0"/>
          <a:chExt cx="0" cy="0"/>
        </a:xfrm>
      </p:grpSpPr>
      <p:sp>
        <p:nvSpPr>
          <p:cNvPr id="2" name="PlaceHolder 1"/>
          <p:cNvSpPr>
            <a:spLocks noGrp="1"/>
          </p:cNvSpPr>
          <p:nvPr>
            <p:ph type="sldNum" idx="2"/>
          </p:nvPr>
        </p:nvSpPr>
        <p:spPr/>
        <p:txBody>
          <a:bodyPr/>
          <a:p>
            <a:fld id="{0C4FA596-DCF9-40DE-9A89-91D8CD0566C5}" type="slidenum">
              <a:t>&lt;#&gt;</a:t>
            </a:fld>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sldNum" idx="3"/>
          </p:nvPr>
        </p:nvSpPr>
        <p:spPr/>
        <p:txBody>
          <a:bodyPr/>
          <a:p>
            <a:fld id="{8C6A81F9-6BA8-4D4F-A3A0-15F86D8B9D6B}" type="slidenum">
              <a:t>&lt;#&gt;</a:t>
            </a:fld>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p:spTree>
      <p:nvGrpSpPr>
        <p:cNvPr id="1" name=""/>
        <p:cNvGrpSpPr/>
        <p:nvPr/>
      </p:nvGrpSpPr>
      <p:grpSpPr>
        <a:xfrm>
          <a:off x="0" y="0"/>
          <a:ext cx="0" cy="0"/>
          <a:chOff x="0" y="0"/>
          <a:chExt cx="0" cy="0"/>
        </a:xfrm>
      </p:grpSpPr>
      <p:sp>
        <p:nvSpPr>
          <p:cNvPr id="1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endParaRPr b="0" lang="en-US" sz="1400" spc="-1" strike="noStrike">
              <a:solidFill>
                <a:srgbClr val="000000"/>
              </a:solidFill>
              <a:latin typeface="Arial"/>
            </a:endParaRPr>
          </a:p>
        </p:txBody>
      </p:sp>
      <p:sp>
        <p:nvSpPr>
          <p:cNvPr id="11"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sldNum" idx="4"/>
          </p:nvPr>
        </p:nvSpPr>
        <p:spPr/>
        <p:txBody>
          <a:bodyPr/>
          <a:p>
            <a:fld id="{F16A59D7-38B0-4D92-AD49-1BA7D23AD2C4}" type="slidenum">
              <a:t>&lt;#&gt;</a:t>
            </a:fld>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_HEADER">
    <p:spTree>
      <p:nvGrpSpPr>
        <p:cNvPr id="1" name=""/>
        <p:cNvGrpSpPr/>
        <p:nvPr/>
      </p:nvGrpSpPr>
      <p:grpSpPr>
        <a:xfrm>
          <a:off x="0" y="0"/>
          <a:ext cx="0" cy="0"/>
          <a:chOff x="0" y="0"/>
          <a:chExt cx="0" cy="0"/>
        </a:xfrm>
      </p:grpSpPr>
      <p:sp>
        <p:nvSpPr>
          <p:cNvPr id="2" name="PlaceHolder 1"/>
          <p:cNvSpPr>
            <a:spLocks noGrp="1"/>
          </p:cNvSpPr>
          <p:nvPr>
            <p:ph type="sldNum" idx="5"/>
          </p:nvPr>
        </p:nvSpPr>
        <p:spPr/>
        <p:txBody>
          <a:bodyPr/>
          <a:p>
            <a:fld id="{F4BCADD8-D5CE-479F-83F5-6A4CDD96F3AF}" type="slidenum">
              <a:t>&lt;#&gt;</a:t>
            </a:fld>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_AND_BODY">
    <p:spTree>
      <p:nvGrpSpPr>
        <p:cNvPr id="1" name=""/>
        <p:cNvGrpSpPr/>
        <p:nvPr/>
      </p:nvGrpSpPr>
      <p:grpSpPr>
        <a:xfrm>
          <a:off x="0" y="0"/>
          <a:ext cx="0" cy="0"/>
          <a:chOff x="0" y="0"/>
          <a:chExt cx="0" cy="0"/>
        </a:xfrm>
      </p:grpSpPr>
      <p:sp>
        <p:nvSpPr>
          <p:cNvPr id="17"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endParaRPr b="0" lang="en-US" sz="1400" spc="-1" strike="noStrike">
              <a:solidFill>
                <a:srgbClr val="000000"/>
              </a:solidFill>
              <a:latin typeface="Arial"/>
            </a:endParaRPr>
          </a:p>
        </p:txBody>
      </p:sp>
      <p:sp>
        <p:nvSpPr>
          <p:cNvPr id="18"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pPr indent="0">
              <a:spcBef>
                <a:spcPts val="1417"/>
              </a:spcBef>
              <a:buNone/>
            </a:pPr>
            <a:endParaRPr b="0" lang="en-US" sz="1400" spc="-1" strike="noStrike">
              <a:solidFill>
                <a:srgbClr val="000000"/>
              </a:solidFill>
              <a:latin typeface="Arial"/>
            </a:endParaRPr>
          </a:p>
        </p:txBody>
      </p:sp>
      <p:sp>
        <p:nvSpPr>
          <p:cNvPr id="4" name="PlaceHolder 3"/>
          <p:cNvSpPr>
            <a:spLocks noGrp="1"/>
          </p:cNvSpPr>
          <p:nvPr>
            <p:ph type="sldNum" idx="6"/>
          </p:nvPr>
        </p:nvSpPr>
        <p:spPr/>
        <p:txBody>
          <a:bodyPr/>
          <a:p>
            <a:fld id="{8C99A5EB-442F-4D1D-8EDA-C537466FFEEA}" type="slidenum">
              <a:t>&lt;#&gt;</a:t>
            </a:fld>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_AND_TWO_COLUMNS">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endParaRPr b="0" lang="en-US" sz="1400" spc="-1" strike="noStrike">
              <a:solidFill>
                <a:srgbClr val="000000"/>
              </a:solidFill>
              <a:latin typeface="Arial"/>
            </a:endParaRPr>
          </a:p>
        </p:txBody>
      </p:sp>
      <p:sp>
        <p:nvSpPr>
          <p:cNvPr id="24"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US" sz="1400" spc="-1" strike="noStrike">
              <a:solidFill>
                <a:srgbClr val="000000"/>
              </a:solidFill>
              <a:latin typeface="Arial"/>
            </a:endParaRPr>
          </a:p>
        </p:txBody>
      </p:sp>
      <p:sp>
        <p:nvSpPr>
          <p:cNvPr id="25"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US" sz="1400" spc="-1" strike="noStrike">
              <a:solidFill>
                <a:srgbClr val="000000"/>
              </a:solidFill>
              <a:latin typeface="Arial"/>
            </a:endParaRPr>
          </a:p>
        </p:txBody>
      </p:sp>
      <p:sp>
        <p:nvSpPr>
          <p:cNvPr id="5" name="PlaceHolder 4"/>
          <p:cNvSpPr>
            <a:spLocks noGrp="1"/>
          </p:cNvSpPr>
          <p:nvPr>
            <p:ph type="sldNum" idx="7"/>
          </p:nvPr>
        </p:nvSpPr>
        <p:spPr/>
        <p:txBody>
          <a:bodyPr/>
          <a:p>
            <a:fld id="{362421D8-8CBA-4F95-A19C-FD729B670B59}" type="slidenum">
              <a:t>&lt;#&gt;</a:t>
            </a:fld>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_ONLY">
    <p:spTree>
      <p:nvGrpSpPr>
        <p:cNvPr id="1" name=""/>
        <p:cNvGrpSpPr/>
        <p:nvPr/>
      </p:nvGrpSpPr>
      <p:grpSpPr>
        <a:xfrm>
          <a:off x="0" y="0"/>
          <a:ext cx="0" cy="0"/>
          <a:chOff x="0" y="0"/>
          <a:chExt cx="0" cy="0"/>
        </a:xfrm>
      </p:grpSpPr>
      <p:sp>
        <p:nvSpPr>
          <p:cNvPr id="28"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endParaRPr b="0" lang="en-US" sz="1400" spc="-1" strike="noStrike">
              <a:solidFill>
                <a:srgbClr val="000000"/>
              </a:solidFill>
              <a:latin typeface="Arial"/>
            </a:endParaRPr>
          </a:p>
        </p:txBody>
      </p:sp>
      <p:sp>
        <p:nvSpPr>
          <p:cNvPr id="3" name="PlaceHolder 2"/>
          <p:cNvSpPr>
            <a:spLocks noGrp="1"/>
          </p:cNvSpPr>
          <p:nvPr>
            <p:ph type="sldNum" idx="8"/>
          </p:nvPr>
        </p:nvSpPr>
        <p:spPr/>
        <p:txBody>
          <a:bodyPr/>
          <a:p>
            <a:fld id="{3EF30A2D-8FB3-49CD-86F9-8D446313358D}" type="slidenum">
              <a:t>&lt;#&gt;</a:t>
            </a:fld>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ONE_COLUMN_TEXT">
    <p:spTree>
      <p:nvGrpSpPr>
        <p:cNvPr id="1" name=""/>
        <p:cNvGrpSpPr/>
        <p:nvPr/>
      </p:nvGrpSpPr>
      <p:grpSpPr>
        <a:xfrm>
          <a:off x="0" y="0"/>
          <a:ext cx="0" cy="0"/>
          <a:chOff x="0" y="0"/>
          <a:chExt cx="0" cy="0"/>
        </a:xfrm>
      </p:grpSpPr>
      <p:sp>
        <p:nvSpPr>
          <p:cNvPr id="2" name="PlaceHolder 1"/>
          <p:cNvSpPr>
            <a:spLocks noGrp="1"/>
          </p:cNvSpPr>
          <p:nvPr>
            <p:ph type="sldNum" idx="9"/>
          </p:nvPr>
        </p:nvSpPr>
        <p:spPr/>
        <p:txBody>
          <a:bodyPr/>
          <a:p>
            <a:fld id="{D00ECBEF-78A5-47F5-BD88-D89548F04048}" type="slidenum">
              <a:t>&lt;#&gt;</a:t>
            </a:fld>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MAIN_POINT">
    <p:spTree>
      <p:nvGrpSpPr>
        <p:cNvPr id="1" name=""/>
        <p:cNvGrpSpPr/>
        <p:nvPr/>
      </p:nvGrpSpPr>
      <p:grpSpPr>
        <a:xfrm>
          <a:off x="0" y="0"/>
          <a:ext cx="0" cy="0"/>
          <a:chOff x="0" y="0"/>
          <a:chExt cx="0" cy="0"/>
        </a:xfrm>
      </p:grpSpPr>
      <p:sp>
        <p:nvSpPr>
          <p:cNvPr id="2" name="PlaceHolder 1"/>
          <p:cNvSpPr>
            <a:spLocks noGrp="1"/>
          </p:cNvSpPr>
          <p:nvPr>
            <p:ph type="sldNum" idx="10"/>
          </p:nvPr>
        </p:nvSpPr>
        <p:spPr/>
        <p:txBody>
          <a:bodyPr/>
          <a:p>
            <a:fld id="{B7A5A0FC-1CD7-4DBF-B9E5-74663A323E6B}" type="slidenum">
              <a:t>&lt;#&gt;</a:t>
            </a:fld>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_TITLE_AND_DESCRIPTION">
    <p:spTree>
      <p:nvGrpSpPr>
        <p:cNvPr id="1" name=""/>
        <p:cNvGrpSpPr/>
        <p:nvPr/>
      </p:nvGrpSpPr>
      <p:grpSpPr>
        <a:xfrm>
          <a:off x="0" y="0"/>
          <a:ext cx="0" cy="0"/>
          <a:chOff x="0" y="0"/>
          <a:chExt cx="0" cy="0"/>
        </a:xfrm>
      </p:grpSpPr>
      <p:sp>
        <p:nvSpPr>
          <p:cNvPr id="2" name="PlaceHolder 1"/>
          <p:cNvSpPr>
            <a:spLocks noGrp="1"/>
          </p:cNvSpPr>
          <p:nvPr>
            <p:ph type="sldNum" idx="11"/>
          </p:nvPr>
        </p:nvSpPr>
        <p:spPr/>
        <p:txBody>
          <a:bodyPr/>
          <a:p>
            <a:fld id="{20265216-66F3-46D8-B950-69307B9B9515}" type="slidenum">
              <a:t>&lt;#&gt;</a:t>
            </a:fld>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_rels/slideMaster12.xml.rels><?xml version="1.0" encoding="UTF-8"?>
<Relationships xmlns="http://schemas.openxmlformats.org/package/2006/relationships"><Relationship Id="rId1" Type="http://schemas.openxmlformats.org/officeDocument/2006/relationships/theme" Target="../theme/theme12.xml"/><Relationship Id="rId2"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r>
              <a:rPr b="0" lang="en-US" sz="1400" spc="-1" strike="noStrike">
                <a:solidFill>
                  <a:srgbClr val="000000"/>
                </a:solidFill>
                <a:latin typeface="Arial"/>
              </a:rPr>
              <a:t>Click to edit the title text </a:t>
            </a:r>
            <a:r>
              <a:rPr b="0" lang="en-US" sz="1400" spc="-1" strike="noStrike">
                <a:solidFill>
                  <a:srgbClr val="000000"/>
                </a:solidFill>
                <a:latin typeface="Arial"/>
              </a:rPr>
              <a:t>format</a:t>
            </a:r>
            <a:endParaRPr b="0" lang="en-US" sz="1400" spc="-1" strike="noStrike">
              <a:solidFill>
                <a:srgbClr val="000000"/>
              </a:solidFill>
              <a:latin typeface="Arial"/>
            </a:endParaRPr>
          </a:p>
        </p:txBody>
      </p:sp>
      <p:sp>
        <p:nvSpPr>
          <p:cNvPr id="1"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400" spc="-1" strike="noStrike">
                <a:solidFill>
                  <a:srgbClr val="000000"/>
                </a:solidFill>
                <a:latin typeface="Arial"/>
              </a:rPr>
              <a:t>Click to edit the outline text format</a:t>
            </a:r>
            <a:endParaRPr b="0" lang="en-US" sz="14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400" spc="-1" strike="noStrike">
                <a:solidFill>
                  <a:srgbClr val="000000"/>
                </a:solidFill>
                <a:latin typeface="Arial"/>
              </a:rPr>
              <a:t>Second Outline Level</a:t>
            </a:r>
            <a:endParaRPr b="0" lang="en-US" sz="14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400" spc="-1" strike="noStrike">
                <a:solidFill>
                  <a:srgbClr val="000000"/>
                </a:solidFill>
                <a:latin typeface="Arial"/>
              </a:rPr>
              <a:t>Third Outline Level</a:t>
            </a:r>
            <a:endParaRPr b="0" lang="en-US" sz="1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400" spc="-1" strike="noStrike">
                <a:solidFill>
                  <a:srgbClr val="000000"/>
                </a:solidFill>
                <a:latin typeface="Arial"/>
              </a:rPr>
              <a:t>Fourth Outline Level</a:t>
            </a:r>
            <a:endParaRPr b="0" lang="en-US" sz="14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2" name="PlaceHolder 1"/>
          <p:cNvSpPr>
            <a:spLocks noGrp="1"/>
          </p:cNvSpPr>
          <p:nvPr>
            <p:ph type="body"/>
          </p:nvPr>
        </p:nvSpPr>
        <p:spPr>
          <a:xfrm>
            <a:off x="415440" y="5640840"/>
            <a:ext cx="7998120" cy="806400"/>
          </a:xfrm>
          <a:prstGeom prst="rect">
            <a:avLst/>
          </a:prstGeom>
          <a:noFill/>
          <a:ln w="0">
            <a:noFill/>
          </a:ln>
        </p:spPr>
        <p:txBody>
          <a:bodyPr lIns="122040" rIns="122040" tIns="122040" bIns="122040" anchor="ctr">
            <a:normAutofit fontScale="6247"/>
          </a:bodyPr>
          <a:p>
            <a:pPr marL="432000" indent="-324000">
              <a:spcBef>
                <a:spcPts val="1417"/>
              </a:spcBef>
              <a:buClr>
                <a:srgbClr val="000000"/>
              </a:buClr>
              <a:buSzPct val="45000"/>
              <a:buFont typeface="Wingdings" charset="2"/>
              <a:buChar char=""/>
            </a:pPr>
            <a:r>
              <a:rPr b="0" lang="en-US" sz="2400" spc="-1" strike="noStrike">
                <a:solidFill>
                  <a:srgbClr val="000000"/>
                </a:solidFill>
                <a:latin typeface="Arial"/>
              </a:rPr>
              <a:t>Click to edit the outline text format</a:t>
            </a:r>
            <a:endParaRPr b="0" lang="en-US" sz="24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400" spc="-1" strike="noStrike">
                <a:solidFill>
                  <a:srgbClr val="000000"/>
                </a:solidFill>
                <a:latin typeface="Arial"/>
              </a:rPr>
              <a:t>Second Outline Level</a:t>
            </a:r>
            <a:endParaRPr b="0" lang="en-US" sz="24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400" spc="-1" strike="noStrike">
                <a:solidFill>
                  <a:srgbClr val="000000"/>
                </a:solidFill>
                <a:latin typeface="Arial"/>
              </a:rPr>
              <a:t>Fourth Outline Level</a:t>
            </a:r>
            <a:endParaRPr b="0" lang="en-US" sz="24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400" spc="-1" strike="noStrike">
                <a:solidFill>
                  <a:srgbClr val="000000"/>
                </a:solidFill>
                <a:latin typeface="Arial"/>
              </a:rPr>
              <a:t>Fifth Outline Level</a:t>
            </a:r>
            <a:endParaRPr b="0" lang="en-US" sz="24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400" spc="-1" strike="noStrike">
                <a:solidFill>
                  <a:srgbClr val="000000"/>
                </a:solidFill>
                <a:latin typeface="Arial"/>
              </a:rPr>
              <a:t>Sixth Outline Level</a:t>
            </a:r>
            <a:endParaRPr b="0" lang="en-US" sz="24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400" spc="-1" strike="noStrike">
                <a:solidFill>
                  <a:srgbClr val="000000"/>
                </a:solidFill>
                <a:latin typeface="Arial"/>
              </a:rPr>
              <a:t>Seventh Outline Level</a:t>
            </a:r>
            <a:endParaRPr b="0" lang="en-US" sz="2400" spc="-1" strike="noStrike">
              <a:solidFill>
                <a:srgbClr val="000000"/>
              </a:solidFill>
              <a:latin typeface="Arial"/>
            </a:endParaRPr>
          </a:p>
        </p:txBody>
      </p:sp>
      <p:sp>
        <p:nvSpPr>
          <p:cNvPr id="3" name="PlaceHolder 2"/>
          <p:cNvSpPr>
            <a:spLocks noGrp="1"/>
          </p:cNvSpPr>
          <p:nvPr>
            <p:ph type="sldNum" idx="1"/>
          </p:nvPr>
        </p:nvSpPr>
        <p:spPr>
          <a:xfrm>
            <a:off x="11296440" y="6217560"/>
            <a:ext cx="731160" cy="524520"/>
          </a:xfrm>
          <a:prstGeom prst="rect">
            <a:avLst/>
          </a:prstGeom>
          <a:noFill/>
          <a:ln w="0">
            <a:noFill/>
          </a:ln>
        </p:spPr>
        <p:txBody>
          <a:bodyPr lIns="122040" rIns="122040" tIns="122040" bIns="122040" anchor="ctr">
            <a:normAutofit/>
          </a:bodyPr>
          <a:lstStyle>
            <a:lvl1pPr indent="0" algn="r">
              <a:lnSpc>
                <a:spcPct val="100000"/>
              </a:lnSpc>
              <a:buNone/>
              <a:tabLst>
                <a:tab algn="l" pos="0"/>
              </a:tabLst>
              <a:defRPr b="0" lang="en" sz="1300" spc="-1" strike="noStrike">
                <a:solidFill>
                  <a:schemeClr val="dk2"/>
                </a:solidFill>
                <a:latin typeface="Arial"/>
                <a:ea typeface="Arial"/>
              </a:defRPr>
            </a:lvl1pPr>
          </a:lstStyle>
          <a:p>
            <a:pPr indent="0" algn="r">
              <a:lnSpc>
                <a:spcPct val="100000"/>
              </a:lnSpc>
              <a:buNone/>
              <a:tabLst>
                <a:tab algn="l" pos="0"/>
              </a:tabLst>
            </a:pPr>
            <a:fld id="{0CC22417-889F-43C5-BE1C-F07546BD16A8}" type="slidenum">
              <a:rPr b="0" lang="en" sz="1300" spc="-1" strike="noStrike">
                <a:solidFill>
                  <a:schemeClr val="dk2"/>
                </a:solidFill>
                <a:latin typeface="Arial"/>
                <a:ea typeface="Arial"/>
              </a:rPr>
              <a:t>&lt;number&gt;</a:t>
            </a:fld>
            <a:endParaRPr b="0" lang="en-US" sz="13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4" name="PlaceHolder 1"/>
          <p:cNvSpPr>
            <a:spLocks noGrp="1"/>
          </p:cNvSpPr>
          <p:nvPr>
            <p:ph type="title"/>
          </p:nvPr>
        </p:nvSpPr>
        <p:spPr>
          <a:xfrm>
            <a:off x="415440" y="1474920"/>
            <a:ext cx="11360520" cy="2617560"/>
          </a:xfrm>
          <a:prstGeom prst="rect">
            <a:avLst/>
          </a:prstGeom>
          <a:noFill/>
          <a:ln w="0">
            <a:noFill/>
          </a:ln>
        </p:spPr>
        <p:txBody>
          <a:bodyPr lIns="122040" rIns="122040" tIns="122040" bIns="122040" anchor="b">
            <a:normAutofit fontScale="97570"/>
          </a:bodyPr>
          <a:p>
            <a:pPr indent="0" algn="ctr">
              <a:lnSpc>
                <a:spcPct val="100000"/>
              </a:lnSpc>
              <a:buNone/>
            </a:pPr>
            <a:r>
              <a:rPr b="0" lang="en-US" sz="16000" spc="-1" strike="noStrike">
                <a:solidFill>
                  <a:schemeClr val="dk1"/>
                </a:solidFill>
                <a:latin typeface="Arial"/>
                <a:ea typeface="Arial"/>
              </a:rPr>
              <a:t>xx</a:t>
            </a:r>
            <a:r>
              <a:rPr b="0" lang="en-US" sz="16000" spc="-1" strike="noStrike">
                <a:solidFill>
                  <a:schemeClr val="dk1"/>
                </a:solidFill>
                <a:latin typeface="Arial"/>
                <a:ea typeface="Arial"/>
              </a:rPr>
              <a:t>%</a:t>
            </a:r>
            <a:endParaRPr b="0" lang="en-US" sz="16000" spc="-1" strike="noStrike">
              <a:solidFill>
                <a:srgbClr val="000000"/>
              </a:solidFill>
              <a:latin typeface="Arial"/>
            </a:endParaRPr>
          </a:p>
        </p:txBody>
      </p:sp>
      <p:sp>
        <p:nvSpPr>
          <p:cNvPr id="5" name="PlaceHolder 2"/>
          <p:cNvSpPr>
            <a:spLocks noGrp="1"/>
          </p:cNvSpPr>
          <p:nvPr>
            <p:ph type="body"/>
          </p:nvPr>
        </p:nvSpPr>
        <p:spPr>
          <a:xfrm>
            <a:off x="415440" y="4203000"/>
            <a:ext cx="11360520" cy="1734120"/>
          </a:xfrm>
          <a:prstGeom prst="rect">
            <a:avLst/>
          </a:prstGeom>
          <a:noFill/>
          <a:ln w="0">
            <a:noFill/>
          </a:ln>
        </p:spPr>
        <p:txBody>
          <a:bodyPr lIns="122040" rIns="122040" tIns="122040" bIns="122040" anchor="t">
            <a:normAutofit fontScale="43732"/>
          </a:bodyPr>
          <a:p>
            <a:pPr marL="432000" indent="-324000">
              <a:spcBef>
                <a:spcPts val="1417"/>
              </a:spcBef>
              <a:buClr>
                <a:srgbClr val="000000"/>
              </a:buClr>
              <a:buSzPct val="45000"/>
              <a:buFont typeface="Wingdings" charset="2"/>
              <a:buChar char=""/>
            </a:pPr>
            <a:r>
              <a:rPr b="0" lang="en-US" sz="2400" spc="-1" strike="noStrike">
                <a:solidFill>
                  <a:srgbClr val="000000"/>
                </a:solidFill>
                <a:latin typeface="Arial"/>
              </a:rPr>
              <a:t>Click to edit the outline text format</a:t>
            </a:r>
            <a:endParaRPr b="0" lang="en-US" sz="24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400" spc="-1" strike="noStrike">
                <a:solidFill>
                  <a:srgbClr val="000000"/>
                </a:solidFill>
                <a:latin typeface="Arial"/>
              </a:rPr>
              <a:t>Second Outline Level</a:t>
            </a:r>
            <a:endParaRPr b="0" lang="en-US" sz="24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400" spc="-1" strike="noStrike">
                <a:solidFill>
                  <a:srgbClr val="000000"/>
                </a:solidFill>
                <a:latin typeface="Arial"/>
              </a:rPr>
              <a:t>Fourth Outline Level</a:t>
            </a:r>
            <a:endParaRPr b="0" lang="en-US" sz="24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400" spc="-1" strike="noStrike">
                <a:solidFill>
                  <a:srgbClr val="000000"/>
                </a:solidFill>
                <a:latin typeface="Arial"/>
              </a:rPr>
              <a:t>Fifth Outline Level</a:t>
            </a:r>
            <a:endParaRPr b="0" lang="en-US" sz="24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400" spc="-1" strike="noStrike">
                <a:solidFill>
                  <a:srgbClr val="000000"/>
                </a:solidFill>
                <a:latin typeface="Arial"/>
              </a:rPr>
              <a:t>Sixth Outline Level</a:t>
            </a:r>
            <a:endParaRPr b="0" lang="en-US" sz="24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400" spc="-1" strike="noStrike">
                <a:solidFill>
                  <a:srgbClr val="000000"/>
                </a:solidFill>
                <a:latin typeface="Arial"/>
              </a:rPr>
              <a:t>Seventh Outline Level</a:t>
            </a:r>
            <a:endParaRPr b="0" lang="en-US" sz="2400" spc="-1" strike="noStrike">
              <a:solidFill>
                <a:srgbClr val="000000"/>
              </a:solidFill>
              <a:latin typeface="Arial"/>
            </a:endParaRPr>
          </a:p>
        </p:txBody>
      </p:sp>
      <p:sp>
        <p:nvSpPr>
          <p:cNvPr id="6" name="PlaceHolder 3"/>
          <p:cNvSpPr>
            <a:spLocks noGrp="1"/>
          </p:cNvSpPr>
          <p:nvPr>
            <p:ph type="sldNum" idx="2"/>
          </p:nvPr>
        </p:nvSpPr>
        <p:spPr>
          <a:xfrm>
            <a:off x="11296440" y="6217560"/>
            <a:ext cx="731160" cy="524520"/>
          </a:xfrm>
          <a:prstGeom prst="rect">
            <a:avLst/>
          </a:prstGeom>
          <a:noFill/>
          <a:ln w="0">
            <a:noFill/>
          </a:ln>
        </p:spPr>
        <p:txBody>
          <a:bodyPr lIns="122040" rIns="122040" tIns="122040" bIns="122040" anchor="ctr">
            <a:normAutofit/>
          </a:bodyPr>
          <a:lstStyle>
            <a:lvl1pPr indent="0" algn="r">
              <a:lnSpc>
                <a:spcPct val="100000"/>
              </a:lnSpc>
              <a:buNone/>
              <a:tabLst>
                <a:tab algn="l" pos="0"/>
              </a:tabLst>
              <a:defRPr b="0" lang="en" sz="1300" spc="-1" strike="noStrike">
                <a:solidFill>
                  <a:schemeClr val="dk2"/>
                </a:solidFill>
                <a:latin typeface="Arial"/>
                <a:ea typeface="Arial"/>
              </a:defRPr>
            </a:lvl1pPr>
          </a:lstStyle>
          <a:p>
            <a:pPr indent="0" algn="r">
              <a:lnSpc>
                <a:spcPct val="100000"/>
              </a:lnSpc>
              <a:buNone/>
              <a:tabLst>
                <a:tab algn="l" pos="0"/>
              </a:tabLst>
            </a:pPr>
            <a:fld id="{2E581138-4D67-43A4-98CF-27DD2BEBCB48}" type="slidenum">
              <a:rPr b="0" lang="en" sz="1300" spc="-1" strike="noStrike">
                <a:solidFill>
                  <a:schemeClr val="dk2"/>
                </a:solidFill>
                <a:latin typeface="Arial"/>
                <a:ea typeface="Arial"/>
              </a:rPr>
              <a:t>&lt;number&gt;</a:t>
            </a:fld>
            <a:endParaRPr b="0" lang="en-US" sz="13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7" name="PlaceHolder 1"/>
          <p:cNvSpPr>
            <a:spLocks noGrp="1"/>
          </p:cNvSpPr>
          <p:nvPr>
            <p:ph type="sldNum" idx="3"/>
          </p:nvPr>
        </p:nvSpPr>
        <p:spPr>
          <a:xfrm>
            <a:off x="11296440" y="6217560"/>
            <a:ext cx="731160" cy="524520"/>
          </a:xfrm>
          <a:prstGeom prst="rect">
            <a:avLst/>
          </a:prstGeom>
          <a:noFill/>
          <a:ln w="0">
            <a:noFill/>
          </a:ln>
        </p:spPr>
        <p:txBody>
          <a:bodyPr lIns="122040" rIns="122040" tIns="122040" bIns="122040" anchor="ctr">
            <a:normAutofit/>
          </a:bodyPr>
          <a:lstStyle>
            <a:lvl1pPr indent="0" algn="r">
              <a:lnSpc>
                <a:spcPct val="100000"/>
              </a:lnSpc>
              <a:buNone/>
              <a:tabLst>
                <a:tab algn="l" pos="0"/>
              </a:tabLst>
              <a:defRPr b="0" lang="en" sz="1300" spc="-1" strike="noStrike">
                <a:solidFill>
                  <a:schemeClr val="dk2"/>
                </a:solidFill>
                <a:latin typeface="Arial"/>
                <a:ea typeface="Arial"/>
              </a:defRPr>
            </a:lvl1pPr>
          </a:lstStyle>
          <a:p>
            <a:pPr indent="0" algn="r">
              <a:lnSpc>
                <a:spcPct val="100000"/>
              </a:lnSpc>
              <a:buNone/>
              <a:tabLst>
                <a:tab algn="l" pos="0"/>
              </a:tabLst>
            </a:pPr>
            <a:fld id="{256BCC42-ADD0-486F-A9A5-BC28533BD62A}" type="slidenum">
              <a:rPr b="0" lang="en" sz="1300" spc="-1" strike="noStrike">
                <a:solidFill>
                  <a:schemeClr val="dk2"/>
                </a:solidFill>
                <a:latin typeface="Arial"/>
                <a:ea typeface="Arial"/>
              </a:rPr>
              <a:t>&lt;number&gt;</a:t>
            </a:fld>
            <a:endParaRPr b="0" lang="en-US" sz="13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8" name="PlaceHolder 1"/>
          <p:cNvSpPr>
            <a:spLocks noGrp="1"/>
          </p:cNvSpPr>
          <p:nvPr>
            <p:ph type="title"/>
          </p:nvPr>
        </p:nvSpPr>
        <p:spPr>
          <a:xfrm>
            <a:off x="415440" y="992880"/>
            <a:ext cx="11360520" cy="2736360"/>
          </a:xfrm>
          <a:prstGeom prst="rect">
            <a:avLst/>
          </a:prstGeom>
          <a:noFill/>
          <a:ln w="0">
            <a:noFill/>
          </a:ln>
        </p:spPr>
        <p:txBody>
          <a:bodyPr lIns="122040" rIns="122040" tIns="122040" bIns="122040" anchor="b">
            <a:normAutofit/>
          </a:bodyPr>
          <a:p>
            <a:pPr indent="0">
              <a:buNone/>
            </a:pPr>
            <a:r>
              <a:rPr b="0" lang="en-US" sz="6900" spc="-1" strike="noStrike">
                <a:solidFill>
                  <a:srgbClr val="000000"/>
                </a:solidFill>
                <a:latin typeface="Arial"/>
              </a:rPr>
              <a:t>Click to edit the title text </a:t>
            </a:r>
            <a:r>
              <a:rPr b="0" lang="en-US" sz="6900" spc="-1" strike="noStrike">
                <a:solidFill>
                  <a:srgbClr val="000000"/>
                </a:solidFill>
                <a:latin typeface="Arial"/>
              </a:rPr>
              <a:t>format</a:t>
            </a:r>
            <a:endParaRPr b="0" lang="en-US" sz="6900" spc="-1" strike="noStrike">
              <a:solidFill>
                <a:srgbClr val="000000"/>
              </a:solidFill>
              <a:latin typeface="Arial"/>
            </a:endParaRPr>
          </a:p>
        </p:txBody>
      </p:sp>
      <p:sp>
        <p:nvSpPr>
          <p:cNvPr id="9" name="PlaceHolder 2"/>
          <p:cNvSpPr>
            <a:spLocks noGrp="1"/>
          </p:cNvSpPr>
          <p:nvPr>
            <p:ph type="sldNum" idx="4"/>
          </p:nvPr>
        </p:nvSpPr>
        <p:spPr>
          <a:xfrm>
            <a:off x="11296440" y="6217560"/>
            <a:ext cx="731160" cy="524520"/>
          </a:xfrm>
          <a:prstGeom prst="rect">
            <a:avLst/>
          </a:prstGeom>
          <a:noFill/>
          <a:ln w="0">
            <a:noFill/>
          </a:ln>
        </p:spPr>
        <p:txBody>
          <a:bodyPr lIns="122040" rIns="122040" tIns="122040" bIns="122040" anchor="ctr">
            <a:normAutofit/>
          </a:bodyPr>
          <a:lstStyle>
            <a:lvl1pPr indent="0" algn="r">
              <a:lnSpc>
                <a:spcPct val="100000"/>
              </a:lnSpc>
              <a:buNone/>
              <a:tabLst>
                <a:tab algn="l" pos="0"/>
              </a:tabLst>
              <a:defRPr b="0" lang="en" sz="1300" spc="-1" strike="noStrike">
                <a:solidFill>
                  <a:schemeClr val="dk2"/>
                </a:solidFill>
                <a:latin typeface="Arial"/>
                <a:ea typeface="Arial"/>
              </a:defRPr>
            </a:lvl1pPr>
          </a:lstStyle>
          <a:p>
            <a:pPr indent="0" algn="r">
              <a:lnSpc>
                <a:spcPct val="100000"/>
              </a:lnSpc>
              <a:buNone/>
              <a:tabLst>
                <a:tab algn="l" pos="0"/>
              </a:tabLst>
            </a:pPr>
            <a:fld id="{D273F283-764C-460E-9E89-B0383B0E02D8}" type="slidenum">
              <a:rPr b="0" lang="en" sz="1300" spc="-1" strike="noStrike">
                <a:solidFill>
                  <a:schemeClr val="dk2"/>
                </a:solidFill>
                <a:latin typeface="Arial"/>
                <a:ea typeface="Arial"/>
              </a:rPr>
              <a:t>&lt;number&gt;</a:t>
            </a:fld>
            <a:endParaRPr b="0" lang="en-US" sz="13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12" name="PlaceHolder 1"/>
          <p:cNvSpPr>
            <a:spLocks noGrp="1"/>
          </p:cNvSpPr>
          <p:nvPr>
            <p:ph type="title"/>
          </p:nvPr>
        </p:nvSpPr>
        <p:spPr>
          <a:xfrm>
            <a:off x="415440" y="2867760"/>
            <a:ext cx="11360520" cy="1122120"/>
          </a:xfrm>
          <a:prstGeom prst="rect">
            <a:avLst/>
          </a:prstGeom>
          <a:noFill/>
          <a:ln w="0">
            <a:noFill/>
          </a:ln>
        </p:spPr>
        <p:txBody>
          <a:bodyPr lIns="122040" rIns="122040" tIns="122040" bIns="122040" anchor="ctr">
            <a:normAutofit/>
          </a:bodyPr>
          <a:p>
            <a:pPr indent="0">
              <a:buNone/>
            </a:pPr>
            <a:r>
              <a:rPr b="0" lang="en-US" sz="4800" spc="-1" strike="noStrike">
                <a:solidFill>
                  <a:srgbClr val="000000"/>
                </a:solidFill>
                <a:latin typeface="Arial"/>
              </a:rPr>
              <a:t>Click to </a:t>
            </a:r>
            <a:r>
              <a:rPr b="0" lang="en-US" sz="4800" spc="-1" strike="noStrike">
                <a:solidFill>
                  <a:srgbClr val="000000"/>
                </a:solidFill>
                <a:latin typeface="Arial"/>
              </a:rPr>
              <a:t>edit the </a:t>
            </a:r>
            <a:r>
              <a:rPr b="0" lang="en-US" sz="4800" spc="-1" strike="noStrike">
                <a:solidFill>
                  <a:srgbClr val="000000"/>
                </a:solidFill>
                <a:latin typeface="Arial"/>
              </a:rPr>
              <a:t>title text </a:t>
            </a:r>
            <a:r>
              <a:rPr b="0" lang="en-US" sz="4800" spc="-1" strike="noStrike">
                <a:solidFill>
                  <a:srgbClr val="000000"/>
                </a:solidFill>
                <a:latin typeface="Arial"/>
              </a:rPr>
              <a:t>format</a:t>
            </a:r>
            <a:endParaRPr b="0" lang="en-US" sz="4800" spc="-1" strike="noStrike">
              <a:solidFill>
                <a:srgbClr val="000000"/>
              </a:solidFill>
              <a:latin typeface="Arial"/>
            </a:endParaRPr>
          </a:p>
        </p:txBody>
      </p:sp>
      <p:sp>
        <p:nvSpPr>
          <p:cNvPr id="13" name="PlaceHolder 2"/>
          <p:cNvSpPr>
            <a:spLocks noGrp="1"/>
          </p:cNvSpPr>
          <p:nvPr>
            <p:ph type="sldNum" idx="5"/>
          </p:nvPr>
        </p:nvSpPr>
        <p:spPr>
          <a:xfrm>
            <a:off x="11296440" y="6217560"/>
            <a:ext cx="731160" cy="524520"/>
          </a:xfrm>
          <a:prstGeom prst="rect">
            <a:avLst/>
          </a:prstGeom>
          <a:noFill/>
          <a:ln w="0">
            <a:noFill/>
          </a:ln>
        </p:spPr>
        <p:txBody>
          <a:bodyPr lIns="122040" rIns="122040" tIns="122040" bIns="122040" anchor="ctr">
            <a:normAutofit/>
          </a:bodyPr>
          <a:lstStyle>
            <a:lvl1pPr indent="0" algn="r">
              <a:lnSpc>
                <a:spcPct val="100000"/>
              </a:lnSpc>
              <a:buNone/>
              <a:tabLst>
                <a:tab algn="l" pos="0"/>
              </a:tabLst>
              <a:defRPr b="0" lang="en" sz="1300" spc="-1" strike="noStrike">
                <a:solidFill>
                  <a:schemeClr val="dk2"/>
                </a:solidFill>
                <a:latin typeface="Arial"/>
                <a:ea typeface="Arial"/>
              </a:defRPr>
            </a:lvl1pPr>
          </a:lstStyle>
          <a:p>
            <a:pPr indent="0" algn="r">
              <a:lnSpc>
                <a:spcPct val="100000"/>
              </a:lnSpc>
              <a:buNone/>
              <a:tabLst>
                <a:tab algn="l" pos="0"/>
              </a:tabLst>
            </a:pPr>
            <a:fld id="{17D2BA3C-F897-4380-85BF-B6B55F21F2BB}" type="slidenum">
              <a:rPr b="0" lang="en" sz="1300" spc="-1" strike="noStrike">
                <a:solidFill>
                  <a:schemeClr val="dk2"/>
                </a:solidFill>
                <a:latin typeface="Arial"/>
                <a:ea typeface="Arial"/>
              </a:rPr>
              <a:t>&lt;number&gt;</a:t>
            </a:fld>
            <a:endParaRPr b="0" lang="en-US" sz="13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14" name="PlaceHolder 1"/>
          <p:cNvSpPr>
            <a:spLocks noGrp="1"/>
          </p:cNvSpPr>
          <p:nvPr>
            <p:ph type="title"/>
          </p:nvPr>
        </p:nvSpPr>
        <p:spPr>
          <a:xfrm>
            <a:off x="415440" y="593280"/>
            <a:ext cx="11360520" cy="763200"/>
          </a:xfrm>
          <a:prstGeom prst="rect">
            <a:avLst/>
          </a:prstGeom>
          <a:noFill/>
          <a:ln w="0">
            <a:noFill/>
          </a:ln>
        </p:spPr>
        <p:txBody>
          <a:bodyPr lIns="122040" rIns="122040" tIns="122040" bIns="122040" anchor="t">
            <a:normAutofit fontScale="93263"/>
          </a:bodyPr>
          <a:p>
            <a:pPr indent="0">
              <a:buNone/>
            </a:pPr>
            <a:r>
              <a:rPr b="0" lang="en-US" sz="3700" spc="-1" strike="noStrike">
                <a:solidFill>
                  <a:srgbClr val="000000"/>
                </a:solidFill>
                <a:latin typeface="Arial"/>
              </a:rPr>
              <a:t>Click to </a:t>
            </a:r>
            <a:r>
              <a:rPr b="0" lang="en-US" sz="3700" spc="-1" strike="noStrike">
                <a:solidFill>
                  <a:srgbClr val="000000"/>
                </a:solidFill>
                <a:latin typeface="Arial"/>
              </a:rPr>
              <a:t>edit the </a:t>
            </a:r>
            <a:r>
              <a:rPr b="0" lang="en-US" sz="3700" spc="-1" strike="noStrike">
                <a:solidFill>
                  <a:srgbClr val="000000"/>
                </a:solidFill>
                <a:latin typeface="Arial"/>
              </a:rPr>
              <a:t>title text </a:t>
            </a:r>
            <a:r>
              <a:rPr b="0" lang="en-US" sz="3700" spc="-1" strike="noStrike">
                <a:solidFill>
                  <a:srgbClr val="000000"/>
                </a:solidFill>
                <a:latin typeface="Arial"/>
              </a:rPr>
              <a:t>format</a:t>
            </a:r>
            <a:endParaRPr b="0" lang="en-US" sz="3700" spc="-1" strike="noStrike">
              <a:solidFill>
                <a:srgbClr val="000000"/>
              </a:solidFill>
              <a:latin typeface="Arial"/>
            </a:endParaRPr>
          </a:p>
        </p:txBody>
      </p:sp>
      <p:sp>
        <p:nvSpPr>
          <p:cNvPr id="15" name="PlaceHolder 2"/>
          <p:cNvSpPr>
            <a:spLocks noGrp="1"/>
          </p:cNvSpPr>
          <p:nvPr>
            <p:ph type="body"/>
          </p:nvPr>
        </p:nvSpPr>
        <p:spPr>
          <a:xfrm>
            <a:off x="415440" y="1536480"/>
            <a:ext cx="11360520" cy="4554720"/>
          </a:xfrm>
          <a:prstGeom prst="rect">
            <a:avLst/>
          </a:prstGeom>
          <a:noFill/>
          <a:ln w="0">
            <a:noFill/>
          </a:ln>
        </p:spPr>
        <p:txBody>
          <a:bodyPr lIns="122040" rIns="122040" tIns="122040" bIns="122040" anchor="t">
            <a:normAutofit/>
          </a:bodyPr>
          <a:p>
            <a:pPr marL="432000" indent="-324000">
              <a:spcBef>
                <a:spcPts val="1417"/>
              </a:spcBef>
              <a:buClr>
                <a:srgbClr val="000000"/>
              </a:buClr>
              <a:buSzPct val="45000"/>
              <a:buFont typeface="Wingdings" charset="2"/>
              <a:buChar char=""/>
            </a:pPr>
            <a:r>
              <a:rPr b="0" lang="en-US" sz="2400" spc="-1" strike="noStrike">
                <a:solidFill>
                  <a:srgbClr val="000000"/>
                </a:solidFill>
                <a:latin typeface="Arial"/>
              </a:rPr>
              <a:t>Click to edit the outline text format</a:t>
            </a:r>
            <a:endParaRPr b="0" lang="en-US" sz="24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400" spc="-1" strike="noStrike">
                <a:solidFill>
                  <a:srgbClr val="000000"/>
                </a:solidFill>
                <a:latin typeface="Arial"/>
              </a:rPr>
              <a:t>Second Outline Level</a:t>
            </a:r>
            <a:endParaRPr b="0" lang="en-US" sz="24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400" spc="-1" strike="noStrike">
                <a:solidFill>
                  <a:srgbClr val="000000"/>
                </a:solidFill>
                <a:latin typeface="Arial"/>
              </a:rPr>
              <a:t>Fourth Outline Level</a:t>
            </a:r>
            <a:endParaRPr b="0" lang="en-US" sz="24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400" spc="-1" strike="noStrike">
                <a:solidFill>
                  <a:srgbClr val="000000"/>
                </a:solidFill>
                <a:latin typeface="Arial"/>
              </a:rPr>
              <a:t>Fifth Outline Level</a:t>
            </a:r>
            <a:endParaRPr b="0" lang="en-US" sz="24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400" spc="-1" strike="noStrike">
                <a:solidFill>
                  <a:srgbClr val="000000"/>
                </a:solidFill>
                <a:latin typeface="Arial"/>
              </a:rPr>
              <a:t>Sixth Outline Level</a:t>
            </a:r>
            <a:endParaRPr b="0" lang="en-US" sz="24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400" spc="-1" strike="noStrike">
                <a:solidFill>
                  <a:srgbClr val="000000"/>
                </a:solidFill>
                <a:latin typeface="Arial"/>
              </a:rPr>
              <a:t>Seventh Outline Level</a:t>
            </a:r>
            <a:endParaRPr b="0" lang="en-US" sz="2400" spc="-1" strike="noStrike">
              <a:solidFill>
                <a:srgbClr val="000000"/>
              </a:solidFill>
              <a:latin typeface="Arial"/>
            </a:endParaRPr>
          </a:p>
        </p:txBody>
      </p:sp>
      <p:sp>
        <p:nvSpPr>
          <p:cNvPr id="16" name="PlaceHolder 3"/>
          <p:cNvSpPr>
            <a:spLocks noGrp="1"/>
          </p:cNvSpPr>
          <p:nvPr>
            <p:ph type="sldNum" idx="6"/>
          </p:nvPr>
        </p:nvSpPr>
        <p:spPr>
          <a:xfrm>
            <a:off x="11296440" y="6217560"/>
            <a:ext cx="731160" cy="524520"/>
          </a:xfrm>
          <a:prstGeom prst="rect">
            <a:avLst/>
          </a:prstGeom>
          <a:noFill/>
          <a:ln w="0">
            <a:noFill/>
          </a:ln>
        </p:spPr>
        <p:txBody>
          <a:bodyPr lIns="122040" rIns="122040" tIns="122040" bIns="122040" anchor="ctr">
            <a:normAutofit/>
          </a:bodyPr>
          <a:lstStyle>
            <a:lvl1pPr indent="0" algn="r">
              <a:lnSpc>
                <a:spcPct val="100000"/>
              </a:lnSpc>
              <a:buNone/>
              <a:tabLst>
                <a:tab algn="l" pos="0"/>
              </a:tabLst>
              <a:defRPr b="0" lang="en" sz="1300" spc="-1" strike="noStrike">
                <a:solidFill>
                  <a:schemeClr val="dk2"/>
                </a:solidFill>
                <a:latin typeface="Arial"/>
                <a:ea typeface="Arial"/>
              </a:defRPr>
            </a:lvl1pPr>
          </a:lstStyle>
          <a:p>
            <a:pPr indent="0" algn="r">
              <a:lnSpc>
                <a:spcPct val="100000"/>
              </a:lnSpc>
              <a:buNone/>
              <a:tabLst>
                <a:tab algn="l" pos="0"/>
              </a:tabLst>
            </a:pPr>
            <a:fld id="{AE312143-8EA4-4E62-99FF-C403DB0DA1ED}" type="slidenum">
              <a:rPr b="0" lang="en" sz="1300" spc="-1" strike="noStrike">
                <a:solidFill>
                  <a:schemeClr val="dk2"/>
                </a:solidFill>
                <a:latin typeface="Arial"/>
                <a:ea typeface="Arial"/>
              </a:rPr>
              <a:t>&lt;number&gt;</a:t>
            </a:fld>
            <a:endParaRPr b="0" lang="en-US" sz="13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19" name="PlaceHolder 1"/>
          <p:cNvSpPr>
            <a:spLocks noGrp="1"/>
          </p:cNvSpPr>
          <p:nvPr>
            <p:ph type="title"/>
          </p:nvPr>
        </p:nvSpPr>
        <p:spPr>
          <a:xfrm>
            <a:off x="415440" y="593280"/>
            <a:ext cx="11360520" cy="763200"/>
          </a:xfrm>
          <a:prstGeom prst="rect">
            <a:avLst/>
          </a:prstGeom>
          <a:noFill/>
          <a:ln w="0">
            <a:noFill/>
          </a:ln>
        </p:spPr>
        <p:txBody>
          <a:bodyPr lIns="122040" rIns="122040" tIns="122040" bIns="122040" anchor="t">
            <a:normAutofit fontScale="93263"/>
          </a:bodyPr>
          <a:p>
            <a:pPr indent="0">
              <a:buNone/>
            </a:pPr>
            <a:r>
              <a:rPr b="0" lang="en-US" sz="3700" spc="-1" strike="noStrike">
                <a:solidFill>
                  <a:srgbClr val="000000"/>
                </a:solidFill>
                <a:latin typeface="Arial"/>
              </a:rPr>
              <a:t>Click to edit the title text format</a:t>
            </a:r>
            <a:endParaRPr b="0" lang="en-US" sz="3700" spc="-1" strike="noStrike">
              <a:solidFill>
                <a:srgbClr val="000000"/>
              </a:solidFill>
              <a:latin typeface="Arial"/>
            </a:endParaRPr>
          </a:p>
        </p:txBody>
      </p:sp>
      <p:sp>
        <p:nvSpPr>
          <p:cNvPr id="20" name="PlaceHolder 2"/>
          <p:cNvSpPr>
            <a:spLocks noGrp="1"/>
          </p:cNvSpPr>
          <p:nvPr>
            <p:ph type="body"/>
          </p:nvPr>
        </p:nvSpPr>
        <p:spPr>
          <a:xfrm>
            <a:off x="415440" y="1536480"/>
            <a:ext cx="5332680" cy="4554720"/>
          </a:xfrm>
          <a:prstGeom prst="rect">
            <a:avLst/>
          </a:prstGeom>
          <a:noFill/>
          <a:ln w="0">
            <a:noFill/>
          </a:ln>
        </p:spPr>
        <p:txBody>
          <a:bodyPr lIns="122040" rIns="122040" tIns="122040" bIns="122040" anchor="t">
            <a:normAutofit/>
          </a:bodyPr>
          <a:p>
            <a:pPr marL="432000" indent="-324000">
              <a:spcBef>
                <a:spcPts val="1417"/>
              </a:spcBef>
              <a:buClr>
                <a:srgbClr val="000000"/>
              </a:buClr>
              <a:buSzPct val="45000"/>
              <a:buFont typeface="Wingdings" charset="2"/>
              <a:buChar char=""/>
            </a:pPr>
            <a:r>
              <a:rPr b="0" lang="en-US" sz="1900" spc="-1" strike="noStrike">
                <a:solidFill>
                  <a:srgbClr val="000000"/>
                </a:solidFill>
                <a:latin typeface="Arial"/>
              </a:rPr>
              <a:t>Click to edit the outline text format</a:t>
            </a:r>
            <a:endParaRPr b="0" lang="en-US" sz="19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900" spc="-1" strike="noStrike">
                <a:solidFill>
                  <a:srgbClr val="000000"/>
                </a:solidFill>
                <a:latin typeface="Arial"/>
              </a:rPr>
              <a:t>Second Outline Level</a:t>
            </a:r>
            <a:endParaRPr b="0" lang="en-US" sz="19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900" spc="-1" strike="noStrike">
                <a:solidFill>
                  <a:srgbClr val="000000"/>
                </a:solidFill>
                <a:latin typeface="Arial"/>
              </a:rPr>
              <a:t>Third Outline Level</a:t>
            </a:r>
            <a:endParaRPr b="0" lang="en-US" sz="19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900" spc="-1" strike="noStrike">
                <a:solidFill>
                  <a:srgbClr val="000000"/>
                </a:solidFill>
                <a:latin typeface="Arial"/>
              </a:rPr>
              <a:t>Fourth Outline Level</a:t>
            </a:r>
            <a:endParaRPr b="0" lang="en-US" sz="19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900" spc="-1" strike="noStrike">
                <a:solidFill>
                  <a:srgbClr val="000000"/>
                </a:solidFill>
                <a:latin typeface="Arial"/>
              </a:rPr>
              <a:t>Fifth Outline Level</a:t>
            </a:r>
            <a:endParaRPr b="0" lang="en-US" sz="19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900" spc="-1" strike="noStrike">
                <a:solidFill>
                  <a:srgbClr val="000000"/>
                </a:solidFill>
                <a:latin typeface="Arial"/>
              </a:rPr>
              <a:t>Sixth Outline Level</a:t>
            </a:r>
            <a:endParaRPr b="0" lang="en-US" sz="19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900" spc="-1" strike="noStrike">
                <a:solidFill>
                  <a:srgbClr val="000000"/>
                </a:solidFill>
                <a:latin typeface="Arial"/>
              </a:rPr>
              <a:t>Seventh Outline Level</a:t>
            </a:r>
            <a:endParaRPr b="0" lang="en-US" sz="1900" spc="-1" strike="noStrike">
              <a:solidFill>
                <a:srgbClr val="000000"/>
              </a:solidFill>
              <a:latin typeface="Arial"/>
            </a:endParaRPr>
          </a:p>
        </p:txBody>
      </p:sp>
      <p:sp>
        <p:nvSpPr>
          <p:cNvPr id="21" name="PlaceHolder 3"/>
          <p:cNvSpPr>
            <a:spLocks noGrp="1"/>
          </p:cNvSpPr>
          <p:nvPr>
            <p:ph type="body"/>
          </p:nvPr>
        </p:nvSpPr>
        <p:spPr>
          <a:xfrm>
            <a:off x="6443280" y="1536480"/>
            <a:ext cx="5332680" cy="4554720"/>
          </a:xfrm>
          <a:prstGeom prst="rect">
            <a:avLst/>
          </a:prstGeom>
          <a:noFill/>
          <a:ln w="0">
            <a:noFill/>
          </a:ln>
        </p:spPr>
        <p:txBody>
          <a:bodyPr lIns="122040" rIns="122040" tIns="122040" bIns="122040" anchor="t">
            <a:normAutofit/>
          </a:bodyPr>
          <a:p>
            <a:pPr marL="432000" indent="-324000">
              <a:spcBef>
                <a:spcPts val="1417"/>
              </a:spcBef>
              <a:buClr>
                <a:srgbClr val="000000"/>
              </a:buClr>
              <a:buSzPct val="45000"/>
              <a:buFont typeface="Wingdings" charset="2"/>
              <a:buChar char=""/>
            </a:pPr>
            <a:r>
              <a:rPr b="0" lang="en-US" sz="1900" spc="-1" strike="noStrike">
                <a:solidFill>
                  <a:srgbClr val="000000"/>
                </a:solidFill>
                <a:latin typeface="Arial"/>
              </a:rPr>
              <a:t>Click to edit the outline text format</a:t>
            </a:r>
            <a:endParaRPr b="0" lang="en-US" sz="19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900" spc="-1" strike="noStrike">
                <a:solidFill>
                  <a:srgbClr val="000000"/>
                </a:solidFill>
                <a:latin typeface="Arial"/>
              </a:rPr>
              <a:t>Second Outline Level</a:t>
            </a:r>
            <a:endParaRPr b="0" lang="en-US" sz="19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900" spc="-1" strike="noStrike">
                <a:solidFill>
                  <a:srgbClr val="000000"/>
                </a:solidFill>
                <a:latin typeface="Arial"/>
              </a:rPr>
              <a:t>Third Outline Level</a:t>
            </a:r>
            <a:endParaRPr b="0" lang="en-US" sz="19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900" spc="-1" strike="noStrike">
                <a:solidFill>
                  <a:srgbClr val="000000"/>
                </a:solidFill>
                <a:latin typeface="Arial"/>
              </a:rPr>
              <a:t>Fourth Outline Level</a:t>
            </a:r>
            <a:endParaRPr b="0" lang="en-US" sz="19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900" spc="-1" strike="noStrike">
                <a:solidFill>
                  <a:srgbClr val="000000"/>
                </a:solidFill>
                <a:latin typeface="Arial"/>
              </a:rPr>
              <a:t>Fifth Outline Level</a:t>
            </a:r>
            <a:endParaRPr b="0" lang="en-US" sz="19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900" spc="-1" strike="noStrike">
                <a:solidFill>
                  <a:srgbClr val="000000"/>
                </a:solidFill>
                <a:latin typeface="Arial"/>
              </a:rPr>
              <a:t>Sixth Outline Level</a:t>
            </a:r>
            <a:endParaRPr b="0" lang="en-US" sz="19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900" spc="-1" strike="noStrike">
                <a:solidFill>
                  <a:srgbClr val="000000"/>
                </a:solidFill>
                <a:latin typeface="Arial"/>
              </a:rPr>
              <a:t>Seventh Outline Level</a:t>
            </a:r>
            <a:endParaRPr b="0" lang="en-US" sz="1900" spc="-1" strike="noStrike">
              <a:solidFill>
                <a:srgbClr val="000000"/>
              </a:solidFill>
              <a:latin typeface="Arial"/>
            </a:endParaRPr>
          </a:p>
        </p:txBody>
      </p:sp>
      <p:sp>
        <p:nvSpPr>
          <p:cNvPr id="22" name="PlaceHolder 4"/>
          <p:cNvSpPr>
            <a:spLocks noGrp="1"/>
          </p:cNvSpPr>
          <p:nvPr>
            <p:ph type="sldNum" idx="7"/>
          </p:nvPr>
        </p:nvSpPr>
        <p:spPr>
          <a:xfrm>
            <a:off x="11296440" y="6217560"/>
            <a:ext cx="731160" cy="524520"/>
          </a:xfrm>
          <a:prstGeom prst="rect">
            <a:avLst/>
          </a:prstGeom>
          <a:noFill/>
          <a:ln w="0">
            <a:noFill/>
          </a:ln>
        </p:spPr>
        <p:txBody>
          <a:bodyPr lIns="122040" rIns="122040" tIns="122040" bIns="122040" anchor="ctr">
            <a:normAutofit/>
          </a:bodyPr>
          <a:lstStyle>
            <a:lvl1pPr indent="0" algn="r">
              <a:lnSpc>
                <a:spcPct val="100000"/>
              </a:lnSpc>
              <a:buNone/>
              <a:tabLst>
                <a:tab algn="l" pos="0"/>
              </a:tabLst>
              <a:defRPr b="0" lang="en" sz="1300" spc="-1" strike="noStrike">
                <a:solidFill>
                  <a:schemeClr val="dk2"/>
                </a:solidFill>
                <a:latin typeface="Arial"/>
                <a:ea typeface="Arial"/>
              </a:defRPr>
            </a:lvl1pPr>
          </a:lstStyle>
          <a:p>
            <a:pPr indent="0" algn="r">
              <a:lnSpc>
                <a:spcPct val="100000"/>
              </a:lnSpc>
              <a:buNone/>
              <a:tabLst>
                <a:tab algn="l" pos="0"/>
              </a:tabLst>
            </a:pPr>
            <a:fld id="{B063F2E5-1E27-4727-B34B-45A2151EC865}" type="slidenum">
              <a:rPr b="0" lang="en" sz="1300" spc="-1" strike="noStrike">
                <a:solidFill>
                  <a:schemeClr val="dk2"/>
                </a:solidFill>
                <a:latin typeface="Arial"/>
                <a:ea typeface="Arial"/>
              </a:rPr>
              <a:t>&lt;number&gt;</a:t>
            </a:fld>
            <a:endParaRPr b="0" lang="en-US" sz="13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26" name="PlaceHolder 1"/>
          <p:cNvSpPr>
            <a:spLocks noGrp="1"/>
          </p:cNvSpPr>
          <p:nvPr>
            <p:ph type="title"/>
          </p:nvPr>
        </p:nvSpPr>
        <p:spPr>
          <a:xfrm>
            <a:off x="415440" y="593280"/>
            <a:ext cx="11360520" cy="763200"/>
          </a:xfrm>
          <a:prstGeom prst="rect">
            <a:avLst/>
          </a:prstGeom>
          <a:noFill/>
          <a:ln w="0">
            <a:noFill/>
          </a:ln>
        </p:spPr>
        <p:txBody>
          <a:bodyPr lIns="122040" rIns="122040" tIns="122040" bIns="122040" anchor="t">
            <a:normAutofit fontScale="93263"/>
          </a:bodyPr>
          <a:p>
            <a:pPr indent="0">
              <a:buNone/>
            </a:pPr>
            <a:r>
              <a:rPr b="0" lang="en-US" sz="3700" spc="-1" strike="noStrike">
                <a:solidFill>
                  <a:srgbClr val="000000"/>
                </a:solidFill>
                <a:latin typeface="Arial"/>
              </a:rPr>
              <a:t>Click to </a:t>
            </a:r>
            <a:r>
              <a:rPr b="0" lang="en-US" sz="3700" spc="-1" strike="noStrike">
                <a:solidFill>
                  <a:srgbClr val="000000"/>
                </a:solidFill>
                <a:latin typeface="Arial"/>
              </a:rPr>
              <a:t>edit the </a:t>
            </a:r>
            <a:r>
              <a:rPr b="0" lang="en-US" sz="3700" spc="-1" strike="noStrike">
                <a:solidFill>
                  <a:srgbClr val="000000"/>
                </a:solidFill>
                <a:latin typeface="Arial"/>
              </a:rPr>
              <a:t>title text </a:t>
            </a:r>
            <a:r>
              <a:rPr b="0" lang="en-US" sz="3700" spc="-1" strike="noStrike">
                <a:solidFill>
                  <a:srgbClr val="000000"/>
                </a:solidFill>
                <a:latin typeface="Arial"/>
              </a:rPr>
              <a:t>format</a:t>
            </a:r>
            <a:endParaRPr b="0" lang="en-US" sz="3700" spc="-1" strike="noStrike">
              <a:solidFill>
                <a:srgbClr val="000000"/>
              </a:solidFill>
              <a:latin typeface="Arial"/>
            </a:endParaRPr>
          </a:p>
        </p:txBody>
      </p:sp>
      <p:sp>
        <p:nvSpPr>
          <p:cNvPr id="27" name="PlaceHolder 2"/>
          <p:cNvSpPr>
            <a:spLocks noGrp="1"/>
          </p:cNvSpPr>
          <p:nvPr>
            <p:ph type="sldNum" idx="8"/>
          </p:nvPr>
        </p:nvSpPr>
        <p:spPr>
          <a:xfrm>
            <a:off x="11296440" y="6217560"/>
            <a:ext cx="731160" cy="524520"/>
          </a:xfrm>
          <a:prstGeom prst="rect">
            <a:avLst/>
          </a:prstGeom>
          <a:noFill/>
          <a:ln w="0">
            <a:noFill/>
          </a:ln>
        </p:spPr>
        <p:txBody>
          <a:bodyPr lIns="122040" rIns="122040" tIns="122040" bIns="122040" anchor="ctr">
            <a:normAutofit/>
          </a:bodyPr>
          <a:lstStyle>
            <a:lvl1pPr indent="0" algn="r">
              <a:lnSpc>
                <a:spcPct val="100000"/>
              </a:lnSpc>
              <a:buNone/>
              <a:tabLst>
                <a:tab algn="l" pos="0"/>
              </a:tabLst>
              <a:defRPr b="0" lang="en" sz="1300" spc="-1" strike="noStrike">
                <a:solidFill>
                  <a:schemeClr val="dk2"/>
                </a:solidFill>
                <a:latin typeface="Arial"/>
                <a:ea typeface="Arial"/>
              </a:defRPr>
            </a:lvl1pPr>
          </a:lstStyle>
          <a:p>
            <a:pPr indent="0" algn="r">
              <a:lnSpc>
                <a:spcPct val="100000"/>
              </a:lnSpc>
              <a:buNone/>
              <a:tabLst>
                <a:tab algn="l" pos="0"/>
              </a:tabLst>
            </a:pPr>
            <a:fld id="{94C200E6-5A3A-446C-9010-4DCEC0B036DA}" type="slidenum">
              <a:rPr b="0" lang="en" sz="1300" spc="-1" strike="noStrike">
                <a:solidFill>
                  <a:schemeClr val="dk2"/>
                </a:solidFill>
                <a:latin typeface="Arial"/>
                <a:ea typeface="Arial"/>
              </a:rPr>
              <a:t>&lt;number&gt;</a:t>
            </a:fld>
            <a:endParaRPr b="0" lang="en-US" sz="13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29" name="PlaceHolder 1"/>
          <p:cNvSpPr>
            <a:spLocks noGrp="1"/>
          </p:cNvSpPr>
          <p:nvPr>
            <p:ph type="title"/>
          </p:nvPr>
        </p:nvSpPr>
        <p:spPr>
          <a:xfrm>
            <a:off x="415440" y="740880"/>
            <a:ext cx="3743640" cy="1007280"/>
          </a:xfrm>
          <a:prstGeom prst="rect">
            <a:avLst/>
          </a:prstGeom>
          <a:noFill/>
          <a:ln w="0">
            <a:noFill/>
          </a:ln>
        </p:spPr>
        <p:txBody>
          <a:bodyPr lIns="122040" rIns="122040" tIns="122040" bIns="122040" anchor="b">
            <a:normAutofit fontScale="87491" lnSpcReduction="10000"/>
          </a:bodyPr>
          <a:p>
            <a:pPr indent="0">
              <a:buNone/>
            </a:pPr>
            <a:r>
              <a:rPr b="0" lang="en-US" sz="3200" spc="-1" strike="noStrike">
                <a:solidFill>
                  <a:srgbClr val="000000"/>
                </a:solidFill>
                <a:latin typeface="Arial"/>
              </a:rPr>
              <a:t>Click </a:t>
            </a:r>
            <a:r>
              <a:rPr b="0" lang="en-US" sz="3200" spc="-1" strike="noStrike">
                <a:solidFill>
                  <a:srgbClr val="000000"/>
                </a:solidFill>
                <a:latin typeface="Arial"/>
              </a:rPr>
              <a:t>to edit </a:t>
            </a:r>
            <a:r>
              <a:rPr b="0" lang="en-US" sz="3200" spc="-1" strike="noStrike">
                <a:solidFill>
                  <a:srgbClr val="000000"/>
                </a:solidFill>
                <a:latin typeface="Arial"/>
              </a:rPr>
              <a:t>the </a:t>
            </a:r>
            <a:r>
              <a:rPr b="0" lang="en-US" sz="3200" spc="-1" strike="noStrike">
                <a:solidFill>
                  <a:srgbClr val="000000"/>
                </a:solidFill>
                <a:latin typeface="Arial"/>
              </a:rPr>
              <a:t>title </a:t>
            </a:r>
            <a:r>
              <a:rPr b="0" lang="en-US" sz="3200" spc="-1" strike="noStrike">
                <a:solidFill>
                  <a:srgbClr val="000000"/>
                </a:solidFill>
                <a:latin typeface="Arial"/>
              </a:rPr>
              <a:t>text </a:t>
            </a:r>
            <a:r>
              <a:rPr b="0" lang="en-US" sz="3200" spc="-1" strike="noStrike">
                <a:solidFill>
                  <a:srgbClr val="000000"/>
                </a:solidFill>
                <a:latin typeface="Arial"/>
              </a:rPr>
              <a:t>forma</a:t>
            </a:r>
            <a:r>
              <a:rPr b="0" lang="en-US" sz="3200" spc="-1" strike="noStrike">
                <a:solidFill>
                  <a:srgbClr val="000000"/>
                </a:solidFill>
                <a:latin typeface="Arial"/>
              </a:rPr>
              <a:t>t</a:t>
            </a:r>
            <a:endParaRPr b="0" lang="en-US" sz="3200" spc="-1" strike="noStrike">
              <a:solidFill>
                <a:srgbClr val="000000"/>
              </a:solidFill>
              <a:latin typeface="Arial"/>
            </a:endParaRPr>
          </a:p>
        </p:txBody>
      </p:sp>
      <p:sp>
        <p:nvSpPr>
          <p:cNvPr id="30" name="PlaceHolder 2"/>
          <p:cNvSpPr>
            <a:spLocks noGrp="1"/>
          </p:cNvSpPr>
          <p:nvPr>
            <p:ph type="body"/>
          </p:nvPr>
        </p:nvSpPr>
        <p:spPr>
          <a:xfrm>
            <a:off x="415440" y="1852920"/>
            <a:ext cx="3743640" cy="4239000"/>
          </a:xfrm>
          <a:prstGeom prst="rect">
            <a:avLst/>
          </a:prstGeom>
          <a:noFill/>
          <a:ln w="0">
            <a:noFill/>
          </a:ln>
        </p:spPr>
        <p:txBody>
          <a:bodyPr lIns="122040" rIns="122040" tIns="122040" bIns="122040" anchor="t">
            <a:normAutofit fontScale="97576" lnSpcReduction="10000"/>
          </a:bodyPr>
          <a:p>
            <a:pPr marL="432000" indent="-324000">
              <a:spcBef>
                <a:spcPts val="1417"/>
              </a:spcBef>
              <a:buClr>
                <a:srgbClr val="000000"/>
              </a:buClr>
              <a:buSzPct val="45000"/>
              <a:buFont typeface="Wingdings" charset="2"/>
              <a:buChar char=""/>
            </a:pPr>
            <a:r>
              <a:rPr b="0" lang="en-US" sz="1600" spc="-1" strike="noStrike">
                <a:solidFill>
                  <a:srgbClr val="000000"/>
                </a:solidFill>
                <a:latin typeface="Arial"/>
              </a:rPr>
              <a:t>Click to edit the outline text format</a:t>
            </a:r>
            <a:endParaRPr b="0" lang="en-US" sz="16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600" spc="-1" strike="noStrike">
                <a:solidFill>
                  <a:srgbClr val="000000"/>
                </a:solidFill>
                <a:latin typeface="Arial"/>
              </a:rPr>
              <a:t>Second Outline Level</a:t>
            </a:r>
            <a:endParaRPr b="0" lang="en-US" sz="16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600" spc="-1" strike="noStrike">
                <a:solidFill>
                  <a:srgbClr val="000000"/>
                </a:solidFill>
                <a:latin typeface="Arial"/>
              </a:rPr>
              <a:t>Third Outline Level</a:t>
            </a:r>
            <a:endParaRPr b="0" lang="en-US" sz="16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600" spc="-1" strike="noStrike">
                <a:solidFill>
                  <a:srgbClr val="000000"/>
                </a:solidFill>
                <a:latin typeface="Arial"/>
              </a:rPr>
              <a:t>Fourth Outline Level</a:t>
            </a:r>
            <a:endParaRPr b="0" lang="en-US" sz="16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600" spc="-1" strike="noStrike">
                <a:solidFill>
                  <a:srgbClr val="000000"/>
                </a:solidFill>
                <a:latin typeface="Arial"/>
              </a:rPr>
              <a:t>Fifth Outline Level</a:t>
            </a:r>
            <a:endParaRPr b="0" lang="en-US" sz="16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600" spc="-1" strike="noStrike">
                <a:solidFill>
                  <a:srgbClr val="000000"/>
                </a:solidFill>
                <a:latin typeface="Arial"/>
              </a:rPr>
              <a:t>Sixth Outline Level</a:t>
            </a:r>
            <a:endParaRPr b="0" lang="en-US" sz="16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600" spc="-1" strike="noStrike">
                <a:solidFill>
                  <a:srgbClr val="000000"/>
                </a:solidFill>
                <a:latin typeface="Arial"/>
              </a:rPr>
              <a:t>Seventh Outline Level</a:t>
            </a:r>
            <a:endParaRPr b="0" lang="en-US" sz="1600" spc="-1" strike="noStrike">
              <a:solidFill>
                <a:srgbClr val="000000"/>
              </a:solidFill>
              <a:latin typeface="Arial"/>
            </a:endParaRPr>
          </a:p>
        </p:txBody>
      </p:sp>
      <p:sp>
        <p:nvSpPr>
          <p:cNvPr id="31" name="PlaceHolder 3"/>
          <p:cNvSpPr>
            <a:spLocks noGrp="1"/>
          </p:cNvSpPr>
          <p:nvPr>
            <p:ph type="sldNum" idx="9"/>
          </p:nvPr>
        </p:nvSpPr>
        <p:spPr>
          <a:xfrm>
            <a:off x="11296440" y="6217560"/>
            <a:ext cx="731160" cy="524520"/>
          </a:xfrm>
          <a:prstGeom prst="rect">
            <a:avLst/>
          </a:prstGeom>
          <a:noFill/>
          <a:ln w="0">
            <a:noFill/>
          </a:ln>
        </p:spPr>
        <p:txBody>
          <a:bodyPr lIns="122040" rIns="122040" tIns="122040" bIns="122040" anchor="ctr">
            <a:normAutofit/>
          </a:bodyPr>
          <a:lstStyle>
            <a:lvl1pPr indent="0" algn="r">
              <a:lnSpc>
                <a:spcPct val="100000"/>
              </a:lnSpc>
              <a:buNone/>
              <a:tabLst>
                <a:tab algn="l" pos="0"/>
              </a:tabLst>
              <a:defRPr b="0" lang="en" sz="1300" spc="-1" strike="noStrike">
                <a:solidFill>
                  <a:schemeClr val="dk2"/>
                </a:solidFill>
                <a:latin typeface="Arial"/>
                <a:ea typeface="Arial"/>
              </a:defRPr>
            </a:lvl1pPr>
          </a:lstStyle>
          <a:p>
            <a:pPr indent="0" algn="r">
              <a:lnSpc>
                <a:spcPct val="100000"/>
              </a:lnSpc>
              <a:buNone/>
              <a:tabLst>
                <a:tab algn="l" pos="0"/>
              </a:tabLst>
            </a:pPr>
            <a:fld id="{344A145B-04CB-43EB-8529-6A73CC1C1E80}" type="slidenum">
              <a:rPr b="0" lang="en" sz="1300" spc="-1" strike="noStrike">
                <a:solidFill>
                  <a:schemeClr val="dk2"/>
                </a:solidFill>
                <a:latin typeface="Arial"/>
                <a:ea typeface="Arial"/>
              </a:rPr>
              <a:t>&lt;number&gt;</a:t>
            </a:fld>
            <a:endParaRPr b="0" lang="en-US" sz="13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32" name="PlaceHolder 1"/>
          <p:cNvSpPr>
            <a:spLocks noGrp="1"/>
          </p:cNvSpPr>
          <p:nvPr>
            <p:ph type="title"/>
          </p:nvPr>
        </p:nvSpPr>
        <p:spPr>
          <a:xfrm>
            <a:off x="653760" y="600120"/>
            <a:ext cx="8489880" cy="5454000"/>
          </a:xfrm>
          <a:prstGeom prst="rect">
            <a:avLst/>
          </a:prstGeom>
          <a:noFill/>
          <a:ln w="0">
            <a:noFill/>
          </a:ln>
        </p:spPr>
        <p:txBody>
          <a:bodyPr lIns="122040" rIns="122040" tIns="122040" bIns="122040" anchor="ctr">
            <a:normAutofit/>
          </a:bodyPr>
          <a:p>
            <a:pPr indent="0">
              <a:buNone/>
            </a:pPr>
            <a:r>
              <a:rPr b="0" lang="en-US" sz="6400" spc="-1" strike="noStrike">
                <a:solidFill>
                  <a:srgbClr val="000000"/>
                </a:solidFill>
                <a:latin typeface="Arial"/>
              </a:rPr>
              <a:t>Click to edit the title text format</a:t>
            </a:r>
            <a:endParaRPr b="0" lang="en-US" sz="6400" spc="-1" strike="noStrike">
              <a:solidFill>
                <a:srgbClr val="000000"/>
              </a:solidFill>
              <a:latin typeface="Arial"/>
            </a:endParaRPr>
          </a:p>
        </p:txBody>
      </p:sp>
      <p:sp>
        <p:nvSpPr>
          <p:cNvPr id="33" name="PlaceHolder 2"/>
          <p:cNvSpPr>
            <a:spLocks noGrp="1"/>
          </p:cNvSpPr>
          <p:nvPr>
            <p:ph type="sldNum" idx="10"/>
          </p:nvPr>
        </p:nvSpPr>
        <p:spPr>
          <a:xfrm>
            <a:off x="11296440" y="6217560"/>
            <a:ext cx="731160" cy="524520"/>
          </a:xfrm>
          <a:prstGeom prst="rect">
            <a:avLst/>
          </a:prstGeom>
          <a:noFill/>
          <a:ln w="0">
            <a:noFill/>
          </a:ln>
        </p:spPr>
        <p:txBody>
          <a:bodyPr lIns="122040" rIns="122040" tIns="122040" bIns="122040" anchor="ctr">
            <a:normAutofit/>
          </a:bodyPr>
          <a:lstStyle>
            <a:lvl1pPr indent="0" algn="r">
              <a:lnSpc>
                <a:spcPct val="100000"/>
              </a:lnSpc>
              <a:buNone/>
              <a:tabLst>
                <a:tab algn="l" pos="0"/>
              </a:tabLst>
              <a:defRPr b="0" lang="en" sz="1300" spc="-1" strike="noStrike">
                <a:solidFill>
                  <a:schemeClr val="dk2"/>
                </a:solidFill>
                <a:latin typeface="Arial"/>
                <a:ea typeface="Arial"/>
              </a:defRPr>
            </a:lvl1pPr>
          </a:lstStyle>
          <a:p>
            <a:pPr indent="0" algn="r">
              <a:lnSpc>
                <a:spcPct val="100000"/>
              </a:lnSpc>
              <a:buNone/>
              <a:tabLst>
                <a:tab algn="l" pos="0"/>
              </a:tabLst>
            </a:pPr>
            <a:fld id="{FE7302DF-7639-4098-91E7-D272EC4AC2DB}" type="slidenum">
              <a:rPr b="0" lang="en" sz="1300" spc="-1" strike="noStrike">
                <a:solidFill>
                  <a:schemeClr val="dk2"/>
                </a:solidFill>
                <a:latin typeface="Arial"/>
                <a:ea typeface="Arial"/>
              </a:rPr>
              <a:t>&lt;number&gt;</a:t>
            </a:fld>
            <a:endParaRPr b="0" lang="en-US" sz="13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Masters/slideMaster1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sp>
        <p:nvSpPr>
          <p:cNvPr id="34" name="Google Shape;37;p10"/>
          <p:cNvSpPr/>
          <p:nvPr/>
        </p:nvSpPr>
        <p:spPr>
          <a:xfrm>
            <a:off x="6095880" y="0"/>
            <a:ext cx="6095520" cy="6857640"/>
          </a:xfrm>
          <a:prstGeom prst="rect">
            <a:avLst/>
          </a:prstGeom>
          <a:solidFill>
            <a:schemeClr val="lt2"/>
          </a:solidFill>
          <a:ln w="0">
            <a:noFill/>
          </a:ln>
        </p:spPr>
        <p:style>
          <a:lnRef idx="0"/>
          <a:fillRef idx="0"/>
          <a:effectRef idx="0"/>
          <a:fontRef idx="minor"/>
        </p:style>
        <p:txBody>
          <a:bodyPr lIns="122040" rIns="122040" tIns="122040" bIns="122040" anchor="ctr">
            <a:noAutofit/>
          </a:bodyPr>
          <a:p>
            <a:pPr>
              <a:lnSpc>
                <a:spcPct val="100000"/>
              </a:lnSpc>
              <a:tabLst>
                <a:tab algn="l" pos="0"/>
              </a:tabLst>
            </a:pPr>
            <a:endParaRPr b="0" lang="en-US" sz="1400" spc="-1" strike="noStrike">
              <a:solidFill>
                <a:srgbClr val="000000"/>
              </a:solidFill>
              <a:latin typeface="Arial"/>
            </a:endParaRPr>
          </a:p>
        </p:txBody>
      </p:sp>
      <p:sp>
        <p:nvSpPr>
          <p:cNvPr id="35" name="PlaceHolder 1"/>
          <p:cNvSpPr>
            <a:spLocks noGrp="1"/>
          </p:cNvSpPr>
          <p:nvPr>
            <p:ph type="title"/>
          </p:nvPr>
        </p:nvSpPr>
        <p:spPr>
          <a:xfrm>
            <a:off x="353880" y="1644120"/>
            <a:ext cx="5393160" cy="1976040"/>
          </a:xfrm>
          <a:prstGeom prst="rect">
            <a:avLst/>
          </a:prstGeom>
          <a:noFill/>
          <a:ln w="0">
            <a:noFill/>
          </a:ln>
        </p:spPr>
        <p:txBody>
          <a:bodyPr lIns="122040" rIns="122040" tIns="122040" bIns="122040" anchor="b">
            <a:normAutofit/>
          </a:bodyPr>
          <a:p>
            <a:pPr indent="0">
              <a:buNone/>
            </a:pPr>
            <a:r>
              <a:rPr b="0" lang="en-US" sz="5600" spc="-1" strike="noStrike">
                <a:solidFill>
                  <a:srgbClr val="000000"/>
                </a:solidFill>
                <a:latin typeface="Arial"/>
              </a:rPr>
              <a:t>Click to edit the title text format</a:t>
            </a:r>
            <a:endParaRPr b="0" lang="en-US" sz="5600" spc="-1" strike="noStrike">
              <a:solidFill>
                <a:srgbClr val="000000"/>
              </a:solidFill>
              <a:latin typeface="Arial"/>
            </a:endParaRPr>
          </a:p>
        </p:txBody>
      </p:sp>
      <p:sp>
        <p:nvSpPr>
          <p:cNvPr id="36" name="PlaceHolder 2"/>
          <p:cNvSpPr>
            <a:spLocks noGrp="1"/>
          </p:cNvSpPr>
          <p:nvPr>
            <p:ph type="body"/>
          </p:nvPr>
        </p:nvSpPr>
        <p:spPr>
          <a:xfrm>
            <a:off x="6585840" y="965520"/>
            <a:ext cx="5115600" cy="4926600"/>
          </a:xfrm>
          <a:prstGeom prst="rect">
            <a:avLst/>
          </a:prstGeom>
          <a:noFill/>
          <a:ln w="0">
            <a:noFill/>
          </a:ln>
        </p:spPr>
        <p:txBody>
          <a:bodyPr lIns="122040" rIns="122040" tIns="122040" bIns="122040" anchor="ctr">
            <a:normAutofit/>
          </a:bodyPr>
          <a:p>
            <a:pPr marL="432000" indent="-324000">
              <a:spcBef>
                <a:spcPts val="1417"/>
              </a:spcBef>
              <a:buClr>
                <a:srgbClr val="000000"/>
              </a:buClr>
              <a:buSzPct val="45000"/>
              <a:buFont typeface="Wingdings" charset="2"/>
              <a:buChar char=""/>
            </a:pPr>
            <a:r>
              <a:rPr b="0" lang="en-US" sz="2400" spc="-1" strike="noStrike">
                <a:solidFill>
                  <a:srgbClr val="000000"/>
                </a:solidFill>
                <a:latin typeface="Arial"/>
              </a:rPr>
              <a:t>Click to edit the outline text format</a:t>
            </a:r>
            <a:endParaRPr b="0" lang="en-US" sz="24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400" spc="-1" strike="noStrike">
                <a:solidFill>
                  <a:srgbClr val="000000"/>
                </a:solidFill>
                <a:latin typeface="Arial"/>
              </a:rPr>
              <a:t>Second Outline Level</a:t>
            </a:r>
            <a:endParaRPr b="0" lang="en-US" sz="24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400" spc="-1" strike="noStrike">
                <a:solidFill>
                  <a:srgbClr val="000000"/>
                </a:solidFill>
                <a:latin typeface="Arial"/>
              </a:rPr>
              <a:t>Fourth Outline Level</a:t>
            </a:r>
            <a:endParaRPr b="0" lang="en-US" sz="24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400" spc="-1" strike="noStrike">
                <a:solidFill>
                  <a:srgbClr val="000000"/>
                </a:solidFill>
                <a:latin typeface="Arial"/>
              </a:rPr>
              <a:t>Fifth Outline Level</a:t>
            </a:r>
            <a:endParaRPr b="0" lang="en-US" sz="24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400" spc="-1" strike="noStrike">
                <a:solidFill>
                  <a:srgbClr val="000000"/>
                </a:solidFill>
                <a:latin typeface="Arial"/>
              </a:rPr>
              <a:t>Sixth Outline Level</a:t>
            </a:r>
            <a:endParaRPr b="0" lang="en-US" sz="24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400" spc="-1" strike="noStrike">
                <a:solidFill>
                  <a:srgbClr val="000000"/>
                </a:solidFill>
                <a:latin typeface="Arial"/>
              </a:rPr>
              <a:t>Seventh Outline Level</a:t>
            </a:r>
            <a:endParaRPr b="0" lang="en-US" sz="2400" spc="-1" strike="noStrike">
              <a:solidFill>
                <a:srgbClr val="000000"/>
              </a:solidFill>
              <a:latin typeface="Arial"/>
            </a:endParaRPr>
          </a:p>
        </p:txBody>
      </p:sp>
      <p:sp>
        <p:nvSpPr>
          <p:cNvPr id="37" name="PlaceHolder 3"/>
          <p:cNvSpPr>
            <a:spLocks noGrp="1"/>
          </p:cNvSpPr>
          <p:nvPr>
            <p:ph type="sldNum" idx="11"/>
          </p:nvPr>
        </p:nvSpPr>
        <p:spPr>
          <a:xfrm>
            <a:off x="11296440" y="6217560"/>
            <a:ext cx="731160" cy="524520"/>
          </a:xfrm>
          <a:prstGeom prst="rect">
            <a:avLst/>
          </a:prstGeom>
          <a:noFill/>
          <a:ln w="0">
            <a:noFill/>
          </a:ln>
        </p:spPr>
        <p:txBody>
          <a:bodyPr lIns="122040" rIns="122040" tIns="122040" bIns="122040" anchor="ctr">
            <a:normAutofit/>
          </a:bodyPr>
          <a:lstStyle>
            <a:lvl1pPr indent="0" algn="r">
              <a:lnSpc>
                <a:spcPct val="100000"/>
              </a:lnSpc>
              <a:buNone/>
              <a:tabLst>
                <a:tab algn="l" pos="0"/>
              </a:tabLst>
              <a:defRPr b="0" lang="en" sz="1300" spc="-1" strike="noStrike">
                <a:solidFill>
                  <a:schemeClr val="dk2"/>
                </a:solidFill>
                <a:latin typeface="Arial"/>
                <a:ea typeface="Arial"/>
              </a:defRPr>
            </a:lvl1pPr>
          </a:lstStyle>
          <a:p>
            <a:pPr indent="0" algn="r">
              <a:lnSpc>
                <a:spcPct val="100000"/>
              </a:lnSpc>
              <a:buNone/>
              <a:tabLst>
                <a:tab algn="l" pos="0"/>
              </a:tabLst>
            </a:pPr>
            <a:fld id="{FD2F9D3A-3F8C-4CF8-8509-79A4BB59D275}" type="slidenum">
              <a:rPr b="0" lang="en" sz="1300" spc="-1" strike="noStrike">
                <a:solidFill>
                  <a:schemeClr val="dk2"/>
                </a:solidFill>
                <a:latin typeface="Arial"/>
                <a:ea typeface="Arial"/>
              </a:rPr>
              <a:t>&lt;number&gt;</a:t>
            </a:fld>
            <a:endParaRPr b="0" lang="en-US" sz="13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71"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slideLayout" Target="../slideLayouts/slideLayout1.xml"/>
</Relationships>
</file>

<file path=ppt/slides/_rels/slide3.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2.png"/><Relationship Id="rId3" Type="http://schemas.openxmlformats.org/officeDocument/2006/relationships/image" Target="../media/image9.jpe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slideLayout" Target="../slideLayouts/slideLayout1.xml"/>
</Relationships>
</file>

<file path=ppt/slides/_rels/slide4.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slideLayout" Target="../slideLayouts/slideLayout1.xml"/>
</Relationships>
</file>

<file path=ppt/slides/_rels/slide5.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0.jpeg"/><Relationship Id="rId5" Type="http://schemas.openxmlformats.org/officeDocument/2006/relationships/slideLayout" Target="../slideLayouts/slideLayout1.xml"/>
</Relationships>
</file>

<file path=ppt/slides/_rels/slide6.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slideLayout" Target="../slideLayouts/slideLayout1.xml"/>
</Relationships>
</file>

<file path=ppt/slides/_rels/slide7.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2.png"/><Relationship Id="rId3" Type="http://schemas.openxmlformats.org/officeDocument/2006/relationships/image" Target="../media/image11.jpe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slideLayout" Target="../slideLayouts/slideLayout1.xml"/>
</Relationships>
</file>

<file path=ppt/slides/_rels/slide8.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slideLayout" Target="../slideLayouts/slideLayout1.xml"/>
</Relationships>
</file>

<file path=ppt/slides/_rels/slide9.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slideLayout" Target="../slideLayouts/slideLayout1.xml"/>
</Relationships>
</file>

<file path=ppt/slides/_rels/slide10.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slideLayout" Target="../slideLayouts/slideLayout1.xml"/>
</Relationships>
</file>

<file path=ppt/slides/_rels/slide11.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slideLayout" Target="../slideLayouts/slideLayout1.xml"/>
</Relationships>
</file>

<file path=ppt/slides/_rels/slide12.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slideLayout" Target="../slideLayouts/slideLayout1.xml"/>
</Relationships>
</file>

<file path=ppt/slides/_rels/slide13.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2.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slideLayout" Target="../slideLayouts/slideLayout1.xml"/>
</Relationships>
</file>

<file path=ppt/slides/_rels/slide14.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16.jpe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slideLayout" Target="../slideLayouts/slideLayout1.xml"/>
</Relationships>
</file>

<file path=ppt/slides/_rels/slide15.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slideLayout" Target="../slideLayouts/slideLayout1.xml"/>
</Relationships>
</file>

<file path=ppt/slides/_rels/slide16.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slideLayout" Target="../slideLayouts/slideLayout1.xml"/>
</Relationships>
</file>

<file path=ppt/slides/_rels/slide17.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slideLayout" Target="../slideLayouts/slideLayout1.xml"/>
</Relationships>
</file>

<file path=ppt/slides/_rels/slide18.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slideLayout" Target="../slideLayouts/slideLayout1.xml"/>
</Relationships>
</file>

<file path=ppt/slides/_rels/slide19.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2.png"/><Relationship Id="rId3" Type="http://schemas.openxmlformats.org/officeDocument/2006/relationships/image" Target="../media/image17.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slideLayout" Target="../slideLayouts/slideLayout1.xml"/>
</Relationships>
</file>

<file path=ppt/slides/_rels/slide20.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slideLayout" Target="../slideLayouts/slideLayout1.xml"/>
</Relationships>
</file>

<file path=ppt/slides/_rels/slide21.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slideLayout" Target="../slideLayouts/slideLayout1.xml"/>
</Relationships>
</file>

<file path=ppt/slides/_rels/slide22.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slideLayout" Target="../slideLayouts/slideLayout1.xml"/>
</Relationships>
</file>

<file path=ppt/slides/_rels/slide23.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slideLayout" Target="../slideLayouts/slideLayout1.xml"/>
</Relationships>
</file>

<file path=ppt/slides/_rels/slide24.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2.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slideLayout" Target="../slideLayouts/slideLayout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8" name="Google Shape;55;p14" descr=""/>
          <p:cNvPicPr/>
          <p:nvPr/>
        </p:nvPicPr>
        <p:blipFill>
          <a:blip r:embed="rId1"/>
          <a:stretch/>
        </p:blipFill>
        <p:spPr>
          <a:xfrm>
            <a:off x="0" y="0"/>
            <a:ext cx="12191760" cy="6857640"/>
          </a:xfrm>
          <a:prstGeom prst="rect">
            <a:avLst/>
          </a:prstGeom>
          <a:ln w="0">
            <a:noFill/>
          </a:ln>
        </p:spPr>
      </p:pic>
      <p:pic>
        <p:nvPicPr>
          <p:cNvPr id="39" name="Google Shape;56;p14" descr=""/>
          <p:cNvPicPr/>
          <p:nvPr/>
        </p:nvPicPr>
        <p:blipFill>
          <a:blip r:embed="rId2"/>
          <a:srcRect l="129" t="0" r="129" b="0"/>
          <a:stretch/>
        </p:blipFill>
        <p:spPr>
          <a:xfrm>
            <a:off x="0" y="0"/>
            <a:ext cx="12191760" cy="56880"/>
          </a:xfrm>
          <a:prstGeom prst="rect">
            <a:avLst/>
          </a:prstGeom>
          <a:ln w="0">
            <a:noFill/>
          </a:ln>
        </p:spPr>
      </p:pic>
      <p:pic>
        <p:nvPicPr>
          <p:cNvPr id="40" name="Google Shape;57;p14" descr=""/>
          <p:cNvPicPr/>
          <p:nvPr/>
        </p:nvPicPr>
        <p:blipFill>
          <a:blip r:embed="rId3"/>
          <a:srcRect l="0" t="0" r="16" b="0"/>
          <a:stretch/>
        </p:blipFill>
        <p:spPr>
          <a:xfrm>
            <a:off x="762120" y="571680"/>
            <a:ext cx="2533320" cy="857520"/>
          </a:xfrm>
          <a:prstGeom prst="rect">
            <a:avLst/>
          </a:prstGeom>
          <a:ln w="0">
            <a:noFill/>
          </a:ln>
        </p:spPr>
      </p:pic>
      <p:pic>
        <p:nvPicPr>
          <p:cNvPr id="41" name="Google Shape;58;p14" descr=""/>
          <p:cNvPicPr/>
          <p:nvPr/>
        </p:nvPicPr>
        <p:blipFill>
          <a:blip r:embed="rId4"/>
          <a:stretch/>
        </p:blipFill>
        <p:spPr>
          <a:xfrm>
            <a:off x="10144080" y="428760"/>
            <a:ext cx="1142640" cy="1278720"/>
          </a:xfrm>
          <a:prstGeom prst="rect">
            <a:avLst/>
          </a:prstGeom>
          <a:ln w="0">
            <a:noFill/>
          </a:ln>
        </p:spPr>
      </p:pic>
      <p:sp>
        <p:nvSpPr>
          <p:cNvPr id="42" name="Google Shape;59;p14"/>
          <p:cNvSpPr/>
          <p:nvPr/>
        </p:nvSpPr>
        <p:spPr>
          <a:xfrm>
            <a:off x="762120" y="1333440"/>
            <a:ext cx="10667520" cy="237960"/>
          </a:xfrm>
          <a:prstGeom prst="rect">
            <a:avLst/>
          </a:prstGeom>
          <a:noFill/>
          <a:ln w="0">
            <a:noFill/>
          </a:ln>
        </p:spPr>
        <p:style>
          <a:lnRef idx="0"/>
          <a:fillRef idx="0"/>
          <a:effectRef idx="0"/>
          <a:fontRef idx="minor"/>
        </p:style>
        <p:txBody>
          <a:bodyPr lIns="0" rIns="0" tIns="0" bIns="0" anchor="ctr">
            <a:noAutofit/>
          </a:bodyPr>
          <a:p>
            <a:pPr algn="ctr">
              <a:lnSpc>
                <a:spcPct val="100000"/>
              </a:lnSpc>
              <a:tabLst>
                <a:tab algn="l" pos="0"/>
              </a:tabLst>
            </a:pPr>
            <a:r>
              <a:rPr b="1" lang="en" sz="1150" spc="-1" strike="noStrike">
                <a:solidFill>
                  <a:srgbClr val="d4a017"/>
                </a:solidFill>
                <a:latin typeface="Inter"/>
                <a:ea typeface="Inter"/>
              </a:rPr>
              <a:t>PYTHON EMAIL AUTOMATION</a:t>
            </a:r>
            <a:endParaRPr b="0" lang="en-US" sz="1150" spc="-1" strike="noStrike">
              <a:solidFill>
                <a:srgbClr val="000000"/>
              </a:solidFill>
              <a:latin typeface="Arial"/>
            </a:endParaRPr>
          </a:p>
        </p:txBody>
      </p:sp>
      <p:sp>
        <p:nvSpPr>
          <p:cNvPr id="43" name="Google Shape;60;p14"/>
          <p:cNvSpPr/>
          <p:nvPr/>
        </p:nvSpPr>
        <p:spPr>
          <a:xfrm>
            <a:off x="762120" y="1619280"/>
            <a:ext cx="10667520" cy="904320"/>
          </a:xfrm>
          <a:prstGeom prst="rect">
            <a:avLst/>
          </a:prstGeom>
          <a:noFill/>
          <a:ln w="0">
            <a:noFill/>
          </a:ln>
        </p:spPr>
        <p:style>
          <a:lnRef idx="0"/>
          <a:fillRef idx="0"/>
          <a:effectRef idx="0"/>
          <a:fontRef idx="minor"/>
        </p:style>
        <p:txBody>
          <a:bodyPr lIns="0" rIns="0" tIns="0" bIns="0" anchor="ctr">
            <a:noAutofit/>
          </a:bodyPr>
          <a:p>
            <a:pPr algn="ctr">
              <a:lnSpc>
                <a:spcPct val="100000"/>
              </a:lnSpc>
              <a:tabLst>
                <a:tab algn="l" pos="0"/>
              </a:tabLst>
            </a:pPr>
            <a:r>
              <a:rPr b="1" lang="en" sz="2500" spc="-1" strike="noStrike">
                <a:solidFill>
                  <a:srgbClr val="045a36"/>
                </a:solidFill>
                <a:latin typeface="Montserrat"/>
                <a:ea typeface="Montserrat"/>
              </a:rPr>
              <a:t>Python Empowers Developers to Automate Email Communication</a:t>
            </a:r>
            <a:endParaRPr b="0" lang="en-US" sz="2500" spc="-1" strike="noStrike">
              <a:solidFill>
                <a:srgbClr val="000000"/>
              </a:solidFill>
              <a:latin typeface="Arial"/>
            </a:endParaRPr>
          </a:p>
        </p:txBody>
      </p:sp>
      <p:sp>
        <p:nvSpPr>
          <p:cNvPr id="44" name="Google Shape;61;p14"/>
          <p:cNvSpPr/>
          <p:nvPr/>
        </p:nvSpPr>
        <p:spPr>
          <a:xfrm>
            <a:off x="5381640" y="2666880"/>
            <a:ext cx="1428480" cy="37800"/>
          </a:xfrm>
          <a:prstGeom prst="roundRect">
            <a:avLst>
              <a:gd name="adj" fmla="val 50000"/>
            </a:avLst>
          </a:prstGeom>
          <a:solidFill>
            <a:srgbClr val="d4a017"/>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45" name="Google Shape;62;p14"/>
          <p:cNvSpPr/>
          <p:nvPr/>
        </p:nvSpPr>
        <p:spPr>
          <a:xfrm>
            <a:off x="762120" y="2809800"/>
            <a:ext cx="10667520" cy="285480"/>
          </a:xfrm>
          <a:prstGeom prst="rect">
            <a:avLst/>
          </a:prstGeom>
          <a:noFill/>
          <a:ln w="0">
            <a:noFill/>
          </a:ln>
        </p:spPr>
        <p:style>
          <a:lnRef idx="0"/>
          <a:fillRef idx="0"/>
          <a:effectRef idx="0"/>
          <a:fontRef idx="minor"/>
        </p:style>
        <p:txBody>
          <a:bodyPr lIns="0" rIns="0" tIns="0" bIns="0" anchor="ctr">
            <a:noAutofit/>
          </a:bodyPr>
          <a:p>
            <a:pPr algn="ctr">
              <a:lnSpc>
                <a:spcPct val="100000"/>
              </a:lnSpc>
              <a:tabLst>
                <a:tab algn="l" pos="0"/>
              </a:tabLst>
            </a:pPr>
            <a:r>
              <a:rPr b="0" lang="en" sz="1350" spc="-1" strike="noStrike">
                <a:solidFill>
                  <a:srgbClr val="4b5563"/>
                </a:solidFill>
                <a:latin typeface="Inter SemiBold"/>
                <a:ea typeface="Inter SemiBold"/>
              </a:rPr>
              <a:t>Lecture 1: Core SMTP Connections</a:t>
            </a:r>
            <a:endParaRPr b="0" lang="en-US" sz="1350" spc="-1" strike="noStrike">
              <a:solidFill>
                <a:srgbClr val="000000"/>
              </a:solidFill>
              <a:latin typeface="Arial"/>
            </a:endParaRPr>
          </a:p>
        </p:txBody>
      </p:sp>
      <p:grpSp>
        <p:nvGrpSpPr>
          <p:cNvPr id="46" name="Google Shape;63;p14"/>
          <p:cNvGrpSpPr/>
          <p:nvPr/>
        </p:nvGrpSpPr>
        <p:grpSpPr>
          <a:xfrm>
            <a:off x="762120" y="3286080"/>
            <a:ext cx="2495520" cy="2095200"/>
            <a:chOff x="762120" y="3286080"/>
            <a:chExt cx="2495520" cy="2095200"/>
          </a:xfrm>
        </p:grpSpPr>
        <p:sp>
          <p:nvSpPr>
            <p:cNvPr id="47" name="Google Shape;64;p14"/>
            <p:cNvSpPr/>
            <p:nvPr/>
          </p:nvSpPr>
          <p:spPr>
            <a:xfrm>
              <a:off x="762120" y="3286080"/>
              <a:ext cx="2495520" cy="2095200"/>
            </a:xfrm>
            <a:prstGeom prst="roundRect">
              <a:avLst>
                <a:gd name="adj" fmla="val 5454"/>
              </a:avLst>
            </a:prstGeom>
            <a:solidFill>
              <a:srgbClr val="ffffff"/>
            </a:solidFill>
            <a:ln w="14300">
              <a:solidFill>
                <a:srgbClr val="e2e8f0"/>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48" name="Google Shape;65;p14"/>
            <p:cNvSpPr/>
            <p:nvPr/>
          </p:nvSpPr>
          <p:spPr>
            <a:xfrm>
              <a:off x="762120" y="3286080"/>
              <a:ext cx="2495520" cy="56880"/>
            </a:xfrm>
            <a:prstGeom prst="roundRect">
              <a:avLst>
                <a:gd name="adj" fmla="val 50000"/>
              </a:avLst>
            </a:prstGeom>
            <a:solidFill>
              <a:srgbClr val="d4a017"/>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49" name="Google Shape;66;p14"/>
            <p:cNvSpPr/>
            <p:nvPr/>
          </p:nvSpPr>
          <p:spPr>
            <a:xfrm>
              <a:off x="905040" y="3476520"/>
              <a:ext cx="2209320" cy="38052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 sz="1050" spc="-1" strike="noStrike">
                  <a:solidFill>
                    <a:srgbClr val="045a36"/>
                  </a:solidFill>
                  <a:latin typeface="Montserrat"/>
                  <a:ea typeface="Montserrat"/>
                </a:rPr>
                <a:t>What We Build</a:t>
              </a:r>
              <a:endParaRPr b="0" lang="en-US" sz="1050" spc="-1" strike="noStrike">
                <a:solidFill>
                  <a:srgbClr val="000000"/>
                </a:solidFill>
                <a:latin typeface="Arial"/>
              </a:endParaRPr>
            </a:p>
          </p:txBody>
        </p:sp>
        <p:sp>
          <p:nvSpPr>
            <p:cNvPr id="50" name="Google Shape;67;p14"/>
            <p:cNvSpPr/>
            <p:nvPr/>
          </p:nvSpPr>
          <p:spPr>
            <a:xfrm>
              <a:off x="905040" y="3952800"/>
              <a:ext cx="2209320" cy="128556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950" spc="-1" strike="noStrike">
                  <a:solidFill>
                    <a:srgbClr val="374151"/>
                  </a:solidFill>
                  <a:latin typeface="Inter"/>
                  <a:ea typeface="Inter"/>
                </a:rPr>
                <a:t>A fully automated Python script to connect to mail servers and send secure emails.</a:t>
              </a:r>
              <a:endParaRPr b="0" lang="en-US" sz="950" spc="-1" strike="noStrike">
                <a:solidFill>
                  <a:srgbClr val="000000"/>
                </a:solidFill>
                <a:latin typeface="Arial"/>
              </a:endParaRPr>
            </a:p>
          </p:txBody>
        </p:sp>
      </p:grpSp>
      <p:grpSp>
        <p:nvGrpSpPr>
          <p:cNvPr id="51" name="Google Shape;68;p14"/>
          <p:cNvGrpSpPr/>
          <p:nvPr/>
        </p:nvGrpSpPr>
        <p:grpSpPr>
          <a:xfrm>
            <a:off x="3486240" y="3286080"/>
            <a:ext cx="2495520" cy="2095200"/>
            <a:chOff x="3486240" y="3286080"/>
            <a:chExt cx="2495520" cy="2095200"/>
          </a:xfrm>
        </p:grpSpPr>
        <p:sp>
          <p:nvSpPr>
            <p:cNvPr id="52" name="Google Shape;69;p14"/>
            <p:cNvSpPr/>
            <p:nvPr/>
          </p:nvSpPr>
          <p:spPr>
            <a:xfrm>
              <a:off x="3486240" y="3286080"/>
              <a:ext cx="2495520" cy="2095200"/>
            </a:xfrm>
            <a:prstGeom prst="roundRect">
              <a:avLst>
                <a:gd name="adj" fmla="val 5454"/>
              </a:avLst>
            </a:prstGeom>
            <a:solidFill>
              <a:srgbClr val="ffffff"/>
            </a:solidFill>
            <a:ln w="14300">
              <a:solidFill>
                <a:srgbClr val="e2e8f0"/>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53" name="Google Shape;70;p14"/>
            <p:cNvSpPr/>
            <p:nvPr/>
          </p:nvSpPr>
          <p:spPr>
            <a:xfrm>
              <a:off x="3486240" y="3286080"/>
              <a:ext cx="2495520" cy="56880"/>
            </a:xfrm>
            <a:prstGeom prst="roundRect">
              <a:avLst>
                <a:gd name="adj" fmla="val 50000"/>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54" name="Google Shape;71;p14"/>
            <p:cNvSpPr/>
            <p:nvPr/>
          </p:nvSpPr>
          <p:spPr>
            <a:xfrm>
              <a:off x="3629160" y="3476520"/>
              <a:ext cx="2209320" cy="38052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 sz="1050" spc="-1" strike="noStrike">
                  <a:solidFill>
                    <a:srgbClr val="045a36"/>
                  </a:solidFill>
                  <a:latin typeface="Montserrat"/>
                  <a:ea typeface="Montserrat"/>
                </a:rPr>
                <a:t>Why Python</a:t>
              </a:r>
              <a:endParaRPr b="0" lang="en-US" sz="1050" spc="-1" strike="noStrike">
                <a:solidFill>
                  <a:srgbClr val="000000"/>
                </a:solidFill>
                <a:latin typeface="Arial"/>
              </a:endParaRPr>
            </a:p>
          </p:txBody>
        </p:sp>
        <p:sp>
          <p:nvSpPr>
            <p:cNvPr id="55" name="Google Shape;72;p14"/>
            <p:cNvSpPr/>
            <p:nvPr/>
          </p:nvSpPr>
          <p:spPr>
            <a:xfrm>
              <a:off x="3629160" y="3952800"/>
              <a:ext cx="2209320" cy="128556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950" spc="-1" strike="noStrike">
                  <a:solidFill>
                    <a:srgbClr val="374151"/>
                  </a:solidFill>
                  <a:latin typeface="Inter"/>
                  <a:ea typeface="Inter"/>
                </a:rPr>
                <a:t>Why Python is perfect for this: built-in libraries, simple syntax, and cross-platform support.</a:t>
              </a:r>
              <a:endParaRPr b="0" lang="en-US" sz="950" spc="-1" strike="noStrike">
                <a:solidFill>
                  <a:srgbClr val="000000"/>
                </a:solidFill>
                <a:latin typeface="Arial"/>
              </a:endParaRPr>
            </a:p>
          </p:txBody>
        </p:sp>
      </p:grpSp>
      <p:grpSp>
        <p:nvGrpSpPr>
          <p:cNvPr id="56" name="Google Shape;73;p14"/>
          <p:cNvGrpSpPr/>
          <p:nvPr/>
        </p:nvGrpSpPr>
        <p:grpSpPr>
          <a:xfrm>
            <a:off x="6210360" y="3286080"/>
            <a:ext cx="2495520" cy="2095200"/>
            <a:chOff x="6210360" y="3286080"/>
            <a:chExt cx="2495520" cy="2095200"/>
          </a:xfrm>
        </p:grpSpPr>
        <p:sp>
          <p:nvSpPr>
            <p:cNvPr id="57" name="Google Shape;74;p14"/>
            <p:cNvSpPr/>
            <p:nvPr/>
          </p:nvSpPr>
          <p:spPr>
            <a:xfrm>
              <a:off x="6210360" y="3286080"/>
              <a:ext cx="2495520" cy="2095200"/>
            </a:xfrm>
            <a:prstGeom prst="roundRect">
              <a:avLst>
                <a:gd name="adj" fmla="val 5454"/>
              </a:avLst>
            </a:prstGeom>
            <a:solidFill>
              <a:srgbClr val="ffffff"/>
            </a:solidFill>
            <a:ln w="14300">
              <a:solidFill>
                <a:srgbClr val="e2e8f0"/>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58" name="Google Shape;75;p14"/>
            <p:cNvSpPr/>
            <p:nvPr/>
          </p:nvSpPr>
          <p:spPr>
            <a:xfrm>
              <a:off x="6210360" y="3286080"/>
              <a:ext cx="2495520" cy="56880"/>
            </a:xfrm>
            <a:prstGeom prst="roundRect">
              <a:avLst>
                <a:gd name="adj" fmla="val 50000"/>
              </a:avLst>
            </a:prstGeom>
            <a:solidFill>
              <a:srgbClr val="d4a017"/>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59" name="Google Shape;76;p14"/>
            <p:cNvSpPr/>
            <p:nvPr/>
          </p:nvSpPr>
          <p:spPr>
            <a:xfrm>
              <a:off x="6353280" y="3476520"/>
              <a:ext cx="2209320" cy="38052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 sz="1050" spc="-1" strike="noStrike">
                  <a:solidFill>
                    <a:srgbClr val="045a36"/>
                  </a:solidFill>
                  <a:latin typeface="Montserrat"/>
                  <a:ea typeface="Montserrat"/>
                </a:rPr>
                <a:t>smtplib + SMTP</a:t>
              </a:r>
              <a:endParaRPr b="0" lang="en-US" sz="1050" spc="-1" strike="noStrike">
                <a:solidFill>
                  <a:srgbClr val="000000"/>
                </a:solidFill>
                <a:latin typeface="Arial"/>
              </a:endParaRPr>
            </a:p>
          </p:txBody>
        </p:sp>
        <p:sp>
          <p:nvSpPr>
            <p:cNvPr id="60" name="Google Shape;77;p14"/>
            <p:cNvSpPr/>
            <p:nvPr/>
          </p:nvSpPr>
          <p:spPr>
            <a:xfrm>
              <a:off x="6353280" y="3952800"/>
              <a:ext cx="2209320" cy="128556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950" spc="-1" strike="noStrike">
                  <a:solidFill>
                    <a:srgbClr val="374151"/>
                  </a:solidFill>
                  <a:latin typeface="Inter"/>
                  <a:ea typeface="Inter"/>
                </a:rPr>
                <a:t>An introduction to the relationship between the Python library and the communication protocol.</a:t>
              </a:r>
              <a:endParaRPr b="0" lang="en-US" sz="950" spc="-1" strike="noStrike">
                <a:solidFill>
                  <a:srgbClr val="000000"/>
                </a:solidFill>
                <a:latin typeface="Arial"/>
              </a:endParaRPr>
            </a:p>
          </p:txBody>
        </p:sp>
      </p:grpSp>
      <p:grpSp>
        <p:nvGrpSpPr>
          <p:cNvPr id="61" name="Google Shape;78;p14"/>
          <p:cNvGrpSpPr/>
          <p:nvPr/>
        </p:nvGrpSpPr>
        <p:grpSpPr>
          <a:xfrm>
            <a:off x="8934480" y="3286080"/>
            <a:ext cx="2495520" cy="2095200"/>
            <a:chOff x="8934480" y="3286080"/>
            <a:chExt cx="2495520" cy="2095200"/>
          </a:xfrm>
        </p:grpSpPr>
        <p:sp>
          <p:nvSpPr>
            <p:cNvPr id="62" name="Google Shape;79;p14"/>
            <p:cNvSpPr/>
            <p:nvPr/>
          </p:nvSpPr>
          <p:spPr>
            <a:xfrm>
              <a:off x="8934480" y="3286080"/>
              <a:ext cx="2495520" cy="2095200"/>
            </a:xfrm>
            <a:prstGeom prst="roundRect">
              <a:avLst>
                <a:gd name="adj" fmla="val 5454"/>
              </a:avLst>
            </a:prstGeom>
            <a:solidFill>
              <a:srgbClr val="ffffff"/>
            </a:solidFill>
            <a:ln w="14300">
              <a:solidFill>
                <a:srgbClr val="e2e8f0"/>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63" name="Google Shape;80;p14"/>
            <p:cNvSpPr/>
            <p:nvPr/>
          </p:nvSpPr>
          <p:spPr>
            <a:xfrm>
              <a:off x="8934480" y="3286080"/>
              <a:ext cx="2495520" cy="56880"/>
            </a:xfrm>
            <a:prstGeom prst="roundRect">
              <a:avLst>
                <a:gd name="adj" fmla="val 50000"/>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64" name="Google Shape;81;p14"/>
            <p:cNvSpPr/>
            <p:nvPr/>
          </p:nvSpPr>
          <p:spPr>
            <a:xfrm>
              <a:off x="9077400" y="3476520"/>
              <a:ext cx="2209320" cy="38052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 sz="1050" spc="-1" strike="noStrike">
                  <a:solidFill>
                    <a:srgbClr val="045a36"/>
                  </a:solidFill>
                  <a:latin typeface="Montserrat"/>
                  <a:ea typeface="Montserrat"/>
                </a:rPr>
                <a:t>Lecture Objectives</a:t>
              </a:r>
              <a:endParaRPr b="0" lang="en-US" sz="1050" spc="-1" strike="noStrike">
                <a:solidFill>
                  <a:srgbClr val="000000"/>
                </a:solidFill>
                <a:latin typeface="Arial"/>
              </a:endParaRPr>
            </a:p>
          </p:txBody>
        </p:sp>
        <p:sp>
          <p:nvSpPr>
            <p:cNvPr id="65" name="Google Shape;82;p14"/>
            <p:cNvSpPr/>
            <p:nvPr/>
          </p:nvSpPr>
          <p:spPr>
            <a:xfrm>
              <a:off x="9077400" y="3952800"/>
              <a:ext cx="2209320" cy="128556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950" spc="-1" strike="noStrike">
                  <a:solidFill>
                    <a:srgbClr val="374151"/>
                  </a:solidFill>
                  <a:latin typeface="Inter"/>
                  <a:ea typeface="Inter"/>
                </a:rPr>
                <a:t>• </a:t>
              </a:r>
              <a:r>
                <a:rPr b="0" lang="en" sz="950" spc="-1" strike="noStrike">
                  <a:solidFill>
                    <a:srgbClr val="374151"/>
                  </a:solidFill>
                  <a:latin typeface="Inter"/>
                  <a:ea typeface="Inter"/>
                </a:rPr>
                <a:t>Understand SMTP</a:t>
              </a:r>
              <a:endParaRPr b="0" lang="en-US" sz="950" spc="-1" strike="noStrike">
                <a:solidFill>
                  <a:srgbClr val="000000"/>
                </a:solidFill>
                <a:latin typeface="Arial"/>
              </a:endParaRPr>
            </a:p>
            <a:p>
              <a:pPr>
                <a:lnSpc>
                  <a:spcPct val="100000"/>
                </a:lnSpc>
                <a:spcBef>
                  <a:spcPts val="451"/>
                </a:spcBef>
                <a:tabLst>
                  <a:tab algn="l" pos="0"/>
                </a:tabLst>
              </a:pPr>
              <a:r>
                <a:rPr b="0" lang="en" sz="950" spc="-1" strike="noStrike">
                  <a:solidFill>
                    <a:srgbClr val="374151"/>
                  </a:solidFill>
                  <a:latin typeface="Inter"/>
                  <a:ea typeface="Inter"/>
                </a:rPr>
                <a:t>• </a:t>
              </a:r>
              <a:r>
                <a:rPr b="0" lang="en" sz="950" spc="-1" strike="noStrike">
                  <a:solidFill>
                    <a:srgbClr val="374151"/>
                  </a:solidFill>
                  <a:latin typeface="Inter"/>
                  <a:ea typeface="Inter"/>
                </a:rPr>
                <a:t>Establish secure connections</a:t>
              </a:r>
              <a:endParaRPr b="0" lang="en-US" sz="950" spc="-1" strike="noStrike">
                <a:solidFill>
                  <a:srgbClr val="000000"/>
                </a:solidFill>
                <a:latin typeface="Arial"/>
              </a:endParaRPr>
            </a:p>
            <a:p>
              <a:pPr>
                <a:lnSpc>
                  <a:spcPct val="100000"/>
                </a:lnSpc>
                <a:spcBef>
                  <a:spcPts val="451"/>
                </a:spcBef>
                <a:tabLst>
                  <a:tab algn="l" pos="0"/>
                </a:tabLst>
              </a:pPr>
              <a:r>
                <a:rPr b="0" lang="en" sz="950" spc="-1" strike="noStrike">
                  <a:solidFill>
                    <a:srgbClr val="374151"/>
                  </a:solidFill>
                  <a:latin typeface="Inter"/>
                  <a:ea typeface="Inter"/>
                </a:rPr>
                <a:t>• </a:t>
              </a:r>
              <a:r>
                <a:rPr b="0" lang="en" sz="950" spc="-1" strike="noStrike">
                  <a:solidFill>
                    <a:srgbClr val="374151"/>
                  </a:solidFill>
                  <a:latin typeface="Inter"/>
                  <a:ea typeface="Inter"/>
                </a:rPr>
                <a:t>Authenticate with servers</a:t>
              </a:r>
              <a:endParaRPr b="0" lang="en-US" sz="950" spc="-1" strike="noStrike">
                <a:solidFill>
                  <a:srgbClr val="000000"/>
                </a:solidFill>
                <a:latin typeface="Arial"/>
              </a:endParaRPr>
            </a:p>
            <a:p>
              <a:pPr>
                <a:lnSpc>
                  <a:spcPct val="100000"/>
                </a:lnSpc>
                <a:spcBef>
                  <a:spcPts val="451"/>
                </a:spcBef>
                <a:tabLst>
                  <a:tab algn="l" pos="0"/>
                </a:tabLst>
              </a:pPr>
              <a:r>
                <a:rPr b="0" lang="en" sz="950" spc="-1" strike="noStrike">
                  <a:solidFill>
                    <a:srgbClr val="374151"/>
                  </a:solidFill>
                  <a:latin typeface="Inter"/>
                  <a:ea typeface="Inter"/>
                </a:rPr>
                <a:t>• </a:t>
              </a:r>
              <a:r>
                <a:rPr b="0" lang="en" sz="950" spc="-1" strike="noStrike">
                  <a:solidFill>
                    <a:srgbClr val="374151"/>
                  </a:solidFill>
                  <a:latin typeface="Inter"/>
                  <a:ea typeface="Inter"/>
                </a:rPr>
                <a:t>Handle connection errors</a:t>
              </a:r>
              <a:endParaRPr b="0" lang="en-US" sz="950" spc="-1" strike="noStrike">
                <a:solidFill>
                  <a:srgbClr val="000000"/>
                </a:solidFill>
                <a:latin typeface="Arial"/>
              </a:endParaRPr>
            </a:p>
          </p:txBody>
        </p:sp>
      </p:grpSp>
      <p:pic>
        <p:nvPicPr>
          <p:cNvPr id="66" name="Google Shape;83;p14" descr=""/>
          <p:cNvPicPr/>
          <p:nvPr/>
        </p:nvPicPr>
        <p:blipFill>
          <a:blip r:embed="rId5"/>
          <a:srcRect l="11" t="0" r="11" b="0"/>
          <a:stretch/>
        </p:blipFill>
        <p:spPr>
          <a:xfrm>
            <a:off x="762120" y="5581800"/>
            <a:ext cx="10667520" cy="704520"/>
          </a:xfrm>
          <a:prstGeom prst="rect">
            <a:avLst/>
          </a:prstGeom>
          <a:ln w="0">
            <a:noFill/>
          </a:ln>
        </p:spPr>
      </p:pic>
      <p:sp>
        <p:nvSpPr>
          <p:cNvPr id="67" name="Google Shape;84;p14"/>
          <p:cNvSpPr/>
          <p:nvPr/>
        </p:nvSpPr>
        <p:spPr>
          <a:xfrm>
            <a:off x="762120" y="5829480"/>
            <a:ext cx="3114360" cy="19008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900" spc="-1" strike="noStrike">
                <a:solidFill>
                  <a:srgbClr val="9ca3af"/>
                </a:solidFill>
                <a:latin typeface="Inter"/>
                <a:ea typeface="Inter"/>
              </a:rPr>
              <a:t>PRESENTED BY</a:t>
            </a:r>
            <a:endParaRPr b="0" lang="en-US" sz="900" spc="-1" strike="noStrike">
              <a:solidFill>
                <a:srgbClr val="000000"/>
              </a:solidFill>
              <a:latin typeface="Arial"/>
            </a:endParaRPr>
          </a:p>
        </p:txBody>
      </p:sp>
      <p:sp>
        <p:nvSpPr>
          <p:cNvPr id="68" name="Google Shape;85;p14"/>
          <p:cNvSpPr/>
          <p:nvPr/>
        </p:nvSpPr>
        <p:spPr>
          <a:xfrm>
            <a:off x="762120" y="6019920"/>
            <a:ext cx="3114360" cy="28548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350" spc="-1" strike="noStrike">
                <a:solidFill>
                  <a:srgbClr val="1f2937"/>
                </a:solidFill>
                <a:latin typeface="Inter SemiBold"/>
                <a:ea typeface="Inter SemiBold"/>
              </a:rPr>
              <a:t>Mr Muhammad Yousif</a:t>
            </a:r>
            <a:endParaRPr b="0" lang="en-US" sz="1350" spc="-1" strike="noStrike">
              <a:solidFill>
                <a:srgbClr val="000000"/>
              </a:solidFill>
              <a:latin typeface="Arial"/>
            </a:endParaRPr>
          </a:p>
        </p:txBody>
      </p:sp>
      <p:sp>
        <p:nvSpPr>
          <p:cNvPr id="69" name="Google Shape;86;p14"/>
          <p:cNvSpPr/>
          <p:nvPr/>
        </p:nvSpPr>
        <p:spPr>
          <a:xfrm>
            <a:off x="10287000" y="5829480"/>
            <a:ext cx="1142640" cy="190080"/>
          </a:xfrm>
          <a:prstGeom prst="rect">
            <a:avLst/>
          </a:prstGeom>
          <a:noFill/>
          <a:ln w="0">
            <a:noFill/>
          </a:ln>
        </p:spPr>
        <p:style>
          <a:lnRef idx="0"/>
          <a:fillRef idx="0"/>
          <a:effectRef idx="0"/>
          <a:fontRef idx="minor"/>
        </p:style>
        <p:txBody>
          <a:bodyPr lIns="0" rIns="0" tIns="0" bIns="0" anchor="t">
            <a:noAutofit/>
          </a:bodyPr>
          <a:p>
            <a:pPr algn="r">
              <a:lnSpc>
                <a:spcPct val="100000"/>
              </a:lnSpc>
              <a:tabLst>
                <a:tab algn="l" pos="0"/>
              </a:tabLst>
            </a:pPr>
            <a:r>
              <a:rPr b="0" lang="en" sz="900" spc="-1" strike="noStrike">
                <a:solidFill>
                  <a:srgbClr val="9ca3af"/>
                </a:solidFill>
                <a:latin typeface="Inter"/>
                <a:ea typeface="Inter"/>
              </a:rPr>
              <a:t>DATE OF SESSION</a:t>
            </a:r>
            <a:endParaRPr b="0" lang="en-US" sz="900" spc="-1" strike="noStrike">
              <a:solidFill>
                <a:srgbClr val="000000"/>
              </a:solidFill>
              <a:latin typeface="Arial"/>
            </a:endParaRPr>
          </a:p>
        </p:txBody>
      </p:sp>
      <p:sp>
        <p:nvSpPr>
          <p:cNvPr id="70" name="Google Shape;87;p14"/>
          <p:cNvSpPr/>
          <p:nvPr/>
        </p:nvSpPr>
        <p:spPr>
          <a:xfrm>
            <a:off x="10287000" y="6019920"/>
            <a:ext cx="1142640" cy="285480"/>
          </a:xfrm>
          <a:prstGeom prst="rect">
            <a:avLst/>
          </a:prstGeom>
          <a:noFill/>
          <a:ln w="0">
            <a:noFill/>
          </a:ln>
        </p:spPr>
        <p:style>
          <a:lnRef idx="0"/>
          <a:fillRef idx="0"/>
          <a:effectRef idx="0"/>
          <a:fontRef idx="minor"/>
        </p:style>
        <p:txBody>
          <a:bodyPr lIns="0" rIns="0" tIns="0" bIns="0" anchor="t">
            <a:noAutofit/>
          </a:bodyPr>
          <a:p>
            <a:pPr algn="r">
              <a:lnSpc>
                <a:spcPct val="100000"/>
              </a:lnSpc>
              <a:tabLst>
                <a:tab algn="l" pos="0"/>
              </a:tabLst>
            </a:pPr>
            <a:r>
              <a:rPr b="0" lang="en" sz="1350" spc="-1" strike="noStrike">
                <a:solidFill>
                  <a:srgbClr val="1f2937"/>
                </a:solidFill>
                <a:latin typeface="Inter SemiBold"/>
                <a:ea typeface="Inter SemiBold"/>
              </a:rPr>
              <a:t>August 17, 2026</a:t>
            </a:r>
            <a:endParaRPr b="0" lang="en-US" sz="13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pic>
        <p:nvPicPr>
          <p:cNvPr id="71" name="Google Shape;92;p15" descr=""/>
          <p:cNvPicPr/>
          <p:nvPr/>
        </p:nvPicPr>
        <p:blipFill>
          <a:blip r:embed="rId2"/>
          <a:srcRect l="129" t="0" r="129" b="0"/>
          <a:stretch/>
        </p:blipFill>
        <p:spPr>
          <a:xfrm>
            <a:off x="0" y="0"/>
            <a:ext cx="12191760" cy="56880"/>
          </a:xfrm>
          <a:prstGeom prst="rect">
            <a:avLst/>
          </a:prstGeom>
          <a:ln w="0">
            <a:noFill/>
          </a:ln>
        </p:spPr>
      </p:pic>
      <p:sp>
        <p:nvSpPr>
          <p:cNvPr id="72" name="Google Shape;93;p15"/>
          <p:cNvSpPr/>
          <p:nvPr/>
        </p:nvSpPr>
        <p:spPr>
          <a:xfrm>
            <a:off x="762120" y="1123920"/>
            <a:ext cx="10667520" cy="18720"/>
          </a:xfrm>
          <a:prstGeom prst="rect">
            <a:avLst/>
          </a:prstGeom>
          <a:solidFill>
            <a:srgbClr val="e2e8f0"/>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73" name="Google Shape;94;p15"/>
          <p:cNvSpPr/>
          <p:nvPr/>
        </p:nvSpPr>
        <p:spPr>
          <a:xfrm>
            <a:off x="762120" y="571680"/>
            <a:ext cx="9524520" cy="42840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2700" spc="-1" strike="noStrike">
                <a:solidFill>
                  <a:srgbClr val="045a36"/>
                </a:solidFill>
                <a:latin typeface="Montserrat SemiBold"/>
                <a:ea typeface="Montserrat SemiBold"/>
              </a:rPr>
              <a:t>Email Automation Replaces Manual Tasks</a:t>
            </a:r>
            <a:endParaRPr b="0" lang="en-US" sz="2700" spc="-1" strike="noStrike">
              <a:solidFill>
                <a:srgbClr val="000000"/>
              </a:solidFill>
              <a:latin typeface="Arial"/>
            </a:endParaRPr>
          </a:p>
        </p:txBody>
      </p:sp>
      <p:grpSp>
        <p:nvGrpSpPr>
          <p:cNvPr id="74" name="Google Shape;95;p15"/>
          <p:cNvGrpSpPr/>
          <p:nvPr/>
        </p:nvGrpSpPr>
        <p:grpSpPr>
          <a:xfrm>
            <a:off x="762120" y="1333440"/>
            <a:ext cx="4952520" cy="1856880"/>
            <a:chOff x="762120" y="1333440"/>
            <a:chExt cx="4952520" cy="1856880"/>
          </a:xfrm>
        </p:grpSpPr>
        <p:sp>
          <p:nvSpPr>
            <p:cNvPr id="75" name="Google Shape;96;p15"/>
            <p:cNvSpPr/>
            <p:nvPr/>
          </p:nvSpPr>
          <p:spPr>
            <a:xfrm>
              <a:off x="762120" y="1333440"/>
              <a:ext cx="4952520" cy="1856880"/>
            </a:xfrm>
            <a:prstGeom prst="roundRect">
              <a:avLst>
                <a:gd name="adj" fmla="val 6153"/>
              </a:avLst>
            </a:prstGeom>
            <a:solidFill>
              <a:srgbClr val="ffffff"/>
            </a:solidFill>
            <a:ln w="9525">
              <a:solidFill>
                <a:srgbClr val="e2e8f0"/>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76" name="Google Shape;97;p15"/>
            <p:cNvSpPr/>
            <p:nvPr/>
          </p:nvSpPr>
          <p:spPr>
            <a:xfrm>
              <a:off x="762120" y="1333440"/>
              <a:ext cx="4952520" cy="75960"/>
            </a:xfrm>
            <a:prstGeom prst="roundRect">
              <a:avLst>
                <a:gd name="adj" fmla="val 50000"/>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77" name="Google Shape;98;p15"/>
            <p:cNvSpPr/>
            <p:nvPr/>
          </p:nvSpPr>
          <p:spPr>
            <a:xfrm>
              <a:off x="1000080" y="1571760"/>
              <a:ext cx="4476600" cy="138096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650" spc="-1" strike="noStrike">
                  <a:solidFill>
                    <a:srgbClr val="045a36"/>
                  </a:solidFill>
                  <a:latin typeface="Montserrat"/>
                  <a:ea typeface="Montserrat"/>
                </a:rPr>
                <a:t>Manual Email</a:t>
              </a:r>
              <a:endParaRPr b="0" lang="en-US" sz="1650" spc="-1" strike="noStrike">
                <a:solidFill>
                  <a:srgbClr val="000000"/>
                </a:solidFill>
                <a:latin typeface="Arial"/>
              </a:endParaRPr>
            </a:p>
            <a:p>
              <a:pPr>
                <a:lnSpc>
                  <a:spcPct val="100000"/>
                </a:lnSpc>
                <a:spcBef>
                  <a:spcPts val="601"/>
                </a:spcBef>
                <a:tabLst>
                  <a:tab algn="l" pos="0"/>
                </a:tabLst>
              </a:pPr>
              <a:r>
                <a:rPr b="0" lang="en" sz="1150" spc="-1" strike="noStrike">
                  <a:solidFill>
                    <a:srgbClr val="374151"/>
                  </a:solidFill>
                  <a:latin typeface="Inter"/>
                  <a:ea typeface="Inter"/>
                </a:rPr>
                <a:t>Requires human intervention for every message sent. Creates high operational overhead and increases the risk of human error in repetitive communication tasks.</a:t>
              </a:r>
              <a:endParaRPr b="0" lang="en-US" sz="1150" spc="-1" strike="noStrike">
                <a:solidFill>
                  <a:srgbClr val="000000"/>
                </a:solidFill>
                <a:latin typeface="Arial"/>
              </a:endParaRPr>
            </a:p>
          </p:txBody>
        </p:sp>
      </p:grpSp>
      <p:grpSp>
        <p:nvGrpSpPr>
          <p:cNvPr id="78" name="Google Shape;99;p15"/>
          <p:cNvGrpSpPr/>
          <p:nvPr/>
        </p:nvGrpSpPr>
        <p:grpSpPr>
          <a:xfrm>
            <a:off x="6477120" y="1333440"/>
            <a:ext cx="4952520" cy="1856880"/>
            <a:chOff x="6477120" y="1333440"/>
            <a:chExt cx="4952520" cy="1856880"/>
          </a:xfrm>
        </p:grpSpPr>
        <p:sp>
          <p:nvSpPr>
            <p:cNvPr id="79" name="Google Shape;100;p15"/>
            <p:cNvSpPr/>
            <p:nvPr/>
          </p:nvSpPr>
          <p:spPr>
            <a:xfrm>
              <a:off x="6477120" y="1333440"/>
              <a:ext cx="4952520" cy="1856880"/>
            </a:xfrm>
            <a:prstGeom prst="roundRect">
              <a:avLst>
                <a:gd name="adj" fmla="val 6153"/>
              </a:avLst>
            </a:prstGeom>
            <a:solidFill>
              <a:srgbClr val="ffffff"/>
            </a:solidFill>
            <a:ln w="9525">
              <a:solidFill>
                <a:srgbClr val="e2e8f0"/>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80" name="Google Shape;101;p15"/>
            <p:cNvSpPr/>
            <p:nvPr/>
          </p:nvSpPr>
          <p:spPr>
            <a:xfrm>
              <a:off x="6477120" y="1333440"/>
              <a:ext cx="4952520" cy="75960"/>
            </a:xfrm>
            <a:prstGeom prst="roundRect">
              <a:avLst>
                <a:gd name="adj" fmla="val 50000"/>
              </a:avLst>
            </a:prstGeom>
            <a:solidFill>
              <a:srgbClr val="d4a017"/>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81" name="Google Shape;102;p15"/>
            <p:cNvSpPr/>
            <p:nvPr/>
          </p:nvSpPr>
          <p:spPr>
            <a:xfrm>
              <a:off x="6715080" y="1571760"/>
              <a:ext cx="4476600" cy="138096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650" spc="-1" strike="noStrike">
                  <a:solidFill>
                    <a:srgbClr val="d4a017"/>
                  </a:solidFill>
                  <a:latin typeface="Montserrat"/>
                  <a:ea typeface="Montserrat"/>
                </a:rPr>
                <a:t>Automated Email</a:t>
              </a:r>
              <a:endParaRPr b="0" lang="en-US" sz="1650" spc="-1" strike="noStrike">
                <a:solidFill>
                  <a:srgbClr val="000000"/>
                </a:solidFill>
                <a:latin typeface="Arial"/>
              </a:endParaRPr>
            </a:p>
            <a:p>
              <a:pPr>
                <a:lnSpc>
                  <a:spcPct val="100000"/>
                </a:lnSpc>
                <a:spcBef>
                  <a:spcPts val="601"/>
                </a:spcBef>
                <a:tabLst>
                  <a:tab algn="l" pos="0"/>
                </a:tabLst>
              </a:pPr>
              <a:r>
                <a:rPr b="0" lang="en" sz="1150" spc="-1" strike="noStrike">
                  <a:solidFill>
                    <a:srgbClr val="374151"/>
                  </a:solidFill>
                  <a:latin typeface="Inter"/>
                  <a:ea typeface="Inter"/>
                </a:rPr>
                <a:t>Handled programmatically at scale by software systems. Ensures absolute speed, reliability, and precision without requiring human oversight for each dispatch.</a:t>
              </a:r>
              <a:endParaRPr b="0" lang="en-US" sz="1150" spc="-1" strike="noStrike">
                <a:solidFill>
                  <a:srgbClr val="000000"/>
                </a:solidFill>
                <a:latin typeface="Arial"/>
              </a:endParaRPr>
            </a:p>
          </p:txBody>
        </p:sp>
      </p:grpSp>
      <p:sp>
        <p:nvSpPr>
          <p:cNvPr id="82" name="Google Shape;103;p15"/>
          <p:cNvSpPr/>
          <p:nvPr/>
        </p:nvSpPr>
        <p:spPr>
          <a:xfrm>
            <a:off x="762120" y="3429000"/>
            <a:ext cx="10667520" cy="9360"/>
          </a:xfrm>
          <a:prstGeom prst="rect">
            <a:avLst/>
          </a:prstGeom>
          <a:solidFill>
            <a:srgbClr val="e2e8f0"/>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83" name="Google Shape;104;p15"/>
          <p:cNvSpPr/>
          <p:nvPr/>
        </p:nvSpPr>
        <p:spPr>
          <a:xfrm>
            <a:off x="762120" y="3571920"/>
            <a:ext cx="10667520" cy="28548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400" spc="-1" strike="noStrike">
                <a:solidFill>
                  <a:srgbClr val="045a36"/>
                </a:solidFill>
                <a:latin typeface="Montserrat"/>
                <a:ea typeface="Montserrat"/>
              </a:rPr>
              <a:t>Real-World Applications</a:t>
            </a:r>
            <a:endParaRPr b="0" lang="en-US" sz="1400" spc="-1" strike="noStrike">
              <a:solidFill>
                <a:srgbClr val="000000"/>
              </a:solidFill>
              <a:latin typeface="Arial"/>
            </a:endParaRPr>
          </a:p>
        </p:txBody>
      </p:sp>
      <p:grpSp>
        <p:nvGrpSpPr>
          <p:cNvPr id="84" name="Google Shape;105;p15"/>
          <p:cNvGrpSpPr/>
          <p:nvPr/>
        </p:nvGrpSpPr>
        <p:grpSpPr>
          <a:xfrm>
            <a:off x="762120" y="4000680"/>
            <a:ext cx="190080" cy="190080"/>
            <a:chOff x="762120" y="4000680"/>
            <a:chExt cx="190080" cy="190080"/>
          </a:xfrm>
        </p:grpSpPr>
        <p:sp>
          <p:nvSpPr>
            <p:cNvPr id="85" name="Google Shape;106;p15"/>
            <p:cNvSpPr/>
            <p:nvPr/>
          </p:nvSpPr>
          <p:spPr>
            <a:xfrm>
              <a:off x="762120" y="4000680"/>
              <a:ext cx="190080" cy="19008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86" name="Google Shape;107;p15"/>
            <p:cNvSpPr/>
            <p:nvPr/>
          </p:nvSpPr>
          <p:spPr>
            <a:xfrm>
              <a:off x="819000" y="4081320"/>
              <a:ext cx="75960" cy="47520"/>
            </a:xfrm>
            <a:custGeom>
              <a:avLst/>
              <a:gdLst>
                <a:gd name="textAreaLeft" fmla="*/ 0 w 75960"/>
                <a:gd name="textAreaRight" fmla="*/ 76320 w 75960"/>
                <a:gd name="textAreaTop" fmla="*/ 0 h 47520"/>
                <a:gd name="textAreaBottom" fmla="*/ 47880 h 47520"/>
              </a:gdLst>
              <a:ahLst/>
              <a:rect l="textAreaLeft" t="textAreaTop" r="textAreaRight" b="textAreaBottom"/>
              <a:pathLst>
                <a:path w="120000" h="120000">
                  <a:moveTo>
                    <a:pt x="0" y="47987"/>
                  </a:moveTo>
                  <a:lnTo>
                    <a:pt x="45000"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87" name="Google Shape;108;p15"/>
          <p:cNvSpPr/>
          <p:nvPr/>
        </p:nvSpPr>
        <p:spPr>
          <a:xfrm>
            <a:off x="1095480" y="3981600"/>
            <a:ext cx="4619520" cy="3805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150" spc="-1" strike="noStrike">
                <a:solidFill>
                  <a:srgbClr val="045a36"/>
                </a:solidFill>
                <a:latin typeface="Inter SemiBold"/>
                <a:ea typeface="Inter SemiBold"/>
              </a:rPr>
              <a:t>Attendance Notifications:</a:t>
            </a:r>
            <a:r>
              <a:rPr b="0" lang="en" sz="1150" spc="-1" strike="noStrike">
                <a:solidFill>
                  <a:srgbClr val="374151"/>
                </a:solidFill>
                <a:latin typeface="Inter"/>
                <a:ea typeface="Inter"/>
              </a:rPr>
              <a:t> Triggered instantly on database updates.</a:t>
            </a:r>
            <a:endParaRPr b="0" lang="en-US" sz="1150" spc="-1" strike="noStrike">
              <a:solidFill>
                <a:srgbClr val="000000"/>
              </a:solidFill>
              <a:latin typeface="Arial"/>
            </a:endParaRPr>
          </a:p>
        </p:txBody>
      </p:sp>
      <p:grpSp>
        <p:nvGrpSpPr>
          <p:cNvPr id="88" name="Google Shape;109;p15"/>
          <p:cNvGrpSpPr/>
          <p:nvPr/>
        </p:nvGrpSpPr>
        <p:grpSpPr>
          <a:xfrm>
            <a:off x="762120" y="4429080"/>
            <a:ext cx="190080" cy="190080"/>
            <a:chOff x="762120" y="4429080"/>
            <a:chExt cx="190080" cy="190080"/>
          </a:xfrm>
        </p:grpSpPr>
        <p:sp>
          <p:nvSpPr>
            <p:cNvPr id="89" name="Google Shape;110;p15"/>
            <p:cNvSpPr/>
            <p:nvPr/>
          </p:nvSpPr>
          <p:spPr>
            <a:xfrm>
              <a:off x="762120" y="4429080"/>
              <a:ext cx="190080" cy="19008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90" name="Google Shape;111;p15"/>
            <p:cNvSpPr/>
            <p:nvPr/>
          </p:nvSpPr>
          <p:spPr>
            <a:xfrm>
              <a:off x="819000" y="4510080"/>
              <a:ext cx="75960" cy="47520"/>
            </a:xfrm>
            <a:custGeom>
              <a:avLst/>
              <a:gdLst>
                <a:gd name="textAreaLeft" fmla="*/ 0 w 75960"/>
                <a:gd name="textAreaRight" fmla="*/ 76320 w 75960"/>
                <a:gd name="textAreaTop" fmla="*/ 0 h 47520"/>
                <a:gd name="textAreaBottom" fmla="*/ 47880 h 47520"/>
              </a:gdLst>
              <a:ahLst/>
              <a:rect l="textAreaLeft" t="textAreaTop" r="textAreaRight" b="textAreaBottom"/>
              <a:pathLst>
                <a:path w="120000" h="120000">
                  <a:moveTo>
                    <a:pt x="0" y="47987"/>
                  </a:moveTo>
                  <a:lnTo>
                    <a:pt x="45000"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91" name="Google Shape;112;p15"/>
          <p:cNvSpPr/>
          <p:nvPr/>
        </p:nvSpPr>
        <p:spPr>
          <a:xfrm>
            <a:off x="1095480" y="4410000"/>
            <a:ext cx="4619520" cy="3805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150" spc="-1" strike="noStrike">
                <a:solidFill>
                  <a:srgbClr val="045a36"/>
                </a:solidFill>
                <a:latin typeface="Inter SemiBold"/>
                <a:ea typeface="Inter SemiBold"/>
              </a:rPr>
              <a:t>Registration Confirmations:</a:t>
            </a:r>
            <a:r>
              <a:rPr b="0" lang="en" sz="1150" spc="-1" strike="noStrike">
                <a:solidFill>
                  <a:srgbClr val="374151"/>
                </a:solidFill>
                <a:latin typeface="Inter"/>
                <a:ea typeface="Inter"/>
              </a:rPr>
              <a:t> Sent immediately upon user sign-up.</a:t>
            </a:r>
            <a:endParaRPr b="0" lang="en-US" sz="1150" spc="-1" strike="noStrike">
              <a:solidFill>
                <a:srgbClr val="000000"/>
              </a:solidFill>
              <a:latin typeface="Arial"/>
            </a:endParaRPr>
          </a:p>
        </p:txBody>
      </p:sp>
      <p:grpSp>
        <p:nvGrpSpPr>
          <p:cNvPr id="92" name="Google Shape;113;p15"/>
          <p:cNvGrpSpPr/>
          <p:nvPr/>
        </p:nvGrpSpPr>
        <p:grpSpPr>
          <a:xfrm>
            <a:off x="762120" y="4857840"/>
            <a:ext cx="190080" cy="190080"/>
            <a:chOff x="762120" y="4857840"/>
            <a:chExt cx="190080" cy="190080"/>
          </a:xfrm>
        </p:grpSpPr>
        <p:sp>
          <p:nvSpPr>
            <p:cNvPr id="93" name="Google Shape;114;p15"/>
            <p:cNvSpPr/>
            <p:nvPr/>
          </p:nvSpPr>
          <p:spPr>
            <a:xfrm>
              <a:off x="762120" y="4857840"/>
              <a:ext cx="190080" cy="19008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94" name="Google Shape;115;p15"/>
            <p:cNvSpPr/>
            <p:nvPr/>
          </p:nvSpPr>
          <p:spPr>
            <a:xfrm>
              <a:off x="819000" y="4938840"/>
              <a:ext cx="75960" cy="47520"/>
            </a:xfrm>
            <a:custGeom>
              <a:avLst/>
              <a:gdLst>
                <a:gd name="textAreaLeft" fmla="*/ 0 w 75960"/>
                <a:gd name="textAreaRight" fmla="*/ 76320 w 75960"/>
                <a:gd name="textAreaTop" fmla="*/ 0 h 47520"/>
                <a:gd name="textAreaBottom" fmla="*/ 47880 h 47520"/>
              </a:gdLst>
              <a:ahLst/>
              <a:rect l="textAreaLeft" t="textAreaTop" r="textAreaRight" b="textAreaBottom"/>
              <a:pathLst>
                <a:path w="120000" h="120000">
                  <a:moveTo>
                    <a:pt x="0" y="47987"/>
                  </a:moveTo>
                  <a:lnTo>
                    <a:pt x="45000"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95" name="Google Shape;116;p15"/>
          <p:cNvSpPr/>
          <p:nvPr/>
        </p:nvSpPr>
        <p:spPr>
          <a:xfrm>
            <a:off x="1095480" y="4838760"/>
            <a:ext cx="4619520" cy="3805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150" spc="-1" strike="noStrike">
                <a:solidFill>
                  <a:srgbClr val="045a36"/>
                </a:solidFill>
                <a:latin typeface="Inter SemiBold"/>
                <a:ea typeface="Inter SemiBold"/>
              </a:rPr>
              <a:t>Secure Password Resets:</a:t>
            </a:r>
            <a:r>
              <a:rPr b="0" lang="en" sz="1150" spc="-1" strike="noStrike">
                <a:solidFill>
                  <a:srgbClr val="374151"/>
                </a:solidFill>
                <a:latin typeface="Inter"/>
                <a:ea typeface="Inter"/>
              </a:rPr>
              <a:t> Delivered securely when requested.</a:t>
            </a:r>
            <a:endParaRPr b="0" lang="en-US" sz="1150" spc="-1" strike="noStrike">
              <a:solidFill>
                <a:srgbClr val="000000"/>
              </a:solidFill>
              <a:latin typeface="Arial"/>
            </a:endParaRPr>
          </a:p>
        </p:txBody>
      </p:sp>
      <p:grpSp>
        <p:nvGrpSpPr>
          <p:cNvPr id="96" name="Google Shape;117;p15"/>
          <p:cNvGrpSpPr/>
          <p:nvPr/>
        </p:nvGrpSpPr>
        <p:grpSpPr>
          <a:xfrm>
            <a:off x="6477120" y="4000680"/>
            <a:ext cx="190080" cy="190080"/>
            <a:chOff x="6477120" y="4000680"/>
            <a:chExt cx="190080" cy="190080"/>
          </a:xfrm>
        </p:grpSpPr>
        <p:sp>
          <p:nvSpPr>
            <p:cNvPr id="97" name="Google Shape;118;p15"/>
            <p:cNvSpPr/>
            <p:nvPr/>
          </p:nvSpPr>
          <p:spPr>
            <a:xfrm>
              <a:off x="6477120" y="4000680"/>
              <a:ext cx="190080" cy="19008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98" name="Google Shape;119;p15"/>
            <p:cNvSpPr/>
            <p:nvPr/>
          </p:nvSpPr>
          <p:spPr>
            <a:xfrm>
              <a:off x="6534000" y="4081320"/>
              <a:ext cx="75960" cy="47520"/>
            </a:xfrm>
            <a:custGeom>
              <a:avLst/>
              <a:gdLst>
                <a:gd name="textAreaLeft" fmla="*/ 0 w 75960"/>
                <a:gd name="textAreaRight" fmla="*/ 76320 w 75960"/>
                <a:gd name="textAreaTop" fmla="*/ 0 h 47520"/>
                <a:gd name="textAreaBottom" fmla="*/ 47880 h 47520"/>
              </a:gdLst>
              <a:ahLst/>
              <a:rect l="textAreaLeft" t="textAreaTop" r="textAreaRight" b="textAreaBottom"/>
              <a:pathLst>
                <a:path w="120000" h="120000">
                  <a:moveTo>
                    <a:pt x="0" y="47987"/>
                  </a:moveTo>
                  <a:lnTo>
                    <a:pt x="45000"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99" name="Google Shape;120;p15"/>
          <p:cNvSpPr/>
          <p:nvPr/>
        </p:nvSpPr>
        <p:spPr>
          <a:xfrm>
            <a:off x="6810480" y="3981600"/>
            <a:ext cx="4619520" cy="3805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150" spc="-1" strike="noStrike">
                <a:solidFill>
                  <a:srgbClr val="045a36"/>
                </a:solidFill>
                <a:latin typeface="Inter SemiBold"/>
                <a:ea typeface="Inter SemiBold"/>
              </a:rPr>
              <a:t>Scheduled Weekly Reports:</a:t>
            </a:r>
            <a:r>
              <a:rPr b="0" lang="en" sz="1150" spc="-1" strike="noStrike">
                <a:solidFill>
                  <a:srgbClr val="374151"/>
                </a:solidFill>
                <a:latin typeface="Inter"/>
                <a:ea typeface="Inter"/>
              </a:rPr>
              <a:t> Dispatched automatically to target users.</a:t>
            </a:r>
            <a:endParaRPr b="0" lang="en-US" sz="1150" spc="-1" strike="noStrike">
              <a:solidFill>
                <a:srgbClr val="000000"/>
              </a:solidFill>
              <a:latin typeface="Arial"/>
            </a:endParaRPr>
          </a:p>
        </p:txBody>
      </p:sp>
      <p:grpSp>
        <p:nvGrpSpPr>
          <p:cNvPr id="100" name="Google Shape;121;p15"/>
          <p:cNvGrpSpPr/>
          <p:nvPr/>
        </p:nvGrpSpPr>
        <p:grpSpPr>
          <a:xfrm>
            <a:off x="6477120" y="4429080"/>
            <a:ext cx="190080" cy="190080"/>
            <a:chOff x="6477120" y="4429080"/>
            <a:chExt cx="190080" cy="190080"/>
          </a:xfrm>
        </p:grpSpPr>
        <p:sp>
          <p:nvSpPr>
            <p:cNvPr id="101" name="Google Shape;122;p15"/>
            <p:cNvSpPr/>
            <p:nvPr/>
          </p:nvSpPr>
          <p:spPr>
            <a:xfrm>
              <a:off x="6477120" y="4429080"/>
              <a:ext cx="190080" cy="19008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102" name="Google Shape;123;p15"/>
            <p:cNvSpPr/>
            <p:nvPr/>
          </p:nvSpPr>
          <p:spPr>
            <a:xfrm>
              <a:off x="6534000" y="4510080"/>
              <a:ext cx="75960" cy="47520"/>
            </a:xfrm>
            <a:custGeom>
              <a:avLst/>
              <a:gdLst>
                <a:gd name="textAreaLeft" fmla="*/ 0 w 75960"/>
                <a:gd name="textAreaRight" fmla="*/ 76320 w 75960"/>
                <a:gd name="textAreaTop" fmla="*/ 0 h 47520"/>
                <a:gd name="textAreaBottom" fmla="*/ 47880 h 47520"/>
              </a:gdLst>
              <a:ahLst/>
              <a:rect l="textAreaLeft" t="textAreaTop" r="textAreaRight" b="textAreaBottom"/>
              <a:pathLst>
                <a:path w="120000" h="120000">
                  <a:moveTo>
                    <a:pt x="0" y="47987"/>
                  </a:moveTo>
                  <a:lnTo>
                    <a:pt x="45000"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103" name="Google Shape;124;p15"/>
          <p:cNvSpPr/>
          <p:nvPr/>
        </p:nvSpPr>
        <p:spPr>
          <a:xfrm>
            <a:off x="6810480" y="4410000"/>
            <a:ext cx="4619520" cy="3805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150" spc="-1" strike="noStrike">
                <a:solidFill>
                  <a:srgbClr val="045a36"/>
                </a:solidFill>
                <a:latin typeface="Inter SemiBold"/>
                <a:ea typeface="Inter SemiBold"/>
              </a:rPr>
              <a:t>Critical Downtime Alerts:</a:t>
            </a:r>
            <a:r>
              <a:rPr b="0" lang="en" sz="1150" spc="-1" strike="noStrike">
                <a:solidFill>
                  <a:srgbClr val="374151"/>
                </a:solidFill>
                <a:latin typeface="Inter"/>
                <a:ea typeface="Inter"/>
              </a:rPr>
              <a:t> Broadcasted instantly to prevent disruption.</a:t>
            </a:r>
            <a:endParaRPr b="0" lang="en-US" sz="1150" spc="-1" strike="noStrike">
              <a:solidFill>
                <a:srgbClr val="000000"/>
              </a:solidFill>
              <a:latin typeface="Arial"/>
            </a:endParaRPr>
          </a:p>
        </p:txBody>
      </p:sp>
      <p:pic>
        <p:nvPicPr>
          <p:cNvPr id="104" name="Google Shape;125;p15" descr=""/>
          <p:cNvPicPr/>
          <p:nvPr/>
        </p:nvPicPr>
        <p:blipFill>
          <a:blip r:embed="rId3"/>
          <a:stretch/>
        </p:blipFill>
        <p:spPr>
          <a:xfrm>
            <a:off x="762120" y="5981760"/>
            <a:ext cx="10667520" cy="304560"/>
          </a:xfrm>
          <a:prstGeom prst="rect">
            <a:avLst/>
          </a:prstGeom>
          <a:ln w="0">
            <a:noFill/>
          </a:ln>
        </p:spPr>
      </p:pic>
      <p:sp>
        <p:nvSpPr>
          <p:cNvPr id="105" name="Google Shape;126;p15"/>
          <p:cNvSpPr/>
          <p:nvPr/>
        </p:nvSpPr>
        <p:spPr>
          <a:xfrm>
            <a:off x="762120" y="6134040"/>
            <a:ext cx="4762080" cy="19008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980" spc="-1" strike="noStrike">
                <a:solidFill>
                  <a:srgbClr val="6b7280"/>
                </a:solidFill>
                <a:latin typeface="Inter"/>
                <a:ea typeface="Inter"/>
              </a:rPr>
              <a:t>Introduction to Email Automation &amp; SMTP | Python Basics</a:t>
            </a:r>
            <a:endParaRPr b="0" lang="en-US" sz="980" spc="-1" strike="noStrike">
              <a:solidFill>
                <a:srgbClr val="000000"/>
              </a:solidFill>
              <a:latin typeface="Arial"/>
            </a:endParaRPr>
          </a:p>
        </p:txBody>
      </p:sp>
      <p:pic>
        <p:nvPicPr>
          <p:cNvPr id="106" name="Google Shape;127;p15" descr=""/>
          <p:cNvPicPr/>
          <p:nvPr/>
        </p:nvPicPr>
        <p:blipFill>
          <a:blip r:embed="rId4"/>
          <a:stretch/>
        </p:blipFill>
        <p:spPr>
          <a:xfrm>
            <a:off x="10287000" y="5457960"/>
            <a:ext cx="1523520" cy="1019160"/>
          </a:xfrm>
          <a:prstGeom prst="rect">
            <a:avLst/>
          </a:prstGeom>
          <a:ln w="0">
            <a:noFill/>
          </a:ln>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pic>
        <p:nvPicPr>
          <p:cNvPr id="107" name="Google Shape;132;p16" descr=""/>
          <p:cNvPicPr/>
          <p:nvPr/>
        </p:nvPicPr>
        <p:blipFill>
          <a:blip r:embed="rId2"/>
          <a:srcRect l="129" t="0" r="129" b="0"/>
          <a:stretch/>
        </p:blipFill>
        <p:spPr>
          <a:xfrm>
            <a:off x="0" y="0"/>
            <a:ext cx="12191760" cy="56880"/>
          </a:xfrm>
          <a:prstGeom prst="rect">
            <a:avLst/>
          </a:prstGeom>
          <a:ln w="0">
            <a:noFill/>
          </a:ln>
        </p:spPr>
      </p:pic>
      <p:sp>
        <p:nvSpPr>
          <p:cNvPr id="108" name="Google Shape;133;p16"/>
          <p:cNvSpPr/>
          <p:nvPr/>
        </p:nvSpPr>
        <p:spPr>
          <a:xfrm>
            <a:off x="762120" y="476280"/>
            <a:ext cx="10667520" cy="5713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2200" spc="-1" strike="noStrike">
                <a:solidFill>
                  <a:srgbClr val="045a36"/>
                </a:solidFill>
                <a:latin typeface="Montserrat SemiBold"/>
                <a:ea typeface="Montserrat SemiBold"/>
              </a:rPr>
              <a:t>Email Transmission Relies on a Network of Clients and Servers</a:t>
            </a:r>
            <a:endParaRPr b="0" lang="en-US" sz="2200" spc="-1" strike="noStrike">
              <a:solidFill>
                <a:srgbClr val="000000"/>
              </a:solidFill>
              <a:latin typeface="Arial"/>
            </a:endParaRPr>
          </a:p>
        </p:txBody>
      </p:sp>
      <p:sp>
        <p:nvSpPr>
          <p:cNvPr id="109" name="Google Shape;134;p16"/>
          <p:cNvSpPr/>
          <p:nvPr/>
        </p:nvSpPr>
        <p:spPr>
          <a:xfrm>
            <a:off x="762120" y="1123920"/>
            <a:ext cx="10667520" cy="18720"/>
          </a:xfrm>
          <a:prstGeom prst="rect">
            <a:avLst/>
          </a:prstGeom>
          <a:solidFill>
            <a:srgbClr val="e2e8f0"/>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110" name="Google Shape;135;p16"/>
          <p:cNvSpPr/>
          <p:nvPr/>
        </p:nvSpPr>
        <p:spPr>
          <a:xfrm>
            <a:off x="762120" y="1285920"/>
            <a:ext cx="4952520" cy="380520"/>
          </a:xfrm>
          <a:prstGeom prst="rect">
            <a:avLst/>
          </a:prstGeom>
          <a:noFill/>
          <a:ln w="0">
            <a:noFill/>
          </a:ln>
        </p:spPr>
        <p:style>
          <a:lnRef idx="0"/>
          <a:fillRef idx="0"/>
          <a:effectRef idx="0"/>
          <a:fontRef idx="minor"/>
        </p:style>
        <p:txBody>
          <a:bodyPr lIns="0" rIns="0" tIns="0" bIns="0" anchor="t">
            <a:noAutofit/>
          </a:bodyPr>
          <a:p>
            <a:pPr algn="ctr">
              <a:lnSpc>
                <a:spcPct val="100000"/>
              </a:lnSpc>
              <a:tabLst>
                <a:tab algn="l" pos="0"/>
              </a:tabLst>
            </a:pPr>
            <a:r>
              <a:rPr b="0" i="1" lang="en" sz="1250" spc="-1" strike="noStrike">
                <a:solidFill>
                  <a:srgbClr val="4b5563"/>
                </a:solidFill>
                <a:latin typeface="Inter Medium"/>
                <a:ea typeface="Inter Medium"/>
              </a:rPr>
              <a:t>The journey of an email involves several interconnected systems working together.</a:t>
            </a:r>
            <a:endParaRPr b="0" lang="en-US" sz="1250" spc="-1" strike="noStrike">
              <a:solidFill>
                <a:srgbClr val="000000"/>
              </a:solidFill>
              <a:latin typeface="Arial"/>
            </a:endParaRPr>
          </a:p>
        </p:txBody>
      </p:sp>
      <p:grpSp>
        <p:nvGrpSpPr>
          <p:cNvPr id="111" name="Google Shape;136;p16"/>
          <p:cNvGrpSpPr/>
          <p:nvPr/>
        </p:nvGrpSpPr>
        <p:grpSpPr>
          <a:xfrm>
            <a:off x="762120" y="1762200"/>
            <a:ext cx="4952520" cy="809280"/>
            <a:chOff x="762120" y="1762200"/>
            <a:chExt cx="4952520" cy="809280"/>
          </a:xfrm>
        </p:grpSpPr>
        <p:sp>
          <p:nvSpPr>
            <p:cNvPr id="112" name="Google Shape;137;p16"/>
            <p:cNvSpPr/>
            <p:nvPr/>
          </p:nvSpPr>
          <p:spPr>
            <a:xfrm>
              <a:off x="762120" y="1857240"/>
              <a:ext cx="266400" cy="26640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113" name="Google Shape;138;p16"/>
            <p:cNvSpPr/>
            <p:nvPr/>
          </p:nvSpPr>
          <p:spPr>
            <a:xfrm>
              <a:off x="762120" y="1857240"/>
              <a:ext cx="266400" cy="266400"/>
            </a:xfrm>
            <a:prstGeom prst="rect">
              <a:avLst/>
            </a:prstGeom>
            <a:noFill/>
            <a:ln w="0">
              <a:noFill/>
            </a:ln>
          </p:spPr>
          <p:style>
            <a:lnRef idx="0"/>
            <a:fillRef idx="0"/>
            <a:effectRef idx="0"/>
            <a:fontRef idx="minor"/>
          </p:style>
          <p:txBody>
            <a:bodyPr lIns="0" rIns="0" tIns="0" bIns="0" anchor="ctr">
              <a:noAutofit/>
            </a:bodyPr>
            <a:p>
              <a:pPr algn="ctr">
                <a:lnSpc>
                  <a:spcPct val="100000"/>
                </a:lnSpc>
                <a:tabLst>
                  <a:tab algn="l" pos="0"/>
                </a:tabLst>
              </a:pPr>
              <a:r>
                <a:rPr b="1" lang="en" sz="1100" spc="-1" strike="noStrike">
                  <a:solidFill>
                    <a:srgbClr val="ffffff"/>
                  </a:solidFill>
                  <a:latin typeface="Montserrat"/>
                  <a:ea typeface="Montserrat"/>
                </a:rPr>
                <a:t>1</a:t>
              </a:r>
              <a:endParaRPr b="0" lang="en-US" sz="1100" spc="-1" strike="noStrike">
                <a:solidFill>
                  <a:srgbClr val="000000"/>
                </a:solidFill>
                <a:latin typeface="Arial"/>
              </a:endParaRPr>
            </a:p>
          </p:txBody>
        </p:sp>
        <p:sp>
          <p:nvSpPr>
            <p:cNvPr id="114" name="Google Shape;139;p16"/>
            <p:cNvSpPr/>
            <p:nvPr/>
          </p:nvSpPr>
          <p:spPr>
            <a:xfrm>
              <a:off x="1190520" y="1762200"/>
              <a:ext cx="4524120" cy="80928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150" spc="-1" strike="noStrike">
                  <a:solidFill>
                    <a:srgbClr val="374151"/>
                  </a:solidFill>
                  <a:latin typeface="Inter"/>
                  <a:ea typeface="Inter"/>
                </a:rPr>
                <a:t>The process begins with the </a:t>
              </a:r>
              <a:r>
                <a:rPr b="1" lang="en" sz="1150" spc="-1" strike="noStrike">
                  <a:solidFill>
                    <a:srgbClr val="045a36"/>
                  </a:solidFill>
                  <a:latin typeface="Inter"/>
                  <a:ea typeface="Inter"/>
                </a:rPr>
                <a:t>Sender</a:t>
              </a:r>
              <a:r>
                <a:rPr b="0" lang="en" sz="1150" spc="-1" strike="noStrike">
                  <a:solidFill>
                    <a:srgbClr val="374151"/>
                  </a:solidFill>
                  <a:latin typeface="Inter"/>
                  <a:ea typeface="Inter"/>
                </a:rPr>
                <a:t>, who utilizes an </a:t>
              </a:r>
              <a:r>
                <a:rPr b="1" lang="en" sz="1150" spc="-1" strike="noStrike">
                  <a:solidFill>
                    <a:srgbClr val="045a36"/>
                  </a:solidFill>
                  <a:latin typeface="Inter"/>
                  <a:ea typeface="Inter"/>
                </a:rPr>
                <a:t>Email client</a:t>
              </a:r>
              <a:r>
                <a:rPr b="0" lang="en" sz="1150" spc="-1" strike="noStrike">
                  <a:solidFill>
                    <a:srgbClr val="374151"/>
                  </a:solidFill>
                  <a:latin typeface="Inter"/>
                  <a:ea typeface="Inter"/>
                </a:rPr>
                <a:t> or application—in our case, a custom Python script. This client connects to an outgoing </a:t>
              </a:r>
              <a:r>
                <a:rPr b="1" lang="en" sz="1150" spc="-1" strike="noStrike">
                  <a:solidFill>
                    <a:srgbClr val="045a36"/>
                  </a:solidFill>
                  <a:latin typeface="Inter"/>
                  <a:ea typeface="Inter"/>
                </a:rPr>
                <a:t>Mail server</a:t>
              </a:r>
              <a:r>
                <a:rPr b="0" lang="en" sz="1150" spc="-1" strike="noStrike">
                  <a:solidFill>
                    <a:srgbClr val="374151"/>
                  </a:solidFill>
                  <a:latin typeface="Inter"/>
                  <a:ea typeface="Inter"/>
                </a:rPr>
                <a:t> to hand off the message.</a:t>
              </a:r>
              <a:endParaRPr b="0" lang="en-US" sz="1150" spc="-1" strike="noStrike">
                <a:solidFill>
                  <a:srgbClr val="000000"/>
                </a:solidFill>
                <a:latin typeface="Arial"/>
              </a:endParaRPr>
            </a:p>
          </p:txBody>
        </p:sp>
      </p:grpSp>
      <p:grpSp>
        <p:nvGrpSpPr>
          <p:cNvPr id="115" name="Google Shape;140;p16"/>
          <p:cNvGrpSpPr/>
          <p:nvPr/>
        </p:nvGrpSpPr>
        <p:grpSpPr>
          <a:xfrm>
            <a:off x="762120" y="2619360"/>
            <a:ext cx="4952520" cy="666720"/>
            <a:chOff x="762120" y="2619360"/>
            <a:chExt cx="4952520" cy="666720"/>
          </a:xfrm>
        </p:grpSpPr>
        <p:sp>
          <p:nvSpPr>
            <p:cNvPr id="116" name="Google Shape;141;p16"/>
            <p:cNvSpPr/>
            <p:nvPr/>
          </p:nvSpPr>
          <p:spPr>
            <a:xfrm>
              <a:off x="762120" y="2714760"/>
              <a:ext cx="266400" cy="26640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117" name="Google Shape;142;p16"/>
            <p:cNvSpPr/>
            <p:nvPr/>
          </p:nvSpPr>
          <p:spPr>
            <a:xfrm>
              <a:off x="762120" y="2714760"/>
              <a:ext cx="266400" cy="266400"/>
            </a:xfrm>
            <a:prstGeom prst="rect">
              <a:avLst/>
            </a:prstGeom>
            <a:noFill/>
            <a:ln w="0">
              <a:noFill/>
            </a:ln>
          </p:spPr>
          <p:style>
            <a:lnRef idx="0"/>
            <a:fillRef idx="0"/>
            <a:effectRef idx="0"/>
            <a:fontRef idx="minor"/>
          </p:style>
          <p:txBody>
            <a:bodyPr lIns="0" rIns="0" tIns="0" bIns="0" anchor="ctr">
              <a:noAutofit/>
            </a:bodyPr>
            <a:p>
              <a:pPr algn="ctr">
                <a:lnSpc>
                  <a:spcPct val="100000"/>
                </a:lnSpc>
                <a:tabLst>
                  <a:tab algn="l" pos="0"/>
                </a:tabLst>
              </a:pPr>
              <a:r>
                <a:rPr b="1" lang="en" sz="1100" spc="-1" strike="noStrike">
                  <a:solidFill>
                    <a:srgbClr val="ffffff"/>
                  </a:solidFill>
                  <a:latin typeface="Montserrat"/>
                  <a:ea typeface="Montserrat"/>
                </a:rPr>
                <a:t>2</a:t>
              </a:r>
              <a:endParaRPr b="0" lang="en-US" sz="1100" spc="-1" strike="noStrike">
                <a:solidFill>
                  <a:srgbClr val="000000"/>
                </a:solidFill>
                <a:latin typeface="Arial"/>
              </a:endParaRPr>
            </a:p>
          </p:txBody>
        </p:sp>
        <p:sp>
          <p:nvSpPr>
            <p:cNvPr id="118" name="Google Shape;143;p16"/>
            <p:cNvSpPr/>
            <p:nvPr/>
          </p:nvSpPr>
          <p:spPr>
            <a:xfrm>
              <a:off x="1190520" y="2619360"/>
              <a:ext cx="4524120" cy="6667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150" spc="-1" strike="noStrike">
                  <a:solidFill>
                    <a:srgbClr val="374151"/>
                  </a:solidFill>
                  <a:latin typeface="Inter"/>
                  <a:ea typeface="Inter"/>
                </a:rPr>
                <a:t>The outgoing mail server then routes the message across the Internet, locating the </a:t>
              </a:r>
              <a:r>
                <a:rPr b="1" lang="en" sz="1150" spc="-1" strike="noStrike">
                  <a:solidFill>
                    <a:srgbClr val="045a36"/>
                  </a:solidFill>
                  <a:latin typeface="Inter"/>
                  <a:ea typeface="Inter"/>
                </a:rPr>
                <a:t>Receiver's mail server</a:t>
              </a:r>
              <a:r>
                <a:rPr b="0" lang="en" sz="1150" spc="-1" strike="noStrike">
                  <a:solidFill>
                    <a:srgbClr val="374151"/>
                  </a:solidFill>
                  <a:latin typeface="Inter"/>
                  <a:ea typeface="Inter"/>
                </a:rPr>
                <a:t> using specialized DNS records.</a:t>
              </a:r>
              <a:endParaRPr b="0" lang="en-US" sz="1150" spc="-1" strike="noStrike">
                <a:solidFill>
                  <a:srgbClr val="000000"/>
                </a:solidFill>
                <a:latin typeface="Arial"/>
              </a:endParaRPr>
            </a:p>
          </p:txBody>
        </p:sp>
      </p:grpSp>
      <p:grpSp>
        <p:nvGrpSpPr>
          <p:cNvPr id="119" name="Google Shape;144;p16"/>
          <p:cNvGrpSpPr/>
          <p:nvPr/>
        </p:nvGrpSpPr>
        <p:grpSpPr>
          <a:xfrm>
            <a:off x="762120" y="3333600"/>
            <a:ext cx="4952520" cy="618840"/>
            <a:chOff x="762120" y="3333600"/>
            <a:chExt cx="4952520" cy="618840"/>
          </a:xfrm>
        </p:grpSpPr>
        <p:sp>
          <p:nvSpPr>
            <p:cNvPr id="120" name="Google Shape;145;p16"/>
            <p:cNvSpPr/>
            <p:nvPr/>
          </p:nvSpPr>
          <p:spPr>
            <a:xfrm>
              <a:off x="762120" y="3429000"/>
              <a:ext cx="266400" cy="26640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121" name="Google Shape;146;p16"/>
            <p:cNvSpPr/>
            <p:nvPr/>
          </p:nvSpPr>
          <p:spPr>
            <a:xfrm>
              <a:off x="762120" y="3429000"/>
              <a:ext cx="266400" cy="266400"/>
            </a:xfrm>
            <a:prstGeom prst="rect">
              <a:avLst/>
            </a:prstGeom>
            <a:noFill/>
            <a:ln w="0">
              <a:noFill/>
            </a:ln>
          </p:spPr>
          <p:style>
            <a:lnRef idx="0"/>
            <a:fillRef idx="0"/>
            <a:effectRef idx="0"/>
            <a:fontRef idx="minor"/>
          </p:style>
          <p:txBody>
            <a:bodyPr lIns="0" rIns="0" tIns="0" bIns="0" anchor="ctr">
              <a:noAutofit/>
            </a:bodyPr>
            <a:p>
              <a:pPr algn="ctr">
                <a:lnSpc>
                  <a:spcPct val="100000"/>
                </a:lnSpc>
                <a:tabLst>
                  <a:tab algn="l" pos="0"/>
                </a:tabLst>
              </a:pPr>
              <a:r>
                <a:rPr b="1" lang="en" sz="1100" spc="-1" strike="noStrike">
                  <a:solidFill>
                    <a:srgbClr val="ffffff"/>
                  </a:solidFill>
                  <a:latin typeface="Montserrat"/>
                  <a:ea typeface="Montserrat"/>
                </a:rPr>
                <a:t>3</a:t>
              </a:r>
              <a:endParaRPr b="0" lang="en-US" sz="1100" spc="-1" strike="noStrike">
                <a:solidFill>
                  <a:srgbClr val="000000"/>
                </a:solidFill>
                <a:latin typeface="Arial"/>
              </a:endParaRPr>
            </a:p>
          </p:txBody>
        </p:sp>
        <p:sp>
          <p:nvSpPr>
            <p:cNvPr id="122" name="Google Shape;147;p16"/>
            <p:cNvSpPr/>
            <p:nvPr/>
          </p:nvSpPr>
          <p:spPr>
            <a:xfrm>
              <a:off x="1190520" y="3333600"/>
              <a:ext cx="4524120" cy="61884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150" spc="-1" strike="noStrike">
                  <a:solidFill>
                    <a:srgbClr val="374151"/>
                  </a:solidFill>
                  <a:latin typeface="Inter"/>
                  <a:ea typeface="Inter"/>
                </a:rPr>
                <a:t>Finally, the </a:t>
              </a:r>
              <a:r>
                <a:rPr b="1" lang="en" sz="1150" spc="-1" strike="noStrike">
                  <a:solidFill>
                    <a:srgbClr val="045a36"/>
                  </a:solidFill>
                  <a:latin typeface="Inter"/>
                  <a:ea typeface="Inter"/>
                </a:rPr>
                <a:t>Receiver</a:t>
              </a:r>
              <a:r>
                <a:rPr b="0" lang="en" sz="1150" spc="-1" strike="noStrike">
                  <a:solidFill>
                    <a:srgbClr val="374151"/>
                  </a:solidFill>
                  <a:latin typeface="Inter"/>
                  <a:ea typeface="Inter"/>
                </a:rPr>
                <a:t> accesses the delivered message through their own email client.</a:t>
              </a:r>
              <a:endParaRPr b="0" lang="en-US" sz="1150" spc="-1" strike="noStrike">
                <a:solidFill>
                  <a:srgbClr val="000000"/>
                </a:solidFill>
                <a:latin typeface="Arial"/>
              </a:endParaRPr>
            </a:p>
          </p:txBody>
        </p:sp>
      </p:grpSp>
      <p:grpSp>
        <p:nvGrpSpPr>
          <p:cNvPr id="123" name="Google Shape;148;p16"/>
          <p:cNvGrpSpPr/>
          <p:nvPr/>
        </p:nvGrpSpPr>
        <p:grpSpPr>
          <a:xfrm>
            <a:off x="762120" y="4143240"/>
            <a:ext cx="4952520" cy="1380960"/>
            <a:chOff x="762120" y="4143240"/>
            <a:chExt cx="4952520" cy="1380960"/>
          </a:xfrm>
        </p:grpSpPr>
        <p:sp>
          <p:nvSpPr>
            <p:cNvPr id="124" name="Google Shape;149;p16"/>
            <p:cNvSpPr/>
            <p:nvPr/>
          </p:nvSpPr>
          <p:spPr>
            <a:xfrm>
              <a:off x="762120" y="4143240"/>
              <a:ext cx="4952520" cy="1380960"/>
            </a:xfrm>
            <a:prstGeom prst="roundRect">
              <a:avLst>
                <a:gd name="adj" fmla="val 5517"/>
              </a:avLst>
            </a:prstGeom>
            <a:solidFill>
              <a:srgbClr val="f1f5f9"/>
            </a:solidFill>
            <a:ln w="14300">
              <a:solidFill>
                <a:srgbClr val="e2e8f0"/>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125" name="Google Shape;150;p16"/>
            <p:cNvSpPr/>
            <p:nvPr/>
          </p:nvSpPr>
          <p:spPr>
            <a:xfrm>
              <a:off x="762120" y="4143240"/>
              <a:ext cx="4952520" cy="47520"/>
            </a:xfrm>
            <a:prstGeom prst="roundRect">
              <a:avLst>
                <a:gd name="adj" fmla="val 50000"/>
              </a:avLst>
            </a:prstGeom>
            <a:solidFill>
              <a:srgbClr val="d4a017"/>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126" name="Google Shape;151;p16"/>
            <p:cNvSpPr/>
            <p:nvPr/>
          </p:nvSpPr>
          <p:spPr>
            <a:xfrm>
              <a:off x="1000080" y="4334040"/>
              <a:ext cx="4476600" cy="104760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150" spc="-1" strike="noStrike">
                  <a:solidFill>
                    <a:srgbClr val="d4a017"/>
                  </a:solidFill>
                  <a:latin typeface="Inter"/>
                  <a:ea typeface="Inter"/>
                </a:rPr>
                <a:t>Project Focus</a:t>
              </a:r>
              <a:endParaRPr b="0" lang="en-US" sz="1150" spc="-1" strike="noStrike">
                <a:solidFill>
                  <a:srgbClr val="000000"/>
                </a:solidFill>
                <a:latin typeface="Arial"/>
              </a:endParaRPr>
            </a:p>
            <a:p>
              <a:pPr>
                <a:lnSpc>
                  <a:spcPct val="100000"/>
                </a:lnSpc>
                <a:spcBef>
                  <a:spcPts val="601"/>
                </a:spcBef>
                <a:tabLst>
                  <a:tab algn="l" pos="0"/>
                </a:tabLst>
              </a:pPr>
              <a:r>
                <a:rPr b="0" lang="en" sz="1100" spc="-1" strike="noStrike">
                  <a:solidFill>
                    <a:srgbClr val="374151"/>
                  </a:solidFill>
                  <a:latin typeface="Inter"/>
                  <a:ea typeface="Inter"/>
                </a:rPr>
                <a:t>For the scope of our automation projects, we will focus on a simplified flow: the Python script generates the message, passes it to the SMTP Server, which routes it through the Internet directly to the Receiver's inbox.</a:t>
              </a:r>
              <a:endParaRPr b="0" lang="en-US" sz="1100" spc="-1" strike="noStrike">
                <a:solidFill>
                  <a:srgbClr val="000000"/>
                </a:solidFill>
                <a:latin typeface="Arial"/>
              </a:endParaRPr>
            </a:p>
          </p:txBody>
        </p:sp>
      </p:grpSp>
      <p:grpSp>
        <p:nvGrpSpPr>
          <p:cNvPr id="127" name="Google Shape;152;p16"/>
          <p:cNvGrpSpPr/>
          <p:nvPr/>
        </p:nvGrpSpPr>
        <p:grpSpPr>
          <a:xfrm>
            <a:off x="6381720" y="1428840"/>
            <a:ext cx="4762080" cy="3857400"/>
            <a:chOff x="6381720" y="1428840"/>
            <a:chExt cx="4762080" cy="3857400"/>
          </a:xfrm>
        </p:grpSpPr>
        <p:pic>
          <p:nvPicPr>
            <p:cNvPr id="128" name="Google Shape;153;p16" descr=""/>
            <p:cNvPicPr/>
            <p:nvPr/>
          </p:nvPicPr>
          <p:blipFill>
            <a:blip r:embed="rId3"/>
            <a:srcRect l="0" t="42" r="0" b="51"/>
            <a:stretch/>
          </p:blipFill>
          <p:spPr>
            <a:xfrm>
              <a:off x="6381720" y="1428840"/>
              <a:ext cx="4762080" cy="3552480"/>
            </a:xfrm>
            <a:prstGeom prst="rect">
              <a:avLst/>
            </a:prstGeom>
            <a:ln w="0">
              <a:noFill/>
            </a:ln>
          </p:spPr>
        </p:pic>
        <p:sp>
          <p:nvSpPr>
            <p:cNvPr id="129" name="Google Shape;154;p16"/>
            <p:cNvSpPr/>
            <p:nvPr/>
          </p:nvSpPr>
          <p:spPr>
            <a:xfrm>
              <a:off x="6381720" y="4981680"/>
              <a:ext cx="4762080" cy="304560"/>
            </a:xfrm>
            <a:prstGeom prst="roundRect">
              <a:avLst>
                <a:gd name="adj" fmla="val 12500"/>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130" name="Google Shape;155;p16"/>
            <p:cNvSpPr/>
            <p:nvPr/>
          </p:nvSpPr>
          <p:spPr>
            <a:xfrm>
              <a:off x="6381720" y="4981680"/>
              <a:ext cx="4762080" cy="28080"/>
            </a:xfrm>
            <a:prstGeom prst="rect">
              <a:avLst/>
            </a:prstGeom>
            <a:solidFill>
              <a:srgbClr val="d4a017"/>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131" name="Google Shape;156;p16"/>
            <p:cNvSpPr/>
            <p:nvPr/>
          </p:nvSpPr>
          <p:spPr>
            <a:xfrm>
              <a:off x="6477120" y="5000760"/>
              <a:ext cx="4571640" cy="266400"/>
            </a:xfrm>
            <a:prstGeom prst="rect">
              <a:avLst/>
            </a:prstGeom>
            <a:noFill/>
            <a:ln w="0">
              <a:noFill/>
            </a:ln>
          </p:spPr>
          <p:style>
            <a:lnRef idx="0"/>
            <a:fillRef idx="0"/>
            <a:effectRef idx="0"/>
            <a:fontRef idx="minor"/>
          </p:style>
          <p:txBody>
            <a:bodyPr lIns="0" rIns="0" tIns="0" bIns="0" anchor="ctr">
              <a:noAutofit/>
            </a:bodyPr>
            <a:p>
              <a:pPr algn="ctr">
                <a:lnSpc>
                  <a:spcPct val="100000"/>
                </a:lnSpc>
                <a:tabLst>
                  <a:tab algn="l" pos="0"/>
                </a:tabLst>
              </a:pPr>
              <a:r>
                <a:rPr b="0" lang="en" sz="950" spc="-1" strike="noStrike">
                  <a:solidFill>
                    <a:srgbClr val="ffffff"/>
                  </a:solidFill>
                  <a:latin typeface="Inter SemiBold"/>
                  <a:ea typeface="Inter SemiBold"/>
                </a:rPr>
                <a:t>Standard Email Routing Network: From Client to Receiver Inbox</a:t>
              </a:r>
              <a:endParaRPr b="0" lang="en-US" sz="950" spc="-1" strike="noStrike">
                <a:solidFill>
                  <a:srgbClr val="000000"/>
                </a:solidFill>
                <a:latin typeface="Arial"/>
              </a:endParaRPr>
            </a:p>
          </p:txBody>
        </p:sp>
      </p:grpSp>
      <p:pic>
        <p:nvPicPr>
          <p:cNvPr id="132" name="Google Shape;157;p16" descr=""/>
          <p:cNvPicPr/>
          <p:nvPr/>
        </p:nvPicPr>
        <p:blipFill>
          <a:blip r:embed="rId4"/>
          <a:stretch/>
        </p:blipFill>
        <p:spPr>
          <a:xfrm>
            <a:off x="762120" y="5981760"/>
            <a:ext cx="10667520" cy="304560"/>
          </a:xfrm>
          <a:prstGeom prst="rect">
            <a:avLst/>
          </a:prstGeom>
          <a:ln w="0">
            <a:noFill/>
          </a:ln>
        </p:spPr>
      </p:pic>
      <p:sp>
        <p:nvSpPr>
          <p:cNvPr id="133" name="Google Shape;158;p16"/>
          <p:cNvSpPr/>
          <p:nvPr/>
        </p:nvSpPr>
        <p:spPr>
          <a:xfrm>
            <a:off x="762120" y="6134040"/>
            <a:ext cx="4762080" cy="19008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 sz="980" spc="-1" strike="noStrike">
                <a:solidFill>
                  <a:srgbClr val="6b7280"/>
                </a:solidFill>
                <a:latin typeface="Inter"/>
                <a:ea typeface="Inter"/>
              </a:rPr>
              <a:t>Introduction to Email Automation &amp; SMTP | Python Basics</a:t>
            </a:r>
            <a:endParaRPr b="0" lang="en-US" sz="980" spc="-1" strike="noStrike">
              <a:solidFill>
                <a:srgbClr val="000000"/>
              </a:solidFill>
              <a:latin typeface="Arial"/>
            </a:endParaRPr>
          </a:p>
        </p:txBody>
      </p:sp>
      <p:pic>
        <p:nvPicPr>
          <p:cNvPr id="134" name="Google Shape;159;p16" descr=""/>
          <p:cNvPicPr/>
          <p:nvPr/>
        </p:nvPicPr>
        <p:blipFill>
          <a:blip r:embed="rId5"/>
          <a:stretch/>
        </p:blipFill>
        <p:spPr>
          <a:xfrm>
            <a:off x="10287000" y="5457960"/>
            <a:ext cx="1523520" cy="1019160"/>
          </a:xfrm>
          <a:prstGeom prst="rect">
            <a:avLst/>
          </a:prstGeom>
          <a:ln w="0">
            <a:noFill/>
          </a:ln>
        </p:spPr>
      </p:pic>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pic>
        <p:nvPicPr>
          <p:cNvPr id="135" name="Google Shape;164;p17" descr=""/>
          <p:cNvPicPr/>
          <p:nvPr/>
        </p:nvPicPr>
        <p:blipFill>
          <a:blip r:embed="rId2"/>
          <a:srcRect l="129" t="0" r="129" b="0"/>
          <a:stretch/>
        </p:blipFill>
        <p:spPr>
          <a:xfrm>
            <a:off x="0" y="0"/>
            <a:ext cx="12191760" cy="56880"/>
          </a:xfrm>
          <a:prstGeom prst="rect">
            <a:avLst/>
          </a:prstGeom>
          <a:ln w="0">
            <a:noFill/>
          </a:ln>
        </p:spPr>
      </p:pic>
      <p:sp>
        <p:nvSpPr>
          <p:cNvPr id="136" name="Google Shape;165;p17"/>
          <p:cNvSpPr/>
          <p:nvPr/>
        </p:nvSpPr>
        <p:spPr>
          <a:xfrm>
            <a:off x="762120" y="1123920"/>
            <a:ext cx="10667520" cy="18720"/>
          </a:xfrm>
          <a:prstGeom prst="rect">
            <a:avLst/>
          </a:prstGeom>
          <a:solidFill>
            <a:srgbClr val="e2e8f0"/>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137" name="Google Shape;166;p17"/>
          <p:cNvSpPr/>
          <p:nvPr/>
        </p:nvSpPr>
        <p:spPr>
          <a:xfrm>
            <a:off x="762120" y="571680"/>
            <a:ext cx="9524520" cy="42840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2700" spc="-1" strike="noStrike">
                <a:solidFill>
                  <a:srgbClr val="045a36"/>
                </a:solidFill>
                <a:latin typeface="Montserrat SemiBold"/>
                <a:ea typeface="Montserrat SemiBold"/>
              </a:rPr>
              <a:t>SMTP: Simple Mail Transfer Protocol</a:t>
            </a:r>
            <a:endParaRPr b="0" lang="en-US" sz="2700" spc="-1" strike="noStrike">
              <a:solidFill>
                <a:srgbClr val="000000"/>
              </a:solidFill>
              <a:latin typeface="Arial"/>
            </a:endParaRPr>
          </a:p>
        </p:txBody>
      </p:sp>
      <p:grpSp>
        <p:nvGrpSpPr>
          <p:cNvPr id="138" name="Google Shape;167;p17"/>
          <p:cNvGrpSpPr/>
          <p:nvPr/>
        </p:nvGrpSpPr>
        <p:grpSpPr>
          <a:xfrm>
            <a:off x="762120" y="1333440"/>
            <a:ext cx="10667520" cy="1333080"/>
            <a:chOff x="762120" y="1333440"/>
            <a:chExt cx="10667520" cy="1333080"/>
          </a:xfrm>
        </p:grpSpPr>
        <p:sp>
          <p:nvSpPr>
            <p:cNvPr id="139" name="Google Shape;168;p17"/>
            <p:cNvSpPr/>
            <p:nvPr/>
          </p:nvSpPr>
          <p:spPr>
            <a:xfrm>
              <a:off x="762120" y="1333440"/>
              <a:ext cx="10667520" cy="1333080"/>
            </a:xfrm>
            <a:prstGeom prst="roundRect">
              <a:avLst>
                <a:gd name="adj" fmla="val 8571"/>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140" name="Google Shape;169;p17"/>
            <p:cNvSpPr/>
            <p:nvPr/>
          </p:nvSpPr>
          <p:spPr>
            <a:xfrm>
              <a:off x="762120" y="1333440"/>
              <a:ext cx="75960" cy="1333080"/>
            </a:xfrm>
            <a:prstGeom prst="roundRect">
              <a:avLst>
                <a:gd name="adj" fmla="val 50000"/>
              </a:avLst>
            </a:prstGeom>
            <a:solidFill>
              <a:srgbClr val="d4a017"/>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141" name="Google Shape;170;p17"/>
            <p:cNvSpPr/>
            <p:nvPr/>
          </p:nvSpPr>
          <p:spPr>
            <a:xfrm>
              <a:off x="1095480" y="1476360"/>
              <a:ext cx="10001160" cy="104760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 sz="1150" spc="-1" strike="noStrike">
                  <a:solidFill>
                    <a:srgbClr val="d4a017"/>
                  </a:solidFill>
                  <a:latin typeface="Montserrat"/>
                  <a:ea typeface="Montserrat"/>
                </a:rPr>
                <a:t>Protocol Definition</a:t>
              </a:r>
              <a:endParaRPr b="0" lang="en-US" sz="1150" spc="-1" strike="noStrike">
                <a:solidFill>
                  <a:srgbClr val="000000"/>
                </a:solidFill>
                <a:latin typeface="Arial"/>
              </a:endParaRPr>
            </a:p>
            <a:p>
              <a:pPr>
                <a:lnSpc>
                  <a:spcPct val="100000"/>
                </a:lnSpc>
                <a:spcBef>
                  <a:spcPts val="451"/>
                </a:spcBef>
                <a:tabLst>
                  <a:tab algn="l" pos="0"/>
                </a:tabLst>
              </a:pPr>
              <a:r>
                <a:rPr b="1" lang="en" sz="1250" spc="-1" strike="noStrike">
                  <a:solidFill>
                    <a:srgbClr val="d4a017"/>
                  </a:solidFill>
                  <a:latin typeface="Inter"/>
                  <a:ea typeface="Inter"/>
                </a:rPr>
                <a:t>SMTP</a:t>
              </a:r>
              <a:r>
                <a:rPr b="0" lang="en" sz="1250" spc="-1" strike="noStrike">
                  <a:solidFill>
                    <a:srgbClr val="ffffff"/>
                  </a:solidFill>
                  <a:latin typeface="Inter"/>
                  <a:ea typeface="Inter"/>
                </a:rPr>
                <a:t> (Simple Mail Transfer Protocol) is the foundational internet standard for email transmission across IP networks. The primary purpose of SMTP is exclusively for sending or routing outgoing email traffic from a client to a server, or between servers.</a:t>
              </a:r>
              <a:endParaRPr b="0" lang="en-US" sz="1250" spc="-1" strike="noStrike">
                <a:solidFill>
                  <a:srgbClr val="000000"/>
                </a:solidFill>
                <a:latin typeface="Arial"/>
              </a:endParaRPr>
            </a:p>
          </p:txBody>
        </p:sp>
      </p:grpSp>
      <p:grpSp>
        <p:nvGrpSpPr>
          <p:cNvPr id="142" name="Google Shape;171;p17"/>
          <p:cNvGrpSpPr/>
          <p:nvPr/>
        </p:nvGrpSpPr>
        <p:grpSpPr>
          <a:xfrm>
            <a:off x="762120" y="2905200"/>
            <a:ext cx="5143320" cy="2476080"/>
            <a:chOff x="762120" y="2905200"/>
            <a:chExt cx="5143320" cy="2476080"/>
          </a:xfrm>
        </p:grpSpPr>
        <p:sp>
          <p:nvSpPr>
            <p:cNvPr id="143" name="Google Shape;172;p17"/>
            <p:cNvSpPr/>
            <p:nvPr/>
          </p:nvSpPr>
          <p:spPr>
            <a:xfrm>
              <a:off x="762120" y="2905200"/>
              <a:ext cx="5143320" cy="2476080"/>
            </a:xfrm>
            <a:prstGeom prst="roundRect">
              <a:avLst>
                <a:gd name="adj" fmla="val 4615"/>
              </a:avLst>
            </a:prstGeom>
            <a:solidFill>
              <a:srgbClr val="ffffff"/>
            </a:solidFill>
            <a:ln w="9525">
              <a:solidFill>
                <a:srgbClr val="e2e8f0"/>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144" name="Google Shape;173;p17"/>
            <p:cNvSpPr/>
            <p:nvPr/>
          </p:nvSpPr>
          <p:spPr>
            <a:xfrm>
              <a:off x="762120" y="2905200"/>
              <a:ext cx="5143320" cy="75960"/>
            </a:xfrm>
            <a:prstGeom prst="roundRect">
              <a:avLst>
                <a:gd name="adj" fmla="val 50000"/>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145" name="Google Shape;174;p17"/>
            <p:cNvSpPr/>
            <p:nvPr/>
          </p:nvSpPr>
          <p:spPr>
            <a:xfrm>
              <a:off x="1047600" y="3143160"/>
              <a:ext cx="4571640" cy="28548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400" spc="-1" strike="noStrike">
                  <a:solidFill>
                    <a:srgbClr val="045a36"/>
                  </a:solidFill>
                  <a:latin typeface="Montserrat"/>
                  <a:ea typeface="Montserrat"/>
                </a:rPr>
                <a:t>Sending vs. Receiving Protocols</a:t>
              </a:r>
              <a:endParaRPr b="0" lang="en-US" sz="1400" spc="-1" strike="noStrike">
                <a:solidFill>
                  <a:srgbClr val="000000"/>
                </a:solidFill>
                <a:latin typeface="Arial"/>
              </a:endParaRPr>
            </a:p>
          </p:txBody>
        </p:sp>
        <p:grpSp>
          <p:nvGrpSpPr>
            <p:cNvPr id="146" name="Google Shape;175;p17"/>
            <p:cNvGrpSpPr/>
            <p:nvPr/>
          </p:nvGrpSpPr>
          <p:grpSpPr>
            <a:xfrm>
              <a:off x="1047600" y="3571920"/>
              <a:ext cx="190080" cy="190080"/>
              <a:chOff x="1047600" y="3571920"/>
              <a:chExt cx="190080" cy="190080"/>
            </a:xfrm>
          </p:grpSpPr>
          <p:sp>
            <p:nvSpPr>
              <p:cNvPr id="147" name="Google Shape;176;p17"/>
              <p:cNvSpPr/>
              <p:nvPr/>
            </p:nvSpPr>
            <p:spPr>
              <a:xfrm>
                <a:off x="1047600" y="3571920"/>
                <a:ext cx="190080" cy="19008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148" name="Google Shape;177;p17"/>
              <p:cNvSpPr/>
              <p:nvPr/>
            </p:nvSpPr>
            <p:spPr>
              <a:xfrm>
                <a:off x="1104840" y="3652920"/>
                <a:ext cx="75960" cy="47520"/>
              </a:xfrm>
              <a:custGeom>
                <a:avLst/>
                <a:gdLst>
                  <a:gd name="textAreaLeft" fmla="*/ 0 w 75960"/>
                  <a:gd name="textAreaRight" fmla="*/ 76320 w 75960"/>
                  <a:gd name="textAreaTop" fmla="*/ 0 h 47520"/>
                  <a:gd name="textAreaBottom" fmla="*/ 47880 h 47520"/>
                </a:gdLst>
                <a:ahLst/>
                <a:rect l="textAreaLeft" t="textAreaTop" r="textAreaRight" b="textAreaBottom"/>
                <a:pathLst>
                  <a:path w="120000" h="120000">
                    <a:moveTo>
                      <a:pt x="0" y="47987"/>
                    </a:moveTo>
                    <a:lnTo>
                      <a:pt x="45000"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149" name="Google Shape;178;p17"/>
            <p:cNvSpPr/>
            <p:nvPr/>
          </p:nvSpPr>
          <p:spPr>
            <a:xfrm>
              <a:off x="1333440" y="3524400"/>
              <a:ext cx="4286160" cy="4759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100" spc="-1" strike="noStrike">
                  <a:solidFill>
                    <a:srgbClr val="374151"/>
                  </a:solidFill>
                  <a:latin typeface="Inter"/>
                  <a:ea typeface="Inter"/>
                </a:rPr>
                <a:t>SMTP</a:t>
              </a:r>
              <a:r>
                <a:rPr b="0" lang="en" sz="1100" spc="-1" strike="noStrike">
                  <a:solidFill>
                    <a:srgbClr val="374151"/>
                  </a:solidFill>
                  <a:latin typeface="Inter"/>
                  <a:ea typeface="Inter"/>
                </a:rPr>
                <a:t> pushes outgoing messages toward their destination.</a:t>
              </a:r>
              <a:endParaRPr b="0" lang="en-US" sz="1100" spc="-1" strike="noStrike">
                <a:solidFill>
                  <a:srgbClr val="000000"/>
                </a:solidFill>
                <a:latin typeface="Arial"/>
              </a:endParaRPr>
            </a:p>
          </p:txBody>
        </p:sp>
        <p:grpSp>
          <p:nvGrpSpPr>
            <p:cNvPr id="150" name="Google Shape;179;p17"/>
            <p:cNvGrpSpPr/>
            <p:nvPr/>
          </p:nvGrpSpPr>
          <p:grpSpPr>
            <a:xfrm>
              <a:off x="1047600" y="4238640"/>
              <a:ext cx="190080" cy="190080"/>
              <a:chOff x="1047600" y="4238640"/>
              <a:chExt cx="190080" cy="190080"/>
            </a:xfrm>
          </p:grpSpPr>
          <p:sp>
            <p:nvSpPr>
              <p:cNvPr id="151" name="Google Shape;180;p17"/>
              <p:cNvSpPr/>
              <p:nvPr/>
            </p:nvSpPr>
            <p:spPr>
              <a:xfrm>
                <a:off x="1047600" y="4238640"/>
                <a:ext cx="190080" cy="19008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152" name="Google Shape;181;p17"/>
              <p:cNvSpPr/>
              <p:nvPr/>
            </p:nvSpPr>
            <p:spPr>
              <a:xfrm>
                <a:off x="1104840" y="4319640"/>
                <a:ext cx="75960" cy="47520"/>
              </a:xfrm>
              <a:custGeom>
                <a:avLst/>
                <a:gdLst>
                  <a:gd name="textAreaLeft" fmla="*/ 0 w 75960"/>
                  <a:gd name="textAreaRight" fmla="*/ 76320 w 75960"/>
                  <a:gd name="textAreaTop" fmla="*/ 0 h 47520"/>
                  <a:gd name="textAreaBottom" fmla="*/ 47880 h 47520"/>
                </a:gdLst>
                <a:ahLst/>
                <a:rect l="textAreaLeft" t="textAreaTop" r="textAreaRight" b="textAreaBottom"/>
                <a:pathLst>
                  <a:path w="120000" h="120000">
                    <a:moveTo>
                      <a:pt x="0" y="47987"/>
                    </a:moveTo>
                    <a:lnTo>
                      <a:pt x="45000"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153" name="Google Shape;182;p17"/>
            <p:cNvSpPr/>
            <p:nvPr/>
          </p:nvSpPr>
          <p:spPr>
            <a:xfrm>
              <a:off x="1333440" y="4191120"/>
              <a:ext cx="4286160" cy="6667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100" spc="-1" strike="noStrike">
                  <a:solidFill>
                    <a:srgbClr val="374151"/>
                  </a:solidFill>
                  <a:latin typeface="Inter"/>
                  <a:ea typeface="Inter"/>
                </a:rPr>
                <a:t>Different protocols like </a:t>
              </a:r>
              <a:r>
                <a:rPr b="1" lang="en" sz="1100" spc="-1" strike="noStrike">
                  <a:solidFill>
                    <a:srgbClr val="374151"/>
                  </a:solidFill>
                  <a:latin typeface="Inter"/>
                  <a:ea typeface="Inter"/>
                </a:rPr>
                <a:t>IMAP</a:t>
              </a:r>
              <a:r>
                <a:rPr b="0" lang="en" sz="1100" spc="-1" strike="noStrike">
                  <a:solidFill>
                    <a:srgbClr val="374151"/>
                  </a:solidFill>
                  <a:latin typeface="Inter"/>
                  <a:ea typeface="Inter"/>
                </a:rPr>
                <a:t> or </a:t>
              </a:r>
              <a:r>
                <a:rPr b="1" lang="en" sz="1100" spc="-1" strike="noStrike">
                  <a:solidFill>
                    <a:srgbClr val="374151"/>
                  </a:solidFill>
                  <a:latin typeface="Inter"/>
                  <a:ea typeface="Inter"/>
                </a:rPr>
                <a:t>POP3</a:t>
              </a:r>
              <a:r>
                <a:rPr b="0" lang="en" sz="1100" spc="-1" strike="noStrike">
                  <a:solidFill>
                    <a:srgbClr val="374151"/>
                  </a:solidFill>
                  <a:latin typeface="Inter"/>
                  <a:ea typeface="Inter"/>
                </a:rPr>
                <a:t> are required for an email inbox to retrieve and download those messages.</a:t>
              </a:r>
              <a:endParaRPr b="0" lang="en-US" sz="1100" spc="-1" strike="noStrike">
                <a:solidFill>
                  <a:srgbClr val="000000"/>
                </a:solidFill>
                <a:latin typeface="Arial"/>
              </a:endParaRPr>
            </a:p>
          </p:txBody>
        </p:sp>
      </p:grpSp>
      <p:grpSp>
        <p:nvGrpSpPr>
          <p:cNvPr id="154" name="Google Shape;183;p17"/>
          <p:cNvGrpSpPr/>
          <p:nvPr/>
        </p:nvGrpSpPr>
        <p:grpSpPr>
          <a:xfrm>
            <a:off x="6286680" y="2905200"/>
            <a:ext cx="5143320" cy="2476080"/>
            <a:chOff x="6286680" y="2905200"/>
            <a:chExt cx="5143320" cy="2476080"/>
          </a:xfrm>
        </p:grpSpPr>
        <p:sp>
          <p:nvSpPr>
            <p:cNvPr id="155" name="Google Shape;184;p17"/>
            <p:cNvSpPr/>
            <p:nvPr/>
          </p:nvSpPr>
          <p:spPr>
            <a:xfrm>
              <a:off x="6286680" y="2905200"/>
              <a:ext cx="5143320" cy="2476080"/>
            </a:xfrm>
            <a:prstGeom prst="roundRect">
              <a:avLst>
                <a:gd name="adj" fmla="val 4615"/>
              </a:avLst>
            </a:prstGeom>
            <a:solidFill>
              <a:srgbClr val="ffffff"/>
            </a:solidFill>
            <a:ln w="9525">
              <a:solidFill>
                <a:srgbClr val="e2e8f0"/>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156" name="Google Shape;185;p17"/>
            <p:cNvSpPr/>
            <p:nvPr/>
          </p:nvSpPr>
          <p:spPr>
            <a:xfrm>
              <a:off x="6286680" y="2905200"/>
              <a:ext cx="5143320" cy="75960"/>
            </a:xfrm>
            <a:prstGeom prst="roundRect">
              <a:avLst>
                <a:gd name="adj" fmla="val 50000"/>
              </a:avLst>
            </a:prstGeom>
            <a:solidFill>
              <a:srgbClr val="d4a017"/>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157" name="Google Shape;186;p17"/>
            <p:cNvSpPr/>
            <p:nvPr/>
          </p:nvSpPr>
          <p:spPr>
            <a:xfrm>
              <a:off x="6572160" y="3143160"/>
              <a:ext cx="4571640" cy="28548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400" spc="-1" strike="noStrike">
                  <a:solidFill>
                    <a:srgbClr val="045a36"/>
                  </a:solidFill>
                  <a:latin typeface="Montserrat"/>
                  <a:ea typeface="Montserrat"/>
                </a:rPr>
                <a:t>Python's Native smtplib</a:t>
              </a:r>
              <a:endParaRPr b="0" lang="en-US" sz="1400" spc="-1" strike="noStrike">
                <a:solidFill>
                  <a:srgbClr val="000000"/>
                </a:solidFill>
                <a:latin typeface="Arial"/>
              </a:endParaRPr>
            </a:p>
          </p:txBody>
        </p:sp>
        <p:grpSp>
          <p:nvGrpSpPr>
            <p:cNvPr id="158" name="Google Shape;187;p17"/>
            <p:cNvGrpSpPr/>
            <p:nvPr/>
          </p:nvGrpSpPr>
          <p:grpSpPr>
            <a:xfrm>
              <a:off x="6572160" y="3571920"/>
              <a:ext cx="190080" cy="190080"/>
              <a:chOff x="6572160" y="3571920"/>
              <a:chExt cx="190080" cy="190080"/>
            </a:xfrm>
          </p:grpSpPr>
          <p:sp>
            <p:nvSpPr>
              <p:cNvPr id="159" name="Google Shape;188;p17"/>
              <p:cNvSpPr/>
              <p:nvPr/>
            </p:nvSpPr>
            <p:spPr>
              <a:xfrm>
                <a:off x="6572160" y="3571920"/>
                <a:ext cx="190080" cy="19008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160" name="Google Shape;189;p17"/>
              <p:cNvSpPr/>
              <p:nvPr/>
            </p:nvSpPr>
            <p:spPr>
              <a:xfrm>
                <a:off x="6629400" y="3652920"/>
                <a:ext cx="75960" cy="47520"/>
              </a:xfrm>
              <a:custGeom>
                <a:avLst/>
                <a:gdLst>
                  <a:gd name="textAreaLeft" fmla="*/ 0 w 75960"/>
                  <a:gd name="textAreaRight" fmla="*/ 76320 w 75960"/>
                  <a:gd name="textAreaTop" fmla="*/ 0 h 47520"/>
                  <a:gd name="textAreaBottom" fmla="*/ 47880 h 47520"/>
                </a:gdLst>
                <a:ahLst/>
                <a:rect l="textAreaLeft" t="textAreaTop" r="textAreaRight" b="textAreaBottom"/>
                <a:pathLst>
                  <a:path w="120000" h="120000">
                    <a:moveTo>
                      <a:pt x="0" y="47987"/>
                    </a:moveTo>
                    <a:lnTo>
                      <a:pt x="45000"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161" name="Google Shape;190;p17"/>
            <p:cNvSpPr/>
            <p:nvPr/>
          </p:nvSpPr>
          <p:spPr>
            <a:xfrm>
              <a:off x="6858000" y="3524400"/>
              <a:ext cx="4286160" cy="4759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100" spc="-1" strike="noStrike">
                  <a:solidFill>
                    <a:srgbClr val="374151"/>
                  </a:solidFill>
                  <a:latin typeface="Inter"/>
                  <a:ea typeface="Inter"/>
                </a:rPr>
                <a:t>Python provides smtplib, a powerful, built-in standard-library module.</a:t>
              </a:r>
              <a:endParaRPr b="0" lang="en-US" sz="1100" spc="-1" strike="noStrike">
                <a:solidFill>
                  <a:srgbClr val="000000"/>
                </a:solidFill>
                <a:latin typeface="Arial"/>
              </a:endParaRPr>
            </a:p>
          </p:txBody>
        </p:sp>
        <p:grpSp>
          <p:nvGrpSpPr>
            <p:cNvPr id="162" name="Google Shape;191;p17"/>
            <p:cNvGrpSpPr/>
            <p:nvPr/>
          </p:nvGrpSpPr>
          <p:grpSpPr>
            <a:xfrm>
              <a:off x="6572160" y="4238640"/>
              <a:ext cx="190080" cy="190080"/>
              <a:chOff x="6572160" y="4238640"/>
              <a:chExt cx="190080" cy="190080"/>
            </a:xfrm>
          </p:grpSpPr>
          <p:sp>
            <p:nvSpPr>
              <p:cNvPr id="163" name="Google Shape;192;p17"/>
              <p:cNvSpPr/>
              <p:nvPr/>
            </p:nvSpPr>
            <p:spPr>
              <a:xfrm>
                <a:off x="6572160" y="4238640"/>
                <a:ext cx="190080" cy="19008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164" name="Google Shape;193;p17"/>
              <p:cNvSpPr/>
              <p:nvPr/>
            </p:nvSpPr>
            <p:spPr>
              <a:xfrm>
                <a:off x="6629400" y="4319640"/>
                <a:ext cx="75960" cy="47520"/>
              </a:xfrm>
              <a:custGeom>
                <a:avLst/>
                <a:gdLst>
                  <a:gd name="textAreaLeft" fmla="*/ 0 w 75960"/>
                  <a:gd name="textAreaRight" fmla="*/ 76320 w 75960"/>
                  <a:gd name="textAreaTop" fmla="*/ 0 h 47520"/>
                  <a:gd name="textAreaBottom" fmla="*/ 47880 h 47520"/>
                </a:gdLst>
                <a:ahLst/>
                <a:rect l="textAreaLeft" t="textAreaTop" r="textAreaRight" b="textAreaBottom"/>
                <a:pathLst>
                  <a:path w="120000" h="120000">
                    <a:moveTo>
                      <a:pt x="0" y="47987"/>
                    </a:moveTo>
                    <a:lnTo>
                      <a:pt x="45000"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165" name="Google Shape;194;p17"/>
            <p:cNvSpPr/>
            <p:nvPr/>
          </p:nvSpPr>
          <p:spPr>
            <a:xfrm>
              <a:off x="6858000" y="4191120"/>
              <a:ext cx="4286160" cy="6667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100" spc="-1" strike="noStrike">
                  <a:solidFill>
                    <a:srgbClr val="374151"/>
                  </a:solidFill>
                  <a:latin typeface="Inter"/>
                  <a:ea typeface="Inter"/>
                </a:rPr>
                <a:t>Specifically designed for establishing sessions and communicating with SMTP servers directly.</a:t>
              </a:r>
              <a:endParaRPr b="0" lang="en-US" sz="1100" spc="-1" strike="noStrike">
                <a:solidFill>
                  <a:srgbClr val="000000"/>
                </a:solidFill>
                <a:latin typeface="Arial"/>
              </a:endParaRPr>
            </a:p>
          </p:txBody>
        </p:sp>
      </p:grpSp>
      <p:pic>
        <p:nvPicPr>
          <p:cNvPr id="166" name="Google Shape;195;p17" descr=""/>
          <p:cNvPicPr/>
          <p:nvPr/>
        </p:nvPicPr>
        <p:blipFill>
          <a:blip r:embed="rId3"/>
          <a:stretch/>
        </p:blipFill>
        <p:spPr>
          <a:xfrm>
            <a:off x="762120" y="5981760"/>
            <a:ext cx="10667520" cy="304560"/>
          </a:xfrm>
          <a:prstGeom prst="rect">
            <a:avLst/>
          </a:prstGeom>
          <a:ln w="0">
            <a:noFill/>
          </a:ln>
        </p:spPr>
      </p:pic>
      <p:sp>
        <p:nvSpPr>
          <p:cNvPr id="167" name="Google Shape;196;p17"/>
          <p:cNvSpPr/>
          <p:nvPr/>
        </p:nvSpPr>
        <p:spPr>
          <a:xfrm>
            <a:off x="762120" y="6134040"/>
            <a:ext cx="4762080" cy="19008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980" spc="-1" strike="noStrike">
                <a:solidFill>
                  <a:srgbClr val="6b7280"/>
                </a:solidFill>
                <a:latin typeface="Inter"/>
                <a:ea typeface="Inter"/>
              </a:rPr>
              <a:t>Introduction to Email Automation &amp; SMTP | Python Basics</a:t>
            </a:r>
            <a:endParaRPr b="0" lang="en-US" sz="980" spc="-1" strike="noStrike">
              <a:solidFill>
                <a:srgbClr val="000000"/>
              </a:solidFill>
              <a:latin typeface="Arial"/>
            </a:endParaRPr>
          </a:p>
        </p:txBody>
      </p:sp>
      <p:pic>
        <p:nvPicPr>
          <p:cNvPr id="168" name="Google Shape;197;p17" descr=""/>
          <p:cNvPicPr/>
          <p:nvPr/>
        </p:nvPicPr>
        <p:blipFill>
          <a:blip r:embed="rId4"/>
          <a:srcRect l="0" t="464" r="0" b="464"/>
          <a:stretch/>
        </p:blipFill>
        <p:spPr>
          <a:xfrm>
            <a:off x="10287000" y="5457960"/>
            <a:ext cx="1523520" cy="1009440"/>
          </a:xfrm>
          <a:prstGeom prst="rect">
            <a:avLst/>
          </a:prstGeom>
          <a:ln w="0">
            <a:noFill/>
          </a:ln>
        </p:spPr>
      </p:pic>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9" name="Google Shape;202;p18"/>
          <p:cNvSpPr/>
          <p:nvPr/>
        </p:nvSpPr>
        <p:spPr>
          <a:xfrm>
            <a:off x="0" y="0"/>
            <a:ext cx="12191760" cy="6857640"/>
          </a:xfrm>
          <a:prstGeom prst="rect">
            <a:avLst/>
          </a:prstGeom>
          <a:solidFill>
            <a:srgbClr val="f8fafc"/>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pic>
        <p:nvPicPr>
          <p:cNvPr id="170" name="Google Shape;203;p18" descr=""/>
          <p:cNvPicPr/>
          <p:nvPr/>
        </p:nvPicPr>
        <p:blipFill>
          <a:blip r:embed="rId1"/>
          <a:srcRect l="129" t="0" r="129" b="0"/>
          <a:stretch/>
        </p:blipFill>
        <p:spPr>
          <a:xfrm>
            <a:off x="0" y="0"/>
            <a:ext cx="12191760" cy="56880"/>
          </a:xfrm>
          <a:prstGeom prst="rect">
            <a:avLst/>
          </a:prstGeom>
          <a:ln w="0">
            <a:noFill/>
          </a:ln>
        </p:spPr>
      </p:pic>
      <p:sp>
        <p:nvSpPr>
          <p:cNvPr id="171" name="Google Shape;204;p18"/>
          <p:cNvSpPr/>
          <p:nvPr/>
        </p:nvSpPr>
        <p:spPr>
          <a:xfrm>
            <a:off x="762120" y="1123920"/>
            <a:ext cx="10667520" cy="18720"/>
          </a:xfrm>
          <a:prstGeom prst="rect">
            <a:avLst/>
          </a:prstGeom>
          <a:solidFill>
            <a:srgbClr val="e2e8f0"/>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pic>
        <p:nvPicPr>
          <p:cNvPr id="172" name="Google Shape;205;p18" descr=""/>
          <p:cNvPicPr/>
          <p:nvPr/>
        </p:nvPicPr>
        <p:blipFill>
          <a:blip r:embed="rId2"/>
          <a:stretch/>
        </p:blipFill>
        <p:spPr>
          <a:xfrm>
            <a:off x="762120" y="5981760"/>
            <a:ext cx="10667520" cy="304560"/>
          </a:xfrm>
          <a:prstGeom prst="rect">
            <a:avLst/>
          </a:prstGeom>
          <a:ln w="0">
            <a:noFill/>
          </a:ln>
        </p:spPr>
      </p:pic>
      <p:sp>
        <p:nvSpPr>
          <p:cNvPr id="173" name="Google Shape;206;p18"/>
          <p:cNvSpPr/>
          <p:nvPr/>
        </p:nvSpPr>
        <p:spPr>
          <a:xfrm>
            <a:off x="762120" y="6134040"/>
            <a:ext cx="4762080" cy="19008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980" spc="-1" strike="noStrike">
                <a:solidFill>
                  <a:srgbClr val="6b7280"/>
                </a:solidFill>
                <a:latin typeface="Inter"/>
                <a:ea typeface="Inter"/>
              </a:rPr>
              <a:t>Introduction to Email Automation &amp; SMTP | Python Basics</a:t>
            </a:r>
            <a:endParaRPr b="0" lang="en-US" sz="980" spc="-1" strike="noStrike">
              <a:solidFill>
                <a:srgbClr val="000000"/>
              </a:solidFill>
              <a:latin typeface="Arial"/>
            </a:endParaRPr>
          </a:p>
        </p:txBody>
      </p:sp>
      <p:pic>
        <p:nvPicPr>
          <p:cNvPr id="174" name="Google Shape;207;p18" descr=""/>
          <p:cNvPicPr/>
          <p:nvPr/>
        </p:nvPicPr>
        <p:blipFill>
          <a:blip r:embed="rId3"/>
          <a:stretch/>
        </p:blipFill>
        <p:spPr>
          <a:xfrm>
            <a:off x="10287000" y="5457960"/>
            <a:ext cx="1523520" cy="1019160"/>
          </a:xfrm>
          <a:prstGeom prst="rect">
            <a:avLst/>
          </a:prstGeom>
          <a:ln w="0">
            <a:noFill/>
          </a:ln>
        </p:spPr>
      </p:pic>
      <p:sp>
        <p:nvSpPr>
          <p:cNvPr id="175" name="Google Shape;208;p18"/>
          <p:cNvSpPr/>
          <p:nvPr/>
        </p:nvSpPr>
        <p:spPr>
          <a:xfrm>
            <a:off x="762120" y="523800"/>
            <a:ext cx="10667520" cy="52344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2100" spc="-1" strike="noStrike">
                <a:solidFill>
                  <a:srgbClr val="045a36"/>
                </a:solidFill>
                <a:latin typeface="Montserrat SemiBold"/>
                <a:ea typeface="Montserrat SemiBold"/>
              </a:rPr>
              <a:t>SMTP Servers Act as the Digital Post Office for Outgoing Messages</a:t>
            </a:r>
            <a:endParaRPr b="0" lang="en-US" sz="2100" spc="-1" strike="noStrike">
              <a:solidFill>
                <a:srgbClr val="000000"/>
              </a:solidFill>
              <a:latin typeface="Arial"/>
            </a:endParaRPr>
          </a:p>
        </p:txBody>
      </p:sp>
      <p:grpSp>
        <p:nvGrpSpPr>
          <p:cNvPr id="176" name="Google Shape;209;p18"/>
          <p:cNvGrpSpPr/>
          <p:nvPr/>
        </p:nvGrpSpPr>
        <p:grpSpPr>
          <a:xfrm>
            <a:off x="762120" y="1476360"/>
            <a:ext cx="4952520" cy="1018800"/>
            <a:chOff x="762120" y="1476360"/>
            <a:chExt cx="4952520" cy="1018800"/>
          </a:xfrm>
        </p:grpSpPr>
        <p:grpSp>
          <p:nvGrpSpPr>
            <p:cNvPr id="177" name="Google Shape;210;p18"/>
            <p:cNvGrpSpPr/>
            <p:nvPr/>
          </p:nvGrpSpPr>
          <p:grpSpPr>
            <a:xfrm>
              <a:off x="762120" y="1504800"/>
              <a:ext cx="190080" cy="190080"/>
              <a:chOff x="762120" y="1504800"/>
              <a:chExt cx="190080" cy="190080"/>
            </a:xfrm>
          </p:grpSpPr>
          <p:sp>
            <p:nvSpPr>
              <p:cNvPr id="178" name="Google Shape;211;p18"/>
              <p:cNvSpPr/>
              <p:nvPr/>
            </p:nvSpPr>
            <p:spPr>
              <a:xfrm>
                <a:off x="762120" y="1504800"/>
                <a:ext cx="190080" cy="19008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179" name="Google Shape;212;p18"/>
              <p:cNvSpPr/>
              <p:nvPr/>
            </p:nvSpPr>
            <p:spPr>
              <a:xfrm>
                <a:off x="819000" y="1585800"/>
                <a:ext cx="75960" cy="47520"/>
              </a:xfrm>
              <a:custGeom>
                <a:avLst/>
                <a:gdLst>
                  <a:gd name="textAreaLeft" fmla="*/ 0 w 75960"/>
                  <a:gd name="textAreaRight" fmla="*/ 76320 w 75960"/>
                  <a:gd name="textAreaTop" fmla="*/ 0 h 47520"/>
                  <a:gd name="textAreaBottom" fmla="*/ 47880 h 47520"/>
                </a:gdLst>
                <a:ahLst/>
                <a:rect l="textAreaLeft" t="textAreaTop" r="textAreaRight" b="textAreaBottom"/>
                <a:pathLst>
                  <a:path w="120000" h="120000">
                    <a:moveTo>
                      <a:pt x="0" y="48000"/>
                    </a:moveTo>
                    <a:lnTo>
                      <a:pt x="45000"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180" name="Google Shape;213;p18"/>
            <p:cNvSpPr/>
            <p:nvPr/>
          </p:nvSpPr>
          <p:spPr>
            <a:xfrm>
              <a:off x="1047600" y="1476360"/>
              <a:ext cx="4667040" cy="28548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400" spc="-1" strike="noStrike">
                  <a:solidFill>
                    <a:srgbClr val="045a36"/>
                  </a:solidFill>
                  <a:latin typeface="Montserrat"/>
                  <a:ea typeface="Montserrat"/>
                </a:rPr>
                <a:t>Dedicated Outgoing Infrastructure</a:t>
              </a:r>
              <a:endParaRPr b="0" lang="en-US" sz="1400" spc="-1" strike="noStrike">
                <a:solidFill>
                  <a:srgbClr val="000000"/>
                </a:solidFill>
                <a:latin typeface="Arial"/>
              </a:endParaRPr>
            </a:p>
          </p:txBody>
        </p:sp>
        <p:sp>
          <p:nvSpPr>
            <p:cNvPr id="181" name="Google Shape;214;p18"/>
            <p:cNvSpPr/>
            <p:nvPr/>
          </p:nvSpPr>
          <p:spPr>
            <a:xfrm>
              <a:off x="1047600" y="1781280"/>
              <a:ext cx="4667040" cy="71388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150" spc="-1" strike="noStrike">
                  <a:solidFill>
                    <a:srgbClr val="374151"/>
                  </a:solidFill>
                  <a:latin typeface="Inter"/>
                  <a:ea typeface="Inter"/>
                </a:rPr>
                <a:t>An SMTP server is a dedicated computer or application responsible for receiving, routing, and delivering outgoing email messages.</a:t>
              </a:r>
              <a:endParaRPr b="0" lang="en-US" sz="1150" spc="-1" strike="noStrike">
                <a:solidFill>
                  <a:srgbClr val="000000"/>
                </a:solidFill>
                <a:latin typeface="Arial"/>
              </a:endParaRPr>
            </a:p>
          </p:txBody>
        </p:sp>
      </p:grpSp>
      <p:grpSp>
        <p:nvGrpSpPr>
          <p:cNvPr id="182" name="Google Shape;215;p18"/>
          <p:cNvGrpSpPr/>
          <p:nvPr/>
        </p:nvGrpSpPr>
        <p:grpSpPr>
          <a:xfrm>
            <a:off x="762120" y="2666880"/>
            <a:ext cx="4952520" cy="1352520"/>
            <a:chOff x="762120" y="2666880"/>
            <a:chExt cx="4952520" cy="1352520"/>
          </a:xfrm>
        </p:grpSpPr>
        <p:grpSp>
          <p:nvGrpSpPr>
            <p:cNvPr id="183" name="Google Shape;216;p18"/>
            <p:cNvGrpSpPr/>
            <p:nvPr/>
          </p:nvGrpSpPr>
          <p:grpSpPr>
            <a:xfrm>
              <a:off x="762120" y="2695680"/>
              <a:ext cx="190080" cy="190080"/>
              <a:chOff x="762120" y="2695680"/>
              <a:chExt cx="190080" cy="190080"/>
            </a:xfrm>
          </p:grpSpPr>
          <p:sp>
            <p:nvSpPr>
              <p:cNvPr id="184" name="Google Shape;217;p18"/>
              <p:cNvSpPr/>
              <p:nvPr/>
            </p:nvSpPr>
            <p:spPr>
              <a:xfrm>
                <a:off x="762120" y="2695680"/>
                <a:ext cx="190080" cy="19008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185" name="Google Shape;218;p18"/>
              <p:cNvSpPr/>
              <p:nvPr/>
            </p:nvSpPr>
            <p:spPr>
              <a:xfrm>
                <a:off x="819000" y="2776680"/>
                <a:ext cx="75960" cy="47520"/>
              </a:xfrm>
              <a:custGeom>
                <a:avLst/>
                <a:gdLst>
                  <a:gd name="textAreaLeft" fmla="*/ 0 w 75960"/>
                  <a:gd name="textAreaRight" fmla="*/ 76320 w 75960"/>
                  <a:gd name="textAreaTop" fmla="*/ 0 h 47520"/>
                  <a:gd name="textAreaBottom" fmla="*/ 47880 h 47520"/>
                </a:gdLst>
                <a:ahLst/>
                <a:rect l="textAreaLeft" t="textAreaTop" r="textAreaRight" b="textAreaBottom"/>
                <a:pathLst>
                  <a:path w="120000" h="120000">
                    <a:moveTo>
                      <a:pt x="0" y="48000"/>
                    </a:moveTo>
                    <a:lnTo>
                      <a:pt x="45000"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186" name="Google Shape;219;p18"/>
            <p:cNvSpPr/>
            <p:nvPr/>
          </p:nvSpPr>
          <p:spPr>
            <a:xfrm>
              <a:off x="1047600" y="2666880"/>
              <a:ext cx="4667040" cy="28548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400" spc="-1" strike="noStrike">
                  <a:solidFill>
                    <a:srgbClr val="045a36"/>
                  </a:solidFill>
                  <a:latin typeface="Montserrat"/>
                  <a:ea typeface="Montserrat"/>
                </a:rPr>
                <a:t>Why Python Requires SMTP</a:t>
              </a:r>
              <a:endParaRPr b="0" lang="en-US" sz="1400" spc="-1" strike="noStrike">
                <a:solidFill>
                  <a:srgbClr val="000000"/>
                </a:solidFill>
                <a:latin typeface="Arial"/>
              </a:endParaRPr>
            </a:p>
          </p:txBody>
        </p:sp>
        <p:sp>
          <p:nvSpPr>
            <p:cNvPr id="187" name="Google Shape;220;p18"/>
            <p:cNvSpPr/>
            <p:nvPr/>
          </p:nvSpPr>
          <p:spPr>
            <a:xfrm>
              <a:off x="1047600" y="2971800"/>
              <a:ext cx="4667040" cy="104760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150" spc="-1" strike="noStrike">
                  <a:solidFill>
                    <a:srgbClr val="374151"/>
                  </a:solidFill>
                  <a:latin typeface="Inter"/>
                  <a:ea typeface="Inter"/>
                </a:rPr>
                <a:t>Python needs an SMTP server because a local script cannot directly place an email into a remote recipient's inbox; it must hand the message off to specialized infrastructure designed for email routing.</a:t>
              </a:r>
              <a:endParaRPr b="0" lang="en-US" sz="1150" spc="-1" strike="noStrike">
                <a:solidFill>
                  <a:srgbClr val="000000"/>
                </a:solidFill>
                <a:latin typeface="Arial"/>
              </a:endParaRPr>
            </a:p>
          </p:txBody>
        </p:sp>
      </p:grpSp>
      <p:grpSp>
        <p:nvGrpSpPr>
          <p:cNvPr id="188" name="Google Shape;221;p18"/>
          <p:cNvGrpSpPr/>
          <p:nvPr/>
        </p:nvGrpSpPr>
        <p:grpSpPr>
          <a:xfrm>
            <a:off x="762120" y="4143240"/>
            <a:ext cx="4952520" cy="1352520"/>
            <a:chOff x="762120" y="4143240"/>
            <a:chExt cx="4952520" cy="1352520"/>
          </a:xfrm>
        </p:grpSpPr>
        <p:grpSp>
          <p:nvGrpSpPr>
            <p:cNvPr id="189" name="Google Shape;222;p18"/>
            <p:cNvGrpSpPr/>
            <p:nvPr/>
          </p:nvGrpSpPr>
          <p:grpSpPr>
            <a:xfrm>
              <a:off x="762120" y="4172040"/>
              <a:ext cx="190080" cy="190080"/>
              <a:chOff x="762120" y="4172040"/>
              <a:chExt cx="190080" cy="190080"/>
            </a:xfrm>
          </p:grpSpPr>
          <p:sp>
            <p:nvSpPr>
              <p:cNvPr id="190" name="Google Shape;223;p18"/>
              <p:cNvSpPr/>
              <p:nvPr/>
            </p:nvSpPr>
            <p:spPr>
              <a:xfrm>
                <a:off x="762120" y="4172040"/>
                <a:ext cx="190080" cy="19008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191" name="Google Shape;224;p18"/>
              <p:cNvSpPr/>
              <p:nvPr/>
            </p:nvSpPr>
            <p:spPr>
              <a:xfrm>
                <a:off x="819000" y="4253040"/>
                <a:ext cx="75960" cy="47520"/>
              </a:xfrm>
              <a:custGeom>
                <a:avLst/>
                <a:gdLst>
                  <a:gd name="textAreaLeft" fmla="*/ 0 w 75960"/>
                  <a:gd name="textAreaRight" fmla="*/ 76320 w 75960"/>
                  <a:gd name="textAreaTop" fmla="*/ 0 h 47520"/>
                  <a:gd name="textAreaBottom" fmla="*/ 47880 h 47520"/>
                </a:gdLst>
                <a:ahLst/>
                <a:rect l="textAreaLeft" t="textAreaTop" r="textAreaRight" b="textAreaBottom"/>
                <a:pathLst>
                  <a:path w="120000" h="120000">
                    <a:moveTo>
                      <a:pt x="0" y="48000"/>
                    </a:moveTo>
                    <a:lnTo>
                      <a:pt x="45000"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192" name="Google Shape;225;p18"/>
            <p:cNvSpPr/>
            <p:nvPr/>
          </p:nvSpPr>
          <p:spPr>
            <a:xfrm>
              <a:off x="1047600" y="4143240"/>
              <a:ext cx="4667040" cy="28548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400" spc="-1" strike="noStrike">
                  <a:solidFill>
                    <a:srgbClr val="045a36"/>
                  </a:solidFill>
                  <a:latin typeface="Montserrat"/>
                  <a:ea typeface="Montserrat"/>
                </a:rPr>
                <a:t>Provider-Specific Configurations</a:t>
              </a:r>
              <a:endParaRPr b="0" lang="en-US" sz="1400" spc="-1" strike="noStrike">
                <a:solidFill>
                  <a:srgbClr val="000000"/>
                </a:solidFill>
                <a:latin typeface="Arial"/>
              </a:endParaRPr>
            </a:p>
          </p:txBody>
        </p:sp>
        <p:sp>
          <p:nvSpPr>
            <p:cNvPr id="193" name="Google Shape;226;p18"/>
            <p:cNvSpPr/>
            <p:nvPr/>
          </p:nvSpPr>
          <p:spPr>
            <a:xfrm>
              <a:off x="1047600" y="4448160"/>
              <a:ext cx="4667040" cy="104760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150" spc="-1" strike="noStrike">
                  <a:solidFill>
                    <a:srgbClr val="374151"/>
                  </a:solidFill>
                  <a:latin typeface="Inter"/>
                  <a:ea typeface="Inter"/>
                </a:rPr>
                <a:t>Different providers maintain distinct SMTP addresses (e.g., </a:t>
              </a:r>
              <a:r>
                <a:rPr b="0" lang="en" sz="1050" spc="-1" strike="noStrike">
                  <a:solidFill>
                    <a:srgbClr val="d4a017"/>
                  </a:solidFill>
                  <a:latin typeface="Arial"/>
                  <a:ea typeface="Arial"/>
                </a:rPr>
                <a:t>smtp.gmail.com</a:t>
              </a:r>
              <a:r>
                <a:rPr b="0" lang="en" sz="1150" spc="-1" strike="noStrike">
                  <a:solidFill>
                    <a:srgbClr val="374151"/>
                  </a:solidFill>
                  <a:latin typeface="Inter"/>
                  <a:ea typeface="Inter"/>
                </a:rPr>
                <a:t>) and configurations. The Python script must target the exact SMTP server associated with the sender's account.</a:t>
              </a:r>
              <a:endParaRPr b="0" lang="en-US" sz="1150" spc="-1" strike="noStrike">
                <a:solidFill>
                  <a:srgbClr val="000000"/>
                </a:solidFill>
                <a:latin typeface="Arial"/>
              </a:endParaRPr>
            </a:p>
          </p:txBody>
        </p:sp>
      </p:grpSp>
      <p:pic>
        <p:nvPicPr>
          <p:cNvPr id="194" name="Google Shape;227;p18" descr=""/>
          <p:cNvPicPr/>
          <p:nvPr/>
        </p:nvPicPr>
        <p:blipFill>
          <a:blip r:embed="rId4"/>
          <a:srcRect l="0" t="38" r="0" b="38"/>
          <a:stretch/>
        </p:blipFill>
        <p:spPr>
          <a:xfrm>
            <a:off x="6477120" y="1476360"/>
            <a:ext cx="4952520" cy="2761920"/>
          </a:xfrm>
          <a:prstGeom prst="rect">
            <a:avLst/>
          </a:prstGeom>
          <a:ln w="0">
            <a:noFill/>
          </a:ln>
        </p:spPr>
      </p:pic>
      <p:grpSp>
        <p:nvGrpSpPr>
          <p:cNvPr id="195" name="Google Shape;228;p18"/>
          <p:cNvGrpSpPr/>
          <p:nvPr/>
        </p:nvGrpSpPr>
        <p:grpSpPr>
          <a:xfrm>
            <a:off x="6477120" y="4429080"/>
            <a:ext cx="4952520" cy="809280"/>
            <a:chOff x="6477120" y="4429080"/>
            <a:chExt cx="4952520" cy="809280"/>
          </a:xfrm>
        </p:grpSpPr>
        <p:sp>
          <p:nvSpPr>
            <p:cNvPr id="196" name="Google Shape;229;p18"/>
            <p:cNvSpPr/>
            <p:nvPr/>
          </p:nvSpPr>
          <p:spPr>
            <a:xfrm>
              <a:off x="6477120" y="4429080"/>
              <a:ext cx="4952520" cy="809280"/>
            </a:xfrm>
            <a:prstGeom prst="roundRect">
              <a:avLst>
                <a:gd name="adj" fmla="val 9411"/>
              </a:avLst>
            </a:prstGeom>
            <a:solidFill>
              <a:srgbClr val="ffffff"/>
            </a:solidFill>
            <a:ln w="9525">
              <a:solidFill>
                <a:srgbClr val="e2e8f0"/>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197" name="Google Shape;230;p18"/>
            <p:cNvSpPr/>
            <p:nvPr/>
          </p:nvSpPr>
          <p:spPr>
            <a:xfrm>
              <a:off x="6477120" y="4429080"/>
              <a:ext cx="4952520" cy="37800"/>
            </a:xfrm>
            <a:prstGeom prst="roundRect">
              <a:avLst>
                <a:gd name="adj" fmla="val 50000"/>
              </a:avLst>
            </a:prstGeom>
            <a:solidFill>
              <a:srgbClr val="d4a017"/>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198" name="Google Shape;231;p18"/>
            <p:cNvSpPr/>
            <p:nvPr/>
          </p:nvSpPr>
          <p:spPr>
            <a:xfrm>
              <a:off x="6667560" y="4543560"/>
              <a:ext cx="4571640" cy="61884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 sz="1100" spc="-1" strike="noStrike">
                  <a:solidFill>
                    <a:srgbClr val="045a36"/>
                  </a:solidFill>
                  <a:latin typeface="Inter"/>
                  <a:ea typeface="Inter"/>
                </a:rPr>
                <a:t>SMTP Protocol Role:</a:t>
              </a:r>
              <a:r>
                <a:rPr b="0" lang="en" sz="1100" spc="-1" strike="noStrike">
                  <a:solidFill>
                    <a:srgbClr val="374151"/>
                  </a:solidFill>
                  <a:latin typeface="Inter"/>
                  <a:ea typeface="Inter"/>
                </a:rPr>
                <a:t> Standardizes how email is packaged, authenticated, and hopped across servers worldwide before reaching the final recipient inbox.</a:t>
              </a:r>
              <a:endParaRPr b="0" lang="en-US" sz="1100" spc="-1" strike="noStrike">
                <a:solidFill>
                  <a:srgbClr val="000000"/>
                </a:solidFill>
                <a:latin typeface="Arial"/>
              </a:endParaRPr>
            </a:p>
          </p:txBody>
        </p:sp>
      </p:gr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pic>
        <p:nvPicPr>
          <p:cNvPr id="199" name="Google Shape;236;p19" descr=""/>
          <p:cNvPicPr/>
          <p:nvPr/>
        </p:nvPicPr>
        <p:blipFill>
          <a:blip r:embed="rId2"/>
          <a:srcRect l="129" t="0" r="129" b="0"/>
          <a:stretch/>
        </p:blipFill>
        <p:spPr>
          <a:xfrm>
            <a:off x="0" y="0"/>
            <a:ext cx="12191760" cy="56880"/>
          </a:xfrm>
          <a:prstGeom prst="rect">
            <a:avLst/>
          </a:prstGeom>
          <a:ln w="0">
            <a:noFill/>
          </a:ln>
        </p:spPr>
      </p:pic>
      <p:sp>
        <p:nvSpPr>
          <p:cNvPr id="200" name="Google Shape;237;p19"/>
          <p:cNvSpPr/>
          <p:nvPr/>
        </p:nvSpPr>
        <p:spPr>
          <a:xfrm>
            <a:off x="762120" y="571680"/>
            <a:ext cx="10667520" cy="4759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2700" spc="-1" strike="noStrike">
                <a:solidFill>
                  <a:srgbClr val="045a36"/>
                </a:solidFill>
                <a:latin typeface="Montserrat SemiBold"/>
                <a:ea typeface="Montserrat SemiBold"/>
              </a:rPr>
              <a:t>Network Ports &amp; Server Processes</a:t>
            </a:r>
            <a:endParaRPr b="0" lang="en-US" sz="2700" spc="-1" strike="noStrike">
              <a:solidFill>
                <a:srgbClr val="000000"/>
              </a:solidFill>
              <a:latin typeface="Arial"/>
            </a:endParaRPr>
          </a:p>
        </p:txBody>
      </p:sp>
      <p:sp>
        <p:nvSpPr>
          <p:cNvPr id="201" name="Google Shape;238;p19"/>
          <p:cNvSpPr/>
          <p:nvPr/>
        </p:nvSpPr>
        <p:spPr>
          <a:xfrm>
            <a:off x="762120" y="1123920"/>
            <a:ext cx="10667520" cy="18720"/>
          </a:xfrm>
          <a:prstGeom prst="rect">
            <a:avLst/>
          </a:prstGeom>
          <a:solidFill>
            <a:srgbClr val="e2e8f0"/>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202" name="Google Shape;239;p19"/>
          <p:cNvSpPr/>
          <p:nvPr/>
        </p:nvSpPr>
        <p:spPr>
          <a:xfrm>
            <a:off x="762120" y="1285920"/>
            <a:ext cx="10667520" cy="71388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300" spc="-1" strike="noStrike">
                <a:solidFill>
                  <a:srgbClr val="374151"/>
                </a:solidFill>
                <a:latin typeface="Inter"/>
                <a:ea typeface="Inter"/>
              </a:rPr>
              <a:t>A network port is a virtual endpoint where network connections start and end. Ports are strictly required to direct incoming data to the correct service, preventing SMTP email traffic from being confused with web traffic or file transfers.</a:t>
            </a:r>
            <a:endParaRPr b="0" lang="en-US" sz="1300" spc="-1" strike="noStrike">
              <a:solidFill>
                <a:srgbClr val="000000"/>
              </a:solidFill>
              <a:latin typeface="Arial"/>
            </a:endParaRPr>
          </a:p>
        </p:txBody>
      </p:sp>
      <p:grpSp>
        <p:nvGrpSpPr>
          <p:cNvPr id="203" name="Google Shape;240;p19"/>
          <p:cNvGrpSpPr/>
          <p:nvPr/>
        </p:nvGrpSpPr>
        <p:grpSpPr>
          <a:xfrm>
            <a:off x="762120" y="2095560"/>
            <a:ext cx="4857480" cy="3238200"/>
            <a:chOff x="762120" y="2095560"/>
            <a:chExt cx="4857480" cy="3238200"/>
          </a:xfrm>
        </p:grpSpPr>
        <p:sp>
          <p:nvSpPr>
            <p:cNvPr id="204" name="Google Shape;241;p19"/>
            <p:cNvSpPr/>
            <p:nvPr/>
          </p:nvSpPr>
          <p:spPr>
            <a:xfrm>
              <a:off x="762120" y="2095560"/>
              <a:ext cx="4857480" cy="3238200"/>
            </a:xfrm>
            <a:prstGeom prst="roundRect">
              <a:avLst>
                <a:gd name="adj" fmla="val 3529"/>
              </a:avLst>
            </a:prstGeom>
            <a:solidFill>
              <a:srgbClr val="ffffff"/>
            </a:solidFill>
            <a:ln w="9525">
              <a:solidFill>
                <a:srgbClr val="e2e8f0"/>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205" name="Google Shape;242;p19"/>
            <p:cNvSpPr/>
            <p:nvPr/>
          </p:nvSpPr>
          <p:spPr>
            <a:xfrm>
              <a:off x="762120" y="2095560"/>
              <a:ext cx="4857480" cy="75960"/>
            </a:xfrm>
            <a:prstGeom prst="roundRect">
              <a:avLst>
                <a:gd name="adj" fmla="val 50000"/>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206" name="Google Shape;243;p19"/>
            <p:cNvSpPr/>
            <p:nvPr/>
          </p:nvSpPr>
          <p:spPr>
            <a:xfrm>
              <a:off x="1000080" y="2333520"/>
              <a:ext cx="4381200" cy="3805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650" spc="-1" strike="noStrike">
                  <a:solidFill>
                    <a:srgbClr val="045a36"/>
                  </a:solidFill>
                  <a:latin typeface="Montserrat"/>
                  <a:ea typeface="Montserrat"/>
                </a:rPr>
                <a:t>Port 465 (SSL)</a:t>
              </a:r>
              <a:endParaRPr b="0" lang="en-US" sz="1650" spc="-1" strike="noStrike">
                <a:solidFill>
                  <a:srgbClr val="000000"/>
                </a:solidFill>
                <a:latin typeface="Arial"/>
              </a:endParaRPr>
            </a:p>
          </p:txBody>
        </p:sp>
        <p:sp>
          <p:nvSpPr>
            <p:cNvPr id="207" name="Google Shape;244;p19"/>
            <p:cNvSpPr/>
            <p:nvPr/>
          </p:nvSpPr>
          <p:spPr>
            <a:xfrm>
              <a:off x="1000080" y="2809800"/>
              <a:ext cx="4381200" cy="80928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300" spc="-1" strike="noStrike">
                  <a:solidFill>
                    <a:srgbClr val="374151"/>
                  </a:solidFill>
                  <a:latin typeface="Inter"/>
                  <a:ea typeface="Inter"/>
                </a:rPr>
                <a:t>The standard port for SMTP over SSL. It establishes a secure, encrypted connection immediately before any data is transmitted.</a:t>
              </a:r>
              <a:endParaRPr b="0" lang="en-US" sz="1300" spc="-1" strike="noStrike">
                <a:solidFill>
                  <a:srgbClr val="000000"/>
                </a:solidFill>
                <a:latin typeface="Arial"/>
              </a:endParaRPr>
            </a:p>
          </p:txBody>
        </p:sp>
        <p:grpSp>
          <p:nvGrpSpPr>
            <p:cNvPr id="208" name="Google Shape;245;p19"/>
            <p:cNvGrpSpPr/>
            <p:nvPr/>
          </p:nvGrpSpPr>
          <p:grpSpPr>
            <a:xfrm>
              <a:off x="1000080" y="3800520"/>
              <a:ext cx="190080" cy="190080"/>
              <a:chOff x="1000080" y="3800520"/>
              <a:chExt cx="190080" cy="190080"/>
            </a:xfrm>
          </p:grpSpPr>
          <p:sp>
            <p:nvSpPr>
              <p:cNvPr id="209" name="Google Shape;246;p19"/>
              <p:cNvSpPr/>
              <p:nvPr/>
            </p:nvSpPr>
            <p:spPr>
              <a:xfrm>
                <a:off x="1000080" y="3800520"/>
                <a:ext cx="190080" cy="19008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210" name="Google Shape;247;p19"/>
              <p:cNvSpPr/>
              <p:nvPr/>
            </p:nvSpPr>
            <p:spPr>
              <a:xfrm>
                <a:off x="1057320" y="3881520"/>
                <a:ext cx="75960" cy="47520"/>
              </a:xfrm>
              <a:custGeom>
                <a:avLst/>
                <a:gdLst>
                  <a:gd name="textAreaLeft" fmla="*/ 0 w 75960"/>
                  <a:gd name="textAreaRight" fmla="*/ 76320 w 75960"/>
                  <a:gd name="textAreaTop" fmla="*/ 0 h 47520"/>
                  <a:gd name="textAreaBottom" fmla="*/ 47880 h 47520"/>
                </a:gdLst>
                <a:ahLst/>
                <a:rect l="textAreaLeft" t="textAreaTop" r="textAreaRight" b="textAreaBottom"/>
                <a:pathLst>
                  <a:path w="120000" h="120000">
                    <a:moveTo>
                      <a:pt x="0" y="48000"/>
                    </a:moveTo>
                    <a:lnTo>
                      <a:pt x="45000"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211" name="Google Shape;248;p19"/>
            <p:cNvSpPr/>
            <p:nvPr/>
          </p:nvSpPr>
          <p:spPr>
            <a:xfrm>
              <a:off x="1333440" y="3762360"/>
              <a:ext cx="4047840" cy="104760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300" spc="-1" strike="noStrike">
                  <a:solidFill>
                    <a:srgbClr val="045a36"/>
                  </a:solidFill>
                  <a:latin typeface="Inter SemiBold"/>
                  <a:ea typeface="Inter SemiBold"/>
                </a:rPr>
                <a:t>Beginner Recommendation:</a:t>
              </a:r>
              <a:r>
                <a:rPr b="0" lang="en" sz="1300" spc="-1" strike="noStrike">
                  <a:solidFill>
                    <a:srgbClr val="374151"/>
                  </a:solidFill>
                  <a:latin typeface="Inter"/>
                  <a:ea typeface="Inter"/>
                </a:rPr>
                <a:t> Exclusively used in initial configurations to ensure maximum security right from the start.</a:t>
              </a:r>
              <a:endParaRPr b="0" lang="en-US" sz="1300" spc="-1" strike="noStrike">
                <a:solidFill>
                  <a:srgbClr val="000000"/>
                </a:solidFill>
                <a:latin typeface="Arial"/>
              </a:endParaRPr>
            </a:p>
          </p:txBody>
        </p:sp>
      </p:grpSp>
      <p:sp>
        <p:nvSpPr>
          <p:cNvPr id="212" name="Google Shape;249;p19"/>
          <p:cNvSpPr/>
          <p:nvPr/>
        </p:nvSpPr>
        <p:spPr>
          <a:xfrm>
            <a:off x="6086520" y="2095560"/>
            <a:ext cx="18720" cy="3238200"/>
          </a:xfrm>
          <a:prstGeom prst="rect">
            <a:avLst/>
          </a:prstGeom>
          <a:solidFill>
            <a:srgbClr val="d4a017"/>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grpSp>
        <p:nvGrpSpPr>
          <p:cNvPr id="213" name="Google Shape;250;p19"/>
          <p:cNvGrpSpPr/>
          <p:nvPr/>
        </p:nvGrpSpPr>
        <p:grpSpPr>
          <a:xfrm>
            <a:off x="6572160" y="2095560"/>
            <a:ext cx="4857480" cy="3238200"/>
            <a:chOff x="6572160" y="2095560"/>
            <a:chExt cx="4857480" cy="3238200"/>
          </a:xfrm>
        </p:grpSpPr>
        <p:sp>
          <p:nvSpPr>
            <p:cNvPr id="214" name="Google Shape;251;p19"/>
            <p:cNvSpPr/>
            <p:nvPr/>
          </p:nvSpPr>
          <p:spPr>
            <a:xfrm>
              <a:off x="6572160" y="2095560"/>
              <a:ext cx="4857480" cy="3238200"/>
            </a:xfrm>
            <a:prstGeom prst="roundRect">
              <a:avLst>
                <a:gd name="adj" fmla="val 3529"/>
              </a:avLst>
            </a:prstGeom>
            <a:solidFill>
              <a:srgbClr val="ffffff"/>
            </a:solidFill>
            <a:ln w="9525">
              <a:solidFill>
                <a:srgbClr val="e2e8f0"/>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215" name="Google Shape;252;p19"/>
            <p:cNvSpPr/>
            <p:nvPr/>
          </p:nvSpPr>
          <p:spPr>
            <a:xfrm>
              <a:off x="6572160" y="2095560"/>
              <a:ext cx="4857480" cy="75960"/>
            </a:xfrm>
            <a:prstGeom prst="roundRect">
              <a:avLst>
                <a:gd name="adj" fmla="val 50000"/>
              </a:avLst>
            </a:prstGeom>
            <a:solidFill>
              <a:srgbClr val="d4a017"/>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216" name="Google Shape;253;p19"/>
            <p:cNvSpPr/>
            <p:nvPr/>
          </p:nvSpPr>
          <p:spPr>
            <a:xfrm>
              <a:off x="6810480" y="2333520"/>
              <a:ext cx="4381200" cy="3805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650" spc="-1" strike="noStrike">
                  <a:solidFill>
                    <a:srgbClr val="045a36"/>
                  </a:solidFill>
                  <a:latin typeface="Montserrat"/>
                  <a:ea typeface="Montserrat"/>
                </a:rPr>
                <a:t>Port 587 (STARTTLS)</a:t>
              </a:r>
              <a:endParaRPr b="0" lang="en-US" sz="1650" spc="-1" strike="noStrike">
                <a:solidFill>
                  <a:srgbClr val="000000"/>
                </a:solidFill>
                <a:latin typeface="Arial"/>
              </a:endParaRPr>
            </a:p>
          </p:txBody>
        </p:sp>
        <p:sp>
          <p:nvSpPr>
            <p:cNvPr id="217" name="Google Shape;254;p19"/>
            <p:cNvSpPr/>
            <p:nvPr/>
          </p:nvSpPr>
          <p:spPr>
            <a:xfrm>
              <a:off x="6810480" y="2809800"/>
              <a:ext cx="4381200" cy="80928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300" spc="-1" strike="noStrike">
                  <a:solidFill>
                    <a:srgbClr val="374151"/>
                  </a:solidFill>
                  <a:latin typeface="Inter"/>
                  <a:ea typeface="Inter"/>
                </a:rPr>
                <a:t>The modern standard for SMTP with STARTTLS. It begins with an unencrypted connection and then upgrades to secure.</a:t>
              </a:r>
              <a:endParaRPr b="0" lang="en-US" sz="1300" spc="-1" strike="noStrike">
                <a:solidFill>
                  <a:srgbClr val="000000"/>
                </a:solidFill>
                <a:latin typeface="Arial"/>
              </a:endParaRPr>
            </a:p>
          </p:txBody>
        </p:sp>
        <p:grpSp>
          <p:nvGrpSpPr>
            <p:cNvPr id="218" name="Google Shape;255;p19"/>
            <p:cNvGrpSpPr/>
            <p:nvPr/>
          </p:nvGrpSpPr>
          <p:grpSpPr>
            <a:xfrm>
              <a:off x="6810480" y="3800520"/>
              <a:ext cx="190080" cy="190080"/>
              <a:chOff x="6810480" y="3800520"/>
              <a:chExt cx="190080" cy="190080"/>
            </a:xfrm>
          </p:grpSpPr>
          <p:sp>
            <p:nvSpPr>
              <p:cNvPr id="219" name="Google Shape;256;p19"/>
              <p:cNvSpPr/>
              <p:nvPr/>
            </p:nvSpPr>
            <p:spPr>
              <a:xfrm>
                <a:off x="6810480" y="3800520"/>
                <a:ext cx="190080" cy="190080"/>
              </a:xfrm>
              <a:prstGeom prst="ellipse">
                <a:avLst/>
              </a:prstGeom>
              <a:solidFill>
                <a:srgbClr val="d4a017"/>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220" name="Google Shape;257;p19"/>
              <p:cNvSpPr/>
              <p:nvPr/>
            </p:nvSpPr>
            <p:spPr>
              <a:xfrm>
                <a:off x="6867360" y="3881520"/>
                <a:ext cx="75960" cy="47520"/>
              </a:xfrm>
              <a:custGeom>
                <a:avLst/>
                <a:gdLst>
                  <a:gd name="textAreaLeft" fmla="*/ 0 w 75960"/>
                  <a:gd name="textAreaRight" fmla="*/ 76320 w 75960"/>
                  <a:gd name="textAreaTop" fmla="*/ 0 h 47520"/>
                  <a:gd name="textAreaBottom" fmla="*/ 47880 h 47520"/>
                </a:gdLst>
                <a:ahLst/>
                <a:rect l="textAreaLeft" t="textAreaTop" r="textAreaRight" b="textAreaBottom"/>
                <a:pathLst>
                  <a:path w="120000" h="120000">
                    <a:moveTo>
                      <a:pt x="0" y="48000"/>
                    </a:moveTo>
                    <a:lnTo>
                      <a:pt x="45000"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221" name="Google Shape;258;p19"/>
            <p:cNvSpPr/>
            <p:nvPr/>
          </p:nvSpPr>
          <p:spPr>
            <a:xfrm>
              <a:off x="7143840" y="3762360"/>
              <a:ext cx="4047840" cy="104760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300" spc="-1" strike="noStrike">
                  <a:solidFill>
                    <a:srgbClr val="d4a017"/>
                  </a:solidFill>
                  <a:latin typeface="Inter SemiBold"/>
                  <a:ea typeface="Inter SemiBold"/>
                </a:rPr>
                <a:t>Opportunistic Security:</a:t>
              </a:r>
              <a:r>
                <a:rPr b="0" lang="en" sz="1300" spc="-1" strike="noStrike">
                  <a:solidFill>
                    <a:srgbClr val="374151"/>
                  </a:solidFill>
                  <a:latin typeface="Inter"/>
                  <a:ea typeface="Inter"/>
                </a:rPr>
                <a:t> Connects insecurely first and requests an upgrade. If the upgrade fails, traffic might remain unencrypted.</a:t>
              </a:r>
              <a:endParaRPr b="0" lang="en-US" sz="1300" spc="-1" strike="noStrike">
                <a:solidFill>
                  <a:srgbClr val="000000"/>
                </a:solidFill>
                <a:latin typeface="Arial"/>
              </a:endParaRPr>
            </a:p>
          </p:txBody>
        </p:sp>
      </p:grpSp>
      <p:pic>
        <p:nvPicPr>
          <p:cNvPr id="222" name="Google Shape;259;p19" descr=""/>
          <p:cNvPicPr/>
          <p:nvPr/>
        </p:nvPicPr>
        <p:blipFill>
          <a:blip r:embed="rId3"/>
          <a:stretch/>
        </p:blipFill>
        <p:spPr>
          <a:xfrm>
            <a:off x="762120" y="5981760"/>
            <a:ext cx="10667520" cy="304560"/>
          </a:xfrm>
          <a:prstGeom prst="rect">
            <a:avLst/>
          </a:prstGeom>
          <a:ln w="0">
            <a:noFill/>
          </a:ln>
        </p:spPr>
      </p:pic>
      <p:sp>
        <p:nvSpPr>
          <p:cNvPr id="223" name="Google Shape;260;p19"/>
          <p:cNvSpPr/>
          <p:nvPr/>
        </p:nvSpPr>
        <p:spPr>
          <a:xfrm>
            <a:off x="762120" y="6134040"/>
            <a:ext cx="4762080" cy="19008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980" spc="-1" strike="noStrike">
                <a:solidFill>
                  <a:srgbClr val="6b7280"/>
                </a:solidFill>
                <a:latin typeface="Inter"/>
                <a:ea typeface="Inter"/>
              </a:rPr>
              <a:t>Introduction to Email Automation &amp; SMTP | Python Basics</a:t>
            </a:r>
            <a:endParaRPr b="0" lang="en-US" sz="980" spc="-1" strike="noStrike">
              <a:solidFill>
                <a:srgbClr val="000000"/>
              </a:solidFill>
              <a:latin typeface="Arial"/>
            </a:endParaRPr>
          </a:p>
        </p:txBody>
      </p:sp>
      <p:pic>
        <p:nvPicPr>
          <p:cNvPr id="224" name="Google Shape;261;p19" descr=""/>
          <p:cNvPicPr/>
          <p:nvPr/>
        </p:nvPicPr>
        <p:blipFill>
          <a:blip r:embed="rId4"/>
          <a:stretch/>
        </p:blipFill>
        <p:spPr>
          <a:xfrm>
            <a:off x="10287000" y="5457960"/>
            <a:ext cx="1523520" cy="1019160"/>
          </a:xfrm>
          <a:prstGeom prst="rect">
            <a:avLst/>
          </a:prstGeom>
          <a:ln w="0">
            <a:noFill/>
          </a:ln>
        </p:spPr>
      </p:pic>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pic>
        <p:nvPicPr>
          <p:cNvPr id="225" name="Google Shape;266;p20" descr=""/>
          <p:cNvPicPr/>
          <p:nvPr/>
        </p:nvPicPr>
        <p:blipFill>
          <a:blip r:embed="rId2"/>
          <a:srcRect l="129" t="0" r="129" b="0"/>
          <a:stretch/>
        </p:blipFill>
        <p:spPr>
          <a:xfrm>
            <a:off x="0" y="0"/>
            <a:ext cx="12191760" cy="56880"/>
          </a:xfrm>
          <a:prstGeom prst="rect">
            <a:avLst/>
          </a:prstGeom>
          <a:ln w="0">
            <a:noFill/>
          </a:ln>
        </p:spPr>
      </p:pic>
      <p:sp>
        <p:nvSpPr>
          <p:cNvPr id="226" name="Google Shape;267;p20"/>
          <p:cNvSpPr/>
          <p:nvPr/>
        </p:nvSpPr>
        <p:spPr>
          <a:xfrm>
            <a:off x="762120" y="333360"/>
            <a:ext cx="9524520" cy="71388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 sz="2100" spc="-1" strike="noStrike">
                <a:solidFill>
                  <a:srgbClr val="045a36"/>
                </a:solidFill>
                <a:latin typeface="Montserrat SemiBold"/>
                <a:ea typeface="Montserrat SemiBold"/>
              </a:rPr>
              <a:t>SSL and TLS Encryption Protect Sensitive Email Credentials from Interception</a:t>
            </a:r>
            <a:endParaRPr b="0" lang="en-US" sz="2100" spc="-1" strike="noStrike">
              <a:solidFill>
                <a:srgbClr val="000000"/>
              </a:solidFill>
              <a:latin typeface="Arial"/>
            </a:endParaRPr>
          </a:p>
        </p:txBody>
      </p:sp>
      <p:sp>
        <p:nvSpPr>
          <p:cNvPr id="227" name="Google Shape;268;p20"/>
          <p:cNvSpPr/>
          <p:nvPr/>
        </p:nvSpPr>
        <p:spPr>
          <a:xfrm>
            <a:off x="762120" y="1123920"/>
            <a:ext cx="10667520" cy="18720"/>
          </a:xfrm>
          <a:prstGeom prst="rect">
            <a:avLst/>
          </a:prstGeom>
          <a:solidFill>
            <a:srgbClr val="e2e8f0"/>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228" name="Google Shape;269;p20"/>
          <p:cNvSpPr/>
          <p:nvPr/>
        </p:nvSpPr>
        <p:spPr>
          <a:xfrm>
            <a:off x="762120" y="1476360"/>
            <a:ext cx="5047920" cy="40003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450" spc="-1" strike="noStrike">
                <a:solidFill>
                  <a:srgbClr val="045a36"/>
                </a:solidFill>
                <a:latin typeface="Montserrat"/>
                <a:ea typeface="Montserrat"/>
              </a:rPr>
              <a:t>Protecting email credentials during automation is a critical security requirement.</a:t>
            </a:r>
            <a:endParaRPr b="0" lang="en-US" sz="1450" spc="-1" strike="noStrike">
              <a:solidFill>
                <a:srgbClr val="000000"/>
              </a:solidFill>
              <a:latin typeface="Arial"/>
            </a:endParaRPr>
          </a:p>
          <a:p>
            <a:pPr>
              <a:lnSpc>
                <a:spcPct val="100000"/>
              </a:lnSpc>
              <a:spcBef>
                <a:spcPts val="1199"/>
              </a:spcBef>
              <a:tabLst>
                <a:tab algn="l" pos="0"/>
              </a:tabLst>
            </a:pPr>
            <a:r>
              <a:rPr b="0" lang="en" sz="1250" spc="-1" strike="noStrike">
                <a:solidFill>
                  <a:srgbClr val="374151"/>
                </a:solidFill>
                <a:latin typeface="Inter"/>
                <a:ea typeface="Inter"/>
              </a:rPr>
              <a:t>Transmitting passwords over an unencrypted connection exposes them to network eavesdropping, whereas an encrypted connection scrambles the data, making it unreadable to interceptors.</a:t>
            </a:r>
            <a:endParaRPr b="0" lang="en-US" sz="1250" spc="-1" strike="noStrike">
              <a:solidFill>
                <a:srgbClr val="000000"/>
              </a:solidFill>
              <a:latin typeface="Arial"/>
            </a:endParaRPr>
          </a:p>
          <a:p>
            <a:pPr>
              <a:lnSpc>
                <a:spcPct val="100000"/>
              </a:lnSpc>
              <a:spcBef>
                <a:spcPts val="1199"/>
              </a:spcBef>
              <a:tabLst>
                <a:tab algn="l" pos="0"/>
              </a:tabLst>
            </a:pPr>
            <a:r>
              <a:rPr b="0" lang="en" sz="1250" spc="-1" strike="noStrike">
                <a:solidFill>
                  <a:srgbClr val="374151"/>
                </a:solidFill>
                <a:latin typeface="Inter"/>
                <a:ea typeface="Inter"/>
              </a:rPr>
              <a:t>This security is achieved through </a:t>
            </a:r>
            <a:r>
              <a:rPr b="0" lang="en" sz="1250" spc="-1" strike="noStrike">
                <a:solidFill>
                  <a:srgbClr val="045a36"/>
                </a:solidFill>
                <a:latin typeface="Inter SemiBold"/>
                <a:ea typeface="Inter SemiBold"/>
              </a:rPr>
              <a:t>SSL</a:t>
            </a:r>
            <a:r>
              <a:rPr b="0" lang="en" sz="1250" spc="-1" strike="noStrike">
                <a:solidFill>
                  <a:srgbClr val="374151"/>
                </a:solidFill>
                <a:latin typeface="Inter"/>
                <a:ea typeface="Inter"/>
              </a:rPr>
              <a:t> (Secure Sockets Layer) and its modern successor </a:t>
            </a:r>
            <a:r>
              <a:rPr b="0" lang="en" sz="1250" spc="-1" strike="noStrike">
                <a:solidFill>
                  <a:srgbClr val="045a36"/>
                </a:solidFill>
                <a:latin typeface="Inter SemiBold"/>
                <a:ea typeface="Inter SemiBold"/>
              </a:rPr>
              <a:t>TLS</a:t>
            </a:r>
            <a:r>
              <a:rPr b="0" lang="en" sz="1250" spc="-1" strike="noStrike">
                <a:solidFill>
                  <a:srgbClr val="374151"/>
                </a:solidFill>
                <a:latin typeface="Inter"/>
                <a:ea typeface="Inter"/>
              </a:rPr>
              <a:t> (Transport Layer Security), which are cryptographic protocols designed to secure communications over a network. In Python, utilizing the </a:t>
            </a:r>
            <a:r>
              <a:rPr b="0" lang="en" sz="1250" spc="-1" strike="noStrike">
                <a:solidFill>
                  <a:srgbClr val="374151"/>
                </a:solidFill>
                <a:highlight>
                  <a:srgbClr val="e2e8f0"/>
                </a:highlight>
                <a:latin typeface="Arial"/>
                <a:ea typeface="Arial"/>
              </a:rPr>
              <a:t>SMTP_SSL()</a:t>
            </a:r>
            <a:r>
              <a:rPr b="0" lang="en" sz="1250" spc="-1" strike="noStrike">
                <a:solidFill>
                  <a:srgbClr val="374151"/>
                </a:solidFill>
                <a:latin typeface="Inter"/>
                <a:ea typeface="Inter"/>
              </a:rPr>
              <a:t> class guarantees that the connection is encrypted from the very first byte.</a:t>
            </a:r>
            <a:endParaRPr b="0" lang="en-US" sz="1250" spc="-1" strike="noStrike">
              <a:solidFill>
                <a:srgbClr val="000000"/>
              </a:solidFill>
              <a:latin typeface="Arial"/>
            </a:endParaRPr>
          </a:p>
          <a:p>
            <a:pPr>
              <a:lnSpc>
                <a:spcPct val="100000"/>
              </a:lnSpc>
              <a:spcBef>
                <a:spcPts val="1199"/>
              </a:spcBef>
              <a:tabLst>
                <a:tab algn="l" pos="0"/>
              </a:tabLst>
            </a:pPr>
            <a:r>
              <a:rPr b="0" lang="en" sz="1250" spc="-1" strike="noStrike">
                <a:solidFill>
                  <a:srgbClr val="374151"/>
                </a:solidFill>
                <a:latin typeface="Inter"/>
                <a:ea typeface="Inter"/>
              </a:rPr>
              <a:t>Following industry best practices, tutorials recommend establishing this encrypted SMTP connection by combining </a:t>
            </a:r>
            <a:r>
              <a:rPr b="0" lang="en" sz="1250" spc="-1" strike="noStrike">
                <a:solidFill>
                  <a:srgbClr val="374151"/>
                </a:solidFill>
                <a:highlight>
                  <a:srgbClr val="e2e8f0"/>
                </a:highlight>
                <a:latin typeface="Arial"/>
                <a:ea typeface="Arial"/>
              </a:rPr>
              <a:t>ssl.create_default_context()</a:t>
            </a:r>
            <a:r>
              <a:rPr b="0" lang="en" sz="1250" spc="-1" strike="noStrike">
                <a:solidFill>
                  <a:srgbClr val="374151"/>
                </a:solidFill>
                <a:latin typeface="Inter"/>
                <a:ea typeface="Inter"/>
              </a:rPr>
              <a:t>—which loads trusted system certificates—with the </a:t>
            </a:r>
            <a:r>
              <a:rPr b="0" lang="en" sz="1250" spc="-1" strike="noStrike">
                <a:solidFill>
                  <a:srgbClr val="374151"/>
                </a:solidFill>
                <a:highlight>
                  <a:srgbClr val="e2e8f0"/>
                </a:highlight>
                <a:latin typeface="Arial"/>
                <a:ea typeface="Arial"/>
              </a:rPr>
              <a:t>SMTP_SSL()</a:t>
            </a:r>
            <a:r>
              <a:rPr b="0" lang="en" sz="1250" spc="-1" strike="noStrike">
                <a:solidFill>
                  <a:srgbClr val="374151"/>
                </a:solidFill>
                <a:latin typeface="Inter"/>
                <a:ea typeface="Inter"/>
              </a:rPr>
              <a:t> command for robust security.</a:t>
            </a:r>
            <a:endParaRPr b="0" lang="en-US" sz="1250" spc="-1" strike="noStrike">
              <a:solidFill>
                <a:srgbClr val="000000"/>
              </a:solidFill>
              <a:latin typeface="Arial"/>
            </a:endParaRPr>
          </a:p>
        </p:txBody>
      </p:sp>
      <p:pic>
        <p:nvPicPr>
          <p:cNvPr id="229" name="Google Shape;270;p20" descr=""/>
          <p:cNvPicPr/>
          <p:nvPr/>
        </p:nvPicPr>
        <p:blipFill>
          <a:blip r:embed="rId3"/>
          <a:srcRect l="0" t="60" r="0" b="51"/>
          <a:stretch/>
        </p:blipFill>
        <p:spPr>
          <a:xfrm>
            <a:off x="6477120" y="1714680"/>
            <a:ext cx="4571640" cy="3409920"/>
          </a:xfrm>
          <a:prstGeom prst="rect">
            <a:avLst/>
          </a:prstGeom>
          <a:ln w="0">
            <a:noFill/>
          </a:ln>
        </p:spPr>
      </p:pic>
      <p:pic>
        <p:nvPicPr>
          <p:cNvPr id="230" name="Google Shape;271;p20" descr=""/>
          <p:cNvPicPr/>
          <p:nvPr/>
        </p:nvPicPr>
        <p:blipFill>
          <a:blip r:embed="rId4"/>
          <a:stretch/>
        </p:blipFill>
        <p:spPr>
          <a:xfrm>
            <a:off x="762120" y="5981760"/>
            <a:ext cx="10667520" cy="304560"/>
          </a:xfrm>
          <a:prstGeom prst="rect">
            <a:avLst/>
          </a:prstGeom>
          <a:ln w="0">
            <a:noFill/>
          </a:ln>
        </p:spPr>
      </p:pic>
      <p:sp>
        <p:nvSpPr>
          <p:cNvPr id="231" name="Google Shape;272;p20"/>
          <p:cNvSpPr/>
          <p:nvPr/>
        </p:nvSpPr>
        <p:spPr>
          <a:xfrm>
            <a:off x="762120" y="6134040"/>
            <a:ext cx="4762080" cy="19008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 sz="980" spc="-1" strike="noStrike">
                <a:solidFill>
                  <a:srgbClr val="6b7280"/>
                </a:solidFill>
                <a:latin typeface="Inter"/>
                <a:ea typeface="Inter"/>
              </a:rPr>
              <a:t>Introduction to Email Automation &amp; SMTP | Python Basics</a:t>
            </a:r>
            <a:endParaRPr b="0" lang="en-US" sz="980" spc="-1" strike="noStrike">
              <a:solidFill>
                <a:srgbClr val="000000"/>
              </a:solidFill>
              <a:latin typeface="Arial"/>
            </a:endParaRPr>
          </a:p>
        </p:txBody>
      </p:sp>
      <p:pic>
        <p:nvPicPr>
          <p:cNvPr id="232" name="Google Shape;273;p20" descr=""/>
          <p:cNvPicPr/>
          <p:nvPr/>
        </p:nvPicPr>
        <p:blipFill>
          <a:blip r:embed="rId5"/>
          <a:stretch/>
        </p:blipFill>
        <p:spPr>
          <a:xfrm>
            <a:off x="10287000" y="5457960"/>
            <a:ext cx="1523520" cy="1019160"/>
          </a:xfrm>
          <a:prstGeom prst="rect">
            <a:avLst/>
          </a:prstGeom>
          <a:ln w="0">
            <a:noFill/>
          </a:ln>
        </p:spPr>
      </p:pic>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pic>
        <p:nvPicPr>
          <p:cNvPr id="233" name="Google Shape;278;p21" descr=""/>
          <p:cNvPicPr/>
          <p:nvPr/>
        </p:nvPicPr>
        <p:blipFill>
          <a:blip r:embed="rId2"/>
          <a:srcRect l="129" t="0" r="129" b="0"/>
          <a:stretch/>
        </p:blipFill>
        <p:spPr>
          <a:xfrm>
            <a:off x="0" y="0"/>
            <a:ext cx="12191760" cy="56880"/>
          </a:xfrm>
          <a:prstGeom prst="rect">
            <a:avLst/>
          </a:prstGeom>
          <a:ln w="0">
            <a:noFill/>
          </a:ln>
        </p:spPr>
      </p:pic>
      <p:sp>
        <p:nvSpPr>
          <p:cNvPr id="234" name="Google Shape;279;p21"/>
          <p:cNvSpPr/>
          <p:nvPr/>
        </p:nvSpPr>
        <p:spPr>
          <a:xfrm>
            <a:off x="762120" y="523800"/>
            <a:ext cx="9524520" cy="4759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2700" spc="-1" strike="noStrike">
                <a:solidFill>
                  <a:srgbClr val="045a36"/>
                </a:solidFill>
                <a:latin typeface="Montserrat SemiBold"/>
                <a:ea typeface="Montserrat SemiBold"/>
              </a:rPr>
              <a:t>The smtplib Module</a:t>
            </a:r>
            <a:endParaRPr b="0" lang="en-US" sz="2700" spc="-1" strike="noStrike">
              <a:solidFill>
                <a:srgbClr val="000000"/>
              </a:solidFill>
              <a:latin typeface="Arial"/>
            </a:endParaRPr>
          </a:p>
        </p:txBody>
      </p:sp>
      <p:sp>
        <p:nvSpPr>
          <p:cNvPr id="235" name="Google Shape;280;p21"/>
          <p:cNvSpPr/>
          <p:nvPr/>
        </p:nvSpPr>
        <p:spPr>
          <a:xfrm>
            <a:off x="762120" y="1123920"/>
            <a:ext cx="10667520" cy="18720"/>
          </a:xfrm>
          <a:prstGeom prst="rect">
            <a:avLst/>
          </a:prstGeom>
          <a:solidFill>
            <a:srgbClr val="e2e8f0"/>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236" name="Google Shape;281;p21"/>
          <p:cNvSpPr/>
          <p:nvPr/>
        </p:nvSpPr>
        <p:spPr>
          <a:xfrm>
            <a:off x="762120" y="1333440"/>
            <a:ext cx="10667520" cy="42840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450" spc="-1" strike="noStrike">
                <a:solidFill>
                  <a:srgbClr val="1f2937"/>
                </a:solidFill>
                <a:latin typeface="Inter"/>
                <a:ea typeface="Inter"/>
              </a:rPr>
              <a:t>To begin automating emails, we introduce the </a:t>
            </a:r>
            <a:r>
              <a:rPr b="1" lang="en" sz="1450" spc="-1" strike="noStrike">
                <a:solidFill>
                  <a:srgbClr val="045a36"/>
                </a:solidFill>
                <a:highlight>
                  <a:srgbClr val="f1f5f9"/>
                </a:highlight>
                <a:latin typeface="Courier New"/>
                <a:ea typeface="Courier New"/>
              </a:rPr>
              <a:t>import smtplib</a:t>
            </a:r>
            <a:r>
              <a:rPr b="0" lang="en" sz="1450" spc="-1" strike="noStrike">
                <a:solidFill>
                  <a:srgbClr val="1f2937"/>
                </a:solidFill>
                <a:latin typeface="Inter"/>
                <a:ea typeface="Inter"/>
              </a:rPr>
              <a:t> statement.</a:t>
            </a:r>
            <a:endParaRPr b="0" lang="en-US" sz="1450" spc="-1" strike="noStrike">
              <a:solidFill>
                <a:srgbClr val="000000"/>
              </a:solidFill>
              <a:latin typeface="Arial"/>
            </a:endParaRPr>
          </a:p>
        </p:txBody>
      </p:sp>
      <p:grpSp>
        <p:nvGrpSpPr>
          <p:cNvPr id="237" name="Google Shape;282;p21"/>
          <p:cNvGrpSpPr/>
          <p:nvPr/>
        </p:nvGrpSpPr>
        <p:grpSpPr>
          <a:xfrm>
            <a:off x="762120" y="1905120"/>
            <a:ext cx="5047920" cy="3428640"/>
            <a:chOff x="762120" y="1905120"/>
            <a:chExt cx="5047920" cy="3428640"/>
          </a:xfrm>
        </p:grpSpPr>
        <p:sp>
          <p:nvSpPr>
            <p:cNvPr id="238" name="Google Shape;283;p21"/>
            <p:cNvSpPr/>
            <p:nvPr/>
          </p:nvSpPr>
          <p:spPr>
            <a:xfrm>
              <a:off x="762120" y="1905120"/>
              <a:ext cx="5047920" cy="3428640"/>
            </a:xfrm>
            <a:prstGeom prst="roundRect">
              <a:avLst>
                <a:gd name="adj" fmla="val 3333"/>
              </a:avLst>
            </a:prstGeom>
            <a:solidFill>
              <a:srgbClr val="ffffff"/>
            </a:solidFill>
            <a:ln w="9525">
              <a:solidFill>
                <a:srgbClr val="e2e8f0"/>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239" name="Google Shape;284;p21"/>
            <p:cNvSpPr/>
            <p:nvPr/>
          </p:nvSpPr>
          <p:spPr>
            <a:xfrm>
              <a:off x="762120" y="1905120"/>
              <a:ext cx="5047920" cy="75960"/>
            </a:xfrm>
            <a:prstGeom prst="rect">
              <a:avLst/>
            </a:prstGeom>
            <a:solidFill>
              <a:srgbClr val="d4a017"/>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240" name="Google Shape;285;p21"/>
            <p:cNvSpPr/>
            <p:nvPr/>
          </p:nvSpPr>
          <p:spPr>
            <a:xfrm>
              <a:off x="1000080" y="2190600"/>
              <a:ext cx="4571640" cy="29527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650" spc="-1" strike="noStrike">
                  <a:solidFill>
                    <a:srgbClr val="045a36"/>
                  </a:solidFill>
                  <a:latin typeface="Montserrat"/>
                  <a:ea typeface="Montserrat"/>
                </a:rPr>
                <a:t>Core Module Concept</a:t>
              </a:r>
              <a:endParaRPr b="0" lang="en-US" sz="1650" spc="-1" strike="noStrike">
                <a:solidFill>
                  <a:srgbClr val="000000"/>
                </a:solidFill>
                <a:latin typeface="Arial"/>
              </a:endParaRPr>
            </a:p>
            <a:p>
              <a:pPr>
                <a:lnSpc>
                  <a:spcPct val="100000"/>
                </a:lnSpc>
                <a:spcBef>
                  <a:spcPts val="1500"/>
                </a:spcBef>
                <a:tabLst>
                  <a:tab algn="l" pos="0"/>
                </a:tabLst>
              </a:pPr>
              <a:r>
                <a:rPr b="0" lang="en" sz="1350" spc="-1" strike="noStrike">
                  <a:solidFill>
                    <a:srgbClr val="374151"/>
                  </a:solidFill>
                  <a:latin typeface="Inter"/>
                  <a:ea typeface="Inter"/>
                </a:rPr>
                <a:t>In Python, a module is a file containing Python definitions and statements that allow developers to reuse pre-written code.</a:t>
              </a:r>
              <a:endParaRPr b="0" lang="en-US" sz="1350" spc="-1" strike="noStrike">
                <a:solidFill>
                  <a:srgbClr val="000000"/>
                </a:solidFill>
                <a:latin typeface="Arial"/>
              </a:endParaRPr>
            </a:p>
            <a:p>
              <a:pPr>
                <a:lnSpc>
                  <a:spcPct val="100000"/>
                </a:lnSpc>
                <a:spcBef>
                  <a:spcPts val="1500"/>
                </a:spcBef>
                <a:tabLst>
                  <a:tab algn="l" pos="0"/>
                </a:tabLst>
              </a:pPr>
              <a:r>
                <a:rPr b="0" lang="en" sz="1350" spc="-1" strike="noStrike">
                  <a:solidFill>
                    <a:srgbClr val="374151"/>
                  </a:solidFill>
                  <a:latin typeface="Inter"/>
                  <a:ea typeface="Inter"/>
                </a:rPr>
                <a:t>The </a:t>
              </a:r>
              <a:r>
                <a:rPr b="1" lang="en" sz="1350" spc="-1" strike="noStrike">
                  <a:solidFill>
                    <a:srgbClr val="045a36"/>
                  </a:solidFill>
                  <a:highlight>
                    <a:srgbClr val="f1f5f9"/>
                  </a:highlight>
                  <a:latin typeface="Courier New"/>
                  <a:ea typeface="Courier New"/>
                </a:rPr>
                <a:t>smtplib</a:t>
              </a:r>
              <a:r>
                <a:rPr b="0" lang="en" sz="1350" spc="-1" strike="noStrike">
                  <a:solidFill>
                    <a:srgbClr val="374151"/>
                  </a:solidFill>
                  <a:latin typeface="Inter"/>
                  <a:ea typeface="Inter"/>
                </a:rPr>
                <a:t> module is a powerful tool included in Python's standard library that defines an SMTP client session object.</a:t>
              </a:r>
              <a:endParaRPr b="0" lang="en-US" sz="1350" spc="-1" strike="noStrike">
                <a:solidFill>
                  <a:srgbClr val="000000"/>
                </a:solidFill>
                <a:latin typeface="Arial"/>
              </a:endParaRPr>
            </a:p>
          </p:txBody>
        </p:sp>
      </p:grpSp>
      <p:grpSp>
        <p:nvGrpSpPr>
          <p:cNvPr id="241" name="Google Shape;286;p21"/>
          <p:cNvGrpSpPr/>
          <p:nvPr/>
        </p:nvGrpSpPr>
        <p:grpSpPr>
          <a:xfrm>
            <a:off x="6381720" y="1905120"/>
            <a:ext cx="5047920" cy="3428640"/>
            <a:chOff x="6381720" y="1905120"/>
            <a:chExt cx="5047920" cy="3428640"/>
          </a:xfrm>
        </p:grpSpPr>
        <p:sp>
          <p:nvSpPr>
            <p:cNvPr id="242" name="Google Shape;287;p21"/>
            <p:cNvSpPr/>
            <p:nvPr/>
          </p:nvSpPr>
          <p:spPr>
            <a:xfrm>
              <a:off x="6381720" y="1905120"/>
              <a:ext cx="5047920" cy="3428640"/>
            </a:xfrm>
            <a:prstGeom prst="roundRect">
              <a:avLst>
                <a:gd name="adj" fmla="val 3333"/>
              </a:avLst>
            </a:prstGeom>
            <a:solidFill>
              <a:srgbClr val="ffffff"/>
            </a:solidFill>
            <a:ln w="9525">
              <a:solidFill>
                <a:srgbClr val="e2e8f0"/>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243" name="Google Shape;288;p21"/>
            <p:cNvSpPr/>
            <p:nvPr/>
          </p:nvSpPr>
          <p:spPr>
            <a:xfrm>
              <a:off x="6381720" y="1905120"/>
              <a:ext cx="5047920" cy="75960"/>
            </a:xfrm>
            <a:prstGeom prst="rect">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244" name="Google Shape;289;p21"/>
            <p:cNvSpPr/>
            <p:nvPr/>
          </p:nvSpPr>
          <p:spPr>
            <a:xfrm>
              <a:off x="6620040" y="2190600"/>
              <a:ext cx="4571640" cy="3805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650" spc="-1" strike="noStrike">
                  <a:solidFill>
                    <a:srgbClr val="045a36"/>
                  </a:solidFill>
                  <a:latin typeface="Montserrat"/>
                  <a:ea typeface="Montserrat"/>
                </a:rPr>
                <a:t>Networking Capabilities</a:t>
              </a:r>
              <a:endParaRPr b="0" lang="en-US" sz="1650" spc="-1" strike="noStrike">
                <a:solidFill>
                  <a:srgbClr val="000000"/>
                </a:solidFill>
                <a:latin typeface="Arial"/>
              </a:endParaRPr>
            </a:p>
          </p:txBody>
        </p:sp>
        <p:grpSp>
          <p:nvGrpSpPr>
            <p:cNvPr id="245" name="Google Shape;290;p21"/>
            <p:cNvGrpSpPr/>
            <p:nvPr/>
          </p:nvGrpSpPr>
          <p:grpSpPr>
            <a:xfrm>
              <a:off x="6620040" y="2781360"/>
              <a:ext cx="190080" cy="190080"/>
              <a:chOff x="6620040" y="2781360"/>
              <a:chExt cx="190080" cy="190080"/>
            </a:xfrm>
          </p:grpSpPr>
          <p:sp>
            <p:nvSpPr>
              <p:cNvPr id="246" name="Google Shape;291;p21"/>
              <p:cNvSpPr/>
              <p:nvPr/>
            </p:nvSpPr>
            <p:spPr>
              <a:xfrm>
                <a:off x="6620040" y="2781360"/>
                <a:ext cx="190080" cy="19008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247" name="Google Shape;292;p21"/>
              <p:cNvSpPr/>
              <p:nvPr/>
            </p:nvSpPr>
            <p:spPr>
              <a:xfrm>
                <a:off x="6676920" y="2862360"/>
                <a:ext cx="75960" cy="47520"/>
              </a:xfrm>
              <a:custGeom>
                <a:avLst/>
                <a:gdLst>
                  <a:gd name="textAreaLeft" fmla="*/ 0 w 75960"/>
                  <a:gd name="textAreaRight" fmla="*/ 76320 w 75960"/>
                  <a:gd name="textAreaTop" fmla="*/ 0 h 47520"/>
                  <a:gd name="textAreaBottom" fmla="*/ 47880 h 47520"/>
                </a:gdLst>
                <a:ahLst/>
                <a:rect l="textAreaLeft" t="textAreaTop" r="textAreaRight" b="textAreaBottom"/>
                <a:pathLst>
                  <a:path w="120000" h="120000">
                    <a:moveTo>
                      <a:pt x="0" y="48000"/>
                    </a:moveTo>
                    <a:lnTo>
                      <a:pt x="45000"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248" name="Google Shape;293;p21"/>
            <p:cNvSpPr/>
            <p:nvPr/>
          </p:nvSpPr>
          <p:spPr>
            <a:xfrm>
              <a:off x="6953400" y="2762280"/>
              <a:ext cx="4238280" cy="3805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300" spc="-1" strike="noStrike">
                  <a:solidFill>
                    <a:srgbClr val="374151"/>
                  </a:solidFill>
                  <a:latin typeface="Inter"/>
                  <a:ea typeface="Inter"/>
                </a:rPr>
                <a:t>Seamlessly connect to SMTP servers</a:t>
              </a:r>
              <a:endParaRPr b="0" lang="en-US" sz="1300" spc="-1" strike="noStrike">
                <a:solidFill>
                  <a:srgbClr val="000000"/>
                </a:solidFill>
                <a:latin typeface="Arial"/>
              </a:endParaRPr>
            </a:p>
          </p:txBody>
        </p:sp>
        <p:grpSp>
          <p:nvGrpSpPr>
            <p:cNvPr id="249" name="Google Shape;294;p21"/>
            <p:cNvGrpSpPr/>
            <p:nvPr/>
          </p:nvGrpSpPr>
          <p:grpSpPr>
            <a:xfrm>
              <a:off x="6620040" y="3257640"/>
              <a:ext cx="190080" cy="190080"/>
              <a:chOff x="6620040" y="3257640"/>
              <a:chExt cx="190080" cy="190080"/>
            </a:xfrm>
          </p:grpSpPr>
          <p:sp>
            <p:nvSpPr>
              <p:cNvPr id="250" name="Google Shape;295;p21"/>
              <p:cNvSpPr/>
              <p:nvPr/>
            </p:nvSpPr>
            <p:spPr>
              <a:xfrm>
                <a:off x="6620040" y="3257640"/>
                <a:ext cx="190080" cy="19008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251" name="Google Shape;296;p21"/>
              <p:cNvSpPr/>
              <p:nvPr/>
            </p:nvSpPr>
            <p:spPr>
              <a:xfrm>
                <a:off x="6676920" y="3338640"/>
                <a:ext cx="75960" cy="47520"/>
              </a:xfrm>
              <a:custGeom>
                <a:avLst/>
                <a:gdLst>
                  <a:gd name="textAreaLeft" fmla="*/ 0 w 75960"/>
                  <a:gd name="textAreaRight" fmla="*/ 76320 w 75960"/>
                  <a:gd name="textAreaTop" fmla="*/ 0 h 47520"/>
                  <a:gd name="textAreaBottom" fmla="*/ 47880 h 47520"/>
                </a:gdLst>
                <a:ahLst/>
                <a:rect l="textAreaLeft" t="textAreaTop" r="textAreaRight" b="textAreaBottom"/>
                <a:pathLst>
                  <a:path w="120000" h="120000">
                    <a:moveTo>
                      <a:pt x="0" y="48000"/>
                    </a:moveTo>
                    <a:lnTo>
                      <a:pt x="45000"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252" name="Google Shape;297;p21"/>
            <p:cNvSpPr/>
            <p:nvPr/>
          </p:nvSpPr>
          <p:spPr>
            <a:xfrm>
              <a:off x="6953400" y="3238560"/>
              <a:ext cx="4238280" cy="3805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300" spc="-1" strike="noStrike">
                  <a:solidFill>
                    <a:srgbClr val="374151"/>
                  </a:solidFill>
                  <a:latin typeface="Inter"/>
                  <a:ea typeface="Inter"/>
                </a:rPr>
                <a:t>Manage secure authentication processes</a:t>
              </a:r>
              <a:endParaRPr b="0" lang="en-US" sz="1300" spc="-1" strike="noStrike">
                <a:solidFill>
                  <a:srgbClr val="000000"/>
                </a:solidFill>
                <a:latin typeface="Arial"/>
              </a:endParaRPr>
            </a:p>
          </p:txBody>
        </p:sp>
        <p:grpSp>
          <p:nvGrpSpPr>
            <p:cNvPr id="253" name="Google Shape;298;p21"/>
            <p:cNvGrpSpPr/>
            <p:nvPr/>
          </p:nvGrpSpPr>
          <p:grpSpPr>
            <a:xfrm>
              <a:off x="6620040" y="3733920"/>
              <a:ext cx="190080" cy="190080"/>
              <a:chOff x="6620040" y="3733920"/>
              <a:chExt cx="190080" cy="190080"/>
            </a:xfrm>
          </p:grpSpPr>
          <p:sp>
            <p:nvSpPr>
              <p:cNvPr id="254" name="Google Shape;299;p21"/>
              <p:cNvSpPr/>
              <p:nvPr/>
            </p:nvSpPr>
            <p:spPr>
              <a:xfrm>
                <a:off x="6620040" y="3733920"/>
                <a:ext cx="190080" cy="19008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255" name="Google Shape;300;p21"/>
              <p:cNvSpPr/>
              <p:nvPr/>
            </p:nvSpPr>
            <p:spPr>
              <a:xfrm>
                <a:off x="6676920" y="3814920"/>
                <a:ext cx="75960" cy="47520"/>
              </a:xfrm>
              <a:custGeom>
                <a:avLst/>
                <a:gdLst>
                  <a:gd name="textAreaLeft" fmla="*/ 0 w 75960"/>
                  <a:gd name="textAreaRight" fmla="*/ 76320 w 75960"/>
                  <a:gd name="textAreaTop" fmla="*/ 0 h 47520"/>
                  <a:gd name="textAreaBottom" fmla="*/ 47880 h 47520"/>
                </a:gdLst>
                <a:ahLst/>
                <a:rect l="textAreaLeft" t="textAreaTop" r="textAreaRight" b="textAreaBottom"/>
                <a:pathLst>
                  <a:path w="120000" h="120000">
                    <a:moveTo>
                      <a:pt x="0" y="48000"/>
                    </a:moveTo>
                    <a:lnTo>
                      <a:pt x="45000"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256" name="Google Shape;301;p21"/>
            <p:cNvSpPr/>
            <p:nvPr/>
          </p:nvSpPr>
          <p:spPr>
            <a:xfrm>
              <a:off x="6953400" y="3714840"/>
              <a:ext cx="4238280" cy="3805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300" spc="-1" strike="noStrike">
                  <a:solidFill>
                    <a:srgbClr val="374151"/>
                  </a:solidFill>
                  <a:latin typeface="Inter"/>
                  <a:ea typeface="Inter"/>
                </a:rPr>
                <a:t>Route emails to their final destinations</a:t>
              </a:r>
              <a:endParaRPr b="0" lang="en-US" sz="1300" spc="-1" strike="noStrike">
                <a:solidFill>
                  <a:srgbClr val="000000"/>
                </a:solidFill>
                <a:latin typeface="Arial"/>
              </a:endParaRPr>
            </a:p>
          </p:txBody>
        </p:sp>
        <p:grpSp>
          <p:nvGrpSpPr>
            <p:cNvPr id="257" name="Google Shape;302;p21"/>
            <p:cNvGrpSpPr/>
            <p:nvPr/>
          </p:nvGrpSpPr>
          <p:grpSpPr>
            <a:xfrm>
              <a:off x="6620040" y="4210200"/>
              <a:ext cx="190080" cy="190080"/>
              <a:chOff x="6620040" y="4210200"/>
              <a:chExt cx="190080" cy="190080"/>
            </a:xfrm>
          </p:grpSpPr>
          <p:sp>
            <p:nvSpPr>
              <p:cNvPr id="258" name="Google Shape;303;p21"/>
              <p:cNvSpPr/>
              <p:nvPr/>
            </p:nvSpPr>
            <p:spPr>
              <a:xfrm>
                <a:off x="6620040" y="4210200"/>
                <a:ext cx="190080" cy="19008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259" name="Google Shape;304;p21"/>
              <p:cNvSpPr/>
              <p:nvPr/>
            </p:nvSpPr>
            <p:spPr>
              <a:xfrm>
                <a:off x="6676920" y="4290840"/>
                <a:ext cx="75960" cy="47520"/>
              </a:xfrm>
              <a:custGeom>
                <a:avLst/>
                <a:gdLst>
                  <a:gd name="textAreaLeft" fmla="*/ 0 w 75960"/>
                  <a:gd name="textAreaRight" fmla="*/ 76320 w 75960"/>
                  <a:gd name="textAreaTop" fmla="*/ 0 h 47520"/>
                  <a:gd name="textAreaBottom" fmla="*/ 47880 h 47520"/>
                </a:gdLst>
                <a:ahLst/>
                <a:rect l="textAreaLeft" t="textAreaTop" r="textAreaRight" b="textAreaBottom"/>
                <a:pathLst>
                  <a:path w="120000" h="120000">
                    <a:moveTo>
                      <a:pt x="0" y="48000"/>
                    </a:moveTo>
                    <a:lnTo>
                      <a:pt x="45000"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260" name="Google Shape;305;p21"/>
            <p:cNvSpPr/>
            <p:nvPr/>
          </p:nvSpPr>
          <p:spPr>
            <a:xfrm>
              <a:off x="6953400" y="4191120"/>
              <a:ext cx="4238280" cy="3805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300" spc="-1" strike="noStrike">
                  <a:solidFill>
                    <a:srgbClr val="374151"/>
                  </a:solidFill>
                  <a:latin typeface="Inter"/>
                  <a:ea typeface="Inter"/>
                </a:rPr>
                <a:t>Abstract complex underlying socket connections</a:t>
              </a:r>
              <a:endParaRPr b="0" lang="en-US" sz="1300" spc="-1" strike="noStrike">
                <a:solidFill>
                  <a:srgbClr val="000000"/>
                </a:solidFill>
                <a:latin typeface="Arial"/>
              </a:endParaRPr>
            </a:p>
          </p:txBody>
        </p:sp>
        <p:grpSp>
          <p:nvGrpSpPr>
            <p:cNvPr id="261" name="Google Shape;306;p21"/>
            <p:cNvGrpSpPr/>
            <p:nvPr/>
          </p:nvGrpSpPr>
          <p:grpSpPr>
            <a:xfrm>
              <a:off x="6620040" y="4686480"/>
              <a:ext cx="190080" cy="190080"/>
              <a:chOff x="6620040" y="4686480"/>
              <a:chExt cx="190080" cy="190080"/>
            </a:xfrm>
          </p:grpSpPr>
          <p:sp>
            <p:nvSpPr>
              <p:cNvPr id="262" name="Google Shape;307;p21"/>
              <p:cNvSpPr/>
              <p:nvPr/>
            </p:nvSpPr>
            <p:spPr>
              <a:xfrm>
                <a:off x="6620040" y="4686480"/>
                <a:ext cx="190080" cy="19008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263" name="Google Shape;308;p21"/>
              <p:cNvSpPr/>
              <p:nvPr/>
            </p:nvSpPr>
            <p:spPr>
              <a:xfrm>
                <a:off x="6676920" y="4767120"/>
                <a:ext cx="75960" cy="47520"/>
              </a:xfrm>
              <a:custGeom>
                <a:avLst/>
                <a:gdLst>
                  <a:gd name="textAreaLeft" fmla="*/ 0 w 75960"/>
                  <a:gd name="textAreaRight" fmla="*/ 76320 w 75960"/>
                  <a:gd name="textAreaTop" fmla="*/ 0 h 47520"/>
                  <a:gd name="textAreaBottom" fmla="*/ 47880 h 47520"/>
                </a:gdLst>
                <a:ahLst/>
                <a:rect l="textAreaLeft" t="textAreaTop" r="textAreaRight" b="textAreaBottom"/>
                <a:pathLst>
                  <a:path w="120000" h="120000">
                    <a:moveTo>
                      <a:pt x="0" y="48000"/>
                    </a:moveTo>
                    <a:lnTo>
                      <a:pt x="45000"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264" name="Google Shape;309;p21"/>
            <p:cNvSpPr/>
            <p:nvPr/>
          </p:nvSpPr>
          <p:spPr>
            <a:xfrm>
              <a:off x="6953400" y="4667400"/>
              <a:ext cx="4238280" cy="42840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300" spc="-1" strike="noStrike">
                  <a:solidFill>
                    <a:srgbClr val="374151"/>
                  </a:solidFill>
                  <a:latin typeface="Inter"/>
                  <a:ea typeface="Inter"/>
                </a:rPr>
                <a:t>Focus entirely on connecting and transmitting data</a:t>
              </a:r>
              <a:endParaRPr b="0" lang="en-US" sz="1300" spc="-1" strike="noStrike">
                <a:solidFill>
                  <a:srgbClr val="000000"/>
                </a:solidFill>
                <a:latin typeface="Arial"/>
              </a:endParaRPr>
            </a:p>
          </p:txBody>
        </p:sp>
      </p:grpSp>
      <p:pic>
        <p:nvPicPr>
          <p:cNvPr id="265" name="Google Shape;310;p21" descr=""/>
          <p:cNvPicPr/>
          <p:nvPr/>
        </p:nvPicPr>
        <p:blipFill>
          <a:blip r:embed="rId3"/>
          <a:stretch/>
        </p:blipFill>
        <p:spPr>
          <a:xfrm>
            <a:off x="762120" y="5981760"/>
            <a:ext cx="10667520" cy="304560"/>
          </a:xfrm>
          <a:prstGeom prst="rect">
            <a:avLst/>
          </a:prstGeom>
          <a:ln w="0">
            <a:noFill/>
          </a:ln>
        </p:spPr>
      </p:pic>
      <p:sp>
        <p:nvSpPr>
          <p:cNvPr id="266" name="Google Shape;311;p21"/>
          <p:cNvSpPr/>
          <p:nvPr/>
        </p:nvSpPr>
        <p:spPr>
          <a:xfrm>
            <a:off x="762120" y="6134040"/>
            <a:ext cx="4762080" cy="19008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980" spc="-1" strike="noStrike">
                <a:solidFill>
                  <a:srgbClr val="6b7280"/>
                </a:solidFill>
                <a:latin typeface="Inter"/>
                <a:ea typeface="Inter"/>
              </a:rPr>
              <a:t>Introduction to Email Automation &amp; SMTP | Python Basics</a:t>
            </a:r>
            <a:endParaRPr b="0" lang="en-US" sz="980" spc="-1" strike="noStrike">
              <a:solidFill>
                <a:srgbClr val="000000"/>
              </a:solidFill>
              <a:latin typeface="Arial"/>
            </a:endParaRPr>
          </a:p>
        </p:txBody>
      </p:sp>
      <p:pic>
        <p:nvPicPr>
          <p:cNvPr id="267" name="Google Shape;312;p21" descr=""/>
          <p:cNvPicPr/>
          <p:nvPr/>
        </p:nvPicPr>
        <p:blipFill>
          <a:blip r:embed="rId4"/>
          <a:stretch/>
        </p:blipFill>
        <p:spPr>
          <a:xfrm>
            <a:off x="10287000" y="5457960"/>
            <a:ext cx="1523520" cy="1019160"/>
          </a:xfrm>
          <a:prstGeom prst="rect">
            <a:avLst/>
          </a:prstGeom>
          <a:ln w="0">
            <a:noFill/>
          </a:ln>
        </p:spPr>
      </p:pic>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pic>
        <p:nvPicPr>
          <p:cNvPr id="268" name="Google Shape;317;p22" descr=""/>
          <p:cNvPicPr/>
          <p:nvPr/>
        </p:nvPicPr>
        <p:blipFill>
          <a:blip r:embed="rId2"/>
          <a:srcRect l="129" t="0" r="129" b="0"/>
          <a:stretch/>
        </p:blipFill>
        <p:spPr>
          <a:xfrm>
            <a:off x="0" y="0"/>
            <a:ext cx="12191760" cy="56880"/>
          </a:xfrm>
          <a:prstGeom prst="rect">
            <a:avLst/>
          </a:prstGeom>
          <a:ln w="0">
            <a:noFill/>
          </a:ln>
        </p:spPr>
      </p:pic>
      <p:sp>
        <p:nvSpPr>
          <p:cNvPr id="269" name="Google Shape;318;p22"/>
          <p:cNvSpPr/>
          <p:nvPr/>
        </p:nvSpPr>
        <p:spPr>
          <a:xfrm>
            <a:off x="762120" y="457200"/>
            <a:ext cx="10667520" cy="61884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2200" spc="-1" strike="noStrike">
                <a:solidFill>
                  <a:srgbClr val="045a36"/>
                </a:solidFill>
                <a:latin typeface="Montserrat SemiBold"/>
                <a:ea typeface="Montserrat SemiBold"/>
              </a:rPr>
              <a:t>Establishing a Secure Connection Requires the Server Address and Port</a:t>
            </a:r>
            <a:endParaRPr b="0" lang="en-US" sz="2200" spc="-1" strike="noStrike">
              <a:solidFill>
                <a:srgbClr val="000000"/>
              </a:solidFill>
              <a:latin typeface="Arial"/>
            </a:endParaRPr>
          </a:p>
        </p:txBody>
      </p:sp>
      <p:sp>
        <p:nvSpPr>
          <p:cNvPr id="270" name="Google Shape;319;p22"/>
          <p:cNvSpPr/>
          <p:nvPr/>
        </p:nvSpPr>
        <p:spPr>
          <a:xfrm>
            <a:off x="762120" y="1123920"/>
            <a:ext cx="10667520" cy="18720"/>
          </a:xfrm>
          <a:prstGeom prst="rect">
            <a:avLst/>
          </a:prstGeom>
          <a:solidFill>
            <a:srgbClr val="e2e8f0"/>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grpSp>
        <p:nvGrpSpPr>
          <p:cNvPr id="271" name="Google Shape;320;p22"/>
          <p:cNvGrpSpPr/>
          <p:nvPr/>
        </p:nvGrpSpPr>
        <p:grpSpPr>
          <a:xfrm>
            <a:off x="762120" y="1285920"/>
            <a:ext cx="10667520" cy="809280"/>
            <a:chOff x="762120" y="1285920"/>
            <a:chExt cx="10667520" cy="809280"/>
          </a:xfrm>
        </p:grpSpPr>
        <p:sp>
          <p:nvSpPr>
            <p:cNvPr id="272" name="Google Shape;321;p22"/>
            <p:cNvSpPr/>
            <p:nvPr/>
          </p:nvSpPr>
          <p:spPr>
            <a:xfrm>
              <a:off x="762120" y="1285920"/>
              <a:ext cx="10667520" cy="809280"/>
            </a:xfrm>
            <a:prstGeom prst="roundRect">
              <a:avLst>
                <a:gd name="adj" fmla="val 7058"/>
              </a:avLst>
            </a:prstGeom>
            <a:solidFill>
              <a:srgbClr val="f1f5f9"/>
            </a:solidFill>
            <a:ln w="9525">
              <a:solidFill>
                <a:srgbClr val="e2e8f0"/>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273" name="Google Shape;322;p22"/>
            <p:cNvSpPr/>
            <p:nvPr/>
          </p:nvSpPr>
          <p:spPr>
            <a:xfrm>
              <a:off x="762120" y="1285920"/>
              <a:ext cx="114120" cy="809280"/>
            </a:xfrm>
            <a:custGeom>
              <a:avLst/>
              <a:gdLst>
                <a:gd name="textAreaLeft" fmla="*/ 0 w 114120"/>
                <a:gd name="textAreaRight" fmla="*/ 114480 w 114120"/>
                <a:gd name="textAreaTop" fmla="*/ 0 h 809280"/>
                <a:gd name="textAreaBottom" fmla="*/ 809640 h 809280"/>
              </a:gdLst>
              <a:ahLst/>
              <a:rect l="textAreaLeft" t="textAreaTop" r="textAreaRight" b="textAreaBottom"/>
              <a:pathLst>
                <a:path w="120000" h="120000">
                  <a:moveTo>
                    <a:pt x="0" y="8471"/>
                  </a:moveTo>
                  <a:cubicBezTo>
                    <a:pt x="0" y="3784"/>
                    <a:pt x="26800" y="0"/>
                    <a:pt x="60000" y="0"/>
                  </a:cubicBezTo>
                  <a:lnTo>
                    <a:pt x="120000" y="0"/>
                  </a:lnTo>
                  <a:lnTo>
                    <a:pt x="120000" y="120000"/>
                  </a:lnTo>
                  <a:lnTo>
                    <a:pt x="60000" y="120000"/>
                  </a:lnTo>
                  <a:cubicBezTo>
                    <a:pt x="26800" y="120000"/>
                    <a:pt x="0" y="116216"/>
                    <a:pt x="0" y="111529"/>
                  </a:cubicBezTo>
                  <a:close/>
                </a:path>
              </a:pathLst>
            </a:custGeom>
            <a:solidFill>
              <a:srgbClr val="d4a017"/>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274" name="Google Shape;323;p22"/>
            <p:cNvSpPr/>
            <p:nvPr/>
          </p:nvSpPr>
          <p:spPr>
            <a:xfrm>
              <a:off x="1047600" y="1476360"/>
              <a:ext cx="10096200" cy="428400"/>
            </a:xfrm>
            <a:prstGeom prst="rect">
              <a:avLst/>
            </a:prstGeom>
            <a:noFill/>
            <a:ln w="0">
              <a:noFill/>
            </a:ln>
          </p:spPr>
          <p:style>
            <a:lnRef idx="0"/>
            <a:fillRef idx="0"/>
            <a:effectRef idx="0"/>
            <a:fontRef idx="minor"/>
          </p:style>
          <p:txBody>
            <a:bodyPr lIns="0" rIns="0" tIns="0" bIns="0" anchor="t">
              <a:noAutofit/>
            </a:bodyPr>
            <a:p>
              <a:pPr algn="ctr">
                <a:lnSpc>
                  <a:spcPct val="100000"/>
                </a:lnSpc>
                <a:tabLst>
                  <a:tab algn="l" pos="0"/>
                </a:tabLst>
              </a:pPr>
              <a:r>
                <a:rPr b="0" lang="en" sz="1500" spc="-1" strike="noStrike">
                  <a:solidFill>
                    <a:srgbClr val="6b7280"/>
                  </a:solidFill>
                  <a:latin typeface="Consolas"/>
                  <a:ea typeface="Consolas"/>
                </a:rPr>
                <a:t>server</a:t>
              </a:r>
              <a:r>
                <a:rPr b="0" lang="en" sz="1500" spc="-1" strike="noStrike">
                  <a:solidFill>
                    <a:srgbClr val="1f2937"/>
                  </a:solidFill>
                  <a:latin typeface="Consolas"/>
                  <a:ea typeface="Consolas"/>
                </a:rPr>
                <a:t> = </a:t>
              </a:r>
              <a:r>
                <a:rPr b="0" lang="en" sz="1500" spc="-1" strike="noStrike">
                  <a:solidFill>
                    <a:srgbClr val="045a36"/>
                  </a:solidFill>
                  <a:latin typeface="Consolas"/>
                  <a:ea typeface="Consolas"/>
                </a:rPr>
                <a:t>smtplib</a:t>
              </a:r>
              <a:r>
                <a:rPr b="0" lang="en" sz="1500" spc="-1" strike="noStrike">
                  <a:solidFill>
                    <a:srgbClr val="1f2937"/>
                  </a:solidFill>
                  <a:latin typeface="Consolas"/>
                  <a:ea typeface="Consolas"/>
                </a:rPr>
                <a:t>.</a:t>
              </a:r>
              <a:r>
                <a:rPr b="1" lang="en" sz="1500" spc="-1" strike="noStrike">
                  <a:solidFill>
                    <a:srgbClr val="045a36"/>
                  </a:solidFill>
                  <a:latin typeface="Consolas"/>
                  <a:ea typeface="Consolas"/>
                </a:rPr>
                <a:t>SMTP_SSL</a:t>
              </a:r>
              <a:r>
                <a:rPr b="0" lang="en" sz="1500" spc="-1" strike="noStrike">
                  <a:solidFill>
                    <a:srgbClr val="1f2937"/>
                  </a:solidFill>
                  <a:latin typeface="Consolas"/>
                  <a:ea typeface="Consolas"/>
                </a:rPr>
                <a:t>(</a:t>
              </a:r>
              <a:r>
                <a:rPr b="0" lang="en" sz="1500" spc="-1" strike="noStrike">
                  <a:solidFill>
                    <a:srgbClr val="d4a017"/>
                  </a:solidFill>
                  <a:latin typeface="Consolas"/>
                  <a:ea typeface="Consolas"/>
                </a:rPr>
                <a:t>"smtp.gmail.com"</a:t>
              </a:r>
              <a:r>
                <a:rPr b="0" lang="en" sz="1500" spc="-1" strike="noStrike">
                  <a:solidFill>
                    <a:srgbClr val="1f2937"/>
                  </a:solidFill>
                  <a:latin typeface="Consolas"/>
                  <a:ea typeface="Consolas"/>
                </a:rPr>
                <a:t>, </a:t>
              </a:r>
              <a:r>
                <a:rPr b="0" lang="en" sz="1500" spc="-1" strike="noStrike">
                  <a:solidFill>
                    <a:srgbClr val="d4a017"/>
                  </a:solidFill>
                  <a:latin typeface="Consolas"/>
                  <a:ea typeface="Consolas"/>
                </a:rPr>
                <a:t>465</a:t>
              </a:r>
              <a:r>
                <a:rPr b="0" lang="en" sz="1500" spc="-1" strike="noStrike">
                  <a:solidFill>
                    <a:srgbClr val="1f2937"/>
                  </a:solidFill>
                  <a:latin typeface="Consolas"/>
                  <a:ea typeface="Consolas"/>
                </a:rPr>
                <a:t>)</a:t>
              </a:r>
              <a:endParaRPr b="0" lang="en-US" sz="1500" spc="-1" strike="noStrike">
                <a:solidFill>
                  <a:srgbClr val="000000"/>
                </a:solidFill>
                <a:latin typeface="Arial"/>
              </a:endParaRPr>
            </a:p>
          </p:txBody>
        </p:sp>
      </p:grpSp>
      <p:grpSp>
        <p:nvGrpSpPr>
          <p:cNvPr id="275" name="Google Shape;324;p22"/>
          <p:cNvGrpSpPr/>
          <p:nvPr/>
        </p:nvGrpSpPr>
        <p:grpSpPr>
          <a:xfrm>
            <a:off x="762120" y="2381400"/>
            <a:ext cx="5190840" cy="952200"/>
            <a:chOff x="762120" y="2381400"/>
            <a:chExt cx="5190840" cy="952200"/>
          </a:xfrm>
        </p:grpSpPr>
        <p:grpSp>
          <p:nvGrpSpPr>
            <p:cNvPr id="276" name="Google Shape;325;p22"/>
            <p:cNvGrpSpPr/>
            <p:nvPr/>
          </p:nvGrpSpPr>
          <p:grpSpPr>
            <a:xfrm>
              <a:off x="762120" y="2428920"/>
              <a:ext cx="190080" cy="190080"/>
              <a:chOff x="762120" y="2428920"/>
              <a:chExt cx="190080" cy="190080"/>
            </a:xfrm>
          </p:grpSpPr>
          <p:sp>
            <p:nvSpPr>
              <p:cNvPr id="277" name="Google Shape;326;p22"/>
              <p:cNvSpPr/>
              <p:nvPr/>
            </p:nvSpPr>
            <p:spPr>
              <a:xfrm>
                <a:off x="762120" y="2428920"/>
                <a:ext cx="190080" cy="19008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278" name="Google Shape;327;p22"/>
              <p:cNvSpPr/>
              <p:nvPr/>
            </p:nvSpPr>
            <p:spPr>
              <a:xfrm>
                <a:off x="819000" y="2509920"/>
                <a:ext cx="75960" cy="47520"/>
              </a:xfrm>
              <a:custGeom>
                <a:avLst/>
                <a:gdLst>
                  <a:gd name="textAreaLeft" fmla="*/ 0 w 75960"/>
                  <a:gd name="textAreaRight" fmla="*/ 76320 w 75960"/>
                  <a:gd name="textAreaTop" fmla="*/ 0 h 47520"/>
                  <a:gd name="textAreaBottom" fmla="*/ 47880 h 47520"/>
                </a:gdLst>
                <a:ahLst/>
                <a:rect l="textAreaLeft" t="textAreaTop" r="textAreaRight" b="textAreaBottom"/>
                <a:pathLst>
                  <a:path w="120000" h="120000">
                    <a:moveTo>
                      <a:pt x="0" y="48000"/>
                    </a:moveTo>
                    <a:lnTo>
                      <a:pt x="45000"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279" name="Google Shape;328;p22"/>
            <p:cNvSpPr/>
            <p:nvPr/>
          </p:nvSpPr>
          <p:spPr>
            <a:xfrm>
              <a:off x="1095480" y="2381400"/>
              <a:ext cx="4857480" cy="95220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400" spc="-1" strike="noStrike">
                  <a:solidFill>
                    <a:srgbClr val="045a36"/>
                  </a:solidFill>
                  <a:latin typeface="Consolas"/>
                  <a:ea typeface="Consolas"/>
                </a:rPr>
                <a:t>smtplib</a:t>
              </a:r>
              <a:r>
                <a:rPr b="0" lang="en" sz="1300" spc="-1" strike="noStrike">
                  <a:solidFill>
                    <a:srgbClr val="374151"/>
                  </a:solidFill>
                  <a:latin typeface="Inter"/>
                  <a:ea typeface="Inter"/>
                </a:rPr>
                <a:t> </a:t>
              </a:r>
              <a:r>
                <a:rPr b="0" lang="en" sz="1100" spc="-1" strike="noStrike">
                  <a:solidFill>
                    <a:srgbClr val="6b7280"/>
                  </a:solidFill>
                  <a:latin typeface="Inter SemiBold"/>
                  <a:ea typeface="Inter SemiBold"/>
                </a:rPr>
                <a:t>(Library Call)</a:t>
              </a:r>
              <a:r>
                <a:rPr b="0" lang="en" sz="1300" spc="-1" strike="noStrike">
                  <a:solidFill>
                    <a:srgbClr val="374151"/>
                  </a:solidFill>
                  <a:latin typeface="Inter"/>
                  <a:ea typeface="Inter"/>
                </a:rPr>
                <a:t> </a:t>
              </a:r>
              <a:r>
                <a:rPr b="0" lang="en" sz="1250" spc="-1" strike="noStrike">
                  <a:solidFill>
                    <a:srgbClr val="374151"/>
                  </a:solidFill>
                  <a:latin typeface="Inter"/>
                  <a:ea typeface="Inter"/>
                </a:rPr>
                <a:t>The smtplib call references the imported library.</a:t>
              </a:r>
              <a:endParaRPr b="0" lang="en-US" sz="1250" spc="-1" strike="noStrike">
                <a:solidFill>
                  <a:srgbClr val="000000"/>
                </a:solidFill>
                <a:latin typeface="Arial"/>
              </a:endParaRPr>
            </a:p>
          </p:txBody>
        </p:sp>
      </p:grpSp>
      <p:grpSp>
        <p:nvGrpSpPr>
          <p:cNvPr id="280" name="Google Shape;329;p22"/>
          <p:cNvGrpSpPr/>
          <p:nvPr/>
        </p:nvGrpSpPr>
        <p:grpSpPr>
          <a:xfrm>
            <a:off x="6477120" y="2381400"/>
            <a:ext cx="5190840" cy="952200"/>
            <a:chOff x="6477120" y="2381400"/>
            <a:chExt cx="5190840" cy="952200"/>
          </a:xfrm>
        </p:grpSpPr>
        <p:grpSp>
          <p:nvGrpSpPr>
            <p:cNvPr id="281" name="Google Shape;330;p22"/>
            <p:cNvGrpSpPr/>
            <p:nvPr/>
          </p:nvGrpSpPr>
          <p:grpSpPr>
            <a:xfrm>
              <a:off x="6477120" y="2428920"/>
              <a:ext cx="190080" cy="190080"/>
              <a:chOff x="6477120" y="2428920"/>
              <a:chExt cx="190080" cy="190080"/>
            </a:xfrm>
          </p:grpSpPr>
          <p:sp>
            <p:nvSpPr>
              <p:cNvPr id="282" name="Google Shape;331;p22"/>
              <p:cNvSpPr/>
              <p:nvPr/>
            </p:nvSpPr>
            <p:spPr>
              <a:xfrm>
                <a:off x="6477120" y="2428920"/>
                <a:ext cx="190080" cy="19008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283" name="Google Shape;332;p22"/>
              <p:cNvSpPr/>
              <p:nvPr/>
            </p:nvSpPr>
            <p:spPr>
              <a:xfrm>
                <a:off x="6534000" y="2509920"/>
                <a:ext cx="75960" cy="47520"/>
              </a:xfrm>
              <a:custGeom>
                <a:avLst/>
                <a:gdLst>
                  <a:gd name="textAreaLeft" fmla="*/ 0 w 75960"/>
                  <a:gd name="textAreaRight" fmla="*/ 76320 w 75960"/>
                  <a:gd name="textAreaTop" fmla="*/ 0 h 47520"/>
                  <a:gd name="textAreaBottom" fmla="*/ 47880 h 47520"/>
                </a:gdLst>
                <a:ahLst/>
                <a:rect l="textAreaLeft" t="textAreaTop" r="textAreaRight" b="textAreaBottom"/>
                <a:pathLst>
                  <a:path w="120000" h="120000">
                    <a:moveTo>
                      <a:pt x="0" y="48000"/>
                    </a:moveTo>
                    <a:lnTo>
                      <a:pt x="45000"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284" name="Google Shape;333;p22"/>
            <p:cNvSpPr/>
            <p:nvPr/>
          </p:nvSpPr>
          <p:spPr>
            <a:xfrm>
              <a:off x="6810480" y="2381400"/>
              <a:ext cx="4857480" cy="95220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400" spc="-1" strike="noStrike">
                  <a:solidFill>
                    <a:srgbClr val="045a36"/>
                  </a:solidFill>
                  <a:latin typeface="Consolas"/>
                  <a:ea typeface="Consolas"/>
                </a:rPr>
                <a:t>SMTP_SSL</a:t>
              </a:r>
              <a:r>
                <a:rPr b="0" lang="en" sz="1300" spc="-1" strike="noStrike">
                  <a:solidFill>
                    <a:srgbClr val="374151"/>
                  </a:solidFill>
                  <a:latin typeface="Inter"/>
                  <a:ea typeface="Inter"/>
                </a:rPr>
                <a:t> </a:t>
              </a:r>
              <a:r>
                <a:rPr b="0" lang="en" sz="1100" spc="-1" strike="noStrike">
                  <a:solidFill>
                    <a:srgbClr val="6b7280"/>
                  </a:solidFill>
                  <a:latin typeface="Inter SemiBold"/>
                  <a:ea typeface="Inter SemiBold"/>
                </a:rPr>
                <a:t>(Security Class)</a:t>
              </a:r>
              <a:r>
                <a:rPr b="0" lang="en" sz="1300" spc="-1" strike="noStrike">
                  <a:solidFill>
                    <a:srgbClr val="374151"/>
                  </a:solidFill>
                  <a:latin typeface="Inter"/>
                  <a:ea typeface="Inter"/>
                </a:rPr>
                <a:t> </a:t>
              </a:r>
              <a:r>
                <a:rPr b="0" lang="en" sz="1250" spc="-1" strike="noStrike">
                  <a:solidFill>
                    <a:srgbClr val="374151"/>
                  </a:solidFill>
                  <a:latin typeface="Inter"/>
                  <a:ea typeface="Inter"/>
                </a:rPr>
                <a:t>The SMTP_SSL class is instantiated to guarantee that the connection is encrypted securely from the moment it opens.</a:t>
              </a:r>
              <a:endParaRPr b="0" lang="en-US" sz="1250" spc="-1" strike="noStrike">
                <a:solidFill>
                  <a:srgbClr val="000000"/>
                </a:solidFill>
                <a:latin typeface="Arial"/>
              </a:endParaRPr>
            </a:p>
          </p:txBody>
        </p:sp>
      </p:grpSp>
      <p:grpSp>
        <p:nvGrpSpPr>
          <p:cNvPr id="285" name="Google Shape;334;p22"/>
          <p:cNvGrpSpPr/>
          <p:nvPr/>
        </p:nvGrpSpPr>
        <p:grpSpPr>
          <a:xfrm>
            <a:off x="762120" y="3524400"/>
            <a:ext cx="5190840" cy="952200"/>
            <a:chOff x="762120" y="3524400"/>
            <a:chExt cx="5190840" cy="952200"/>
          </a:xfrm>
        </p:grpSpPr>
        <p:grpSp>
          <p:nvGrpSpPr>
            <p:cNvPr id="286" name="Google Shape;335;p22"/>
            <p:cNvGrpSpPr/>
            <p:nvPr/>
          </p:nvGrpSpPr>
          <p:grpSpPr>
            <a:xfrm>
              <a:off x="762120" y="3571920"/>
              <a:ext cx="190080" cy="190080"/>
              <a:chOff x="762120" y="3571920"/>
              <a:chExt cx="190080" cy="190080"/>
            </a:xfrm>
          </p:grpSpPr>
          <p:sp>
            <p:nvSpPr>
              <p:cNvPr id="287" name="Google Shape;336;p22"/>
              <p:cNvSpPr/>
              <p:nvPr/>
            </p:nvSpPr>
            <p:spPr>
              <a:xfrm>
                <a:off x="762120" y="3571920"/>
                <a:ext cx="190080" cy="19008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288" name="Google Shape;337;p22"/>
              <p:cNvSpPr/>
              <p:nvPr/>
            </p:nvSpPr>
            <p:spPr>
              <a:xfrm>
                <a:off x="819000" y="3652920"/>
                <a:ext cx="75960" cy="47520"/>
              </a:xfrm>
              <a:custGeom>
                <a:avLst/>
                <a:gdLst>
                  <a:gd name="textAreaLeft" fmla="*/ 0 w 75960"/>
                  <a:gd name="textAreaRight" fmla="*/ 76320 w 75960"/>
                  <a:gd name="textAreaTop" fmla="*/ 0 h 47520"/>
                  <a:gd name="textAreaBottom" fmla="*/ 47880 h 47520"/>
                </a:gdLst>
                <a:ahLst/>
                <a:rect l="textAreaLeft" t="textAreaTop" r="textAreaRight" b="textAreaBottom"/>
                <a:pathLst>
                  <a:path w="120000" h="120000">
                    <a:moveTo>
                      <a:pt x="0" y="48000"/>
                    </a:moveTo>
                    <a:lnTo>
                      <a:pt x="45000"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289" name="Google Shape;338;p22"/>
            <p:cNvSpPr/>
            <p:nvPr/>
          </p:nvSpPr>
          <p:spPr>
            <a:xfrm>
              <a:off x="1095480" y="3524400"/>
              <a:ext cx="4857480" cy="95220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400" spc="-1" strike="noStrike">
                  <a:solidFill>
                    <a:srgbClr val="045a36"/>
                  </a:solidFill>
                  <a:latin typeface="Consolas"/>
                  <a:ea typeface="Consolas"/>
                </a:rPr>
                <a:t>"smtp.gmail.com"</a:t>
              </a:r>
              <a:r>
                <a:rPr b="0" lang="en" sz="1300" spc="-1" strike="noStrike">
                  <a:solidFill>
                    <a:srgbClr val="374151"/>
                  </a:solidFill>
                  <a:latin typeface="Inter"/>
                  <a:ea typeface="Inter"/>
                </a:rPr>
                <a:t> </a:t>
              </a:r>
              <a:r>
                <a:rPr b="0" lang="en" sz="1100" spc="-1" strike="noStrike">
                  <a:solidFill>
                    <a:srgbClr val="6b7280"/>
                  </a:solidFill>
                  <a:latin typeface="Inter SemiBold"/>
                  <a:ea typeface="Inter SemiBold"/>
                </a:rPr>
                <a:t>(Server Address)</a:t>
              </a:r>
              <a:r>
                <a:rPr b="0" lang="en" sz="1300" spc="-1" strike="noStrike">
                  <a:solidFill>
                    <a:srgbClr val="374151"/>
                  </a:solidFill>
                  <a:latin typeface="Inter"/>
                  <a:ea typeface="Inter"/>
                </a:rPr>
                <a:t> </a:t>
              </a:r>
              <a:r>
                <a:rPr b="0" lang="en" sz="1250" spc="-1" strike="noStrike">
                  <a:solidFill>
                    <a:srgbClr val="374151"/>
                  </a:solidFill>
                  <a:latin typeface="Inter"/>
                  <a:ea typeface="Inter"/>
                </a:rPr>
                <a:t>The Server address specifies the exact domain name of the email provider's outgoing mail infrastructure.</a:t>
              </a:r>
              <a:endParaRPr b="0" lang="en-US" sz="1250" spc="-1" strike="noStrike">
                <a:solidFill>
                  <a:srgbClr val="000000"/>
                </a:solidFill>
                <a:latin typeface="Arial"/>
              </a:endParaRPr>
            </a:p>
          </p:txBody>
        </p:sp>
      </p:grpSp>
      <p:grpSp>
        <p:nvGrpSpPr>
          <p:cNvPr id="290" name="Google Shape;339;p22"/>
          <p:cNvGrpSpPr/>
          <p:nvPr/>
        </p:nvGrpSpPr>
        <p:grpSpPr>
          <a:xfrm>
            <a:off x="6477120" y="3524400"/>
            <a:ext cx="5190840" cy="952200"/>
            <a:chOff x="6477120" y="3524400"/>
            <a:chExt cx="5190840" cy="952200"/>
          </a:xfrm>
        </p:grpSpPr>
        <p:grpSp>
          <p:nvGrpSpPr>
            <p:cNvPr id="291" name="Google Shape;340;p22"/>
            <p:cNvGrpSpPr/>
            <p:nvPr/>
          </p:nvGrpSpPr>
          <p:grpSpPr>
            <a:xfrm>
              <a:off x="6477120" y="3571920"/>
              <a:ext cx="190080" cy="190080"/>
              <a:chOff x="6477120" y="3571920"/>
              <a:chExt cx="190080" cy="190080"/>
            </a:xfrm>
          </p:grpSpPr>
          <p:sp>
            <p:nvSpPr>
              <p:cNvPr id="292" name="Google Shape;341;p22"/>
              <p:cNvSpPr/>
              <p:nvPr/>
            </p:nvSpPr>
            <p:spPr>
              <a:xfrm>
                <a:off x="6477120" y="3571920"/>
                <a:ext cx="190080" cy="19008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293" name="Google Shape;342;p22"/>
              <p:cNvSpPr/>
              <p:nvPr/>
            </p:nvSpPr>
            <p:spPr>
              <a:xfrm>
                <a:off x="6534000" y="3652920"/>
                <a:ext cx="75960" cy="47520"/>
              </a:xfrm>
              <a:custGeom>
                <a:avLst/>
                <a:gdLst>
                  <a:gd name="textAreaLeft" fmla="*/ 0 w 75960"/>
                  <a:gd name="textAreaRight" fmla="*/ 76320 w 75960"/>
                  <a:gd name="textAreaTop" fmla="*/ 0 h 47520"/>
                  <a:gd name="textAreaBottom" fmla="*/ 47880 h 47520"/>
                </a:gdLst>
                <a:ahLst/>
                <a:rect l="textAreaLeft" t="textAreaTop" r="textAreaRight" b="textAreaBottom"/>
                <a:pathLst>
                  <a:path w="120000" h="120000">
                    <a:moveTo>
                      <a:pt x="0" y="48000"/>
                    </a:moveTo>
                    <a:lnTo>
                      <a:pt x="45000"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294" name="Google Shape;343;p22"/>
            <p:cNvSpPr/>
            <p:nvPr/>
          </p:nvSpPr>
          <p:spPr>
            <a:xfrm>
              <a:off x="6810480" y="3524400"/>
              <a:ext cx="4857480" cy="95220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400" spc="-1" strike="noStrike">
                  <a:solidFill>
                    <a:srgbClr val="045a36"/>
                  </a:solidFill>
                  <a:latin typeface="Consolas"/>
                  <a:ea typeface="Consolas"/>
                </a:rPr>
                <a:t>465</a:t>
              </a:r>
              <a:r>
                <a:rPr b="0" lang="en" sz="1300" spc="-1" strike="noStrike">
                  <a:solidFill>
                    <a:srgbClr val="374151"/>
                  </a:solidFill>
                  <a:latin typeface="Inter"/>
                  <a:ea typeface="Inter"/>
                </a:rPr>
                <a:t> </a:t>
              </a:r>
              <a:r>
                <a:rPr b="0" lang="en" sz="1100" spc="-1" strike="noStrike">
                  <a:solidFill>
                    <a:srgbClr val="6b7280"/>
                  </a:solidFill>
                  <a:latin typeface="Inter SemiBold"/>
                  <a:ea typeface="Inter SemiBold"/>
                </a:rPr>
                <a:t>(Numerical Port)</a:t>
              </a:r>
              <a:r>
                <a:rPr b="0" lang="en" sz="1300" spc="-1" strike="noStrike">
                  <a:solidFill>
                    <a:srgbClr val="374151"/>
                  </a:solidFill>
                  <a:latin typeface="Inter"/>
                  <a:ea typeface="Inter"/>
                </a:rPr>
                <a:t> </a:t>
              </a:r>
              <a:r>
                <a:rPr b="0" lang="en" sz="1250" spc="-1" strike="noStrike">
                  <a:solidFill>
                    <a:srgbClr val="374151"/>
                  </a:solidFill>
                  <a:latin typeface="Inter"/>
                  <a:ea typeface="Inter"/>
                </a:rPr>
                <a:t>Finally, the Port directs the traffic to the designated numerical endpoint for secure SMTP communication.</a:t>
              </a:r>
              <a:endParaRPr b="0" lang="en-US" sz="1250" spc="-1" strike="noStrike">
                <a:solidFill>
                  <a:srgbClr val="000000"/>
                </a:solidFill>
                <a:latin typeface="Arial"/>
              </a:endParaRPr>
            </a:p>
          </p:txBody>
        </p:sp>
      </p:grpSp>
      <p:grpSp>
        <p:nvGrpSpPr>
          <p:cNvPr id="295" name="Google Shape;344;p22"/>
          <p:cNvGrpSpPr/>
          <p:nvPr/>
        </p:nvGrpSpPr>
        <p:grpSpPr>
          <a:xfrm>
            <a:off x="762120" y="4667400"/>
            <a:ext cx="10667520" cy="618840"/>
            <a:chOff x="762120" y="4667400"/>
            <a:chExt cx="10667520" cy="618840"/>
          </a:xfrm>
        </p:grpSpPr>
        <p:sp>
          <p:nvSpPr>
            <p:cNvPr id="296" name="Google Shape;345;p22"/>
            <p:cNvSpPr/>
            <p:nvPr/>
          </p:nvSpPr>
          <p:spPr>
            <a:xfrm>
              <a:off x="762120" y="4667400"/>
              <a:ext cx="10667520" cy="618840"/>
            </a:xfrm>
            <a:prstGeom prst="roundRect">
              <a:avLst>
                <a:gd name="adj" fmla="val 9230"/>
              </a:avLst>
            </a:prstGeom>
            <a:solidFill>
              <a:srgbClr val="f1f5f9"/>
            </a:solidFill>
            <a:ln w="9525">
              <a:solidFill>
                <a:srgbClr val="e2e8f0"/>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297" name="Google Shape;346;p22"/>
            <p:cNvSpPr/>
            <p:nvPr/>
          </p:nvSpPr>
          <p:spPr>
            <a:xfrm>
              <a:off x="762120" y="4667400"/>
              <a:ext cx="114120" cy="618840"/>
            </a:xfrm>
            <a:custGeom>
              <a:avLst/>
              <a:gdLst>
                <a:gd name="textAreaLeft" fmla="*/ 0 w 114120"/>
                <a:gd name="textAreaRight" fmla="*/ 114480 w 114120"/>
                <a:gd name="textAreaTop" fmla="*/ 0 h 618840"/>
                <a:gd name="textAreaBottom" fmla="*/ 619200 h 618840"/>
              </a:gdLst>
              <a:ahLst/>
              <a:rect l="textAreaLeft" t="textAreaTop" r="textAreaRight" b="textAreaBottom"/>
              <a:pathLst>
                <a:path w="120000" h="120000">
                  <a:moveTo>
                    <a:pt x="0" y="11077"/>
                  </a:moveTo>
                  <a:cubicBezTo>
                    <a:pt x="0" y="4948"/>
                    <a:pt x="26800" y="0"/>
                    <a:pt x="60000" y="0"/>
                  </a:cubicBezTo>
                  <a:lnTo>
                    <a:pt x="120000" y="0"/>
                  </a:lnTo>
                  <a:lnTo>
                    <a:pt x="120000" y="120000"/>
                  </a:lnTo>
                  <a:lnTo>
                    <a:pt x="60000" y="120000"/>
                  </a:lnTo>
                  <a:cubicBezTo>
                    <a:pt x="26800" y="120000"/>
                    <a:pt x="0" y="115052"/>
                    <a:pt x="0" y="108923"/>
                  </a:cubicBezTo>
                  <a:close/>
                </a:path>
              </a:pathLst>
            </a:cu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298" name="Google Shape;347;p22"/>
            <p:cNvSpPr/>
            <p:nvPr/>
          </p:nvSpPr>
          <p:spPr>
            <a:xfrm>
              <a:off x="1047600" y="4781520"/>
              <a:ext cx="10096200" cy="39996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100" spc="-1" strike="noStrike">
                  <a:solidFill>
                    <a:srgbClr val="045a36"/>
                  </a:solidFill>
                  <a:latin typeface="Inter"/>
                  <a:ea typeface="Inter"/>
                </a:rPr>
                <a:t>Pipeline:</a:t>
              </a:r>
              <a:r>
                <a:rPr b="0" lang="en" sz="1250" spc="-1" strike="noStrike">
                  <a:solidFill>
                    <a:srgbClr val="374151"/>
                  </a:solidFill>
                  <a:latin typeface="Inter"/>
                  <a:ea typeface="Inter"/>
                </a:rPr>
                <a:t>Together, these elements open a dedicated, encrypted pipeline between the local Python script and the remote mail server.</a:t>
              </a:r>
              <a:endParaRPr b="0" lang="en-US" sz="1250" spc="-1" strike="noStrike">
                <a:solidFill>
                  <a:srgbClr val="000000"/>
                </a:solidFill>
                <a:latin typeface="Arial"/>
              </a:endParaRPr>
            </a:p>
          </p:txBody>
        </p:sp>
      </p:grpSp>
      <p:pic>
        <p:nvPicPr>
          <p:cNvPr id="299" name="Google Shape;348;p22" descr=""/>
          <p:cNvPicPr/>
          <p:nvPr/>
        </p:nvPicPr>
        <p:blipFill>
          <a:blip r:embed="rId3"/>
          <a:stretch/>
        </p:blipFill>
        <p:spPr>
          <a:xfrm>
            <a:off x="762120" y="5981760"/>
            <a:ext cx="10667520" cy="304560"/>
          </a:xfrm>
          <a:prstGeom prst="rect">
            <a:avLst/>
          </a:prstGeom>
          <a:ln w="0">
            <a:noFill/>
          </a:ln>
        </p:spPr>
      </p:pic>
      <p:sp>
        <p:nvSpPr>
          <p:cNvPr id="300" name="Google Shape;349;p22"/>
          <p:cNvSpPr/>
          <p:nvPr/>
        </p:nvSpPr>
        <p:spPr>
          <a:xfrm>
            <a:off x="762120" y="6134040"/>
            <a:ext cx="4762080" cy="19008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980" spc="-1" strike="noStrike">
                <a:solidFill>
                  <a:srgbClr val="6b7280"/>
                </a:solidFill>
                <a:latin typeface="Inter"/>
                <a:ea typeface="Inter"/>
              </a:rPr>
              <a:t>Introduction to Email Automation &amp; SMTP | Python Basics</a:t>
            </a:r>
            <a:endParaRPr b="0" lang="en-US" sz="980" spc="-1" strike="noStrike">
              <a:solidFill>
                <a:srgbClr val="000000"/>
              </a:solidFill>
              <a:latin typeface="Arial"/>
            </a:endParaRPr>
          </a:p>
        </p:txBody>
      </p:sp>
      <p:pic>
        <p:nvPicPr>
          <p:cNvPr id="301" name="Google Shape;350;p22" descr=""/>
          <p:cNvPicPr/>
          <p:nvPr/>
        </p:nvPicPr>
        <p:blipFill>
          <a:blip r:embed="rId4"/>
          <a:srcRect l="155" t="0" r="155" b="0"/>
          <a:stretch/>
        </p:blipFill>
        <p:spPr>
          <a:xfrm>
            <a:off x="10287000" y="5457960"/>
            <a:ext cx="1523520" cy="1019160"/>
          </a:xfrm>
          <a:prstGeom prst="rect">
            <a:avLst/>
          </a:prstGeom>
          <a:ln w="0">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pic>
        <p:nvPicPr>
          <p:cNvPr id="302" name="Google Shape;355;p23" descr=""/>
          <p:cNvPicPr/>
          <p:nvPr/>
        </p:nvPicPr>
        <p:blipFill>
          <a:blip r:embed="rId2"/>
          <a:srcRect l="129" t="0" r="129" b="0"/>
          <a:stretch/>
        </p:blipFill>
        <p:spPr>
          <a:xfrm>
            <a:off x="0" y="0"/>
            <a:ext cx="12191760" cy="56880"/>
          </a:xfrm>
          <a:prstGeom prst="rect">
            <a:avLst/>
          </a:prstGeom>
          <a:ln w="0">
            <a:noFill/>
          </a:ln>
        </p:spPr>
      </p:pic>
      <p:sp>
        <p:nvSpPr>
          <p:cNvPr id="303" name="Google Shape;356;p23"/>
          <p:cNvSpPr/>
          <p:nvPr/>
        </p:nvSpPr>
        <p:spPr>
          <a:xfrm>
            <a:off x="762120" y="333360"/>
            <a:ext cx="9524520" cy="85716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2700" spc="-1" strike="noStrike">
                <a:solidFill>
                  <a:srgbClr val="045a36"/>
                </a:solidFill>
                <a:latin typeface="Montserrat SemiBold"/>
                <a:ea typeface="Montserrat SemiBold"/>
              </a:rPr>
              <a:t>Secure Authentication Verifies Sender Identity Using App Passwords</a:t>
            </a:r>
            <a:endParaRPr b="0" lang="en-US" sz="2700" spc="-1" strike="noStrike">
              <a:solidFill>
                <a:srgbClr val="000000"/>
              </a:solidFill>
              <a:latin typeface="Arial"/>
            </a:endParaRPr>
          </a:p>
        </p:txBody>
      </p:sp>
      <p:sp>
        <p:nvSpPr>
          <p:cNvPr id="304" name="Google Shape;357;p23"/>
          <p:cNvSpPr/>
          <p:nvPr/>
        </p:nvSpPr>
        <p:spPr>
          <a:xfrm>
            <a:off x="762120" y="1238400"/>
            <a:ext cx="10667520" cy="18720"/>
          </a:xfrm>
          <a:prstGeom prst="rect">
            <a:avLst/>
          </a:prstGeom>
          <a:solidFill>
            <a:srgbClr val="e2e8f0"/>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cxnSp>
        <p:nvCxnSpPr>
          <p:cNvPr id="305" name="Google Shape;358;p23"/>
          <p:cNvCxnSpPr/>
          <p:nvPr/>
        </p:nvCxnSpPr>
        <p:spPr>
          <a:xfrm>
            <a:off x="6095880" y="1476360"/>
            <a:ext cx="360" cy="3953160"/>
          </a:xfrm>
          <a:prstGeom prst="straightConnector1">
            <a:avLst/>
          </a:prstGeom>
          <a:ln w="14300">
            <a:solidFill>
              <a:srgbClr val="e2e8f0"/>
            </a:solidFill>
            <a:round/>
          </a:ln>
        </p:spPr>
      </p:cxnSp>
      <p:sp>
        <p:nvSpPr>
          <p:cNvPr id="306" name="Google Shape;359;p23"/>
          <p:cNvSpPr/>
          <p:nvPr/>
        </p:nvSpPr>
        <p:spPr>
          <a:xfrm>
            <a:off x="762120" y="1476360"/>
            <a:ext cx="4952520" cy="713880"/>
          </a:xfrm>
          <a:prstGeom prst="roundRect">
            <a:avLst>
              <a:gd name="adj" fmla="val 10666"/>
            </a:avLst>
          </a:prstGeom>
          <a:solidFill>
            <a:srgbClr val="f1f5f9"/>
          </a:solidFill>
          <a:ln w="14300">
            <a:solidFill>
              <a:srgbClr val="e2e8f0"/>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307" name="Google Shape;360;p23"/>
          <p:cNvSpPr/>
          <p:nvPr/>
        </p:nvSpPr>
        <p:spPr>
          <a:xfrm>
            <a:off x="762120" y="1476360"/>
            <a:ext cx="47520" cy="713880"/>
          </a:xfrm>
          <a:prstGeom prst="roundRect">
            <a:avLst>
              <a:gd name="adj" fmla="val 40000"/>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308" name="Google Shape;361;p23"/>
          <p:cNvSpPr/>
          <p:nvPr/>
        </p:nvSpPr>
        <p:spPr>
          <a:xfrm>
            <a:off x="952560" y="1571760"/>
            <a:ext cx="4571640" cy="523440"/>
          </a:xfrm>
          <a:prstGeom prst="rect">
            <a:avLst/>
          </a:prstGeom>
          <a:noFill/>
          <a:ln w="0">
            <a:noFill/>
          </a:ln>
        </p:spPr>
        <p:style>
          <a:lnRef idx="0"/>
          <a:fillRef idx="0"/>
          <a:effectRef idx="0"/>
          <a:fontRef idx="minor"/>
        </p:style>
        <p:txBody>
          <a:bodyPr lIns="0" rIns="0" tIns="0" bIns="0" anchor="t">
            <a:noAutofit/>
          </a:bodyPr>
          <a:p>
            <a:pPr algn="ctr">
              <a:lnSpc>
                <a:spcPct val="100000"/>
              </a:lnSpc>
              <a:tabLst>
                <a:tab algn="l" pos="0"/>
              </a:tabLst>
            </a:pPr>
            <a:r>
              <a:rPr b="1" lang="en" sz="1350" spc="-1" strike="noStrike">
                <a:solidFill>
                  <a:srgbClr val="045a36"/>
                </a:solidFill>
                <a:latin typeface="Courier New"/>
                <a:ea typeface="Courier New"/>
              </a:rPr>
              <a:t>server.login(sender_email, password)</a:t>
            </a:r>
            <a:endParaRPr b="0" lang="en-US" sz="1350" spc="-1" strike="noStrike">
              <a:solidFill>
                <a:srgbClr val="000000"/>
              </a:solidFill>
              <a:latin typeface="Arial"/>
            </a:endParaRPr>
          </a:p>
        </p:txBody>
      </p:sp>
      <p:sp>
        <p:nvSpPr>
          <p:cNvPr id="309" name="Google Shape;362;p23"/>
          <p:cNvSpPr/>
          <p:nvPr/>
        </p:nvSpPr>
        <p:spPr>
          <a:xfrm>
            <a:off x="762120" y="2381400"/>
            <a:ext cx="4952520" cy="28548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650" spc="-1" strike="noStrike">
                <a:solidFill>
                  <a:srgbClr val="045a36"/>
                </a:solidFill>
                <a:latin typeface="Montserrat"/>
                <a:ea typeface="Montserrat"/>
              </a:rPr>
              <a:t>SMTP Authentication &amp; Security</a:t>
            </a:r>
            <a:endParaRPr b="0" lang="en-US" sz="1650" spc="-1" strike="noStrike">
              <a:solidFill>
                <a:srgbClr val="000000"/>
              </a:solidFill>
              <a:latin typeface="Arial"/>
            </a:endParaRPr>
          </a:p>
        </p:txBody>
      </p:sp>
      <p:sp>
        <p:nvSpPr>
          <p:cNvPr id="310" name="Google Shape;363;p23"/>
          <p:cNvSpPr/>
          <p:nvPr/>
        </p:nvSpPr>
        <p:spPr>
          <a:xfrm>
            <a:off x="762120" y="2714760"/>
            <a:ext cx="380520" cy="37800"/>
          </a:xfrm>
          <a:prstGeom prst="roundRect">
            <a:avLst>
              <a:gd name="adj" fmla="val 50000"/>
            </a:avLst>
          </a:prstGeom>
          <a:solidFill>
            <a:srgbClr val="d4a017"/>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grpSp>
        <p:nvGrpSpPr>
          <p:cNvPr id="311" name="Google Shape;364;p23"/>
          <p:cNvGrpSpPr/>
          <p:nvPr/>
        </p:nvGrpSpPr>
        <p:grpSpPr>
          <a:xfrm>
            <a:off x="762120" y="3000240"/>
            <a:ext cx="190080" cy="190080"/>
            <a:chOff x="762120" y="3000240"/>
            <a:chExt cx="190080" cy="190080"/>
          </a:xfrm>
        </p:grpSpPr>
        <p:sp>
          <p:nvSpPr>
            <p:cNvPr id="312" name="Google Shape;365;p23"/>
            <p:cNvSpPr/>
            <p:nvPr/>
          </p:nvSpPr>
          <p:spPr>
            <a:xfrm>
              <a:off x="762120" y="3000240"/>
              <a:ext cx="190080" cy="19008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313" name="Google Shape;366;p23"/>
            <p:cNvSpPr/>
            <p:nvPr/>
          </p:nvSpPr>
          <p:spPr>
            <a:xfrm>
              <a:off x="819000" y="3081240"/>
              <a:ext cx="75960" cy="47520"/>
            </a:xfrm>
            <a:custGeom>
              <a:avLst/>
              <a:gdLst>
                <a:gd name="textAreaLeft" fmla="*/ 0 w 75960"/>
                <a:gd name="textAreaRight" fmla="*/ 76320 w 75960"/>
                <a:gd name="textAreaTop" fmla="*/ 0 h 47520"/>
                <a:gd name="textAreaBottom" fmla="*/ 47880 h 47520"/>
              </a:gdLst>
              <a:ahLst/>
              <a:rect l="textAreaLeft" t="textAreaTop" r="textAreaRight" b="textAreaBottom"/>
              <a:pathLst>
                <a:path w="120000" h="120000">
                  <a:moveTo>
                    <a:pt x="0" y="48000"/>
                  </a:moveTo>
                  <a:lnTo>
                    <a:pt x="45000"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314" name="Google Shape;367;p23"/>
          <p:cNvSpPr/>
          <p:nvPr/>
        </p:nvSpPr>
        <p:spPr>
          <a:xfrm>
            <a:off x="1095480" y="2952720"/>
            <a:ext cx="4619520" cy="95220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500" spc="-1" strike="noStrike">
                <a:solidFill>
                  <a:srgbClr val="045a36"/>
                </a:solidFill>
                <a:latin typeface="Inter SemiBold"/>
                <a:ea typeface="Inter SemiBold"/>
              </a:rPr>
              <a:t>Sender Verification:</a:t>
            </a:r>
            <a:r>
              <a:rPr b="0" lang="en" sz="1500" spc="-1" strike="noStrike">
                <a:solidFill>
                  <a:srgbClr val="374151"/>
                </a:solidFill>
                <a:latin typeface="Inter"/>
                <a:ea typeface="Inter"/>
              </a:rPr>
              <a:t> Once connected, the sender email acts as the username, and authentication proves your identity to the server.</a:t>
            </a:r>
            <a:endParaRPr b="0" lang="en-US" sz="1500" spc="-1" strike="noStrike">
              <a:solidFill>
                <a:srgbClr val="000000"/>
              </a:solidFill>
              <a:latin typeface="Arial"/>
            </a:endParaRPr>
          </a:p>
        </p:txBody>
      </p:sp>
      <p:grpSp>
        <p:nvGrpSpPr>
          <p:cNvPr id="315" name="Google Shape;368;p23"/>
          <p:cNvGrpSpPr/>
          <p:nvPr/>
        </p:nvGrpSpPr>
        <p:grpSpPr>
          <a:xfrm>
            <a:off x="762120" y="4048200"/>
            <a:ext cx="190080" cy="190080"/>
            <a:chOff x="762120" y="4048200"/>
            <a:chExt cx="190080" cy="190080"/>
          </a:xfrm>
        </p:grpSpPr>
        <p:sp>
          <p:nvSpPr>
            <p:cNvPr id="316" name="Google Shape;369;p23"/>
            <p:cNvSpPr/>
            <p:nvPr/>
          </p:nvSpPr>
          <p:spPr>
            <a:xfrm>
              <a:off x="762120" y="4048200"/>
              <a:ext cx="190080" cy="19008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317" name="Google Shape;370;p23"/>
            <p:cNvSpPr/>
            <p:nvPr/>
          </p:nvSpPr>
          <p:spPr>
            <a:xfrm>
              <a:off x="819000" y="4129200"/>
              <a:ext cx="75960" cy="47520"/>
            </a:xfrm>
            <a:custGeom>
              <a:avLst/>
              <a:gdLst>
                <a:gd name="textAreaLeft" fmla="*/ 0 w 75960"/>
                <a:gd name="textAreaRight" fmla="*/ 76320 w 75960"/>
                <a:gd name="textAreaTop" fmla="*/ 0 h 47520"/>
                <a:gd name="textAreaBottom" fmla="*/ 47880 h 47520"/>
              </a:gdLst>
              <a:ahLst/>
              <a:rect l="textAreaLeft" t="textAreaTop" r="textAreaRight" b="textAreaBottom"/>
              <a:pathLst>
                <a:path w="120000" h="120000">
                  <a:moveTo>
                    <a:pt x="0" y="48000"/>
                  </a:moveTo>
                  <a:lnTo>
                    <a:pt x="45000"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318" name="Google Shape;371;p23"/>
          <p:cNvSpPr/>
          <p:nvPr/>
        </p:nvSpPr>
        <p:spPr>
          <a:xfrm>
            <a:off x="1095480" y="4000680"/>
            <a:ext cx="4619520" cy="95220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500" spc="-1" strike="noStrike">
                <a:solidFill>
                  <a:srgbClr val="045a36"/>
                </a:solidFill>
                <a:latin typeface="Inter SemiBold"/>
                <a:ea typeface="Inter SemiBold"/>
              </a:rPr>
              <a:t>Spam Prevention:</a:t>
            </a:r>
            <a:r>
              <a:rPr b="0" lang="en" sz="1500" spc="-1" strike="noStrike">
                <a:solidFill>
                  <a:srgbClr val="374151"/>
                </a:solidFill>
                <a:latin typeface="Inter"/>
                <a:ea typeface="Inter"/>
              </a:rPr>
              <a:t> Credentials are strictly required because SMTP servers must prevent unauthorized users from utilizing legitimate domains.</a:t>
            </a:r>
            <a:endParaRPr b="0" lang="en-US" sz="1500" spc="-1" strike="noStrike">
              <a:solidFill>
                <a:srgbClr val="000000"/>
              </a:solidFill>
              <a:latin typeface="Arial"/>
            </a:endParaRPr>
          </a:p>
        </p:txBody>
      </p:sp>
      <p:sp>
        <p:nvSpPr>
          <p:cNvPr id="319" name="Google Shape;372;p23"/>
          <p:cNvSpPr/>
          <p:nvPr/>
        </p:nvSpPr>
        <p:spPr>
          <a:xfrm>
            <a:off x="6477120" y="1476360"/>
            <a:ext cx="4952520" cy="3952440"/>
          </a:xfrm>
          <a:prstGeom prst="roundRect">
            <a:avLst>
              <a:gd name="adj" fmla="val 2891"/>
            </a:avLst>
          </a:prstGeom>
          <a:solidFill>
            <a:srgbClr val="ffffff"/>
          </a:solidFill>
          <a:ln w="14300">
            <a:solidFill>
              <a:srgbClr val="e2e8f0"/>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320" name="Google Shape;373;p23"/>
          <p:cNvSpPr/>
          <p:nvPr/>
        </p:nvSpPr>
        <p:spPr>
          <a:xfrm>
            <a:off x="6477120" y="1476360"/>
            <a:ext cx="4952520" cy="142560"/>
          </a:xfrm>
          <a:custGeom>
            <a:avLst/>
            <a:gdLst>
              <a:gd name="textAreaLeft" fmla="*/ 0 w 4952520"/>
              <a:gd name="textAreaRight" fmla="*/ 4952880 w 4952520"/>
              <a:gd name="textAreaTop" fmla="*/ 0 h 142560"/>
              <a:gd name="textAreaBottom" fmla="*/ 142920 h 142560"/>
            </a:gdLst>
            <a:ahLst/>
            <a:rect l="textAreaLeft" t="textAreaTop" r="textAreaRight" b="textAreaBottom"/>
            <a:pathLst>
              <a:path w="120000" h="120000">
                <a:moveTo>
                  <a:pt x="0" y="96000"/>
                </a:moveTo>
                <a:cubicBezTo>
                  <a:pt x="0" y="42981"/>
                  <a:pt x="1240" y="0"/>
                  <a:pt x="2769" y="0"/>
                </a:cubicBezTo>
                <a:lnTo>
                  <a:pt x="117231" y="0"/>
                </a:lnTo>
                <a:cubicBezTo>
                  <a:pt x="118760" y="4"/>
                  <a:pt x="120000" y="42984"/>
                  <a:pt x="120000" y="96000"/>
                </a:cubicBezTo>
                <a:lnTo>
                  <a:pt x="120000" y="120000"/>
                </a:lnTo>
                <a:lnTo>
                  <a:pt x="0" y="120000"/>
                </a:lnTo>
                <a:close/>
              </a:path>
            </a:pathLst>
          </a:custGeom>
          <a:solidFill>
            <a:srgbClr val="d4a017"/>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321" name="Google Shape;374;p23"/>
          <p:cNvSpPr/>
          <p:nvPr/>
        </p:nvSpPr>
        <p:spPr>
          <a:xfrm>
            <a:off x="6762600" y="1809720"/>
            <a:ext cx="1523520" cy="247320"/>
          </a:xfrm>
          <a:prstGeom prst="roundRect">
            <a:avLst>
              <a:gd name="adj" fmla="val 50000"/>
            </a:avLst>
          </a:prstGeom>
          <a:solidFill>
            <a:srgbClr val="d4a017">
              <a:alpha val="15000"/>
            </a:srgbClr>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322" name="Google Shape;375;p23"/>
          <p:cNvSpPr/>
          <p:nvPr/>
        </p:nvSpPr>
        <p:spPr>
          <a:xfrm>
            <a:off x="6762600" y="1809720"/>
            <a:ext cx="1523520" cy="247320"/>
          </a:xfrm>
          <a:prstGeom prst="rect">
            <a:avLst/>
          </a:prstGeom>
          <a:noFill/>
          <a:ln w="0">
            <a:noFill/>
          </a:ln>
        </p:spPr>
        <p:style>
          <a:lnRef idx="0"/>
          <a:fillRef idx="0"/>
          <a:effectRef idx="0"/>
          <a:fontRef idx="minor"/>
        </p:style>
        <p:txBody>
          <a:bodyPr lIns="0" rIns="0" tIns="0" bIns="0" anchor="ctr">
            <a:noAutofit/>
          </a:bodyPr>
          <a:p>
            <a:pPr algn="ctr">
              <a:lnSpc>
                <a:spcPct val="100000"/>
              </a:lnSpc>
              <a:tabLst>
                <a:tab algn="l" pos="0"/>
              </a:tabLst>
            </a:pPr>
            <a:r>
              <a:rPr b="1" lang="en" sz="900" spc="-1" strike="noStrike">
                <a:solidFill>
                  <a:srgbClr val="d4a017"/>
                </a:solidFill>
                <a:latin typeface="Inter"/>
                <a:ea typeface="Inter"/>
              </a:rPr>
              <a:t>SECURITY PRACTICE</a:t>
            </a:r>
            <a:endParaRPr b="0" lang="en-US" sz="900" spc="-1" strike="noStrike">
              <a:solidFill>
                <a:srgbClr val="000000"/>
              </a:solidFill>
              <a:latin typeface="Arial"/>
            </a:endParaRPr>
          </a:p>
        </p:txBody>
      </p:sp>
      <p:sp>
        <p:nvSpPr>
          <p:cNvPr id="323" name="Google Shape;376;p23"/>
          <p:cNvSpPr/>
          <p:nvPr/>
        </p:nvSpPr>
        <p:spPr>
          <a:xfrm>
            <a:off x="6762600" y="2190600"/>
            <a:ext cx="4381200" cy="33300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600" spc="-1" strike="noStrike">
                <a:solidFill>
                  <a:srgbClr val="045a36"/>
                </a:solidFill>
                <a:latin typeface="Montserrat"/>
                <a:ea typeface="Montserrat"/>
              </a:rPr>
              <a:t>Protect Primary Credentials</a:t>
            </a:r>
            <a:endParaRPr b="0" lang="en-US" sz="1600" spc="-1" strike="noStrike">
              <a:solidFill>
                <a:srgbClr val="000000"/>
              </a:solidFill>
              <a:latin typeface="Arial"/>
            </a:endParaRPr>
          </a:p>
        </p:txBody>
      </p:sp>
      <p:sp>
        <p:nvSpPr>
          <p:cNvPr id="324" name="Google Shape;377;p23"/>
          <p:cNvSpPr/>
          <p:nvPr/>
        </p:nvSpPr>
        <p:spPr>
          <a:xfrm>
            <a:off x="6762600" y="2619360"/>
            <a:ext cx="4381200" cy="104760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350" spc="-1" strike="noStrike">
                <a:solidFill>
                  <a:srgbClr val="374151"/>
                </a:solidFill>
                <a:latin typeface="Inter"/>
                <a:ea typeface="Inter"/>
              </a:rPr>
              <a:t>Developers should always utilize a dedicated testing account equipped with </a:t>
            </a:r>
            <a:r>
              <a:rPr b="0" lang="en" sz="1350" spc="-1" strike="noStrike">
                <a:solidFill>
                  <a:srgbClr val="045a36"/>
                </a:solidFill>
                <a:latin typeface="Inter SemiBold"/>
                <a:ea typeface="Inter SemiBold"/>
              </a:rPr>
              <a:t>Two-Factor Authentication (2FA)</a:t>
            </a:r>
            <a:r>
              <a:rPr b="0" lang="en" sz="1350" spc="-1" strike="noStrike">
                <a:solidFill>
                  <a:srgbClr val="374151"/>
                </a:solidFill>
                <a:latin typeface="Inter"/>
                <a:ea typeface="Inter"/>
              </a:rPr>
              <a:t> and a specific App Password, rather than exposing primary personal credentials within plaintext scripts.</a:t>
            </a:r>
            <a:endParaRPr b="0" lang="en-US" sz="1350" spc="-1" strike="noStrike">
              <a:solidFill>
                <a:srgbClr val="000000"/>
              </a:solidFill>
              <a:latin typeface="Arial"/>
            </a:endParaRPr>
          </a:p>
        </p:txBody>
      </p:sp>
      <p:cxnSp>
        <p:nvCxnSpPr>
          <p:cNvPr id="325" name="Google Shape;378;p23"/>
          <p:cNvCxnSpPr/>
          <p:nvPr/>
        </p:nvCxnSpPr>
        <p:spPr>
          <a:xfrm>
            <a:off x="6762600" y="3666960"/>
            <a:ext cx="4381920" cy="360"/>
          </a:xfrm>
          <a:prstGeom prst="straightConnector1">
            <a:avLst/>
          </a:prstGeom>
          <a:ln w="14300">
            <a:solidFill>
              <a:srgbClr val="e2e8f0"/>
            </a:solidFill>
            <a:round/>
          </a:ln>
        </p:spPr>
      </p:cxnSp>
      <p:sp>
        <p:nvSpPr>
          <p:cNvPr id="326" name="Google Shape;379;p23"/>
          <p:cNvSpPr/>
          <p:nvPr/>
        </p:nvSpPr>
        <p:spPr>
          <a:xfrm>
            <a:off x="6762600" y="3857760"/>
            <a:ext cx="4381200" cy="28548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450" spc="-1" strike="noStrike">
                <a:solidFill>
                  <a:srgbClr val="d4a017"/>
                </a:solidFill>
                <a:latin typeface="Montserrat"/>
                <a:ea typeface="Montserrat"/>
              </a:rPr>
              <a:t>Secure App Passwords</a:t>
            </a:r>
            <a:endParaRPr b="0" lang="en-US" sz="1450" spc="-1" strike="noStrike">
              <a:solidFill>
                <a:srgbClr val="000000"/>
              </a:solidFill>
              <a:latin typeface="Arial"/>
            </a:endParaRPr>
          </a:p>
        </p:txBody>
      </p:sp>
      <p:sp>
        <p:nvSpPr>
          <p:cNvPr id="327" name="Google Shape;380;p23"/>
          <p:cNvSpPr/>
          <p:nvPr/>
        </p:nvSpPr>
        <p:spPr>
          <a:xfrm>
            <a:off x="6762600" y="4191120"/>
            <a:ext cx="4381200" cy="104760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350" spc="-1" strike="noStrike">
                <a:solidFill>
                  <a:srgbClr val="6b7280"/>
                </a:solidFill>
                <a:latin typeface="Inter"/>
                <a:ea typeface="Inter"/>
              </a:rPr>
              <a:t>Providers utilize specially generated, </a:t>
            </a:r>
            <a:r>
              <a:rPr b="0" lang="en" sz="1350" spc="-1" strike="noStrike">
                <a:solidFill>
                  <a:srgbClr val="045a36"/>
                </a:solidFill>
                <a:latin typeface="Inter SemiBold"/>
                <a:ea typeface="Inter SemiBold"/>
              </a:rPr>
              <a:t>single-use passwords</a:t>
            </a:r>
            <a:r>
              <a:rPr b="0" lang="en" sz="1350" spc="-1" strike="noStrike">
                <a:solidFill>
                  <a:srgbClr val="6b7280"/>
                </a:solidFill>
                <a:latin typeface="Inter"/>
                <a:ea typeface="Inter"/>
              </a:rPr>
              <a:t> that securely bypass standard login screens and 2FA prompts.</a:t>
            </a:r>
            <a:endParaRPr b="0" lang="en-US" sz="1350" spc="-1" strike="noStrike">
              <a:solidFill>
                <a:srgbClr val="000000"/>
              </a:solidFill>
              <a:latin typeface="Arial"/>
            </a:endParaRPr>
          </a:p>
        </p:txBody>
      </p:sp>
      <p:pic>
        <p:nvPicPr>
          <p:cNvPr id="328" name="Google Shape;381;p23" descr=""/>
          <p:cNvPicPr/>
          <p:nvPr/>
        </p:nvPicPr>
        <p:blipFill>
          <a:blip r:embed="rId3"/>
          <a:stretch/>
        </p:blipFill>
        <p:spPr>
          <a:xfrm>
            <a:off x="762120" y="5981760"/>
            <a:ext cx="10667520" cy="304560"/>
          </a:xfrm>
          <a:prstGeom prst="rect">
            <a:avLst/>
          </a:prstGeom>
          <a:ln w="0">
            <a:noFill/>
          </a:ln>
        </p:spPr>
      </p:pic>
      <p:sp>
        <p:nvSpPr>
          <p:cNvPr id="329" name="Google Shape;382;p23"/>
          <p:cNvSpPr/>
          <p:nvPr/>
        </p:nvSpPr>
        <p:spPr>
          <a:xfrm>
            <a:off x="762120" y="6134040"/>
            <a:ext cx="5714640" cy="19008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980" spc="-1" strike="noStrike">
                <a:solidFill>
                  <a:srgbClr val="6b7280"/>
                </a:solidFill>
                <a:latin typeface="Inter"/>
                <a:ea typeface="Inter"/>
              </a:rPr>
              <a:t>Introduction to Email Automation &amp; SMTP | Python Basics</a:t>
            </a:r>
            <a:endParaRPr b="0" lang="en-US" sz="980" spc="-1" strike="noStrike">
              <a:solidFill>
                <a:srgbClr val="000000"/>
              </a:solidFill>
              <a:latin typeface="Arial"/>
            </a:endParaRPr>
          </a:p>
        </p:txBody>
      </p:sp>
      <p:pic>
        <p:nvPicPr>
          <p:cNvPr id="330" name="Google Shape;383;p23" descr=""/>
          <p:cNvPicPr/>
          <p:nvPr/>
        </p:nvPicPr>
        <p:blipFill>
          <a:blip r:embed="rId4"/>
          <a:stretch/>
        </p:blipFill>
        <p:spPr>
          <a:xfrm>
            <a:off x="10287000" y="5457960"/>
            <a:ext cx="1523520" cy="1019160"/>
          </a:xfrm>
          <a:prstGeom prst="rect">
            <a:avLst/>
          </a:prstGeom>
          <a:ln w="0">
            <a:noFill/>
          </a:ln>
        </p:spPr>
      </p:pic>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31" name="Google Shape;388;p24" descr=""/>
          <p:cNvPicPr/>
          <p:nvPr/>
        </p:nvPicPr>
        <p:blipFill>
          <a:blip r:embed="rId1"/>
          <a:stretch/>
        </p:blipFill>
        <p:spPr>
          <a:xfrm>
            <a:off x="0" y="0"/>
            <a:ext cx="12191760" cy="6857640"/>
          </a:xfrm>
          <a:prstGeom prst="rect">
            <a:avLst/>
          </a:prstGeom>
          <a:ln w="0">
            <a:noFill/>
          </a:ln>
        </p:spPr>
      </p:pic>
      <p:pic>
        <p:nvPicPr>
          <p:cNvPr id="332" name="Google Shape;389;p24" descr=""/>
          <p:cNvPicPr/>
          <p:nvPr/>
        </p:nvPicPr>
        <p:blipFill>
          <a:blip r:embed="rId2"/>
          <a:srcRect l="129" t="0" r="129" b="0"/>
          <a:stretch/>
        </p:blipFill>
        <p:spPr>
          <a:xfrm>
            <a:off x="0" y="0"/>
            <a:ext cx="12191760" cy="56880"/>
          </a:xfrm>
          <a:prstGeom prst="rect">
            <a:avLst/>
          </a:prstGeom>
          <a:ln w="0">
            <a:noFill/>
          </a:ln>
        </p:spPr>
      </p:pic>
      <p:sp>
        <p:nvSpPr>
          <p:cNvPr id="333" name="Google Shape;390;p24"/>
          <p:cNvSpPr/>
          <p:nvPr/>
        </p:nvSpPr>
        <p:spPr>
          <a:xfrm>
            <a:off x="762120" y="571680"/>
            <a:ext cx="9524520" cy="42840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2700" spc="-1" strike="noStrike">
                <a:solidFill>
                  <a:srgbClr val="045a36"/>
                </a:solidFill>
                <a:latin typeface="Montserrat SemiBold"/>
                <a:ea typeface="Montserrat SemiBold"/>
              </a:rPr>
              <a:t>Secure Connection &amp; Authentication Flow</a:t>
            </a:r>
            <a:endParaRPr b="0" lang="en-US" sz="2700" spc="-1" strike="noStrike">
              <a:solidFill>
                <a:srgbClr val="000000"/>
              </a:solidFill>
              <a:latin typeface="Arial"/>
            </a:endParaRPr>
          </a:p>
        </p:txBody>
      </p:sp>
      <p:sp>
        <p:nvSpPr>
          <p:cNvPr id="334" name="Google Shape;391;p24"/>
          <p:cNvSpPr/>
          <p:nvPr/>
        </p:nvSpPr>
        <p:spPr>
          <a:xfrm>
            <a:off x="762120" y="1123920"/>
            <a:ext cx="10667520" cy="18720"/>
          </a:xfrm>
          <a:prstGeom prst="rect">
            <a:avLst/>
          </a:prstGeom>
          <a:solidFill>
            <a:srgbClr val="e2e8f0"/>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335" name="Google Shape;392;p24"/>
          <p:cNvSpPr/>
          <p:nvPr/>
        </p:nvSpPr>
        <p:spPr>
          <a:xfrm>
            <a:off x="762120" y="1238400"/>
            <a:ext cx="10667520" cy="28548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i="1" lang="en" sz="1350" spc="-1" strike="noStrike">
                <a:solidFill>
                  <a:srgbClr val="4b5563"/>
                </a:solidFill>
                <a:latin typeface="Inter Medium"/>
                <a:ea typeface="Inter Medium"/>
              </a:rPr>
              <a:t>This live coding demonstration highlights the fundamental connection lifecycle.</a:t>
            </a:r>
            <a:endParaRPr b="0" lang="en-US" sz="1350" spc="-1" strike="noStrike">
              <a:solidFill>
                <a:srgbClr val="000000"/>
              </a:solidFill>
              <a:latin typeface="Arial"/>
            </a:endParaRPr>
          </a:p>
        </p:txBody>
      </p:sp>
      <p:grpSp>
        <p:nvGrpSpPr>
          <p:cNvPr id="336" name="Google Shape;393;p24"/>
          <p:cNvGrpSpPr/>
          <p:nvPr/>
        </p:nvGrpSpPr>
        <p:grpSpPr>
          <a:xfrm>
            <a:off x="762120" y="1666800"/>
            <a:ext cx="5714640" cy="3809520"/>
            <a:chOff x="762120" y="1666800"/>
            <a:chExt cx="5714640" cy="3809520"/>
          </a:xfrm>
        </p:grpSpPr>
        <p:sp>
          <p:nvSpPr>
            <p:cNvPr id="337" name="Google Shape;394;p24"/>
            <p:cNvSpPr/>
            <p:nvPr/>
          </p:nvSpPr>
          <p:spPr>
            <a:xfrm>
              <a:off x="762120" y="1666800"/>
              <a:ext cx="5714640" cy="3809520"/>
            </a:xfrm>
            <a:prstGeom prst="roundRect">
              <a:avLst>
                <a:gd name="adj" fmla="val 3000"/>
              </a:avLst>
            </a:prstGeom>
            <a:solidFill>
              <a:srgbClr val="ffffff"/>
            </a:solidFill>
            <a:ln w="9525">
              <a:solidFill>
                <a:srgbClr val="e2e8f0"/>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338" name="Google Shape;395;p24"/>
            <p:cNvSpPr/>
            <p:nvPr/>
          </p:nvSpPr>
          <p:spPr>
            <a:xfrm>
              <a:off x="762120" y="1666800"/>
              <a:ext cx="5714640" cy="75960"/>
            </a:xfrm>
            <a:prstGeom prst="roundRect">
              <a:avLst>
                <a:gd name="adj" fmla="val 50000"/>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339" name="Google Shape;396;p24"/>
            <p:cNvSpPr/>
            <p:nvPr/>
          </p:nvSpPr>
          <p:spPr>
            <a:xfrm>
              <a:off x="1047600" y="1905120"/>
              <a:ext cx="5143320" cy="33300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100" spc="-1" strike="noStrike">
                  <a:solidFill>
                    <a:srgbClr val="d4a017"/>
                  </a:solidFill>
                  <a:latin typeface="Montserrat"/>
                  <a:ea typeface="Montserrat"/>
                </a:rPr>
                <a:t>PYTHON SMTP_SSL IMPLEMENTATION</a:t>
              </a:r>
              <a:endParaRPr b="0" lang="en-US" sz="1100" spc="-1" strike="noStrike">
                <a:solidFill>
                  <a:srgbClr val="000000"/>
                </a:solidFill>
                <a:latin typeface="Arial"/>
              </a:endParaRPr>
            </a:p>
          </p:txBody>
        </p:sp>
        <p:sp>
          <p:nvSpPr>
            <p:cNvPr id="340" name="Google Shape;397;p24"/>
            <p:cNvSpPr/>
            <p:nvPr/>
          </p:nvSpPr>
          <p:spPr>
            <a:xfrm>
              <a:off x="1047600" y="2333520"/>
              <a:ext cx="5143320" cy="28573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250" spc="-1" strike="noStrike">
                  <a:solidFill>
                    <a:srgbClr val="045a36"/>
                  </a:solidFill>
                  <a:latin typeface="Courier New"/>
                  <a:ea typeface="Courier New"/>
                </a:rPr>
                <a:t>import</a:t>
              </a:r>
              <a:r>
                <a:rPr b="0" lang="en" sz="1250" spc="-1" strike="noStrike">
                  <a:solidFill>
                    <a:srgbClr val="1f2937"/>
                  </a:solidFill>
                  <a:latin typeface="Courier New"/>
                  <a:ea typeface="Courier New"/>
                </a:rPr>
                <a:t> smtplib</a:t>
              </a:r>
              <a:endParaRPr b="0" lang="en-US" sz="1250" spc="-1" strike="noStrike">
                <a:solidFill>
                  <a:srgbClr val="000000"/>
                </a:solidFill>
                <a:latin typeface="Arial"/>
              </a:endParaRPr>
            </a:p>
            <a:p>
              <a:pPr>
                <a:lnSpc>
                  <a:spcPct val="100000"/>
                </a:lnSpc>
                <a:spcBef>
                  <a:spcPts val="451"/>
                </a:spcBef>
                <a:tabLst>
                  <a:tab algn="l" pos="0"/>
                </a:tabLst>
              </a:pPr>
              <a:r>
                <a:rPr b="1" lang="en" sz="1250" spc="-1" strike="noStrike">
                  <a:solidFill>
                    <a:srgbClr val="045a36"/>
                  </a:solidFill>
                  <a:latin typeface="Courier New"/>
                  <a:ea typeface="Courier New"/>
                </a:rPr>
                <a:t>import</a:t>
              </a:r>
              <a:r>
                <a:rPr b="0" lang="en" sz="1250" spc="-1" strike="noStrike">
                  <a:solidFill>
                    <a:srgbClr val="1f2937"/>
                  </a:solidFill>
                  <a:latin typeface="Courier New"/>
                  <a:ea typeface="Courier New"/>
                </a:rPr>
                <a:t> ssl</a:t>
              </a:r>
              <a:endParaRPr b="0" lang="en-US" sz="1250" spc="-1" strike="noStrike">
                <a:solidFill>
                  <a:srgbClr val="000000"/>
                </a:solidFill>
                <a:latin typeface="Arial"/>
              </a:endParaRPr>
            </a:p>
            <a:p>
              <a:pPr>
                <a:lnSpc>
                  <a:spcPct val="100000"/>
                </a:lnSpc>
                <a:spcBef>
                  <a:spcPts val="451"/>
                </a:spcBef>
                <a:tabLst>
                  <a:tab algn="l" pos="0"/>
                </a:tabLst>
              </a:pPr>
              <a:endParaRPr b="0" lang="en-US" sz="1250" spc="-1" strike="noStrike">
                <a:solidFill>
                  <a:srgbClr val="000000"/>
                </a:solidFill>
                <a:latin typeface="Arial"/>
              </a:endParaRPr>
            </a:p>
            <a:p>
              <a:pPr>
                <a:lnSpc>
                  <a:spcPct val="100000"/>
                </a:lnSpc>
                <a:spcBef>
                  <a:spcPts val="901"/>
                </a:spcBef>
                <a:tabLst>
                  <a:tab algn="l" pos="0"/>
                </a:tabLst>
              </a:pPr>
              <a:r>
                <a:rPr b="0" lang="en" sz="1250" spc="-1" strike="noStrike">
                  <a:solidFill>
                    <a:srgbClr val="1f2937"/>
                  </a:solidFill>
                  <a:latin typeface="Courier New"/>
                  <a:ea typeface="Courier New"/>
                </a:rPr>
                <a:t>context = ssl.create_default_context()</a:t>
              </a:r>
              <a:endParaRPr b="0" lang="en-US" sz="1250" spc="-1" strike="noStrike">
                <a:solidFill>
                  <a:srgbClr val="000000"/>
                </a:solidFill>
                <a:latin typeface="Arial"/>
              </a:endParaRPr>
            </a:p>
            <a:p>
              <a:pPr>
                <a:lnSpc>
                  <a:spcPct val="100000"/>
                </a:lnSpc>
                <a:spcBef>
                  <a:spcPts val="451"/>
                </a:spcBef>
                <a:tabLst>
                  <a:tab algn="l" pos="0"/>
                </a:tabLst>
              </a:pPr>
              <a:r>
                <a:rPr b="1" lang="en" sz="1250" spc="-1" strike="noStrike">
                  <a:solidFill>
                    <a:srgbClr val="045a36"/>
                  </a:solidFill>
                  <a:latin typeface="Courier New"/>
                  <a:ea typeface="Courier New"/>
                </a:rPr>
                <a:t>with</a:t>
              </a:r>
              <a:r>
                <a:rPr b="0" lang="en" sz="1250" spc="-1" strike="noStrike">
                  <a:solidFill>
                    <a:srgbClr val="1f2937"/>
                  </a:solidFill>
                  <a:latin typeface="Courier New"/>
                  <a:ea typeface="Courier New"/>
                </a:rPr>
                <a:t> smtplib.SMTP_SSL(</a:t>
              </a:r>
              <a:r>
                <a:rPr b="0" lang="en" sz="1250" spc="-1" strike="noStrike">
                  <a:solidFill>
                    <a:srgbClr val="d4a017"/>
                  </a:solidFill>
                  <a:latin typeface="Courier New"/>
                  <a:ea typeface="Courier New"/>
                </a:rPr>
                <a:t>"smtp.gmail.com"</a:t>
              </a:r>
              <a:r>
                <a:rPr b="0" lang="en" sz="1250" spc="-1" strike="noStrike">
                  <a:solidFill>
                    <a:srgbClr val="1f2937"/>
                  </a:solidFill>
                  <a:latin typeface="Courier New"/>
                  <a:ea typeface="Courier New"/>
                </a:rPr>
                <a:t>, </a:t>
              </a:r>
              <a:r>
                <a:rPr b="0" lang="en" sz="1250" spc="-1" strike="noStrike">
                  <a:solidFill>
                    <a:srgbClr val="d4a017"/>
                  </a:solidFill>
                  <a:latin typeface="Courier New"/>
                  <a:ea typeface="Courier New"/>
                </a:rPr>
                <a:t>465</a:t>
              </a:r>
              <a:r>
                <a:rPr b="0" lang="en" sz="1250" spc="-1" strike="noStrike">
                  <a:solidFill>
                    <a:srgbClr val="1f2937"/>
                  </a:solidFill>
                  <a:latin typeface="Courier New"/>
                  <a:ea typeface="Courier New"/>
                </a:rPr>
                <a:t>, context=context) </a:t>
              </a:r>
              <a:r>
                <a:rPr b="1" lang="en" sz="1250" spc="-1" strike="noStrike">
                  <a:solidFill>
                    <a:srgbClr val="045a36"/>
                  </a:solidFill>
                  <a:latin typeface="Courier New"/>
                  <a:ea typeface="Courier New"/>
                </a:rPr>
                <a:t>as</a:t>
              </a:r>
              <a:r>
                <a:rPr b="0" lang="en" sz="1250" spc="-1" strike="noStrike">
                  <a:solidFill>
                    <a:srgbClr val="1f2937"/>
                  </a:solidFill>
                  <a:latin typeface="Courier New"/>
                  <a:ea typeface="Courier New"/>
                </a:rPr>
                <a:t> server:</a:t>
              </a:r>
              <a:endParaRPr b="0" lang="en-US" sz="1250" spc="-1" strike="noStrike">
                <a:solidFill>
                  <a:srgbClr val="000000"/>
                </a:solidFill>
                <a:latin typeface="Arial"/>
              </a:endParaRPr>
            </a:p>
            <a:p>
              <a:pPr>
                <a:lnSpc>
                  <a:spcPct val="100000"/>
                </a:lnSpc>
                <a:spcBef>
                  <a:spcPts val="451"/>
                </a:spcBef>
                <a:tabLst>
                  <a:tab algn="l" pos="0"/>
                </a:tabLst>
              </a:pPr>
              <a:r>
                <a:rPr b="0" lang="en" sz="1250" spc="-1" strike="noStrike">
                  <a:solidFill>
                    <a:srgbClr val="1f2937"/>
                  </a:solidFill>
                  <a:latin typeface="Courier New"/>
                  <a:ea typeface="Courier New"/>
                </a:rPr>
                <a:t>server.login(sender_email, password)</a:t>
              </a:r>
              <a:endParaRPr b="0" lang="en-US" sz="1250" spc="-1" strike="noStrike">
                <a:solidFill>
                  <a:srgbClr val="000000"/>
                </a:solidFill>
                <a:latin typeface="Arial"/>
              </a:endParaRPr>
            </a:p>
            <a:p>
              <a:pPr>
                <a:lnSpc>
                  <a:spcPct val="100000"/>
                </a:lnSpc>
                <a:spcBef>
                  <a:spcPts val="451"/>
                </a:spcBef>
                <a:tabLst>
                  <a:tab algn="l" pos="0"/>
                </a:tabLst>
              </a:pPr>
              <a:r>
                <a:rPr b="1" lang="en" sz="1250" spc="-1" strike="noStrike">
                  <a:solidFill>
                    <a:srgbClr val="045a36"/>
                  </a:solidFill>
                  <a:latin typeface="Courier New"/>
                  <a:ea typeface="Courier New"/>
                </a:rPr>
                <a:t>print</a:t>
              </a:r>
              <a:r>
                <a:rPr b="0" lang="en" sz="1250" spc="-1" strike="noStrike">
                  <a:solidFill>
                    <a:srgbClr val="1f2937"/>
                  </a:solidFill>
                  <a:latin typeface="Courier New"/>
                  <a:ea typeface="Courier New"/>
                </a:rPr>
                <a:t>(</a:t>
              </a:r>
              <a:r>
                <a:rPr b="0" lang="en" sz="1250" spc="-1" strike="noStrike">
                  <a:solidFill>
                    <a:srgbClr val="d4a017"/>
                  </a:solidFill>
                  <a:latin typeface="Courier New"/>
                  <a:ea typeface="Courier New"/>
                </a:rPr>
                <a:t>"Connected successfully!"</a:t>
              </a:r>
              <a:r>
                <a:rPr b="0" lang="en" sz="1250" spc="-1" strike="noStrike">
                  <a:solidFill>
                    <a:srgbClr val="1f2937"/>
                  </a:solidFill>
                  <a:latin typeface="Courier New"/>
                  <a:ea typeface="Courier New"/>
                </a:rPr>
                <a:t>)</a:t>
              </a:r>
              <a:endParaRPr b="0" lang="en-US" sz="1250" spc="-1" strike="noStrike">
                <a:solidFill>
                  <a:srgbClr val="000000"/>
                </a:solidFill>
                <a:latin typeface="Arial"/>
              </a:endParaRPr>
            </a:p>
          </p:txBody>
        </p:sp>
      </p:grpSp>
      <p:sp>
        <p:nvSpPr>
          <p:cNvPr id="341" name="Google Shape;398;p24"/>
          <p:cNvSpPr/>
          <p:nvPr/>
        </p:nvSpPr>
        <p:spPr>
          <a:xfrm>
            <a:off x="0" y="0"/>
            <a:ext cx="1238040" cy="342720"/>
          </a:xfrm>
          <a:prstGeom prst="roundRect">
            <a:avLst>
              <a:gd name="adj" fmla="val 50000"/>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342" name="Google Shape;399;p24"/>
          <p:cNvSpPr/>
          <p:nvPr/>
        </p:nvSpPr>
        <p:spPr>
          <a:xfrm>
            <a:off x="0" y="0"/>
            <a:ext cx="1238040" cy="342720"/>
          </a:xfrm>
          <a:prstGeom prst="rect">
            <a:avLst/>
          </a:prstGeom>
          <a:noFill/>
          <a:ln w="0">
            <a:noFill/>
          </a:ln>
        </p:spPr>
        <p:style>
          <a:lnRef idx="0"/>
          <a:fillRef idx="0"/>
          <a:effectRef idx="0"/>
          <a:fontRef idx="minor"/>
        </p:style>
        <p:txBody>
          <a:bodyPr lIns="0" rIns="0" tIns="0" bIns="0" anchor="ctr">
            <a:noAutofit/>
          </a:bodyPr>
          <a:p>
            <a:pPr algn="ctr">
              <a:lnSpc>
                <a:spcPct val="100000"/>
              </a:lnSpc>
              <a:tabLst>
                <a:tab algn="l" pos="0"/>
              </a:tabLst>
            </a:pPr>
            <a:r>
              <a:rPr b="1" lang="en" sz="1000" spc="-1" strike="noStrike">
                <a:solidFill>
                  <a:srgbClr val="ffffff"/>
                </a:solidFill>
                <a:latin typeface="Montserrat"/>
                <a:ea typeface="Montserrat"/>
              </a:rPr>
              <a:t>CONNECT</a:t>
            </a:r>
            <a:endParaRPr b="0" lang="en-US" sz="1000" spc="-1" strike="noStrike">
              <a:solidFill>
                <a:srgbClr val="000000"/>
              </a:solidFill>
              <a:latin typeface="Arial"/>
            </a:endParaRPr>
          </a:p>
        </p:txBody>
      </p:sp>
      <p:sp>
        <p:nvSpPr>
          <p:cNvPr id="343" name="Google Shape;400;p24"/>
          <p:cNvSpPr/>
          <p:nvPr/>
        </p:nvSpPr>
        <p:spPr>
          <a:xfrm>
            <a:off x="1333440" y="114480"/>
            <a:ext cx="190080" cy="114120"/>
          </a:xfrm>
          <a:custGeom>
            <a:avLst/>
            <a:gdLst>
              <a:gd name="textAreaLeft" fmla="*/ 0 w 190080"/>
              <a:gd name="textAreaRight" fmla="*/ 190440 w 190080"/>
              <a:gd name="textAreaTop" fmla="*/ 0 h 114120"/>
              <a:gd name="textAreaBottom" fmla="*/ 114480 h 114120"/>
            </a:gdLst>
            <a:ahLst/>
            <a:rect l="textAreaLeft" t="textAreaTop" r="textAreaRight" b="textAreaBottom"/>
            <a:pathLst>
              <a:path w="120000" h="120000">
                <a:moveTo>
                  <a:pt x="0" y="60000"/>
                </a:moveTo>
                <a:lnTo>
                  <a:pt x="120000" y="60000"/>
                </a:lnTo>
                <a:moveTo>
                  <a:pt x="84000" y="0"/>
                </a:moveTo>
                <a:lnTo>
                  <a:pt x="120000" y="60000"/>
                </a:lnTo>
                <a:lnTo>
                  <a:pt x="84000" y="120000"/>
                </a:lnTo>
              </a:path>
            </a:pathLst>
          </a:custGeom>
          <a:noFill/>
          <a:ln cap="rnd" w="23825">
            <a:solidFill>
              <a:srgbClr val="d4a017"/>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344" name="Google Shape;401;p24"/>
          <p:cNvSpPr/>
          <p:nvPr/>
        </p:nvSpPr>
        <p:spPr>
          <a:xfrm>
            <a:off x="1619280" y="0"/>
            <a:ext cx="1333080" cy="342720"/>
          </a:xfrm>
          <a:prstGeom prst="roundRect">
            <a:avLst>
              <a:gd name="adj" fmla="val 50000"/>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345" name="Google Shape;402;p24"/>
          <p:cNvSpPr/>
          <p:nvPr/>
        </p:nvSpPr>
        <p:spPr>
          <a:xfrm>
            <a:off x="1619280" y="0"/>
            <a:ext cx="1333080" cy="342720"/>
          </a:xfrm>
          <a:prstGeom prst="rect">
            <a:avLst/>
          </a:prstGeom>
          <a:noFill/>
          <a:ln w="0">
            <a:noFill/>
          </a:ln>
        </p:spPr>
        <p:style>
          <a:lnRef idx="0"/>
          <a:fillRef idx="0"/>
          <a:effectRef idx="0"/>
          <a:fontRef idx="minor"/>
        </p:style>
        <p:txBody>
          <a:bodyPr lIns="0" rIns="0" tIns="0" bIns="0" anchor="ctr">
            <a:noAutofit/>
          </a:bodyPr>
          <a:p>
            <a:pPr algn="ctr">
              <a:lnSpc>
                <a:spcPct val="100000"/>
              </a:lnSpc>
              <a:tabLst>
                <a:tab algn="l" pos="0"/>
              </a:tabLst>
            </a:pPr>
            <a:r>
              <a:rPr b="1" lang="en" sz="1000" spc="-1" strike="noStrike">
                <a:solidFill>
                  <a:srgbClr val="ffffff"/>
                </a:solidFill>
                <a:latin typeface="Montserrat"/>
                <a:ea typeface="Montserrat"/>
              </a:rPr>
              <a:t>AUTHENTICATE</a:t>
            </a:r>
            <a:endParaRPr b="0" lang="en-US" sz="1000" spc="-1" strike="noStrike">
              <a:solidFill>
                <a:srgbClr val="000000"/>
              </a:solidFill>
              <a:latin typeface="Arial"/>
            </a:endParaRPr>
          </a:p>
        </p:txBody>
      </p:sp>
      <p:sp>
        <p:nvSpPr>
          <p:cNvPr id="346" name="Google Shape;403;p24"/>
          <p:cNvSpPr/>
          <p:nvPr/>
        </p:nvSpPr>
        <p:spPr>
          <a:xfrm>
            <a:off x="3048120" y="114480"/>
            <a:ext cx="190080" cy="114120"/>
          </a:xfrm>
          <a:custGeom>
            <a:avLst/>
            <a:gdLst>
              <a:gd name="textAreaLeft" fmla="*/ 0 w 190080"/>
              <a:gd name="textAreaRight" fmla="*/ 190440 w 190080"/>
              <a:gd name="textAreaTop" fmla="*/ 0 h 114120"/>
              <a:gd name="textAreaBottom" fmla="*/ 114480 h 114120"/>
            </a:gdLst>
            <a:ahLst/>
            <a:rect l="textAreaLeft" t="textAreaTop" r="textAreaRight" b="textAreaBottom"/>
            <a:pathLst>
              <a:path w="120000" h="120000">
                <a:moveTo>
                  <a:pt x="0" y="60000"/>
                </a:moveTo>
                <a:lnTo>
                  <a:pt x="120000" y="60000"/>
                </a:lnTo>
                <a:moveTo>
                  <a:pt x="84000" y="0"/>
                </a:moveTo>
                <a:lnTo>
                  <a:pt x="120000" y="60000"/>
                </a:lnTo>
                <a:lnTo>
                  <a:pt x="84000" y="120000"/>
                </a:lnTo>
              </a:path>
            </a:pathLst>
          </a:custGeom>
          <a:noFill/>
          <a:ln cap="rnd" w="23825">
            <a:solidFill>
              <a:srgbClr val="d4a017"/>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347" name="Google Shape;404;p24"/>
          <p:cNvSpPr/>
          <p:nvPr/>
        </p:nvSpPr>
        <p:spPr>
          <a:xfrm>
            <a:off x="3333600" y="0"/>
            <a:ext cx="1238040" cy="342720"/>
          </a:xfrm>
          <a:prstGeom prst="roundRect">
            <a:avLst>
              <a:gd name="adj" fmla="val 50000"/>
            </a:avLst>
          </a:prstGeom>
          <a:solidFill>
            <a:srgbClr val="d4a017"/>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348" name="Google Shape;405;p24"/>
          <p:cNvSpPr/>
          <p:nvPr/>
        </p:nvSpPr>
        <p:spPr>
          <a:xfrm>
            <a:off x="3333600" y="0"/>
            <a:ext cx="1238040" cy="342720"/>
          </a:xfrm>
          <a:prstGeom prst="rect">
            <a:avLst/>
          </a:prstGeom>
          <a:noFill/>
          <a:ln w="0">
            <a:noFill/>
          </a:ln>
        </p:spPr>
        <p:style>
          <a:lnRef idx="0"/>
          <a:fillRef idx="0"/>
          <a:effectRef idx="0"/>
          <a:fontRef idx="minor"/>
        </p:style>
        <p:txBody>
          <a:bodyPr lIns="0" rIns="0" tIns="0" bIns="0" anchor="ctr">
            <a:noAutofit/>
          </a:bodyPr>
          <a:p>
            <a:pPr algn="ctr">
              <a:lnSpc>
                <a:spcPct val="100000"/>
              </a:lnSpc>
              <a:tabLst>
                <a:tab algn="l" pos="0"/>
              </a:tabLst>
            </a:pPr>
            <a:r>
              <a:rPr b="1" lang="en" sz="1000" spc="-1" strike="noStrike">
                <a:solidFill>
                  <a:srgbClr val="ffffff"/>
                </a:solidFill>
                <a:latin typeface="Montserrat"/>
                <a:ea typeface="Montserrat"/>
              </a:rPr>
              <a:t>CLOSE</a:t>
            </a:r>
            <a:endParaRPr b="0" lang="en-US" sz="1000" spc="-1" strike="noStrike">
              <a:solidFill>
                <a:srgbClr val="000000"/>
              </a:solidFill>
              <a:latin typeface="Arial"/>
            </a:endParaRPr>
          </a:p>
        </p:txBody>
      </p:sp>
      <p:grpSp>
        <p:nvGrpSpPr>
          <p:cNvPr id="349" name="Google Shape;406;p24"/>
          <p:cNvGrpSpPr/>
          <p:nvPr/>
        </p:nvGrpSpPr>
        <p:grpSpPr>
          <a:xfrm>
            <a:off x="6858000" y="2238480"/>
            <a:ext cx="4571640" cy="1571400"/>
            <a:chOff x="6858000" y="2238480"/>
            <a:chExt cx="4571640" cy="1571400"/>
          </a:xfrm>
        </p:grpSpPr>
        <p:grpSp>
          <p:nvGrpSpPr>
            <p:cNvPr id="350" name="Google Shape;407;p24"/>
            <p:cNvGrpSpPr/>
            <p:nvPr/>
          </p:nvGrpSpPr>
          <p:grpSpPr>
            <a:xfrm>
              <a:off x="6858000" y="2276640"/>
              <a:ext cx="190080" cy="190080"/>
              <a:chOff x="6858000" y="2276640"/>
              <a:chExt cx="190080" cy="190080"/>
            </a:xfrm>
          </p:grpSpPr>
          <p:sp>
            <p:nvSpPr>
              <p:cNvPr id="351" name="Google Shape;408;p24"/>
              <p:cNvSpPr/>
              <p:nvPr/>
            </p:nvSpPr>
            <p:spPr>
              <a:xfrm>
                <a:off x="6858000" y="2276640"/>
                <a:ext cx="190080" cy="19008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352" name="Google Shape;409;p24"/>
              <p:cNvSpPr/>
              <p:nvPr/>
            </p:nvSpPr>
            <p:spPr>
              <a:xfrm>
                <a:off x="6915240" y="2357280"/>
                <a:ext cx="75960" cy="47520"/>
              </a:xfrm>
              <a:custGeom>
                <a:avLst/>
                <a:gdLst>
                  <a:gd name="textAreaLeft" fmla="*/ 0 w 75960"/>
                  <a:gd name="textAreaRight" fmla="*/ 76320 w 75960"/>
                  <a:gd name="textAreaTop" fmla="*/ 0 h 47520"/>
                  <a:gd name="textAreaBottom" fmla="*/ 47880 h 47520"/>
                </a:gdLst>
                <a:ahLst/>
                <a:rect l="textAreaLeft" t="textAreaTop" r="textAreaRight" b="textAreaBottom"/>
                <a:pathLst>
                  <a:path w="120000" h="120000">
                    <a:moveTo>
                      <a:pt x="0" y="48000"/>
                    </a:moveTo>
                    <a:lnTo>
                      <a:pt x="45000"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353" name="Google Shape;410;p24"/>
            <p:cNvSpPr/>
            <p:nvPr/>
          </p:nvSpPr>
          <p:spPr>
            <a:xfrm>
              <a:off x="7191360" y="2238480"/>
              <a:ext cx="4238280" cy="157140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350" spc="-1" strike="noStrike">
                  <a:solidFill>
                    <a:srgbClr val="045a36"/>
                  </a:solidFill>
                  <a:latin typeface="Montserrat"/>
                  <a:ea typeface="Montserrat"/>
                </a:rPr>
                <a:t>Secure Environment &amp; Lifecycle</a:t>
              </a:r>
              <a:endParaRPr b="0" lang="en-US" sz="1350" spc="-1" strike="noStrike">
                <a:solidFill>
                  <a:srgbClr val="000000"/>
                </a:solidFill>
                <a:latin typeface="Arial"/>
              </a:endParaRPr>
            </a:p>
            <a:p>
              <a:pPr>
                <a:lnSpc>
                  <a:spcPct val="100000"/>
                </a:lnSpc>
                <a:spcBef>
                  <a:spcPts val="451"/>
                </a:spcBef>
                <a:tabLst>
                  <a:tab algn="l" pos="0"/>
                </a:tabLst>
              </a:pPr>
              <a:r>
                <a:rPr b="0" lang="en" sz="1150" spc="-1" strike="noStrike">
                  <a:solidFill>
                    <a:srgbClr val="374151"/>
                  </a:solidFill>
                  <a:latin typeface="Inter"/>
                  <a:ea typeface="Inter"/>
                </a:rPr>
                <a:t>The script imports </a:t>
              </a:r>
              <a:r>
                <a:rPr b="0" lang="en" sz="1150" spc="-1" strike="noStrike">
                  <a:solidFill>
                    <a:srgbClr val="045a36"/>
                  </a:solidFill>
                  <a:highlight>
                    <a:srgbClr val="f1f5f9"/>
                  </a:highlight>
                  <a:latin typeface="Arial"/>
                  <a:ea typeface="Arial"/>
                </a:rPr>
                <a:t>smtplib</a:t>
              </a:r>
              <a:r>
                <a:rPr b="0" lang="en" sz="1150" spc="-1" strike="noStrike">
                  <a:solidFill>
                    <a:srgbClr val="374151"/>
                  </a:solidFill>
                  <a:latin typeface="Inter"/>
                  <a:ea typeface="Inter"/>
                </a:rPr>
                <a:t> and </a:t>
              </a:r>
              <a:r>
                <a:rPr b="0" lang="en" sz="1150" spc="-1" strike="noStrike">
                  <a:solidFill>
                    <a:srgbClr val="045a36"/>
                  </a:solidFill>
                  <a:highlight>
                    <a:srgbClr val="f1f5f9"/>
                  </a:highlight>
                  <a:latin typeface="Arial"/>
                  <a:ea typeface="Arial"/>
                </a:rPr>
                <a:t>ssl</a:t>
              </a:r>
              <a:r>
                <a:rPr b="0" lang="en" sz="1150" spc="-1" strike="noStrike">
                  <a:solidFill>
                    <a:srgbClr val="374151"/>
                  </a:solidFill>
                  <a:latin typeface="Inter"/>
                  <a:ea typeface="Inter"/>
                </a:rPr>
                <a:t>, then creates a secure environment using </a:t>
              </a:r>
              <a:r>
                <a:rPr b="0" lang="en" sz="1150" spc="-1" strike="noStrike">
                  <a:solidFill>
                    <a:srgbClr val="045a36"/>
                  </a:solidFill>
                  <a:highlight>
                    <a:srgbClr val="f1f5f9"/>
                  </a:highlight>
                  <a:latin typeface="Arial"/>
                  <a:ea typeface="Arial"/>
                </a:rPr>
                <a:t>context = ssl.create_default_context()</a:t>
              </a:r>
              <a:r>
                <a:rPr b="0" lang="en" sz="1150" spc="-1" strike="noStrike">
                  <a:solidFill>
                    <a:srgbClr val="374151"/>
                  </a:solidFill>
                  <a:latin typeface="Inter"/>
                  <a:ea typeface="Inter"/>
                </a:rPr>
                <a:t>. The </a:t>
              </a:r>
              <a:r>
                <a:rPr b="0" lang="en" sz="1150" spc="-1" strike="noStrike">
                  <a:solidFill>
                    <a:srgbClr val="045a36"/>
                  </a:solidFill>
                  <a:highlight>
                    <a:srgbClr val="f1f5f9"/>
                  </a:highlight>
                  <a:latin typeface="Arial"/>
                  <a:ea typeface="Arial"/>
                </a:rPr>
                <a:t>with</a:t>
              </a:r>
              <a:r>
                <a:rPr b="0" lang="en" sz="1150" spc="-1" strike="noStrike">
                  <a:solidFill>
                    <a:srgbClr val="374151"/>
                  </a:solidFill>
                  <a:latin typeface="Inter"/>
                  <a:ea typeface="Inter"/>
                </a:rPr>
                <a:t> statement is utilized alongside </a:t>
              </a:r>
              <a:r>
                <a:rPr b="0" lang="en" sz="1150" spc="-1" strike="noStrike">
                  <a:solidFill>
                    <a:srgbClr val="045a36"/>
                  </a:solidFill>
                  <a:highlight>
                    <a:srgbClr val="f1f5f9"/>
                  </a:highlight>
                  <a:latin typeface="Arial"/>
                  <a:ea typeface="Arial"/>
                </a:rPr>
                <a:t>smtplib.SMTP_SSL</a:t>
              </a:r>
              <a:r>
                <a:rPr b="0" lang="en" sz="1150" spc="-1" strike="noStrike">
                  <a:solidFill>
                    <a:srgbClr val="374151"/>
                  </a:solidFill>
                  <a:latin typeface="Inter"/>
                  <a:ea typeface="Inter"/>
                </a:rPr>
                <a:t> to ensure the network connection is automatically and safely closed after execution.</a:t>
              </a:r>
              <a:endParaRPr b="0" lang="en-US" sz="1150" spc="-1" strike="noStrike">
                <a:solidFill>
                  <a:srgbClr val="000000"/>
                </a:solidFill>
                <a:latin typeface="Arial"/>
              </a:endParaRPr>
            </a:p>
          </p:txBody>
        </p:sp>
      </p:grpSp>
      <p:grpSp>
        <p:nvGrpSpPr>
          <p:cNvPr id="354" name="Google Shape;411;p24"/>
          <p:cNvGrpSpPr/>
          <p:nvPr/>
        </p:nvGrpSpPr>
        <p:grpSpPr>
          <a:xfrm>
            <a:off x="6858000" y="3905280"/>
            <a:ext cx="4571640" cy="1571400"/>
            <a:chOff x="6858000" y="3905280"/>
            <a:chExt cx="4571640" cy="1571400"/>
          </a:xfrm>
        </p:grpSpPr>
        <p:grpSp>
          <p:nvGrpSpPr>
            <p:cNvPr id="355" name="Google Shape;412;p24"/>
            <p:cNvGrpSpPr/>
            <p:nvPr/>
          </p:nvGrpSpPr>
          <p:grpSpPr>
            <a:xfrm>
              <a:off x="6858000" y="3943440"/>
              <a:ext cx="190080" cy="190080"/>
              <a:chOff x="6858000" y="3943440"/>
              <a:chExt cx="190080" cy="190080"/>
            </a:xfrm>
          </p:grpSpPr>
          <p:sp>
            <p:nvSpPr>
              <p:cNvPr id="356" name="Google Shape;413;p24"/>
              <p:cNvSpPr/>
              <p:nvPr/>
            </p:nvSpPr>
            <p:spPr>
              <a:xfrm>
                <a:off x="6858000" y="3943440"/>
                <a:ext cx="190080" cy="19008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357" name="Google Shape;414;p24"/>
              <p:cNvSpPr/>
              <p:nvPr/>
            </p:nvSpPr>
            <p:spPr>
              <a:xfrm>
                <a:off x="6915240" y="4024440"/>
                <a:ext cx="75960" cy="47520"/>
              </a:xfrm>
              <a:custGeom>
                <a:avLst/>
                <a:gdLst>
                  <a:gd name="textAreaLeft" fmla="*/ 0 w 75960"/>
                  <a:gd name="textAreaRight" fmla="*/ 76320 w 75960"/>
                  <a:gd name="textAreaTop" fmla="*/ 0 h 47520"/>
                  <a:gd name="textAreaBottom" fmla="*/ 47880 h 47520"/>
                </a:gdLst>
                <a:ahLst/>
                <a:rect l="textAreaLeft" t="textAreaTop" r="textAreaRight" b="textAreaBottom"/>
                <a:pathLst>
                  <a:path w="120000" h="120000">
                    <a:moveTo>
                      <a:pt x="0" y="48000"/>
                    </a:moveTo>
                    <a:lnTo>
                      <a:pt x="45000"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358" name="Google Shape;415;p24"/>
            <p:cNvSpPr/>
            <p:nvPr/>
          </p:nvSpPr>
          <p:spPr>
            <a:xfrm>
              <a:off x="7191360" y="3905280"/>
              <a:ext cx="4238280" cy="157140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350" spc="-1" strike="noStrike">
                  <a:solidFill>
                    <a:srgbClr val="045a36"/>
                  </a:solidFill>
                  <a:latin typeface="Montserrat"/>
                  <a:ea typeface="Montserrat"/>
                </a:rPr>
                <a:t>Authentication Flow</a:t>
              </a:r>
              <a:endParaRPr b="0" lang="en-US" sz="1350" spc="-1" strike="noStrike">
                <a:solidFill>
                  <a:srgbClr val="000000"/>
                </a:solidFill>
                <a:latin typeface="Arial"/>
              </a:endParaRPr>
            </a:p>
            <a:p>
              <a:pPr>
                <a:lnSpc>
                  <a:spcPct val="100000"/>
                </a:lnSpc>
                <a:spcBef>
                  <a:spcPts val="451"/>
                </a:spcBef>
                <a:tabLst>
                  <a:tab algn="l" pos="0"/>
                </a:tabLst>
              </a:pPr>
              <a:r>
                <a:rPr b="0" lang="en" sz="1150" spc="-1" strike="noStrike">
                  <a:solidFill>
                    <a:srgbClr val="374151"/>
                  </a:solidFill>
                  <a:latin typeface="Inter"/>
                  <a:ea typeface="Inter"/>
                </a:rPr>
                <a:t>Inside this block, </a:t>
              </a:r>
              <a:r>
                <a:rPr b="0" lang="en" sz="1150" spc="-1" strike="noStrike">
                  <a:solidFill>
                    <a:srgbClr val="045a36"/>
                  </a:solidFill>
                  <a:highlight>
                    <a:srgbClr val="f1f5f9"/>
                  </a:highlight>
                  <a:latin typeface="Arial"/>
                  <a:ea typeface="Arial"/>
                </a:rPr>
                <a:t>server.login()</a:t>
              </a:r>
              <a:r>
                <a:rPr b="0" lang="en" sz="1150" spc="-1" strike="noStrike">
                  <a:solidFill>
                    <a:srgbClr val="374151"/>
                  </a:solidFill>
                  <a:latin typeface="Inter"/>
                  <a:ea typeface="Inter"/>
                </a:rPr>
                <a:t> authenticates the user, followed by a success print statement. The focus here is entirely on the core mechanics: initiating the Connect phase, successfully completing Authenticate, and ensuring a clean Close without sending an email yet.</a:t>
              </a:r>
              <a:endParaRPr b="0" lang="en-US" sz="1150" spc="-1" strike="noStrike">
                <a:solidFill>
                  <a:srgbClr val="000000"/>
                </a:solidFill>
                <a:latin typeface="Arial"/>
              </a:endParaRPr>
            </a:p>
          </p:txBody>
        </p:sp>
      </p:grpSp>
      <p:pic>
        <p:nvPicPr>
          <p:cNvPr id="359" name="Google Shape;416;p24" descr=""/>
          <p:cNvPicPr/>
          <p:nvPr/>
        </p:nvPicPr>
        <p:blipFill>
          <a:blip r:embed="rId3"/>
          <a:stretch/>
        </p:blipFill>
        <p:spPr>
          <a:xfrm>
            <a:off x="762120" y="5981760"/>
            <a:ext cx="10667520" cy="304560"/>
          </a:xfrm>
          <a:prstGeom prst="rect">
            <a:avLst/>
          </a:prstGeom>
          <a:ln w="0">
            <a:noFill/>
          </a:ln>
        </p:spPr>
      </p:pic>
      <p:sp>
        <p:nvSpPr>
          <p:cNvPr id="360" name="Google Shape;417;p24"/>
          <p:cNvSpPr/>
          <p:nvPr/>
        </p:nvSpPr>
        <p:spPr>
          <a:xfrm>
            <a:off x="762120" y="6134040"/>
            <a:ext cx="4762080" cy="19008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980" spc="-1" strike="noStrike">
                <a:solidFill>
                  <a:srgbClr val="6b7280"/>
                </a:solidFill>
                <a:latin typeface="Inter"/>
                <a:ea typeface="Inter"/>
              </a:rPr>
              <a:t>Introduction to Email Automation &amp; SMTP | Python Basics</a:t>
            </a:r>
            <a:endParaRPr b="0" lang="en-US" sz="980" spc="-1" strike="noStrike">
              <a:solidFill>
                <a:srgbClr val="000000"/>
              </a:solidFill>
              <a:latin typeface="Arial"/>
            </a:endParaRPr>
          </a:p>
        </p:txBody>
      </p:sp>
      <p:pic>
        <p:nvPicPr>
          <p:cNvPr id="361" name="Google Shape;418;p24" descr=""/>
          <p:cNvPicPr/>
          <p:nvPr/>
        </p:nvPicPr>
        <p:blipFill>
          <a:blip r:embed="rId4"/>
          <a:stretch/>
        </p:blipFill>
        <p:spPr>
          <a:xfrm>
            <a:off x="10287000" y="5457960"/>
            <a:ext cx="1523520" cy="1019160"/>
          </a:xfrm>
          <a:prstGeom prst="rect">
            <a:avLst/>
          </a:prstGeom>
          <a:ln w="0">
            <a:noFill/>
          </a:ln>
        </p:spPr>
      </p:pic>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pic>
        <p:nvPicPr>
          <p:cNvPr id="362" name="Google Shape;423;p25" descr=""/>
          <p:cNvPicPr/>
          <p:nvPr/>
        </p:nvPicPr>
        <p:blipFill>
          <a:blip r:embed="rId2"/>
          <a:srcRect l="129" t="0" r="129" b="0"/>
          <a:stretch/>
        </p:blipFill>
        <p:spPr>
          <a:xfrm>
            <a:off x="0" y="0"/>
            <a:ext cx="12191760" cy="56880"/>
          </a:xfrm>
          <a:prstGeom prst="rect">
            <a:avLst/>
          </a:prstGeom>
          <a:ln w="0">
            <a:noFill/>
          </a:ln>
        </p:spPr>
      </p:pic>
      <p:sp>
        <p:nvSpPr>
          <p:cNvPr id="363" name="Google Shape;424;p25"/>
          <p:cNvSpPr/>
          <p:nvPr/>
        </p:nvSpPr>
        <p:spPr>
          <a:xfrm>
            <a:off x="762120" y="1123920"/>
            <a:ext cx="10667520" cy="18720"/>
          </a:xfrm>
          <a:prstGeom prst="rect">
            <a:avLst/>
          </a:prstGeom>
          <a:solidFill>
            <a:srgbClr val="e2e8f0"/>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pic>
        <p:nvPicPr>
          <p:cNvPr id="364" name="Google Shape;425;p25" descr=""/>
          <p:cNvPicPr/>
          <p:nvPr/>
        </p:nvPicPr>
        <p:blipFill>
          <a:blip r:embed="rId3"/>
          <a:stretch/>
        </p:blipFill>
        <p:spPr>
          <a:xfrm>
            <a:off x="762120" y="5981760"/>
            <a:ext cx="10667520" cy="304560"/>
          </a:xfrm>
          <a:prstGeom prst="rect">
            <a:avLst/>
          </a:prstGeom>
          <a:ln w="0">
            <a:noFill/>
          </a:ln>
        </p:spPr>
      </p:pic>
      <p:sp>
        <p:nvSpPr>
          <p:cNvPr id="365" name="Google Shape;426;p25"/>
          <p:cNvSpPr/>
          <p:nvPr/>
        </p:nvSpPr>
        <p:spPr>
          <a:xfrm>
            <a:off x="762120" y="6134040"/>
            <a:ext cx="4762080" cy="19008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980" spc="-1" strike="noStrike">
                <a:solidFill>
                  <a:srgbClr val="6b7280"/>
                </a:solidFill>
                <a:latin typeface="Inter"/>
                <a:ea typeface="Inter"/>
              </a:rPr>
              <a:t>Introduction to Email Automation &amp; SMTP | Python Basics</a:t>
            </a:r>
            <a:endParaRPr b="0" lang="en-US" sz="980" spc="-1" strike="noStrike">
              <a:solidFill>
                <a:srgbClr val="000000"/>
              </a:solidFill>
              <a:latin typeface="Arial"/>
            </a:endParaRPr>
          </a:p>
        </p:txBody>
      </p:sp>
      <p:pic>
        <p:nvPicPr>
          <p:cNvPr id="366" name="Google Shape;427;p25" descr=""/>
          <p:cNvPicPr/>
          <p:nvPr/>
        </p:nvPicPr>
        <p:blipFill>
          <a:blip r:embed="rId4"/>
          <a:stretch/>
        </p:blipFill>
        <p:spPr>
          <a:xfrm>
            <a:off x="10287000" y="5457960"/>
            <a:ext cx="1523520" cy="1019160"/>
          </a:xfrm>
          <a:prstGeom prst="rect">
            <a:avLst/>
          </a:prstGeom>
          <a:ln w="0">
            <a:noFill/>
          </a:ln>
        </p:spPr>
      </p:pic>
      <p:grpSp>
        <p:nvGrpSpPr>
          <p:cNvPr id="367" name="Google Shape;428;p25"/>
          <p:cNvGrpSpPr/>
          <p:nvPr/>
        </p:nvGrpSpPr>
        <p:grpSpPr>
          <a:xfrm>
            <a:off x="762120" y="571680"/>
            <a:ext cx="9524520" cy="428400"/>
            <a:chOff x="762120" y="571680"/>
            <a:chExt cx="9524520" cy="428400"/>
          </a:xfrm>
        </p:grpSpPr>
        <p:sp>
          <p:nvSpPr>
            <p:cNvPr id="368" name="Google Shape;429;p25"/>
            <p:cNvSpPr/>
            <p:nvPr/>
          </p:nvSpPr>
          <p:spPr>
            <a:xfrm>
              <a:off x="762120" y="571680"/>
              <a:ext cx="9524520" cy="42840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369" name="Google Shape;430;p25"/>
            <p:cNvSpPr/>
            <p:nvPr/>
          </p:nvSpPr>
          <p:spPr>
            <a:xfrm>
              <a:off x="762120" y="571680"/>
              <a:ext cx="9524520" cy="42840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2700" spc="-1" strike="noStrike">
                  <a:solidFill>
                    <a:srgbClr val="045a36"/>
                  </a:solidFill>
                  <a:latin typeface="Montserrat SemiBold"/>
                  <a:ea typeface="Montserrat SemiBold"/>
                </a:rPr>
                <a:t>Build &amp; Verify First Secure SMTP Connection</a:t>
              </a:r>
              <a:endParaRPr b="0" lang="en-US" sz="2700" spc="-1" strike="noStrike">
                <a:solidFill>
                  <a:srgbClr val="000000"/>
                </a:solidFill>
                <a:latin typeface="Arial"/>
              </a:endParaRPr>
            </a:p>
          </p:txBody>
        </p:sp>
      </p:grpSp>
      <p:grpSp>
        <p:nvGrpSpPr>
          <p:cNvPr id="370" name="Google Shape;431;p25"/>
          <p:cNvGrpSpPr/>
          <p:nvPr/>
        </p:nvGrpSpPr>
        <p:grpSpPr>
          <a:xfrm>
            <a:off x="762120" y="1428840"/>
            <a:ext cx="5905080" cy="857160"/>
            <a:chOff x="762120" y="1428840"/>
            <a:chExt cx="5905080" cy="857160"/>
          </a:xfrm>
        </p:grpSpPr>
        <p:sp>
          <p:nvSpPr>
            <p:cNvPr id="371" name="Google Shape;432;p25"/>
            <p:cNvSpPr/>
            <p:nvPr/>
          </p:nvSpPr>
          <p:spPr>
            <a:xfrm>
              <a:off x="762120" y="1428840"/>
              <a:ext cx="5905080" cy="23796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100" spc="-1" strike="noStrike">
                  <a:solidFill>
                    <a:srgbClr val="d4a017"/>
                  </a:solidFill>
                  <a:latin typeface="Inter"/>
                  <a:ea typeface="Inter"/>
                </a:rPr>
                <a:t>Lecture 1 Mini Task</a:t>
              </a:r>
              <a:endParaRPr b="0" lang="en-US" sz="1100" spc="-1" strike="noStrike">
                <a:solidFill>
                  <a:srgbClr val="000000"/>
                </a:solidFill>
                <a:latin typeface="Arial"/>
              </a:endParaRPr>
            </a:p>
          </p:txBody>
        </p:sp>
        <p:sp>
          <p:nvSpPr>
            <p:cNvPr id="372" name="Google Shape;433;p25"/>
            <p:cNvSpPr/>
            <p:nvPr/>
          </p:nvSpPr>
          <p:spPr>
            <a:xfrm>
              <a:off x="762120" y="1714680"/>
              <a:ext cx="5905080" cy="5713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350" spc="-1" strike="noStrike">
                  <a:solidFill>
                    <a:srgbClr val="374151"/>
                  </a:solidFill>
                  <a:latin typeface="Inter"/>
                  <a:ea typeface="Inter"/>
                </a:rPr>
                <a:t>Students will create a functional Python program from scratch that validates their environment setup.</a:t>
              </a:r>
              <a:endParaRPr b="0" lang="en-US" sz="1350" spc="-1" strike="noStrike">
                <a:solidFill>
                  <a:srgbClr val="000000"/>
                </a:solidFill>
                <a:latin typeface="Arial"/>
              </a:endParaRPr>
            </a:p>
          </p:txBody>
        </p:sp>
      </p:grpSp>
      <p:grpSp>
        <p:nvGrpSpPr>
          <p:cNvPr id="373" name="Google Shape;434;p25"/>
          <p:cNvGrpSpPr/>
          <p:nvPr/>
        </p:nvGrpSpPr>
        <p:grpSpPr>
          <a:xfrm>
            <a:off x="762120" y="2428920"/>
            <a:ext cx="5905080" cy="2523960"/>
            <a:chOff x="762120" y="2428920"/>
            <a:chExt cx="5905080" cy="2523960"/>
          </a:xfrm>
        </p:grpSpPr>
        <p:grpSp>
          <p:nvGrpSpPr>
            <p:cNvPr id="374" name="Google Shape;435;p25"/>
            <p:cNvGrpSpPr/>
            <p:nvPr/>
          </p:nvGrpSpPr>
          <p:grpSpPr>
            <a:xfrm>
              <a:off x="762120" y="2476440"/>
              <a:ext cx="190080" cy="190080"/>
              <a:chOff x="762120" y="2476440"/>
              <a:chExt cx="190080" cy="190080"/>
            </a:xfrm>
          </p:grpSpPr>
          <p:sp>
            <p:nvSpPr>
              <p:cNvPr id="375" name="Google Shape;436;p25"/>
              <p:cNvSpPr/>
              <p:nvPr/>
            </p:nvSpPr>
            <p:spPr>
              <a:xfrm>
                <a:off x="762120" y="2476440"/>
                <a:ext cx="190080" cy="19008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376" name="Google Shape;437;p25"/>
              <p:cNvSpPr/>
              <p:nvPr/>
            </p:nvSpPr>
            <p:spPr>
              <a:xfrm>
                <a:off x="819000" y="2557440"/>
                <a:ext cx="75960" cy="47520"/>
              </a:xfrm>
              <a:custGeom>
                <a:avLst/>
                <a:gdLst>
                  <a:gd name="textAreaLeft" fmla="*/ 0 w 75960"/>
                  <a:gd name="textAreaRight" fmla="*/ 76320 w 75960"/>
                  <a:gd name="textAreaTop" fmla="*/ 0 h 47520"/>
                  <a:gd name="textAreaBottom" fmla="*/ 47880 h 47520"/>
                </a:gdLst>
                <a:ahLst/>
                <a:rect l="textAreaLeft" t="textAreaTop" r="textAreaRight" b="textAreaBottom"/>
                <a:pathLst>
                  <a:path w="120000" h="120000">
                    <a:moveTo>
                      <a:pt x="0" y="47987"/>
                    </a:moveTo>
                    <a:lnTo>
                      <a:pt x="45000"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377" name="Google Shape;438;p25"/>
            <p:cNvSpPr/>
            <p:nvPr/>
          </p:nvSpPr>
          <p:spPr>
            <a:xfrm>
              <a:off x="1095480" y="2428920"/>
              <a:ext cx="5571720" cy="42840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350" spc="-1" strike="noStrike">
                  <a:solidFill>
                    <a:srgbClr val="374151"/>
                  </a:solidFill>
                  <a:latin typeface="Inter"/>
                  <a:ea typeface="Inter"/>
                </a:rPr>
                <a:t>Imports </a:t>
              </a:r>
              <a:r>
                <a:rPr b="0" lang="en" sz="1350" spc="-1" strike="noStrike">
                  <a:solidFill>
                    <a:srgbClr val="045a36"/>
                  </a:solidFill>
                  <a:latin typeface="Inter SemiBold"/>
                  <a:ea typeface="Inter SemiBold"/>
                </a:rPr>
                <a:t>smtplib</a:t>
              </a:r>
              <a:r>
                <a:rPr b="0" lang="en" sz="1350" spc="-1" strike="noStrike">
                  <a:solidFill>
                    <a:srgbClr val="374151"/>
                  </a:solidFill>
                  <a:latin typeface="Inter"/>
                  <a:ea typeface="Inter"/>
                </a:rPr>
                <a:t> to access the networking tools.</a:t>
              </a:r>
              <a:endParaRPr b="0" lang="en-US" sz="1350" spc="-1" strike="noStrike">
                <a:solidFill>
                  <a:srgbClr val="000000"/>
                </a:solidFill>
                <a:latin typeface="Arial"/>
              </a:endParaRPr>
            </a:p>
          </p:txBody>
        </p:sp>
        <p:grpSp>
          <p:nvGrpSpPr>
            <p:cNvPr id="378" name="Google Shape;439;p25"/>
            <p:cNvGrpSpPr/>
            <p:nvPr/>
          </p:nvGrpSpPr>
          <p:grpSpPr>
            <a:xfrm>
              <a:off x="762120" y="3000240"/>
              <a:ext cx="190080" cy="190080"/>
              <a:chOff x="762120" y="3000240"/>
              <a:chExt cx="190080" cy="190080"/>
            </a:xfrm>
          </p:grpSpPr>
          <p:sp>
            <p:nvSpPr>
              <p:cNvPr id="379" name="Google Shape;440;p25"/>
              <p:cNvSpPr/>
              <p:nvPr/>
            </p:nvSpPr>
            <p:spPr>
              <a:xfrm>
                <a:off x="762120" y="3000240"/>
                <a:ext cx="190080" cy="19008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380" name="Google Shape;441;p25"/>
              <p:cNvSpPr/>
              <p:nvPr/>
            </p:nvSpPr>
            <p:spPr>
              <a:xfrm>
                <a:off x="819000" y="3081240"/>
                <a:ext cx="75960" cy="47520"/>
              </a:xfrm>
              <a:custGeom>
                <a:avLst/>
                <a:gdLst>
                  <a:gd name="textAreaLeft" fmla="*/ 0 w 75960"/>
                  <a:gd name="textAreaRight" fmla="*/ 76320 w 75960"/>
                  <a:gd name="textAreaTop" fmla="*/ 0 h 47520"/>
                  <a:gd name="textAreaBottom" fmla="*/ 47880 h 47520"/>
                </a:gdLst>
                <a:ahLst/>
                <a:rect l="textAreaLeft" t="textAreaTop" r="textAreaRight" b="textAreaBottom"/>
                <a:pathLst>
                  <a:path w="120000" h="120000">
                    <a:moveTo>
                      <a:pt x="0" y="47987"/>
                    </a:moveTo>
                    <a:lnTo>
                      <a:pt x="45000"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381" name="Google Shape;442;p25"/>
            <p:cNvSpPr/>
            <p:nvPr/>
          </p:nvSpPr>
          <p:spPr>
            <a:xfrm>
              <a:off x="1095480" y="2952720"/>
              <a:ext cx="5571720" cy="42840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350" spc="-1" strike="noStrike">
                  <a:solidFill>
                    <a:srgbClr val="374151"/>
                  </a:solidFill>
                  <a:latin typeface="Inter"/>
                  <a:ea typeface="Inter"/>
                </a:rPr>
                <a:t>Creates an </a:t>
              </a:r>
              <a:r>
                <a:rPr b="0" lang="en" sz="1350" spc="-1" strike="noStrike">
                  <a:solidFill>
                    <a:srgbClr val="045a36"/>
                  </a:solidFill>
                  <a:latin typeface="Inter SemiBold"/>
                  <a:ea typeface="Inter SemiBold"/>
                </a:rPr>
                <a:t>SSL context</a:t>
              </a:r>
              <a:r>
                <a:rPr b="0" lang="en" sz="1350" spc="-1" strike="noStrike">
                  <a:solidFill>
                    <a:srgbClr val="374151"/>
                  </a:solidFill>
                  <a:latin typeface="Inter"/>
                  <a:ea typeface="Inter"/>
                </a:rPr>
                <a:t> to guarantee connection security.</a:t>
              </a:r>
              <a:endParaRPr b="0" lang="en-US" sz="1350" spc="-1" strike="noStrike">
                <a:solidFill>
                  <a:srgbClr val="000000"/>
                </a:solidFill>
                <a:latin typeface="Arial"/>
              </a:endParaRPr>
            </a:p>
          </p:txBody>
        </p:sp>
        <p:grpSp>
          <p:nvGrpSpPr>
            <p:cNvPr id="382" name="Google Shape;443;p25"/>
            <p:cNvGrpSpPr/>
            <p:nvPr/>
          </p:nvGrpSpPr>
          <p:grpSpPr>
            <a:xfrm>
              <a:off x="762120" y="3524400"/>
              <a:ext cx="190080" cy="190080"/>
              <a:chOff x="762120" y="3524400"/>
              <a:chExt cx="190080" cy="190080"/>
            </a:xfrm>
          </p:grpSpPr>
          <p:sp>
            <p:nvSpPr>
              <p:cNvPr id="383" name="Google Shape;444;p25"/>
              <p:cNvSpPr/>
              <p:nvPr/>
            </p:nvSpPr>
            <p:spPr>
              <a:xfrm>
                <a:off x="762120" y="3524400"/>
                <a:ext cx="190080" cy="19008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384" name="Google Shape;445;p25"/>
              <p:cNvSpPr/>
              <p:nvPr/>
            </p:nvSpPr>
            <p:spPr>
              <a:xfrm>
                <a:off x="819000" y="3605400"/>
                <a:ext cx="75960" cy="47520"/>
              </a:xfrm>
              <a:custGeom>
                <a:avLst/>
                <a:gdLst>
                  <a:gd name="textAreaLeft" fmla="*/ 0 w 75960"/>
                  <a:gd name="textAreaRight" fmla="*/ 76320 w 75960"/>
                  <a:gd name="textAreaTop" fmla="*/ 0 h 47520"/>
                  <a:gd name="textAreaBottom" fmla="*/ 47880 h 47520"/>
                </a:gdLst>
                <a:ahLst/>
                <a:rect l="textAreaLeft" t="textAreaTop" r="textAreaRight" b="textAreaBottom"/>
                <a:pathLst>
                  <a:path w="120000" h="120000">
                    <a:moveTo>
                      <a:pt x="0" y="47987"/>
                    </a:moveTo>
                    <a:lnTo>
                      <a:pt x="45000"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385" name="Google Shape;446;p25"/>
            <p:cNvSpPr/>
            <p:nvPr/>
          </p:nvSpPr>
          <p:spPr>
            <a:xfrm>
              <a:off x="1095480" y="3476520"/>
              <a:ext cx="5571720" cy="42840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350" spc="-1" strike="noStrike">
                  <a:solidFill>
                    <a:srgbClr val="374151"/>
                  </a:solidFill>
                  <a:latin typeface="Inter"/>
                  <a:ea typeface="Inter"/>
                </a:rPr>
                <a:t>Connects to </a:t>
              </a:r>
              <a:r>
                <a:rPr b="0" lang="en" sz="1350" spc="-1" strike="noStrike">
                  <a:solidFill>
                    <a:srgbClr val="045a36"/>
                  </a:solidFill>
                  <a:latin typeface="Inter SemiBold"/>
                  <a:ea typeface="Inter SemiBold"/>
                </a:rPr>
                <a:t>Gmail SMTP</a:t>
              </a:r>
              <a:r>
                <a:rPr b="0" lang="en" sz="1350" spc="-1" strike="noStrike">
                  <a:solidFill>
                    <a:srgbClr val="374151"/>
                  </a:solidFill>
                  <a:latin typeface="Inter"/>
                  <a:ea typeface="Inter"/>
                </a:rPr>
                <a:t> using the correct server address and port.</a:t>
              </a:r>
              <a:endParaRPr b="0" lang="en-US" sz="1350" spc="-1" strike="noStrike">
                <a:solidFill>
                  <a:srgbClr val="000000"/>
                </a:solidFill>
                <a:latin typeface="Arial"/>
              </a:endParaRPr>
            </a:p>
          </p:txBody>
        </p:sp>
        <p:grpSp>
          <p:nvGrpSpPr>
            <p:cNvPr id="386" name="Google Shape;447;p25"/>
            <p:cNvGrpSpPr/>
            <p:nvPr/>
          </p:nvGrpSpPr>
          <p:grpSpPr>
            <a:xfrm>
              <a:off x="762120" y="4048200"/>
              <a:ext cx="190080" cy="190080"/>
              <a:chOff x="762120" y="4048200"/>
              <a:chExt cx="190080" cy="190080"/>
            </a:xfrm>
          </p:grpSpPr>
          <p:sp>
            <p:nvSpPr>
              <p:cNvPr id="387" name="Google Shape;448;p25"/>
              <p:cNvSpPr/>
              <p:nvPr/>
            </p:nvSpPr>
            <p:spPr>
              <a:xfrm>
                <a:off x="762120" y="4048200"/>
                <a:ext cx="190080" cy="19008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388" name="Google Shape;449;p25"/>
              <p:cNvSpPr/>
              <p:nvPr/>
            </p:nvSpPr>
            <p:spPr>
              <a:xfrm>
                <a:off x="819000" y="4129200"/>
                <a:ext cx="75960" cy="47520"/>
              </a:xfrm>
              <a:custGeom>
                <a:avLst/>
                <a:gdLst>
                  <a:gd name="textAreaLeft" fmla="*/ 0 w 75960"/>
                  <a:gd name="textAreaRight" fmla="*/ 76320 w 75960"/>
                  <a:gd name="textAreaTop" fmla="*/ 0 h 47520"/>
                  <a:gd name="textAreaBottom" fmla="*/ 47880 h 47520"/>
                </a:gdLst>
                <a:ahLst/>
                <a:rect l="textAreaLeft" t="textAreaTop" r="textAreaRight" b="textAreaBottom"/>
                <a:pathLst>
                  <a:path w="120000" h="120000">
                    <a:moveTo>
                      <a:pt x="0" y="47987"/>
                    </a:moveTo>
                    <a:lnTo>
                      <a:pt x="45000"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389" name="Google Shape;450;p25"/>
            <p:cNvSpPr/>
            <p:nvPr/>
          </p:nvSpPr>
          <p:spPr>
            <a:xfrm>
              <a:off x="1095480" y="4000680"/>
              <a:ext cx="5571720" cy="42840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350" spc="-1" strike="noStrike">
                  <a:solidFill>
                    <a:srgbClr val="374151"/>
                  </a:solidFill>
                  <a:latin typeface="Inter"/>
                  <a:ea typeface="Inter"/>
                </a:rPr>
                <a:t>Logs in using the student's designated testing email and </a:t>
              </a:r>
              <a:r>
                <a:rPr b="0" lang="en" sz="1350" spc="-1" strike="noStrike">
                  <a:solidFill>
                    <a:srgbClr val="045a36"/>
                  </a:solidFill>
                  <a:latin typeface="Inter SemiBold"/>
                  <a:ea typeface="Inter SemiBold"/>
                </a:rPr>
                <a:t>App Password</a:t>
              </a:r>
              <a:r>
                <a:rPr b="0" lang="en" sz="1350" spc="-1" strike="noStrike">
                  <a:solidFill>
                    <a:srgbClr val="374151"/>
                  </a:solidFill>
                  <a:latin typeface="Inter"/>
                  <a:ea typeface="Inter"/>
                </a:rPr>
                <a:t>.</a:t>
              </a:r>
              <a:endParaRPr b="0" lang="en-US" sz="1350" spc="-1" strike="noStrike">
                <a:solidFill>
                  <a:srgbClr val="000000"/>
                </a:solidFill>
                <a:latin typeface="Arial"/>
              </a:endParaRPr>
            </a:p>
          </p:txBody>
        </p:sp>
        <p:grpSp>
          <p:nvGrpSpPr>
            <p:cNvPr id="390" name="Google Shape;451;p25"/>
            <p:cNvGrpSpPr/>
            <p:nvPr/>
          </p:nvGrpSpPr>
          <p:grpSpPr>
            <a:xfrm>
              <a:off x="762120" y="4572000"/>
              <a:ext cx="190080" cy="190080"/>
              <a:chOff x="762120" y="4572000"/>
              <a:chExt cx="190080" cy="190080"/>
            </a:xfrm>
          </p:grpSpPr>
          <p:sp>
            <p:nvSpPr>
              <p:cNvPr id="391" name="Google Shape;452;p25"/>
              <p:cNvSpPr/>
              <p:nvPr/>
            </p:nvSpPr>
            <p:spPr>
              <a:xfrm>
                <a:off x="762120" y="4572000"/>
                <a:ext cx="190080" cy="19008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392" name="Google Shape;453;p25"/>
              <p:cNvSpPr/>
              <p:nvPr/>
            </p:nvSpPr>
            <p:spPr>
              <a:xfrm>
                <a:off x="819000" y="4653000"/>
                <a:ext cx="75960" cy="47520"/>
              </a:xfrm>
              <a:custGeom>
                <a:avLst/>
                <a:gdLst>
                  <a:gd name="textAreaLeft" fmla="*/ 0 w 75960"/>
                  <a:gd name="textAreaRight" fmla="*/ 76320 w 75960"/>
                  <a:gd name="textAreaTop" fmla="*/ 0 h 47520"/>
                  <a:gd name="textAreaBottom" fmla="*/ 47880 h 47520"/>
                </a:gdLst>
                <a:ahLst/>
                <a:rect l="textAreaLeft" t="textAreaTop" r="textAreaRight" b="textAreaBottom"/>
                <a:pathLst>
                  <a:path w="120000" h="120000">
                    <a:moveTo>
                      <a:pt x="0" y="47987"/>
                    </a:moveTo>
                    <a:lnTo>
                      <a:pt x="45000"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393" name="Google Shape;454;p25"/>
            <p:cNvSpPr/>
            <p:nvPr/>
          </p:nvSpPr>
          <p:spPr>
            <a:xfrm>
              <a:off x="1095480" y="4524480"/>
              <a:ext cx="5571720" cy="42840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350" spc="-1" strike="noStrike">
                  <a:solidFill>
                    <a:srgbClr val="374151"/>
                  </a:solidFill>
                  <a:latin typeface="Inter"/>
                  <a:ea typeface="Inter"/>
                </a:rPr>
                <a:t>Prints </a:t>
              </a:r>
              <a:r>
                <a:rPr b="0" lang="en" sz="1350" spc="-1" strike="noStrike">
                  <a:solidFill>
                    <a:srgbClr val="045a36"/>
                  </a:solidFill>
                  <a:latin typeface="Inter SemiBold"/>
                  <a:ea typeface="Inter SemiBold"/>
                </a:rPr>
                <a:t>"SMTP Login Successful"</a:t>
              </a:r>
              <a:r>
                <a:rPr b="0" lang="en" sz="1350" spc="-1" strike="noStrike">
                  <a:solidFill>
                    <a:srgbClr val="374151"/>
                  </a:solidFill>
                  <a:latin typeface="Inter"/>
                  <a:ea typeface="Inter"/>
                </a:rPr>
                <a:t> to the console upon completion.</a:t>
              </a:r>
              <a:endParaRPr b="0" lang="en-US" sz="1350" spc="-1" strike="noStrike">
                <a:solidFill>
                  <a:srgbClr val="000000"/>
                </a:solidFill>
                <a:latin typeface="Arial"/>
              </a:endParaRPr>
            </a:p>
          </p:txBody>
        </p:sp>
      </p:grpSp>
      <p:grpSp>
        <p:nvGrpSpPr>
          <p:cNvPr id="394" name="Google Shape;455;p25"/>
          <p:cNvGrpSpPr/>
          <p:nvPr/>
        </p:nvGrpSpPr>
        <p:grpSpPr>
          <a:xfrm>
            <a:off x="7048440" y="1523880"/>
            <a:ext cx="4381200" cy="1714320"/>
            <a:chOff x="7048440" y="1523880"/>
            <a:chExt cx="4381200" cy="1714320"/>
          </a:xfrm>
        </p:grpSpPr>
        <p:sp>
          <p:nvSpPr>
            <p:cNvPr id="395" name="Google Shape;456;p25"/>
            <p:cNvSpPr/>
            <p:nvPr/>
          </p:nvSpPr>
          <p:spPr>
            <a:xfrm>
              <a:off x="7048440" y="1523880"/>
              <a:ext cx="4381200" cy="1714320"/>
            </a:xfrm>
            <a:prstGeom prst="roundRect">
              <a:avLst>
                <a:gd name="adj" fmla="val 4444"/>
              </a:avLst>
            </a:prstGeom>
            <a:solidFill>
              <a:srgbClr val="fffdf5"/>
            </a:solidFill>
            <a:ln w="19050">
              <a:solidFill>
                <a:srgbClr val="d4a017"/>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396" name="Google Shape;457;p25"/>
            <p:cNvSpPr/>
            <p:nvPr/>
          </p:nvSpPr>
          <p:spPr>
            <a:xfrm>
              <a:off x="7048440" y="1523880"/>
              <a:ext cx="56880" cy="1714320"/>
            </a:xfrm>
            <a:prstGeom prst="roundRect">
              <a:avLst>
                <a:gd name="adj" fmla="val 0"/>
              </a:avLst>
            </a:prstGeom>
            <a:solidFill>
              <a:srgbClr val="d4a017"/>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397" name="Google Shape;458;p25"/>
            <p:cNvSpPr/>
            <p:nvPr/>
          </p:nvSpPr>
          <p:spPr>
            <a:xfrm>
              <a:off x="7286760" y="1740960"/>
              <a:ext cx="285480" cy="285480"/>
            </a:xfrm>
            <a:prstGeom prst="rect">
              <a:avLst/>
            </a:prstGeom>
            <a:noFill/>
            <a:ln w="0">
              <a:noFill/>
            </a:ln>
          </p:spPr>
          <p:style>
            <a:lnRef idx="0"/>
            <a:fillRef idx="0"/>
            <a:effectRef idx="0"/>
            <a:fontRef idx="minor"/>
          </p:style>
          <p:txBody>
            <a:bodyPr lIns="0" rIns="0" tIns="0" bIns="0" anchor="ctr">
              <a:noAutofit/>
            </a:bodyPr>
            <a:p>
              <a:pPr algn="ctr">
                <a:lnSpc>
                  <a:spcPct val="100000"/>
                </a:lnSpc>
                <a:tabLst>
                  <a:tab algn="l" pos="0"/>
                </a:tabLst>
              </a:pPr>
              <a:r>
                <a:rPr b="0" lang="en" sz="1800" spc="-1" strike="noStrike">
                  <a:solidFill>
                    <a:srgbClr val="d4a017"/>
                  </a:solidFill>
                  <a:latin typeface="Material Icons"/>
                  <a:ea typeface="Material Icons"/>
                </a:rPr>
                <a:t>warning</a:t>
              </a:r>
              <a:endParaRPr b="0" lang="en-US" sz="1800" spc="-1" strike="noStrike">
                <a:solidFill>
                  <a:srgbClr val="000000"/>
                </a:solidFill>
                <a:latin typeface="Arial"/>
              </a:endParaRPr>
            </a:p>
          </p:txBody>
        </p:sp>
        <p:sp>
          <p:nvSpPr>
            <p:cNvPr id="398" name="Google Shape;459;p25"/>
            <p:cNvSpPr/>
            <p:nvPr/>
          </p:nvSpPr>
          <p:spPr>
            <a:xfrm>
              <a:off x="7667640" y="1714680"/>
              <a:ext cx="3524040" cy="285480"/>
            </a:xfrm>
            <a:prstGeom prst="rect">
              <a:avLst/>
            </a:prstGeom>
            <a:noFill/>
            <a:ln w="0">
              <a:noFill/>
            </a:ln>
          </p:spPr>
          <p:style>
            <a:lnRef idx="0"/>
            <a:fillRef idx="0"/>
            <a:effectRef idx="0"/>
            <a:fontRef idx="minor"/>
          </p:style>
          <p:txBody>
            <a:bodyPr lIns="0" rIns="0" tIns="0" bIns="0" anchor="t">
              <a:noAutofit/>
            </a:bodyPr>
            <a:p>
              <a:pPr algn="ctr">
                <a:lnSpc>
                  <a:spcPct val="100000"/>
                </a:lnSpc>
                <a:tabLst>
                  <a:tab algn="l" pos="0"/>
                </a:tabLst>
              </a:pPr>
              <a:r>
                <a:rPr b="1" lang="en" sz="1100" spc="-1" strike="noStrike">
                  <a:solidFill>
                    <a:srgbClr val="d4a017"/>
                  </a:solidFill>
                  <a:latin typeface="Inter"/>
                  <a:ea typeface="Inter"/>
                </a:rPr>
                <a:t>Task Safety Constraint</a:t>
              </a:r>
              <a:endParaRPr b="0" lang="en-US" sz="1100" spc="-1" strike="noStrike">
                <a:solidFill>
                  <a:srgbClr val="000000"/>
                </a:solidFill>
                <a:latin typeface="Arial"/>
              </a:endParaRPr>
            </a:p>
          </p:txBody>
        </p:sp>
        <p:sp>
          <p:nvSpPr>
            <p:cNvPr id="399" name="Google Shape;460;p25"/>
            <p:cNvSpPr/>
            <p:nvPr/>
          </p:nvSpPr>
          <p:spPr>
            <a:xfrm>
              <a:off x="7286760" y="2095560"/>
              <a:ext cx="3904920" cy="104760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150" spc="-1" strike="noStrike">
                  <a:solidFill>
                    <a:srgbClr val="d4a017"/>
                  </a:solidFill>
                  <a:latin typeface="Inter"/>
                  <a:ea typeface="Inter"/>
                </a:rPr>
                <a:t>Note:</a:t>
              </a:r>
              <a:r>
                <a:rPr b="0" lang="en" sz="1150" spc="-1" strike="noStrike">
                  <a:solidFill>
                    <a:srgbClr val="374151"/>
                  </a:solidFill>
                  <a:latin typeface="Inter"/>
                  <a:ea typeface="Inter"/>
                </a:rPr>
                <a:t> Do not attempt to send an email during this task. The objective is to establish a clear endpoint for Lecture 1 by mastering the connection and authentication mechanics first.</a:t>
              </a:r>
              <a:endParaRPr b="0" lang="en-US" sz="1150" spc="-1" strike="noStrike">
                <a:solidFill>
                  <a:srgbClr val="000000"/>
                </a:solidFill>
                <a:latin typeface="Arial"/>
              </a:endParaRPr>
            </a:p>
          </p:txBody>
        </p:sp>
      </p:grpSp>
      <p:grpSp>
        <p:nvGrpSpPr>
          <p:cNvPr id="400" name="Google Shape;461;p25"/>
          <p:cNvGrpSpPr/>
          <p:nvPr/>
        </p:nvGrpSpPr>
        <p:grpSpPr>
          <a:xfrm>
            <a:off x="7048440" y="3429000"/>
            <a:ext cx="4381560" cy="1761840"/>
            <a:chOff x="7048440" y="3429000"/>
            <a:chExt cx="4381560" cy="1761840"/>
          </a:xfrm>
        </p:grpSpPr>
        <p:sp>
          <p:nvSpPr>
            <p:cNvPr id="401" name="Google Shape;462;p25"/>
            <p:cNvSpPr/>
            <p:nvPr/>
          </p:nvSpPr>
          <p:spPr>
            <a:xfrm>
              <a:off x="7048440" y="3429000"/>
              <a:ext cx="4381200" cy="1761840"/>
            </a:xfrm>
            <a:prstGeom prst="roundRect">
              <a:avLst>
                <a:gd name="adj" fmla="val 4324"/>
              </a:avLst>
            </a:prstGeom>
            <a:solidFill>
              <a:srgbClr val="0f172a"/>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402" name="Google Shape;463;p25"/>
            <p:cNvSpPr/>
            <p:nvPr/>
          </p:nvSpPr>
          <p:spPr>
            <a:xfrm>
              <a:off x="7238880" y="3591000"/>
              <a:ext cx="95040" cy="95040"/>
            </a:xfrm>
            <a:prstGeom prst="ellipse">
              <a:avLst/>
            </a:prstGeom>
            <a:solidFill>
              <a:srgbClr val="ef4444"/>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403" name="Google Shape;464;p25"/>
            <p:cNvSpPr/>
            <p:nvPr/>
          </p:nvSpPr>
          <p:spPr>
            <a:xfrm>
              <a:off x="7391520" y="3591000"/>
              <a:ext cx="95040" cy="95040"/>
            </a:xfrm>
            <a:prstGeom prst="ellipse">
              <a:avLst/>
            </a:prstGeom>
            <a:solidFill>
              <a:srgbClr val="f59e0b"/>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404" name="Google Shape;465;p25"/>
            <p:cNvSpPr/>
            <p:nvPr/>
          </p:nvSpPr>
          <p:spPr>
            <a:xfrm>
              <a:off x="7543800" y="3591000"/>
              <a:ext cx="95040" cy="95040"/>
            </a:xfrm>
            <a:prstGeom prst="ellipse">
              <a:avLst/>
            </a:prstGeom>
            <a:solidFill>
              <a:srgbClr val="10b981"/>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405" name="Google Shape;466;p25"/>
            <p:cNvSpPr/>
            <p:nvPr/>
          </p:nvSpPr>
          <p:spPr>
            <a:xfrm>
              <a:off x="7763040" y="3543480"/>
              <a:ext cx="3428640" cy="190080"/>
            </a:xfrm>
            <a:prstGeom prst="rect">
              <a:avLst/>
            </a:prstGeom>
            <a:noFill/>
            <a:ln w="0">
              <a:noFill/>
            </a:ln>
          </p:spPr>
          <p:style>
            <a:lnRef idx="0"/>
            <a:fillRef idx="0"/>
            <a:effectRef idx="0"/>
            <a:fontRef idx="minor"/>
          </p:style>
          <p:txBody>
            <a:bodyPr lIns="0" rIns="0" tIns="0" bIns="0" anchor="ctr">
              <a:noAutofit/>
            </a:bodyPr>
            <a:p>
              <a:pPr algn="ctr">
                <a:lnSpc>
                  <a:spcPct val="100000"/>
                </a:lnSpc>
                <a:tabLst>
                  <a:tab algn="l" pos="0"/>
                </a:tabLst>
              </a:pPr>
              <a:r>
                <a:rPr b="0" lang="en" sz="900" spc="-1" strike="noStrike">
                  <a:solidFill>
                    <a:srgbClr val="64748b"/>
                  </a:solidFill>
                  <a:latin typeface="Inter Medium"/>
                  <a:ea typeface="Inter Medium"/>
                </a:rPr>
                <a:t>smtp_verify.py</a:t>
              </a:r>
              <a:endParaRPr b="0" lang="en-US" sz="900" spc="-1" strike="noStrike">
                <a:solidFill>
                  <a:srgbClr val="000000"/>
                </a:solidFill>
                <a:latin typeface="Arial"/>
              </a:endParaRPr>
            </a:p>
          </p:txBody>
        </p:sp>
        <p:cxnSp>
          <p:nvCxnSpPr>
            <p:cNvPr id="406" name="Google Shape;467;p25"/>
            <p:cNvCxnSpPr/>
            <p:nvPr/>
          </p:nvCxnSpPr>
          <p:spPr>
            <a:xfrm>
              <a:off x="7048440" y="3790800"/>
              <a:ext cx="4381920" cy="360"/>
            </a:xfrm>
            <a:prstGeom prst="straightConnector1">
              <a:avLst/>
            </a:prstGeom>
            <a:ln w="9525">
              <a:solidFill>
                <a:srgbClr val="1e293b"/>
              </a:solidFill>
              <a:round/>
            </a:ln>
          </p:spPr>
        </p:cxnSp>
        <p:sp>
          <p:nvSpPr>
            <p:cNvPr id="407" name="Google Shape;468;p25"/>
            <p:cNvSpPr/>
            <p:nvPr/>
          </p:nvSpPr>
          <p:spPr>
            <a:xfrm>
              <a:off x="7286760" y="3952800"/>
              <a:ext cx="3904920" cy="104760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100" spc="-1" strike="noStrike">
                  <a:solidFill>
                    <a:srgbClr val="64748b"/>
                  </a:solidFill>
                  <a:latin typeface="Courier New"/>
                  <a:ea typeface="Courier New"/>
                </a:rPr>
                <a:t># Run verification script</a:t>
              </a:r>
              <a:endParaRPr b="0" lang="en-US" sz="1100" spc="-1" strike="noStrike">
                <a:solidFill>
                  <a:srgbClr val="000000"/>
                </a:solidFill>
                <a:latin typeface="Arial"/>
              </a:endParaRPr>
            </a:p>
            <a:p>
              <a:pPr>
                <a:lnSpc>
                  <a:spcPct val="100000"/>
                </a:lnSpc>
                <a:spcBef>
                  <a:spcPts val="300"/>
                </a:spcBef>
                <a:tabLst>
                  <a:tab algn="l" pos="0"/>
                </a:tabLst>
              </a:pPr>
              <a:r>
                <a:rPr b="0" lang="en" sz="1100" spc="-1" strike="noStrike">
                  <a:solidFill>
                    <a:srgbClr val="38bdf8"/>
                  </a:solidFill>
                  <a:latin typeface="Courier New"/>
                  <a:ea typeface="Courier New"/>
                </a:rPr>
                <a:t>$</a:t>
              </a:r>
              <a:r>
                <a:rPr b="0" lang="en" sz="1100" spc="-1" strike="noStrike">
                  <a:solidFill>
                    <a:srgbClr val="f1f5f9"/>
                  </a:solidFill>
                  <a:latin typeface="Courier New"/>
                  <a:ea typeface="Courier New"/>
                </a:rPr>
                <a:t> python smtp_verify.py</a:t>
              </a:r>
              <a:endParaRPr b="0" lang="en-US" sz="1100" spc="-1" strike="noStrike">
                <a:solidFill>
                  <a:srgbClr val="000000"/>
                </a:solidFill>
                <a:latin typeface="Arial"/>
              </a:endParaRPr>
            </a:p>
            <a:p>
              <a:pPr>
                <a:lnSpc>
                  <a:spcPct val="100000"/>
                </a:lnSpc>
                <a:spcBef>
                  <a:spcPts val="1125"/>
                </a:spcBef>
                <a:tabLst>
                  <a:tab algn="l" pos="0"/>
                </a:tabLst>
              </a:pPr>
              <a:r>
                <a:rPr b="0" lang="en" sz="1100" spc="-1" strike="noStrike">
                  <a:solidFill>
                    <a:srgbClr val="64748b"/>
                  </a:solidFill>
                  <a:latin typeface="Courier New"/>
                  <a:ea typeface="Courier New"/>
                </a:rPr>
                <a:t># Expected terminal output:</a:t>
              </a:r>
              <a:endParaRPr b="0" lang="en-US" sz="1100" spc="-1" strike="noStrike">
                <a:solidFill>
                  <a:srgbClr val="000000"/>
                </a:solidFill>
                <a:latin typeface="Arial"/>
              </a:endParaRPr>
            </a:p>
            <a:p>
              <a:pPr>
                <a:lnSpc>
                  <a:spcPct val="100000"/>
                </a:lnSpc>
                <a:spcBef>
                  <a:spcPts val="300"/>
                </a:spcBef>
                <a:tabLst>
                  <a:tab algn="l" pos="0"/>
                </a:tabLst>
              </a:pPr>
              <a:r>
                <a:rPr b="1" lang="en" sz="1100" spc="-1" strike="noStrike">
                  <a:solidFill>
                    <a:srgbClr val="34d399"/>
                  </a:solidFill>
                  <a:latin typeface="Courier New"/>
                  <a:ea typeface="Courier New"/>
                </a:rPr>
                <a:t>SMTP Login Successful</a:t>
              </a:r>
              <a:endParaRPr b="0" lang="en-US" sz="1100" spc="-1" strike="noStrike">
                <a:solidFill>
                  <a:srgbClr val="000000"/>
                </a:solidFill>
                <a:latin typeface="Arial"/>
              </a:endParaRPr>
            </a:p>
          </p:txBody>
        </p:sp>
      </p:gr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pic>
        <p:nvPicPr>
          <p:cNvPr id="408" name="Google Shape;473;p26" descr=""/>
          <p:cNvPicPr/>
          <p:nvPr/>
        </p:nvPicPr>
        <p:blipFill>
          <a:blip r:embed="rId2"/>
          <a:srcRect l="129" t="0" r="129" b="0"/>
          <a:stretch/>
        </p:blipFill>
        <p:spPr>
          <a:xfrm>
            <a:off x="0" y="0"/>
            <a:ext cx="12191760" cy="56880"/>
          </a:xfrm>
          <a:prstGeom prst="rect">
            <a:avLst/>
          </a:prstGeom>
          <a:ln w="0">
            <a:noFill/>
          </a:ln>
        </p:spPr>
      </p:pic>
      <p:sp>
        <p:nvSpPr>
          <p:cNvPr id="409" name="Google Shape;474;p26"/>
          <p:cNvSpPr/>
          <p:nvPr/>
        </p:nvSpPr>
        <p:spPr>
          <a:xfrm>
            <a:off x="762120" y="428760"/>
            <a:ext cx="10667520" cy="6667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940" spc="-1" strike="noStrike">
                <a:solidFill>
                  <a:srgbClr val="045a36"/>
                </a:solidFill>
                <a:latin typeface="Montserrat SemiBold"/>
                <a:ea typeface="Montserrat SemiBold"/>
              </a:rPr>
              <a:t>Sending an Email Requires Constructing a Message</a:t>
            </a:r>
            <a:endParaRPr b="0" lang="en-US" sz="1940" spc="-1" strike="noStrike">
              <a:solidFill>
                <a:srgbClr val="000000"/>
              </a:solidFill>
              <a:latin typeface="Arial"/>
            </a:endParaRPr>
          </a:p>
          <a:p>
            <a:pPr>
              <a:lnSpc>
                <a:spcPct val="100000"/>
              </a:lnSpc>
              <a:spcBef>
                <a:spcPts val="300"/>
              </a:spcBef>
              <a:tabLst>
                <a:tab algn="l" pos="0"/>
              </a:tabLst>
            </a:pPr>
            <a:r>
              <a:rPr b="0" lang="en" sz="1940" spc="-1" strike="noStrike">
                <a:solidFill>
                  <a:srgbClr val="045a36"/>
                </a:solidFill>
                <a:latin typeface="Montserrat SemiBold"/>
                <a:ea typeface="Montserrat SemiBold"/>
              </a:rPr>
              <a:t>Before Transmission</a:t>
            </a:r>
            <a:endParaRPr b="0" lang="en-US" sz="1940" spc="-1" strike="noStrike">
              <a:solidFill>
                <a:srgbClr val="000000"/>
              </a:solidFill>
              <a:latin typeface="Arial"/>
            </a:endParaRPr>
          </a:p>
        </p:txBody>
      </p:sp>
      <p:sp>
        <p:nvSpPr>
          <p:cNvPr id="410" name="Google Shape;475;p26"/>
          <p:cNvSpPr/>
          <p:nvPr/>
        </p:nvSpPr>
        <p:spPr>
          <a:xfrm>
            <a:off x="762120" y="1162080"/>
            <a:ext cx="10667520" cy="18720"/>
          </a:xfrm>
          <a:prstGeom prst="rect">
            <a:avLst/>
          </a:prstGeom>
          <a:solidFill>
            <a:srgbClr val="e2e8f0"/>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grpSp>
        <p:nvGrpSpPr>
          <p:cNvPr id="411" name="Google Shape;476;p26"/>
          <p:cNvGrpSpPr/>
          <p:nvPr/>
        </p:nvGrpSpPr>
        <p:grpSpPr>
          <a:xfrm>
            <a:off x="762120" y="1314360"/>
            <a:ext cx="10667880" cy="857160"/>
            <a:chOff x="762120" y="1314360"/>
            <a:chExt cx="10667880" cy="857160"/>
          </a:xfrm>
        </p:grpSpPr>
        <p:sp>
          <p:nvSpPr>
            <p:cNvPr id="412" name="Google Shape;477;p26"/>
            <p:cNvSpPr/>
            <p:nvPr/>
          </p:nvSpPr>
          <p:spPr>
            <a:xfrm>
              <a:off x="762120" y="1314360"/>
              <a:ext cx="6000480" cy="85716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050" spc="-1" strike="noStrike">
                  <a:solidFill>
                    <a:srgbClr val="045a36"/>
                  </a:solidFill>
                  <a:latin typeface="Montserrat"/>
                  <a:ea typeface="Montserrat"/>
                </a:rPr>
                <a:t>Lecture 1 Revision:</a:t>
              </a:r>
              <a:r>
                <a:rPr b="0" lang="en" sz="1050" spc="-1" strike="noStrike">
                  <a:solidFill>
                    <a:srgbClr val="374151"/>
                  </a:solidFill>
                  <a:latin typeface="Inter"/>
                  <a:ea typeface="Inter"/>
                </a:rPr>
                <a:t> Let's perform a quick revision of the workflow established in the previous session. The execution begins with Python, which initiates a connection to the SMTP Server. Once connected, the script performs Authentication to verify identity.</a:t>
              </a:r>
              <a:endParaRPr b="0" lang="en-US" sz="1050" spc="-1" strike="noStrike">
                <a:solidFill>
                  <a:srgbClr val="000000"/>
                </a:solidFill>
                <a:latin typeface="Arial"/>
              </a:endParaRPr>
            </a:p>
          </p:txBody>
        </p:sp>
        <p:sp>
          <p:nvSpPr>
            <p:cNvPr id="413" name="Google Shape;478;p26"/>
            <p:cNvSpPr/>
            <p:nvPr/>
          </p:nvSpPr>
          <p:spPr>
            <a:xfrm>
              <a:off x="7143840" y="1314360"/>
              <a:ext cx="4286160" cy="85716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050" spc="-1" strike="noStrike">
                  <a:solidFill>
                    <a:srgbClr val="d4a017"/>
                  </a:solidFill>
                  <a:latin typeface="Montserrat"/>
                  <a:ea typeface="Montserrat"/>
                </a:rPr>
                <a:t>Lecture 2 Transition:</a:t>
              </a:r>
              <a:r>
                <a:rPr b="0" lang="en" sz="1050" spc="-1" strike="noStrike">
                  <a:solidFill>
                    <a:srgbClr val="374151"/>
                  </a:solidFill>
                  <a:latin typeface="Inter"/>
                  <a:ea typeface="Inter"/>
                </a:rPr>
                <a:t> To bridge the gap, we must introduce the critical next phase: Create Email. Before any data can be transmitted, the actual email payload must be meticulously constructed. Only after the message object is built can we execute Send Email.</a:t>
              </a:r>
              <a:endParaRPr b="0" lang="en-US" sz="1050" spc="-1" strike="noStrike">
                <a:solidFill>
                  <a:srgbClr val="000000"/>
                </a:solidFill>
                <a:latin typeface="Arial"/>
              </a:endParaRPr>
            </a:p>
          </p:txBody>
        </p:sp>
      </p:grpSp>
      <p:grpSp>
        <p:nvGrpSpPr>
          <p:cNvPr id="414" name="Google Shape;479;p26"/>
          <p:cNvGrpSpPr/>
          <p:nvPr/>
        </p:nvGrpSpPr>
        <p:grpSpPr>
          <a:xfrm>
            <a:off x="752400" y="2238480"/>
            <a:ext cx="10677600" cy="2781000"/>
            <a:chOff x="752400" y="2238480"/>
            <a:chExt cx="10677600" cy="2781000"/>
          </a:xfrm>
        </p:grpSpPr>
        <p:pic>
          <p:nvPicPr>
            <p:cNvPr id="415" name="Google Shape;480;p26" descr=""/>
            <p:cNvPicPr/>
            <p:nvPr/>
          </p:nvPicPr>
          <p:blipFill>
            <a:blip r:embed="rId3"/>
            <a:stretch/>
          </p:blipFill>
          <p:spPr>
            <a:xfrm>
              <a:off x="752400" y="2238480"/>
              <a:ext cx="6210000" cy="2781000"/>
            </a:xfrm>
            <a:prstGeom prst="rect">
              <a:avLst/>
            </a:prstGeom>
            <a:ln w="0">
              <a:noFill/>
            </a:ln>
          </p:spPr>
        </p:pic>
        <p:sp>
          <p:nvSpPr>
            <p:cNvPr id="416" name="Google Shape;481;p26"/>
            <p:cNvSpPr/>
            <p:nvPr/>
          </p:nvSpPr>
          <p:spPr>
            <a:xfrm>
              <a:off x="952560" y="2400480"/>
              <a:ext cx="5810040" cy="28548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000" spc="-1" strike="noStrike">
                  <a:solidFill>
                    <a:srgbClr val="6b7280"/>
                  </a:solidFill>
                  <a:latin typeface="Montserrat"/>
                  <a:ea typeface="Montserrat"/>
                </a:rPr>
                <a:t>Lecture 1 Revision</a:t>
              </a:r>
              <a:endParaRPr b="0" lang="en-US" sz="1000" spc="-1" strike="noStrike">
                <a:solidFill>
                  <a:srgbClr val="000000"/>
                </a:solidFill>
                <a:latin typeface="Arial"/>
              </a:endParaRPr>
            </a:p>
          </p:txBody>
        </p:sp>
        <p:sp>
          <p:nvSpPr>
            <p:cNvPr id="417" name="Google Shape;482;p26"/>
            <p:cNvSpPr/>
            <p:nvPr/>
          </p:nvSpPr>
          <p:spPr>
            <a:xfrm>
              <a:off x="7143840" y="2247840"/>
              <a:ext cx="4286160" cy="2761920"/>
            </a:xfrm>
            <a:prstGeom prst="roundRect">
              <a:avLst>
                <a:gd name="adj" fmla="val 2758"/>
              </a:avLst>
            </a:prstGeom>
            <a:solidFill>
              <a:srgbClr val="ffffff"/>
            </a:solidFill>
            <a:ln w="19050">
              <a:solidFill>
                <a:srgbClr val="d4a017"/>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418" name="Google Shape;483;p26"/>
            <p:cNvSpPr/>
            <p:nvPr/>
          </p:nvSpPr>
          <p:spPr>
            <a:xfrm>
              <a:off x="7143840" y="2247840"/>
              <a:ext cx="4286160" cy="75960"/>
            </a:xfrm>
            <a:custGeom>
              <a:avLst/>
              <a:gdLst>
                <a:gd name="textAreaLeft" fmla="*/ 0 w 4286160"/>
                <a:gd name="textAreaRight" fmla="*/ 4286520 w 4286160"/>
                <a:gd name="textAreaTop" fmla="*/ 0 h 75960"/>
                <a:gd name="textAreaBottom" fmla="*/ 76320 h 75960"/>
              </a:gdLst>
              <a:ahLst/>
              <a:rect l="textAreaLeft" t="textAreaTop" r="textAreaRight" b="textAreaBottom"/>
              <a:pathLst>
                <a:path w="120000" h="120000">
                  <a:moveTo>
                    <a:pt x="0" y="120000"/>
                  </a:moveTo>
                  <a:lnTo>
                    <a:pt x="0" y="60000"/>
                  </a:lnTo>
                  <a:cubicBezTo>
                    <a:pt x="0" y="30000"/>
                    <a:pt x="533" y="0"/>
                    <a:pt x="1067" y="0"/>
                  </a:cubicBezTo>
                  <a:lnTo>
                    <a:pt x="118933" y="0"/>
                  </a:lnTo>
                  <a:cubicBezTo>
                    <a:pt x="119467" y="0"/>
                    <a:pt x="120000" y="30000"/>
                    <a:pt x="120000" y="60000"/>
                  </a:cubicBezTo>
                  <a:lnTo>
                    <a:pt x="120000" y="120000"/>
                  </a:lnTo>
                  <a:close/>
                </a:path>
              </a:pathLst>
            </a:custGeom>
            <a:solidFill>
              <a:srgbClr val="d4a017"/>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419" name="Google Shape;484;p26"/>
            <p:cNvSpPr/>
            <p:nvPr/>
          </p:nvSpPr>
          <p:spPr>
            <a:xfrm>
              <a:off x="7334280" y="2400480"/>
              <a:ext cx="3904920" cy="28548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000" spc="-1" strike="noStrike">
                  <a:solidFill>
                    <a:srgbClr val="ffffff"/>
                  </a:solidFill>
                  <a:latin typeface="Montserrat"/>
                  <a:ea typeface="Montserrat"/>
                </a:rPr>
                <a:t>Lecture 2 Transition (New Milestone)</a:t>
              </a:r>
              <a:endParaRPr b="0" lang="en-US" sz="1000" spc="-1" strike="noStrike">
                <a:solidFill>
                  <a:srgbClr val="000000"/>
                </a:solidFill>
                <a:latin typeface="Arial"/>
              </a:endParaRPr>
            </a:p>
          </p:txBody>
        </p:sp>
      </p:grpSp>
      <p:grpSp>
        <p:nvGrpSpPr>
          <p:cNvPr id="420" name="Google Shape;485;p26"/>
          <p:cNvGrpSpPr/>
          <p:nvPr/>
        </p:nvGrpSpPr>
        <p:grpSpPr>
          <a:xfrm>
            <a:off x="952560" y="2819520"/>
            <a:ext cx="10286640" cy="1999800"/>
            <a:chOff x="952560" y="2819520"/>
            <a:chExt cx="10286640" cy="1999800"/>
          </a:xfrm>
        </p:grpSpPr>
        <p:sp>
          <p:nvSpPr>
            <p:cNvPr id="421" name="Google Shape;486;p26"/>
            <p:cNvSpPr/>
            <p:nvPr/>
          </p:nvSpPr>
          <p:spPr>
            <a:xfrm>
              <a:off x="952560" y="2819520"/>
              <a:ext cx="1618920" cy="1999800"/>
            </a:xfrm>
            <a:prstGeom prst="roundRect">
              <a:avLst>
                <a:gd name="adj" fmla="val 3529"/>
              </a:avLst>
            </a:prstGeom>
            <a:solidFill>
              <a:srgbClr val="ffffff"/>
            </a:solidFill>
            <a:ln w="9525">
              <a:solidFill>
                <a:srgbClr val="e2e8f0"/>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422" name="Google Shape;487;p26"/>
            <p:cNvSpPr/>
            <p:nvPr/>
          </p:nvSpPr>
          <p:spPr>
            <a:xfrm>
              <a:off x="952560" y="2819520"/>
              <a:ext cx="1618920" cy="1999800"/>
            </a:xfrm>
            <a:prstGeom prst="rect">
              <a:avLst/>
            </a:prstGeom>
            <a:noFill/>
            <a:ln w="0">
              <a:noFill/>
            </a:ln>
          </p:spPr>
          <p:style>
            <a:lnRef idx="0"/>
            <a:fillRef idx="0"/>
            <a:effectRef idx="0"/>
            <a:fontRef idx="minor"/>
          </p:style>
          <p:txBody>
            <a:bodyPr lIns="114480" rIns="114480" tIns="237960" bIns="95400" anchor="t">
              <a:noAutofit/>
            </a:bodyPr>
            <a:p>
              <a:pPr algn="ctr">
                <a:lnSpc>
                  <a:spcPct val="100000"/>
                </a:lnSpc>
                <a:tabLst>
                  <a:tab algn="l" pos="0"/>
                </a:tabLst>
              </a:pPr>
              <a:r>
                <a:rPr b="1" lang="en" sz="1100" spc="-1" strike="noStrike">
                  <a:solidFill>
                    <a:srgbClr val="045a36"/>
                  </a:solidFill>
                  <a:latin typeface="Montserrat"/>
                  <a:ea typeface="Montserrat"/>
                </a:rPr>
                <a:t>Python Script</a:t>
              </a:r>
              <a:endParaRPr b="0" lang="en-US" sz="1100" spc="-1" strike="noStrike">
                <a:solidFill>
                  <a:srgbClr val="000000"/>
                </a:solidFill>
                <a:latin typeface="Arial"/>
              </a:endParaRPr>
            </a:p>
            <a:p>
              <a:pPr algn="ctr">
                <a:lnSpc>
                  <a:spcPct val="100000"/>
                </a:lnSpc>
                <a:spcBef>
                  <a:spcPts val="901"/>
                </a:spcBef>
                <a:tabLst>
                  <a:tab algn="l" pos="0"/>
                </a:tabLst>
              </a:pPr>
              <a:r>
                <a:rPr b="0" lang="en" sz="950" spc="-1" strike="noStrike">
                  <a:solidFill>
                    <a:srgbClr val="374151"/>
                  </a:solidFill>
                  <a:latin typeface="Inter"/>
                  <a:ea typeface="Inter"/>
                </a:rPr>
                <a:t>The script execution begins, launching the automated email flow.</a:t>
              </a:r>
              <a:endParaRPr b="0" lang="en-US" sz="950" spc="-1" strike="noStrike">
                <a:solidFill>
                  <a:srgbClr val="000000"/>
                </a:solidFill>
                <a:latin typeface="Arial"/>
              </a:endParaRPr>
            </a:p>
          </p:txBody>
        </p:sp>
        <p:sp>
          <p:nvSpPr>
            <p:cNvPr id="423" name="Google Shape;488;p26"/>
            <p:cNvSpPr/>
            <p:nvPr/>
          </p:nvSpPr>
          <p:spPr>
            <a:xfrm>
              <a:off x="3048120" y="2819520"/>
              <a:ext cx="1618920" cy="1999800"/>
            </a:xfrm>
            <a:prstGeom prst="roundRect">
              <a:avLst>
                <a:gd name="adj" fmla="val 3529"/>
              </a:avLst>
            </a:prstGeom>
            <a:solidFill>
              <a:srgbClr val="ffffff"/>
            </a:solidFill>
            <a:ln w="9525">
              <a:solidFill>
                <a:srgbClr val="e2e8f0"/>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424" name="Google Shape;489;p26"/>
            <p:cNvSpPr/>
            <p:nvPr/>
          </p:nvSpPr>
          <p:spPr>
            <a:xfrm>
              <a:off x="3048120" y="2819520"/>
              <a:ext cx="1618920" cy="1999800"/>
            </a:xfrm>
            <a:prstGeom prst="rect">
              <a:avLst/>
            </a:prstGeom>
            <a:noFill/>
            <a:ln w="0">
              <a:noFill/>
            </a:ln>
          </p:spPr>
          <p:style>
            <a:lnRef idx="0"/>
            <a:fillRef idx="0"/>
            <a:effectRef idx="0"/>
            <a:fontRef idx="minor"/>
          </p:style>
          <p:txBody>
            <a:bodyPr lIns="114480" rIns="114480" tIns="237960" bIns="95400" anchor="t">
              <a:noAutofit/>
            </a:bodyPr>
            <a:p>
              <a:pPr algn="ctr">
                <a:lnSpc>
                  <a:spcPct val="100000"/>
                </a:lnSpc>
                <a:tabLst>
                  <a:tab algn="l" pos="0"/>
                </a:tabLst>
              </a:pPr>
              <a:r>
                <a:rPr b="1" lang="en" sz="1100" spc="-1" strike="noStrike">
                  <a:solidFill>
                    <a:srgbClr val="045a36"/>
                  </a:solidFill>
                  <a:latin typeface="Montserrat"/>
                  <a:ea typeface="Montserrat"/>
                </a:rPr>
                <a:t>SMTP Server</a:t>
              </a:r>
              <a:endParaRPr b="0" lang="en-US" sz="1100" spc="-1" strike="noStrike">
                <a:solidFill>
                  <a:srgbClr val="000000"/>
                </a:solidFill>
                <a:latin typeface="Arial"/>
              </a:endParaRPr>
            </a:p>
            <a:p>
              <a:pPr algn="ctr">
                <a:lnSpc>
                  <a:spcPct val="100000"/>
                </a:lnSpc>
                <a:spcBef>
                  <a:spcPts val="901"/>
                </a:spcBef>
                <a:tabLst>
                  <a:tab algn="l" pos="0"/>
                </a:tabLst>
              </a:pPr>
              <a:r>
                <a:rPr b="0" lang="en" sz="950" spc="-1" strike="noStrike">
                  <a:solidFill>
                    <a:srgbClr val="374151"/>
                  </a:solidFill>
                  <a:latin typeface="Inter"/>
                  <a:ea typeface="Inter"/>
                </a:rPr>
                <a:t>Initiates a secure connection to the designated SMTP server.</a:t>
              </a:r>
              <a:endParaRPr b="0" lang="en-US" sz="950" spc="-1" strike="noStrike">
                <a:solidFill>
                  <a:srgbClr val="000000"/>
                </a:solidFill>
                <a:latin typeface="Arial"/>
              </a:endParaRPr>
            </a:p>
          </p:txBody>
        </p:sp>
        <p:sp>
          <p:nvSpPr>
            <p:cNvPr id="425" name="Google Shape;490;p26"/>
            <p:cNvSpPr/>
            <p:nvPr/>
          </p:nvSpPr>
          <p:spPr>
            <a:xfrm>
              <a:off x="5143680" y="2819520"/>
              <a:ext cx="1618920" cy="1999800"/>
            </a:xfrm>
            <a:prstGeom prst="roundRect">
              <a:avLst>
                <a:gd name="adj" fmla="val 3529"/>
              </a:avLst>
            </a:prstGeom>
            <a:solidFill>
              <a:srgbClr val="ffffff"/>
            </a:solidFill>
            <a:ln w="9525">
              <a:solidFill>
                <a:srgbClr val="e2e8f0"/>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426" name="Google Shape;491;p26"/>
            <p:cNvSpPr/>
            <p:nvPr/>
          </p:nvSpPr>
          <p:spPr>
            <a:xfrm>
              <a:off x="5143680" y="2819520"/>
              <a:ext cx="1618920" cy="1999800"/>
            </a:xfrm>
            <a:prstGeom prst="rect">
              <a:avLst/>
            </a:prstGeom>
            <a:noFill/>
            <a:ln w="0">
              <a:noFill/>
            </a:ln>
          </p:spPr>
          <p:style>
            <a:lnRef idx="0"/>
            <a:fillRef idx="0"/>
            <a:effectRef idx="0"/>
            <a:fontRef idx="minor"/>
          </p:style>
          <p:txBody>
            <a:bodyPr lIns="114480" rIns="114480" tIns="237960" bIns="95400" anchor="t">
              <a:noAutofit/>
            </a:bodyPr>
            <a:p>
              <a:pPr algn="ctr">
                <a:lnSpc>
                  <a:spcPct val="100000"/>
                </a:lnSpc>
                <a:tabLst>
                  <a:tab algn="l" pos="0"/>
                </a:tabLst>
              </a:pPr>
              <a:r>
                <a:rPr b="1" lang="en" sz="1100" spc="-1" strike="noStrike">
                  <a:solidFill>
                    <a:srgbClr val="045a36"/>
                  </a:solidFill>
                  <a:latin typeface="Montserrat"/>
                  <a:ea typeface="Montserrat"/>
                </a:rPr>
                <a:t>Authenticate</a:t>
              </a:r>
              <a:endParaRPr b="0" lang="en-US" sz="1100" spc="-1" strike="noStrike">
                <a:solidFill>
                  <a:srgbClr val="000000"/>
                </a:solidFill>
                <a:latin typeface="Arial"/>
              </a:endParaRPr>
            </a:p>
            <a:p>
              <a:pPr algn="ctr">
                <a:lnSpc>
                  <a:spcPct val="100000"/>
                </a:lnSpc>
                <a:spcBef>
                  <a:spcPts val="901"/>
                </a:spcBef>
                <a:tabLst>
                  <a:tab algn="l" pos="0"/>
                </a:tabLst>
              </a:pPr>
              <a:r>
                <a:rPr b="0" lang="en" sz="950" spc="-1" strike="noStrike">
                  <a:solidFill>
                    <a:srgbClr val="374151"/>
                  </a:solidFill>
                  <a:latin typeface="Inter"/>
                  <a:ea typeface="Inter"/>
                </a:rPr>
                <a:t>Performs secure login protocols to verify connection identity.</a:t>
              </a:r>
              <a:endParaRPr b="0" lang="en-US" sz="950" spc="-1" strike="noStrike">
                <a:solidFill>
                  <a:srgbClr val="000000"/>
                </a:solidFill>
                <a:latin typeface="Arial"/>
              </a:endParaRPr>
            </a:p>
          </p:txBody>
        </p:sp>
        <p:sp>
          <p:nvSpPr>
            <p:cNvPr id="427" name="Google Shape;492;p26"/>
            <p:cNvSpPr/>
            <p:nvPr/>
          </p:nvSpPr>
          <p:spPr>
            <a:xfrm>
              <a:off x="7334280" y="2819520"/>
              <a:ext cx="1666440" cy="1999800"/>
            </a:xfrm>
            <a:prstGeom prst="roundRect">
              <a:avLst>
                <a:gd name="adj" fmla="val 3428"/>
              </a:avLst>
            </a:prstGeom>
            <a:solidFill>
              <a:srgbClr val="fffdf5"/>
            </a:solidFill>
            <a:ln w="14300">
              <a:solidFill>
                <a:srgbClr val="d4a017"/>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428" name="Google Shape;493;p26"/>
            <p:cNvSpPr/>
            <p:nvPr/>
          </p:nvSpPr>
          <p:spPr>
            <a:xfrm>
              <a:off x="7334280" y="2819520"/>
              <a:ext cx="1666440" cy="1999800"/>
            </a:xfrm>
            <a:prstGeom prst="rect">
              <a:avLst/>
            </a:prstGeom>
            <a:noFill/>
            <a:ln w="0">
              <a:noFill/>
            </a:ln>
          </p:spPr>
          <p:style>
            <a:lnRef idx="0"/>
            <a:fillRef idx="0"/>
            <a:effectRef idx="0"/>
            <a:fontRef idx="minor"/>
          </p:style>
          <p:txBody>
            <a:bodyPr lIns="114480" rIns="114480" tIns="237960" bIns="95400" anchor="t">
              <a:noAutofit/>
            </a:bodyPr>
            <a:p>
              <a:pPr algn="ctr">
                <a:lnSpc>
                  <a:spcPct val="100000"/>
                </a:lnSpc>
                <a:tabLst>
                  <a:tab algn="l" pos="0"/>
                </a:tabLst>
              </a:pPr>
              <a:r>
                <a:rPr b="1" lang="en" sz="1100" spc="-1" strike="noStrike">
                  <a:solidFill>
                    <a:srgbClr val="045a36"/>
                  </a:solidFill>
                  <a:latin typeface="Montserrat"/>
                  <a:ea typeface="Montserrat"/>
                </a:rPr>
                <a:t>Create Email</a:t>
              </a:r>
              <a:endParaRPr b="0" lang="en-US" sz="1100" spc="-1" strike="noStrike">
                <a:solidFill>
                  <a:srgbClr val="000000"/>
                </a:solidFill>
                <a:latin typeface="Arial"/>
              </a:endParaRPr>
            </a:p>
            <a:p>
              <a:pPr algn="ctr">
                <a:lnSpc>
                  <a:spcPct val="100000"/>
                </a:lnSpc>
                <a:spcBef>
                  <a:spcPts val="751"/>
                </a:spcBef>
                <a:tabLst>
                  <a:tab algn="l" pos="0"/>
                </a:tabLst>
              </a:pPr>
              <a:r>
                <a:rPr b="0" lang="en" sz="950" spc="-1" strike="noStrike">
                  <a:solidFill>
                    <a:srgbClr val="374151"/>
                  </a:solidFill>
                  <a:latin typeface="Inter"/>
                  <a:ea typeface="Inter"/>
                </a:rPr>
                <a:t>Meticulously constructs and formats the email payload standards.</a:t>
              </a:r>
              <a:endParaRPr b="0" lang="en-US" sz="950" spc="-1" strike="noStrike">
                <a:solidFill>
                  <a:srgbClr val="000000"/>
                </a:solidFill>
                <a:latin typeface="Arial"/>
              </a:endParaRPr>
            </a:p>
            <a:p>
              <a:pPr algn="ctr">
                <a:lnSpc>
                  <a:spcPct val="100000"/>
                </a:lnSpc>
                <a:spcBef>
                  <a:spcPts val="1049"/>
                </a:spcBef>
                <a:tabLst>
                  <a:tab algn="l" pos="0"/>
                </a:tabLst>
              </a:pPr>
              <a:r>
                <a:rPr b="1" lang="en" sz="800" spc="-1" strike="noStrike">
                  <a:solidFill>
                    <a:srgbClr val="ffffff"/>
                  </a:solidFill>
                  <a:latin typeface="Inter"/>
                  <a:ea typeface="Inter"/>
                </a:rPr>
                <a:t>New Bridge</a:t>
              </a:r>
              <a:endParaRPr b="0" lang="en-US" sz="800" spc="-1" strike="noStrike">
                <a:solidFill>
                  <a:srgbClr val="000000"/>
                </a:solidFill>
                <a:latin typeface="Arial"/>
              </a:endParaRPr>
            </a:p>
          </p:txBody>
        </p:sp>
        <p:sp>
          <p:nvSpPr>
            <p:cNvPr id="429" name="Google Shape;494;p26"/>
            <p:cNvSpPr/>
            <p:nvPr/>
          </p:nvSpPr>
          <p:spPr>
            <a:xfrm>
              <a:off x="9572760" y="2819520"/>
              <a:ext cx="1666440" cy="1999800"/>
            </a:xfrm>
            <a:prstGeom prst="roundRect">
              <a:avLst>
                <a:gd name="adj" fmla="val 3428"/>
              </a:avLst>
            </a:prstGeom>
            <a:solidFill>
              <a:srgbClr val="ffffff"/>
            </a:solidFill>
            <a:ln w="9525">
              <a:solidFill>
                <a:srgbClr val="e2e8f0"/>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430" name="Google Shape;495;p26"/>
            <p:cNvSpPr/>
            <p:nvPr/>
          </p:nvSpPr>
          <p:spPr>
            <a:xfrm>
              <a:off x="9572760" y="2819520"/>
              <a:ext cx="1666440" cy="1999800"/>
            </a:xfrm>
            <a:prstGeom prst="rect">
              <a:avLst/>
            </a:prstGeom>
            <a:noFill/>
            <a:ln w="0">
              <a:noFill/>
            </a:ln>
          </p:spPr>
          <p:style>
            <a:lnRef idx="0"/>
            <a:fillRef idx="0"/>
            <a:effectRef idx="0"/>
            <a:fontRef idx="minor"/>
          </p:style>
          <p:txBody>
            <a:bodyPr lIns="114480" rIns="114480" tIns="237960" bIns="95400" anchor="t">
              <a:noAutofit/>
            </a:bodyPr>
            <a:p>
              <a:pPr algn="ctr">
                <a:lnSpc>
                  <a:spcPct val="100000"/>
                </a:lnSpc>
                <a:tabLst>
                  <a:tab algn="l" pos="0"/>
                </a:tabLst>
              </a:pPr>
              <a:r>
                <a:rPr b="1" lang="en" sz="1100" spc="-1" strike="noStrike">
                  <a:solidFill>
                    <a:srgbClr val="045a36"/>
                  </a:solidFill>
                  <a:latin typeface="Montserrat"/>
                  <a:ea typeface="Montserrat"/>
                </a:rPr>
                <a:t>Send Email</a:t>
              </a:r>
              <a:endParaRPr b="0" lang="en-US" sz="1100" spc="-1" strike="noStrike">
                <a:solidFill>
                  <a:srgbClr val="000000"/>
                </a:solidFill>
                <a:latin typeface="Arial"/>
              </a:endParaRPr>
            </a:p>
            <a:p>
              <a:pPr algn="ctr">
                <a:lnSpc>
                  <a:spcPct val="100000"/>
                </a:lnSpc>
                <a:spcBef>
                  <a:spcPts val="901"/>
                </a:spcBef>
                <a:tabLst>
                  <a:tab algn="l" pos="0"/>
                </a:tabLst>
              </a:pPr>
              <a:r>
                <a:rPr b="0" lang="en" sz="950" spc="-1" strike="noStrike">
                  <a:solidFill>
                    <a:srgbClr val="374151"/>
                  </a:solidFill>
                  <a:latin typeface="Inter"/>
                  <a:ea typeface="Inter"/>
                </a:rPr>
                <a:t>Executes the final command to transmit content to recipient.</a:t>
              </a:r>
              <a:endParaRPr b="0" lang="en-US" sz="950" spc="-1" strike="noStrike">
                <a:solidFill>
                  <a:srgbClr val="000000"/>
                </a:solidFill>
                <a:latin typeface="Arial"/>
              </a:endParaRPr>
            </a:p>
          </p:txBody>
        </p:sp>
      </p:grpSp>
      <p:grpSp>
        <p:nvGrpSpPr>
          <p:cNvPr id="431" name="Google Shape;496;p26"/>
          <p:cNvGrpSpPr/>
          <p:nvPr/>
        </p:nvGrpSpPr>
        <p:grpSpPr>
          <a:xfrm>
            <a:off x="1619280" y="2676600"/>
            <a:ext cx="8929440" cy="285480"/>
            <a:chOff x="1619280" y="2676600"/>
            <a:chExt cx="8929440" cy="285480"/>
          </a:xfrm>
        </p:grpSpPr>
        <p:sp>
          <p:nvSpPr>
            <p:cNvPr id="432" name="Google Shape;497;p26"/>
            <p:cNvSpPr/>
            <p:nvPr/>
          </p:nvSpPr>
          <p:spPr>
            <a:xfrm>
              <a:off x="1619280" y="2676600"/>
              <a:ext cx="285480" cy="285480"/>
            </a:xfrm>
            <a:prstGeom prst="roundRect">
              <a:avLst>
                <a:gd name="adj" fmla="val 50000"/>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433" name="Google Shape;498;p26"/>
            <p:cNvSpPr/>
            <p:nvPr/>
          </p:nvSpPr>
          <p:spPr>
            <a:xfrm>
              <a:off x="1619280" y="2676600"/>
              <a:ext cx="285480" cy="285480"/>
            </a:xfrm>
            <a:prstGeom prst="rect">
              <a:avLst/>
            </a:prstGeom>
            <a:noFill/>
            <a:ln w="0">
              <a:noFill/>
            </a:ln>
          </p:spPr>
          <p:style>
            <a:lnRef idx="0"/>
            <a:fillRef idx="0"/>
            <a:effectRef idx="0"/>
            <a:fontRef idx="minor"/>
          </p:style>
          <p:txBody>
            <a:bodyPr lIns="0" rIns="0" tIns="0" bIns="0" anchor="ctr">
              <a:noAutofit/>
            </a:bodyPr>
            <a:p>
              <a:pPr algn="ctr">
                <a:lnSpc>
                  <a:spcPct val="100000"/>
                </a:lnSpc>
                <a:tabLst>
                  <a:tab algn="l" pos="0"/>
                </a:tabLst>
              </a:pPr>
              <a:r>
                <a:rPr b="1" lang="en" sz="1100" spc="-1" strike="noStrike">
                  <a:solidFill>
                    <a:srgbClr val="ffffff"/>
                  </a:solidFill>
                  <a:latin typeface="Inter"/>
                  <a:ea typeface="Inter"/>
                </a:rPr>
                <a:t>1</a:t>
              </a:r>
              <a:endParaRPr b="0" lang="en-US" sz="1100" spc="-1" strike="noStrike">
                <a:solidFill>
                  <a:srgbClr val="000000"/>
                </a:solidFill>
                <a:latin typeface="Arial"/>
              </a:endParaRPr>
            </a:p>
          </p:txBody>
        </p:sp>
        <p:sp>
          <p:nvSpPr>
            <p:cNvPr id="434" name="Google Shape;499;p26"/>
            <p:cNvSpPr/>
            <p:nvPr/>
          </p:nvSpPr>
          <p:spPr>
            <a:xfrm>
              <a:off x="3714840" y="2676600"/>
              <a:ext cx="285480" cy="285480"/>
            </a:xfrm>
            <a:prstGeom prst="roundRect">
              <a:avLst>
                <a:gd name="adj" fmla="val 50000"/>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435" name="Google Shape;500;p26"/>
            <p:cNvSpPr/>
            <p:nvPr/>
          </p:nvSpPr>
          <p:spPr>
            <a:xfrm>
              <a:off x="3714840" y="2676600"/>
              <a:ext cx="285480" cy="285480"/>
            </a:xfrm>
            <a:prstGeom prst="rect">
              <a:avLst/>
            </a:prstGeom>
            <a:noFill/>
            <a:ln w="0">
              <a:noFill/>
            </a:ln>
          </p:spPr>
          <p:style>
            <a:lnRef idx="0"/>
            <a:fillRef idx="0"/>
            <a:effectRef idx="0"/>
            <a:fontRef idx="minor"/>
          </p:style>
          <p:txBody>
            <a:bodyPr lIns="0" rIns="0" tIns="0" bIns="0" anchor="ctr">
              <a:noAutofit/>
            </a:bodyPr>
            <a:p>
              <a:pPr algn="ctr">
                <a:lnSpc>
                  <a:spcPct val="100000"/>
                </a:lnSpc>
                <a:tabLst>
                  <a:tab algn="l" pos="0"/>
                </a:tabLst>
              </a:pPr>
              <a:r>
                <a:rPr b="1" lang="en" sz="1100" spc="-1" strike="noStrike">
                  <a:solidFill>
                    <a:srgbClr val="ffffff"/>
                  </a:solidFill>
                  <a:latin typeface="Inter"/>
                  <a:ea typeface="Inter"/>
                </a:rPr>
                <a:t>2</a:t>
              </a:r>
              <a:endParaRPr b="0" lang="en-US" sz="1100" spc="-1" strike="noStrike">
                <a:solidFill>
                  <a:srgbClr val="000000"/>
                </a:solidFill>
                <a:latin typeface="Arial"/>
              </a:endParaRPr>
            </a:p>
          </p:txBody>
        </p:sp>
        <p:sp>
          <p:nvSpPr>
            <p:cNvPr id="436" name="Google Shape;501;p26"/>
            <p:cNvSpPr/>
            <p:nvPr/>
          </p:nvSpPr>
          <p:spPr>
            <a:xfrm>
              <a:off x="5810400" y="2676600"/>
              <a:ext cx="285480" cy="285480"/>
            </a:xfrm>
            <a:prstGeom prst="roundRect">
              <a:avLst>
                <a:gd name="adj" fmla="val 50000"/>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437" name="Google Shape;502;p26"/>
            <p:cNvSpPr/>
            <p:nvPr/>
          </p:nvSpPr>
          <p:spPr>
            <a:xfrm>
              <a:off x="5810400" y="2676600"/>
              <a:ext cx="285480" cy="285480"/>
            </a:xfrm>
            <a:prstGeom prst="rect">
              <a:avLst/>
            </a:prstGeom>
            <a:noFill/>
            <a:ln w="0">
              <a:noFill/>
            </a:ln>
          </p:spPr>
          <p:style>
            <a:lnRef idx="0"/>
            <a:fillRef idx="0"/>
            <a:effectRef idx="0"/>
            <a:fontRef idx="minor"/>
          </p:style>
          <p:txBody>
            <a:bodyPr lIns="0" rIns="0" tIns="0" bIns="0" anchor="ctr">
              <a:noAutofit/>
            </a:bodyPr>
            <a:p>
              <a:pPr algn="ctr">
                <a:lnSpc>
                  <a:spcPct val="100000"/>
                </a:lnSpc>
                <a:tabLst>
                  <a:tab algn="l" pos="0"/>
                </a:tabLst>
              </a:pPr>
              <a:r>
                <a:rPr b="1" lang="en" sz="1100" spc="-1" strike="noStrike">
                  <a:solidFill>
                    <a:srgbClr val="ffffff"/>
                  </a:solidFill>
                  <a:latin typeface="Inter"/>
                  <a:ea typeface="Inter"/>
                </a:rPr>
                <a:t>3</a:t>
              </a:r>
              <a:endParaRPr b="0" lang="en-US" sz="1100" spc="-1" strike="noStrike">
                <a:solidFill>
                  <a:srgbClr val="000000"/>
                </a:solidFill>
                <a:latin typeface="Arial"/>
              </a:endParaRPr>
            </a:p>
          </p:txBody>
        </p:sp>
        <p:sp>
          <p:nvSpPr>
            <p:cNvPr id="438" name="Google Shape;503;p26"/>
            <p:cNvSpPr/>
            <p:nvPr/>
          </p:nvSpPr>
          <p:spPr>
            <a:xfrm>
              <a:off x="8024760" y="2676600"/>
              <a:ext cx="285480" cy="285480"/>
            </a:xfrm>
            <a:prstGeom prst="roundRect">
              <a:avLst>
                <a:gd name="adj" fmla="val 50000"/>
              </a:avLst>
            </a:prstGeom>
            <a:solidFill>
              <a:srgbClr val="d4a017"/>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439" name="Google Shape;504;p26"/>
            <p:cNvSpPr/>
            <p:nvPr/>
          </p:nvSpPr>
          <p:spPr>
            <a:xfrm>
              <a:off x="8024760" y="2676600"/>
              <a:ext cx="285480" cy="285480"/>
            </a:xfrm>
            <a:prstGeom prst="rect">
              <a:avLst/>
            </a:prstGeom>
            <a:noFill/>
            <a:ln w="0">
              <a:noFill/>
            </a:ln>
          </p:spPr>
          <p:style>
            <a:lnRef idx="0"/>
            <a:fillRef idx="0"/>
            <a:effectRef idx="0"/>
            <a:fontRef idx="minor"/>
          </p:style>
          <p:txBody>
            <a:bodyPr lIns="0" rIns="0" tIns="0" bIns="0" anchor="ctr">
              <a:noAutofit/>
            </a:bodyPr>
            <a:p>
              <a:pPr algn="ctr">
                <a:lnSpc>
                  <a:spcPct val="100000"/>
                </a:lnSpc>
                <a:tabLst>
                  <a:tab algn="l" pos="0"/>
                </a:tabLst>
              </a:pPr>
              <a:r>
                <a:rPr b="1" lang="en" sz="1100" spc="-1" strike="noStrike">
                  <a:solidFill>
                    <a:srgbClr val="ffffff"/>
                  </a:solidFill>
                  <a:latin typeface="Inter"/>
                  <a:ea typeface="Inter"/>
                </a:rPr>
                <a:t>4</a:t>
              </a:r>
              <a:endParaRPr b="0" lang="en-US" sz="1100" spc="-1" strike="noStrike">
                <a:solidFill>
                  <a:srgbClr val="000000"/>
                </a:solidFill>
                <a:latin typeface="Arial"/>
              </a:endParaRPr>
            </a:p>
          </p:txBody>
        </p:sp>
        <p:sp>
          <p:nvSpPr>
            <p:cNvPr id="440" name="Google Shape;505;p26"/>
            <p:cNvSpPr/>
            <p:nvPr/>
          </p:nvSpPr>
          <p:spPr>
            <a:xfrm>
              <a:off x="10263240" y="2676600"/>
              <a:ext cx="285480" cy="285480"/>
            </a:xfrm>
            <a:prstGeom prst="roundRect">
              <a:avLst>
                <a:gd name="adj" fmla="val 50000"/>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441" name="Google Shape;506;p26"/>
            <p:cNvSpPr/>
            <p:nvPr/>
          </p:nvSpPr>
          <p:spPr>
            <a:xfrm>
              <a:off x="10263240" y="2676600"/>
              <a:ext cx="285480" cy="285480"/>
            </a:xfrm>
            <a:prstGeom prst="rect">
              <a:avLst/>
            </a:prstGeom>
            <a:noFill/>
            <a:ln w="0">
              <a:noFill/>
            </a:ln>
          </p:spPr>
          <p:style>
            <a:lnRef idx="0"/>
            <a:fillRef idx="0"/>
            <a:effectRef idx="0"/>
            <a:fontRef idx="minor"/>
          </p:style>
          <p:txBody>
            <a:bodyPr lIns="0" rIns="0" tIns="0" bIns="0" anchor="ctr">
              <a:noAutofit/>
            </a:bodyPr>
            <a:p>
              <a:pPr algn="ctr">
                <a:lnSpc>
                  <a:spcPct val="100000"/>
                </a:lnSpc>
                <a:tabLst>
                  <a:tab algn="l" pos="0"/>
                </a:tabLst>
              </a:pPr>
              <a:r>
                <a:rPr b="1" lang="en" sz="1100" spc="-1" strike="noStrike">
                  <a:solidFill>
                    <a:srgbClr val="ffffff"/>
                  </a:solidFill>
                  <a:latin typeface="Inter"/>
                  <a:ea typeface="Inter"/>
                </a:rPr>
                <a:t>5</a:t>
              </a:r>
              <a:endParaRPr b="0" lang="en-US" sz="1100" spc="-1" strike="noStrike">
                <a:solidFill>
                  <a:srgbClr val="000000"/>
                </a:solidFill>
                <a:latin typeface="Arial"/>
              </a:endParaRPr>
            </a:p>
          </p:txBody>
        </p:sp>
      </p:grpSp>
      <p:grpSp>
        <p:nvGrpSpPr>
          <p:cNvPr id="442" name="Google Shape;507;p26"/>
          <p:cNvGrpSpPr/>
          <p:nvPr/>
        </p:nvGrpSpPr>
        <p:grpSpPr>
          <a:xfrm>
            <a:off x="2590920" y="3747960"/>
            <a:ext cx="6971760" cy="142560"/>
            <a:chOff x="2590920" y="3747960"/>
            <a:chExt cx="6971760" cy="142560"/>
          </a:xfrm>
        </p:grpSpPr>
        <p:pic>
          <p:nvPicPr>
            <p:cNvPr id="443" name="Google Shape;508;p26" descr=""/>
            <p:cNvPicPr/>
            <p:nvPr/>
          </p:nvPicPr>
          <p:blipFill>
            <a:blip r:embed="rId4"/>
            <a:stretch/>
          </p:blipFill>
          <p:spPr>
            <a:xfrm>
              <a:off x="2590920" y="3772080"/>
              <a:ext cx="447120" cy="95040"/>
            </a:xfrm>
            <a:prstGeom prst="rect">
              <a:avLst/>
            </a:prstGeom>
            <a:ln w="0">
              <a:noFill/>
            </a:ln>
          </p:spPr>
        </p:pic>
        <p:pic>
          <p:nvPicPr>
            <p:cNvPr id="444" name="Google Shape;509;p26" descr=""/>
            <p:cNvPicPr/>
            <p:nvPr/>
          </p:nvPicPr>
          <p:blipFill>
            <a:blip r:embed="rId5"/>
            <a:stretch/>
          </p:blipFill>
          <p:spPr>
            <a:xfrm>
              <a:off x="4686480" y="3772080"/>
              <a:ext cx="447120" cy="95040"/>
            </a:xfrm>
            <a:prstGeom prst="rect">
              <a:avLst/>
            </a:prstGeom>
            <a:ln w="0">
              <a:noFill/>
            </a:ln>
          </p:spPr>
        </p:pic>
        <p:pic>
          <p:nvPicPr>
            <p:cNvPr id="445" name="Google Shape;510;p26" descr=""/>
            <p:cNvPicPr/>
            <p:nvPr/>
          </p:nvPicPr>
          <p:blipFill>
            <a:blip r:embed="rId6"/>
            <a:stretch/>
          </p:blipFill>
          <p:spPr>
            <a:xfrm>
              <a:off x="6781680" y="3747960"/>
              <a:ext cx="561600" cy="142560"/>
            </a:xfrm>
            <a:prstGeom prst="rect">
              <a:avLst/>
            </a:prstGeom>
            <a:ln w="0">
              <a:noFill/>
            </a:ln>
          </p:spPr>
        </p:pic>
        <p:pic>
          <p:nvPicPr>
            <p:cNvPr id="446" name="Google Shape;511;p26" descr=""/>
            <p:cNvPicPr/>
            <p:nvPr/>
          </p:nvPicPr>
          <p:blipFill>
            <a:blip r:embed="rId7"/>
            <a:stretch/>
          </p:blipFill>
          <p:spPr>
            <a:xfrm>
              <a:off x="9020160" y="3772080"/>
              <a:ext cx="542520" cy="95040"/>
            </a:xfrm>
            <a:prstGeom prst="rect">
              <a:avLst/>
            </a:prstGeom>
            <a:ln w="0">
              <a:noFill/>
            </a:ln>
          </p:spPr>
        </p:pic>
      </p:grpSp>
      <p:grpSp>
        <p:nvGrpSpPr>
          <p:cNvPr id="447" name="Google Shape;512;p26"/>
          <p:cNvGrpSpPr/>
          <p:nvPr/>
        </p:nvGrpSpPr>
        <p:grpSpPr>
          <a:xfrm>
            <a:off x="762120" y="5457960"/>
            <a:ext cx="11048400" cy="1019160"/>
            <a:chOff x="762120" y="5457960"/>
            <a:chExt cx="11048400" cy="1019160"/>
          </a:xfrm>
        </p:grpSpPr>
        <p:pic>
          <p:nvPicPr>
            <p:cNvPr id="448" name="Google Shape;513;p26" descr=""/>
            <p:cNvPicPr/>
            <p:nvPr/>
          </p:nvPicPr>
          <p:blipFill>
            <a:blip r:embed="rId8"/>
            <a:stretch/>
          </p:blipFill>
          <p:spPr>
            <a:xfrm>
              <a:off x="762120" y="5981760"/>
              <a:ext cx="10667520" cy="304560"/>
            </a:xfrm>
            <a:prstGeom prst="rect">
              <a:avLst/>
            </a:prstGeom>
            <a:ln w="0">
              <a:noFill/>
            </a:ln>
          </p:spPr>
        </p:pic>
        <p:sp>
          <p:nvSpPr>
            <p:cNvPr id="449" name="Google Shape;514;p26"/>
            <p:cNvSpPr/>
            <p:nvPr/>
          </p:nvSpPr>
          <p:spPr>
            <a:xfrm>
              <a:off x="762120" y="6134040"/>
              <a:ext cx="4762080" cy="19008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980" spc="-1" strike="noStrike">
                  <a:solidFill>
                    <a:srgbClr val="6b7280"/>
                  </a:solidFill>
                  <a:latin typeface="Inter"/>
                  <a:ea typeface="Inter"/>
                </a:rPr>
                <a:t>Introduction to Email Automation &amp; SMTP | Python Basics</a:t>
              </a:r>
              <a:endParaRPr b="0" lang="en-US" sz="980" spc="-1" strike="noStrike">
                <a:solidFill>
                  <a:srgbClr val="000000"/>
                </a:solidFill>
                <a:latin typeface="Arial"/>
              </a:endParaRPr>
            </a:p>
          </p:txBody>
        </p:sp>
        <p:pic>
          <p:nvPicPr>
            <p:cNvPr id="450" name="Google Shape;515;p26" descr=""/>
            <p:cNvPicPr/>
            <p:nvPr/>
          </p:nvPicPr>
          <p:blipFill>
            <a:blip r:embed="rId9"/>
            <a:stretch/>
          </p:blipFill>
          <p:spPr>
            <a:xfrm>
              <a:off x="10287000" y="5457960"/>
              <a:ext cx="1523520" cy="1019160"/>
            </a:xfrm>
            <a:prstGeom prst="rect">
              <a:avLst/>
            </a:prstGeom>
            <a:ln w="0">
              <a:noFill/>
            </a:ln>
          </p:spPr>
        </p:pic>
      </p:gr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1" name="Google Shape;520;p27"/>
          <p:cNvSpPr/>
          <p:nvPr/>
        </p:nvSpPr>
        <p:spPr>
          <a:xfrm>
            <a:off x="0" y="0"/>
            <a:ext cx="12191760" cy="6857640"/>
          </a:xfrm>
          <a:prstGeom prst="rect">
            <a:avLst/>
          </a:prstGeom>
          <a:solidFill>
            <a:srgbClr val="f8fafc"/>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pic>
        <p:nvPicPr>
          <p:cNvPr id="452" name="Google Shape;521;p27" descr=""/>
          <p:cNvPicPr/>
          <p:nvPr/>
        </p:nvPicPr>
        <p:blipFill>
          <a:blip r:embed="rId1"/>
          <a:srcRect l="129" t="0" r="129" b="0"/>
          <a:stretch/>
        </p:blipFill>
        <p:spPr>
          <a:xfrm>
            <a:off x="0" y="0"/>
            <a:ext cx="12191760" cy="56880"/>
          </a:xfrm>
          <a:prstGeom prst="rect">
            <a:avLst/>
          </a:prstGeom>
          <a:ln w="0">
            <a:noFill/>
          </a:ln>
        </p:spPr>
      </p:pic>
      <p:sp>
        <p:nvSpPr>
          <p:cNvPr id="453" name="Google Shape;522;p27"/>
          <p:cNvSpPr/>
          <p:nvPr/>
        </p:nvSpPr>
        <p:spPr>
          <a:xfrm>
            <a:off x="762120" y="1123920"/>
            <a:ext cx="10667520" cy="18720"/>
          </a:xfrm>
          <a:prstGeom prst="rect">
            <a:avLst/>
          </a:prstGeom>
          <a:solidFill>
            <a:srgbClr val="e2e8f0"/>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454" name="Google Shape;523;p27"/>
          <p:cNvSpPr/>
          <p:nvPr/>
        </p:nvSpPr>
        <p:spPr>
          <a:xfrm>
            <a:off x="6086520" y="1523880"/>
            <a:ext cx="18720" cy="4000320"/>
          </a:xfrm>
          <a:prstGeom prst="rect">
            <a:avLst/>
          </a:prstGeom>
          <a:solidFill>
            <a:srgbClr val="d4a017"/>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455" name="Google Shape;524;p27"/>
          <p:cNvSpPr/>
          <p:nvPr/>
        </p:nvSpPr>
        <p:spPr>
          <a:xfrm>
            <a:off x="762120" y="523800"/>
            <a:ext cx="10667520" cy="57132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 sz="2400" spc="-1" strike="noStrike">
                <a:solidFill>
                  <a:srgbClr val="045a36"/>
                </a:solidFill>
                <a:latin typeface="Montserrat SemiBold"/>
                <a:ea typeface="Montserrat SemiBold"/>
              </a:rPr>
              <a:t>Standard Emails Consist of Structured Headers and a Main Body</a:t>
            </a:r>
            <a:endParaRPr b="0" lang="en-US" sz="2400" spc="-1" strike="noStrike">
              <a:solidFill>
                <a:srgbClr val="000000"/>
              </a:solidFill>
              <a:latin typeface="Arial"/>
            </a:endParaRPr>
          </a:p>
        </p:txBody>
      </p:sp>
      <p:sp>
        <p:nvSpPr>
          <p:cNvPr id="456" name="Google Shape;525;p27"/>
          <p:cNvSpPr/>
          <p:nvPr/>
        </p:nvSpPr>
        <p:spPr>
          <a:xfrm>
            <a:off x="762120" y="1380960"/>
            <a:ext cx="4952520" cy="6667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300" spc="-1" strike="noStrike">
                <a:solidFill>
                  <a:srgbClr val="374151"/>
                </a:solidFill>
                <a:latin typeface="Inter"/>
                <a:ea typeface="Inter"/>
              </a:rPr>
              <a:t>To build an email programmatically, we must understand its basic anatomy. Every standard email is divided into structured components.</a:t>
            </a:r>
            <a:endParaRPr b="0" lang="en-US" sz="1300" spc="-1" strike="noStrike">
              <a:solidFill>
                <a:srgbClr val="000000"/>
              </a:solidFill>
              <a:latin typeface="Arial"/>
            </a:endParaRPr>
          </a:p>
        </p:txBody>
      </p:sp>
      <p:grpSp>
        <p:nvGrpSpPr>
          <p:cNvPr id="457" name="Google Shape;526;p27"/>
          <p:cNvGrpSpPr/>
          <p:nvPr/>
        </p:nvGrpSpPr>
        <p:grpSpPr>
          <a:xfrm>
            <a:off x="762120" y="2143080"/>
            <a:ext cx="4952520" cy="1618920"/>
            <a:chOff x="762120" y="2143080"/>
            <a:chExt cx="4952520" cy="1618920"/>
          </a:xfrm>
        </p:grpSpPr>
        <p:sp>
          <p:nvSpPr>
            <p:cNvPr id="458" name="Google Shape;527;p27"/>
            <p:cNvSpPr/>
            <p:nvPr/>
          </p:nvSpPr>
          <p:spPr>
            <a:xfrm>
              <a:off x="762120" y="2143080"/>
              <a:ext cx="4952520" cy="1618920"/>
            </a:xfrm>
            <a:prstGeom prst="roundRect">
              <a:avLst>
                <a:gd name="adj" fmla="val 5882"/>
              </a:avLst>
            </a:prstGeom>
            <a:solidFill>
              <a:srgbClr val="f1f5f9"/>
            </a:solidFill>
            <a:ln w="14300">
              <a:solidFill>
                <a:srgbClr val="e2e8f0"/>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459" name="Google Shape;528;p27"/>
            <p:cNvSpPr/>
            <p:nvPr/>
          </p:nvSpPr>
          <p:spPr>
            <a:xfrm>
              <a:off x="762120" y="2143080"/>
              <a:ext cx="4952520" cy="75960"/>
            </a:xfrm>
            <a:prstGeom prst="roundRect">
              <a:avLst>
                <a:gd name="adj" fmla="val 50000"/>
              </a:avLst>
            </a:prstGeom>
            <a:solidFill>
              <a:srgbClr val="d4a017"/>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460" name="Google Shape;529;p27"/>
            <p:cNvSpPr/>
            <p:nvPr/>
          </p:nvSpPr>
          <p:spPr>
            <a:xfrm>
              <a:off x="1000080" y="2333520"/>
              <a:ext cx="4476600" cy="28548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250" spc="-1" strike="noStrike">
                  <a:solidFill>
                    <a:srgbClr val="045a36"/>
                  </a:solidFill>
                  <a:latin typeface="Montserrat"/>
                  <a:ea typeface="Montserrat"/>
                </a:rPr>
                <a:t>Routing Headers (Metadata)</a:t>
              </a:r>
              <a:endParaRPr b="0" lang="en-US" sz="1250" spc="-1" strike="noStrike">
                <a:solidFill>
                  <a:srgbClr val="000000"/>
                </a:solidFill>
                <a:latin typeface="Arial"/>
              </a:endParaRPr>
            </a:p>
          </p:txBody>
        </p:sp>
        <p:grpSp>
          <p:nvGrpSpPr>
            <p:cNvPr id="461" name="Google Shape;530;p27"/>
            <p:cNvGrpSpPr/>
            <p:nvPr/>
          </p:nvGrpSpPr>
          <p:grpSpPr>
            <a:xfrm>
              <a:off x="1000080" y="2666880"/>
              <a:ext cx="4476600" cy="952200"/>
              <a:chOff x="1000080" y="2666880"/>
              <a:chExt cx="4476600" cy="952200"/>
            </a:xfrm>
          </p:grpSpPr>
          <p:grpSp>
            <p:nvGrpSpPr>
              <p:cNvPr id="462" name="Google Shape;531;p27"/>
              <p:cNvGrpSpPr/>
              <p:nvPr/>
            </p:nvGrpSpPr>
            <p:grpSpPr>
              <a:xfrm>
                <a:off x="1000080" y="2666880"/>
                <a:ext cx="4476600" cy="285480"/>
                <a:chOff x="1000080" y="2666880"/>
                <a:chExt cx="4476600" cy="285480"/>
              </a:xfrm>
            </p:grpSpPr>
            <p:grpSp>
              <p:nvGrpSpPr>
                <p:cNvPr id="463" name="Google Shape;532;p27"/>
                <p:cNvGrpSpPr/>
                <p:nvPr/>
              </p:nvGrpSpPr>
              <p:grpSpPr>
                <a:xfrm>
                  <a:off x="1000080" y="2685960"/>
                  <a:ext cx="190080" cy="190080"/>
                  <a:chOff x="1000080" y="2685960"/>
                  <a:chExt cx="190080" cy="190080"/>
                </a:xfrm>
              </p:grpSpPr>
              <p:sp>
                <p:nvSpPr>
                  <p:cNvPr id="464" name="Google Shape;533;p27"/>
                  <p:cNvSpPr/>
                  <p:nvPr/>
                </p:nvSpPr>
                <p:spPr>
                  <a:xfrm>
                    <a:off x="1000080" y="2685960"/>
                    <a:ext cx="190080" cy="19008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465" name="Google Shape;534;p27"/>
                  <p:cNvSpPr/>
                  <p:nvPr/>
                </p:nvSpPr>
                <p:spPr>
                  <a:xfrm>
                    <a:off x="1057320" y="2766960"/>
                    <a:ext cx="75960" cy="47520"/>
                  </a:xfrm>
                  <a:custGeom>
                    <a:avLst/>
                    <a:gdLst>
                      <a:gd name="textAreaLeft" fmla="*/ 0 w 75960"/>
                      <a:gd name="textAreaRight" fmla="*/ 76320 w 75960"/>
                      <a:gd name="textAreaTop" fmla="*/ 0 h 47520"/>
                      <a:gd name="textAreaBottom" fmla="*/ 47880 h 47520"/>
                    </a:gdLst>
                    <a:ahLst/>
                    <a:rect l="textAreaLeft" t="textAreaTop" r="textAreaRight" b="textAreaBottom"/>
                    <a:pathLst>
                      <a:path w="120000" h="120000">
                        <a:moveTo>
                          <a:pt x="0" y="48000"/>
                        </a:moveTo>
                        <a:lnTo>
                          <a:pt x="45000"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466" name="Google Shape;535;p27"/>
                <p:cNvSpPr/>
                <p:nvPr/>
              </p:nvSpPr>
              <p:spPr>
                <a:xfrm>
                  <a:off x="1285920" y="2666880"/>
                  <a:ext cx="4190760" cy="28548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150" spc="-1" strike="noStrike">
                      <a:solidFill>
                        <a:srgbClr val="045a36"/>
                      </a:solidFill>
                      <a:latin typeface="Inter SemiBold"/>
                      <a:ea typeface="Inter SemiBold"/>
                    </a:rPr>
                    <a:t>From:</a:t>
                  </a:r>
                  <a:r>
                    <a:rPr b="0" lang="en" sz="1150" spc="-1" strike="noStrike">
                      <a:solidFill>
                        <a:srgbClr val="374151"/>
                      </a:solidFill>
                      <a:latin typeface="Inter"/>
                      <a:ea typeface="Inter"/>
                    </a:rPr>
                    <a:t> </a:t>
                  </a:r>
                  <a:r>
                    <a:rPr b="0" lang="en" sz="1150" spc="-1" strike="noStrike">
                      <a:solidFill>
                        <a:srgbClr val="1f2937"/>
                      </a:solidFill>
                      <a:highlight>
                        <a:srgbClr val="ffffff"/>
                      </a:highlight>
                      <a:latin typeface="Arial"/>
                      <a:ea typeface="Arial"/>
                    </a:rPr>
                    <a:t>teacher@gmail.com</a:t>
                  </a:r>
                  <a:r>
                    <a:rPr b="0" lang="en" sz="1150" spc="-1" strike="noStrike">
                      <a:solidFill>
                        <a:srgbClr val="374151"/>
                      </a:solidFill>
                      <a:latin typeface="Inter"/>
                      <a:ea typeface="Inter"/>
                    </a:rPr>
                    <a:t> </a:t>
                  </a:r>
                  <a:r>
                    <a:rPr b="0" lang="en" sz="1000" spc="-1" strike="noStrike">
                      <a:solidFill>
                        <a:srgbClr val="6b7280"/>
                      </a:solidFill>
                      <a:latin typeface="Inter"/>
                      <a:ea typeface="Inter"/>
                    </a:rPr>
                    <a:t>(Sender's address)</a:t>
                  </a:r>
                  <a:endParaRPr b="0" lang="en-US" sz="1000" spc="-1" strike="noStrike">
                    <a:solidFill>
                      <a:srgbClr val="000000"/>
                    </a:solidFill>
                    <a:latin typeface="Arial"/>
                  </a:endParaRPr>
                </a:p>
              </p:txBody>
            </p:sp>
          </p:grpSp>
          <p:grpSp>
            <p:nvGrpSpPr>
              <p:cNvPr id="467" name="Google Shape;536;p27"/>
              <p:cNvGrpSpPr/>
              <p:nvPr/>
            </p:nvGrpSpPr>
            <p:grpSpPr>
              <a:xfrm>
                <a:off x="1000080" y="3000240"/>
                <a:ext cx="4476600" cy="285480"/>
                <a:chOff x="1000080" y="3000240"/>
                <a:chExt cx="4476600" cy="285480"/>
              </a:xfrm>
            </p:grpSpPr>
            <p:grpSp>
              <p:nvGrpSpPr>
                <p:cNvPr id="468" name="Google Shape;537;p27"/>
                <p:cNvGrpSpPr/>
                <p:nvPr/>
              </p:nvGrpSpPr>
              <p:grpSpPr>
                <a:xfrm>
                  <a:off x="1000080" y="3019320"/>
                  <a:ext cx="190080" cy="190080"/>
                  <a:chOff x="1000080" y="3019320"/>
                  <a:chExt cx="190080" cy="190080"/>
                </a:xfrm>
              </p:grpSpPr>
              <p:sp>
                <p:nvSpPr>
                  <p:cNvPr id="469" name="Google Shape;538;p27"/>
                  <p:cNvSpPr/>
                  <p:nvPr/>
                </p:nvSpPr>
                <p:spPr>
                  <a:xfrm>
                    <a:off x="1000080" y="3019320"/>
                    <a:ext cx="190080" cy="19008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470" name="Google Shape;539;p27"/>
                  <p:cNvSpPr/>
                  <p:nvPr/>
                </p:nvSpPr>
                <p:spPr>
                  <a:xfrm>
                    <a:off x="1057320" y="3100320"/>
                    <a:ext cx="75960" cy="47520"/>
                  </a:xfrm>
                  <a:custGeom>
                    <a:avLst/>
                    <a:gdLst>
                      <a:gd name="textAreaLeft" fmla="*/ 0 w 75960"/>
                      <a:gd name="textAreaRight" fmla="*/ 76320 w 75960"/>
                      <a:gd name="textAreaTop" fmla="*/ 0 h 47520"/>
                      <a:gd name="textAreaBottom" fmla="*/ 47880 h 47520"/>
                    </a:gdLst>
                    <a:ahLst/>
                    <a:rect l="textAreaLeft" t="textAreaTop" r="textAreaRight" b="textAreaBottom"/>
                    <a:pathLst>
                      <a:path w="120000" h="120000">
                        <a:moveTo>
                          <a:pt x="0" y="48000"/>
                        </a:moveTo>
                        <a:lnTo>
                          <a:pt x="45000"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471" name="Google Shape;540;p27"/>
                <p:cNvSpPr/>
                <p:nvPr/>
              </p:nvSpPr>
              <p:spPr>
                <a:xfrm>
                  <a:off x="1285920" y="3000240"/>
                  <a:ext cx="4190760" cy="28548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150" spc="-1" strike="noStrike">
                      <a:solidFill>
                        <a:srgbClr val="045a36"/>
                      </a:solidFill>
                      <a:latin typeface="Inter SemiBold"/>
                      <a:ea typeface="Inter SemiBold"/>
                    </a:rPr>
                    <a:t>To:</a:t>
                  </a:r>
                  <a:r>
                    <a:rPr b="0" lang="en" sz="1150" spc="-1" strike="noStrike">
                      <a:solidFill>
                        <a:srgbClr val="374151"/>
                      </a:solidFill>
                      <a:latin typeface="Inter"/>
                      <a:ea typeface="Inter"/>
                    </a:rPr>
                    <a:t> </a:t>
                  </a:r>
                  <a:r>
                    <a:rPr b="0" lang="en" sz="1150" spc="-1" strike="noStrike">
                      <a:solidFill>
                        <a:srgbClr val="1f2937"/>
                      </a:solidFill>
                      <a:highlight>
                        <a:srgbClr val="ffffff"/>
                      </a:highlight>
                      <a:latin typeface="Arial"/>
                      <a:ea typeface="Arial"/>
                    </a:rPr>
                    <a:t>student@gmail.com</a:t>
                  </a:r>
                  <a:r>
                    <a:rPr b="0" lang="en" sz="1150" spc="-1" strike="noStrike">
                      <a:solidFill>
                        <a:srgbClr val="374151"/>
                      </a:solidFill>
                      <a:latin typeface="Inter"/>
                      <a:ea typeface="Inter"/>
                    </a:rPr>
                    <a:t> </a:t>
                  </a:r>
                  <a:r>
                    <a:rPr b="0" lang="en" sz="1000" spc="-1" strike="noStrike">
                      <a:solidFill>
                        <a:srgbClr val="6b7280"/>
                      </a:solidFill>
                      <a:latin typeface="Inter"/>
                      <a:ea typeface="Inter"/>
                    </a:rPr>
                    <a:t>(Recipient's destination)</a:t>
                  </a:r>
                  <a:endParaRPr b="0" lang="en-US" sz="1000" spc="-1" strike="noStrike">
                    <a:solidFill>
                      <a:srgbClr val="000000"/>
                    </a:solidFill>
                    <a:latin typeface="Arial"/>
                  </a:endParaRPr>
                </a:p>
              </p:txBody>
            </p:sp>
          </p:grpSp>
          <p:grpSp>
            <p:nvGrpSpPr>
              <p:cNvPr id="472" name="Google Shape;541;p27"/>
              <p:cNvGrpSpPr/>
              <p:nvPr/>
            </p:nvGrpSpPr>
            <p:grpSpPr>
              <a:xfrm>
                <a:off x="1000080" y="3333600"/>
                <a:ext cx="4476600" cy="285480"/>
                <a:chOff x="1000080" y="3333600"/>
                <a:chExt cx="4476600" cy="285480"/>
              </a:xfrm>
            </p:grpSpPr>
            <p:grpSp>
              <p:nvGrpSpPr>
                <p:cNvPr id="473" name="Google Shape;542;p27"/>
                <p:cNvGrpSpPr/>
                <p:nvPr/>
              </p:nvGrpSpPr>
              <p:grpSpPr>
                <a:xfrm>
                  <a:off x="1000080" y="3352680"/>
                  <a:ext cx="190080" cy="190080"/>
                  <a:chOff x="1000080" y="3352680"/>
                  <a:chExt cx="190080" cy="190080"/>
                </a:xfrm>
              </p:grpSpPr>
              <p:sp>
                <p:nvSpPr>
                  <p:cNvPr id="474" name="Google Shape;543;p27"/>
                  <p:cNvSpPr/>
                  <p:nvPr/>
                </p:nvSpPr>
                <p:spPr>
                  <a:xfrm>
                    <a:off x="1000080" y="3352680"/>
                    <a:ext cx="190080" cy="19008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475" name="Google Shape;544;p27"/>
                  <p:cNvSpPr/>
                  <p:nvPr/>
                </p:nvSpPr>
                <p:spPr>
                  <a:xfrm>
                    <a:off x="1057320" y="3433680"/>
                    <a:ext cx="75960" cy="47520"/>
                  </a:xfrm>
                  <a:custGeom>
                    <a:avLst/>
                    <a:gdLst>
                      <a:gd name="textAreaLeft" fmla="*/ 0 w 75960"/>
                      <a:gd name="textAreaRight" fmla="*/ 76320 w 75960"/>
                      <a:gd name="textAreaTop" fmla="*/ 0 h 47520"/>
                      <a:gd name="textAreaBottom" fmla="*/ 47880 h 47520"/>
                    </a:gdLst>
                    <a:ahLst/>
                    <a:rect l="textAreaLeft" t="textAreaTop" r="textAreaRight" b="textAreaBottom"/>
                    <a:pathLst>
                      <a:path w="120000" h="120000">
                        <a:moveTo>
                          <a:pt x="0" y="48000"/>
                        </a:moveTo>
                        <a:lnTo>
                          <a:pt x="45000"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476" name="Google Shape;545;p27"/>
                <p:cNvSpPr/>
                <p:nvPr/>
              </p:nvSpPr>
              <p:spPr>
                <a:xfrm>
                  <a:off x="1285920" y="3333600"/>
                  <a:ext cx="4190760" cy="28548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150" spc="-1" strike="noStrike">
                      <a:solidFill>
                        <a:srgbClr val="045a36"/>
                      </a:solidFill>
                      <a:latin typeface="Inter SemiBold"/>
                      <a:ea typeface="Inter SemiBold"/>
                    </a:rPr>
                    <a:t>Subject:</a:t>
                  </a:r>
                  <a:r>
                    <a:rPr b="0" lang="en" sz="1150" spc="-1" strike="noStrike">
                      <a:solidFill>
                        <a:srgbClr val="374151"/>
                      </a:solidFill>
                      <a:latin typeface="Inter"/>
                      <a:ea typeface="Inter"/>
                    </a:rPr>
                    <a:t> </a:t>
                  </a:r>
                  <a:r>
                    <a:rPr b="0" lang="en" sz="1150" spc="-1" strike="noStrike">
                      <a:solidFill>
                        <a:srgbClr val="1f2937"/>
                      </a:solidFill>
                      <a:highlight>
                        <a:srgbClr val="ffffff"/>
                      </a:highlight>
                      <a:latin typeface="Arial"/>
                      <a:ea typeface="Arial"/>
                    </a:rPr>
                    <a:t>Python Assignment</a:t>
                  </a:r>
                  <a:r>
                    <a:rPr b="0" lang="en" sz="1150" spc="-1" strike="noStrike">
                      <a:solidFill>
                        <a:srgbClr val="374151"/>
                      </a:solidFill>
                      <a:latin typeface="Inter"/>
                      <a:ea typeface="Inter"/>
                    </a:rPr>
                    <a:t> </a:t>
                  </a:r>
                  <a:r>
                    <a:rPr b="0" lang="en" sz="1000" spc="-1" strike="noStrike">
                      <a:solidFill>
                        <a:srgbClr val="6b7280"/>
                      </a:solidFill>
                      <a:latin typeface="Inter"/>
                      <a:ea typeface="Inter"/>
                    </a:rPr>
                    <a:t>(Content summary)</a:t>
                  </a:r>
                  <a:endParaRPr b="0" lang="en-US" sz="1000" spc="-1" strike="noStrike">
                    <a:solidFill>
                      <a:srgbClr val="000000"/>
                    </a:solidFill>
                    <a:latin typeface="Arial"/>
                  </a:endParaRPr>
                </a:p>
              </p:txBody>
            </p:sp>
          </p:grpSp>
        </p:grpSp>
      </p:grpSp>
      <p:grpSp>
        <p:nvGrpSpPr>
          <p:cNvPr id="477" name="Google Shape;546;p27"/>
          <p:cNvGrpSpPr/>
          <p:nvPr/>
        </p:nvGrpSpPr>
        <p:grpSpPr>
          <a:xfrm>
            <a:off x="762120" y="3905280"/>
            <a:ext cx="4952520" cy="1095120"/>
            <a:chOff x="762120" y="3905280"/>
            <a:chExt cx="4952520" cy="1095120"/>
          </a:xfrm>
        </p:grpSpPr>
        <p:sp>
          <p:nvSpPr>
            <p:cNvPr id="478" name="Google Shape;547;p27"/>
            <p:cNvSpPr/>
            <p:nvPr/>
          </p:nvSpPr>
          <p:spPr>
            <a:xfrm>
              <a:off x="762120" y="3905280"/>
              <a:ext cx="4952520" cy="1095120"/>
            </a:xfrm>
            <a:prstGeom prst="roundRect">
              <a:avLst>
                <a:gd name="adj" fmla="val 8695"/>
              </a:avLst>
            </a:prstGeom>
            <a:solidFill>
              <a:srgbClr val="f1f5f9"/>
            </a:solidFill>
            <a:ln w="14300">
              <a:solidFill>
                <a:srgbClr val="e2e8f0"/>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479" name="Google Shape;548;p27"/>
            <p:cNvSpPr/>
            <p:nvPr/>
          </p:nvSpPr>
          <p:spPr>
            <a:xfrm>
              <a:off x="762120" y="3905280"/>
              <a:ext cx="4952520" cy="75960"/>
            </a:xfrm>
            <a:prstGeom prst="roundRect">
              <a:avLst>
                <a:gd name="adj" fmla="val 50000"/>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480" name="Google Shape;549;p27"/>
            <p:cNvSpPr/>
            <p:nvPr/>
          </p:nvSpPr>
          <p:spPr>
            <a:xfrm>
              <a:off x="1000080" y="4095720"/>
              <a:ext cx="4476600" cy="28548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250" spc="-1" strike="noStrike">
                  <a:solidFill>
                    <a:srgbClr val="045a36"/>
                  </a:solidFill>
                  <a:latin typeface="Montserrat"/>
                  <a:ea typeface="Montserrat"/>
                </a:rPr>
                <a:t>Email Body (Payload)</a:t>
              </a:r>
              <a:endParaRPr b="0" lang="en-US" sz="1250" spc="-1" strike="noStrike">
                <a:solidFill>
                  <a:srgbClr val="000000"/>
                </a:solidFill>
                <a:latin typeface="Arial"/>
              </a:endParaRPr>
            </a:p>
          </p:txBody>
        </p:sp>
        <p:sp>
          <p:nvSpPr>
            <p:cNvPr id="481" name="Google Shape;550;p27"/>
            <p:cNvSpPr/>
            <p:nvPr/>
          </p:nvSpPr>
          <p:spPr>
            <a:xfrm>
              <a:off x="1000080" y="4429080"/>
              <a:ext cx="4476600" cy="42840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i="1" lang="en" sz="1150" spc="-1" strike="noStrike">
                  <a:solidFill>
                    <a:srgbClr val="1f2937"/>
                  </a:solidFill>
                  <a:highlight>
                    <a:srgbClr val="ffffff"/>
                  </a:highlight>
                  <a:latin typeface="Arial"/>
                  <a:ea typeface="Arial"/>
                </a:rPr>
                <a:t>"Hello Student, Your assignment has been received."</a:t>
              </a:r>
              <a:endParaRPr b="0" lang="en-US" sz="1150" spc="-1" strike="noStrike">
                <a:solidFill>
                  <a:srgbClr val="000000"/>
                </a:solidFill>
                <a:latin typeface="Arial"/>
              </a:endParaRPr>
            </a:p>
          </p:txBody>
        </p:sp>
      </p:grpSp>
      <p:sp>
        <p:nvSpPr>
          <p:cNvPr id="482" name="Google Shape;551;p27"/>
          <p:cNvSpPr/>
          <p:nvPr/>
        </p:nvSpPr>
        <p:spPr>
          <a:xfrm>
            <a:off x="762120" y="5095800"/>
            <a:ext cx="4952520" cy="61884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200" spc="-1" strike="noStrike">
                <a:solidFill>
                  <a:srgbClr val="045a36"/>
                </a:solidFill>
                <a:latin typeface="Inter SemiBold"/>
                <a:ea typeface="Inter SemiBold"/>
              </a:rPr>
              <a:t>Understanding this strict separation between headers and body is crucial for proper programmatic construction.</a:t>
            </a:r>
            <a:endParaRPr b="0" lang="en-US" sz="1200" spc="-1" strike="noStrike">
              <a:solidFill>
                <a:srgbClr val="000000"/>
              </a:solidFill>
              <a:latin typeface="Arial"/>
            </a:endParaRPr>
          </a:p>
        </p:txBody>
      </p:sp>
      <p:pic>
        <p:nvPicPr>
          <p:cNvPr id="483" name="Google Shape;552;p27" descr=""/>
          <p:cNvPicPr/>
          <p:nvPr/>
        </p:nvPicPr>
        <p:blipFill>
          <a:blip r:embed="rId2"/>
          <a:srcRect l="0" t="42" r="0" b="51"/>
          <a:stretch/>
        </p:blipFill>
        <p:spPr>
          <a:xfrm>
            <a:off x="6477120" y="1571760"/>
            <a:ext cx="4762080" cy="3552480"/>
          </a:xfrm>
          <a:prstGeom prst="rect">
            <a:avLst/>
          </a:prstGeom>
          <a:ln w="0">
            <a:noFill/>
          </a:ln>
        </p:spPr>
      </p:pic>
      <p:sp>
        <p:nvSpPr>
          <p:cNvPr id="484" name="Google Shape;553;p27"/>
          <p:cNvSpPr/>
          <p:nvPr/>
        </p:nvSpPr>
        <p:spPr>
          <a:xfrm>
            <a:off x="6477120" y="5286240"/>
            <a:ext cx="4762080" cy="380520"/>
          </a:xfrm>
          <a:prstGeom prst="rect">
            <a:avLst/>
          </a:prstGeom>
          <a:noFill/>
          <a:ln w="0">
            <a:noFill/>
          </a:ln>
        </p:spPr>
        <p:style>
          <a:lnRef idx="0"/>
          <a:fillRef idx="0"/>
          <a:effectRef idx="0"/>
          <a:fontRef idx="minor"/>
        </p:style>
        <p:txBody>
          <a:bodyPr lIns="0" rIns="0" tIns="0" bIns="0" anchor="ctr">
            <a:noAutofit/>
          </a:bodyPr>
          <a:p>
            <a:pPr algn="ctr">
              <a:lnSpc>
                <a:spcPct val="100000"/>
              </a:lnSpc>
              <a:tabLst>
                <a:tab algn="l" pos="0"/>
              </a:tabLst>
            </a:pPr>
            <a:r>
              <a:rPr b="0" i="1" lang="en" sz="1100" spc="-1" strike="noStrike">
                <a:solidFill>
                  <a:srgbClr val="6b7280"/>
                </a:solidFill>
                <a:latin typeface="Inter"/>
                <a:ea typeface="Inter"/>
              </a:rPr>
              <a:t>Physical Envelope Analogy: Mapping Sender, Recipient, and Content Payload</a:t>
            </a:r>
            <a:endParaRPr b="0" lang="en-US" sz="1100" spc="-1" strike="noStrike">
              <a:solidFill>
                <a:srgbClr val="000000"/>
              </a:solidFill>
              <a:latin typeface="Arial"/>
            </a:endParaRPr>
          </a:p>
        </p:txBody>
      </p:sp>
      <p:pic>
        <p:nvPicPr>
          <p:cNvPr id="485" name="Google Shape;554;p27" descr=""/>
          <p:cNvPicPr/>
          <p:nvPr/>
        </p:nvPicPr>
        <p:blipFill>
          <a:blip r:embed="rId3"/>
          <a:stretch/>
        </p:blipFill>
        <p:spPr>
          <a:xfrm>
            <a:off x="762120" y="5981760"/>
            <a:ext cx="10667520" cy="304560"/>
          </a:xfrm>
          <a:prstGeom prst="rect">
            <a:avLst/>
          </a:prstGeom>
          <a:ln w="0">
            <a:noFill/>
          </a:ln>
        </p:spPr>
      </p:pic>
      <p:sp>
        <p:nvSpPr>
          <p:cNvPr id="486" name="Google Shape;555;p27"/>
          <p:cNvSpPr/>
          <p:nvPr/>
        </p:nvSpPr>
        <p:spPr>
          <a:xfrm>
            <a:off x="762120" y="6134040"/>
            <a:ext cx="4762080" cy="19008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980" spc="-1" strike="noStrike">
                <a:solidFill>
                  <a:srgbClr val="6b7280"/>
                </a:solidFill>
                <a:latin typeface="Inter"/>
                <a:ea typeface="Inter"/>
              </a:rPr>
              <a:t>Introduction to Email Automation &amp; SMTP | Python Basics</a:t>
            </a:r>
            <a:endParaRPr b="0" lang="en-US" sz="980" spc="-1" strike="noStrike">
              <a:solidFill>
                <a:srgbClr val="000000"/>
              </a:solidFill>
              <a:latin typeface="Arial"/>
            </a:endParaRPr>
          </a:p>
        </p:txBody>
      </p:sp>
      <p:pic>
        <p:nvPicPr>
          <p:cNvPr id="487" name="Google Shape;556;p27" descr=""/>
          <p:cNvPicPr/>
          <p:nvPr/>
        </p:nvPicPr>
        <p:blipFill>
          <a:blip r:embed="rId4"/>
          <a:stretch/>
        </p:blipFill>
        <p:spPr>
          <a:xfrm>
            <a:off x="10287000" y="5457960"/>
            <a:ext cx="1523520" cy="1019160"/>
          </a:xfrm>
          <a:prstGeom prst="rect">
            <a:avLst/>
          </a:prstGeom>
          <a:ln w="0">
            <a:noFill/>
          </a:ln>
        </p:spPr>
      </p:pic>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pic>
        <p:nvPicPr>
          <p:cNvPr id="488" name="Google Shape;561;p28" descr=""/>
          <p:cNvPicPr/>
          <p:nvPr/>
        </p:nvPicPr>
        <p:blipFill>
          <a:blip r:embed="rId2"/>
          <a:srcRect l="129" t="0" r="129" b="0"/>
          <a:stretch/>
        </p:blipFill>
        <p:spPr>
          <a:xfrm>
            <a:off x="0" y="0"/>
            <a:ext cx="12191760" cy="56880"/>
          </a:xfrm>
          <a:prstGeom prst="rect">
            <a:avLst/>
          </a:prstGeom>
          <a:ln w="0">
            <a:noFill/>
          </a:ln>
        </p:spPr>
      </p:pic>
      <p:sp>
        <p:nvSpPr>
          <p:cNvPr id="489" name="Google Shape;562;p28"/>
          <p:cNvSpPr/>
          <p:nvPr/>
        </p:nvSpPr>
        <p:spPr>
          <a:xfrm>
            <a:off x="762120" y="476280"/>
            <a:ext cx="10667520" cy="5713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2220" spc="-1" strike="noStrike">
                <a:solidFill>
                  <a:srgbClr val="045a36"/>
                </a:solidFill>
                <a:latin typeface="Montserrat SemiBold"/>
                <a:ea typeface="Montserrat SemiBold"/>
              </a:rPr>
              <a:t>The Email Package Constructs the Message Payload for Transmission</a:t>
            </a:r>
            <a:endParaRPr b="0" lang="en-US" sz="2220" spc="-1" strike="noStrike">
              <a:solidFill>
                <a:srgbClr val="000000"/>
              </a:solidFill>
              <a:latin typeface="Arial"/>
            </a:endParaRPr>
          </a:p>
        </p:txBody>
      </p:sp>
      <p:sp>
        <p:nvSpPr>
          <p:cNvPr id="490" name="Google Shape;563;p28"/>
          <p:cNvSpPr/>
          <p:nvPr/>
        </p:nvSpPr>
        <p:spPr>
          <a:xfrm>
            <a:off x="762120" y="1123920"/>
            <a:ext cx="10667520" cy="18720"/>
          </a:xfrm>
          <a:prstGeom prst="rect">
            <a:avLst/>
          </a:prstGeom>
          <a:solidFill>
            <a:srgbClr val="e2e8f0"/>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491" name="Google Shape;564;p28"/>
          <p:cNvSpPr/>
          <p:nvPr/>
        </p:nvSpPr>
        <p:spPr>
          <a:xfrm>
            <a:off x="762120" y="1257480"/>
            <a:ext cx="10667520" cy="3805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350" spc="-1" strike="noStrike">
                <a:solidFill>
                  <a:srgbClr val="374151"/>
                </a:solidFill>
                <a:latin typeface="Inter"/>
                <a:ea typeface="Inter"/>
              </a:rPr>
              <a:t>To construct our message, we introduce a new tool: </a:t>
            </a:r>
            <a:r>
              <a:rPr b="1" lang="en" sz="1350" spc="-1" strike="noStrike">
                <a:solidFill>
                  <a:srgbClr val="045a36"/>
                </a:solidFill>
                <a:latin typeface="Arial"/>
                <a:ea typeface="Arial"/>
              </a:rPr>
              <a:t>from email.message import EmailMessage</a:t>
            </a:r>
            <a:endParaRPr b="0" lang="en-US" sz="1350" spc="-1" strike="noStrike">
              <a:solidFill>
                <a:srgbClr val="000000"/>
              </a:solidFill>
              <a:latin typeface="Arial"/>
            </a:endParaRPr>
          </a:p>
        </p:txBody>
      </p:sp>
      <p:sp>
        <p:nvSpPr>
          <p:cNvPr id="492" name="Google Shape;565;p28"/>
          <p:cNvSpPr/>
          <p:nvPr/>
        </p:nvSpPr>
        <p:spPr>
          <a:xfrm>
            <a:off x="6086520" y="1666800"/>
            <a:ext cx="18720" cy="3714480"/>
          </a:xfrm>
          <a:prstGeom prst="rect">
            <a:avLst/>
          </a:prstGeom>
          <a:solidFill>
            <a:srgbClr val="d4a017"/>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493" name="Google Shape;566;p28"/>
          <p:cNvSpPr/>
          <p:nvPr/>
        </p:nvSpPr>
        <p:spPr>
          <a:xfrm>
            <a:off x="762120" y="1666800"/>
            <a:ext cx="4857480" cy="3714480"/>
          </a:xfrm>
          <a:prstGeom prst="roundRect">
            <a:avLst>
              <a:gd name="adj" fmla="val 3076"/>
            </a:avLst>
          </a:prstGeom>
          <a:solidFill>
            <a:srgbClr val="ffffff"/>
          </a:solidFill>
          <a:ln w="9525">
            <a:solidFill>
              <a:srgbClr val="e2e8f0"/>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494" name="Google Shape;567;p28"/>
          <p:cNvSpPr/>
          <p:nvPr/>
        </p:nvSpPr>
        <p:spPr>
          <a:xfrm>
            <a:off x="762120" y="1666800"/>
            <a:ext cx="4857480" cy="75960"/>
          </a:xfrm>
          <a:prstGeom prst="roundRect">
            <a:avLst>
              <a:gd name="adj" fmla="val 50000"/>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495" name="Google Shape;568;p28"/>
          <p:cNvSpPr/>
          <p:nvPr/>
        </p:nvSpPr>
        <p:spPr>
          <a:xfrm>
            <a:off x="1000080" y="1857240"/>
            <a:ext cx="4381200" cy="5713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600" spc="-1" strike="noStrike">
                <a:solidFill>
                  <a:srgbClr val="045a36"/>
                </a:solidFill>
                <a:latin typeface="Montserrat"/>
                <a:ea typeface="Montserrat"/>
              </a:rPr>
              <a:t>The email Package</a:t>
            </a:r>
            <a:endParaRPr b="0" lang="en-US" sz="1600" spc="-1" strike="noStrike">
              <a:solidFill>
                <a:srgbClr val="000000"/>
              </a:solidFill>
              <a:latin typeface="Arial"/>
            </a:endParaRPr>
          </a:p>
          <a:p>
            <a:pPr>
              <a:lnSpc>
                <a:spcPct val="100000"/>
              </a:lnSpc>
              <a:spcBef>
                <a:spcPts val="300"/>
              </a:spcBef>
              <a:tabLst>
                <a:tab algn="l" pos="0"/>
              </a:tabLst>
            </a:pPr>
            <a:r>
              <a:rPr b="1" lang="en" sz="1050" spc="-1" strike="noStrike">
                <a:solidFill>
                  <a:srgbClr val="d4a017"/>
                </a:solidFill>
                <a:latin typeface="Inter"/>
                <a:ea typeface="Inter"/>
              </a:rPr>
              <a:t>The Letter &amp; Envelope (Data Layer)</a:t>
            </a:r>
            <a:endParaRPr b="0" lang="en-US" sz="1050" spc="-1" strike="noStrike">
              <a:solidFill>
                <a:srgbClr val="000000"/>
              </a:solidFill>
              <a:latin typeface="Arial"/>
            </a:endParaRPr>
          </a:p>
        </p:txBody>
      </p:sp>
      <p:sp>
        <p:nvSpPr>
          <p:cNvPr id="496" name="Google Shape;569;p28"/>
          <p:cNvSpPr/>
          <p:nvPr/>
        </p:nvSpPr>
        <p:spPr>
          <a:xfrm>
            <a:off x="1000080" y="2476440"/>
            <a:ext cx="4381200" cy="80928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250" spc="-1" strike="noStrike">
                <a:solidFill>
                  <a:srgbClr val="374151"/>
                </a:solidFill>
                <a:latin typeface="Inter"/>
                <a:ea typeface="Inter"/>
              </a:rPr>
              <a:t>Responsible for the data layer. It is responsible for creating, formatting, and structuring the actual email message content.</a:t>
            </a:r>
            <a:endParaRPr b="0" lang="en-US" sz="1250" spc="-1" strike="noStrike">
              <a:solidFill>
                <a:srgbClr val="000000"/>
              </a:solidFill>
              <a:latin typeface="Arial"/>
            </a:endParaRPr>
          </a:p>
        </p:txBody>
      </p:sp>
      <p:grpSp>
        <p:nvGrpSpPr>
          <p:cNvPr id="497" name="Google Shape;570;p28"/>
          <p:cNvGrpSpPr/>
          <p:nvPr/>
        </p:nvGrpSpPr>
        <p:grpSpPr>
          <a:xfrm>
            <a:off x="1000080" y="3448080"/>
            <a:ext cx="190080" cy="190080"/>
            <a:chOff x="1000080" y="3448080"/>
            <a:chExt cx="190080" cy="190080"/>
          </a:xfrm>
        </p:grpSpPr>
        <p:sp>
          <p:nvSpPr>
            <p:cNvPr id="498" name="Google Shape;571;p28"/>
            <p:cNvSpPr/>
            <p:nvPr/>
          </p:nvSpPr>
          <p:spPr>
            <a:xfrm>
              <a:off x="1000080" y="3448080"/>
              <a:ext cx="190080" cy="19008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499" name="Google Shape;572;p28"/>
            <p:cNvSpPr/>
            <p:nvPr/>
          </p:nvSpPr>
          <p:spPr>
            <a:xfrm>
              <a:off x="1057320" y="3529080"/>
              <a:ext cx="75960" cy="47520"/>
            </a:xfrm>
            <a:custGeom>
              <a:avLst/>
              <a:gdLst>
                <a:gd name="textAreaLeft" fmla="*/ 0 w 75960"/>
                <a:gd name="textAreaRight" fmla="*/ 76320 w 75960"/>
                <a:gd name="textAreaTop" fmla="*/ 0 h 47520"/>
                <a:gd name="textAreaBottom" fmla="*/ 47880 h 47520"/>
              </a:gdLst>
              <a:ahLst/>
              <a:rect l="textAreaLeft" t="textAreaTop" r="textAreaRight" b="textAreaBottom"/>
              <a:pathLst>
                <a:path w="120000" h="120000">
                  <a:moveTo>
                    <a:pt x="0" y="48000"/>
                  </a:moveTo>
                  <a:lnTo>
                    <a:pt x="45000"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500" name="Google Shape;573;p28"/>
          <p:cNvSpPr/>
          <p:nvPr/>
        </p:nvSpPr>
        <p:spPr>
          <a:xfrm>
            <a:off x="1285920" y="3381480"/>
            <a:ext cx="4047840" cy="42840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250" spc="-1" strike="noStrike">
                <a:solidFill>
                  <a:srgbClr val="374151"/>
                </a:solidFill>
                <a:latin typeface="Inter"/>
                <a:ea typeface="Inter"/>
              </a:rPr>
              <a:t>Acts as the digital envelope and letter</a:t>
            </a:r>
            <a:endParaRPr b="0" lang="en-US" sz="1250" spc="-1" strike="noStrike">
              <a:solidFill>
                <a:srgbClr val="000000"/>
              </a:solidFill>
              <a:latin typeface="Arial"/>
            </a:endParaRPr>
          </a:p>
        </p:txBody>
      </p:sp>
      <p:grpSp>
        <p:nvGrpSpPr>
          <p:cNvPr id="501" name="Google Shape;574;p28"/>
          <p:cNvGrpSpPr/>
          <p:nvPr/>
        </p:nvGrpSpPr>
        <p:grpSpPr>
          <a:xfrm>
            <a:off x="1000080" y="3971880"/>
            <a:ext cx="190080" cy="190080"/>
            <a:chOff x="1000080" y="3971880"/>
            <a:chExt cx="190080" cy="190080"/>
          </a:xfrm>
        </p:grpSpPr>
        <p:sp>
          <p:nvSpPr>
            <p:cNvPr id="502" name="Google Shape;575;p28"/>
            <p:cNvSpPr/>
            <p:nvPr/>
          </p:nvSpPr>
          <p:spPr>
            <a:xfrm>
              <a:off x="1000080" y="3971880"/>
              <a:ext cx="190080" cy="19008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503" name="Google Shape;576;p28"/>
            <p:cNvSpPr/>
            <p:nvPr/>
          </p:nvSpPr>
          <p:spPr>
            <a:xfrm>
              <a:off x="1057320" y="4052880"/>
              <a:ext cx="75960" cy="47520"/>
            </a:xfrm>
            <a:custGeom>
              <a:avLst/>
              <a:gdLst>
                <a:gd name="textAreaLeft" fmla="*/ 0 w 75960"/>
                <a:gd name="textAreaRight" fmla="*/ 76320 w 75960"/>
                <a:gd name="textAreaTop" fmla="*/ 0 h 47520"/>
                <a:gd name="textAreaBottom" fmla="*/ 47880 h 47520"/>
              </a:gdLst>
              <a:ahLst/>
              <a:rect l="textAreaLeft" t="textAreaTop" r="textAreaRight" b="textAreaBottom"/>
              <a:pathLst>
                <a:path w="120000" h="120000">
                  <a:moveTo>
                    <a:pt x="0" y="48000"/>
                  </a:moveTo>
                  <a:lnTo>
                    <a:pt x="45000"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504" name="Google Shape;577;p28"/>
          <p:cNvSpPr/>
          <p:nvPr/>
        </p:nvSpPr>
        <p:spPr>
          <a:xfrm>
            <a:off x="1285920" y="3905280"/>
            <a:ext cx="4047840" cy="42840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250" spc="-1" strike="noStrike">
                <a:solidFill>
                  <a:srgbClr val="374151"/>
                </a:solidFill>
                <a:latin typeface="Inter"/>
                <a:ea typeface="Inter"/>
              </a:rPr>
              <a:t>Sets up message content, headers, and body structure</a:t>
            </a:r>
            <a:endParaRPr b="0" lang="en-US" sz="1250" spc="-1" strike="noStrike">
              <a:solidFill>
                <a:srgbClr val="000000"/>
              </a:solidFill>
              <a:latin typeface="Arial"/>
            </a:endParaRPr>
          </a:p>
        </p:txBody>
      </p:sp>
      <p:sp>
        <p:nvSpPr>
          <p:cNvPr id="505" name="Google Shape;578;p28"/>
          <p:cNvSpPr/>
          <p:nvPr/>
        </p:nvSpPr>
        <p:spPr>
          <a:xfrm>
            <a:off x="6572160" y="1666800"/>
            <a:ext cx="4857480" cy="3714480"/>
          </a:xfrm>
          <a:prstGeom prst="roundRect">
            <a:avLst>
              <a:gd name="adj" fmla="val 3076"/>
            </a:avLst>
          </a:prstGeom>
          <a:solidFill>
            <a:srgbClr val="ffffff"/>
          </a:solidFill>
          <a:ln w="9525">
            <a:solidFill>
              <a:srgbClr val="e2e8f0"/>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506" name="Google Shape;579;p28"/>
          <p:cNvSpPr/>
          <p:nvPr/>
        </p:nvSpPr>
        <p:spPr>
          <a:xfrm>
            <a:off x="6572160" y="1666800"/>
            <a:ext cx="4857480" cy="75960"/>
          </a:xfrm>
          <a:prstGeom prst="roundRect">
            <a:avLst>
              <a:gd name="adj" fmla="val 50000"/>
            </a:avLst>
          </a:prstGeom>
          <a:solidFill>
            <a:srgbClr val="d4a017"/>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507" name="Google Shape;580;p28"/>
          <p:cNvSpPr/>
          <p:nvPr/>
        </p:nvSpPr>
        <p:spPr>
          <a:xfrm>
            <a:off x="6810480" y="1857240"/>
            <a:ext cx="4381200" cy="5713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600" spc="-1" strike="noStrike">
                <a:solidFill>
                  <a:srgbClr val="045a36"/>
                </a:solidFill>
                <a:latin typeface="Montserrat"/>
                <a:ea typeface="Montserrat"/>
              </a:rPr>
              <a:t>The smtplib Module</a:t>
            </a:r>
            <a:endParaRPr b="0" lang="en-US" sz="1600" spc="-1" strike="noStrike">
              <a:solidFill>
                <a:srgbClr val="000000"/>
              </a:solidFill>
              <a:latin typeface="Arial"/>
            </a:endParaRPr>
          </a:p>
          <a:p>
            <a:pPr>
              <a:lnSpc>
                <a:spcPct val="100000"/>
              </a:lnSpc>
              <a:spcBef>
                <a:spcPts val="300"/>
              </a:spcBef>
              <a:tabLst>
                <a:tab algn="l" pos="0"/>
              </a:tabLst>
            </a:pPr>
            <a:r>
              <a:rPr b="1" lang="en" sz="1050" spc="-1" strike="noStrike">
                <a:solidFill>
                  <a:srgbClr val="045a36"/>
                </a:solidFill>
                <a:latin typeface="Inter"/>
                <a:ea typeface="Inter"/>
              </a:rPr>
              <a:t>The Postal Service (Network Layer)</a:t>
            </a:r>
            <a:endParaRPr b="0" lang="en-US" sz="1050" spc="-1" strike="noStrike">
              <a:solidFill>
                <a:srgbClr val="000000"/>
              </a:solidFill>
              <a:latin typeface="Arial"/>
            </a:endParaRPr>
          </a:p>
        </p:txBody>
      </p:sp>
      <p:sp>
        <p:nvSpPr>
          <p:cNvPr id="508" name="Google Shape;581;p28"/>
          <p:cNvSpPr/>
          <p:nvPr/>
        </p:nvSpPr>
        <p:spPr>
          <a:xfrm>
            <a:off x="6810480" y="2476440"/>
            <a:ext cx="4381200" cy="80928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250" spc="-1" strike="noStrike">
                <a:solidFill>
                  <a:srgbClr val="374151"/>
                </a:solidFill>
                <a:latin typeface="Inter"/>
                <a:ea typeface="Inter"/>
              </a:rPr>
              <a:t>Responsible for the network layer. It communicates with SMTP servers to deliver the package over the internet.</a:t>
            </a:r>
            <a:endParaRPr b="0" lang="en-US" sz="1250" spc="-1" strike="noStrike">
              <a:solidFill>
                <a:srgbClr val="000000"/>
              </a:solidFill>
              <a:latin typeface="Arial"/>
            </a:endParaRPr>
          </a:p>
        </p:txBody>
      </p:sp>
      <p:grpSp>
        <p:nvGrpSpPr>
          <p:cNvPr id="509" name="Google Shape;582;p28"/>
          <p:cNvGrpSpPr/>
          <p:nvPr/>
        </p:nvGrpSpPr>
        <p:grpSpPr>
          <a:xfrm>
            <a:off x="6810480" y="3448080"/>
            <a:ext cx="190080" cy="190080"/>
            <a:chOff x="6810480" y="3448080"/>
            <a:chExt cx="190080" cy="190080"/>
          </a:xfrm>
        </p:grpSpPr>
        <p:sp>
          <p:nvSpPr>
            <p:cNvPr id="510" name="Google Shape;583;p28"/>
            <p:cNvSpPr/>
            <p:nvPr/>
          </p:nvSpPr>
          <p:spPr>
            <a:xfrm>
              <a:off x="6810480" y="3448080"/>
              <a:ext cx="190080" cy="190080"/>
            </a:xfrm>
            <a:prstGeom prst="ellipse">
              <a:avLst/>
            </a:prstGeom>
            <a:solidFill>
              <a:srgbClr val="d4a017"/>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511" name="Google Shape;584;p28"/>
            <p:cNvSpPr/>
            <p:nvPr/>
          </p:nvSpPr>
          <p:spPr>
            <a:xfrm>
              <a:off x="6867360" y="3529080"/>
              <a:ext cx="75960" cy="47520"/>
            </a:xfrm>
            <a:custGeom>
              <a:avLst/>
              <a:gdLst>
                <a:gd name="textAreaLeft" fmla="*/ 0 w 75960"/>
                <a:gd name="textAreaRight" fmla="*/ 76320 w 75960"/>
                <a:gd name="textAreaTop" fmla="*/ 0 h 47520"/>
                <a:gd name="textAreaBottom" fmla="*/ 47880 h 47520"/>
              </a:gdLst>
              <a:ahLst/>
              <a:rect l="textAreaLeft" t="textAreaTop" r="textAreaRight" b="textAreaBottom"/>
              <a:pathLst>
                <a:path w="120000" h="120000">
                  <a:moveTo>
                    <a:pt x="0" y="48000"/>
                  </a:moveTo>
                  <a:lnTo>
                    <a:pt x="45000"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512" name="Google Shape;585;p28"/>
          <p:cNvSpPr/>
          <p:nvPr/>
        </p:nvSpPr>
        <p:spPr>
          <a:xfrm>
            <a:off x="7095960" y="3381480"/>
            <a:ext cx="4047840" cy="42840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250" spc="-1" strike="noStrike">
                <a:solidFill>
                  <a:srgbClr val="374151"/>
                </a:solidFill>
                <a:latin typeface="Inter"/>
                <a:ea typeface="Inter"/>
              </a:rPr>
              <a:t>Acts as the postal service to physically handle sending</a:t>
            </a:r>
            <a:endParaRPr b="0" lang="en-US" sz="1250" spc="-1" strike="noStrike">
              <a:solidFill>
                <a:srgbClr val="000000"/>
              </a:solidFill>
              <a:latin typeface="Arial"/>
            </a:endParaRPr>
          </a:p>
        </p:txBody>
      </p:sp>
      <p:grpSp>
        <p:nvGrpSpPr>
          <p:cNvPr id="513" name="Google Shape;586;p28"/>
          <p:cNvGrpSpPr/>
          <p:nvPr/>
        </p:nvGrpSpPr>
        <p:grpSpPr>
          <a:xfrm>
            <a:off x="6810480" y="3971880"/>
            <a:ext cx="190080" cy="190080"/>
            <a:chOff x="6810480" y="3971880"/>
            <a:chExt cx="190080" cy="190080"/>
          </a:xfrm>
        </p:grpSpPr>
        <p:sp>
          <p:nvSpPr>
            <p:cNvPr id="514" name="Google Shape;587;p28"/>
            <p:cNvSpPr/>
            <p:nvPr/>
          </p:nvSpPr>
          <p:spPr>
            <a:xfrm>
              <a:off x="6810480" y="3971880"/>
              <a:ext cx="190080" cy="190080"/>
            </a:xfrm>
            <a:prstGeom prst="ellipse">
              <a:avLst/>
            </a:prstGeom>
            <a:solidFill>
              <a:srgbClr val="d4a017"/>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515" name="Google Shape;588;p28"/>
            <p:cNvSpPr/>
            <p:nvPr/>
          </p:nvSpPr>
          <p:spPr>
            <a:xfrm>
              <a:off x="6867360" y="4052880"/>
              <a:ext cx="75960" cy="47520"/>
            </a:xfrm>
            <a:custGeom>
              <a:avLst/>
              <a:gdLst>
                <a:gd name="textAreaLeft" fmla="*/ 0 w 75960"/>
                <a:gd name="textAreaRight" fmla="*/ 76320 w 75960"/>
                <a:gd name="textAreaTop" fmla="*/ 0 h 47520"/>
                <a:gd name="textAreaBottom" fmla="*/ 47880 h 47520"/>
              </a:gdLst>
              <a:ahLst/>
              <a:rect l="textAreaLeft" t="textAreaTop" r="textAreaRight" b="textAreaBottom"/>
              <a:pathLst>
                <a:path w="120000" h="120000">
                  <a:moveTo>
                    <a:pt x="0" y="48000"/>
                  </a:moveTo>
                  <a:lnTo>
                    <a:pt x="45000"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516" name="Google Shape;589;p28"/>
          <p:cNvSpPr/>
          <p:nvPr/>
        </p:nvSpPr>
        <p:spPr>
          <a:xfrm>
            <a:off x="7095960" y="3905280"/>
            <a:ext cx="4047840" cy="42840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250" spc="-1" strike="noStrike">
                <a:solidFill>
                  <a:srgbClr val="374151"/>
                </a:solidFill>
                <a:latin typeface="Inter"/>
                <a:ea typeface="Inter"/>
              </a:rPr>
              <a:t>Manages SMTP server connection, auth, and routing</a:t>
            </a:r>
            <a:endParaRPr b="0" lang="en-US" sz="1250" spc="-1" strike="noStrike">
              <a:solidFill>
                <a:srgbClr val="000000"/>
              </a:solidFill>
              <a:latin typeface="Arial"/>
            </a:endParaRPr>
          </a:p>
        </p:txBody>
      </p:sp>
      <p:pic>
        <p:nvPicPr>
          <p:cNvPr id="517" name="Google Shape;590;p28" descr=""/>
          <p:cNvPicPr/>
          <p:nvPr/>
        </p:nvPicPr>
        <p:blipFill>
          <a:blip r:embed="rId3"/>
          <a:stretch/>
        </p:blipFill>
        <p:spPr>
          <a:xfrm>
            <a:off x="762120" y="5981760"/>
            <a:ext cx="10667520" cy="304560"/>
          </a:xfrm>
          <a:prstGeom prst="rect">
            <a:avLst/>
          </a:prstGeom>
          <a:ln w="0">
            <a:noFill/>
          </a:ln>
        </p:spPr>
      </p:pic>
      <p:sp>
        <p:nvSpPr>
          <p:cNvPr id="518" name="Google Shape;591;p28"/>
          <p:cNvSpPr/>
          <p:nvPr/>
        </p:nvSpPr>
        <p:spPr>
          <a:xfrm>
            <a:off x="762120" y="6134040"/>
            <a:ext cx="5714640" cy="19008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980" spc="-1" strike="noStrike">
                <a:solidFill>
                  <a:srgbClr val="6b7280"/>
                </a:solidFill>
                <a:latin typeface="Inter"/>
                <a:ea typeface="Inter"/>
              </a:rPr>
              <a:t>Introduction to Email Automation &amp; SMTP | Python Basics</a:t>
            </a:r>
            <a:endParaRPr b="0" lang="en-US" sz="980" spc="-1" strike="noStrike">
              <a:solidFill>
                <a:srgbClr val="000000"/>
              </a:solidFill>
              <a:latin typeface="Arial"/>
            </a:endParaRPr>
          </a:p>
        </p:txBody>
      </p:sp>
      <p:pic>
        <p:nvPicPr>
          <p:cNvPr id="519" name="Google Shape;592;p28" descr=""/>
          <p:cNvPicPr/>
          <p:nvPr/>
        </p:nvPicPr>
        <p:blipFill>
          <a:blip r:embed="rId4"/>
          <a:stretch/>
        </p:blipFill>
        <p:spPr>
          <a:xfrm>
            <a:off x="10287000" y="5457960"/>
            <a:ext cx="1523520" cy="1019160"/>
          </a:xfrm>
          <a:prstGeom prst="rect">
            <a:avLst/>
          </a:prstGeom>
          <a:ln w="0">
            <a:noFill/>
          </a:ln>
        </p:spPr>
      </p:pic>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pic>
        <p:nvPicPr>
          <p:cNvPr id="520" name="Google Shape;597;p29" descr=""/>
          <p:cNvPicPr/>
          <p:nvPr/>
        </p:nvPicPr>
        <p:blipFill>
          <a:blip r:embed="rId2"/>
          <a:srcRect l="129" t="0" r="129" b="0"/>
          <a:stretch/>
        </p:blipFill>
        <p:spPr>
          <a:xfrm>
            <a:off x="0" y="0"/>
            <a:ext cx="12191760" cy="56880"/>
          </a:xfrm>
          <a:prstGeom prst="rect">
            <a:avLst/>
          </a:prstGeom>
          <a:ln w="0">
            <a:noFill/>
          </a:ln>
        </p:spPr>
      </p:pic>
      <p:grpSp>
        <p:nvGrpSpPr>
          <p:cNvPr id="521" name="Google Shape;598;p29"/>
          <p:cNvGrpSpPr/>
          <p:nvPr/>
        </p:nvGrpSpPr>
        <p:grpSpPr>
          <a:xfrm>
            <a:off x="762120" y="571680"/>
            <a:ext cx="9524520" cy="428400"/>
            <a:chOff x="762120" y="571680"/>
            <a:chExt cx="9524520" cy="428400"/>
          </a:xfrm>
        </p:grpSpPr>
        <p:sp>
          <p:nvSpPr>
            <p:cNvPr id="522" name="Google Shape;599;p29"/>
            <p:cNvSpPr/>
            <p:nvPr/>
          </p:nvSpPr>
          <p:spPr>
            <a:xfrm>
              <a:off x="762120" y="571680"/>
              <a:ext cx="9524520" cy="42840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523" name="Google Shape;600;p29"/>
            <p:cNvSpPr/>
            <p:nvPr/>
          </p:nvSpPr>
          <p:spPr>
            <a:xfrm>
              <a:off x="762120" y="571680"/>
              <a:ext cx="9524520" cy="42840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 sz="2700" spc="-1" strike="noStrike">
                  <a:solidFill>
                    <a:srgbClr val="045a36"/>
                  </a:solidFill>
                  <a:latin typeface="Montserrat SemiBold"/>
                  <a:ea typeface="Montserrat SemiBold"/>
                </a:rPr>
                <a:t>Instantiating an EmailMessage Object</a:t>
              </a:r>
              <a:endParaRPr b="0" lang="en-US" sz="2700" spc="-1" strike="noStrike">
                <a:solidFill>
                  <a:srgbClr val="000000"/>
                </a:solidFill>
                <a:latin typeface="Arial"/>
              </a:endParaRPr>
            </a:p>
          </p:txBody>
        </p:sp>
      </p:grpSp>
      <p:sp>
        <p:nvSpPr>
          <p:cNvPr id="524" name="Google Shape;601;p29"/>
          <p:cNvSpPr/>
          <p:nvPr/>
        </p:nvSpPr>
        <p:spPr>
          <a:xfrm>
            <a:off x="762120" y="1123920"/>
            <a:ext cx="10667520" cy="18720"/>
          </a:xfrm>
          <a:prstGeom prst="rect">
            <a:avLst/>
          </a:prstGeom>
          <a:solidFill>
            <a:srgbClr val="e2e8f0"/>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525" name="Google Shape;602;p29"/>
          <p:cNvSpPr/>
          <p:nvPr/>
        </p:nvSpPr>
        <p:spPr>
          <a:xfrm>
            <a:off x="6086520" y="1523880"/>
            <a:ext cx="18720" cy="4000320"/>
          </a:xfrm>
          <a:prstGeom prst="rect">
            <a:avLst/>
          </a:prstGeom>
          <a:solidFill>
            <a:srgbClr val="d4a017"/>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526" name="Google Shape;603;p29"/>
          <p:cNvSpPr/>
          <p:nvPr/>
        </p:nvSpPr>
        <p:spPr>
          <a:xfrm>
            <a:off x="762120" y="1523880"/>
            <a:ext cx="4762080" cy="28548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200" spc="-1" strike="noStrike">
                <a:solidFill>
                  <a:srgbClr val="d4a017"/>
                </a:solidFill>
                <a:latin typeface="Inter"/>
                <a:ea typeface="Inter"/>
              </a:rPr>
              <a:t>PROGRAMMING CONCEPT</a:t>
            </a:r>
            <a:endParaRPr b="0" lang="en-US" sz="1200" spc="-1" strike="noStrike">
              <a:solidFill>
                <a:srgbClr val="000000"/>
              </a:solidFill>
              <a:latin typeface="Arial"/>
            </a:endParaRPr>
          </a:p>
        </p:txBody>
      </p:sp>
      <p:sp>
        <p:nvSpPr>
          <p:cNvPr id="527" name="Google Shape;604;p29"/>
          <p:cNvSpPr/>
          <p:nvPr/>
        </p:nvSpPr>
        <p:spPr>
          <a:xfrm>
            <a:off x="762120" y="1857240"/>
            <a:ext cx="380520" cy="37800"/>
          </a:xfrm>
          <a:prstGeom prst="roundRect">
            <a:avLst>
              <a:gd name="adj" fmla="val 50000"/>
            </a:avLst>
          </a:prstGeom>
          <a:solidFill>
            <a:srgbClr val="d4a017"/>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528" name="Google Shape;605;p29"/>
          <p:cNvSpPr/>
          <p:nvPr/>
        </p:nvSpPr>
        <p:spPr>
          <a:xfrm>
            <a:off x="762120" y="2048040"/>
            <a:ext cx="4762080" cy="17143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i="1" lang="en" sz="1750" spc="-1" strike="noStrike">
                <a:solidFill>
                  <a:srgbClr val="1f2937"/>
                </a:solidFill>
                <a:latin typeface="Inter Medium"/>
                <a:ea typeface="Inter Medium"/>
              </a:rPr>
              <a:t>“</a:t>
            </a:r>
            <a:r>
              <a:rPr b="0" i="1" lang="en" sz="1750" spc="-1" strike="noStrike">
                <a:solidFill>
                  <a:srgbClr val="1f2937"/>
                </a:solidFill>
                <a:latin typeface="Inter Medium"/>
                <a:ea typeface="Inter Medium"/>
              </a:rPr>
              <a:t>An object is a specific instance of a class that holds structured data and the methods required to manipulate that data.”</a:t>
            </a:r>
            <a:endParaRPr b="0" lang="en-US" sz="1750" spc="-1" strike="noStrike">
              <a:solidFill>
                <a:srgbClr val="000000"/>
              </a:solidFill>
              <a:latin typeface="Arial"/>
            </a:endParaRPr>
          </a:p>
        </p:txBody>
      </p:sp>
      <p:sp>
        <p:nvSpPr>
          <p:cNvPr id="529" name="Google Shape;606;p29"/>
          <p:cNvSpPr/>
          <p:nvPr/>
        </p:nvSpPr>
        <p:spPr>
          <a:xfrm>
            <a:off x="762120" y="3952800"/>
            <a:ext cx="4762080" cy="142848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350" spc="-1" strike="noStrike">
                <a:solidFill>
                  <a:srgbClr val="374151"/>
                </a:solidFill>
                <a:latin typeface="Inter"/>
                <a:ea typeface="Inter"/>
              </a:rPr>
              <a:t>In Python, the </a:t>
            </a:r>
            <a:r>
              <a:rPr b="1" lang="en" sz="1350" spc="-1" strike="noStrike">
                <a:solidFill>
                  <a:srgbClr val="045a36"/>
                </a:solidFill>
                <a:latin typeface="Inter"/>
                <a:ea typeface="Inter"/>
              </a:rPr>
              <a:t>EmailMessage</a:t>
            </a:r>
            <a:r>
              <a:rPr b="0" lang="en" sz="1350" spc="-1" strike="noStrike">
                <a:solidFill>
                  <a:srgbClr val="374151"/>
                </a:solidFill>
                <a:latin typeface="Inter"/>
                <a:ea typeface="Inter"/>
              </a:rPr>
              <a:t> is a specialized class designed to represent an email in memory, automatically handling complex internet formatting rules.</a:t>
            </a:r>
            <a:endParaRPr b="0" lang="en-US" sz="1350" spc="-1" strike="noStrike">
              <a:solidFill>
                <a:srgbClr val="000000"/>
              </a:solidFill>
              <a:latin typeface="Arial"/>
            </a:endParaRPr>
          </a:p>
        </p:txBody>
      </p:sp>
      <p:sp>
        <p:nvSpPr>
          <p:cNvPr id="530" name="Google Shape;607;p29"/>
          <p:cNvSpPr/>
          <p:nvPr/>
        </p:nvSpPr>
        <p:spPr>
          <a:xfrm>
            <a:off x="6477120" y="1523880"/>
            <a:ext cx="4952520" cy="28548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200" spc="-1" strike="noStrike">
                <a:solidFill>
                  <a:srgbClr val="d4a017"/>
                </a:solidFill>
                <a:latin typeface="Inter"/>
                <a:ea typeface="Inter"/>
              </a:rPr>
              <a:t>PYTHON INSTANTIATION</a:t>
            </a:r>
            <a:endParaRPr b="0" lang="en-US" sz="1200" spc="-1" strike="noStrike">
              <a:solidFill>
                <a:srgbClr val="000000"/>
              </a:solidFill>
              <a:latin typeface="Arial"/>
            </a:endParaRPr>
          </a:p>
        </p:txBody>
      </p:sp>
      <p:sp>
        <p:nvSpPr>
          <p:cNvPr id="531" name="Google Shape;608;p29"/>
          <p:cNvSpPr/>
          <p:nvPr/>
        </p:nvSpPr>
        <p:spPr>
          <a:xfrm>
            <a:off x="6477120" y="1857240"/>
            <a:ext cx="380520" cy="37800"/>
          </a:xfrm>
          <a:prstGeom prst="roundRect">
            <a:avLst>
              <a:gd name="adj" fmla="val 50000"/>
            </a:avLst>
          </a:prstGeom>
          <a:solidFill>
            <a:srgbClr val="d4a017"/>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grpSp>
        <p:nvGrpSpPr>
          <p:cNvPr id="532" name="Google Shape;609;p29"/>
          <p:cNvGrpSpPr/>
          <p:nvPr/>
        </p:nvGrpSpPr>
        <p:grpSpPr>
          <a:xfrm>
            <a:off x="6477120" y="2048040"/>
            <a:ext cx="4952520" cy="1333080"/>
            <a:chOff x="6477120" y="2048040"/>
            <a:chExt cx="4952520" cy="1333080"/>
          </a:xfrm>
        </p:grpSpPr>
        <p:sp>
          <p:nvSpPr>
            <p:cNvPr id="533" name="Google Shape;610;p29"/>
            <p:cNvSpPr/>
            <p:nvPr/>
          </p:nvSpPr>
          <p:spPr>
            <a:xfrm>
              <a:off x="6477120" y="2048040"/>
              <a:ext cx="4952520" cy="1333080"/>
            </a:xfrm>
            <a:prstGeom prst="roundRect">
              <a:avLst>
                <a:gd name="adj" fmla="val 5714"/>
              </a:avLst>
            </a:prstGeom>
            <a:solidFill>
              <a:srgbClr val="f1f5f9"/>
            </a:solidFill>
            <a:ln w="14300">
              <a:solidFill>
                <a:srgbClr val="e2e8f0"/>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534" name="Google Shape;611;p29"/>
            <p:cNvSpPr/>
            <p:nvPr/>
          </p:nvSpPr>
          <p:spPr>
            <a:xfrm>
              <a:off x="6477120" y="2048040"/>
              <a:ext cx="56880" cy="1333080"/>
            </a:xfrm>
            <a:prstGeom prst="roundRect">
              <a:avLst>
                <a:gd name="adj" fmla="val 50000"/>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535" name="Google Shape;612;p29"/>
            <p:cNvSpPr/>
            <p:nvPr/>
          </p:nvSpPr>
          <p:spPr>
            <a:xfrm>
              <a:off x="6715080" y="2238480"/>
              <a:ext cx="4524120" cy="95220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350" spc="-1" strike="noStrike">
                  <a:solidFill>
                    <a:srgbClr val="6b7280"/>
                  </a:solidFill>
                  <a:latin typeface="Courier New"/>
                  <a:ea typeface="Courier New"/>
                </a:rPr>
                <a:t># Create a blank, structured container</a:t>
              </a:r>
              <a:endParaRPr b="0" lang="en-US" sz="1350" spc="-1" strike="noStrike">
                <a:solidFill>
                  <a:srgbClr val="000000"/>
                </a:solidFill>
                <a:latin typeface="Arial"/>
              </a:endParaRPr>
            </a:p>
            <a:p>
              <a:pPr>
                <a:lnSpc>
                  <a:spcPct val="100000"/>
                </a:lnSpc>
                <a:spcBef>
                  <a:spcPts val="751"/>
                </a:spcBef>
                <a:tabLst>
                  <a:tab algn="l" pos="0"/>
                </a:tabLst>
              </a:pPr>
              <a:r>
                <a:rPr b="1" lang="en" sz="1450" spc="-1" strike="noStrike">
                  <a:solidFill>
                    <a:srgbClr val="1f2937"/>
                  </a:solidFill>
                  <a:latin typeface="Courier New"/>
                  <a:ea typeface="Courier New"/>
                </a:rPr>
                <a:t>msg </a:t>
              </a:r>
              <a:r>
                <a:rPr b="1" lang="en" sz="1450" spc="-1" strike="noStrike">
                  <a:solidFill>
                    <a:srgbClr val="d4a017"/>
                  </a:solidFill>
                  <a:latin typeface="Courier New"/>
                  <a:ea typeface="Courier New"/>
                </a:rPr>
                <a:t>=</a:t>
              </a:r>
              <a:r>
                <a:rPr b="1" lang="en" sz="1450" spc="-1" strike="noStrike">
                  <a:solidFill>
                    <a:srgbClr val="1f2937"/>
                  </a:solidFill>
                  <a:latin typeface="Courier New"/>
                  <a:ea typeface="Courier New"/>
                </a:rPr>
                <a:t> </a:t>
              </a:r>
              <a:r>
                <a:rPr b="1" lang="en" sz="1450" spc="-1" strike="noStrike">
                  <a:solidFill>
                    <a:srgbClr val="045a36"/>
                  </a:solidFill>
                  <a:latin typeface="Courier New"/>
                  <a:ea typeface="Courier New"/>
                </a:rPr>
                <a:t>EmailMessage</a:t>
              </a:r>
              <a:r>
                <a:rPr b="1" lang="en" sz="1450" spc="-1" strike="noStrike">
                  <a:solidFill>
                    <a:srgbClr val="1f2937"/>
                  </a:solidFill>
                  <a:latin typeface="Courier New"/>
                  <a:ea typeface="Courier New"/>
                </a:rPr>
                <a:t>()</a:t>
              </a:r>
              <a:endParaRPr b="0" lang="en-US" sz="1450" spc="-1" strike="noStrike">
                <a:solidFill>
                  <a:srgbClr val="000000"/>
                </a:solidFill>
                <a:latin typeface="Arial"/>
              </a:endParaRPr>
            </a:p>
          </p:txBody>
        </p:sp>
      </p:grpSp>
      <p:sp>
        <p:nvSpPr>
          <p:cNvPr id="536" name="Google Shape;613;p29"/>
          <p:cNvSpPr/>
          <p:nvPr/>
        </p:nvSpPr>
        <p:spPr>
          <a:xfrm>
            <a:off x="6477120" y="3619440"/>
            <a:ext cx="4952520" cy="17143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350" spc="-1" strike="noStrike">
                <a:solidFill>
                  <a:srgbClr val="374151"/>
                </a:solidFill>
                <a:latin typeface="Inter"/>
                <a:ea typeface="Inter"/>
              </a:rPr>
              <a:t>The foundation of our message construction is the instantiation of the empty object container.</a:t>
            </a:r>
            <a:endParaRPr b="0" lang="en-US" sz="1350" spc="-1" strike="noStrike">
              <a:solidFill>
                <a:srgbClr val="000000"/>
              </a:solidFill>
              <a:latin typeface="Arial"/>
            </a:endParaRPr>
          </a:p>
          <a:p>
            <a:pPr>
              <a:lnSpc>
                <a:spcPct val="100000"/>
              </a:lnSpc>
              <a:spcBef>
                <a:spcPts val="1125"/>
              </a:spcBef>
              <a:tabLst>
                <a:tab algn="l" pos="0"/>
              </a:tabLst>
            </a:pPr>
            <a:r>
              <a:rPr b="0" lang="en" sz="1350" spc="-1" strike="noStrike">
                <a:solidFill>
                  <a:srgbClr val="374151"/>
                </a:solidFill>
                <a:latin typeface="Inter"/>
                <a:ea typeface="Inter"/>
              </a:rPr>
              <a:t>By instantiating </a:t>
            </a:r>
            <a:r>
              <a:rPr b="1" lang="en" sz="1350" spc="-1" strike="noStrike">
                <a:solidFill>
                  <a:srgbClr val="045a36"/>
                </a:solidFill>
                <a:latin typeface="Inter"/>
                <a:ea typeface="Inter"/>
              </a:rPr>
              <a:t>msg</a:t>
            </a:r>
            <a:r>
              <a:rPr b="0" lang="en" sz="1350" spc="-1" strike="noStrike">
                <a:solidFill>
                  <a:srgbClr val="374151"/>
                </a:solidFill>
                <a:latin typeface="Inter"/>
                <a:ea typeface="Inter"/>
              </a:rPr>
              <a:t>, we generate an empty digital envelope where we can systematically attach our routing headers, subjects, and body text before delivery.</a:t>
            </a:r>
            <a:endParaRPr b="0" lang="en-US" sz="1350" spc="-1" strike="noStrike">
              <a:solidFill>
                <a:srgbClr val="000000"/>
              </a:solidFill>
              <a:latin typeface="Arial"/>
            </a:endParaRPr>
          </a:p>
        </p:txBody>
      </p:sp>
      <p:pic>
        <p:nvPicPr>
          <p:cNvPr id="537" name="Google Shape;614;p29" descr=""/>
          <p:cNvPicPr/>
          <p:nvPr/>
        </p:nvPicPr>
        <p:blipFill>
          <a:blip r:embed="rId3"/>
          <a:stretch/>
        </p:blipFill>
        <p:spPr>
          <a:xfrm>
            <a:off x="762120" y="5981760"/>
            <a:ext cx="10667520" cy="304560"/>
          </a:xfrm>
          <a:prstGeom prst="rect">
            <a:avLst/>
          </a:prstGeom>
          <a:ln w="0">
            <a:noFill/>
          </a:ln>
        </p:spPr>
      </p:pic>
      <p:sp>
        <p:nvSpPr>
          <p:cNvPr id="538" name="Google Shape;615;p29"/>
          <p:cNvSpPr/>
          <p:nvPr/>
        </p:nvSpPr>
        <p:spPr>
          <a:xfrm>
            <a:off x="762120" y="6134040"/>
            <a:ext cx="4762080" cy="19008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980" spc="-1" strike="noStrike">
                <a:solidFill>
                  <a:srgbClr val="6b7280"/>
                </a:solidFill>
                <a:latin typeface="Inter"/>
                <a:ea typeface="Inter"/>
              </a:rPr>
              <a:t>Introduction to Email Automation &amp; SMTP | Python Basics</a:t>
            </a:r>
            <a:endParaRPr b="0" lang="en-US" sz="980" spc="-1" strike="noStrike">
              <a:solidFill>
                <a:srgbClr val="000000"/>
              </a:solidFill>
              <a:latin typeface="Arial"/>
            </a:endParaRPr>
          </a:p>
        </p:txBody>
      </p:sp>
      <p:pic>
        <p:nvPicPr>
          <p:cNvPr id="539" name="Google Shape;616;p29" descr=""/>
          <p:cNvPicPr/>
          <p:nvPr/>
        </p:nvPicPr>
        <p:blipFill>
          <a:blip r:embed="rId4"/>
          <a:stretch/>
        </p:blipFill>
        <p:spPr>
          <a:xfrm>
            <a:off x="10287000" y="5452920"/>
            <a:ext cx="1523520" cy="1019160"/>
          </a:xfrm>
          <a:prstGeom prst="rect">
            <a:avLst/>
          </a:prstGeom>
          <a:ln w="0">
            <a:noFill/>
          </a:ln>
        </p:spPr>
      </p:pic>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pic>
        <p:nvPicPr>
          <p:cNvPr id="540" name="Google Shape;621;p30" descr=""/>
          <p:cNvPicPr/>
          <p:nvPr/>
        </p:nvPicPr>
        <p:blipFill>
          <a:blip r:embed="rId2"/>
          <a:srcRect l="129" t="0" r="129" b="0"/>
          <a:stretch/>
        </p:blipFill>
        <p:spPr>
          <a:xfrm>
            <a:off x="0" y="0"/>
            <a:ext cx="12191760" cy="56880"/>
          </a:xfrm>
          <a:prstGeom prst="rect">
            <a:avLst/>
          </a:prstGeom>
          <a:ln w="0">
            <a:noFill/>
          </a:ln>
        </p:spPr>
      </p:pic>
      <p:sp>
        <p:nvSpPr>
          <p:cNvPr id="541" name="Google Shape;622;p30"/>
          <p:cNvSpPr/>
          <p:nvPr/>
        </p:nvSpPr>
        <p:spPr>
          <a:xfrm>
            <a:off x="762120" y="1123920"/>
            <a:ext cx="10667520" cy="18720"/>
          </a:xfrm>
          <a:prstGeom prst="rect">
            <a:avLst/>
          </a:prstGeom>
          <a:solidFill>
            <a:srgbClr val="e2e8f0"/>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542" name="Google Shape;623;p30"/>
          <p:cNvSpPr/>
          <p:nvPr/>
        </p:nvSpPr>
        <p:spPr>
          <a:xfrm>
            <a:off x="6086520" y="1523880"/>
            <a:ext cx="18720" cy="4000320"/>
          </a:xfrm>
          <a:prstGeom prst="rect">
            <a:avLst/>
          </a:prstGeom>
          <a:solidFill>
            <a:srgbClr val="d4a017"/>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pic>
        <p:nvPicPr>
          <p:cNvPr id="543" name="Google Shape;624;p30" descr=""/>
          <p:cNvPicPr/>
          <p:nvPr/>
        </p:nvPicPr>
        <p:blipFill>
          <a:blip r:embed="rId3"/>
          <a:stretch/>
        </p:blipFill>
        <p:spPr>
          <a:xfrm>
            <a:off x="762120" y="5981760"/>
            <a:ext cx="10667520" cy="304560"/>
          </a:xfrm>
          <a:prstGeom prst="rect">
            <a:avLst/>
          </a:prstGeom>
          <a:ln w="0">
            <a:noFill/>
          </a:ln>
        </p:spPr>
      </p:pic>
      <p:sp>
        <p:nvSpPr>
          <p:cNvPr id="544" name="Google Shape;625;p30"/>
          <p:cNvSpPr/>
          <p:nvPr/>
        </p:nvSpPr>
        <p:spPr>
          <a:xfrm>
            <a:off x="762120" y="6134040"/>
            <a:ext cx="4762080" cy="19008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980" spc="-1" strike="noStrike">
                <a:solidFill>
                  <a:srgbClr val="6b7280"/>
                </a:solidFill>
                <a:latin typeface="Inter"/>
                <a:ea typeface="Inter"/>
              </a:rPr>
              <a:t>Introduction to Email Automation &amp; SMTP | Python Basics</a:t>
            </a:r>
            <a:endParaRPr b="0" lang="en-US" sz="980" spc="-1" strike="noStrike">
              <a:solidFill>
                <a:srgbClr val="000000"/>
              </a:solidFill>
              <a:latin typeface="Arial"/>
            </a:endParaRPr>
          </a:p>
        </p:txBody>
      </p:sp>
      <p:pic>
        <p:nvPicPr>
          <p:cNvPr id="545" name="Google Shape;626;p30" descr=""/>
          <p:cNvPicPr/>
          <p:nvPr/>
        </p:nvPicPr>
        <p:blipFill>
          <a:blip r:embed="rId4"/>
          <a:stretch/>
        </p:blipFill>
        <p:spPr>
          <a:xfrm>
            <a:off x="10287000" y="5457960"/>
            <a:ext cx="1523520" cy="1019160"/>
          </a:xfrm>
          <a:prstGeom prst="rect">
            <a:avLst/>
          </a:prstGeom>
          <a:ln w="0">
            <a:noFill/>
          </a:ln>
        </p:spPr>
      </p:pic>
      <p:grpSp>
        <p:nvGrpSpPr>
          <p:cNvPr id="546" name="Google Shape;627;p30"/>
          <p:cNvGrpSpPr/>
          <p:nvPr/>
        </p:nvGrpSpPr>
        <p:grpSpPr>
          <a:xfrm>
            <a:off x="762120" y="476280"/>
            <a:ext cx="10667520" cy="618840"/>
            <a:chOff x="762120" y="476280"/>
            <a:chExt cx="10667520" cy="618840"/>
          </a:xfrm>
        </p:grpSpPr>
        <p:sp>
          <p:nvSpPr>
            <p:cNvPr id="547" name="Google Shape;628;p30"/>
            <p:cNvSpPr/>
            <p:nvPr/>
          </p:nvSpPr>
          <p:spPr>
            <a:xfrm>
              <a:off x="762120" y="476280"/>
              <a:ext cx="10667520" cy="61884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548" name="Google Shape;629;p30"/>
            <p:cNvSpPr/>
            <p:nvPr/>
          </p:nvSpPr>
          <p:spPr>
            <a:xfrm>
              <a:off x="762120" y="476280"/>
              <a:ext cx="10667520" cy="618840"/>
            </a:xfrm>
            <a:prstGeom prst="rect">
              <a:avLst/>
            </a:prstGeom>
            <a:noFill/>
            <a:ln w="0">
              <a:noFill/>
            </a:ln>
          </p:spPr>
          <p:style>
            <a:lnRef idx="0"/>
            <a:fillRef idx="0"/>
            <a:effectRef idx="0"/>
            <a:fontRef idx="minor"/>
          </p:style>
          <p:txBody>
            <a:bodyPr lIns="0" rIns="0" tIns="0" bIns="0" anchor="t">
              <a:noAutofit/>
            </a:bodyPr>
            <a:p>
              <a:pPr algn="ctr">
                <a:lnSpc>
                  <a:spcPct val="100000"/>
                </a:lnSpc>
                <a:tabLst>
                  <a:tab algn="l" pos="0"/>
                </a:tabLst>
              </a:pPr>
              <a:r>
                <a:rPr b="0" lang="en" sz="1940" spc="-1" strike="noStrike">
                  <a:solidFill>
                    <a:srgbClr val="045a36"/>
                  </a:solidFill>
                  <a:latin typeface="Montserrat SemiBold"/>
                  <a:ea typeface="Montserrat SemiBold"/>
                </a:rPr>
                <a:t>Dictionary Syntax Assigns Critical Routing Information to the Message Headers</a:t>
              </a:r>
              <a:endParaRPr b="0" lang="en-US" sz="1940" spc="-1" strike="noStrike">
                <a:solidFill>
                  <a:srgbClr val="000000"/>
                </a:solidFill>
                <a:latin typeface="Arial"/>
              </a:endParaRPr>
            </a:p>
          </p:txBody>
        </p:sp>
      </p:grpSp>
      <p:sp>
        <p:nvSpPr>
          <p:cNvPr id="549" name="Google Shape;630;p30"/>
          <p:cNvSpPr/>
          <p:nvPr/>
        </p:nvSpPr>
        <p:spPr>
          <a:xfrm>
            <a:off x="762120" y="1523880"/>
            <a:ext cx="4952520" cy="1428480"/>
          </a:xfrm>
          <a:prstGeom prst="roundRect">
            <a:avLst>
              <a:gd name="adj" fmla="val 5333"/>
            </a:avLst>
          </a:prstGeom>
          <a:solidFill>
            <a:srgbClr val="f1f5f9"/>
          </a:solidFill>
          <a:ln w="9525">
            <a:solidFill>
              <a:srgbClr val="e2e8f0"/>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550" name="Google Shape;631;p30"/>
          <p:cNvSpPr/>
          <p:nvPr/>
        </p:nvSpPr>
        <p:spPr>
          <a:xfrm>
            <a:off x="762120" y="1523880"/>
            <a:ext cx="56880" cy="1428480"/>
          </a:xfrm>
          <a:prstGeom prst="roundRect">
            <a:avLst>
              <a:gd name="adj" fmla="val 50000"/>
            </a:avLst>
          </a:prstGeom>
          <a:solidFill>
            <a:srgbClr val="d4a017"/>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551" name="Google Shape;632;p30"/>
          <p:cNvSpPr/>
          <p:nvPr/>
        </p:nvSpPr>
        <p:spPr>
          <a:xfrm>
            <a:off x="905040" y="1571760"/>
            <a:ext cx="4667040" cy="133308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i="1" lang="en" sz="1150" spc="-1" strike="noStrike">
                <a:solidFill>
                  <a:srgbClr val="6b7280"/>
                </a:solidFill>
                <a:latin typeface="Consolas"/>
                <a:ea typeface="Consolas"/>
              </a:rPr>
              <a:t># Populate header fields</a:t>
            </a:r>
            <a:endParaRPr b="0" lang="en-US" sz="1150" spc="-1" strike="noStrike">
              <a:solidFill>
                <a:srgbClr val="000000"/>
              </a:solidFill>
              <a:latin typeface="Arial"/>
            </a:endParaRPr>
          </a:p>
          <a:p>
            <a:pPr>
              <a:lnSpc>
                <a:spcPct val="100000"/>
              </a:lnSpc>
              <a:spcBef>
                <a:spcPts val="451"/>
              </a:spcBef>
              <a:tabLst>
                <a:tab algn="l" pos="0"/>
              </a:tabLst>
            </a:pPr>
            <a:r>
              <a:rPr b="0" lang="en" sz="1150" spc="-1" strike="noStrike">
                <a:solidFill>
                  <a:srgbClr val="1f2937"/>
                </a:solidFill>
                <a:latin typeface="Consolas"/>
                <a:ea typeface="Consolas"/>
              </a:rPr>
              <a:t>msg[</a:t>
            </a:r>
            <a:r>
              <a:rPr b="1" lang="en" sz="1150" spc="-1" strike="noStrike">
                <a:solidFill>
                  <a:srgbClr val="045a36"/>
                </a:solidFill>
                <a:latin typeface="Consolas"/>
                <a:ea typeface="Consolas"/>
              </a:rPr>
              <a:t>"From"</a:t>
            </a:r>
            <a:r>
              <a:rPr b="0" lang="en" sz="1150" spc="-1" strike="noStrike">
                <a:solidFill>
                  <a:srgbClr val="1f2937"/>
                </a:solidFill>
                <a:latin typeface="Consolas"/>
                <a:ea typeface="Consolas"/>
              </a:rPr>
              <a:t>] = sender_email</a:t>
            </a:r>
            <a:endParaRPr b="0" lang="en-US" sz="1150" spc="-1" strike="noStrike">
              <a:solidFill>
                <a:srgbClr val="000000"/>
              </a:solidFill>
              <a:latin typeface="Arial"/>
            </a:endParaRPr>
          </a:p>
          <a:p>
            <a:pPr>
              <a:lnSpc>
                <a:spcPct val="100000"/>
              </a:lnSpc>
              <a:spcBef>
                <a:spcPts val="451"/>
              </a:spcBef>
              <a:tabLst>
                <a:tab algn="l" pos="0"/>
              </a:tabLst>
            </a:pPr>
            <a:r>
              <a:rPr b="0" lang="en" sz="1150" spc="-1" strike="noStrike">
                <a:solidFill>
                  <a:srgbClr val="1f2937"/>
                </a:solidFill>
                <a:latin typeface="Consolas"/>
                <a:ea typeface="Consolas"/>
              </a:rPr>
              <a:t>msg[</a:t>
            </a:r>
            <a:r>
              <a:rPr b="1" lang="en" sz="1150" spc="-1" strike="noStrike">
                <a:solidFill>
                  <a:srgbClr val="045a36"/>
                </a:solidFill>
                <a:latin typeface="Consolas"/>
                <a:ea typeface="Consolas"/>
              </a:rPr>
              <a:t>"To"</a:t>
            </a:r>
            <a:r>
              <a:rPr b="0" lang="en" sz="1150" spc="-1" strike="noStrike">
                <a:solidFill>
                  <a:srgbClr val="1f2937"/>
                </a:solidFill>
                <a:latin typeface="Consolas"/>
                <a:ea typeface="Consolas"/>
              </a:rPr>
              <a:t>] = receiver_email</a:t>
            </a:r>
            <a:endParaRPr b="0" lang="en-US" sz="1150" spc="-1" strike="noStrike">
              <a:solidFill>
                <a:srgbClr val="000000"/>
              </a:solidFill>
              <a:latin typeface="Arial"/>
            </a:endParaRPr>
          </a:p>
          <a:p>
            <a:pPr>
              <a:lnSpc>
                <a:spcPct val="100000"/>
              </a:lnSpc>
              <a:spcBef>
                <a:spcPts val="451"/>
              </a:spcBef>
              <a:tabLst>
                <a:tab algn="l" pos="0"/>
              </a:tabLst>
            </a:pPr>
            <a:r>
              <a:rPr b="0" lang="en" sz="1150" spc="-1" strike="noStrike">
                <a:solidFill>
                  <a:srgbClr val="1f2937"/>
                </a:solidFill>
                <a:latin typeface="Consolas"/>
                <a:ea typeface="Consolas"/>
              </a:rPr>
              <a:t>msg[</a:t>
            </a:r>
            <a:r>
              <a:rPr b="1" lang="en" sz="1150" spc="-1" strike="noStrike">
                <a:solidFill>
                  <a:srgbClr val="045a36"/>
                </a:solidFill>
                <a:latin typeface="Consolas"/>
                <a:ea typeface="Consolas"/>
              </a:rPr>
              <a:t>"Subject"</a:t>
            </a:r>
            <a:r>
              <a:rPr b="0" lang="en" sz="1150" spc="-1" strike="noStrike">
                <a:solidFill>
                  <a:srgbClr val="1f2937"/>
                </a:solidFill>
                <a:latin typeface="Consolas"/>
                <a:ea typeface="Consolas"/>
              </a:rPr>
              <a:t>] = </a:t>
            </a:r>
            <a:r>
              <a:rPr b="1" lang="en" sz="1150" spc="-1" strike="noStrike">
                <a:solidFill>
                  <a:srgbClr val="d4a017"/>
                </a:solidFill>
                <a:latin typeface="Consolas"/>
                <a:ea typeface="Consolas"/>
              </a:rPr>
              <a:t>"My First Python Email"</a:t>
            </a:r>
            <a:endParaRPr b="0" lang="en-US" sz="1150" spc="-1" strike="noStrike">
              <a:solidFill>
                <a:srgbClr val="000000"/>
              </a:solidFill>
              <a:latin typeface="Arial"/>
            </a:endParaRPr>
          </a:p>
        </p:txBody>
      </p:sp>
      <p:sp>
        <p:nvSpPr>
          <p:cNvPr id="552" name="Google Shape;633;p30"/>
          <p:cNvSpPr/>
          <p:nvPr/>
        </p:nvSpPr>
        <p:spPr>
          <a:xfrm>
            <a:off x="762120" y="3143160"/>
            <a:ext cx="4952520" cy="238104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250" spc="-1" strike="noStrike">
                <a:solidFill>
                  <a:srgbClr val="374151"/>
                </a:solidFill>
                <a:latin typeface="Inter"/>
                <a:ea typeface="Inter"/>
              </a:rPr>
              <a:t>The </a:t>
            </a:r>
            <a:r>
              <a:rPr b="1" lang="en" sz="1200" spc="-1" strike="noStrike">
                <a:solidFill>
                  <a:srgbClr val="045a36"/>
                </a:solidFill>
                <a:latin typeface="Arial"/>
                <a:ea typeface="Arial"/>
              </a:rPr>
              <a:t>EmailMessage</a:t>
            </a:r>
            <a:r>
              <a:rPr b="0" lang="en" sz="1250" spc="-1" strike="noStrike">
                <a:solidFill>
                  <a:srgbClr val="374151"/>
                </a:solidFill>
                <a:latin typeface="Inter"/>
                <a:ea typeface="Inter"/>
              </a:rPr>
              <a:t> object utilizes a dictionary-style syntax, allowing developers to set header fields using intuitive key-value pair assignments.</a:t>
            </a:r>
            <a:endParaRPr b="0" lang="en-US" sz="1250" spc="-1" strike="noStrike">
              <a:solidFill>
                <a:srgbClr val="000000"/>
              </a:solidFill>
              <a:latin typeface="Arial"/>
            </a:endParaRPr>
          </a:p>
          <a:p>
            <a:pPr>
              <a:lnSpc>
                <a:spcPct val="100000"/>
              </a:lnSpc>
              <a:spcBef>
                <a:spcPts val="1125"/>
              </a:spcBef>
              <a:tabLst>
                <a:tab algn="l" pos="0"/>
              </a:tabLst>
            </a:pPr>
            <a:r>
              <a:rPr b="0" lang="en" sz="1250" spc="-1" strike="noStrike">
                <a:solidFill>
                  <a:srgbClr val="374151"/>
                </a:solidFill>
                <a:latin typeface="Inter"/>
                <a:ea typeface="Inter"/>
              </a:rPr>
              <a:t>This straightforward syntax abstracts away the complex string formatting normally required by raw SMTP protocols, making it simple and reliable to build routing information.</a:t>
            </a:r>
            <a:endParaRPr b="0" lang="en-US" sz="1250" spc="-1" strike="noStrike">
              <a:solidFill>
                <a:srgbClr val="000000"/>
              </a:solidFill>
              <a:latin typeface="Arial"/>
            </a:endParaRPr>
          </a:p>
        </p:txBody>
      </p:sp>
      <p:sp>
        <p:nvSpPr>
          <p:cNvPr id="553" name="Google Shape;634;p30"/>
          <p:cNvSpPr/>
          <p:nvPr/>
        </p:nvSpPr>
        <p:spPr>
          <a:xfrm>
            <a:off x="6477120" y="1523880"/>
            <a:ext cx="4952520" cy="3805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500" spc="-1" strike="noStrike">
                <a:solidFill>
                  <a:srgbClr val="045a36"/>
                </a:solidFill>
                <a:latin typeface="Montserrat"/>
                <a:ea typeface="Montserrat"/>
              </a:rPr>
              <a:t>Header Key-Value Bindings</a:t>
            </a:r>
            <a:endParaRPr b="0" lang="en-US" sz="1500" spc="-1" strike="noStrike">
              <a:solidFill>
                <a:srgbClr val="000000"/>
              </a:solidFill>
              <a:latin typeface="Arial"/>
            </a:endParaRPr>
          </a:p>
        </p:txBody>
      </p:sp>
      <p:sp>
        <p:nvSpPr>
          <p:cNvPr id="554" name="Google Shape;635;p30"/>
          <p:cNvSpPr/>
          <p:nvPr/>
        </p:nvSpPr>
        <p:spPr>
          <a:xfrm>
            <a:off x="6477120" y="2000160"/>
            <a:ext cx="4952520" cy="52344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250" spc="-1" strike="noStrike">
                <a:solidFill>
                  <a:srgbClr val="374151"/>
                </a:solidFill>
                <a:latin typeface="Inter"/>
                <a:ea typeface="Inter"/>
              </a:rPr>
              <a:t>Python abstracts low-level RFC formatting into clean, intuitive key-value assignments:</a:t>
            </a:r>
            <a:endParaRPr b="0" lang="en-US" sz="1250" spc="-1" strike="noStrike">
              <a:solidFill>
                <a:srgbClr val="000000"/>
              </a:solidFill>
              <a:latin typeface="Arial"/>
            </a:endParaRPr>
          </a:p>
        </p:txBody>
      </p:sp>
      <p:grpSp>
        <p:nvGrpSpPr>
          <p:cNvPr id="555" name="Google Shape;636;p30"/>
          <p:cNvGrpSpPr/>
          <p:nvPr/>
        </p:nvGrpSpPr>
        <p:grpSpPr>
          <a:xfrm>
            <a:off x="6477120" y="2666880"/>
            <a:ext cx="4952520" cy="809280"/>
            <a:chOff x="6477120" y="2666880"/>
            <a:chExt cx="4952520" cy="809280"/>
          </a:xfrm>
        </p:grpSpPr>
        <p:sp>
          <p:nvSpPr>
            <p:cNvPr id="556" name="Google Shape;637;p30"/>
            <p:cNvSpPr/>
            <p:nvPr/>
          </p:nvSpPr>
          <p:spPr>
            <a:xfrm>
              <a:off x="6477120" y="2666880"/>
              <a:ext cx="4952520" cy="809280"/>
            </a:xfrm>
            <a:prstGeom prst="roundRect">
              <a:avLst>
                <a:gd name="adj" fmla="val 9411"/>
              </a:avLst>
            </a:prstGeom>
            <a:solidFill>
              <a:srgbClr val="f1f5f9"/>
            </a:solidFill>
            <a:ln w="9525">
              <a:solidFill>
                <a:srgbClr val="e2e8f0"/>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grpSp>
          <p:nvGrpSpPr>
            <p:cNvPr id="557" name="Google Shape;638;p30"/>
            <p:cNvGrpSpPr/>
            <p:nvPr/>
          </p:nvGrpSpPr>
          <p:grpSpPr>
            <a:xfrm>
              <a:off x="6620040" y="2971800"/>
              <a:ext cx="190080" cy="190080"/>
              <a:chOff x="6620040" y="2971800"/>
              <a:chExt cx="190080" cy="190080"/>
            </a:xfrm>
          </p:grpSpPr>
          <p:sp>
            <p:nvSpPr>
              <p:cNvPr id="558" name="Google Shape;639;p30"/>
              <p:cNvSpPr/>
              <p:nvPr/>
            </p:nvSpPr>
            <p:spPr>
              <a:xfrm>
                <a:off x="6620040" y="2971800"/>
                <a:ext cx="190080" cy="19008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559" name="Google Shape;640;p30"/>
              <p:cNvSpPr/>
              <p:nvPr/>
            </p:nvSpPr>
            <p:spPr>
              <a:xfrm>
                <a:off x="6676920" y="3052800"/>
                <a:ext cx="75960" cy="47520"/>
              </a:xfrm>
              <a:custGeom>
                <a:avLst/>
                <a:gdLst>
                  <a:gd name="textAreaLeft" fmla="*/ 0 w 75960"/>
                  <a:gd name="textAreaRight" fmla="*/ 76320 w 75960"/>
                  <a:gd name="textAreaTop" fmla="*/ 0 h 47520"/>
                  <a:gd name="textAreaBottom" fmla="*/ 47880 h 47520"/>
                </a:gdLst>
                <a:ahLst/>
                <a:rect l="textAreaLeft" t="textAreaTop" r="textAreaRight" b="textAreaBottom"/>
                <a:pathLst>
                  <a:path w="120000" h="120000">
                    <a:moveTo>
                      <a:pt x="0" y="47987"/>
                    </a:moveTo>
                    <a:lnTo>
                      <a:pt x="45000"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560" name="Google Shape;641;p30"/>
            <p:cNvSpPr/>
            <p:nvPr/>
          </p:nvSpPr>
          <p:spPr>
            <a:xfrm>
              <a:off x="6953400" y="2809800"/>
              <a:ext cx="4333320" cy="52344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 sz="1300" spc="-1" strike="noStrike">
                  <a:solidFill>
                    <a:srgbClr val="045a36"/>
                  </a:solidFill>
                  <a:latin typeface="Inter"/>
                  <a:ea typeface="Inter"/>
                </a:rPr>
                <a:t>"From" Key</a:t>
              </a:r>
              <a:endParaRPr b="0" lang="en-US" sz="1300" spc="-1" strike="noStrike">
                <a:solidFill>
                  <a:srgbClr val="000000"/>
                </a:solidFill>
                <a:latin typeface="Arial"/>
              </a:endParaRPr>
            </a:p>
            <a:p>
              <a:pPr>
                <a:lnSpc>
                  <a:spcPct val="100000"/>
                </a:lnSpc>
                <a:spcBef>
                  <a:spcPts val="150"/>
                </a:spcBef>
                <a:tabLst>
                  <a:tab algn="l" pos="0"/>
                </a:tabLst>
              </a:pPr>
              <a:r>
                <a:rPr b="0" lang="en" sz="1150" spc="-1" strike="noStrike">
                  <a:solidFill>
                    <a:srgbClr val="374151"/>
                  </a:solidFill>
                  <a:latin typeface="Inter"/>
                  <a:ea typeface="Inter"/>
                </a:rPr>
                <a:t>Defines the origin address (</a:t>
              </a:r>
              <a:r>
                <a:rPr b="0" lang="en" sz="1150" spc="-1" strike="noStrike">
                  <a:solidFill>
                    <a:srgbClr val="045a36"/>
                  </a:solidFill>
                  <a:latin typeface="Arial"/>
                  <a:ea typeface="Arial"/>
                </a:rPr>
                <a:t>sender_email</a:t>
              </a:r>
              <a:r>
                <a:rPr b="0" lang="en" sz="1150" spc="-1" strike="noStrike">
                  <a:solidFill>
                    <a:srgbClr val="374151"/>
                  </a:solidFill>
                  <a:latin typeface="Inter"/>
                  <a:ea typeface="Inter"/>
                </a:rPr>
                <a:t>)</a:t>
              </a:r>
              <a:endParaRPr b="0" lang="en-US" sz="1150" spc="-1" strike="noStrike">
                <a:solidFill>
                  <a:srgbClr val="000000"/>
                </a:solidFill>
                <a:latin typeface="Arial"/>
              </a:endParaRPr>
            </a:p>
          </p:txBody>
        </p:sp>
      </p:grpSp>
      <p:grpSp>
        <p:nvGrpSpPr>
          <p:cNvPr id="561" name="Google Shape;642;p30"/>
          <p:cNvGrpSpPr/>
          <p:nvPr/>
        </p:nvGrpSpPr>
        <p:grpSpPr>
          <a:xfrm>
            <a:off x="6477120" y="3619440"/>
            <a:ext cx="4952520" cy="809280"/>
            <a:chOff x="6477120" y="3619440"/>
            <a:chExt cx="4952520" cy="809280"/>
          </a:xfrm>
        </p:grpSpPr>
        <p:sp>
          <p:nvSpPr>
            <p:cNvPr id="562" name="Google Shape;643;p30"/>
            <p:cNvSpPr/>
            <p:nvPr/>
          </p:nvSpPr>
          <p:spPr>
            <a:xfrm>
              <a:off x="6477120" y="3619440"/>
              <a:ext cx="4952520" cy="809280"/>
            </a:xfrm>
            <a:prstGeom prst="roundRect">
              <a:avLst>
                <a:gd name="adj" fmla="val 9411"/>
              </a:avLst>
            </a:prstGeom>
            <a:solidFill>
              <a:srgbClr val="f1f5f9"/>
            </a:solidFill>
            <a:ln w="9525">
              <a:solidFill>
                <a:srgbClr val="e2e8f0"/>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grpSp>
          <p:nvGrpSpPr>
            <p:cNvPr id="563" name="Google Shape;644;p30"/>
            <p:cNvGrpSpPr/>
            <p:nvPr/>
          </p:nvGrpSpPr>
          <p:grpSpPr>
            <a:xfrm>
              <a:off x="6620040" y="3924360"/>
              <a:ext cx="190080" cy="190080"/>
              <a:chOff x="6620040" y="3924360"/>
              <a:chExt cx="190080" cy="190080"/>
            </a:xfrm>
          </p:grpSpPr>
          <p:sp>
            <p:nvSpPr>
              <p:cNvPr id="564" name="Google Shape;645;p30"/>
              <p:cNvSpPr/>
              <p:nvPr/>
            </p:nvSpPr>
            <p:spPr>
              <a:xfrm>
                <a:off x="6620040" y="3924360"/>
                <a:ext cx="190080" cy="19008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565" name="Google Shape;646;p30"/>
              <p:cNvSpPr/>
              <p:nvPr/>
            </p:nvSpPr>
            <p:spPr>
              <a:xfrm>
                <a:off x="6676920" y="4005360"/>
                <a:ext cx="75960" cy="47520"/>
              </a:xfrm>
              <a:custGeom>
                <a:avLst/>
                <a:gdLst>
                  <a:gd name="textAreaLeft" fmla="*/ 0 w 75960"/>
                  <a:gd name="textAreaRight" fmla="*/ 76320 w 75960"/>
                  <a:gd name="textAreaTop" fmla="*/ 0 h 47520"/>
                  <a:gd name="textAreaBottom" fmla="*/ 47880 h 47520"/>
                </a:gdLst>
                <a:ahLst/>
                <a:rect l="textAreaLeft" t="textAreaTop" r="textAreaRight" b="textAreaBottom"/>
                <a:pathLst>
                  <a:path w="120000" h="120000">
                    <a:moveTo>
                      <a:pt x="0" y="47987"/>
                    </a:moveTo>
                    <a:lnTo>
                      <a:pt x="45000"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566" name="Google Shape;647;p30"/>
            <p:cNvSpPr/>
            <p:nvPr/>
          </p:nvSpPr>
          <p:spPr>
            <a:xfrm>
              <a:off x="6953400" y="3762360"/>
              <a:ext cx="4333320" cy="52344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 sz="1300" spc="-1" strike="noStrike">
                  <a:solidFill>
                    <a:srgbClr val="045a36"/>
                  </a:solidFill>
                  <a:latin typeface="Inter"/>
                  <a:ea typeface="Inter"/>
                </a:rPr>
                <a:t>"To" Key</a:t>
              </a:r>
              <a:endParaRPr b="0" lang="en-US" sz="1300" spc="-1" strike="noStrike">
                <a:solidFill>
                  <a:srgbClr val="000000"/>
                </a:solidFill>
                <a:latin typeface="Arial"/>
              </a:endParaRPr>
            </a:p>
            <a:p>
              <a:pPr>
                <a:lnSpc>
                  <a:spcPct val="100000"/>
                </a:lnSpc>
                <a:spcBef>
                  <a:spcPts val="150"/>
                </a:spcBef>
                <a:tabLst>
                  <a:tab algn="l" pos="0"/>
                </a:tabLst>
              </a:pPr>
              <a:r>
                <a:rPr b="0" lang="en" sz="1150" spc="-1" strike="noStrike">
                  <a:solidFill>
                    <a:srgbClr val="374151"/>
                  </a:solidFill>
                  <a:latin typeface="Inter"/>
                  <a:ea typeface="Inter"/>
                </a:rPr>
                <a:t>Defines the destination address (</a:t>
              </a:r>
              <a:r>
                <a:rPr b="0" lang="en" sz="1150" spc="-1" strike="noStrike">
                  <a:solidFill>
                    <a:srgbClr val="045a36"/>
                  </a:solidFill>
                  <a:latin typeface="Arial"/>
                  <a:ea typeface="Arial"/>
                </a:rPr>
                <a:t>receiver_email</a:t>
              </a:r>
              <a:r>
                <a:rPr b="0" lang="en" sz="1150" spc="-1" strike="noStrike">
                  <a:solidFill>
                    <a:srgbClr val="374151"/>
                  </a:solidFill>
                  <a:latin typeface="Inter"/>
                  <a:ea typeface="Inter"/>
                </a:rPr>
                <a:t>)</a:t>
              </a:r>
              <a:endParaRPr b="0" lang="en-US" sz="1150" spc="-1" strike="noStrike">
                <a:solidFill>
                  <a:srgbClr val="000000"/>
                </a:solidFill>
                <a:latin typeface="Arial"/>
              </a:endParaRPr>
            </a:p>
          </p:txBody>
        </p:sp>
      </p:grpSp>
      <p:grpSp>
        <p:nvGrpSpPr>
          <p:cNvPr id="567" name="Google Shape;648;p30"/>
          <p:cNvGrpSpPr/>
          <p:nvPr/>
        </p:nvGrpSpPr>
        <p:grpSpPr>
          <a:xfrm>
            <a:off x="6477120" y="4572000"/>
            <a:ext cx="4952520" cy="809280"/>
            <a:chOff x="6477120" y="4572000"/>
            <a:chExt cx="4952520" cy="809280"/>
          </a:xfrm>
        </p:grpSpPr>
        <p:sp>
          <p:nvSpPr>
            <p:cNvPr id="568" name="Google Shape;649;p30"/>
            <p:cNvSpPr/>
            <p:nvPr/>
          </p:nvSpPr>
          <p:spPr>
            <a:xfrm>
              <a:off x="6477120" y="4572000"/>
              <a:ext cx="4952520" cy="809280"/>
            </a:xfrm>
            <a:prstGeom prst="roundRect">
              <a:avLst>
                <a:gd name="adj" fmla="val 9411"/>
              </a:avLst>
            </a:prstGeom>
            <a:solidFill>
              <a:srgbClr val="f1f5f9"/>
            </a:solidFill>
            <a:ln w="9525">
              <a:solidFill>
                <a:srgbClr val="e2e8f0"/>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grpSp>
          <p:nvGrpSpPr>
            <p:cNvPr id="569" name="Google Shape;650;p30"/>
            <p:cNvGrpSpPr/>
            <p:nvPr/>
          </p:nvGrpSpPr>
          <p:grpSpPr>
            <a:xfrm>
              <a:off x="6620040" y="4876920"/>
              <a:ext cx="190080" cy="190080"/>
              <a:chOff x="6620040" y="4876920"/>
              <a:chExt cx="190080" cy="190080"/>
            </a:xfrm>
          </p:grpSpPr>
          <p:sp>
            <p:nvSpPr>
              <p:cNvPr id="570" name="Google Shape;651;p30"/>
              <p:cNvSpPr/>
              <p:nvPr/>
            </p:nvSpPr>
            <p:spPr>
              <a:xfrm>
                <a:off x="6620040" y="4876920"/>
                <a:ext cx="190080" cy="19008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571" name="Google Shape;652;p30"/>
              <p:cNvSpPr/>
              <p:nvPr/>
            </p:nvSpPr>
            <p:spPr>
              <a:xfrm>
                <a:off x="6676920" y="4957920"/>
                <a:ext cx="75960" cy="47520"/>
              </a:xfrm>
              <a:custGeom>
                <a:avLst/>
                <a:gdLst>
                  <a:gd name="textAreaLeft" fmla="*/ 0 w 75960"/>
                  <a:gd name="textAreaRight" fmla="*/ 76320 w 75960"/>
                  <a:gd name="textAreaTop" fmla="*/ 0 h 47520"/>
                  <a:gd name="textAreaBottom" fmla="*/ 47880 h 47520"/>
                </a:gdLst>
                <a:ahLst/>
                <a:rect l="textAreaLeft" t="textAreaTop" r="textAreaRight" b="textAreaBottom"/>
                <a:pathLst>
                  <a:path w="120000" h="120000">
                    <a:moveTo>
                      <a:pt x="0" y="47987"/>
                    </a:moveTo>
                    <a:lnTo>
                      <a:pt x="45000"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572" name="Google Shape;653;p30"/>
            <p:cNvSpPr/>
            <p:nvPr/>
          </p:nvSpPr>
          <p:spPr>
            <a:xfrm>
              <a:off x="6953400" y="4714920"/>
              <a:ext cx="4333320" cy="52344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 sz="1300" spc="-1" strike="noStrike">
                  <a:solidFill>
                    <a:srgbClr val="045a36"/>
                  </a:solidFill>
                  <a:latin typeface="Inter"/>
                  <a:ea typeface="Inter"/>
                </a:rPr>
                <a:t>"Subject" Key</a:t>
              </a:r>
              <a:endParaRPr b="0" lang="en-US" sz="1300" spc="-1" strike="noStrike">
                <a:solidFill>
                  <a:srgbClr val="000000"/>
                </a:solidFill>
                <a:latin typeface="Arial"/>
              </a:endParaRPr>
            </a:p>
            <a:p>
              <a:pPr>
                <a:lnSpc>
                  <a:spcPct val="100000"/>
                </a:lnSpc>
                <a:spcBef>
                  <a:spcPts val="150"/>
                </a:spcBef>
                <a:tabLst>
                  <a:tab algn="l" pos="0"/>
                </a:tabLst>
              </a:pPr>
              <a:r>
                <a:rPr b="0" lang="en" sz="1150" spc="-1" strike="noStrike">
                  <a:solidFill>
                    <a:srgbClr val="374151"/>
                  </a:solidFill>
                  <a:latin typeface="Inter"/>
                  <a:ea typeface="Inter"/>
                </a:rPr>
                <a:t>Defines the email title (</a:t>
              </a:r>
              <a:r>
                <a:rPr b="0" lang="en" sz="1150" spc="-1" strike="noStrike">
                  <a:solidFill>
                    <a:srgbClr val="d4a017"/>
                  </a:solidFill>
                  <a:latin typeface="Inter SemiBold"/>
                  <a:ea typeface="Inter SemiBold"/>
                </a:rPr>
                <a:t>"My First Python Email"</a:t>
              </a:r>
              <a:r>
                <a:rPr b="0" lang="en" sz="1150" spc="-1" strike="noStrike">
                  <a:solidFill>
                    <a:srgbClr val="374151"/>
                  </a:solidFill>
                  <a:latin typeface="Inter"/>
                  <a:ea typeface="Inter"/>
                </a:rPr>
                <a:t>)</a:t>
              </a:r>
              <a:endParaRPr b="0" lang="en-US" sz="1150" spc="-1" strike="noStrike">
                <a:solidFill>
                  <a:srgbClr val="000000"/>
                </a:solidFill>
                <a:latin typeface="Arial"/>
              </a:endParaRPr>
            </a:p>
          </p:txBody>
        </p:sp>
      </p:gr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pic>
        <p:nvPicPr>
          <p:cNvPr id="573" name="Google Shape;658;p31" descr=""/>
          <p:cNvPicPr/>
          <p:nvPr/>
        </p:nvPicPr>
        <p:blipFill>
          <a:blip r:embed="rId2"/>
          <a:srcRect l="129" t="0" r="129" b="0"/>
          <a:stretch/>
        </p:blipFill>
        <p:spPr>
          <a:xfrm>
            <a:off x="0" y="0"/>
            <a:ext cx="12191760" cy="56880"/>
          </a:xfrm>
          <a:prstGeom prst="rect">
            <a:avLst/>
          </a:prstGeom>
          <a:ln w="0">
            <a:noFill/>
          </a:ln>
        </p:spPr>
      </p:pic>
      <p:sp>
        <p:nvSpPr>
          <p:cNvPr id="574" name="Google Shape;659;p31"/>
          <p:cNvSpPr/>
          <p:nvPr/>
        </p:nvSpPr>
        <p:spPr>
          <a:xfrm>
            <a:off x="762120" y="571680"/>
            <a:ext cx="9524520" cy="42840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2700" spc="-1" strike="noStrike">
                <a:solidFill>
                  <a:srgbClr val="045a36"/>
                </a:solidFill>
                <a:latin typeface="Montserrat SemiBold"/>
                <a:ea typeface="Montserrat SemiBold"/>
              </a:rPr>
              <a:t>The set_content() Method</a:t>
            </a:r>
            <a:endParaRPr b="0" lang="en-US" sz="2700" spc="-1" strike="noStrike">
              <a:solidFill>
                <a:srgbClr val="000000"/>
              </a:solidFill>
              <a:latin typeface="Arial"/>
            </a:endParaRPr>
          </a:p>
        </p:txBody>
      </p:sp>
      <p:sp>
        <p:nvSpPr>
          <p:cNvPr id="575" name="Google Shape;660;p31"/>
          <p:cNvSpPr/>
          <p:nvPr/>
        </p:nvSpPr>
        <p:spPr>
          <a:xfrm>
            <a:off x="762120" y="1123920"/>
            <a:ext cx="10667520" cy="18720"/>
          </a:xfrm>
          <a:prstGeom prst="rect">
            <a:avLst/>
          </a:prstGeom>
          <a:solidFill>
            <a:srgbClr val="e2e8f0"/>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grpSp>
        <p:nvGrpSpPr>
          <p:cNvPr id="576" name="Google Shape;661;p31"/>
          <p:cNvGrpSpPr/>
          <p:nvPr/>
        </p:nvGrpSpPr>
        <p:grpSpPr>
          <a:xfrm>
            <a:off x="762120" y="1380960"/>
            <a:ext cx="10667520" cy="1047600"/>
            <a:chOff x="762120" y="1380960"/>
            <a:chExt cx="10667520" cy="1047600"/>
          </a:xfrm>
        </p:grpSpPr>
        <p:sp>
          <p:nvSpPr>
            <p:cNvPr id="577" name="Google Shape;662;p31"/>
            <p:cNvSpPr/>
            <p:nvPr/>
          </p:nvSpPr>
          <p:spPr>
            <a:xfrm>
              <a:off x="762120" y="1380960"/>
              <a:ext cx="10667520" cy="1047600"/>
            </a:xfrm>
            <a:prstGeom prst="roundRect">
              <a:avLst>
                <a:gd name="adj" fmla="val 7272"/>
              </a:avLst>
            </a:prstGeom>
            <a:solidFill>
              <a:srgbClr val="f1f5f9"/>
            </a:solidFill>
            <a:ln w="9525">
              <a:solidFill>
                <a:srgbClr val="e2e8f0"/>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578" name="Google Shape;663;p31"/>
            <p:cNvSpPr/>
            <p:nvPr/>
          </p:nvSpPr>
          <p:spPr>
            <a:xfrm>
              <a:off x="762120" y="1380960"/>
              <a:ext cx="56880" cy="1047600"/>
            </a:xfrm>
            <a:prstGeom prst="roundRect">
              <a:avLst>
                <a:gd name="adj" fmla="val 50000"/>
              </a:avLst>
            </a:prstGeom>
            <a:solidFill>
              <a:srgbClr val="d4a017"/>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579" name="Google Shape;664;p31"/>
            <p:cNvSpPr/>
            <p:nvPr/>
          </p:nvSpPr>
          <p:spPr>
            <a:xfrm>
              <a:off x="9334440" y="1476360"/>
              <a:ext cx="1904760" cy="237960"/>
            </a:xfrm>
            <a:prstGeom prst="rect">
              <a:avLst/>
            </a:prstGeom>
            <a:noFill/>
            <a:ln w="0">
              <a:noFill/>
            </a:ln>
          </p:spPr>
          <p:style>
            <a:lnRef idx="0"/>
            <a:fillRef idx="0"/>
            <a:effectRef idx="0"/>
            <a:fontRef idx="minor"/>
          </p:style>
          <p:txBody>
            <a:bodyPr lIns="0" rIns="0" tIns="0" bIns="0" anchor="b">
              <a:noAutofit/>
            </a:bodyPr>
            <a:p>
              <a:pPr algn="r">
                <a:lnSpc>
                  <a:spcPct val="100000"/>
                </a:lnSpc>
                <a:tabLst>
                  <a:tab algn="l" pos="0"/>
                </a:tabLst>
              </a:pPr>
              <a:r>
                <a:rPr b="1" lang="en" sz="800" spc="-1" strike="noStrike">
                  <a:solidFill>
                    <a:srgbClr val="6b7280"/>
                  </a:solidFill>
                  <a:latin typeface="Inter"/>
                  <a:ea typeface="Inter"/>
                </a:rPr>
                <a:t>Code Implementation</a:t>
              </a:r>
              <a:endParaRPr b="0" lang="en-US" sz="800" spc="-1" strike="noStrike">
                <a:solidFill>
                  <a:srgbClr val="000000"/>
                </a:solidFill>
                <a:latin typeface="Arial"/>
              </a:endParaRPr>
            </a:p>
          </p:txBody>
        </p:sp>
        <p:sp>
          <p:nvSpPr>
            <p:cNvPr id="580" name="Google Shape;665;p31"/>
            <p:cNvSpPr/>
            <p:nvPr/>
          </p:nvSpPr>
          <p:spPr>
            <a:xfrm>
              <a:off x="1047600" y="1523880"/>
              <a:ext cx="10096200" cy="76176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 sz="1500" spc="-1" strike="noStrike">
                  <a:solidFill>
                    <a:srgbClr val="6b7280"/>
                  </a:solidFill>
                  <a:latin typeface="Courier New"/>
                  <a:ea typeface="Courier New"/>
                </a:rPr>
                <a:t>msg</a:t>
              </a:r>
              <a:r>
                <a:rPr b="1" lang="en" sz="1500" spc="-1" strike="noStrike">
                  <a:solidFill>
                    <a:srgbClr val="045a36"/>
                  </a:solidFill>
                  <a:latin typeface="Courier New"/>
                  <a:ea typeface="Courier New"/>
                </a:rPr>
                <a:t>.set_content</a:t>
              </a:r>
              <a:r>
                <a:rPr b="0" lang="en" sz="1500" spc="-1" strike="noStrike">
                  <a:solidFill>
                    <a:srgbClr val="1f2937"/>
                  </a:solidFill>
                  <a:latin typeface="Courier New"/>
                  <a:ea typeface="Courier New"/>
                </a:rPr>
                <a:t>(</a:t>
              </a:r>
              <a:endParaRPr b="0" lang="en-US" sz="1500" spc="-1" strike="noStrike">
                <a:solidFill>
                  <a:srgbClr val="000000"/>
                </a:solidFill>
                <a:latin typeface="Arial"/>
              </a:endParaRPr>
            </a:p>
            <a:p>
              <a:pPr>
                <a:lnSpc>
                  <a:spcPct val="100000"/>
                </a:lnSpc>
                <a:spcBef>
                  <a:spcPts val="300"/>
                </a:spcBef>
                <a:tabLst>
                  <a:tab algn="l" pos="0"/>
                </a:tabLst>
              </a:pPr>
              <a:r>
                <a:rPr b="0" lang="en" sz="1500" spc="-1" strike="noStrike">
                  <a:solidFill>
                    <a:srgbClr val="d4a017"/>
                  </a:solidFill>
                  <a:latin typeface="Courier New"/>
                  <a:ea typeface="Courier New"/>
                </a:rPr>
                <a:t>"Hello! This email was sent..."</a:t>
              </a:r>
              <a:endParaRPr b="0" lang="en-US" sz="1500" spc="-1" strike="noStrike">
                <a:solidFill>
                  <a:srgbClr val="000000"/>
                </a:solidFill>
                <a:latin typeface="Arial"/>
              </a:endParaRPr>
            </a:p>
            <a:p>
              <a:pPr>
                <a:lnSpc>
                  <a:spcPct val="100000"/>
                </a:lnSpc>
                <a:spcBef>
                  <a:spcPts val="300"/>
                </a:spcBef>
                <a:tabLst>
                  <a:tab algn="l" pos="0"/>
                </a:tabLst>
              </a:pPr>
              <a:r>
                <a:rPr b="0" lang="en" sz="1500" spc="-1" strike="noStrike">
                  <a:solidFill>
                    <a:srgbClr val="1f2937"/>
                  </a:solidFill>
                  <a:latin typeface="Courier New"/>
                  <a:ea typeface="Courier New"/>
                </a:rPr>
                <a:t>)</a:t>
              </a:r>
              <a:endParaRPr b="0" lang="en-US" sz="1500" spc="-1" strike="noStrike">
                <a:solidFill>
                  <a:srgbClr val="000000"/>
                </a:solidFill>
                <a:latin typeface="Arial"/>
              </a:endParaRPr>
            </a:p>
          </p:txBody>
        </p:sp>
      </p:grpSp>
      <p:grpSp>
        <p:nvGrpSpPr>
          <p:cNvPr id="581" name="Google Shape;666;p31"/>
          <p:cNvGrpSpPr/>
          <p:nvPr/>
        </p:nvGrpSpPr>
        <p:grpSpPr>
          <a:xfrm>
            <a:off x="762120" y="2666880"/>
            <a:ext cx="3238200" cy="2761920"/>
            <a:chOff x="762120" y="2666880"/>
            <a:chExt cx="3238200" cy="2761920"/>
          </a:xfrm>
        </p:grpSpPr>
        <p:sp>
          <p:nvSpPr>
            <p:cNvPr id="582" name="Google Shape;667;p31"/>
            <p:cNvSpPr/>
            <p:nvPr/>
          </p:nvSpPr>
          <p:spPr>
            <a:xfrm>
              <a:off x="762120" y="2666880"/>
              <a:ext cx="3238200" cy="2761920"/>
            </a:xfrm>
            <a:prstGeom prst="roundRect">
              <a:avLst>
                <a:gd name="adj" fmla="val 4137"/>
              </a:avLst>
            </a:prstGeom>
            <a:solidFill>
              <a:srgbClr val="ffffff"/>
            </a:solidFill>
            <a:ln w="9525">
              <a:solidFill>
                <a:srgbClr val="e2e8f0"/>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583" name="Google Shape;668;p31"/>
            <p:cNvSpPr/>
            <p:nvPr/>
          </p:nvSpPr>
          <p:spPr>
            <a:xfrm>
              <a:off x="762120" y="2666880"/>
              <a:ext cx="3238200" cy="75960"/>
            </a:xfrm>
            <a:prstGeom prst="roundRect">
              <a:avLst>
                <a:gd name="adj" fmla="val 50000"/>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584" name="Google Shape;669;p31"/>
            <p:cNvSpPr/>
            <p:nvPr/>
          </p:nvSpPr>
          <p:spPr>
            <a:xfrm>
              <a:off x="1000080" y="2905200"/>
              <a:ext cx="2761920" cy="3805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650" spc="-1" strike="noStrike">
                  <a:solidFill>
                    <a:srgbClr val="045a36"/>
                  </a:solidFill>
                  <a:latin typeface="Montserrat"/>
                  <a:ea typeface="Montserrat"/>
                </a:rPr>
                <a:t>Method Anatomy</a:t>
              </a:r>
              <a:endParaRPr b="0" lang="en-US" sz="1650" spc="-1" strike="noStrike">
                <a:solidFill>
                  <a:srgbClr val="000000"/>
                </a:solidFill>
                <a:latin typeface="Arial"/>
              </a:endParaRPr>
            </a:p>
          </p:txBody>
        </p:sp>
        <p:grpSp>
          <p:nvGrpSpPr>
            <p:cNvPr id="585" name="Google Shape;670;p31"/>
            <p:cNvGrpSpPr/>
            <p:nvPr/>
          </p:nvGrpSpPr>
          <p:grpSpPr>
            <a:xfrm>
              <a:off x="1000080" y="3429000"/>
              <a:ext cx="190080" cy="190080"/>
              <a:chOff x="1000080" y="3429000"/>
              <a:chExt cx="190080" cy="190080"/>
            </a:xfrm>
          </p:grpSpPr>
          <p:sp>
            <p:nvSpPr>
              <p:cNvPr id="586" name="Google Shape;671;p31"/>
              <p:cNvSpPr/>
              <p:nvPr/>
            </p:nvSpPr>
            <p:spPr>
              <a:xfrm>
                <a:off x="1000080" y="3429000"/>
                <a:ext cx="190080" cy="19008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587" name="Google Shape;672;p31"/>
              <p:cNvSpPr/>
              <p:nvPr/>
            </p:nvSpPr>
            <p:spPr>
              <a:xfrm>
                <a:off x="1057320" y="3510000"/>
                <a:ext cx="75960" cy="47520"/>
              </a:xfrm>
              <a:custGeom>
                <a:avLst/>
                <a:gdLst>
                  <a:gd name="textAreaLeft" fmla="*/ 0 w 75960"/>
                  <a:gd name="textAreaRight" fmla="*/ 76320 w 75960"/>
                  <a:gd name="textAreaTop" fmla="*/ 0 h 47520"/>
                  <a:gd name="textAreaBottom" fmla="*/ 47880 h 47520"/>
                </a:gdLst>
                <a:ahLst/>
                <a:rect l="textAreaLeft" t="textAreaTop" r="textAreaRight" b="textAreaBottom"/>
                <a:pathLst>
                  <a:path w="120000" h="120000">
                    <a:moveTo>
                      <a:pt x="0" y="48000"/>
                    </a:moveTo>
                    <a:lnTo>
                      <a:pt x="45000"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588" name="Google Shape;673;p31"/>
            <p:cNvSpPr/>
            <p:nvPr/>
          </p:nvSpPr>
          <p:spPr>
            <a:xfrm>
              <a:off x="1285920" y="3390840"/>
              <a:ext cx="2476080" cy="4759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100" spc="-1" strike="noStrike">
                  <a:solidFill>
                    <a:srgbClr val="045a36"/>
                  </a:solidFill>
                  <a:latin typeface="Courier New"/>
                  <a:ea typeface="Courier New"/>
                </a:rPr>
                <a:t>msg</a:t>
              </a:r>
              <a:r>
                <a:rPr b="0" lang="en" sz="1100" spc="-1" strike="noStrike">
                  <a:solidFill>
                    <a:srgbClr val="374151"/>
                  </a:solidFill>
                  <a:latin typeface="Inter"/>
                  <a:ea typeface="Inter"/>
                </a:rPr>
                <a:t>: The EmailMessage object instance</a:t>
              </a:r>
              <a:endParaRPr b="0" lang="en-US" sz="1100" spc="-1" strike="noStrike">
                <a:solidFill>
                  <a:srgbClr val="000000"/>
                </a:solidFill>
                <a:latin typeface="Arial"/>
              </a:endParaRPr>
            </a:p>
          </p:txBody>
        </p:sp>
        <p:grpSp>
          <p:nvGrpSpPr>
            <p:cNvPr id="589" name="Google Shape;674;p31"/>
            <p:cNvGrpSpPr/>
            <p:nvPr/>
          </p:nvGrpSpPr>
          <p:grpSpPr>
            <a:xfrm>
              <a:off x="1000080" y="4000680"/>
              <a:ext cx="190080" cy="190080"/>
              <a:chOff x="1000080" y="4000680"/>
              <a:chExt cx="190080" cy="190080"/>
            </a:xfrm>
          </p:grpSpPr>
          <p:sp>
            <p:nvSpPr>
              <p:cNvPr id="590" name="Google Shape;675;p31"/>
              <p:cNvSpPr/>
              <p:nvPr/>
            </p:nvSpPr>
            <p:spPr>
              <a:xfrm>
                <a:off x="1000080" y="4000680"/>
                <a:ext cx="190080" cy="19008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591" name="Google Shape;676;p31"/>
              <p:cNvSpPr/>
              <p:nvPr/>
            </p:nvSpPr>
            <p:spPr>
              <a:xfrm>
                <a:off x="1057320" y="4081320"/>
                <a:ext cx="75960" cy="47520"/>
              </a:xfrm>
              <a:custGeom>
                <a:avLst/>
                <a:gdLst>
                  <a:gd name="textAreaLeft" fmla="*/ 0 w 75960"/>
                  <a:gd name="textAreaRight" fmla="*/ 76320 w 75960"/>
                  <a:gd name="textAreaTop" fmla="*/ 0 h 47520"/>
                  <a:gd name="textAreaBottom" fmla="*/ 47880 h 47520"/>
                </a:gdLst>
                <a:ahLst/>
                <a:rect l="textAreaLeft" t="textAreaTop" r="textAreaRight" b="textAreaBottom"/>
                <a:pathLst>
                  <a:path w="120000" h="120000">
                    <a:moveTo>
                      <a:pt x="0" y="48000"/>
                    </a:moveTo>
                    <a:lnTo>
                      <a:pt x="45000"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592" name="Google Shape;677;p31"/>
            <p:cNvSpPr/>
            <p:nvPr/>
          </p:nvSpPr>
          <p:spPr>
            <a:xfrm>
              <a:off x="1285920" y="3962520"/>
              <a:ext cx="2476080" cy="4759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100" spc="-1" strike="noStrike">
                  <a:solidFill>
                    <a:srgbClr val="045a36"/>
                  </a:solidFill>
                  <a:latin typeface="Courier New"/>
                  <a:ea typeface="Courier New"/>
                </a:rPr>
                <a:t>set_content()</a:t>
              </a:r>
              <a:r>
                <a:rPr b="0" lang="en" sz="1100" spc="-1" strike="noStrike">
                  <a:solidFill>
                    <a:srgbClr val="374151"/>
                  </a:solidFill>
                  <a:latin typeface="Inter"/>
                  <a:ea typeface="Inter"/>
                </a:rPr>
                <a:t>: Method to safely inject body</a:t>
              </a:r>
              <a:endParaRPr b="0" lang="en-US" sz="1100" spc="-1" strike="noStrike">
                <a:solidFill>
                  <a:srgbClr val="000000"/>
                </a:solidFill>
                <a:latin typeface="Arial"/>
              </a:endParaRPr>
            </a:p>
          </p:txBody>
        </p:sp>
        <p:grpSp>
          <p:nvGrpSpPr>
            <p:cNvPr id="593" name="Google Shape;678;p31"/>
            <p:cNvGrpSpPr/>
            <p:nvPr/>
          </p:nvGrpSpPr>
          <p:grpSpPr>
            <a:xfrm>
              <a:off x="1000080" y="4572000"/>
              <a:ext cx="190080" cy="190080"/>
              <a:chOff x="1000080" y="4572000"/>
              <a:chExt cx="190080" cy="190080"/>
            </a:xfrm>
          </p:grpSpPr>
          <p:sp>
            <p:nvSpPr>
              <p:cNvPr id="594" name="Google Shape;679;p31"/>
              <p:cNvSpPr/>
              <p:nvPr/>
            </p:nvSpPr>
            <p:spPr>
              <a:xfrm>
                <a:off x="1000080" y="4572000"/>
                <a:ext cx="190080" cy="19008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595" name="Google Shape;680;p31"/>
              <p:cNvSpPr/>
              <p:nvPr/>
            </p:nvSpPr>
            <p:spPr>
              <a:xfrm>
                <a:off x="1057320" y="4653000"/>
                <a:ext cx="75960" cy="47520"/>
              </a:xfrm>
              <a:custGeom>
                <a:avLst/>
                <a:gdLst>
                  <a:gd name="textAreaLeft" fmla="*/ 0 w 75960"/>
                  <a:gd name="textAreaRight" fmla="*/ 76320 w 75960"/>
                  <a:gd name="textAreaTop" fmla="*/ 0 h 47520"/>
                  <a:gd name="textAreaBottom" fmla="*/ 47880 h 47520"/>
                </a:gdLst>
                <a:ahLst/>
                <a:rect l="textAreaLeft" t="textAreaTop" r="textAreaRight" b="textAreaBottom"/>
                <a:pathLst>
                  <a:path w="120000" h="120000">
                    <a:moveTo>
                      <a:pt x="0" y="48000"/>
                    </a:moveTo>
                    <a:lnTo>
                      <a:pt x="45000"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596" name="Google Shape;681;p31"/>
            <p:cNvSpPr/>
            <p:nvPr/>
          </p:nvSpPr>
          <p:spPr>
            <a:xfrm>
              <a:off x="1285920" y="4533840"/>
              <a:ext cx="2476080" cy="4759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100" spc="-1" strike="noStrike">
                  <a:solidFill>
                    <a:srgbClr val="045a36"/>
                  </a:solidFill>
                  <a:latin typeface="Courier New"/>
                  <a:ea typeface="Courier New"/>
                </a:rPr>
                <a:t>"Hello!..."</a:t>
              </a:r>
              <a:r>
                <a:rPr b="0" lang="en" sz="1100" spc="-1" strike="noStrike">
                  <a:solidFill>
                    <a:srgbClr val="374151"/>
                  </a:solidFill>
                  <a:latin typeface="Inter"/>
                  <a:ea typeface="Inter"/>
                </a:rPr>
                <a:t>: The plain-text message string</a:t>
              </a:r>
              <a:endParaRPr b="0" lang="en-US" sz="1100" spc="-1" strike="noStrike">
                <a:solidFill>
                  <a:srgbClr val="000000"/>
                </a:solidFill>
                <a:latin typeface="Arial"/>
              </a:endParaRPr>
            </a:p>
          </p:txBody>
        </p:sp>
      </p:grpSp>
      <p:grpSp>
        <p:nvGrpSpPr>
          <p:cNvPr id="597" name="Google Shape;682;p31"/>
          <p:cNvGrpSpPr/>
          <p:nvPr/>
        </p:nvGrpSpPr>
        <p:grpSpPr>
          <a:xfrm>
            <a:off x="4476600" y="2666880"/>
            <a:ext cx="3238200" cy="2761920"/>
            <a:chOff x="4476600" y="2666880"/>
            <a:chExt cx="3238200" cy="2761920"/>
          </a:xfrm>
        </p:grpSpPr>
        <p:sp>
          <p:nvSpPr>
            <p:cNvPr id="598" name="Google Shape;683;p31"/>
            <p:cNvSpPr/>
            <p:nvPr/>
          </p:nvSpPr>
          <p:spPr>
            <a:xfrm>
              <a:off x="4476600" y="2666880"/>
              <a:ext cx="3238200" cy="2761920"/>
            </a:xfrm>
            <a:prstGeom prst="roundRect">
              <a:avLst>
                <a:gd name="adj" fmla="val 4137"/>
              </a:avLst>
            </a:prstGeom>
            <a:solidFill>
              <a:srgbClr val="ffffff"/>
            </a:solidFill>
            <a:ln w="9525">
              <a:solidFill>
                <a:srgbClr val="e2e8f0"/>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599" name="Google Shape;684;p31"/>
            <p:cNvSpPr/>
            <p:nvPr/>
          </p:nvSpPr>
          <p:spPr>
            <a:xfrm>
              <a:off x="4476600" y="2666880"/>
              <a:ext cx="3238200" cy="75960"/>
            </a:xfrm>
            <a:prstGeom prst="roundRect">
              <a:avLst>
                <a:gd name="adj" fmla="val 50000"/>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600" name="Google Shape;685;p31"/>
            <p:cNvSpPr/>
            <p:nvPr/>
          </p:nvSpPr>
          <p:spPr>
            <a:xfrm>
              <a:off x="4714920" y="2905200"/>
              <a:ext cx="2761920" cy="3805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650" spc="-1" strike="noStrike">
                  <a:solidFill>
                    <a:srgbClr val="045a36"/>
                  </a:solidFill>
                  <a:latin typeface="Montserrat"/>
                  <a:ea typeface="Montserrat"/>
                </a:rPr>
                <a:t>Plain-Text Standard</a:t>
              </a:r>
              <a:endParaRPr b="0" lang="en-US" sz="1650" spc="-1" strike="noStrike">
                <a:solidFill>
                  <a:srgbClr val="000000"/>
                </a:solidFill>
                <a:latin typeface="Arial"/>
              </a:endParaRPr>
            </a:p>
          </p:txBody>
        </p:sp>
        <p:grpSp>
          <p:nvGrpSpPr>
            <p:cNvPr id="601" name="Google Shape;686;p31"/>
            <p:cNvGrpSpPr/>
            <p:nvPr/>
          </p:nvGrpSpPr>
          <p:grpSpPr>
            <a:xfrm>
              <a:off x="4714920" y="3429000"/>
              <a:ext cx="190080" cy="190080"/>
              <a:chOff x="4714920" y="3429000"/>
              <a:chExt cx="190080" cy="190080"/>
            </a:xfrm>
          </p:grpSpPr>
          <p:sp>
            <p:nvSpPr>
              <p:cNvPr id="602" name="Google Shape;687;p31"/>
              <p:cNvSpPr/>
              <p:nvPr/>
            </p:nvSpPr>
            <p:spPr>
              <a:xfrm>
                <a:off x="4714920" y="3429000"/>
                <a:ext cx="190080" cy="19008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603" name="Google Shape;688;p31"/>
              <p:cNvSpPr/>
              <p:nvPr/>
            </p:nvSpPr>
            <p:spPr>
              <a:xfrm>
                <a:off x="4772160" y="3510000"/>
                <a:ext cx="75960" cy="47520"/>
              </a:xfrm>
              <a:custGeom>
                <a:avLst/>
                <a:gdLst>
                  <a:gd name="textAreaLeft" fmla="*/ 0 w 75960"/>
                  <a:gd name="textAreaRight" fmla="*/ 76320 w 75960"/>
                  <a:gd name="textAreaTop" fmla="*/ 0 h 47520"/>
                  <a:gd name="textAreaBottom" fmla="*/ 47880 h 47520"/>
                </a:gdLst>
                <a:ahLst/>
                <a:rect l="textAreaLeft" t="textAreaTop" r="textAreaRight" b="textAreaBottom"/>
                <a:pathLst>
                  <a:path w="120000" h="120000">
                    <a:moveTo>
                      <a:pt x="0" y="48000"/>
                    </a:moveTo>
                    <a:lnTo>
                      <a:pt x="45000"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604" name="Google Shape;689;p31"/>
            <p:cNvSpPr/>
            <p:nvPr/>
          </p:nvSpPr>
          <p:spPr>
            <a:xfrm>
              <a:off x="5000760" y="3390840"/>
              <a:ext cx="2476080" cy="80928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100" spc="-1" strike="noStrike">
                  <a:solidFill>
                    <a:srgbClr val="045a36"/>
                  </a:solidFill>
                  <a:latin typeface="Inter SemiBold"/>
                  <a:ea typeface="Inter SemiBold"/>
                </a:rPr>
                <a:t>Built-In Body Injection</a:t>
              </a:r>
              <a:r>
                <a:rPr b="0" lang="en" sz="1100" spc="-1" strike="noStrike">
                  <a:solidFill>
                    <a:srgbClr val="374151"/>
                  </a:solidFill>
                  <a:latin typeface="Inter"/>
                  <a:ea typeface="Inter"/>
                </a:rPr>
                <a:t> Designed specifically to safely inject text into the body of the EmailMessage object.</a:t>
              </a:r>
              <a:endParaRPr b="0" lang="en-US" sz="1100" spc="-1" strike="noStrike">
                <a:solidFill>
                  <a:srgbClr val="000000"/>
                </a:solidFill>
                <a:latin typeface="Arial"/>
              </a:endParaRPr>
            </a:p>
          </p:txBody>
        </p:sp>
        <p:grpSp>
          <p:nvGrpSpPr>
            <p:cNvPr id="605" name="Google Shape;690;p31"/>
            <p:cNvGrpSpPr/>
            <p:nvPr/>
          </p:nvGrpSpPr>
          <p:grpSpPr>
            <a:xfrm>
              <a:off x="4714920" y="4334040"/>
              <a:ext cx="190080" cy="190080"/>
              <a:chOff x="4714920" y="4334040"/>
              <a:chExt cx="190080" cy="190080"/>
            </a:xfrm>
          </p:grpSpPr>
          <p:sp>
            <p:nvSpPr>
              <p:cNvPr id="606" name="Google Shape;691;p31"/>
              <p:cNvSpPr/>
              <p:nvPr/>
            </p:nvSpPr>
            <p:spPr>
              <a:xfrm>
                <a:off x="4714920" y="4334040"/>
                <a:ext cx="190080" cy="19008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607" name="Google Shape;692;p31"/>
              <p:cNvSpPr/>
              <p:nvPr/>
            </p:nvSpPr>
            <p:spPr>
              <a:xfrm>
                <a:off x="4772160" y="4414680"/>
                <a:ext cx="75960" cy="47520"/>
              </a:xfrm>
              <a:custGeom>
                <a:avLst/>
                <a:gdLst>
                  <a:gd name="textAreaLeft" fmla="*/ 0 w 75960"/>
                  <a:gd name="textAreaRight" fmla="*/ 76320 w 75960"/>
                  <a:gd name="textAreaTop" fmla="*/ 0 h 47520"/>
                  <a:gd name="textAreaBottom" fmla="*/ 47880 h 47520"/>
                </a:gdLst>
                <a:ahLst/>
                <a:rect l="textAreaLeft" t="textAreaTop" r="textAreaRight" b="textAreaBottom"/>
                <a:pathLst>
                  <a:path w="120000" h="120000">
                    <a:moveTo>
                      <a:pt x="0" y="48000"/>
                    </a:moveTo>
                    <a:lnTo>
                      <a:pt x="45000"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608" name="Google Shape;693;p31"/>
            <p:cNvSpPr/>
            <p:nvPr/>
          </p:nvSpPr>
          <p:spPr>
            <a:xfrm>
              <a:off x="5000760" y="4295880"/>
              <a:ext cx="2476080" cy="80928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100" spc="-1" strike="noStrike">
                  <a:solidFill>
                    <a:srgbClr val="045a36"/>
                  </a:solidFill>
                  <a:latin typeface="Inter SemiBold"/>
                  <a:ea typeface="Inter SemiBold"/>
                </a:rPr>
                <a:t>Plain-Text Standard</a:t>
              </a:r>
              <a:r>
                <a:rPr b="0" lang="en" sz="1100" spc="-1" strike="noStrike">
                  <a:solidFill>
                    <a:srgbClr val="374151"/>
                  </a:solidFill>
                  <a:latin typeface="Inter"/>
                  <a:ea typeface="Inter"/>
                </a:rPr>
                <a:t> Creates a clean email containing only unformatted characters without any complex HTML styling.</a:t>
              </a:r>
              <a:endParaRPr b="0" lang="en-US" sz="1100" spc="-1" strike="noStrike">
                <a:solidFill>
                  <a:srgbClr val="000000"/>
                </a:solidFill>
                <a:latin typeface="Arial"/>
              </a:endParaRPr>
            </a:p>
          </p:txBody>
        </p:sp>
      </p:grpSp>
      <p:grpSp>
        <p:nvGrpSpPr>
          <p:cNvPr id="609" name="Google Shape;694;p31"/>
          <p:cNvGrpSpPr/>
          <p:nvPr/>
        </p:nvGrpSpPr>
        <p:grpSpPr>
          <a:xfrm>
            <a:off x="8191440" y="2666880"/>
            <a:ext cx="3238200" cy="2761920"/>
            <a:chOff x="8191440" y="2666880"/>
            <a:chExt cx="3238200" cy="2761920"/>
          </a:xfrm>
        </p:grpSpPr>
        <p:sp>
          <p:nvSpPr>
            <p:cNvPr id="610" name="Google Shape;695;p31"/>
            <p:cNvSpPr/>
            <p:nvPr/>
          </p:nvSpPr>
          <p:spPr>
            <a:xfrm>
              <a:off x="8191440" y="2666880"/>
              <a:ext cx="3238200" cy="2761920"/>
            </a:xfrm>
            <a:prstGeom prst="roundRect">
              <a:avLst>
                <a:gd name="adj" fmla="val 4137"/>
              </a:avLst>
            </a:prstGeom>
            <a:solidFill>
              <a:srgbClr val="ffffff"/>
            </a:solidFill>
            <a:ln w="9525">
              <a:solidFill>
                <a:srgbClr val="e2e8f0"/>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611" name="Google Shape;696;p31"/>
            <p:cNvSpPr/>
            <p:nvPr/>
          </p:nvSpPr>
          <p:spPr>
            <a:xfrm>
              <a:off x="8191440" y="2666880"/>
              <a:ext cx="3238200" cy="75960"/>
            </a:xfrm>
            <a:prstGeom prst="roundRect">
              <a:avLst>
                <a:gd name="adj" fmla="val 50000"/>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612" name="Google Shape;697;p31"/>
            <p:cNvSpPr/>
            <p:nvPr/>
          </p:nvSpPr>
          <p:spPr>
            <a:xfrm>
              <a:off x="8429760" y="2905200"/>
              <a:ext cx="2761920" cy="3805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650" spc="-1" strike="noStrike">
                  <a:solidFill>
                    <a:srgbClr val="045a36"/>
                  </a:solidFill>
                  <a:latin typeface="Montserrat"/>
                  <a:ea typeface="Montserrat"/>
                </a:rPr>
                <a:t>Structure &amp; Delivery</a:t>
              </a:r>
              <a:endParaRPr b="0" lang="en-US" sz="1650" spc="-1" strike="noStrike">
                <a:solidFill>
                  <a:srgbClr val="000000"/>
                </a:solidFill>
                <a:latin typeface="Arial"/>
              </a:endParaRPr>
            </a:p>
          </p:txBody>
        </p:sp>
        <p:grpSp>
          <p:nvGrpSpPr>
            <p:cNvPr id="613" name="Google Shape;698;p31"/>
            <p:cNvGrpSpPr/>
            <p:nvPr/>
          </p:nvGrpSpPr>
          <p:grpSpPr>
            <a:xfrm>
              <a:off x="8429760" y="3429000"/>
              <a:ext cx="190080" cy="190080"/>
              <a:chOff x="8429760" y="3429000"/>
              <a:chExt cx="190080" cy="190080"/>
            </a:xfrm>
          </p:grpSpPr>
          <p:sp>
            <p:nvSpPr>
              <p:cNvPr id="614" name="Google Shape;699;p31"/>
              <p:cNvSpPr/>
              <p:nvPr/>
            </p:nvSpPr>
            <p:spPr>
              <a:xfrm>
                <a:off x="8429760" y="3429000"/>
                <a:ext cx="190080" cy="19008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615" name="Google Shape;700;p31"/>
              <p:cNvSpPr/>
              <p:nvPr/>
            </p:nvSpPr>
            <p:spPr>
              <a:xfrm>
                <a:off x="8486640" y="3510000"/>
                <a:ext cx="75960" cy="47520"/>
              </a:xfrm>
              <a:custGeom>
                <a:avLst/>
                <a:gdLst>
                  <a:gd name="textAreaLeft" fmla="*/ 0 w 75960"/>
                  <a:gd name="textAreaRight" fmla="*/ 76320 w 75960"/>
                  <a:gd name="textAreaTop" fmla="*/ 0 h 47520"/>
                  <a:gd name="textAreaBottom" fmla="*/ 47880 h 47520"/>
                </a:gdLst>
                <a:ahLst/>
                <a:rect l="textAreaLeft" t="textAreaTop" r="textAreaRight" b="textAreaBottom"/>
                <a:pathLst>
                  <a:path w="120000" h="120000">
                    <a:moveTo>
                      <a:pt x="0" y="48000"/>
                    </a:moveTo>
                    <a:lnTo>
                      <a:pt x="45000"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616" name="Google Shape;701;p31"/>
            <p:cNvSpPr/>
            <p:nvPr/>
          </p:nvSpPr>
          <p:spPr>
            <a:xfrm>
              <a:off x="8715240" y="3390840"/>
              <a:ext cx="2476080" cy="80928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100" spc="-1" strike="noStrike">
                  <a:solidFill>
                    <a:srgbClr val="045a36"/>
                  </a:solidFill>
                  <a:latin typeface="Inter SemiBold"/>
                  <a:ea typeface="Inter SemiBold"/>
                </a:rPr>
                <a:t>Universal Compatibility</a:t>
              </a:r>
              <a:r>
                <a:rPr b="0" lang="en" sz="1100" spc="-1" strike="noStrike">
                  <a:solidFill>
                    <a:srgbClr val="374151"/>
                  </a:solidFill>
                  <a:latin typeface="Inter"/>
                  <a:ea typeface="Inter"/>
                </a:rPr>
                <a:t> Highly compatible across all modern devices and significantly less likely to trigger aggressive spam filters.</a:t>
              </a:r>
              <a:endParaRPr b="0" lang="en-US" sz="1100" spc="-1" strike="noStrike">
                <a:solidFill>
                  <a:srgbClr val="000000"/>
                </a:solidFill>
                <a:latin typeface="Arial"/>
              </a:endParaRPr>
            </a:p>
          </p:txBody>
        </p:sp>
        <p:grpSp>
          <p:nvGrpSpPr>
            <p:cNvPr id="617" name="Google Shape;702;p31"/>
            <p:cNvGrpSpPr/>
            <p:nvPr/>
          </p:nvGrpSpPr>
          <p:grpSpPr>
            <a:xfrm>
              <a:off x="8429760" y="4334040"/>
              <a:ext cx="190080" cy="190080"/>
              <a:chOff x="8429760" y="4334040"/>
              <a:chExt cx="190080" cy="190080"/>
            </a:xfrm>
          </p:grpSpPr>
          <p:sp>
            <p:nvSpPr>
              <p:cNvPr id="618" name="Google Shape;703;p31"/>
              <p:cNvSpPr/>
              <p:nvPr/>
            </p:nvSpPr>
            <p:spPr>
              <a:xfrm>
                <a:off x="8429760" y="4334040"/>
                <a:ext cx="190080" cy="19008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619" name="Google Shape;704;p31"/>
              <p:cNvSpPr/>
              <p:nvPr/>
            </p:nvSpPr>
            <p:spPr>
              <a:xfrm>
                <a:off x="8486640" y="4414680"/>
                <a:ext cx="75960" cy="47520"/>
              </a:xfrm>
              <a:custGeom>
                <a:avLst/>
                <a:gdLst>
                  <a:gd name="textAreaLeft" fmla="*/ 0 w 75960"/>
                  <a:gd name="textAreaRight" fmla="*/ 76320 w 75960"/>
                  <a:gd name="textAreaTop" fmla="*/ 0 h 47520"/>
                  <a:gd name="textAreaBottom" fmla="*/ 47880 h 47520"/>
                </a:gdLst>
                <a:ahLst/>
                <a:rect l="textAreaLeft" t="textAreaTop" r="textAreaRight" b="textAreaBottom"/>
                <a:pathLst>
                  <a:path w="120000" h="120000">
                    <a:moveTo>
                      <a:pt x="0" y="48000"/>
                    </a:moveTo>
                    <a:lnTo>
                      <a:pt x="45000"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620" name="Google Shape;705;p31"/>
            <p:cNvSpPr/>
            <p:nvPr/>
          </p:nvSpPr>
          <p:spPr>
            <a:xfrm>
              <a:off x="8715240" y="4295880"/>
              <a:ext cx="2476080" cy="80928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020" spc="-1" strike="noStrike">
                  <a:solidFill>
                    <a:srgbClr val="045a36"/>
                  </a:solidFill>
                  <a:latin typeface="Inter SemiBold"/>
                  <a:ea typeface="Inter SemiBold"/>
                </a:rPr>
                <a:t>Structural Distinction</a:t>
              </a:r>
              <a:r>
                <a:rPr b="0" lang="en" sz="1020" spc="-1" strike="noStrike">
                  <a:solidFill>
                    <a:srgbClr val="374151"/>
                  </a:solidFill>
                  <a:latin typeface="Inter"/>
                  <a:ea typeface="Inter"/>
                </a:rPr>
                <a:t> Dictionary syntax handles the metadata headers, while the set_content() method is used exclusively for the main body.</a:t>
              </a:r>
              <a:endParaRPr b="0" lang="en-US" sz="1020" spc="-1" strike="noStrike">
                <a:solidFill>
                  <a:srgbClr val="000000"/>
                </a:solidFill>
                <a:latin typeface="Arial"/>
              </a:endParaRPr>
            </a:p>
          </p:txBody>
        </p:sp>
      </p:grpSp>
      <p:pic>
        <p:nvPicPr>
          <p:cNvPr id="621" name="Google Shape;706;p31" descr=""/>
          <p:cNvPicPr/>
          <p:nvPr/>
        </p:nvPicPr>
        <p:blipFill>
          <a:blip r:embed="rId3"/>
          <a:stretch/>
        </p:blipFill>
        <p:spPr>
          <a:xfrm>
            <a:off x="762120" y="5981760"/>
            <a:ext cx="10667520" cy="304560"/>
          </a:xfrm>
          <a:prstGeom prst="rect">
            <a:avLst/>
          </a:prstGeom>
          <a:ln w="0">
            <a:noFill/>
          </a:ln>
        </p:spPr>
      </p:pic>
      <p:sp>
        <p:nvSpPr>
          <p:cNvPr id="622" name="Google Shape;707;p31"/>
          <p:cNvSpPr/>
          <p:nvPr/>
        </p:nvSpPr>
        <p:spPr>
          <a:xfrm>
            <a:off x="762120" y="6134040"/>
            <a:ext cx="4762080" cy="19008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980" spc="-1" strike="noStrike">
                <a:solidFill>
                  <a:srgbClr val="6b7280"/>
                </a:solidFill>
                <a:latin typeface="Inter"/>
                <a:ea typeface="Inter"/>
              </a:rPr>
              <a:t>Introduction to Email Automation &amp; SMTP | Python Basics</a:t>
            </a:r>
            <a:endParaRPr b="0" lang="en-US" sz="980" spc="-1" strike="noStrike">
              <a:solidFill>
                <a:srgbClr val="000000"/>
              </a:solidFill>
              <a:latin typeface="Arial"/>
            </a:endParaRPr>
          </a:p>
        </p:txBody>
      </p:sp>
      <p:pic>
        <p:nvPicPr>
          <p:cNvPr id="623" name="Google Shape;708;p31" descr=""/>
          <p:cNvPicPr/>
          <p:nvPr/>
        </p:nvPicPr>
        <p:blipFill>
          <a:blip r:embed="rId4"/>
          <a:stretch/>
        </p:blipFill>
        <p:spPr>
          <a:xfrm>
            <a:off x="10287000" y="5457960"/>
            <a:ext cx="1523520" cy="1019160"/>
          </a:xfrm>
          <a:prstGeom prst="rect">
            <a:avLst/>
          </a:prstGeom>
          <a:ln w="0">
            <a:noFill/>
          </a:ln>
        </p:spPr>
      </p:pic>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pic>
        <p:nvPicPr>
          <p:cNvPr id="624" name="Google Shape;713;p32" descr=""/>
          <p:cNvPicPr/>
          <p:nvPr/>
        </p:nvPicPr>
        <p:blipFill>
          <a:blip r:embed="rId2"/>
          <a:srcRect l="129" t="0" r="129" b="0"/>
          <a:stretch/>
        </p:blipFill>
        <p:spPr>
          <a:xfrm>
            <a:off x="0" y="0"/>
            <a:ext cx="12191760" cy="56880"/>
          </a:xfrm>
          <a:prstGeom prst="rect">
            <a:avLst/>
          </a:prstGeom>
          <a:ln w="0">
            <a:noFill/>
          </a:ln>
        </p:spPr>
      </p:pic>
      <p:sp>
        <p:nvSpPr>
          <p:cNvPr id="625" name="Google Shape;714;p32"/>
          <p:cNvSpPr/>
          <p:nvPr/>
        </p:nvSpPr>
        <p:spPr>
          <a:xfrm>
            <a:off x="762120" y="1123920"/>
            <a:ext cx="10667520" cy="18720"/>
          </a:xfrm>
          <a:prstGeom prst="rect">
            <a:avLst/>
          </a:prstGeom>
          <a:solidFill>
            <a:srgbClr val="e2e8f0"/>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626" name="Google Shape;715;p32"/>
          <p:cNvSpPr/>
          <p:nvPr/>
        </p:nvSpPr>
        <p:spPr>
          <a:xfrm>
            <a:off x="762120" y="571680"/>
            <a:ext cx="9524520" cy="4759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2700" spc="-1" strike="noStrike">
                <a:solidFill>
                  <a:srgbClr val="045a36"/>
                </a:solidFill>
                <a:latin typeface="Montserrat SemiBold"/>
                <a:ea typeface="Montserrat SemiBold"/>
              </a:rPr>
              <a:t>The send_message Command</a:t>
            </a:r>
            <a:endParaRPr b="0" lang="en-US" sz="2700" spc="-1" strike="noStrike">
              <a:solidFill>
                <a:srgbClr val="000000"/>
              </a:solidFill>
              <a:latin typeface="Arial"/>
            </a:endParaRPr>
          </a:p>
        </p:txBody>
      </p:sp>
      <p:grpSp>
        <p:nvGrpSpPr>
          <p:cNvPr id="627" name="Google Shape;716;p32"/>
          <p:cNvGrpSpPr/>
          <p:nvPr/>
        </p:nvGrpSpPr>
        <p:grpSpPr>
          <a:xfrm>
            <a:off x="762120" y="1523880"/>
            <a:ext cx="4190760" cy="3714480"/>
            <a:chOff x="762120" y="1523880"/>
            <a:chExt cx="4190760" cy="3714480"/>
          </a:xfrm>
        </p:grpSpPr>
        <p:sp>
          <p:nvSpPr>
            <p:cNvPr id="628" name="Google Shape;717;p32"/>
            <p:cNvSpPr/>
            <p:nvPr/>
          </p:nvSpPr>
          <p:spPr>
            <a:xfrm>
              <a:off x="762120" y="1523880"/>
              <a:ext cx="4190760" cy="3714480"/>
            </a:xfrm>
            <a:prstGeom prst="roundRect">
              <a:avLst>
                <a:gd name="adj" fmla="val 3076"/>
              </a:avLst>
            </a:prstGeom>
            <a:solidFill>
              <a:srgbClr val="ffffff"/>
            </a:solidFill>
            <a:ln w="14300">
              <a:solidFill>
                <a:srgbClr val="e2e8f0"/>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629" name="Google Shape;718;p32"/>
            <p:cNvSpPr/>
            <p:nvPr/>
          </p:nvSpPr>
          <p:spPr>
            <a:xfrm>
              <a:off x="762120" y="1523880"/>
              <a:ext cx="4190760" cy="75960"/>
            </a:xfrm>
            <a:prstGeom prst="roundRect">
              <a:avLst>
                <a:gd name="adj" fmla="val 50000"/>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630" name="Google Shape;719;p32"/>
            <p:cNvSpPr/>
            <p:nvPr/>
          </p:nvSpPr>
          <p:spPr>
            <a:xfrm>
              <a:off x="1047600" y="1809720"/>
              <a:ext cx="3619080" cy="314316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100" spc="-1" strike="noStrike">
                  <a:solidFill>
                    <a:srgbClr val="d4a017"/>
                  </a:solidFill>
                  <a:latin typeface="Inter"/>
                  <a:ea typeface="Inter"/>
                </a:rPr>
                <a:t>ACTIVE COMMAND</a:t>
              </a:r>
              <a:endParaRPr b="0" lang="en-US" sz="1100" spc="-1" strike="noStrike">
                <a:solidFill>
                  <a:srgbClr val="000000"/>
                </a:solidFill>
                <a:latin typeface="Arial"/>
              </a:endParaRPr>
            </a:p>
            <a:p>
              <a:pPr>
                <a:lnSpc>
                  <a:spcPct val="100000"/>
                </a:lnSpc>
                <a:spcBef>
                  <a:spcPts val="751"/>
                </a:spcBef>
                <a:tabLst>
                  <a:tab algn="l" pos="0"/>
                </a:tabLst>
              </a:pPr>
              <a:r>
                <a:rPr b="1" lang="en" sz="1600" spc="-1" strike="noStrike">
                  <a:solidFill>
                    <a:srgbClr val="045a36"/>
                  </a:solidFill>
                  <a:latin typeface="Montserrat"/>
                  <a:ea typeface="Montserrat"/>
                </a:rPr>
                <a:t>server.send_message(msg)</a:t>
              </a:r>
              <a:endParaRPr b="0" lang="en-US" sz="1600" spc="-1" strike="noStrike">
                <a:solidFill>
                  <a:srgbClr val="000000"/>
                </a:solidFill>
                <a:latin typeface="Arial"/>
              </a:endParaRPr>
            </a:p>
            <a:p>
              <a:pPr>
                <a:lnSpc>
                  <a:spcPct val="100000"/>
                </a:lnSpc>
                <a:spcBef>
                  <a:spcPts val="1500"/>
                </a:spcBef>
                <a:tabLst>
                  <a:tab algn="l" pos="0"/>
                </a:tabLst>
              </a:pPr>
              <a:r>
                <a:rPr b="0" lang="en" sz="1250" spc="-1" strike="noStrike">
                  <a:solidFill>
                    <a:srgbClr val="374151"/>
                  </a:solidFill>
                  <a:latin typeface="Inter"/>
                  <a:ea typeface="Inter"/>
                </a:rPr>
                <a:t>The final step in our execution is the command above. This single line represents the </a:t>
              </a:r>
              <a:r>
                <a:rPr b="0" lang="en" sz="1250" spc="-1" strike="noStrike">
                  <a:solidFill>
                    <a:srgbClr val="045a36"/>
                  </a:solidFill>
                  <a:latin typeface="Inter SemiBold"/>
                  <a:ea typeface="Inter SemiBold"/>
                </a:rPr>
                <a:t>culmination of the complete sequence</a:t>
              </a:r>
              <a:r>
                <a:rPr b="0" lang="en" sz="1250" spc="-1" strike="noStrike">
                  <a:solidFill>
                    <a:srgbClr val="374151"/>
                  </a:solidFill>
                  <a:latin typeface="Inter"/>
                  <a:ea typeface="Inter"/>
                </a:rPr>
                <a:t>, successfully bridging the message construction phase with the server communication phase.</a:t>
              </a:r>
              <a:endParaRPr b="0" lang="en-US" sz="1250" spc="-1" strike="noStrike">
                <a:solidFill>
                  <a:srgbClr val="000000"/>
                </a:solidFill>
                <a:latin typeface="Arial"/>
              </a:endParaRPr>
            </a:p>
            <a:p>
              <a:pPr>
                <a:lnSpc>
                  <a:spcPct val="100000"/>
                </a:lnSpc>
                <a:spcBef>
                  <a:spcPts val="1125"/>
                </a:spcBef>
                <a:tabLst>
                  <a:tab algn="l" pos="0"/>
                </a:tabLst>
              </a:pPr>
              <a:r>
                <a:rPr b="0" lang="en" sz="1200" spc="-1" strike="noStrike">
                  <a:solidFill>
                    <a:srgbClr val="6b7280"/>
                  </a:solidFill>
                  <a:latin typeface="Inter"/>
                  <a:ea typeface="Inter"/>
                </a:rPr>
                <a:t>It ensures that all headers, attachments, and payloads are fully transmitted to the designated SMTP server before connection closure.</a:t>
              </a:r>
              <a:endParaRPr b="0" lang="en-US" sz="1200" spc="-1" strike="noStrike">
                <a:solidFill>
                  <a:srgbClr val="000000"/>
                </a:solidFill>
                <a:latin typeface="Arial"/>
              </a:endParaRPr>
            </a:p>
          </p:txBody>
        </p:sp>
      </p:grpSp>
      <p:pic>
        <p:nvPicPr>
          <p:cNvPr id="631" name="Google Shape;720;p32" descr=""/>
          <p:cNvPicPr/>
          <p:nvPr/>
        </p:nvPicPr>
        <p:blipFill>
          <a:blip r:embed="rId3"/>
          <a:stretch/>
        </p:blipFill>
        <p:spPr>
          <a:xfrm>
            <a:off x="5848200" y="1714680"/>
            <a:ext cx="18720" cy="3105000"/>
          </a:xfrm>
          <a:prstGeom prst="rect">
            <a:avLst/>
          </a:prstGeom>
          <a:ln w="0">
            <a:noFill/>
          </a:ln>
        </p:spPr>
      </p:pic>
      <p:grpSp>
        <p:nvGrpSpPr>
          <p:cNvPr id="632" name="Google Shape;721;p32"/>
          <p:cNvGrpSpPr/>
          <p:nvPr/>
        </p:nvGrpSpPr>
        <p:grpSpPr>
          <a:xfrm>
            <a:off x="5524560" y="1523880"/>
            <a:ext cx="5905080" cy="666720"/>
            <a:chOff x="5524560" y="1523880"/>
            <a:chExt cx="5905080" cy="666720"/>
          </a:xfrm>
        </p:grpSpPr>
        <p:sp>
          <p:nvSpPr>
            <p:cNvPr id="633" name="Google Shape;722;p32"/>
            <p:cNvSpPr/>
            <p:nvPr/>
          </p:nvSpPr>
          <p:spPr>
            <a:xfrm>
              <a:off x="5524560" y="1523880"/>
              <a:ext cx="5905080" cy="666720"/>
            </a:xfrm>
            <a:prstGeom prst="roundRect">
              <a:avLst>
                <a:gd name="adj" fmla="val 11428"/>
              </a:avLst>
            </a:prstGeom>
            <a:solidFill>
              <a:srgbClr val="f1f5f9"/>
            </a:solidFill>
            <a:ln w="9525">
              <a:solidFill>
                <a:srgbClr val="e2e8f0"/>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634" name="Google Shape;723;p32"/>
            <p:cNvSpPr/>
            <p:nvPr/>
          </p:nvSpPr>
          <p:spPr>
            <a:xfrm>
              <a:off x="5686560" y="1685880"/>
              <a:ext cx="342720" cy="342720"/>
            </a:xfrm>
            <a:prstGeom prst="ellipse">
              <a:avLst/>
            </a:prstGeom>
            <a:solidFill>
              <a:srgbClr val="045a36">
                <a:alpha val="10000"/>
              </a:srgbClr>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635" name="Google Shape;724;p32"/>
            <p:cNvSpPr/>
            <p:nvPr/>
          </p:nvSpPr>
          <p:spPr>
            <a:xfrm>
              <a:off x="5686560" y="1752480"/>
              <a:ext cx="342720" cy="209520"/>
            </a:xfrm>
            <a:prstGeom prst="rect">
              <a:avLst/>
            </a:prstGeom>
            <a:noFill/>
            <a:ln w="0">
              <a:noFill/>
            </a:ln>
          </p:spPr>
          <p:style>
            <a:lnRef idx="0"/>
            <a:fillRef idx="0"/>
            <a:effectRef idx="0"/>
            <a:fontRef idx="minor"/>
          </p:style>
          <p:txBody>
            <a:bodyPr lIns="0" rIns="0" tIns="0" bIns="0" anchor="ctr">
              <a:noAutofit/>
            </a:bodyPr>
            <a:p>
              <a:pPr algn="ctr">
                <a:lnSpc>
                  <a:spcPct val="100000"/>
                </a:lnSpc>
                <a:tabLst>
                  <a:tab algn="l" pos="0"/>
                </a:tabLst>
              </a:pPr>
              <a:r>
                <a:rPr b="1" lang="en" sz="1000" spc="-1" strike="noStrike">
                  <a:solidFill>
                    <a:srgbClr val="045a36"/>
                  </a:solidFill>
                  <a:latin typeface="Montserrat"/>
                  <a:ea typeface="Montserrat"/>
                </a:rPr>
                <a:t>01</a:t>
              </a:r>
              <a:endParaRPr b="0" lang="en-US" sz="1000" spc="-1" strike="noStrike">
                <a:solidFill>
                  <a:srgbClr val="000000"/>
                </a:solidFill>
                <a:latin typeface="Arial"/>
              </a:endParaRPr>
            </a:p>
          </p:txBody>
        </p:sp>
        <p:sp>
          <p:nvSpPr>
            <p:cNvPr id="636" name="Google Shape;725;p32"/>
            <p:cNvSpPr/>
            <p:nvPr/>
          </p:nvSpPr>
          <p:spPr>
            <a:xfrm>
              <a:off x="6191280" y="1523880"/>
              <a:ext cx="5047920" cy="66672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 sz="1050" spc="-1" strike="noStrike">
                  <a:solidFill>
                    <a:srgbClr val="045a36"/>
                  </a:solidFill>
                  <a:latin typeface="Montserrat"/>
                  <a:ea typeface="Montserrat"/>
                </a:rPr>
                <a:t>CREATE</a:t>
              </a:r>
              <a:endParaRPr b="0" lang="en-US" sz="1050" spc="-1" strike="noStrike">
                <a:solidFill>
                  <a:srgbClr val="000000"/>
                </a:solidFill>
                <a:latin typeface="Arial"/>
              </a:endParaRPr>
            </a:p>
            <a:p>
              <a:pPr>
                <a:lnSpc>
                  <a:spcPct val="100000"/>
                </a:lnSpc>
                <a:spcBef>
                  <a:spcPts val="150"/>
                </a:spcBef>
                <a:tabLst>
                  <a:tab algn="l" pos="0"/>
                </a:tabLst>
              </a:pPr>
              <a:r>
                <a:rPr b="0" lang="en" sz="1000" spc="-1" strike="noStrike">
                  <a:solidFill>
                    <a:srgbClr val="4b5563"/>
                  </a:solidFill>
                  <a:latin typeface="Inter"/>
                  <a:ea typeface="Inter"/>
                </a:rPr>
                <a:t>Create message object and populate its headers and body.</a:t>
              </a:r>
              <a:endParaRPr b="0" lang="en-US" sz="1000" spc="-1" strike="noStrike">
                <a:solidFill>
                  <a:srgbClr val="000000"/>
                </a:solidFill>
                <a:latin typeface="Arial"/>
              </a:endParaRPr>
            </a:p>
          </p:txBody>
        </p:sp>
      </p:grpSp>
      <p:grpSp>
        <p:nvGrpSpPr>
          <p:cNvPr id="637" name="Google Shape;726;p32"/>
          <p:cNvGrpSpPr/>
          <p:nvPr/>
        </p:nvGrpSpPr>
        <p:grpSpPr>
          <a:xfrm>
            <a:off x="5524560" y="2295360"/>
            <a:ext cx="5905080" cy="666720"/>
            <a:chOff x="5524560" y="2295360"/>
            <a:chExt cx="5905080" cy="666720"/>
          </a:xfrm>
        </p:grpSpPr>
        <p:sp>
          <p:nvSpPr>
            <p:cNvPr id="638" name="Google Shape;727;p32"/>
            <p:cNvSpPr/>
            <p:nvPr/>
          </p:nvSpPr>
          <p:spPr>
            <a:xfrm>
              <a:off x="5524560" y="2295360"/>
              <a:ext cx="5905080" cy="666720"/>
            </a:xfrm>
            <a:prstGeom prst="roundRect">
              <a:avLst>
                <a:gd name="adj" fmla="val 11428"/>
              </a:avLst>
            </a:prstGeom>
            <a:solidFill>
              <a:srgbClr val="f1f5f9"/>
            </a:solidFill>
            <a:ln w="9525">
              <a:solidFill>
                <a:srgbClr val="e2e8f0"/>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639" name="Google Shape;728;p32"/>
            <p:cNvSpPr/>
            <p:nvPr/>
          </p:nvSpPr>
          <p:spPr>
            <a:xfrm>
              <a:off x="5686560" y="2457360"/>
              <a:ext cx="342720" cy="342720"/>
            </a:xfrm>
            <a:prstGeom prst="ellipse">
              <a:avLst/>
            </a:prstGeom>
            <a:solidFill>
              <a:srgbClr val="045a36">
                <a:alpha val="10000"/>
              </a:srgbClr>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640" name="Google Shape;729;p32"/>
            <p:cNvSpPr/>
            <p:nvPr/>
          </p:nvSpPr>
          <p:spPr>
            <a:xfrm>
              <a:off x="5686560" y="2523960"/>
              <a:ext cx="342720" cy="209520"/>
            </a:xfrm>
            <a:prstGeom prst="rect">
              <a:avLst/>
            </a:prstGeom>
            <a:noFill/>
            <a:ln w="0">
              <a:noFill/>
            </a:ln>
          </p:spPr>
          <p:style>
            <a:lnRef idx="0"/>
            <a:fillRef idx="0"/>
            <a:effectRef idx="0"/>
            <a:fontRef idx="minor"/>
          </p:style>
          <p:txBody>
            <a:bodyPr lIns="0" rIns="0" tIns="0" bIns="0" anchor="ctr">
              <a:noAutofit/>
            </a:bodyPr>
            <a:p>
              <a:pPr algn="ctr">
                <a:lnSpc>
                  <a:spcPct val="100000"/>
                </a:lnSpc>
                <a:tabLst>
                  <a:tab algn="l" pos="0"/>
                </a:tabLst>
              </a:pPr>
              <a:r>
                <a:rPr b="1" lang="en" sz="1000" spc="-1" strike="noStrike">
                  <a:solidFill>
                    <a:srgbClr val="045a36"/>
                  </a:solidFill>
                  <a:latin typeface="Montserrat"/>
                  <a:ea typeface="Montserrat"/>
                </a:rPr>
                <a:t>02</a:t>
              </a:r>
              <a:endParaRPr b="0" lang="en-US" sz="1000" spc="-1" strike="noStrike">
                <a:solidFill>
                  <a:srgbClr val="000000"/>
                </a:solidFill>
                <a:latin typeface="Arial"/>
              </a:endParaRPr>
            </a:p>
          </p:txBody>
        </p:sp>
        <p:sp>
          <p:nvSpPr>
            <p:cNvPr id="641" name="Google Shape;730;p32"/>
            <p:cNvSpPr/>
            <p:nvPr/>
          </p:nvSpPr>
          <p:spPr>
            <a:xfrm>
              <a:off x="6191280" y="2295360"/>
              <a:ext cx="5047920" cy="66672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 sz="1050" spc="-1" strike="noStrike">
                  <a:solidFill>
                    <a:srgbClr val="045a36"/>
                  </a:solidFill>
                  <a:latin typeface="Montserrat"/>
                  <a:ea typeface="Montserrat"/>
                </a:rPr>
                <a:t>CONNECT</a:t>
              </a:r>
              <a:endParaRPr b="0" lang="en-US" sz="1050" spc="-1" strike="noStrike">
                <a:solidFill>
                  <a:srgbClr val="000000"/>
                </a:solidFill>
                <a:latin typeface="Arial"/>
              </a:endParaRPr>
            </a:p>
            <a:p>
              <a:pPr>
                <a:lnSpc>
                  <a:spcPct val="100000"/>
                </a:lnSpc>
                <a:spcBef>
                  <a:spcPts val="150"/>
                </a:spcBef>
                <a:tabLst>
                  <a:tab algn="l" pos="0"/>
                </a:tabLst>
              </a:pPr>
              <a:r>
                <a:rPr b="0" lang="en" sz="1000" spc="-1" strike="noStrike">
                  <a:solidFill>
                    <a:srgbClr val="4b5563"/>
                  </a:solidFill>
                  <a:latin typeface="Inter"/>
                  <a:ea typeface="Inter"/>
                </a:rPr>
                <a:t>Connect to the designated SMTP server securely.</a:t>
              </a:r>
              <a:endParaRPr b="0" lang="en-US" sz="1000" spc="-1" strike="noStrike">
                <a:solidFill>
                  <a:srgbClr val="000000"/>
                </a:solidFill>
                <a:latin typeface="Arial"/>
              </a:endParaRPr>
            </a:p>
          </p:txBody>
        </p:sp>
      </p:grpSp>
      <p:grpSp>
        <p:nvGrpSpPr>
          <p:cNvPr id="642" name="Google Shape;731;p32"/>
          <p:cNvGrpSpPr/>
          <p:nvPr/>
        </p:nvGrpSpPr>
        <p:grpSpPr>
          <a:xfrm>
            <a:off x="5524560" y="3067200"/>
            <a:ext cx="5905080" cy="666720"/>
            <a:chOff x="5524560" y="3067200"/>
            <a:chExt cx="5905080" cy="666720"/>
          </a:xfrm>
        </p:grpSpPr>
        <p:sp>
          <p:nvSpPr>
            <p:cNvPr id="643" name="Google Shape;732;p32"/>
            <p:cNvSpPr/>
            <p:nvPr/>
          </p:nvSpPr>
          <p:spPr>
            <a:xfrm>
              <a:off x="5524560" y="3067200"/>
              <a:ext cx="5905080" cy="666720"/>
            </a:xfrm>
            <a:prstGeom prst="roundRect">
              <a:avLst>
                <a:gd name="adj" fmla="val 11428"/>
              </a:avLst>
            </a:prstGeom>
            <a:solidFill>
              <a:srgbClr val="f1f5f9"/>
            </a:solidFill>
            <a:ln w="9525">
              <a:solidFill>
                <a:srgbClr val="e2e8f0"/>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644" name="Google Shape;733;p32"/>
            <p:cNvSpPr/>
            <p:nvPr/>
          </p:nvSpPr>
          <p:spPr>
            <a:xfrm>
              <a:off x="5686560" y="3228840"/>
              <a:ext cx="342720" cy="342720"/>
            </a:xfrm>
            <a:prstGeom prst="ellipse">
              <a:avLst/>
            </a:prstGeom>
            <a:solidFill>
              <a:srgbClr val="045a36">
                <a:alpha val="10000"/>
              </a:srgbClr>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645" name="Google Shape;734;p32"/>
            <p:cNvSpPr/>
            <p:nvPr/>
          </p:nvSpPr>
          <p:spPr>
            <a:xfrm>
              <a:off x="5686560" y="3295800"/>
              <a:ext cx="342720" cy="209520"/>
            </a:xfrm>
            <a:prstGeom prst="rect">
              <a:avLst/>
            </a:prstGeom>
            <a:noFill/>
            <a:ln w="0">
              <a:noFill/>
            </a:ln>
          </p:spPr>
          <p:style>
            <a:lnRef idx="0"/>
            <a:fillRef idx="0"/>
            <a:effectRef idx="0"/>
            <a:fontRef idx="minor"/>
          </p:style>
          <p:txBody>
            <a:bodyPr lIns="0" rIns="0" tIns="0" bIns="0" anchor="ctr">
              <a:noAutofit/>
            </a:bodyPr>
            <a:p>
              <a:pPr algn="ctr">
                <a:lnSpc>
                  <a:spcPct val="100000"/>
                </a:lnSpc>
                <a:tabLst>
                  <a:tab algn="l" pos="0"/>
                </a:tabLst>
              </a:pPr>
              <a:r>
                <a:rPr b="1" lang="en" sz="1000" spc="-1" strike="noStrike">
                  <a:solidFill>
                    <a:srgbClr val="045a36"/>
                  </a:solidFill>
                  <a:latin typeface="Montserrat"/>
                  <a:ea typeface="Montserrat"/>
                </a:rPr>
                <a:t>03</a:t>
              </a:r>
              <a:endParaRPr b="0" lang="en-US" sz="1000" spc="-1" strike="noStrike">
                <a:solidFill>
                  <a:srgbClr val="000000"/>
                </a:solidFill>
                <a:latin typeface="Arial"/>
              </a:endParaRPr>
            </a:p>
          </p:txBody>
        </p:sp>
        <p:sp>
          <p:nvSpPr>
            <p:cNvPr id="646" name="Google Shape;735;p32"/>
            <p:cNvSpPr/>
            <p:nvPr/>
          </p:nvSpPr>
          <p:spPr>
            <a:xfrm>
              <a:off x="6191280" y="3067200"/>
              <a:ext cx="5047920" cy="66672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 sz="1050" spc="-1" strike="noStrike">
                  <a:solidFill>
                    <a:srgbClr val="045a36"/>
                  </a:solidFill>
                  <a:latin typeface="Montserrat"/>
                  <a:ea typeface="Montserrat"/>
                </a:rPr>
                <a:t>LOGIN</a:t>
              </a:r>
              <a:endParaRPr b="0" lang="en-US" sz="1050" spc="-1" strike="noStrike">
                <a:solidFill>
                  <a:srgbClr val="000000"/>
                </a:solidFill>
                <a:latin typeface="Arial"/>
              </a:endParaRPr>
            </a:p>
            <a:p>
              <a:pPr>
                <a:lnSpc>
                  <a:spcPct val="100000"/>
                </a:lnSpc>
                <a:spcBef>
                  <a:spcPts val="150"/>
                </a:spcBef>
                <a:tabLst>
                  <a:tab algn="l" pos="0"/>
                </a:tabLst>
              </a:pPr>
              <a:r>
                <a:rPr b="0" lang="en" sz="1000" spc="-1" strike="noStrike">
                  <a:solidFill>
                    <a:srgbClr val="4b5563"/>
                  </a:solidFill>
                  <a:latin typeface="Inter"/>
                  <a:ea typeface="Inter"/>
                </a:rPr>
                <a:t>Execute the login process to authenticate credentials.</a:t>
              </a:r>
              <a:endParaRPr b="0" lang="en-US" sz="1000" spc="-1" strike="noStrike">
                <a:solidFill>
                  <a:srgbClr val="000000"/>
                </a:solidFill>
                <a:latin typeface="Arial"/>
              </a:endParaRPr>
            </a:p>
          </p:txBody>
        </p:sp>
      </p:grpSp>
      <p:grpSp>
        <p:nvGrpSpPr>
          <p:cNvPr id="647" name="Google Shape;736;p32"/>
          <p:cNvGrpSpPr/>
          <p:nvPr/>
        </p:nvGrpSpPr>
        <p:grpSpPr>
          <a:xfrm>
            <a:off x="5524560" y="3838680"/>
            <a:ext cx="5905080" cy="666720"/>
            <a:chOff x="5524560" y="3838680"/>
            <a:chExt cx="5905080" cy="666720"/>
          </a:xfrm>
        </p:grpSpPr>
        <p:sp>
          <p:nvSpPr>
            <p:cNvPr id="648" name="Google Shape;737;p32"/>
            <p:cNvSpPr/>
            <p:nvPr/>
          </p:nvSpPr>
          <p:spPr>
            <a:xfrm>
              <a:off x="5524560" y="3838680"/>
              <a:ext cx="5905080" cy="666720"/>
            </a:xfrm>
            <a:prstGeom prst="roundRect">
              <a:avLst>
                <a:gd name="adj" fmla="val 11428"/>
              </a:avLst>
            </a:prstGeom>
            <a:solidFill>
              <a:srgbClr val="045a36"/>
            </a:solidFill>
            <a:ln w="19050">
              <a:solidFill>
                <a:srgbClr val="d4a017"/>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649" name="Google Shape;738;p32"/>
            <p:cNvSpPr/>
            <p:nvPr/>
          </p:nvSpPr>
          <p:spPr>
            <a:xfrm>
              <a:off x="5686560" y="4000680"/>
              <a:ext cx="342720" cy="342720"/>
            </a:xfrm>
            <a:prstGeom prst="ellipse">
              <a:avLst/>
            </a:prstGeom>
            <a:solidFill>
              <a:srgbClr val="d4a017"/>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650" name="Google Shape;739;p32"/>
            <p:cNvSpPr/>
            <p:nvPr/>
          </p:nvSpPr>
          <p:spPr>
            <a:xfrm>
              <a:off x="5686560" y="4067280"/>
              <a:ext cx="342720" cy="209520"/>
            </a:xfrm>
            <a:prstGeom prst="rect">
              <a:avLst/>
            </a:prstGeom>
            <a:noFill/>
            <a:ln w="0">
              <a:noFill/>
            </a:ln>
          </p:spPr>
          <p:style>
            <a:lnRef idx="0"/>
            <a:fillRef idx="0"/>
            <a:effectRef idx="0"/>
            <a:fontRef idx="minor"/>
          </p:style>
          <p:txBody>
            <a:bodyPr lIns="0" rIns="0" tIns="0" bIns="0" anchor="ctr">
              <a:noAutofit/>
            </a:bodyPr>
            <a:p>
              <a:pPr algn="ctr">
                <a:lnSpc>
                  <a:spcPct val="100000"/>
                </a:lnSpc>
                <a:tabLst>
                  <a:tab algn="l" pos="0"/>
                </a:tabLst>
              </a:pPr>
              <a:r>
                <a:rPr b="1" lang="en" sz="1000" spc="-1" strike="noStrike">
                  <a:solidFill>
                    <a:srgbClr val="ffffff"/>
                  </a:solidFill>
                  <a:latin typeface="Montserrat"/>
                  <a:ea typeface="Montserrat"/>
                </a:rPr>
                <a:t>04</a:t>
              </a:r>
              <a:endParaRPr b="0" lang="en-US" sz="1000" spc="-1" strike="noStrike">
                <a:solidFill>
                  <a:srgbClr val="000000"/>
                </a:solidFill>
                <a:latin typeface="Arial"/>
              </a:endParaRPr>
            </a:p>
          </p:txBody>
        </p:sp>
        <p:sp>
          <p:nvSpPr>
            <p:cNvPr id="651" name="Google Shape;740;p32"/>
            <p:cNvSpPr/>
            <p:nvPr/>
          </p:nvSpPr>
          <p:spPr>
            <a:xfrm>
              <a:off x="6191280" y="3838680"/>
              <a:ext cx="5047920" cy="66672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 sz="1050" spc="-1" strike="noStrike">
                  <a:solidFill>
                    <a:srgbClr val="d4a017"/>
                  </a:solidFill>
                  <a:latin typeface="Montserrat"/>
                  <a:ea typeface="Montserrat"/>
                </a:rPr>
                <a:t>SEND (ACTIVE)</a:t>
              </a:r>
              <a:endParaRPr b="0" lang="en-US" sz="1050" spc="-1" strike="noStrike">
                <a:solidFill>
                  <a:srgbClr val="000000"/>
                </a:solidFill>
                <a:latin typeface="Arial"/>
              </a:endParaRPr>
            </a:p>
            <a:p>
              <a:pPr>
                <a:lnSpc>
                  <a:spcPct val="100000"/>
                </a:lnSpc>
                <a:spcBef>
                  <a:spcPts val="150"/>
                </a:spcBef>
                <a:tabLst>
                  <a:tab algn="l" pos="0"/>
                </a:tabLst>
              </a:pPr>
              <a:r>
                <a:rPr b="0" lang="en" sz="1000" spc="-1" strike="noStrike">
                  <a:solidFill>
                    <a:srgbClr val="ffffff"/>
                  </a:solidFill>
                  <a:latin typeface="Inter Medium"/>
                  <a:ea typeface="Inter Medium"/>
                </a:rPr>
                <a:t>Utilizes </a:t>
              </a:r>
              <a:r>
                <a:rPr b="0" lang="en" sz="1000" spc="-1" strike="noStrike">
                  <a:solidFill>
                    <a:srgbClr val="ffffff"/>
                  </a:solidFill>
                  <a:highlight>
                    <a:srgbClr val="034429"/>
                  </a:highlight>
                  <a:latin typeface="Arial"/>
                  <a:ea typeface="Arial"/>
                </a:rPr>
                <a:t>send_message</a:t>
              </a:r>
              <a:r>
                <a:rPr b="0" lang="en" sz="1000" spc="-1" strike="noStrike">
                  <a:solidFill>
                    <a:srgbClr val="ffffff"/>
                  </a:solidFill>
                  <a:latin typeface="Inter Medium"/>
                  <a:ea typeface="Inter Medium"/>
                </a:rPr>
                <a:t> to transmit the constructed object.</a:t>
              </a:r>
              <a:endParaRPr b="0" lang="en-US" sz="1000" spc="-1" strike="noStrike">
                <a:solidFill>
                  <a:srgbClr val="000000"/>
                </a:solidFill>
                <a:latin typeface="Arial"/>
              </a:endParaRPr>
            </a:p>
          </p:txBody>
        </p:sp>
      </p:grpSp>
      <p:grpSp>
        <p:nvGrpSpPr>
          <p:cNvPr id="652" name="Google Shape;741;p32"/>
          <p:cNvGrpSpPr/>
          <p:nvPr/>
        </p:nvGrpSpPr>
        <p:grpSpPr>
          <a:xfrm>
            <a:off x="5524560" y="4610160"/>
            <a:ext cx="5905080" cy="666720"/>
            <a:chOff x="5524560" y="4610160"/>
            <a:chExt cx="5905080" cy="666720"/>
          </a:xfrm>
        </p:grpSpPr>
        <p:sp>
          <p:nvSpPr>
            <p:cNvPr id="653" name="Google Shape;742;p32"/>
            <p:cNvSpPr/>
            <p:nvPr/>
          </p:nvSpPr>
          <p:spPr>
            <a:xfrm>
              <a:off x="5524560" y="4610160"/>
              <a:ext cx="5905080" cy="666720"/>
            </a:xfrm>
            <a:prstGeom prst="roundRect">
              <a:avLst>
                <a:gd name="adj" fmla="val 11428"/>
              </a:avLst>
            </a:prstGeom>
            <a:solidFill>
              <a:srgbClr val="f1f5f9"/>
            </a:solidFill>
            <a:ln w="9525">
              <a:solidFill>
                <a:srgbClr val="e2e8f0"/>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654" name="Google Shape;743;p32"/>
            <p:cNvSpPr/>
            <p:nvPr/>
          </p:nvSpPr>
          <p:spPr>
            <a:xfrm>
              <a:off x="5686560" y="4772160"/>
              <a:ext cx="342720" cy="342720"/>
            </a:xfrm>
            <a:prstGeom prst="ellipse">
              <a:avLst/>
            </a:prstGeom>
            <a:solidFill>
              <a:srgbClr val="045a36">
                <a:alpha val="10000"/>
              </a:srgbClr>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655" name="Google Shape;744;p32"/>
            <p:cNvSpPr/>
            <p:nvPr/>
          </p:nvSpPr>
          <p:spPr>
            <a:xfrm>
              <a:off x="5686560" y="4838760"/>
              <a:ext cx="342720" cy="209520"/>
            </a:xfrm>
            <a:prstGeom prst="rect">
              <a:avLst/>
            </a:prstGeom>
            <a:noFill/>
            <a:ln w="0">
              <a:noFill/>
            </a:ln>
          </p:spPr>
          <p:style>
            <a:lnRef idx="0"/>
            <a:fillRef idx="0"/>
            <a:effectRef idx="0"/>
            <a:fontRef idx="minor"/>
          </p:style>
          <p:txBody>
            <a:bodyPr lIns="0" rIns="0" tIns="0" bIns="0" anchor="ctr">
              <a:noAutofit/>
            </a:bodyPr>
            <a:p>
              <a:pPr algn="ctr">
                <a:lnSpc>
                  <a:spcPct val="100000"/>
                </a:lnSpc>
                <a:tabLst>
                  <a:tab algn="l" pos="0"/>
                </a:tabLst>
              </a:pPr>
              <a:r>
                <a:rPr b="1" lang="en" sz="1000" spc="-1" strike="noStrike">
                  <a:solidFill>
                    <a:srgbClr val="045a36"/>
                  </a:solidFill>
                  <a:latin typeface="Montserrat"/>
                  <a:ea typeface="Montserrat"/>
                </a:rPr>
                <a:t>05</a:t>
              </a:r>
              <a:endParaRPr b="0" lang="en-US" sz="1000" spc="-1" strike="noStrike">
                <a:solidFill>
                  <a:srgbClr val="000000"/>
                </a:solidFill>
                <a:latin typeface="Arial"/>
              </a:endParaRPr>
            </a:p>
          </p:txBody>
        </p:sp>
        <p:sp>
          <p:nvSpPr>
            <p:cNvPr id="656" name="Google Shape;745;p32"/>
            <p:cNvSpPr/>
            <p:nvPr/>
          </p:nvSpPr>
          <p:spPr>
            <a:xfrm>
              <a:off x="6191280" y="4610160"/>
              <a:ext cx="5047920" cy="66672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 sz="1050" spc="-1" strike="noStrike">
                  <a:solidFill>
                    <a:srgbClr val="045a36"/>
                  </a:solidFill>
                  <a:latin typeface="Montserrat"/>
                  <a:ea typeface="Montserrat"/>
                </a:rPr>
                <a:t>CLOSE</a:t>
              </a:r>
              <a:endParaRPr b="0" lang="en-US" sz="1050" spc="-1" strike="noStrike">
                <a:solidFill>
                  <a:srgbClr val="000000"/>
                </a:solidFill>
                <a:latin typeface="Arial"/>
              </a:endParaRPr>
            </a:p>
            <a:p>
              <a:pPr>
                <a:lnSpc>
                  <a:spcPct val="100000"/>
                </a:lnSpc>
                <a:spcBef>
                  <a:spcPts val="150"/>
                </a:spcBef>
                <a:tabLst>
                  <a:tab algn="l" pos="0"/>
                </a:tabLst>
              </a:pPr>
              <a:r>
                <a:rPr b="0" lang="en" sz="1000" spc="-1" strike="noStrike">
                  <a:solidFill>
                    <a:srgbClr val="4b5563"/>
                  </a:solidFill>
                  <a:latin typeface="Inter"/>
                  <a:ea typeface="Inter"/>
                </a:rPr>
                <a:t>Close the connection to free up system resources.</a:t>
              </a:r>
              <a:endParaRPr b="0" lang="en-US" sz="1000" spc="-1" strike="noStrike">
                <a:solidFill>
                  <a:srgbClr val="000000"/>
                </a:solidFill>
                <a:latin typeface="Arial"/>
              </a:endParaRPr>
            </a:p>
          </p:txBody>
        </p:sp>
      </p:grpSp>
      <p:pic>
        <p:nvPicPr>
          <p:cNvPr id="657" name="Google Shape;746;p32" descr=""/>
          <p:cNvPicPr/>
          <p:nvPr/>
        </p:nvPicPr>
        <p:blipFill>
          <a:blip r:embed="rId4"/>
          <a:stretch/>
        </p:blipFill>
        <p:spPr>
          <a:xfrm>
            <a:off x="762120" y="5981760"/>
            <a:ext cx="10667520" cy="304560"/>
          </a:xfrm>
          <a:prstGeom prst="rect">
            <a:avLst/>
          </a:prstGeom>
          <a:ln w="0">
            <a:noFill/>
          </a:ln>
        </p:spPr>
      </p:pic>
      <p:sp>
        <p:nvSpPr>
          <p:cNvPr id="658" name="Google Shape;747;p32"/>
          <p:cNvSpPr/>
          <p:nvPr/>
        </p:nvSpPr>
        <p:spPr>
          <a:xfrm>
            <a:off x="762120" y="6134040"/>
            <a:ext cx="4762080" cy="19008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980" spc="-1" strike="noStrike">
                <a:solidFill>
                  <a:srgbClr val="6b7280"/>
                </a:solidFill>
                <a:latin typeface="Inter"/>
                <a:ea typeface="Inter"/>
              </a:rPr>
              <a:t>Introduction to Email Automation &amp; SMTP | Python Basics</a:t>
            </a:r>
            <a:endParaRPr b="0" lang="en-US" sz="980" spc="-1" strike="noStrike">
              <a:solidFill>
                <a:srgbClr val="000000"/>
              </a:solidFill>
              <a:latin typeface="Arial"/>
            </a:endParaRPr>
          </a:p>
        </p:txBody>
      </p:sp>
      <p:pic>
        <p:nvPicPr>
          <p:cNvPr id="659" name="Google Shape;748;p32" descr=""/>
          <p:cNvPicPr/>
          <p:nvPr/>
        </p:nvPicPr>
        <p:blipFill>
          <a:blip r:embed="rId5"/>
          <a:stretch/>
        </p:blipFill>
        <p:spPr>
          <a:xfrm>
            <a:off x="10287000" y="5457960"/>
            <a:ext cx="1523520" cy="1019160"/>
          </a:xfrm>
          <a:prstGeom prst="rect">
            <a:avLst/>
          </a:prstGeom>
          <a:ln w="0">
            <a:noFill/>
          </a:ln>
        </p:spPr>
      </p:pic>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pic>
        <p:nvPicPr>
          <p:cNvPr id="660" name="Google Shape;753;p33" descr=""/>
          <p:cNvPicPr/>
          <p:nvPr/>
        </p:nvPicPr>
        <p:blipFill>
          <a:blip r:embed="rId2"/>
          <a:srcRect l="129" t="0" r="129" b="0"/>
          <a:stretch/>
        </p:blipFill>
        <p:spPr>
          <a:xfrm>
            <a:off x="0" y="0"/>
            <a:ext cx="12191760" cy="56880"/>
          </a:xfrm>
          <a:prstGeom prst="rect">
            <a:avLst/>
          </a:prstGeom>
          <a:ln w="0">
            <a:noFill/>
          </a:ln>
        </p:spPr>
      </p:pic>
      <p:sp>
        <p:nvSpPr>
          <p:cNvPr id="661" name="Google Shape;754;p33"/>
          <p:cNvSpPr/>
          <p:nvPr/>
        </p:nvSpPr>
        <p:spPr>
          <a:xfrm>
            <a:off x="762120" y="428760"/>
            <a:ext cx="10667520" cy="66672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 sz="2200" spc="-1" strike="noStrike">
                <a:solidFill>
                  <a:srgbClr val="045a36"/>
                </a:solidFill>
                <a:latin typeface="Montserrat SemiBold"/>
                <a:ea typeface="Montserrat SemiBold"/>
              </a:rPr>
              <a:t>Combining the Libraries Yields a Fully Functional Email Automation Script</a:t>
            </a:r>
            <a:endParaRPr b="0" lang="en-US" sz="2200" spc="-1" strike="noStrike">
              <a:solidFill>
                <a:srgbClr val="000000"/>
              </a:solidFill>
              <a:latin typeface="Arial"/>
            </a:endParaRPr>
          </a:p>
        </p:txBody>
      </p:sp>
      <p:sp>
        <p:nvSpPr>
          <p:cNvPr id="662" name="Google Shape;755;p33"/>
          <p:cNvSpPr/>
          <p:nvPr/>
        </p:nvSpPr>
        <p:spPr>
          <a:xfrm>
            <a:off x="762120" y="1123920"/>
            <a:ext cx="10667520" cy="18720"/>
          </a:xfrm>
          <a:prstGeom prst="rect">
            <a:avLst/>
          </a:prstGeom>
          <a:solidFill>
            <a:srgbClr val="e2e8f0"/>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grpSp>
        <p:nvGrpSpPr>
          <p:cNvPr id="663" name="Google Shape;756;p33"/>
          <p:cNvGrpSpPr/>
          <p:nvPr/>
        </p:nvGrpSpPr>
        <p:grpSpPr>
          <a:xfrm>
            <a:off x="762120" y="1352520"/>
            <a:ext cx="10667520" cy="4000320"/>
            <a:chOff x="762120" y="1352520"/>
            <a:chExt cx="10667520" cy="4000320"/>
          </a:xfrm>
        </p:grpSpPr>
        <p:sp>
          <p:nvSpPr>
            <p:cNvPr id="664" name="Google Shape;757;p33"/>
            <p:cNvSpPr/>
            <p:nvPr/>
          </p:nvSpPr>
          <p:spPr>
            <a:xfrm>
              <a:off x="762120" y="1352520"/>
              <a:ext cx="10667520" cy="4000320"/>
            </a:xfrm>
            <a:prstGeom prst="roundRect">
              <a:avLst>
                <a:gd name="adj" fmla="val 2857"/>
              </a:avLst>
            </a:prstGeom>
            <a:solidFill>
              <a:srgbClr val="1f2937"/>
            </a:solidFill>
            <a:ln w="9525">
              <a:solidFill>
                <a:srgbClr val="e2e8f0"/>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665" name="Google Shape;758;p33"/>
            <p:cNvSpPr/>
            <p:nvPr/>
          </p:nvSpPr>
          <p:spPr>
            <a:xfrm>
              <a:off x="762120" y="1352520"/>
              <a:ext cx="10667520" cy="380520"/>
            </a:xfrm>
            <a:custGeom>
              <a:avLst/>
              <a:gdLst>
                <a:gd name="textAreaLeft" fmla="*/ 0 w 10667520"/>
                <a:gd name="textAreaRight" fmla="*/ 10667880 w 10667520"/>
                <a:gd name="textAreaTop" fmla="*/ 0 h 380520"/>
                <a:gd name="textAreaBottom" fmla="*/ 380880 h 380520"/>
              </a:gdLst>
              <a:ahLst/>
              <a:rect l="textAreaLeft" t="textAreaTop" r="textAreaRight" b="textAreaBottom"/>
              <a:pathLst>
                <a:path w="120000" h="120000">
                  <a:moveTo>
                    <a:pt x="0" y="36000"/>
                  </a:moveTo>
                  <a:cubicBezTo>
                    <a:pt x="0" y="26452"/>
                    <a:pt x="135" y="17295"/>
                    <a:pt x="377" y="10544"/>
                  </a:cubicBezTo>
                  <a:cubicBezTo>
                    <a:pt x="618" y="3793"/>
                    <a:pt x="945" y="0"/>
                    <a:pt x="1286" y="0"/>
                  </a:cubicBezTo>
                  <a:lnTo>
                    <a:pt x="118714" y="0"/>
                  </a:lnTo>
                  <a:cubicBezTo>
                    <a:pt x="119055" y="-2"/>
                    <a:pt x="119382" y="3790"/>
                    <a:pt x="119623" y="10541"/>
                  </a:cubicBezTo>
                  <a:cubicBezTo>
                    <a:pt x="119865" y="17293"/>
                    <a:pt x="120000" y="26451"/>
                    <a:pt x="120000" y="36000"/>
                  </a:cubicBezTo>
                  <a:lnTo>
                    <a:pt x="120000" y="120000"/>
                  </a:lnTo>
                  <a:lnTo>
                    <a:pt x="0" y="120000"/>
                  </a:lnTo>
                  <a:close/>
                </a:path>
              </a:pathLst>
            </a:custGeom>
            <a:solidFill>
              <a:srgbClr val="111827"/>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666" name="Google Shape;759;p33"/>
            <p:cNvSpPr/>
            <p:nvPr/>
          </p:nvSpPr>
          <p:spPr>
            <a:xfrm>
              <a:off x="990720" y="1486080"/>
              <a:ext cx="114120" cy="114120"/>
            </a:xfrm>
            <a:prstGeom prst="ellipse">
              <a:avLst/>
            </a:prstGeom>
            <a:solidFill>
              <a:srgbClr val="ef4444"/>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667" name="Google Shape;760;p33"/>
            <p:cNvSpPr/>
            <p:nvPr/>
          </p:nvSpPr>
          <p:spPr>
            <a:xfrm>
              <a:off x="1181160" y="1486080"/>
              <a:ext cx="114120" cy="114120"/>
            </a:xfrm>
            <a:prstGeom prst="ellipse">
              <a:avLst/>
            </a:prstGeom>
            <a:solidFill>
              <a:srgbClr val="f59e0b"/>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668" name="Google Shape;761;p33"/>
            <p:cNvSpPr/>
            <p:nvPr/>
          </p:nvSpPr>
          <p:spPr>
            <a:xfrm>
              <a:off x="1371600" y="1486080"/>
              <a:ext cx="114120" cy="114120"/>
            </a:xfrm>
            <a:prstGeom prst="ellipse">
              <a:avLst/>
            </a:prstGeom>
            <a:solidFill>
              <a:srgbClr val="10b981"/>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669" name="Google Shape;762;p33"/>
            <p:cNvSpPr/>
            <p:nvPr/>
          </p:nvSpPr>
          <p:spPr>
            <a:xfrm>
              <a:off x="1714680" y="1352520"/>
              <a:ext cx="2857320" cy="38052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 sz="1100" spc="-1" strike="noStrike">
                  <a:solidFill>
                    <a:srgbClr val="9ca3af"/>
                  </a:solidFill>
                  <a:latin typeface="Inter Medium"/>
                  <a:ea typeface="Inter Medium"/>
                </a:rPr>
                <a:t>email_automation.py</a:t>
              </a:r>
              <a:endParaRPr b="0" lang="en-US" sz="1100" spc="-1" strike="noStrike">
                <a:solidFill>
                  <a:srgbClr val="000000"/>
                </a:solidFill>
                <a:latin typeface="Arial"/>
              </a:endParaRPr>
            </a:p>
          </p:txBody>
        </p:sp>
        <p:sp>
          <p:nvSpPr>
            <p:cNvPr id="670" name="Google Shape;763;p33"/>
            <p:cNvSpPr/>
            <p:nvPr/>
          </p:nvSpPr>
          <p:spPr>
            <a:xfrm>
              <a:off x="1047600" y="1857240"/>
              <a:ext cx="10096200" cy="32857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070" spc="-1" strike="noStrike">
                  <a:solidFill>
                    <a:srgbClr val="f472b6"/>
                  </a:solidFill>
                  <a:latin typeface="Consolas"/>
                  <a:ea typeface="Consolas"/>
                </a:rPr>
                <a:t>import</a:t>
              </a:r>
              <a:r>
                <a:rPr b="0" lang="en" sz="1070" spc="-1" strike="noStrike">
                  <a:solidFill>
                    <a:srgbClr val="e5e7eb"/>
                  </a:solidFill>
                  <a:latin typeface="Consolas"/>
                  <a:ea typeface="Consolas"/>
                </a:rPr>
                <a:t> smtplib</a:t>
              </a:r>
              <a:endParaRPr b="0" lang="en-US" sz="1070" spc="-1" strike="noStrike">
                <a:solidFill>
                  <a:srgbClr val="000000"/>
                </a:solidFill>
                <a:latin typeface="Arial"/>
              </a:endParaRPr>
            </a:p>
            <a:p>
              <a:pPr>
                <a:lnSpc>
                  <a:spcPct val="100000"/>
                </a:lnSpc>
                <a:tabLst>
                  <a:tab algn="l" pos="0"/>
                </a:tabLst>
              </a:pPr>
              <a:r>
                <a:rPr b="1" lang="en" sz="1070" spc="-1" strike="noStrike">
                  <a:solidFill>
                    <a:srgbClr val="f472b6"/>
                  </a:solidFill>
                  <a:latin typeface="Consolas"/>
                  <a:ea typeface="Consolas"/>
                </a:rPr>
                <a:t>import</a:t>
              </a:r>
              <a:r>
                <a:rPr b="0" lang="en" sz="1070" spc="-1" strike="noStrike">
                  <a:solidFill>
                    <a:srgbClr val="e5e7eb"/>
                  </a:solidFill>
                  <a:latin typeface="Consolas"/>
                  <a:ea typeface="Consolas"/>
                </a:rPr>
                <a:t> ssl</a:t>
              </a:r>
              <a:endParaRPr b="0" lang="en-US" sz="1070" spc="-1" strike="noStrike">
                <a:solidFill>
                  <a:srgbClr val="000000"/>
                </a:solidFill>
                <a:latin typeface="Arial"/>
              </a:endParaRPr>
            </a:p>
            <a:p>
              <a:pPr>
                <a:lnSpc>
                  <a:spcPct val="100000"/>
                </a:lnSpc>
                <a:tabLst>
                  <a:tab algn="l" pos="0"/>
                </a:tabLst>
              </a:pPr>
              <a:r>
                <a:rPr b="1" lang="en" sz="1070" spc="-1" strike="noStrike">
                  <a:solidFill>
                    <a:srgbClr val="f472b6"/>
                  </a:solidFill>
                  <a:latin typeface="Consolas"/>
                  <a:ea typeface="Consolas"/>
                </a:rPr>
                <a:t>from</a:t>
              </a:r>
              <a:r>
                <a:rPr b="0" lang="en" sz="1070" spc="-1" strike="noStrike">
                  <a:solidFill>
                    <a:srgbClr val="e5e7eb"/>
                  </a:solidFill>
                  <a:latin typeface="Consolas"/>
                  <a:ea typeface="Consolas"/>
                </a:rPr>
                <a:t> email.message </a:t>
              </a:r>
              <a:r>
                <a:rPr b="1" lang="en" sz="1070" spc="-1" strike="noStrike">
                  <a:solidFill>
                    <a:srgbClr val="f472b6"/>
                  </a:solidFill>
                  <a:latin typeface="Consolas"/>
                  <a:ea typeface="Consolas"/>
                </a:rPr>
                <a:t>import</a:t>
              </a:r>
              <a:r>
                <a:rPr b="0" lang="en" sz="1070" spc="-1" strike="noStrike">
                  <a:solidFill>
                    <a:srgbClr val="e5e7eb"/>
                  </a:solidFill>
                  <a:latin typeface="Consolas"/>
                  <a:ea typeface="Consolas"/>
                </a:rPr>
                <a:t> </a:t>
              </a:r>
              <a:r>
                <a:rPr b="0" lang="en" sz="1070" spc="-1" strike="noStrike">
                  <a:solidFill>
                    <a:srgbClr val="60a5fa"/>
                  </a:solidFill>
                  <a:latin typeface="Consolas"/>
                  <a:ea typeface="Consolas"/>
                </a:rPr>
                <a:t>EmailMessage</a:t>
              </a:r>
              <a:endParaRPr b="0" lang="en-US" sz="1070" spc="-1" strike="noStrike">
                <a:solidFill>
                  <a:srgbClr val="000000"/>
                </a:solidFill>
                <a:latin typeface="Arial"/>
              </a:endParaRPr>
            </a:p>
            <a:p>
              <a:pPr>
                <a:lnSpc>
                  <a:spcPct val="100000"/>
                </a:lnSpc>
                <a:tabLst>
                  <a:tab algn="l" pos="0"/>
                </a:tabLst>
              </a:pPr>
              <a:endParaRPr b="0" lang="en-US" sz="1070" spc="-1" strike="noStrike">
                <a:solidFill>
                  <a:srgbClr val="000000"/>
                </a:solidFill>
                <a:latin typeface="Arial"/>
              </a:endParaRPr>
            </a:p>
            <a:p>
              <a:pPr>
                <a:lnSpc>
                  <a:spcPct val="100000"/>
                </a:lnSpc>
                <a:tabLst>
                  <a:tab algn="l" pos="0"/>
                </a:tabLst>
              </a:pPr>
              <a:r>
                <a:rPr b="0" lang="en" sz="1070" spc="-1" strike="noStrike">
                  <a:solidFill>
                    <a:srgbClr val="e5e7eb"/>
                  </a:solidFill>
                  <a:latin typeface="Consolas"/>
                  <a:ea typeface="Consolas"/>
                </a:rPr>
                <a:t>sender_email = </a:t>
              </a:r>
              <a:r>
                <a:rPr b="0" lang="en" sz="1070" spc="-1" strike="noStrike">
                  <a:solidFill>
                    <a:srgbClr val="34d399"/>
                  </a:solidFill>
                  <a:latin typeface="Consolas"/>
                  <a:ea typeface="Consolas"/>
                </a:rPr>
                <a:t>"sender@gmail.com"</a:t>
              </a:r>
              <a:endParaRPr b="0" lang="en-US" sz="1070" spc="-1" strike="noStrike">
                <a:solidFill>
                  <a:srgbClr val="000000"/>
                </a:solidFill>
                <a:latin typeface="Arial"/>
              </a:endParaRPr>
            </a:p>
            <a:p>
              <a:pPr>
                <a:lnSpc>
                  <a:spcPct val="100000"/>
                </a:lnSpc>
                <a:tabLst>
                  <a:tab algn="l" pos="0"/>
                </a:tabLst>
              </a:pPr>
              <a:r>
                <a:rPr b="0" lang="en" sz="1070" spc="-1" strike="noStrike">
                  <a:solidFill>
                    <a:srgbClr val="e5e7eb"/>
                  </a:solidFill>
                  <a:latin typeface="Consolas"/>
                  <a:ea typeface="Consolas"/>
                </a:rPr>
                <a:t>receiver_email = </a:t>
              </a:r>
              <a:r>
                <a:rPr b="0" lang="en" sz="1070" spc="-1" strike="noStrike">
                  <a:solidFill>
                    <a:srgbClr val="34d399"/>
                  </a:solidFill>
                  <a:latin typeface="Consolas"/>
                  <a:ea typeface="Consolas"/>
                </a:rPr>
                <a:t>"receiver@gmail.com"</a:t>
              </a:r>
              <a:endParaRPr b="0" lang="en-US" sz="1070" spc="-1" strike="noStrike">
                <a:solidFill>
                  <a:srgbClr val="000000"/>
                </a:solidFill>
                <a:latin typeface="Arial"/>
              </a:endParaRPr>
            </a:p>
            <a:p>
              <a:pPr>
                <a:lnSpc>
                  <a:spcPct val="100000"/>
                </a:lnSpc>
                <a:tabLst>
                  <a:tab algn="l" pos="0"/>
                </a:tabLst>
              </a:pPr>
              <a:endParaRPr b="0" lang="en-US" sz="1070" spc="-1" strike="noStrike">
                <a:solidFill>
                  <a:srgbClr val="000000"/>
                </a:solidFill>
                <a:latin typeface="Arial"/>
              </a:endParaRPr>
            </a:p>
            <a:p>
              <a:pPr>
                <a:lnSpc>
                  <a:spcPct val="100000"/>
                </a:lnSpc>
                <a:tabLst>
                  <a:tab algn="l" pos="0"/>
                </a:tabLst>
              </a:pPr>
              <a:r>
                <a:rPr b="0" lang="en" sz="1070" spc="-1" strike="noStrike">
                  <a:solidFill>
                    <a:srgbClr val="e5e7eb"/>
                  </a:solidFill>
                  <a:latin typeface="Consolas"/>
                  <a:ea typeface="Consolas"/>
                </a:rPr>
                <a:t>msg = </a:t>
              </a:r>
              <a:r>
                <a:rPr b="0" lang="en" sz="1070" spc="-1" strike="noStrike">
                  <a:solidFill>
                    <a:srgbClr val="60a5fa"/>
                  </a:solidFill>
                  <a:latin typeface="Consolas"/>
                  <a:ea typeface="Consolas"/>
                </a:rPr>
                <a:t>EmailMessage</a:t>
              </a:r>
              <a:r>
                <a:rPr b="0" lang="en" sz="1070" spc="-1" strike="noStrike">
                  <a:solidFill>
                    <a:srgbClr val="e5e7eb"/>
                  </a:solidFill>
                  <a:latin typeface="Consolas"/>
                  <a:ea typeface="Consolas"/>
                </a:rPr>
                <a:t>()</a:t>
              </a:r>
              <a:endParaRPr b="0" lang="en-US" sz="1070" spc="-1" strike="noStrike">
                <a:solidFill>
                  <a:srgbClr val="000000"/>
                </a:solidFill>
                <a:latin typeface="Arial"/>
              </a:endParaRPr>
            </a:p>
            <a:p>
              <a:pPr>
                <a:lnSpc>
                  <a:spcPct val="100000"/>
                </a:lnSpc>
                <a:tabLst>
                  <a:tab algn="l" pos="0"/>
                </a:tabLst>
              </a:pPr>
              <a:r>
                <a:rPr b="0" lang="en" sz="1070" spc="-1" strike="noStrike">
                  <a:solidFill>
                    <a:srgbClr val="e5e7eb"/>
                  </a:solidFill>
                  <a:latin typeface="Consolas"/>
                  <a:ea typeface="Consolas"/>
                </a:rPr>
                <a:t>msg[</a:t>
              </a:r>
              <a:r>
                <a:rPr b="0" lang="en" sz="1070" spc="-1" strike="noStrike">
                  <a:solidFill>
                    <a:srgbClr val="34d399"/>
                  </a:solidFill>
                  <a:latin typeface="Consolas"/>
                  <a:ea typeface="Consolas"/>
                </a:rPr>
                <a:t>"From"</a:t>
              </a:r>
              <a:r>
                <a:rPr b="0" lang="en" sz="1070" spc="-1" strike="noStrike">
                  <a:solidFill>
                    <a:srgbClr val="e5e7eb"/>
                  </a:solidFill>
                  <a:latin typeface="Consolas"/>
                  <a:ea typeface="Consolas"/>
                </a:rPr>
                <a:t>] = sender_email</a:t>
              </a:r>
              <a:endParaRPr b="0" lang="en-US" sz="1070" spc="-1" strike="noStrike">
                <a:solidFill>
                  <a:srgbClr val="000000"/>
                </a:solidFill>
                <a:latin typeface="Arial"/>
              </a:endParaRPr>
            </a:p>
            <a:p>
              <a:pPr>
                <a:lnSpc>
                  <a:spcPct val="100000"/>
                </a:lnSpc>
                <a:tabLst>
                  <a:tab algn="l" pos="0"/>
                </a:tabLst>
              </a:pPr>
              <a:r>
                <a:rPr b="0" lang="en" sz="1070" spc="-1" strike="noStrike">
                  <a:solidFill>
                    <a:srgbClr val="e5e7eb"/>
                  </a:solidFill>
                  <a:latin typeface="Consolas"/>
                  <a:ea typeface="Consolas"/>
                </a:rPr>
                <a:t>msg[</a:t>
              </a:r>
              <a:r>
                <a:rPr b="0" lang="en" sz="1070" spc="-1" strike="noStrike">
                  <a:solidFill>
                    <a:srgbClr val="34d399"/>
                  </a:solidFill>
                  <a:latin typeface="Consolas"/>
                  <a:ea typeface="Consolas"/>
                </a:rPr>
                <a:t>"To"</a:t>
              </a:r>
              <a:r>
                <a:rPr b="0" lang="en" sz="1070" spc="-1" strike="noStrike">
                  <a:solidFill>
                    <a:srgbClr val="e5e7eb"/>
                  </a:solidFill>
                  <a:latin typeface="Consolas"/>
                  <a:ea typeface="Consolas"/>
                </a:rPr>
                <a:t>] = receiver_email</a:t>
              </a:r>
              <a:endParaRPr b="0" lang="en-US" sz="1070" spc="-1" strike="noStrike">
                <a:solidFill>
                  <a:srgbClr val="000000"/>
                </a:solidFill>
                <a:latin typeface="Arial"/>
              </a:endParaRPr>
            </a:p>
            <a:p>
              <a:pPr>
                <a:lnSpc>
                  <a:spcPct val="100000"/>
                </a:lnSpc>
                <a:tabLst>
                  <a:tab algn="l" pos="0"/>
                </a:tabLst>
              </a:pPr>
              <a:r>
                <a:rPr b="0" lang="en" sz="1070" spc="-1" strike="noStrike">
                  <a:solidFill>
                    <a:srgbClr val="e5e7eb"/>
                  </a:solidFill>
                  <a:latin typeface="Consolas"/>
                  <a:ea typeface="Consolas"/>
                </a:rPr>
                <a:t>msg[</a:t>
              </a:r>
              <a:r>
                <a:rPr b="0" lang="en" sz="1070" spc="-1" strike="noStrike">
                  <a:solidFill>
                    <a:srgbClr val="34d399"/>
                  </a:solidFill>
                  <a:latin typeface="Consolas"/>
                  <a:ea typeface="Consolas"/>
                </a:rPr>
                <a:t>"Subject"</a:t>
              </a:r>
              <a:r>
                <a:rPr b="0" lang="en" sz="1070" spc="-1" strike="noStrike">
                  <a:solidFill>
                    <a:srgbClr val="e5e7eb"/>
                  </a:solidFill>
                  <a:latin typeface="Consolas"/>
                  <a:ea typeface="Consolas"/>
                </a:rPr>
                <a:t>] = </a:t>
              </a:r>
              <a:r>
                <a:rPr b="0" lang="en" sz="1070" spc="-1" strike="noStrike">
                  <a:solidFill>
                    <a:srgbClr val="34d399"/>
                  </a:solidFill>
                  <a:latin typeface="Consolas"/>
                  <a:ea typeface="Consolas"/>
                </a:rPr>
                <a:t>"Python Test Email"</a:t>
              </a:r>
              <a:endParaRPr b="0" lang="en-US" sz="1070" spc="-1" strike="noStrike">
                <a:solidFill>
                  <a:srgbClr val="000000"/>
                </a:solidFill>
                <a:latin typeface="Arial"/>
              </a:endParaRPr>
            </a:p>
            <a:p>
              <a:pPr>
                <a:lnSpc>
                  <a:spcPct val="100000"/>
                </a:lnSpc>
                <a:tabLst>
                  <a:tab algn="l" pos="0"/>
                </a:tabLst>
              </a:pPr>
              <a:r>
                <a:rPr b="0" lang="en" sz="1070" spc="-1" strike="noStrike">
                  <a:solidFill>
                    <a:srgbClr val="e5e7eb"/>
                  </a:solidFill>
                  <a:latin typeface="Consolas"/>
                  <a:ea typeface="Consolas"/>
                </a:rPr>
                <a:t>msg.set_content(</a:t>
              </a:r>
              <a:r>
                <a:rPr b="0" lang="en" sz="1070" spc="-1" strike="noStrike">
                  <a:solidFill>
                    <a:srgbClr val="34d399"/>
                  </a:solidFill>
                  <a:latin typeface="Consolas"/>
                  <a:ea typeface="Consolas"/>
                </a:rPr>
                <a:t>"Hello! This email was sent using Python."</a:t>
              </a:r>
              <a:r>
                <a:rPr b="0" lang="en" sz="1070" spc="-1" strike="noStrike">
                  <a:solidFill>
                    <a:srgbClr val="e5e7eb"/>
                  </a:solidFill>
                  <a:latin typeface="Consolas"/>
                  <a:ea typeface="Consolas"/>
                </a:rPr>
                <a:t>)</a:t>
              </a:r>
              <a:endParaRPr b="0" lang="en-US" sz="1070" spc="-1" strike="noStrike">
                <a:solidFill>
                  <a:srgbClr val="000000"/>
                </a:solidFill>
                <a:latin typeface="Arial"/>
              </a:endParaRPr>
            </a:p>
            <a:p>
              <a:pPr>
                <a:lnSpc>
                  <a:spcPct val="100000"/>
                </a:lnSpc>
                <a:tabLst>
                  <a:tab algn="l" pos="0"/>
                </a:tabLst>
              </a:pPr>
              <a:endParaRPr b="0" lang="en-US" sz="1070" spc="-1" strike="noStrike">
                <a:solidFill>
                  <a:srgbClr val="000000"/>
                </a:solidFill>
                <a:latin typeface="Arial"/>
              </a:endParaRPr>
            </a:p>
            <a:p>
              <a:pPr>
                <a:lnSpc>
                  <a:spcPct val="100000"/>
                </a:lnSpc>
                <a:tabLst>
                  <a:tab algn="l" pos="0"/>
                </a:tabLst>
              </a:pPr>
              <a:r>
                <a:rPr b="0" lang="en" sz="1070" spc="-1" strike="noStrike">
                  <a:solidFill>
                    <a:srgbClr val="e5e7eb"/>
                  </a:solidFill>
                  <a:latin typeface="Consolas"/>
                  <a:ea typeface="Consolas"/>
                </a:rPr>
                <a:t>context = ssl.create_default_context()</a:t>
              </a:r>
              <a:endParaRPr b="0" lang="en-US" sz="1070" spc="-1" strike="noStrike">
                <a:solidFill>
                  <a:srgbClr val="000000"/>
                </a:solidFill>
                <a:latin typeface="Arial"/>
              </a:endParaRPr>
            </a:p>
            <a:p>
              <a:pPr>
                <a:lnSpc>
                  <a:spcPct val="100000"/>
                </a:lnSpc>
                <a:tabLst>
                  <a:tab algn="l" pos="0"/>
                </a:tabLst>
              </a:pPr>
              <a:r>
                <a:rPr b="1" lang="en" sz="1070" spc="-1" strike="noStrike">
                  <a:solidFill>
                    <a:srgbClr val="f472b6"/>
                  </a:solidFill>
                  <a:latin typeface="Consolas"/>
                  <a:ea typeface="Consolas"/>
                </a:rPr>
                <a:t>with</a:t>
              </a:r>
              <a:r>
                <a:rPr b="0" lang="en" sz="1070" spc="-1" strike="noStrike">
                  <a:solidFill>
                    <a:srgbClr val="e5e7eb"/>
                  </a:solidFill>
                  <a:latin typeface="Consolas"/>
                  <a:ea typeface="Consolas"/>
                </a:rPr>
                <a:t> smtplib.SMTP_SSL(</a:t>
              </a:r>
              <a:r>
                <a:rPr b="0" lang="en" sz="1070" spc="-1" strike="noStrike">
                  <a:solidFill>
                    <a:srgbClr val="34d399"/>
                  </a:solidFill>
                  <a:latin typeface="Consolas"/>
                  <a:ea typeface="Consolas"/>
                </a:rPr>
                <a:t>"smtp.gmail.com"</a:t>
              </a:r>
              <a:r>
                <a:rPr b="0" lang="en" sz="1070" spc="-1" strike="noStrike">
                  <a:solidFill>
                    <a:srgbClr val="e5e7eb"/>
                  </a:solidFill>
                  <a:latin typeface="Consolas"/>
                  <a:ea typeface="Consolas"/>
                </a:rPr>
                <a:t>, </a:t>
              </a:r>
              <a:r>
                <a:rPr b="0" lang="en" sz="1070" spc="-1" strike="noStrike">
                  <a:solidFill>
                    <a:srgbClr val="fbbf24"/>
                  </a:solidFill>
                  <a:latin typeface="Consolas"/>
                  <a:ea typeface="Consolas"/>
                </a:rPr>
                <a:t>465</a:t>
              </a:r>
              <a:r>
                <a:rPr b="0" lang="en" sz="1070" spc="-1" strike="noStrike">
                  <a:solidFill>
                    <a:srgbClr val="e5e7eb"/>
                  </a:solidFill>
                  <a:latin typeface="Consolas"/>
                  <a:ea typeface="Consolas"/>
                </a:rPr>
                <a:t>, context=context) </a:t>
              </a:r>
              <a:r>
                <a:rPr b="1" lang="en" sz="1070" spc="-1" strike="noStrike">
                  <a:solidFill>
                    <a:srgbClr val="f472b6"/>
                  </a:solidFill>
                  <a:latin typeface="Consolas"/>
                  <a:ea typeface="Consolas"/>
                </a:rPr>
                <a:t>as</a:t>
              </a:r>
              <a:r>
                <a:rPr b="0" lang="en" sz="1070" spc="-1" strike="noStrike">
                  <a:solidFill>
                    <a:srgbClr val="e5e7eb"/>
                  </a:solidFill>
                  <a:latin typeface="Consolas"/>
                  <a:ea typeface="Consolas"/>
                </a:rPr>
                <a:t> server:</a:t>
              </a:r>
              <a:endParaRPr b="0" lang="en-US" sz="1070" spc="-1" strike="noStrike">
                <a:solidFill>
                  <a:srgbClr val="000000"/>
                </a:solidFill>
                <a:latin typeface="Arial"/>
              </a:endParaRPr>
            </a:p>
            <a:p>
              <a:pPr>
                <a:lnSpc>
                  <a:spcPct val="100000"/>
                </a:lnSpc>
                <a:tabLst>
                  <a:tab algn="l" pos="0"/>
                </a:tabLst>
              </a:pPr>
              <a:r>
                <a:rPr b="0" lang="en" sz="1070" spc="-1" strike="noStrike">
                  <a:solidFill>
                    <a:srgbClr val="e5e7eb"/>
                  </a:solidFill>
                  <a:latin typeface="Consolas"/>
                  <a:ea typeface="Consolas"/>
                </a:rPr>
                <a:t>    </a:t>
              </a:r>
              <a:r>
                <a:rPr b="0" lang="en" sz="1070" spc="-1" strike="noStrike">
                  <a:solidFill>
                    <a:srgbClr val="e5e7eb"/>
                  </a:solidFill>
                  <a:latin typeface="Consolas"/>
                  <a:ea typeface="Consolas"/>
                </a:rPr>
                <a:t>server.login(sender_email, password)</a:t>
              </a:r>
              <a:endParaRPr b="0" lang="en-US" sz="1070" spc="-1" strike="noStrike">
                <a:solidFill>
                  <a:srgbClr val="000000"/>
                </a:solidFill>
                <a:latin typeface="Arial"/>
              </a:endParaRPr>
            </a:p>
            <a:p>
              <a:pPr>
                <a:lnSpc>
                  <a:spcPct val="100000"/>
                </a:lnSpc>
                <a:tabLst>
                  <a:tab algn="l" pos="0"/>
                </a:tabLst>
              </a:pPr>
              <a:r>
                <a:rPr b="0" lang="en" sz="1070" spc="-1" strike="noStrike">
                  <a:solidFill>
                    <a:srgbClr val="e5e7eb"/>
                  </a:solidFill>
                  <a:latin typeface="Consolas"/>
                  <a:ea typeface="Consolas"/>
                </a:rPr>
                <a:t>    </a:t>
              </a:r>
              <a:r>
                <a:rPr b="0" lang="en" sz="1070" spc="-1" strike="noStrike">
                  <a:solidFill>
                    <a:srgbClr val="e5e7eb"/>
                  </a:solidFill>
                  <a:latin typeface="Consolas"/>
                  <a:ea typeface="Consolas"/>
                </a:rPr>
                <a:t>server.send_message(msg)</a:t>
              </a:r>
              <a:endParaRPr b="0" lang="en-US" sz="1070" spc="-1" strike="noStrike">
                <a:solidFill>
                  <a:srgbClr val="000000"/>
                </a:solidFill>
                <a:latin typeface="Arial"/>
              </a:endParaRPr>
            </a:p>
            <a:p>
              <a:pPr>
                <a:lnSpc>
                  <a:spcPct val="100000"/>
                </a:lnSpc>
                <a:tabLst>
                  <a:tab algn="l" pos="0"/>
                </a:tabLst>
              </a:pPr>
              <a:endParaRPr b="0" lang="en-US" sz="1070" spc="-1" strike="noStrike">
                <a:solidFill>
                  <a:srgbClr val="000000"/>
                </a:solidFill>
                <a:latin typeface="Arial"/>
              </a:endParaRPr>
            </a:p>
            <a:p>
              <a:pPr>
                <a:lnSpc>
                  <a:spcPct val="100000"/>
                </a:lnSpc>
                <a:tabLst>
                  <a:tab algn="l" pos="0"/>
                </a:tabLst>
              </a:pPr>
              <a:r>
                <a:rPr b="0" lang="en" sz="1070" spc="-1" strike="noStrike">
                  <a:solidFill>
                    <a:srgbClr val="38bdf8"/>
                  </a:solidFill>
                  <a:latin typeface="Consolas"/>
                  <a:ea typeface="Consolas"/>
                </a:rPr>
                <a:t>print</a:t>
              </a:r>
              <a:r>
                <a:rPr b="0" lang="en" sz="1070" spc="-1" strike="noStrike">
                  <a:solidFill>
                    <a:srgbClr val="e5e7eb"/>
                  </a:solidFill>
                  <a:latin typeface="Consolas"/>
                  <a:ea typeface="Consolas"/>
                </a:rPr>
                <a:t>(</a:t>
              </a:r>
              <a:r>
                <a:rPr b="0" lang="en" sz="1070" spc="-1" strike="noStrike">
                  <a:solidFill>
                    <a:srgbClr val="34d399"/>
                  </a:solidFill>
                  <a:latin typeface="Consolas"/>
                  <a:ea typeface="Consolas"/>
                </a:rPr>
                <a:t>"Email sent successfully!"</a:t>
              </a:r>
              <a:r>
                <a:rPr b="0" lang="en" sz="1070" spc="-1" strike="noStrike">
                  <a:solidFill>
                    <a:srgbClr val="e5e7eb"/>
                  </a:solidFill>
                  <a:latin typeface="Consolas"/>
                  <a:ea typeface="Consolas"/>
                </a:rPr>
                <a:t>)</a:t>
              </a:r>
              <a:endParaRPr b="0" lang="en-US" sz="1070" spc="-1" strike="noStrike">
                <a:solidFill>
                  <a:srgbClr val="000000"/>
                </a:solidFill>
                <a:latin typeface="Arial"/>
              </a:endParaRPr>
            </a:p>
          </p:txBody>
        </p:sp>
      </p:grpSp>
      <p:pic>
        <p:nvPicPr>
          <p:cNvPr id="671" name="Google Shape;764;p33" descr=""/>
          <p:cNvPicPr/>
          <p:nvPr/>
        </p:nvPicPr>
        <p:blipFill>
          <a:blip r:embed="rId3"/>
          <a:stretch/>
        </p:blipFill>
        <p:spPr>
          <a:xfrm>
            <a:off x="762120" y="5981760"/>
            <a:ext cx="10667520" cy="304560"/>
          </a:xfrm>
          <a:prstGeom prst="rect">
            <a:avLst/>
          </a:prstGeom>
          <a:ln w="0">
            <a:noFill/>
          </a:ln>
        </p:spPr>
      </p:pic>
      <p:sp>
        <p:nvSpPr>
          <p:cNvPr id="672" name="Google Shape;765;p33"/>
          <p:cNvSpPr/>
          <p:nvPr/>
        </p:nvSpPr>
        <p:spPr>
          <a:xfrm>
            <a:off x="762120" y="6134040"/>
            <a:ext cx="6667200" cy="19008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 sz="980" spc="-1" strike="noStrike">
                <a:solidFill>
                  <a:srgbClr val="6b7280"/>
                </a:solidFill>
                <a:latin typeface="Inter"/>
                <a:ea typeface="Inter"/>
              </a:rPr>
              <a:t>Introduction to Email Automation &amp; SMTP | Python Basics</a:t>
            </a:r>
            <a:endParaRPr b="0" lang="en-US" sz="980" spc="-1" strike="noStrike">
              <a:solidFill>
                <a:srgbClr val="000000"/>
              </a:solidFill>
              <a:latin typeface="Arial"/>
            </a:endParaRPr>
          </a:p>
        </p:txBody>
      </p:sp>
      <p:pic>
        <p:nvPicPr>
          <p:cNvPr id="673" name="Google Shape;766;p33" descr=""/>
          <p:cNvPicPr/>
          <p:nvPr/>
        </p:nvPicPr>
        <p:blipFill>
          <a:blip r:embed="rId4"/>
          <a:stretch/>
        </p:blipFill>
        <p:spPr>
          <a:xfrm>
            <a:off x="10287000" y="5457960"/>
            <a:ext cx="1523520" cy="1019160"/>
          </a:xfrm>
          <a:prstGeom prst="rect">
            <a:avLst/>
          </a:prstGeom>
          <a:ln w="0">
            <a:noFill/>
          </a:ln>
        </p:spPr>
      </p:pic>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pic>
        <p:nvPicPr>
          <p:cNvPr id="674" name="Google Shape;771;p34" descr=""/>
          <p:cNvPicPr/>
          <p:nvPr/>
        </p:nvPicPr>
        <p:blipFill>
          <a:blip r:embed="rId2"/>
          <a:srcRect l="129" t="0" r="129" b="0"/>
          <a:stretch/>
        </p:blipFill>
        <p:spPr>
          <a:xfrm>
            <a:off x="0" y="0"/>
            <a:ext cx="12191760" cy="56880"/>
          </a:xfrm>
          <a:prstGeom prst="rect">
            <a:avLst/>
          </a:prstGeom>
          <a:ln w="0">
            <a:noFill/>
          </a:ln>
        </p:spPr>
      </p:pic>
      <p:sp>
        <p:nvSpPr>
          <p:cNvPr id="675" name="Google Shape;772;p34"/>
          <p:cNvSpPr/>
          <p:nvPr/>
        </p:nvSpPr>
        <p:spPr>
          <a:xfrm>
            <a:off x="762120" y="523800"/>
            <a:ext cx="10667520" cy="47592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 sz="2700" spc="-1" strike="noStrike">
                <a:solidFill>
                  <a:srgbClr val="045a36"/>
                </a:solidFill>
                <a:latin typeface="Montserrat SemiBold"/>
                <a:ea typeface="Montserrat SemiBold"/>
              </a:rPr>
              <a:t>Four Stages of Script Execution</a:t>
            </a:r>
            <a:endParaRPr b="0" lang="en-US" sz="2700" spc="-1" strike="noStrike">
              <a:solidFill>
                <a:srgbClr val="000000"/>
              </a:solidFill>
              <a:latin typeface="Arial"/>
            </a:endParaRPr>
          </a:p>
        </p:txBody>
      </p:sp>
      <p:sp>
        <p:nvSpPr>
          <p:cNvPr id="676" name="Google Shape;773;p34"/>
          <p:cNvSpPr/>
          <p:nvPr/>
        </p:nvSpPr>
        <p:spPr>
          <a:xfrm>
            <a:off x="762120" y="1123920"/>
            <a:ext cx="10667520" cy="18720"/>
          </a:xfrm>
          <a:prstGeom prst="rect">
            <a:avLst/>
          </a:prstGeom>
          <a:solidFill>
            <a:srgbClr val="e2e8f0"/>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grpSp>
        <p:nvGrpSpPr>
          <p:cNvPr id="677" name="Google Shape;774;p34"/>
          <p:cNvGrpSpPr/>
          <p:nvPr/>
        </p:nvGrpSpPr>
        <p:grpSpPr>
          <a:xfrm>
            <a:off x="762120" y="1428840"/>
            <a:ext cx="5143320" cy="1999800"/>
            <a:chOff x="762120" y="1428840"/>
            <a:chExt cx="5143320" cy="1999800"/>
          </a:xfrm>
        </p:grpSpPr>
        <p:sp>
          <p:nvSpPr>
            <p:cNvPr id="678" name="Google Shape;775;p34"/>
            <p:cNvSpPr/>
            <p:nvPr/>
          </p:nvSpPr>
          <p:spPr>
            <a:xfrm>
              <a:off x="762120" y="1428840"/>
              <a:ext cx="5143320" cy="1999800"/>
            </a:xfrm>
            <a:prstGeom prst="roundRect">
              <a:avLst>
                <a:gd name="adj" fmla="val 5714"/>
              </a:avLst>
            </a:prstGeom>
            <a:solidFill>
              <a:srgbClr val="ffffff"/>
            </a:solidFill>
            <a:ln w="14300">
              <a:solidFill>
                <a:srgbClr val="e2e8f0"/>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679" name="Google Shape;776;p34"/>
            <p:cNvSpPr/>
            <p:nvPr/>
          </p:nvSpPr>
          <p:spPr>
            <a:xfrm>
              <a:off x="762120" y="1428840"/>
              <a:ext cx="5143320" cy="56880"/>
            </a:xfrm>
            <a:prstGeom prst="roundRect">
              <a:avLst>
                <a:gd name="adj" fmla="val 50000"/>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680" name="Google Shape;777;p34"/>
            <p:cNvSpPr/>
            <p:nvPr/>
          </p:nvSpPr>
          <p:spPr>
            <a:xfrm>
              <a:off x="1000080" y="1666800"/>
              <a:ext cx="857160" cy="247320"/>
            </a:xfrm>
            <a:prstGeom prst="roundRect">
              <a:avLst>
                <a:gd name="adj" fmla="val 23076"/>
              </a:avLst>
            </a:prstGeom>
            <a:solidFill>
              <a:srgbClr val="d4a017">
                <a:alpha val="12000"/>
              </a:srgbClr>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681" name="Google Shape;778;p34"/>
            <p:cNvSpPr/>
            <p:nvPr/>
          </p:nvSpPr>
          <p:spPr>
            <a:xfrm>
              <a:off x="1000080" y="1666800"/>
              <a:ext cx="857160" cy="247320"/>
            </a:xfrm>
            <a:prstGeom prst="rect">
              <a:avLst/>
            </a:prstGeom>
            <a:noFill/>
            <a:ln w="0">
              <a:noFill/>
            </a:ln>
          </p:spPr>
          <p:style>
            <a:lnRef idx="0"/>
            <a:fillRef idx="0"/>
            <a:effectRef idx="0"/>
            <a:fontRef idx="minor"/>
          </p:style>
          <p:txBody>
            <a:bodyPr lIns="0" rIns="0" tIns="0" bIns="0" anchor="ctr">
              <a:noAutofit/>
            </a:bodyPr>
            <a:p>
              <a:pPr algn="ctr">
                <a:lnSpc>
                  <a:spcPct val="100000"/>
                </a:lnSpc>
                <a:tabLst>
                  <a:tab algn="l" pos="0"/>
                </a:tabLst>
              </a:pPr>
              <a:r>
                <a:rPr b="1" lang="en" sz="950" spc="-1" strike="noStrike">
                  <a:solidFill>
                    <a:srgbClr val="d4a017"/>
                  </a:solidFill>
                  <a:latin typeface="Inter"/>
                  <a:ea typeface="Inter"/>
                </a:rPr>
                <a:t>STAGE 01</a:t>
              </a:r>
              <a:endParaRPr b="0" lang="en-US" sz="950" spc="-1" strike="noStrike">
                <a:solidFill>
                  <a:srgbClr val="000000"/>
                </a:solidFill>
                <a:latin typeface="Arial"/>
              </a:endParaRPr>
            </a:p>
          </p:txBody>
        </p:sp>
        <p:sp>
          <p:nvSpPr>
            <p:cNvPr id="682" name="Google Shape;779;p34"/>
            <p:cNvSpPr/>
            <p:nvPr/>
          </p:nvSpPr>
          <p:spPr>
            <a:xfrm>
              <a:off x="1000080" y="2048040"/>
              <a:ext cx="4667040" cy="33300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 sz="1650" spc="-1" strike="noStrike">
                  <a:solidFill>
                    <a:srgbClr val="045a36"/>
                  </a:solidFill>
                  <a:latin typeface="Montserrat"/>
                  <a:ea typeface="Montserrat"/>
                </a:rPr>
                <a:t>Import Libraries</a:t>
              </a:r>
              <a:endParaRPr b="0" lang="en-US" sz="1650" spc="-1" strike="noStrike">
                <a:solidFill>
                  <a:srgbClr val="000000"/>
                </a:solidFill>
                <a:latin typeface="Arial"/>
              </a:endParaRPr>
            </a:p>
          </p:txBody>
        </p:sp>
        <p:sp>
          <p:nvSpPr>
            <p:cNvPr id="683" name="Google Shape;780;p34"/>
            <p:cNvSpPr/>
            <p:nvPr/>
          </p:nvSpPr>
          <p:spPr>
            <a:xfrm>
              <a:off x="1000080" y="2476440"/>
              <a:ext cx="4667040" cy="80928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250" spc="-1" strike="noStrike">
                  <a:solidFill>
                    <a:srgbClr val="374151"/>
                  </a:solidFill>
                  <a:latin typeface="Inter"/>
                  <a:ea typeface="Inter"/>
                </a:rPr>
                <a:t>Bringing in </a:t>
              </a:r>
              <a:r>
                <a:rPr b="0" lang="en" sz="1250" spc="-1" strike="noStrike">
                  <a:solidFill>
                    <a:srgbClr val="045a36"/>
                  </a:solidFill>
                  <a:latin typeface="Inter SemiBold"/>
                  <a:ea typeface="Inter SemiBold"/>
                </a:rPr>
                <a:t>smtplib</a:t>
              </a:r>
              <a:r>
                <a:rPr b="0" lang="en" sz="1250" spc="-1" strike="noStrike">
                  <a:solidFill>
                    <a:srgbClr val="374151"/>
                  </a:solidFill>
                  <a:latin typeface="Inter"/>
                  <a:ea typeface="Inter"/>
                </a:rPr>
                <a:t>, </a:t>
              </a:r>
              <a:r>
                <a:rPr b="0" lang="en" sz="1250" spc="-1" strike="noStrike">
                  <a:solidFill>
                    <a:srgbClr val="045a36"/>
                  </a:solidFill>
                  <a:latin typeface="Inter SemiBold"/>
                  <a:ea typeface="Inter SemiBold"/>
                </a:rPr>
                <a:t>ssl</a:t>
              </a:r>
              <a:r>
                <a:rPr b="0" lang="en" sz="1250" spc="-1" strike="noStrike">
                  <a:solidFill>
                    <a:srgbClr val="374151"/>
                  </a:solidFill>
                  <a:latin typeface="Inter"/>
                  <a:ea typeface="Inter"/>
                </a:rPr>
                <a:t>, and </a:t>
              </a:r>
              <a:r>
                <a:rPr b="0" lang="en" sz="1250" spc="-1" strike="noStrike">
                  <a:solidFill>
                    <a:srgbClr val="045a36"/>
                  </a:solidFill>
                  <a:latin typeface="Inter SemiBold"/>
                  <a:ea typeface="Inter SemiBold"/>
                </a:rPr>
                <a:t>EmailMessage</a:t>
              </a:r>
              <a:r>
                <a:rPr b="0" lang="en" sz="1250" spc="-1" strike="noStrike">
                  <a:solidFill>
                    <a:srgbClr val="374151"/>
                  </a:solidFill>
                  <a:latin typeface="Inter"/>
                  <a:ea typeface="Inter"/>
                </a:rPr>
                <a:t> to access necessary networking and formatting tools.</a:t>
              </a:r>
              <a:endParaRPr b="0" lang="en-US" sz="1250" spc="-1" strike="noStrike">
                <a:solidFill>
                  <a:srgbClr val="000000"/>
                </a:solidFill>
                <a:latin typeface="Arial"/>
              </a:endParaRPr>
            </a:p>
          </p:txBody>
        </p:sp>
      </p:grpSp>
      <p:grpSp>
        <p:nvGrpSpPr>
          <p:cNvPr id="684" name="Google Shape;781;p34"/>
          <p:cNvGrpSpPr/>
          <p:nvPr/>
        </p:nvGrpSpPr>
        <p:grpSpPr>
          <a:xfrm>
            <a:off x="6286680" y="1428840"/>
            <a:ext cx="5143320" cy="1999800"/>
            <a:chOff x="6286680" y="1428840"/>
            <a:chExt cx="5143320" cy="1999800"/>
          </a:xfrm>
        </p:grpSpPr>
        <p:sp>
          <p:nvSpPr>
            <p:cNvPr id="685" name="Google Shape;782;p34"/>
            <p:cNvSpPr/>
            <p:nvPr/>
          </p:nvSpPr>
          <p:spPr>
            <a:xfrm>
              <a:off x="6286680" y="1428840"/>
              <a:ext cx="5143320" cy="1999800"/>
            </a:xfrm>
            <a:prstGeom prst="roundRect">
              <a:avLst>
                <a:gd name="adj" fmla="val 5714"/>
              </a:avLst>
            </a:prstGeom>
            <a:solidFill>
              <a:srgbClr val="ffffff"/>
            </a:solidFill>
            <a:ln w="14300">
              <a:solidFill>
                <a:srgbClr val="e2e8f0"/>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686" name="Google Shape;783;p34"/>
            <p:cNvSpPr/>
            <p:nvPr/>
          </p:nvSpPr>
          <p:spPr>
            <a:xfrm>
              <a:off x="6286680" y="1428840"/>
              <a:ext cx="5143320" cy="56880"/>
            </a:xfrm>
            <a:prstGeom prst="roundRect">
              <a:avLst>
                <a:gd name="adj" fmla="val 50000"/>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687" name="Google Shape;784;p34"/>
            <p:cNvSpPr/>
            <p:nvPr/>
          </p:nvSpPr>
          <p:spPr>
            <a:xfrm>
              <a:off x="6524640" y="1666800"/>
              <a:ext cx="857160" cy="247320"/>
            </a:xfrm>
            <a:prstGeom prst="roundRect">
              <a:avLst>
                <a:gd name="adj" fmla="val 23076"/>
              </a:avLst>
            </a:prstGeom>
            <a:solidFill>
              <a:srgbClr val="d4a017">
                <a:alpha val="12000"/>
              </a:srgbClr>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688" name="Google Shape;785;p34"/>
            <p:cNvSpPr/>
            <p:nvPr/>
          </p:nvSpPr>
          <p:spPr>
            <a:xfrm>
              <a:off x="6524640" y="1666800"/>
              <a:ext cx="857160" cy="247320"/>
            </a:xfrm>
            <a:prstGeom prst="rect">
              <a:avLst/>
            </a:prstGeom>
            <a:noFill/>
            <a:ln w="0">
              <a:noFill/>
            </a:ln>
          </p:spPr>
          <p:style>
            <a:lnRef idx="0"/>
            <a:fillRef idx="0"/>
            <a:effectRef idx="0"/>
            <a:fontRef idx="minor"/>
          </p:style>
          <p:txBody>
            <a:bodyPr lIns="0" rIns="0" tIns="0" bIns="0" anchor="ctr">
              <a:noAutofit/>
            </a:bodyPr>
            <a:p>
              <a:pPr algn="ctr">
                <a:lnSpc>
                  <a:spcPct val="100000"/>
                </a:lnSpc>
                <a:tabLst>
                  <a:tab algn="l" pos="0"/>
                </a:tabLst>
              </a:pPr>
              <a:r>
                <a:rPr b="1" lang="en" sz="950" spc="-1" strike="noStrike">
                  <a:solidFill>
                    <a:srgbClr val="d4a017"/>
                  </a:solidFill>
                  <a:latin typeface="Inter"/>
                  <a:ea typeface="Inter"/>
                </a:rPr>
                <a:t>STAGE 02</a:t>
              </a:r>
              <a:endParaRPr b="0" lang="en-US" sz="950" spc="-1" strike="noStrike">
                <a:solidFill>
                  <a:srgbClr val="000000"/>
                </a:solidFill>
                <a:latin typeface="Arial"/>
              </a:endParaRPr>
            </a:p>
          </p:txBody>
        </p:sp>
        <p:sp>
          <p:nvSpPr>
            <p:cNvPr id="689" name="Google Shape;786;p34"/>
            <p:cNvSpPr/>
            <p:nvPr/>
          </p:nvSpPr>
          <p:spPr>
            <a:xfrm>
              <a:off x="6524640" y="2048040"/>
              <a:ext cx="4667040" cy="33300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 sz="1650" spc="-1" strike="noStrike">
                  <a:solidFill>
                    <a:srgbClr val="045a36"/>
                  </a:solidFill>
                  <a:latin typeface="Montserrat"/>
                  <a:ea typeface="Montserrat"/>
                </a:rPr>
                <a:t>Create Email</a:t>
              </a:r>
              <a:endParaRPr b="0" lang="en-US" sz="1650" spc="-1" strike="noStrike">
                <a:solidFill>
                  <a:srgbClr val="000000"/>
                </a:solidFill>
                <a:latin typeface="Arial"/>
              </a:endParaRPr>
            </a:p>
          </p:txBody>
        </p:sp>
        <p:sp>
          <p:nvSpPr>
            <p:cNvPr id="690" name="Google Shape;787;p34"/>
            <p:cNvSpPr/>
            <p:nvPr/>
          </p:nvSpPr>
          <p:spPr>
            <a:xfrm>
              <a:off x="6524640" y="2476440"/>
              <a:ext cx="4667040" cy="80928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250" spc="-1" strike="noStrike">
                  <a:solidFill>
                    <a:srgbClr val="374151"/>
                  </a:solidFill>
                  <a:latin typeface="Inter"/>
                  <a:ea typeface="Inter"/>
                </a:rPr>
                <a:t>Instantiating the object, utilizing </a:t>
              </a:r>
              <a:r>
                <a:rPr b="0" lang="en" sz="1250" spc="-1" strike="noStrike">
                  <a:solidFill>
                    <a:srgbClr val="045a36"/>
                  </a:solidFill>
                  <a:latin typeface="Inter SemiBold"/>
                  <a:ea typeface="Inter SemiBold"/>
                </a:rPr>
                <a:t>dictionary syntax</a:t>
              </a:r>
              <a:r>
                <a:rPr b="0" lang="en" sz="1250" spc="-1" strike="noStrike">
                  <a:solidFill>
                    <a:srgbClr val="374151"/>
                  </a:solidFill>
                  <a:latin typeface="Inter"/>
                  <a:ea typeface="Inter"/>
                </a:rPr>
                <a:t> for headers, and setting the body content.</a:t>
              </a:r>
              <a:endParaRPr b="0" lang="en-US" sz="1250" spc="-1" strike="noStrike">
                <a:solidFill>
                  <a:srgbClr val="000000"/>
                </a:solidFill>
                <a:latin typeface="Arial"/>
              </a:endParaRPr>
            </a:p>
          </p:txBody>
        </p:sp>
      </p:grpSp>
      <p:grpSp>
        <p:nvGrpSpPr>
          <p:cNvPr id="691" name="Google Shape;788;p34"/>
          <p:cNvGrpSpPr/>
          <p:nvPr/>
        </p:nvGrpSpPr>
        <p:grpSpPr>
          <a:xfrm>
            <a:off x="762120" y="3714840"/>
            <a:ext cx="5143320" cy="1999800"/>
            <a:chOff x="762120" y="3714840"/>
            <a:chExt cx="5143320" cy="1999800"/>
          </a:xfrm>
        </p:grpSpPr>
        <p:sp>
          <p:nvSpPr>
            <p:cNvPr id="692" name="Google Shape;789;p34"/>
            <p:cNvSpPr/>
            <p:nvPr/>
          </p:nvSpPr>
          <p:spPr>
            <a:xfrm>
              <a:off x="762120" y="3714840"/>
              <a:ext cx="5143320" cy="1999800"/>
            </a:xfrm>
            <a:prstGeom prst="roundRect">
              <a:avLst>
                <a:gd name="adj" fmla="val 5714"/>
              </a:avLst>
            </a:prstGeom>
            <a:solidFill>
              <a:srgbClr val="ffffff"/>
            </a:solidFill>
            <a:ln w="14300">
              <a:solidFill>
                <a:srgbClr val="e2e8f0"/>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693" name="Google Shape;790;p34"/>
            <p:cNvSpPr/>
            <p:nvPr/>
          </p:nvSpPr>
          <p:spPr>
            <a:xfrm>
              <a:off x="762120" y="3714840"/>
              <a:ext cx="5143320" cy="56880"/>
            </a:xfrm>
            <a:prstGeom prst="roundRect">
              <a:avLst>
                <a:gd name="adj" fmla="val 50000"/>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694" name="Google Shape;791;p34"/>
            <p:cNvSpPr/>
            <p:nvPr/>
          </p:nvSpPr>
          <p:spPr>
            <a:xfrm>
              <a:off x="1000080" y="3952800"/>
              <a:ext cx="857160" cy="247320"/>
            </a:xfrm>
            <a:prstGeom prst="roundRect">
              <a:avLst>
                <a:gd name="adj" fmla="val 23076"/>
              </a:avLst>
            </a:prstGeom>
            <a:solidFill>
              <a:srgbClr val="d4a017">
                <a:alpha val="12000"/>
              </a:srgbClr>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695" name="Google Shape;792;p34"/>
            <p:cNvSpPr/>
            <p:nvPr/>
          </p:nvSpPr>
          <p:spPr>
            <a:xfrm>
              <a:off x="1000080" y="3952800"/>
              <a:ext cx="857160" cy="247320"/>
            </a:xfrm>
            <a:prstGeom prst="rect">
              <a:avLst/>
            </a:prstGeom>
            <a:noFill/>
            <a:ln w="0">
              <a:noFill/>
            </a:ln>
          </p:spPr>
          <p:style>
            <a:lnRef idx="0"/>
            <a:fillRef idx="0"/>
            <a:effectRef idx="0"/>
            <a:fontRef idx="minor"/>
          </p:style>
          <p:txBody>
            <a:bodyPr lIns="0" rIns="0" tIns="0" bIns="0" anchor="ctr">
              <a:noAutofit/>
            </a:bodyPr>
            <a:p>
              <a:pPr algn="ctr">
                <a:lnSpc>
                  <a:spcPct val="100000"/>
                </a:lnSpc>
                <a:tabLst>
                  <a:tab algn="l" pos="0"/>
                </a:tabLst>
              </a:pPr>
              <a:r>
                <a:rPr b="1" lang="en" sz="950" spc="-1" strike="noStrike">
                  <a:solidFill>
                    <a:srgbClr val="d4a017"/>
                  </a:solidFill>
                  <a:latin typeface="Inter"/>
                  <a:ea typeface="Inter"/>
                </a:rPr>
                <a:t>STAGE 03</a:t>
              </a:r>
              <a:endParaRPr b="0" lang="en-US" sz="950" spc="-1" strike="noStrike">
                <a:solidFill>
                  <a:srgbClr val="000000"/>
                </a:solidFill>
                <a:latin typeface="Arial"/>
              </a:endParaRPr>
            </a:p>
          </p:txBody>
        </p:sp>
        <p:sp>
          <p:nvSpPr>
            <p:cNvPr id="696" name="Google Shape;793;p34"/>
            <p:cNvSpPr/>
            <p:nvPr/>
          </p:nvSpPr>
          <p:spPr>
            <a:xfrm>
              <a:off x="1000080" y="4334040"/>
              <a:ext cx="4667040" cy="33300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 sz="1650" spc="-1" strike="noStrike">
                  <a:solidFill>
                    <a:srgbClr val="045a36"/>
                  </a:solidFill>
                  <a:latin typeface="Montserrat"/>
                  <a:ea typeface="Montserrat"/>
                </a:rPr>
                <a:t>Connect &amp; Login</a:t>
              </a:r>
              <a:endParaRPr b="0" lang="en-US" sz="1650" spc="-1" strike="noStrike">
                <a:solidFill>
                  <a:srgbClr val="000000"/>
                </a:solidFill>
                <a:latin typeface="Arial"/>
              </a:endParaRPr>
            </a:p>
          </p:txBody>
        </p:sp>
        <p:sp>
          <p:nvSpPr>
            <p:cNvPr id="697" name="Google Shape;794;p34"/>
            <p:cNvSpPr/>
            <p:nvPr/>
          </p:nvSpPr>
          <p:spPr>
            <a:xfrm>
              <a:off x="1000080" y="4762440"/>
              <a:ext cx="4667040" cy="80928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250" spc="-1" strike="noStrike">
                  <a:solidFill>
                    <a:srgbClr val="374151"/>
                  </a:solidFill>
                  <a:latin typeface="Inter"/>
                  <a:ea typeface="Inter"/>
                </a:rPr>
                <a:t>Establishing a secure </a:t>
              </a:r>
              <a:r>
                <a:rPr b="0" lang="en" sz="1250" spc="-1" strike="noStrike">
                  <a:solidFill>
                    <a:srgbClr val="045a36"/>
                  </a:solidFill>
                  <a:latin typeface="Inter SemiBold"/>
                  <a:ea typeface="Inter SemiBold"/>
                </a:rPr>
                <a:t>SSL context</a:t>
              </a:r>
              <a:r>
                <a:rPr b="0" lang="en" sz="1250" spc="-1" strike="noStrike">
                  <a:solidFill>
                    <a:srgbClr val="374151"/>
                  </a:solidFill>
                  <a:latin typeface="Inter"/>
                  <a:ea typeface="Inter"/>
                </a:rPr>
                <a:t>, opening the connection to the SMTP server, and authenticating credentials.</a:t>
              </a:r>
              <a:endParaRPr b="0" lang="en-US" sz="1250" spc="-1" strike="noStrike">
                <a:solidFill>
                  <a:srgbClr val="000000"/>
                </a:solidFill>
                <a:latin typeface="Arial"/>
              </a:endParaRPr>
            </a:p>
          </p:txBody>
        </p:sp>
      </p:grpSp>
      <p:grpSp>
        <p:nvGrpSpPr>
          <p:cNvPr id="698" name="Google Shape;795;p34"/>
          <p:cNvGrpSpPr/>
          <p:nvPr/>
        </p:nvGrpSpPr>
        <p:grpSpPr>
          <a:xfrm>
            <a:off x="6286680" y="3714840"/>
            <a:ext cx="5143320" cy="1999800"/>
            <a:chOff x="6286680" y="3714840"/>
            <a:chExt cx="5143320" cy="1999800"/>
          </a:xfrm>
        </p:grpSpPr>
        <p:sp>
          <p:nvSpPr>
            <p:cNvPr id="699" name="Google Shape;796;p34"/>
            <p:cNvSpPr/>
            <p:nvPr/>
          </p:nvSpPr>
          <p:spPr>
            <a:xfrm>
              <a:off x="6286680" y="3714840"/>
              <a:ext cx="5143320" cy="1999800"/>
            </a:xfrm>
            <a:prstGeom prst="roundRect">
              <a:avLst>
                <a:gd name="adj" fmla="val 5714"/>
              </a:avLst>
            </a:prstGeom>
            <a:solidFill>
              <a:srgbClr val="ffffff"/>
            </a:solidFill>
            <a:ln w="14300">
              <a:solidFill>
                <a:srgbClr val="e2e8f0"/>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700" name="Google Shape;797;p34"/>
            <p:cNvSpPr/>
            <p:nvPr/>
          </p:nvSpPr>
          <p:spPr>
            <a:xfrm>
              <a:off x="6286680" y="3714840"/>
              <a:ext cx="5143320" cy="56880"/>
            </a:xfrm>
            <a:prstGeom prst="roundRect">
              <a:avLst>
                <a:gd name="adj" fmla="val 50000"/>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701" name="Google Shape;798;p34"/>
            <p:cNvSpPr/>
            <p:nvPr/>
          </p:nvSpPr>
          <p:spPr>
            <a:xfrm>
              <a:off x="6524640" y="3952800"/>
              <a:ext cx="857160" cy="247320"/>
            </a:xfrm>
            <a:prstGeom prst="roundRect">
              <a:avLst>
                <a:gd name="adj" fmla="val 23076"/>
              </a:avLst>
            </a:prstGeom>
            <a:solidFill>
              <a:srgbClr val="d4a017">
                <a:alpha val="12000"/>
              </a:srgbClr>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702" name="Google Shape;799;p34"/>
            <p:cNvSpPr/>
            <p:nvPr/>
          </p:nvSpPr>
          <p:spPr>
            <a:xfrm>
              <a:off x="6524640" y="3952800"/>
              <a:ext cx="857160" cy="247320"/>
            </a:xfrm>
            <a:prstGeom prst="rect">
              <a:avLst/>
            </a:prstGeom>
            <a:noFill/>
            <a:ln w="0">
              <a:noFill/>
            </a:ln>
          </p:spPr>
          <p:style>
            <a:lnRef idx="0"/>
            <a:fillRef idx="0"/>
            <a:effectRef idx="0"/>
            <a:fontRef idx="minor"/>
          </p:style>
          <p:txBody>
            <a:bodyPr lIns="0" rIns="0" tIns="0" bIns="0" anchor="ctr">
              <a:noAutofit/>
            </a:bodyPr>
            <a:p>
              <a:pPr algn="ctr">
                <a:lnSpc>
                  <a:spcPct val="100000"/>
                </a:lnSpc>
                <a:tabLst>
                  <a:tab algn="l" pos="0"/>
                </a:tabLst>
              </a:pPr>
              <a:r>
                <a:rPr b="1" lang="en" sz="950" spc="-1" strike="noStrike">
                  <a:solidFill>
                    <a:srgbClr val="d4a017"/>
                  </a:solidFill>
                  <a:latin typeface="Inter"/>
                  <a:ea typeface="Inter"/>
                </a:rPr>
                <a:t>STAGE 04</a:t>
              </a:r>
              <a:endParaRPr b="0" lang="en-US" sz="950" spc="-1" strike="noStrike">
                <a:solidFill>
                  <a:srgbClr val="000000"/>
                </a:solidFill>
                <a:latin typeface="Arial"/>
              </a:endParaRPr>
            </a:p>
          </p:txBody>
        </p:sp>
        <p:sp>
          <p:nvSpPr>
            <p:cNvPr id="703" name="Google Shape;800;p34"/>
            <p:cNvSpPr/>
            <p:nvPr/>
          </p:nvSpPr>
          <p:spPr>
            <a:xfrm>
              <a:off x="6524640" y="4334040"/>
              <a:ext cx="4667040" cy="33300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1" lang="en" sz="1650" spc="-1" strike="noStrike">
                  <a:solidFill>
                    <a:srgbClr val="045a36"/>
                  </a:solidFill>
                  <a:latin typeface="Montserrat"/>
                  <a:ea typeface="Montserrat"/>
                </a:rPr>
                <a:t>Send Email</a:t>
              </a:r>
              <a:endParaRPr b="0" lang="en-US" sz="1650" spc="-1" strike="noStrike">
                <a:solidFill>
                  <a:srgbClr val="000000"/>
                </a:solidFill>
                <a:latin typeface="Arial"/>
              </a:endParaRPr>
            </a:p>
          </p:txBody>
        </p:sp>
        <p:sp>
          <p:nvSpPr>
            <p:cNvPr id="704" name="Google Shape;801;p34"/>
            <p:cNvSpPr/>
            <p:nvPr/>
          </p:nvSpPr>
          <p:spPr>
            <a:xfrm>
              <a:off x="6524640" y="4762440"/>
              <a:ext cx="4667040" cy="80928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250" spc="-1" strike="noStrike">
                  <a:solidFill>
                    <a:srgbClr val="374151"/>
                  </a:solidFill>
                  <a:latin typeface="Inter"/>
                  <a:ea typeface="Inter"/>
                </a:rPr>
                <a:t>Transmitting the constructed payload via </a:t>
              </a:r>
              <a:r>
                <a:rPr b="0" lang="en" sz="1250" spc="-1" strike="noStrike">
                  <a:solidFill>
                    <a:srgbClr val="045a36"/>
                  </a:solidFill>
                  <a:latin typeface="Inter SemiBold"/>
                  <a:ea typeface="Inter SemiBold"/>
                </a:rPr>
                <a:t>send_message()</a:t>
              </a:r>
              <a:r>
                <a:rPr b="0" lang="en" sz="1250" spc="-1" strike="noStrike">
                  <a:solidFill>
                    <a:srgbClr val="374151"/>
                  </a:solidFill>
                  <a:latin typeface="Inter"/>
                  <a:ea typeface="Inter"/>
                </a:rPr>
                <a:t> and allowing the context manager to close the connection.</a:t>
              </a:r>
              <a:endParaRPr b="0" lang="en-US" sz="1250" spc="-1" strike="noStrike">
                <a:solidFill>
                  <a:srgbClr val="000000"/>
                </a:solidFill>
                <a:latin typeface="Arial"/>
              </a:endParaRPr>
            </a:p>
          </p:txBody>
        </p:sp>
      </p:grpSp>
      <p:pic>
        <p:nvPicPr>
          <p:cNvPr id="705" name="Google Shape;802;p34" descr=""/>
          <p:cNvPicPr/>
          <p:nvPr/>
        </p:nvPicPr>
        <p:blipFill>
          <a:blip r:embed="rId3"/>
          <a:stretch/>
        </p:blipFill>
        <p:spPr>
          <a:xfrm>
            <a:off x="762120" y="5981760"/>
            <a:ext cx="10667520" cy="304560"/>
          </a:xfrm>
          <a:prstGeom prst="rect">
            <a:avLst/>
          </a:prstGeom>
          <a:ln w="0">
            <a:noFill/>
          </a:ln>
        </p:spPr>
      </p:pic>
      <p:sp>
        <p:nvSpPr>
          <p:cNvPr id="706" name="Google Shape;803;p34"/>
          <p:cNvSpPr/>
          <p:nvPr/>
        </p:nvSpPr>
        <p:spPr>
          <a:xfrm>
            <a:off x="762120" y="6134040"/>
            <a:ext cx="4762080" cy="19008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 sz="980" spc="-1" strike="noStrike">
                <a:solidFill>
                  <a:srgbClr val="6b7280"/>
                </a:solidFill>
                <a:latin typeface="Inter"/>
                <a:ea typeface="Inter"/>
              </a:rPr>
              <a:t>Introduction to Email Automation &amp; SMTP | Python Basics</a:t>
            </a:r>
            <a:endParaRPr b="0" lang="en-US" sz="980" spc="-1" strike="noStrike">
              <a:solidFill>
                <a:srgbClr val="000000"/>
              </a:solidFill>
              <a:latin typeface="Arial"/>
            </a:endParaRPr>
          </a:p>
        </p:txBody>
      </p:sp>
      <p:pic>
        <p:nvPicPr>
          <p:cNvPr id="707" name="Google Shape;804;p34" descr=""/>
          <p:cNvPicPr/>
          <p:nvPr/>
        </p:nvPicPr>
        <p:blipFill>
          <a:blip r:embed="rId4"/>
          <a:stretch/>
        </p:blipFill>
        <p:spPr>
          <a:xfrm>
            <a:off x="10287000" y="5457960"/>
            <a:ext cx="1523520" cy="1019160"/>
          </a:xfrm>
          <a:prstGeom prst="rect">
            <a:avLst/>
          </a:prstGeom>
          <a:ln w="0">
            <a:noFill/>
          </a:ln>
        </p:spPr>
      </p:pic>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pic>
        <p:nvPicPr>
          <p:cNvPr id="708" name="Google Shape;809;p35" descr=""/>
          <p:cNvPicPr/>
          <p:nvPr/>
        </p:nvPicPr>
        <p:blipFill>
          <a:blip r:embed="rId2"/>
          <a:srcRect l="129" t="0" r="129" b="0"/>
          <a:stretch/>
        </p:blipFill>
        <p:spPr>
          <a:xfrm>
            <a:off x="0" y="0"/>
            <a:ext cx="12191760" cy="56880"/>
          </a:xfrm>
          <a:prstGeom prst="rect">
            <a:avLst/>
          </a:prstGeom>
          <a:ln w="0">
            <a:noFill/>
          </a:ln>
        </p:spPr>
      </p:pic>
      <p:sp>
        <p:nvSpPr>
          <p:cNvPr id="709" name="Google Shape;810;p35"/>
          <p:cNvSpPr/>
          <p:nvPr/>
        </p:nvSpPr>
        <p:spPr>
          <a:xfrm>
            <a:off x="762120" y="571680"/>
            <a:ext cx="9524520" cy="4759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2700" spc="-1" strike="noStrike">
                <a:solidFill>
                  <a:srgbClr val="045a36"/>
                </a:solidFill>
                <a:latin typeface="Montserrat SemiBold"/>
                <a:ea typeface="Montserrat SemiBold"/>
              </a:rPr>
              <a:t>Try-Except Blocks Prevent Crashes</a:t>
            </a:r>
            <a:endParaRPr b="0" lang="en-US" sz="2700" spc="-1" strike="noStrike">
              <a:solidFill>
                <a:srgbClr val="000000"/>
              </a:solidFill>
              <a:latin typeface="Arial"/>
            </a:endParaRPr>
          </a:p>
        </p:txBody>
      </p:sp>
      <p:sp>
        <p:nvSpPr>
          <p:cNvPr id="710" name="Google Shape;811;p35"/>
          <p:cNvSpPr/>
          <p:nvPr/>
        </p:nvSpPr>
        <p:spPr>
          <a:xfrm>
            <a:off x="762120" y="1123920"/>
            <a:ext cx="10667520" cy="18720"/>
          </a:xfrm>
          <a:prstGeom prst="rect">
            <a:avLst/>
          </a:prstGeom>
          <a:solidFill>
            <a:srgbClr val="e2e8f0"/>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711" name="Google Shape;812;p35"/>
          <p:cNvSpPr/>
          <p:nvPr/>
        </p:nvSpPr>
        <p:spPr>
          <a:xfrm>
            <a:off x="6086520" y="1523880"/>
            <a:ext cx="18720" cy="4000320"/>
          </a:xfrm>
          <a:prstGeom prst="rect">
            <a:avLst/>
          </a:prstGeom>
          <a:solidFill>
            <a:srgbClr val="d4a017"/>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grpSp>
        <p:nvGrpSpPr>
          <p:cNvPr id="712" name="Google Shape;813;p35"/>
          <p:cNvGrpSpPr/>
          <p:nvPr/>
        </p:nvGrpSpPr>
        <p:grpSpPr>
          <a:xfrm>
            <a:off x="762120" y="1523880"/>
            <a:ext cx="4952520" cy="3809880"/>
            <a:chOff x="762120" y="1523880"/>
            <a:chExt cx="4952520" cy="3809880"/>
          </a:xfrm>
        </p:grpSpPr>
        <p:sp>
          <p:nvSpPr>
            <p:cNvPr id="713" name="Google Shape;814;p35"/>
            <p:cNvSpPr/>
            <p:nvPr/>
          </p:nvSpPr>
          <p:spPr>
            <a:xfrm>
              <a:off x="762120" y="1523880"/>
              <a:ext cx="4952520" cy="3805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650" spc="-1" strike="noStrike">
                  <a:solidFill>
                    <a:srgbClr val="045a36"/>
                  </a:solidFill>
                  <a:latin typeface="Montserrat"/>
                  <a:ea typeface="Montserrat"/>
                </a:rPr>
                <a:t>Python Try-Except Structure</a:t>
              </a:r>
              <a:endParaRPr b="0" lang="en-US" sz="1650" spc="-1" strike="noStrike">
                <a:solidFill>
                  <a:srgbClr val="000000"/>
                </a:solidFill>
                <a:latin typeface="Arial"/>
              </a:endParaRPr>
            </a:p>
          </p:txBody>
        </p:sp>
        <p:sp>
          <p:nvSpPr>
            <p:cNvPr id="714" name="Google Shape;815;p35"/>
            <p:cNvSpPr/>
            <p:nvPr/>
          </p:nvSpPr>
          <p:spPr>
            <a:xfrm>
              <a:off x="762120" y="2000160"/>
              <a:ext cx="4952520" cy="1714320"/>
            </a:xfrm>
            <a:prstGeom prst="roundRect">
              <a:avLst>
                <a:gd name="adj" fmla="val 6666"/>
              </a:avLst>
            </a:prstGeom>
            <a:solidFill>
              <a:srgbClr val="f1f5f9"/>
            </a:solidFill>
            <a:ln w="9525">
              <a:solidFill>
                <a:srgbClr val="e2e8f0"/>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715" name="Google Shape;816;p35"/>
            <p:cNvSpPr/>
            <p:nvPr/>
          </p:nvSpPr>
          <p:spPr>
            <a:xfrm>
              <a:off x="762120" y="2000160"/>
              <a:ext cx="4952520" cy="1714320"/>
            </a:xfrm>
            <a:prstGeom prst="rect">
              <a:avLst/>
            </a:prstGeom>
            <a:noFill/>
            <a:ln w="0">
              <a:noFill/>
            </a:ln>
          </p:spPr>
          <p:style>
            <a:lnRef idx="0"/>
            <a:fillRef idx="0"/>
            <a:effectRef idx="0"/>
            <a:fontRef idx="minor"/>
          </p:style>
          <p:txBody>
            <a:bodyPr lIns="190440" rIns="190440" tIns="190440" bIns="190440" anchor="ctr">
              <a:noAutofit/>
            </a:bodyPr>
            <a:p>
              <a:pPr>
                <a:lnSpc>
                  <a:spcPct val="100000"/>
                </a:lnSpc>
                <a:tabLst>
                  <a:tab algn="l" pos="0"/>
                </a:tabLst>
              </a:pPr>
              <a:r>
                <a:rPr b="1" lang="en" sz="1250" spc="-1" strike="noStrike">
                  <a:solidFill>
                    <a:srgbClr val="045a36"/>
                  </a:solidFill>
                  <a:latin typeface="Courier New"/>
                  <a:ea typeface="Courier New"/>
                </a:rPr>
                <a:t>try</a:t>
              </a:r>
              <a:r>
                <a:rPr b="1" lang="en" sz="1250" spc="-1" strike="noStrike">
                  <a:solidFill>
                    <a:srgbClr val="1f2937"/>
                  </a:solidFill>
                  <a:latin typeface="Courier New"/>
                  <a:ea typeface="Courier New"/>
                </a:rPr>
                <a:t>:</a:t>
              </a:r>
              <a:endParaRPr b="0" lang="en-US" sz="1250" spc="-1" strike="noStrike">
                <a:solidFill>
                  <a:srgbClr val="000000"/>
                </a:solidFill>
                <a:latin typeface="Arial"/>
              </a:endParaRPr>
            </a:p>
            <a:p>
              <a:pPr>
                <a:lnSpc>
                  <a:spcPct val="100000"/>
                </a:lnSpc>
                <a:spcBef>
                  <a:spcPts val="601"/>
                </a:spcBef>
                <a:tabLst>
                  <a:tab algn="l" pos="0"/>
                </a:tabLst>
              </a:pPr>
              <a:r>
                <a:rPr b="0" i="1" lang="en" sz="1250" spc="-1" strike="noStrike">
                  <a:solidFill>
                    <a:srgbClr val="6b7280"/>
                  </a:solidFill>
                  <a:latin typeface="Courier New"/>
                  <a:ea typeface="Courier New"/>
                </a:rPr>
                <a:t># email execution code</a:t>
              </a:r>
              <a:endParaRPr b="0" lang="en-US" sz="1250" spc="-1" strike="noStrike">
                <a:solidFill>
                  <a:srgbClr val="000000"/>
                </a:solidFill>
                <a:latin typeface="Arial"/>
              </a:endParaRPr>
            </a:p>
            <a:p>
              <a:pPr>
                <a:lnSpc>
                  <a:spcPct val="100000"/>
                </a:lnSpc>
                <a:spcBef>
                  <a:spcPts val="601"/>
                </a:spcBef>
                <a:tabLst>
                  <a:tab algn="l" pos="0"/>
                </a:tabLst>
              </a:pPr>
              <a:r>
                <a:rPr b="1" lang="en" sz="1250" spc="-1" strike="noStrike">
                  <a:solidFill>
                    <a:srgbClr val="045a36"/>
                  </a:solidFill>
                  <a:latin typeface="Courier New"/>
                  <a:ea typeface="Courier New"/>
                </a:rPr>
                <a:t>print</a:t>
              </a:r>
              <a:r>
                <a:rPr b="1" lang="en" sz="1250" spc="-1" strike="noStrike">
                  <a:solidFill>
                    <a:srgbClr val="1f2937"/>
                  </a:solidFill>
                  <a:latin typeface="Courier New"/>
                  <a:ea typeface="Courier New"/>
                </a:rPr>
                <a:t>(</a:t>
              </a:r>
              <a:r>
                <a:rPr b="1" lang="en" sz="1250" spc="-1" strike="noStrike">
                  <a:solidFill>
                    <a:srgbClr val="d4a017"/>
                  </a:solidFill>
                  <a:latin typeface="Courier New"/>
                  <a:ea typeface="Courier New"/>
                </a:rPr>
                <a:t>"Email sent!"</a:t>
              </a:r>
              <a:r>
                <a:rPr b="1" lang="en" sz="1250" spc="-1" strike="noStrike">
                  <a:solidFill>
                    <a:srgbClr val="1f2937"/>
                  </a:solidFill>
                  <a:latin typeface="Courier New"/>
                  <a:ea typeface="Courier New"/>
                </a:rPr>
                <a:t>)</a:t>
              </a:r>
              <a:endParaRPr b="0" lang="en-US" sz="1250" spc="-1" strike="noStrike">
                <a:solidFill>
                  <a:srgbClr val="000000"/>
                </a:solidFill>
                <a:latin typeface="Arial"/>
              </a:endParaRPr>
            </a:p>
            <a:p>
              <a:pPr>
                <a:lnSpc>
                  <a:spcPct val="100000"/>
                </a:lnSpc>
                <a:spcBef>
                  <a:spcPts val="601"/>
                </a:spcBef>
                <a:tabLst>
                  <a:tab algn="l" pos="0"/>
                </a:tabLst>
              </a:pPr>
              <a:r>
                <a:rPr b="1" lang="en" sz="1250" spc="-1" strike="noStrike">
                  <a:solidFill>
                    <a:srgbClr val="045a36"/>
                  </a:solidFill>
                  <a:latin typeface="Courier New"/>
                  <a:ea typeface="Courier New"/>
                </a:rPr>
                <a:t>except</a:t>
              </a:r>
              <a:r>
                <a:rPr b="1" lang="en" sz="1250" spc="-1" strike="noStrike">
                  <a:solidFill>
                    <a:srgbClr val="1f2937"/>
                  </a:solidFill>
                  <a:latin typeface="Courier New"/>
                  <a:ea typeface="Courier New"/>
                </a:rPr>
                <a:t> </a:t>
              </a:r>
              <a:r>
                <a:rPr b="1" lang="en" sz="1250" spc="-1" strike="noStrike">
                  <a:solidFill>
                    <a:srgbClr val="045a36"/>
                  </a:solidFill>
                  <a:latin typeface="Courier New"/>
                  <a:ea typeface="Courier New"/>
                </a:rPr>
                <a:t>Exception</a:t>
              </a:r>
              <a:r>
                <a:rPr b="1" lang="en" sz="1250" spc="-1" strike="noStrike">
                  <a:solidFill>
                    <a:srgbClr val="1f2937"/>
                  </a:solidFill>
                  <a:latin typeface="Courier New"/>
                  <a:ea typeface="Courier New"/>
                </a:rPr>
                <a:t> </a:t>
              </a:r>
              <a:r>
                <a:rPr b="1" lang="en" sz="1250" spc="-1" strike="noStrike">
                  <a:solidFill>
                    <a:srgbClr val="045a36"/>
                  </a:solidFill>
                  <a:latin typeface="Courier New"/>
                  <a:ea typeface="Courier New"/>
                </a:rPr>
                <a:t>as</a:t>
              </a:r>
              <a:r>
                <a:rPr b="1" lang="en" sz="1250" spc="-1" strike="noStrike">
                  <a:solidFill>
                    <a:srgbClr val="1f2937"/>
                  </a:solidFill>
                  <a:latin typeface="Courier New"/>
                  <a:ea typeface="Courier New"/>
                </a:rPr>
                <a:t> e:</a:t>
              </a:r>
              <a:endParaRPr b="0" lang="en-US" sz="1250" spc="-1" strike="noStrike">
                <a:solidFill>
                  <a:srgbClr val="000000"/>
                </a:solidFill>
                <a:latin typeface="Arial"/>
              </a:endParaRPr>
            </a:p>
            <a:p>
              <a:pPr>
                <a:lnSpc>
                  <a:spcPct val="100000"/>
                </a:lnSpc>
                <a:spcBef>
                  <a:spcPts val="601"/>
                </a:spcBef>
                <a:tabLst>
                  <a:tab algn="l" pos="0"/>
                </a:tabLst>
              </a:pPr>
              <a:r>
                <a:rPr b="1" lang="en" sz="1250" spc="-1" strike="noStrike">
                  <a:solidFill>
                    <a:srgbClr val="045a36"/>
                  </a:solidFill>
                  <a:latin typeface="Courier New"/>
                  <a:ea typeface="Courier New"/>
                </a:rPr>
                <a:t>print</a:t>
              </a:r>
              <a:r>
                <a:rPr b="1" lang="en" sz="1250" spc="-1" strike="noStrike">
                  <a:solidFill>
                    <a:srgbClr val="1f2937"/>
                  </a:solidFill>
                  <a:latin typeface="Courier New"/>
                  <a:ea typeface="Courier New"/>
                </a:rPr>
                <a:t>(</a:t>
              </a:r>
              <a:r>
                <a:rPr b="1" lang="en" sz="1250" spc="-1" strike="noStrike">
                  <a:solidFill>
                    <a:srgbClr val="d4a017"/>
                  </a:solidFill>
                  <a:latin typeface="Courier New"/>
                  <a:ea typeface="Courier New"/>
                </a:rPr>
                <a:t>"Error:"</a:t>
              </a:r>
              <a:r>
                <a:rPr b="1" lang="en" sz="1250" spc="-1" strike="noStrike">
                  <a:solidFill>
                    <a:srgbClr val="1f2937"/>
                  </a:solidFill>
                  <a:latin typeface="Courier New"/>
                  <a:ea typeface="Courier New"/>
                </a:rPr>
                <a:t>, e)</a:t>
              </a:r>
              <a:endParaRPr b="0" lang="en-US" sz="1250" spc="-1" strike="noStrike">
                <a:solidFill>
                  <a:srgbClr val="000000"/>
                </a:solidFill>
                <a:latin typeface="Arial"/>
              </a:endParaRPr>
            </a:p>
          </p:txBody>
        </p:sp>
        <p:sp>
          <p:nvSpPr>
            <p:cNvPr id="716" name="Google Shape;817;p35"/>
            <p:cNvSpPr/>
            <p:nvPr/>
          </p:nvSpPr>
          <p:spPr>
            <a:xfrm>
              <a:off x="762120" y="3905280"/>
              <a:ext cx="4952520" cy="1428480"/>
            </a:xfrm>
            <a:prstGeom prst="rect">
              <a:avLst/>
            </a:prstGeom>
            <a:noFill/>
            <a:ln w="0">
              <a:noFill/>
            </a:ln>
          </p:spPr>
          <p:style>
            <a:lnRef idx="0"/>
            <a:fillRef idx="0"/>
            <a:effectRef idx="0"/>
            <a:fontRef idx="minor"/>
          </p:style>
          <p:txBody>
            <a:bodyPr lIns="0" rIns="0" tIns="0" bIns="0" anchor="t">
              <a:noAutofit/>
            </a:bodyPr>
            <a:p>
              <a:pPr>
                <a:lnSpc>
                  <a:spcPct val="100000"/>
                </a:lnSpc>
                <a:spcAft>
                  <a:spcPts val="901"/>
                </a:spcAft>
                <a:tabLst>
                  <a:tab algn="l" pos="0"/>
                </a:tabLst>
              </a:pPr>
              <a:r>
                <a:rPr b="0" lang="en" sz="1400" spc="-1" strike="noStrike">
                  <a:solidFill>
                    <a:srgbClr val="374151"/>
                  </a:solidFill>
                  <a:latin typeface="Inter"/>
                  <a:ea typeface="Inter"/>
                </a:rPr>
                <a:t>Wrapping execution code in a </a:t>
              </a:r>
              <a:r>
                <a:rPr b="0" lang="en" sz="1400" spc="-1" strike="noStrike">
                  <a:solidFill>
                    <a:srgbClr val="045a36"/>
                  </a:solidFill>
                  <a:latin typeface="Inter SemiBold"/>
                  <a:ea typeface="Inter SemiBold"/>
                </a:rPr>
                <a:t>try</a:t>
              </a:r>
              <a:r>
                <a:rPr b="0" lang="en" sz="1400" spc="-1" strike="noStrike">
                  <a:solidFill>
                    <a:srgbClr val="374151"/>
                  </a:solidFill>
                  <a:latin typeface="Inter"/>
                  <a:ea typeface="Inter"/>
                </a:rPr>
                <a:t> block attempts the operation, while the </a:t>
              </a:r>
              <a:r>
                <a:rPr b="0" lang="en" sz="1400" spc="-1" strike="noStrike">
                  <a:solidFill>
                    <a:srgbClr val="045a36"/>
                  </a:solidFill>
                  <a:latin typeface="Inter SemiBold"/>
                  <a:ea typeface="Inter SemiBold"/>
                </a:rPr>
                <a:t>except</a:t>
              </a:r>
              <a:r>
                <a:rPr b="0" lang="en" sz="1400" spc="-1" strike="noStrike">
                  <a:solidFill>
                    <a:srgbClr val="374151"/>
                  </a:solidFill>
                  <a:latin typeface="Inter"/>
                  <a:ea typeface="Inter"/>
                </a:rPr>
                <a:t> block gracefully catches and prints errors instead of crashing the script.</a:t>
              </a:r>
              <a:endParaRPr b="0" lang="en-US" sz="1400" spc="-1" strike="noStrike">
                <a:solidFill>
                  <a:srgbClr val="000000"/>
                </a:solidFill>
                <a:latin typeface="Arial"/>
              </a:endParaRPr>
            </a:p>
          </p:txBody>
        </p:sp>
      </p:grpSp>
      <p:grpSp>
        <p:nvGrpSpPr>
          <p:cNvPr id="717" name="Google Shape;818;p35"/>
          <p:cNvGrpSpPr/>
          <p:nvPr/>
        </p:nvGrpSpPr>
        <p:grpSpPr>
          <a:xfrm>
            <a:off x="6467400" y="1523880"/>
            <a:ext cx="4952880" cy="3381120"/>
            <a:chOff x="6467400" y="1523880"/>
            <a:chExt cx="4952880" cy="3381120"/>
          </a:xfrm>
        </p:grpSpPr>
        <p:sp>
          <p:nvSpPr>
            <p:cNvPr id="718" name="Google Shape;819;p35"/>
            <p:cNvSpPr/>
            <p:nvPr/>
          </p:nvSpPr>
          <p:spPr>
            <a:xfrm>
              <a:off x="6467400" y="1523880"/>
              <a:ext cx="4952520" cy="3805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650" spc="-1" strike="noStrike">
                  <a:solidFill>
                    <a:srgbClr val="045a36"/>
                  </a:solidFill>
                  <a:latin typeface="Montserrat"/>
                  <a:ea typeface="Montserrat"/>
                </a:rPr>
                <a:t>Common Automation Failures</a:t>
              </a:r>
              <a:endParaRPr b="0" lang="en-US" sz="1650" spc="-1" strike="noStrike">
                <a:solidFill>
                  <a:srgbClr val="000000"/>
                </a:solidFill>
                <a:latin typeface="Arial"/>
              </a:endParaRPr>
            </a:p>
          </p:txBody>
        </p:sp>
        <p:sp>
          <p:nvSpPr>
            <p:cNvPr id="719" name="Google Shape;820;p35"/>
            <p:cNvSpPr/>
            <p:nvPr/>
          </p:nvSpPr>
          <p:spPr>
            <a:xfrm>
              <a:off x="6467400" y="2000160"/>
              <a:ext cx="4952520" cy="5713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400" spc="-1" strike="noStrike">
                  <a:solidFill>
                    <a:srgbClr val="374151"/>
                  </a:solidFill>
                  <a:latin typeface="Inter"/>
                  <a:ea typeface="Inter"/>
                </a:rPr>
                <a:t>Proper exception handling is critical for diagnosing these common beginner errors in network automation:</a:t>
              </a:r>
              <a:endParaRPr b="0" lang="en-US" sz="1400" spc="-1" strike="noStrike">
                <a:solidFill>
                  <a:srgbClr val="000000"/>
                </a:solidFill>
                <a:latin typeface="Arial"/>
              </a:endParaRPr>
            </a:p>
          </p:txBody>
        </p:sp>
        <p:grpSp>
          <p:nvGrpSpPr>
            <p:cNvPr id="720" name="Google Shape;821;p35"/>
            <p:cNvGrpSpPr/>
            <p:nvPr/>
          </p:nvGrpSpPr>
          <p:grpSpPr>
            <a:xfrm>
              <a:off x="6467400" y="2733840"/>
              <a:ext cx="190080" cy="190080"/>
              <a:chOff x="6467400" y="2733840"/>
              <a:chExt cx="190080" cy="190080"/>
            </a:xfrm>
          </p:grpSpPr>
          <p:sp>
            <p:nvSpPr>
              <p:cNvPr id="721" name="Google Shape;822;p35"/>
              <p:cNvSpPr/>
              <p:nvPr/>
            </p:nvSpPr>
            <p:spPr>
              <a:xfrm>
                <a:off x="6467400" y="2733840"/>
                <a:ext cx="190080" cy="19008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722" name="Google Shape;823;p35"/>
              <p:cNvSpPr/>
              <p:nvPr/>
            </p:nvSpPr>
            <p:spPr>
              <a:xfrm>
                <a:off x="6524640" y="2814480"/>
                <a:ext cx="75960" cy="47520"/>
              </a:xfrm>
              <a:custGeom>
                <a:avLst/>
                <a:gdLst>
                  <a:gd name="textAreaLeft" fmla="*/ 0 w 75960"/>
                  <a:gd name="textAreaRight" fmla="*/ 76320 w 75960"/>
                  <a:gd name="textAreaTop" fmla="*/ 0 h 47520"/>
                  <a:gd name="textAreaBottom" fmla="*/ 47880 h 47520"/>
                </a:gdLst>
                <a:ahLst/>
                <a:rect l="textAreaLeft" t="textAreaTop" r="textAreaRight" b="textAreaBottom"/>
                <a:pathLst>
                  <a:path w="120000" h="120000">
                    <a:moveTo>
                      <a:pt x="0" y="48000"/>
                    </a:moveTo>
                    <a:lnTo>
                      <a:pt x="45000"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723" name="Google Shape;824;p35"/>
            <p:cNvSpPr/>
            <p:nvPr/>
          </p:nvSpPr>
          <p:spPr>
            <a:xfrm>
              <a:off x="6800760" y="2714760"/>
              <a:ext cx="4619520" cy="4759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300" spc="-1" strike="noStrike">
                  <a:solidFill>
                    <a:srgbClr val="045a36"/>
                  </a:solidFill>
                  <a:latin typeface="Inter SemiBold"/>
                  <a:ea typeface="Inter SemiBold"/>
                </a:rPr>
                <a:t>Wrong Email Formatting:</a:t>
              </a:r>
              <a:r>
                <a:rPr b="0" lang="en" sz="1300" spc="-1" strike="noStrike">
                  <a:solidFill>
                    <a:srgbClr val="374151"/>
                  </a:solidFill>
                  <a:latin typeface="Inter"/>
                  <a:ea typeface="Inter"/>
                </a:rPr>
                <a:t> Syntax or spelling mistakes in sender or recipient addresses.</a:t>
              </a:r>
              <a:endParaRPr b="0" lang="en-US" sz="1300" spc="-1" strike="noStrike">
                <a:solidFill>
                  <a:srgbClr val="000000"/>
                </a:solidFill>
                <a:latin typeface="Arial"/>
              </a:endParaRPr>
            </a:p>
          </p:txBody>
        </p:sp>
        <p:grpSp>
          <p:nvGrpSpPr>
            <p:cNvPr id="724" name="Google Shape;825;p35"/>
            <p:cNvGrpSpPr/>
            <p:nvPr/>
          </p:nvGrpSpPr>
          <p:grpSpPr>
            <a:xfrm>
              <a:off x="6467400" y="3305160"/>
              <a:ext cx="190080" cy="190080"/>
              <a:chOff x="6467400" y="3305160"/>
              <a:chExt cx="190080" cy="190080"/>
            </a:xfrm>
          </p:grpSpPr>
          <p:sp>
            <p:nvSpPr>
              <p:cNvPr id="725" name="Google Shape;826;p35"/>
              <p:cNvSpPr/>
              <p:nvPr/>
            </p:nvSpPr>
            <p:spPr>
              <a:xfrm>
                <a:off x="6467400" y="3305160"/>
                <a:ext cx="190080" cy="19008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726" name="Google Shape;827;p35"/>
              <p:cNvSpPr/>
              <p:nvPr/>
            </p:nvSpPr>
            <p:spPr>
              <a:xfrm>
                <a:off x="6524640" y="3386160"/>
                <a:ext cx="75960" cy="47520"/>
              </a:xfrm>
              <a:custGeom>
                <a:avLst/>
                <a:gdLst>
                  <a:gd name="textAreaLeft" fmla="*/ 0 w 75960"/>
                  <a:gd name="textAreaRight" fmla="*/ 76320 w 75960"/>
                  <a:gd name="textAreaTop" fmla="*/ 0 h 47520"/>
                  <a:gd name="textAreaBottom" fmla="*/ 47880 h 47520"/>
                </a:gdLst>
                <a:ahLst/>
                <a:rect l="textAreaLeft" t="textAreaTop" r="textAreaRight" b="textAreaBottom"/>
                <a:pathLst>
                  <a:path w="120000" h="120000">
                    <a:moveTo>
                      <a:pt x="0" y="48000"/>
                    </a:moveTo>
                    <a:lnTo>
                      <a:pt x="45000"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727" name="Google Shape;828;p35"/>
            <p:cNvSpPr/>
            <p:nvPr/>
          </p:nvSpPr>
          <p:spPr>
            <a:xfrm>
              <a:off x="6800760" y="3286080"/>
              <a:ext cx="4619520" cy="4759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300" spc="-1" strike="noStrike">
                  <a:solidFill>
                    <a:srgbClr val="045a36"/>
                  </a:solidFill>
                  <a:latin typeface="Inter SemiBold"/>
                  <a:ea typeface="Inter SemiBold"/>
                </a:rPr>
                <a:t>Invalid App Password:</a:t>
              </a:r>
              <a:r>
                <a:rPr b="0" lang="en" sz="1300" spc="-1" strike="noStrike">
                  <a:solidFill>
                    <a:srgbClr val="374151"/>
                  </a:solidFill>
                  <a:latin typeface="Inter"/>
                  <a:ea typeface="Inter"/>
                </a:rPr>
                <a:t> Utilizing standard passwords instead of app-specific credentials.</a:t>
              </a:r>
              <a:endParaRPr b="0" lang="en-US" sz="1300" spc="-1" strike="noStrike">
                <a:solidFill>
                  <a:srgbClr val="000000"/>
                </a:solidFill>
                <a:latin typeface="Arial"/>
              </a:endParaRPr>
            </a:p>
          </p:txBody>
        </p:sp>
        <p:grpSp>
          <p:nvGrpSpPr>
            <p:cNvPr id="728" name="Google Shape;829;p35"/>
            <p:cNvGrpSpPr/>
            <p:nvPr/>
          </p:nvGrpSpPr>
          <p:grpSpPr>
            <a:xfrm>
              <a:off x="6467400" y="3876840"/>
              <a:ext cx="190080" cy="190080"/>
              <a:chOff x="6467400" y="3876840"/>
              <a:chExt cx="190080" cy="190080"/>
            </a:xfrm>
          </p:grpSpPr>
          <p:sp>
            <p:nvSpPr>
              <p:cNvPr id="729" name="Google Shape;830;p35"/>
              <p:cNvSpPr/>
              <p:nvPr/>
            </p:nvSpPr>
            <p:spPr>
              <a:xfrm>
                <a:off x="6467400" y="3876840"/>
                <a:ext cx="190080" cy="19008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730" name="Google Shape;831;p35"/>
              <p:cNvSpPr/>
              <p:nvPr/>
            </p:nvSpPr>
            <p:spPr>
              <a:xfrm>
                <a:off x="6524640" y="3957480"/>
                <a:ext cx="75960" cy="47520"/>
              </a:xfrm>
              <a:custGeom>
                <a:avLst/>
                <a:gdLst>
                  <a:gd name="textAreaLeft" fmla="*/ 0 w 75960"/>
                  <a:gd name="textAreaRight" fmla="*/ 76320 w 75960"/>
                  <a:gd name="textAreaTop" fmla="*/ 0 h 47520"/>
                  <a:gd name="textAreaBottom" fmla="*/ 47880 h 47520"/>
                </a:gdLst>
                <a:ahLst/>
                <a:rect l="textAreaLeft" t="textAreaTop" r="textAreaRight" b="textAreaBottom"/>
                <a:pathLst>
                  <a:path w="120000" h="120000">
                    <a:moveTo>
                      <a:pt x="0" y="48000"/>
                    </a:moveTo>
                    <a:lnTo>
                      <a:pt x="45000"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731" name="Google Shape;832;p35"/>
            <p:cNvSpPr/>
            <p:nvPr/>
          </p:nvSpPr>
          <p:spPr>
            <a:xfrm>
              <a:off x="6800760" y="3857760"/>
              <a:ext cx="4619520" cy="4759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300" spc="-1" strike="noStrike">
                  <a:solidFill>
                    <a:srgbClr val="045a36"/>
                  </a:solidFill>
                  <a:latin typeface="Inter SemiBold"/>
                  <a:ea typeface="Inter SemiBold"/>
                </a:rPr>
                <a:t>SMTP Port Blocking:</a:t>
              </a:r>
              <a:r>
                <a:rPr b="0" lang="en" sz="1300" spc="-1" strike="noStrike">
                  <a:solidFill>
                    <a:srgbClr val="374151"/>
                  </a:solidFill>
                  <a:latin typeface="Inter"/>
                  <a:ea typeface="Inter"/>
                </a:rPr>
                <a:t> Connection failures due to ISPs or firewalls blocking secure ports.</a:t>
              </a:r>
              <a:endParaRPr b="0" lang="en-US" sz="1300" spc="-1" strike="noStrike">
                <a:solidFill>
                  <a:srgbClr val="000000"/>
                </a:solidFill>
                <a:latin typeface="Arial"/>
              </a:endParaRPr>
            </a:p>
          </p:txBody>
        </p:sp>
        <p:grpSp>
          <p:nvGrpSpPr>
            <p:cNvPr id="732" name="Google Shape;833;p35"/>
            <p:cNvGrpSpPr/>
            <p:nvPr/>
          </p:nvGrpSpPr>
          <p:grpSpPr>
            <a:xfrm>
              <a:off x="6467400" y="4448160"/>
              <a:ext cx="190080" cy="190080"/>
              <a:chOff x="6467400" y="4448160"/>
              <a:chExt cx="190080" cy="190080"/>
            </a:xfrm>
          </p:grpSpPr>
          <p:sp>
            <p:nvSpPr>
              <p:cNvPr id="733" name="Google Shape;834;p35"/>
              <p:cNvSpPr/>
              <p:nvPr/>
            </p:nvSpPr>
            <p:spPr>
              <a:xfrm>
                <a:off x="6467400" y="4448160"/>
                <a:ext cx="190080" cy="19008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734" name="Google Shape;835;p35"/>
              <p:cNvSpPr/>
              <p:nvPr/>
            </p:nvSpPr>
            <p:spPr>
              <a:xfrm>
                <a:off x="6524640" y="4529160"/>
                <a:ext cx="75960" cy="47520"/>
              </a:xfrm>
              <a:custGeom>
                <a:avLst/>
                <a:gdLst>
                  <a:gd name="textAreaLeft" fmla="*/ 0 w 75960"/>
                  <a:gd name="textAreaRight" fmla="*/ 76320 w 75960"/>
                  <a:gd name="textAreaTop" fmla="*/ 0 h 47520"/>
                  <a:gd name="textAreaBottom" fmla="*/ 47880 h 47520"/>
                </a:gdLst>
                <a:ahLst/>
                <a:rect l="textAreaLeft" t="textAreaTop" r="textAreaRight" b="textAreaBottom"/>
                <a:pathLst>
                  <a:path w="120000" h="120000">
                    <a:moveTo>
                      <a:pt x="0" y="48000"/>
                    </a:moveTo>
                    <a:lnTo>
                      <a:pt x="45000"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735" name="Google Shape;836;p35"/>
            <p:cNvSpPr/>
            <p:nvPr/>
          </p:nvSpPr>
          <p:spPr>
            <a:xfrm>
              <a:off x="6800760" y="4429080"/>
              <a:ext cx="4619520" cy="4759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1300" spc="-1" strike="noStrike">
                  <a:solidFill>
                    <a:srgbClr val="045a36"/>
                  </a:solidFill>
                  <a:latin typeface="Inter SemiBold"/>
                  <a:ea typeface="Inter SemiBold"/>
                </a:rPr>
                <a:t>Network Connectivity:</a:t>
              </a:r>
              <a:r>
                <a:rPr b="0" lang="en" sz="1300" spc="-1" strike="noStrike">
                  <a:solidFill>
                    <a:srgbClr val="374151"/>
                  </a:solidFill>
                  <a:latin typeface="Inter"/>
                  <a:ea typeface="Inter"/>
                </a:rPr>
                <a:t> General internet dropouts disrupting the mail server handshake.</a:t>
              </a:r>
              <a:endParaRPr b="0" lang="en-US" sz="1300" spc="-1" strike="noStrike">
                <a:solidFill>
                  <a:srgbClr val="000000"/>
                </a:solidFill>
                <a:latin typeface="Arial"/>
              </a:endParaRPr>
            </a:p>
          </p:txBody>
        </p:sp>
      </p:grpSp>
      <p:pic>
        <p:nvPicPr>
          <p:cNvPr id="736" name="Google Shape;837;p35" descr=""/>
          <p:cNvPicPr/>
          <p:nvPr/>
        </p:nvPicPr>
        <p:blipFill>
          <a:blip r:embed="rId3"/>
          <a:stretch/>
        </p:blipFill>
        <p:spPr>
          <a:xfrm>
            <a:off x="762120" y="5981760"/>
            <a:ext cx="10667520" cy="304560"/>
          </a:xfrm>
          <a:prstGeom prst="rect">
            <a:avLst/>
          </a:prstGeom>
          <a:ln w="0">
            <a:noFill/>
          </a:ln>
        </p:spPr>
      </p:pic>
      <p:sp>
        <p:nvSpPr>
          <p:cNvPr id="737" name="Google Shape;838;p35"/>
          <p:cNvSpPr/>
          <p:nvPr/>
        </p:nvSpPr>
        <p:spPr>
          <a:xfrm>
            <a:off x="762120" y="6134040"/>
            <a:ext cx="4762080" cy="19008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980" spc="-1" strike="noStrike">
                <a:solidFill>
                  <a:srgbClr val="6b7280"/>
                </a:solidFill>
                <a:latin typeface="Inter"/>
                <a:ea typeface="Inter"/>
              </a:rPr>
              <a:t>Introduction to Email Automation &amp; SMTP | Python Basics</a:t>
            </a:r>
            <a:endParaRPr b="0" lang="en-US" sz="980" spc="-1" strike="noStrike">
              <a:solidFill>
                <a:srgbClr val="000000"/>
              </a:solidFill>
              <a:latin typeface="Arial"/>
            </a:endParaRPr>
          </a:p>
        </p:txBody>
      </p:sp>
      <p:pic>
        <p:nvPicPr>
          <p:cNvPr id="738" name="Google Shape;839;p35" descr=""/>
          <p:cNvPicPr/>
          <p:nvPr/>
        </p:nvPicPr>
        <p:blipFill>
          <a:blip r:embed="rId4"/>
          <a:stretch/>
        </p:blipFill>
        <p:spPr>
          <a:xfrm>
            <a:off x="10287000" y="5457960"/>
            <a:ext cx="1523520" cy="1019160"/>
          </a:xfrm>
          <a:prstGeom prst="rect">
            <a:avLst/>
          </a:prstGeom>
          <a:ln w="0">
            <a:noFill/>
          </a:ln>
        </p:spPr>
      </p:pic>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pic>
        <p:nvPicPr>
          <p:cNvPr id="739" name="Google Shape;844;p36" descr=""/>
          <p:cNvPicPr/>
          <p:nvPr/>
        </p:nvPicPr>
        <p:blipFill>
          <a:blip r:embed="rId2"/>
          <a:srcRect l="129" t="0" r="129" b="0"/>
          <a:stretch/>
        </p:blipFill>
        <p:spPr>
          <a:xfrm>
            <a:off x="0" y="0"/>
            <a:ext cx="12191760" cy="56880"/>
          </a:xfrm>
          <a:prstGeom prst="rect">
            <a:avLst/>
          </a:prstGeom>
          <a:ln w="0">
            <a:noFill/>
          </a:ln>
        </p:spPr>
      </p:pic>
      <p:sp>
        <p:nvSpPr>
          <p:cNvPr id="740" name="Google Shape;845;p36"/>
          <p:cNvSpPr/>
          <p:nvPr/>
        </p:nvSpPr>
        <p:spPr>
          <a:xfrm>
            <a:off x="762120" y="571680"/>
            <a:ext cx="10667520" cy="42840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2700" spc="-1" strike="noStrike">
                <a:solidFill>
                  <a:srgbClr val="045a36"/>
                </a:solidFill>
                <a:latin typeface="Montserrat SemiBold"/>
                <a:ea typeface="Montserrat SemiBold"/>
              </a:rPr>
              <a:t>Mini Project: Student Email Sender</a:t>
            </a:r>
            <a:endParaRPr b="0" lang="en-US" sz="2700" spc="-1" strike="noStrike">
              <a:solidFill>
                <a:srgbClr val="000000"/>
              </a:solidFill>
              <a:latin typeface="Arial"/>
            </a:endParaRPr>
          </a:p>
        </p:txBody>
      </p:sp>
      <p:sp>
        <p:nvSpPr>
          <p:cNvPr id="741" name="Google Shape;846;p36"/>
          <p:cNvSpPr/>
          <p:nvPr/>
        </p:nvSpPr>
        <p:spPr>
          <a:xfrm>
            <a:off x="762120" y="1123920"/>
            <a:ext cx="10667520" cy="18720"/>
          </a:xfrm>
          <a:prstGeom prst="rect">
            <a:avLst/>
          </a:prstGeom>
          <a:solidFill>
            <a:srgbClr val="e2e8f0"/>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742" name="Google Shape;847;p36"/>
          <p:cNvSpPr/>
          <p:nvPr/>
        </p:nvSpPr>
        <p:spPr>
          <a:xfrm>
            <a:off x="762120" y="1333440"/>
            <a:ext cx="10667520" cy="4759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350" spc="-1" strike="noStrike">
                <a:solidFill>
                  <a:srgbClr val="045a36"/>
                </a:solidFill>
                <a:latin typeface="Inter"/>
                <a:ea typeface="Inter"/>
              </a:rPr>
              <a:t>Objective:</a:t>
            </a:r>
            <a:r>
              <a:rPr b="0" lang="en" sz="1350" spc="-1" strike="noStrike">
                <a:solidFill>
                  <a:srgbClr val="374151"/>
                </a:solidFill>
                <a:latin typeface="Inter"/>
                <a:ea typeface="Inter"/>
              </a:rPr>
              <a:t> Build an interactive script that prompts users for dynamic email details, structures the message payload, and securely transmits it using SMTP protocols.</a:t>
            </a:r>
            <a:endParaRPr b="0" lang="en-US" sz="1350" spc="-1" strike="noStrike">
              <a:solidFill>
                <a:srgbClr val="000000"/>
              </a:solidFill>
              <a:latin typeface="Arial"/>
            </a:endParaRPr>
          </a:p>
        </p:txBody>
      </p:sp>
      <p:grpSp>
        <p:nvGrpSpPr>
          <p:cNvPr id="743" name="Google Shape;848;p36"/>
          <p:cNvGrpSpPr/>
          <p:nvPr/>
        </p:nvGrpSpPr>
        <p:grpSpPr>
          <a:xfrm>
            <a:off x="762120" y="2000160"/>
            <a:ext cx="3295440" cy="3285720"/>
            <a:chOff x="762120" y="2000160"/>
            <a:chExt cx="3295440" cy="3285720"/>
          </a:xfrm>
        </p:grpSpPr>
        <p:sp>
          <p:nvSpPr>
            <p:cNvPr id="744" name="Google Shape;849;p36"/>
            <p:cNvSpPr/>
            <p:nvPr/>
          </p:nvSpPr>
          <p:spPr>
            <a:xfrm>
              <a:off x="762120" y="2000160"/>
              <a:ext cx="3295440" cy="3285720"/>
            </a:xfrm>
            <a:prstGeom prst="roundRect">
              <a:avLst>
                <a:gd name="adj" fmla="val 3478"/>
              </a:avLst>
            </a:prstGeom>
            <a:solidFill>
              <a:srgbClr val="ffffff"/>
            </a:solidFill>
            <a:ln w="9525">
              <a:solidFill>
                <a:srgbClr val="e2e8f0"/>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745" name="Google Shape;850;p36"/>
            <p:cNvSpPr/>
            <p:nvPr/>
          </p:nvSpPr>
          <p:spPr>
            <a:xfrm>
              <a:off x="762120" y="2000160"/>
              <a:ext cx="3295440" cy="75960"/>
            </a:xfrm>
            <a:prstGeom prst="roundRect">
              <a:avLst>
                <a:gd name="adj" fmla="val 50000"/>
              </a:avLst>
            </a:prstGeom>
            <a:solidFill>
              <a:srgbClr val="d4a017"/>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746" name="Google Shape;851;p36"/>
            <p:cNvSpPr/>
            <p:nvPr/>
          </p:nvSpPr>
          <p:spPr>
            <a:xfrm>
              <a:off x="3495600" y="2209680"/>
              <a:ext cx="342720" cy="342720"/>
            </a:xfrm>
            <a:prstGeom prst="ellipse">
              <a:avLst/>
            </a:prstGeom>
            <a:solidFill>
              <a:srgbClr val="d4a017"/>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747" name="Google Shape;852;p36"/>
            <p:cNvSpPr/>
            <p:nvPr/>
          </p:nvSpPr>
          <p:spPr>
            <a:xfrm>
              <a:off x="3495600" y="2209680"/>
              <a:ext cx="342720" cy="342720"/>
            </a:xfrm>
            <a:prstGeom prst="rect">
              <a:avLst/>
            </a:prstGeom>
            <a:noFill/>
            <a:ln w="0">
              <a:noFill/>
            </a:ln>
          </p:spPr>
          <p:style>
            <a:lnRef idx="0"/>
            <a:fillRef idx="0"/>
            <a:effectRef idx="0"/>
            <a:fontRef idx="minor"/>
          </p:style>
          <p:txBody>
            <a:bodyPr lIns="0" rIns="0" tIns="0" bIns="0" anchor="ctr">
              <a:noAutofit/>
            </a:bodyPr>
            <a:p>
              <a:pPr algn="ctr">
                <a:lnSpc>
                  <a:spcPct val="100000"/>
                </a:lnSpc>
                <a:tabLst>
                  <a:tab algn="l" pos="0"/>
                </a:tabLst>
              </a:pPr>
              <a:r>
                <a:rPr b="1" lang="en" sz="1100" spc="-1" strike="noStrike">
                  <a:solidFill>
                    <a:srgbClr val="ffffff"/>
                  </a:solidFill>
                  <a:latin typeface="Montserrat"/>
                  <a:ea typeface="Montserrat"/>
                </a:rPr>
                <a:t>01</a:t>
              </a:r>
              <a:endParaRPr b="0" lang="en-US" sz="1100" spc="-1" strike="noStrike">
                <a:solidFill>
                  <a:srgbClr val="000000"/>
                </a:solidFill>
                <a:latin typeface="Arial"/>
              </a:endParaRPr>
            </a:p>
          </p:txBody>
        </p:sp>
        <p:sp>
          <p:nvSpPr>
            <p:cNvPr id="748" name="Google Shape;853;p36"/>
            <p:cNvSpPr/>
            <p:nvPr/>
          </p:nvSpPr>
          <p:spPr>
            <a:xfrm>
              <a:off x="1000080" y="2286000"/>
              <a:ext cx="2819160" cy="27619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100" spc="-1" strike="noStrike">
                  <a:solidFill>
                    <a:srgbClr val="d4a017"/>
                  </a:solidFill>
                  <a:latin typeface="Inter"/>
                  <a:ea typeface="Inter"/>
                </a:rPr>
                <a:t>01 / DATA CAPTURE</a:t>
              </a:r>
              <a:endParaRPr b="0" lang="en-US" sz="1100" spc="-1" strike="noStrike">
                <a:solidFill>
                  <a:srgbClr val="000000"/>
                </a:solidFill>
                <a:latin typeface="Arial"/>
              </a:endParaRPr>
            </a:p>
            <a:p>
              <a:pPr>
                <a:lnSpc>
                  <a:spcPct val="100000"/>
                </a:lnSpc>
                <a:spcBef>
                  <a:spcPts val="374"/>
                </a:spcBef>
                <a:tabLst>
                  <a:tab algn="l" pos="0"/>
                </a:tabLst>
              </a:pPr>
              <a:r>
                <a:rPr b="1" lang="en" sz="1500" spc="-1" strike="noStrike">
                  <a:solidFill>
                    <a:srgbClr val="045a36"/>
                  </a:solidFill>
                  <a:latin typeface="Montserrat"/>
                  <a:ea typeface="Montserrat"/>
                </a:rPr>
                <a:t>Input &amp; Variables</a:t>
              </a:r>
              <a:endParaRPr b="0" lang="en-US" sz="1500" spc="-1" strike="noStrike">
                <a:solidFill>
                  <a:srgbClr val="000000"/>
                </a:solidFill>
                <a:latin typeface="Arial"/>
              </a:endParaRPr>
            </a:p>
            <a:p>
              <a:pPr marL="457200" indent="-317520">
                <a:lnSpc>
                  <a:spcPct val="100000"/>
                </a:lnSpc>
                <a:spcBef>
                  <a:spcPts val="1125"/>
                </a:spcBef>
                <a:buClr>
                  <a:srgbClr val="d4a017"/>
                </a:buClr>
                <a:buFont typeface="Inter"/>
                <a:buChar char="●"/>
                <a:tabLst>
                  <a:tab algn="l" pos="0"/>
                </a:tabLst>
              </a:pPr>
              <a:r>
                <a:rPr b="0" lang="en" sz="1150" spc="-1" strike="noStrike">
                  <a:solidFill>
                    <a:srgbClr val="374151"/>
                  </a:solidFill>
                  <a:latin typeface="Inter"/>
                  <a:ea typeface="Inter"/>
                </a:rPr>
                <a:t>Capture dynamic receiver email using Python's </a:t>
              </a:r>
              <a:r>
                <a:rPr b="0" lang="en" sz="1150" spc="-1" strike="noStrike">
                  <a:solidFill>
                    <a:srgbClr val="374151"/>
                  </a:solidFill>
                  <a:highlight>
                    <a:srgbClr val="f1f5f9"/>
                  </a:highlight>
                  <a:latin typeface="Arial"/>
                  <a:ea typeface="Arial"/>
                </a:rPr>
                <a:t>input()</a:t>
              </a:r>
              <a:r>
                <a:rPr b="0" lang="en" sz="1150" spc="-1" strike="noStrike">
                  <a:solidFill>
                    <a:srgbClr val="374151"/>
                  </a:solidFill>
                  <a:latin typeface="Inter"/>
                  <a:ea typeface="Inter"/>
                </a:rPr>
                <a:t>.</a:t>
              </a:r>
              <a:endParaRPr b="0" lang="en-US" sz="1150" spc="-1" strike="noStrike">
                <a:solidFill>
                  <a:srgbClr val="000000"/>
                </a:solidFill>
                <a:latin typeface="Arial"/>
              </a:endParaRPr>
            </a:p>
            <a:p>
              <a:pPr marL="457200" indent="-317520">
                <a:lnSpc>
                  <a:spcPct val="100000"/>
                </a:lnSpc>
                <a:spcBef>
                  <a:spcPts val="751"/>
                </a:spcBef>
                <a:buClr>
                  <a:srgbClr val="d4a017"/>
                </a:buClr>
                <a:buFont typeface="Inter"/>
                <a:buChar char="●"/>
                <a:tabLst>
                  <a:tab algn="l" pos="0"/>
                </a:tabLst>
              </a:pPr>
              <a:r>
                <a:rPr b="0" lang="en" sz="1150" spc="-1" strike="noStrike">
                  <a:solidFill>
                    <a:srgbClr val="374151"/>
                  </a:solidFill>
                  <a:latin typeface="Inter"/>
                  <a:ea typeface="Inter"/>
                </a:rPr>
                <a:t>Collect custom subject lines and message body text.</a:t>
              </a:r>
              <a:endParaRPr b="0" lang="en-US" sz="1150" spc="-1" strike="noStrike">
                <a:solidFill>
                  <a:srgbClr val="000000"/>
                </a:solidFill>
                <a:latin typeface="Arial"/>
              </a:endParaRPr>
            </a:p>
            <a:p>
              <a:pPr marL="457200" indent="-317520">
                <a:lnSpc>
                  <a:spcPct val="100000"/>
                </a:lnSpc>
                <a:spcBef>
                  <a:spcPts val="751"/>
                </a:spcBef>
                <a:spcAft>
                  <a:spcPts val="751"/>
                </a:spcAft>
                <a:buClr>
                  <a:srgbClr val="d4a017"/>
                </a:buClr>
                <a:buFont typeface="Inter"/>
                <a:buChar char="●"/>
                <a:tabLst>
                  <a:tab algn="l" pos="0"/>
                </a:tabLst>
              </a:pPr>
              <a:r>
                <a:rPr b="0" lang="en" sz="1150" spc="-1" strike="noStrike">
                  <a:solidFill>
                    <a:srgbClr val="374151"/>
                  </a:solidFill>
                  <a:latin typeface="Inter"/>
                  <a:ea typeface="Inter"/>
                </a:rPr>
                <a:t>Store and synthesize dynamic inputs safely using Variables.</a:t>
              </a:r>
              <a:endParaRPr b="0" lang="en-US" sz="1150" spc="-1" strike="noStrike">
                <a:solidFill>
                  <a:srgbClr val="000000"/>
                </a:solidFill>
                <a:latin typeface="Arial"/>
              </a:endParaRPr>
            </a:p>
          </p:txBody>
        </p:sp>
      </p:grpSp>
      <p:grpSp>
        <p:nvGrpSpPr>
          <p:cNvPr id="749" name="Google Shape;854;p36"/>
          <p:cNvGrpSpPr/>
          <p:nvPr/>
        </p:nvGrpSpPr>
        <p:grpSpPr>
          <a:xfrm>
            <a:off x="4438800" y="2000160"/>
            <a:ext cx="3295440" cy="3285720"/>
            <a:chOff x="4438800" y="2000160"/>
            <a:chExt cx="3295440" cy="3285720"/>
          </a:xfrm>
        </p:grpSpPr>
        <p:sp>
          <p:nvSpPr>
            <p:cNvPr id="750" name="Google Shape;855;p36"/>
            <p:cNvSpPr/>
            <p:nvPr/>
          </p:nvSpPr>
          <p:spPr>
            <a:xfrm>
              <a:off x="4438800" y="2000160"/>
              <a:ext cx="3295440" cy="3285720"/>
            </a:xfrm>
            <a:prstGeom prst="roundRect">
              <a:avLst>
                <a:gd name="adj" fmla="val 3478"/>
              </a:avLst>
            </a:prstGeom>
            <a:solidFill>
              <a:srgbClr val="ffffff"/>
            </a:solidFill>
            <a:ln w="9525">
              <a:solidFill>
                <a:srgbClr val="e2e8f0"/>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751" name="Google Shape;856;p36"/>
            <p:cNvSpPr/>
            <p:nvPr/>
          </p:nvSpPr>
          <p:spPr>
            <a:xfrm>
              <a:off x="4438800" y="2000160"/>
              <a:ext cx="3295440" cy="75960"/>
            </a:xfrm>
            <a:prstGeom prst="roundRect">
              <a:avLst>
                <a:gd name="adj" fmla="val 50000"/>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752" name="Google Shape;857;p36"/>
            <p:cNvSpPr/>
            <p:nvPr/>
          </p:nvSpPr>
          <p:spPr>
            <a:xfrm>
              <a:off x="7172280" y="2209680"/>
              <a:ext cx="342720" cy="34272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753" name="Google Shape;858;p36"/>
            <p:cNvSpPr/>
            <p:nvPr/>
          </p:nvSpPr>
          <p:spPr>
            <a:xfrm>
              <a:off x="7172280" y="2209680"/>
              <a:ext cx="342720" cy="342720"/>
            </a:xfrm>
            <a:prstGeom prst="rect">
              <a:avLst/>
            </a:prstGeom>
            <a:noFill/>
            <a:ln w="0">
              <a:noFill/>
            </a:ln>
          </p:spPr>
          <p:style>
            <a:lnRef idx="0"/>
            <a:fillRef idx="0"/>
            <a:effectRef idx="0"/>
            <a:fontRef idx="minor"/>
          </p:style>
          <p:txBody>
            <a:bodyPr lIns="0" rIns="0" tIns="0" bIns="0" anchor="ctr">
              <a:noAutofit/>
            </a:bodyPr>
            <a:p>
              <a:pPr algn="ctr">
                <a:lnSpc>
                  <a:spcPct val="100000"/>
                </a:lnSpc>
                <a:tabLst>
                  <a:tab algn="l" pos="0"/>
                </a:tabLst>
              </a:pPr>
              <a:r>
                <a:rPr b="1" lang="en" sz="1100" spc="-1" strike="noStrike">
                  <a:solidFill>
                    <a:srgbClr val="ffffff"/>
                  </a:solidFill>
                  <a:latin typeface="Montserrat"/>
                  <a:ea typeface="Montserrat"/>
                </a:rPr>
                <a:t>02</a:t>
              </a:r>
              <a:endParaRPr b="0" lang="en-US" sz="1100" spc="-1" strike="noStrike">
                <a:solidFill>
                  <a:srgbClr val="000000"/>
                </a:solidFill>
                <a:latin typeface="Arial"/>
              </a:endParaRPr>
            </a:p>
          </p:txBody>
        </p:sp>
        <p:sp>
          <p:nvSpPr>
            <p:cNvPr id="754" name="Google Shape;859;p36"/>
            <p:cNvSpPr/>
            <p:nvPr/>
          </p:nvSpPr>
          <p:spPr>
            <a:xfrm>
              <a:off x="4676760" y="2286000"/>
              <a:ext cx="2819160" cy="27619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100" spc="-1" strike="noStrike">
                  <a:solidFill>
                    <a:srgbClr val="045a36"/>
                  </a:solidFill>
                  <a:latin typeface="Inter"/>
                  <a:ea typeface="Inter"/>
                </a:rPr>
                <a:t>02 / EMAIL MESSAGE</a:t>
              </a:r>
              <a:endParaRPr b="0" lang="en-US" sz="1100" spc="-1" strike="noStrike">
                <a:solidFill>
                  <a:srgbClr val="000000"/>
                </a:solidFill>
                <a:latin typeface="Arial"/>
              </a:endParaRPr>
            </a:p>
            <a:p>
              <a:pPr>
                <a:lnSpc>
                  <a:spcPct val="100000"/>
                </a:lnSpc>
                <a:spcBef>
                  <a:spcPts val="374"/>
                </a:spcBef>
                <a:tabLst>
                  <a:tab algn="l" pos="0"/>
                </a:tabLst>
              </a:pPr>
              <a:r>
                <a:rPr b="1" lang="en" sz="1500" spc="-1" strike="noStrike">
                  <a:solidFill>
                    <a:srgbClr val="045a36"/>
                  </a:solidFill>
                  <a:latin typeface="Montserrat"/>
                  <a:ea typeface="Montserrat"/>
                </a:rPr>
                <a:t>SMTP &amp; Structure</a:t>
              </a:r>
              <a:endParaRPr b="0" lang="en-US" sz="1500" spc="-1" strike="noStrike">
                <a:solidFill>
                  <a:srgbClr val="000000"/>
                </a:solidFill>
                <a:latin typeface="Arial"/>
              </a:endParaRPr>
            </a:p>
            <a:p>
              <a:pPr marL="457200" indent="-317520">
                <a:lnSpc>
                  <a:spcPct val="100000"/>
                </a:lnSpc>
                <a:spcBef>
                  <a:spcPts val="1125"/>
                </a:spcBef>
                <a:buClr>
                  <a:srgbClr val="045a36"/>
                </a:buClr>
                <a:buFont typeface="Inter"/>
                <a:buChar char="●"/>
                <a:tabLst>
                  <a:tab algn="l" pos="0"/>
                </a:tabLst>
              </a:pPr>
              <a:r>
                <a:rPr b="0" lang="en" sz="1150" spc="-1" strike="noStrike">
                  <a:solidFill>
                    <a:srgbClr val="374151"/>
                  </a:solidFill>
                  <a:latin typeface="Inter"/>
                  <a:ea typeface="Inter"/>
                </a:rPr>
                <a:t>Structure dynamic input data within an </a:t>
              </a:r>
              <a:r>
                <a:rPr b="0" lang="en" sz="1150" spc="-1" strike="noStrike">
                  <a:solidFill>
                    <a:srgbClr val="374151"/>
                  </a:solidFill>
                  <a:highlight>
                    <a:srgbClr val="f1f5f9"/>
                  </a:highlight>
                  <a:latin typeface="Arial"/>
                  <a:ea typeface="Arial"/>
                </a:rPr>
                <a:t>EmailMessage</a:t>
              </a:r>
              <a:r>
                <a:rPr b="0" lang="en" sz="1150" spc="-1" strike="noStrike">
                  <a:solidFill>
                    <a:srgbClr val="374151"/>
                  </a:solidFill>
                  <a:latin typeface="Inter"/>
                  <a:ea typeface="Inter"/>
                </a:rPr>
                <a:t>.</a:t>
              </a:r>
              <a:endParaRPr b="0" lang="en-US" sz="1150" spc="-1" strike="noStrike">
                <a:solidFill>
                  <a:srgbClr val="000000"/>
                </a:solidFill>
                <a:latin typeface="Arial"/>
              </a:endParaRPr>
            </a:p>
            <a:p>
              <a:pPr marL="457200" indent="-317520">
                <a:lnSpc>
                  <a:spcPct val="100000"/>
                </a:lnSpc>
                <a:spcBef>
                  <a:spcPts val="751"/>
                </a:spcBef>
                <a:buClr>
                  <a:srgbClr val="045a36"/>
                </a:buClr>
                <a:buFont typeface="Inter"/>
                <a:buChar char="●"/>
                <a:tabLst>
                  <a:tab algn="l" pos="0"/>
                </a:tabLst>
              </a:pPr>
              <a:r>
                <a:rPr b="0" lang="en" sz="1150" spc="-1" strike="noStrike">
                  <a:solidFill>
                    <a:srgbClr val="374151"/>
                  </a:solidFill>
                  <a:latin typeface="Inter"/>
                  <a:ea typeface="Inter"/>
                </a:rPr>
                <a:t>Establish secure connections using Python's </a:t>
              </a:r>
              <a:r>
                <a:rPr b="0" lang="en" sz="1150" spc="-1" strike="noStrike">
                  <a:solidFill>
                    <a:srgbClr val="374151"/>
                  </a:solidFill>
                  <a:highlight>
                    <a:srgbClr val="f1f5f9"/>
                  </a:highlight>
                  <a:latin typeface="Arial"/>
                  <a:ea typeface="Arial"/>
                </a:rPr>
                <a:t>smtplib</a:t>
              </a:r>
              <a:r>
                <a:rPr b="0" lang="en" sz="1150" spc="-1" strike="noStrike">
                  <a:solidFill>
                    <a:srgbClr val="374151"/>
                  </a:solidFill>
                  <a:latin typeface="Inter"/>
                  <a:ea typeface="Inter"/>
                </a:rPr>
                <a:t>.</a:t>
              </a:r>
              <a:endParaRPr b="0" lang="en-US" sz="1150" spc="-1" strike="noStrike">
                <a:solidFill>
                  <a:srgbClr val="000000"/>
                </a:solidFill>
                <a:latin typeface="Arial"/>
              </a:endParaRPr>
            </a:p>
            <a:p>
              <a:pPr marL="457200" indent="-317520">
                <a:lnSpc>
                  <a:spcPct val="100000"/>
                </a:lnSpc>
                <a:spcBef>
                  <a:spcPts val="751"/>
                </a:spcBef>
                <a:spcAft>
                  <a:spcPts val="751"/>
                </a:spcAft>
                <a:buClr>
                  <a:srgbClr val="045a36"/>
                </a:buClr>
                <a:buFont typeface="Inter"/>
                <a:buChar char="●"/>
                <a:tabLst>
                  <a:tab algn="l" pos="0"/>
                </a:tabLst>
              </a:pPr>
              <a:r>
                <a:rPr b="0" lang="en" sz="1150" spc="-1" strike="noStrike">
                  <a:solidFill>
                    <a:srgbClr val="374151"/>
                  </a:solidFill>
                  <a:latin typeface="Inter"/>
                  <a:ea typeface="Inter"/>
                </a:rPr>
                <a:t>Handle secure SMTP authentication with credentials.</a:t>
              </a:r>
              <a:endParaRPr b="0" lang="en-US" sz="1150" spc="-1" strike="noStrike">
                <a:solidFill>
                  <a:srgbClr val="000000"/>
                </a:solidFill>
                <a:latin typeface="Arial"/>
              </a:endParaRPr>
            </a:p>
          </p:txBody>
        </p:sp>
      </p:grpSp>
      <p:grpSp>
        <p:nvGrpSpPr>
          <p:cNvPr id="755" name="Google Shape;860;p36"/>
          <p:cNvGrpSpPr/>
          <p:nvPr/>
        </p:nvGrpSpPr>
        <p:grpSpPr>
          <a:xfrm>
            <a:off x="8115480" y="2000160"/>
            <a:ext cx="3295440" cy="3285720"/>
            <a:chOff x="8115480" y="2000160"/>
            <a:chExt cx="3295440" cy="3285720"/>
          </a:xfrm>
        </p:grpSpPr>
        <p:sp>
          <p:nvSpPr>
            <p:cNvPr id="756" name="Google Shape;861;p36"/>
            <p:cNvSpPr/>
            <p:nvPr/>
          </p:nvSpPr>
          <p:spPr>
            <a:xfrm>
              <a:off x="8115480" y="2000160"/>
              <a:ext cx="3295440" cy="3285720"/>
            </a:xfrm>
            <a:prstGeom prst="roundRect">
              <a:avLst>
                <a:gd name="adj" fmla="val 3478"/>
              </a:avLst>
            </a:prstGeom>
            <a:solidFill>
              <a:srgbClr val="ffffff"/>
            </a:solidFill>
            <a:ln w="9525">
              <a:solidFill>
                <a:srgbClr val="e2e8f0"/>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757" name="Google Shape;862;p36"/>
            <p:cNvSpPr/>
            <p:nvPr/>
          </p:nvSpPr>
          <p:spPr>
            <a:xfrm>
              <a:off x="8115480" y="2000160"/>
              <a:ext cx="3295440" cy="75960"/>
            </a:xfrm>
            <a:prstGeom prst="roundRect">
              <a:avLst>
                <a:gd name="adj" fmla="val 50000"/>
              </a:avLst>
            </a:prstGeom>
            <a:solidFill>
              <a:srgbClr val="d4a017"/>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758" name="Google Shape;863;p36"/>
            <p:cNvSpPr/>
            <p:nvPr/>
          </p:nvSpPr>
          <p:spPr>
            <a:xfrm>
              <a:off x="10848960" y="2209680"/>
              <a:ext cx="342720" cy="342720"/>
            </a:xfrm>
            <a:prstGeom prst="ellipse">
              <a:avLst/>
            </a:prstGeom>
            <a:solidFill>
              <a:srgbClr val="d4a017"/>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759" name="Google Shape;864;p36"/>
            <p:cNvSpPr/>
            <p:nvPr/>
          </p:nvSpPr>
          <p:spPr>
            <a:xfrm>
              <a:off x="10848960" y="2209680"/>
              <a:ext cx="342720" cy="342720"/>
            </a:xfrm>
            <a:prstGeom prst="rect">
              <a:avLst/>
            </a:prstGeom>
            <a:noFill/>
            <a:ln w="0">
              <a:noFill/>
            </a:ln>
          </p:spPr>
          <p:style>
            <a:lnRef idx="0"/>
            <a:fillRef idx="0"/>
            <a:effectRef idx="0"/>
            <a:fontRef idx="minor"/>
          </p:style>
          <p:txBody>
            <a:bodyPr lIns="0" rIns="0" tIns="0" bIns="0" anchor="ctr">
              <a:noAutofit/>
            </a:bodyPr>
            <a:p>
              <a:pPr algn="ctr">
                <a:lnSpc>
                  <a:spcPct val="100000"/>
                </a:lnSpc>
                <a:tabLst>
                  <a:tab algn="l" pos="0"/>
                </a:tabLst>
              </a:pPr>
              <a:r>
                <a:rPr b="1" lang="en" sz="1100" spc="-1" strike="noStrike">
                  <a:solidFill>
                    <a:srgbClr val="ffffff"/>
                  </a:solidFill>
                  <a:latin typeface="Montserrat"/>
                  <a:ea typeface="Montserrat"/>
                </a:rPr>
                <a:t>03</a:t>
              </a:r>
              <a:endParaRPr b="0" lang="en-US" sz="1100" spc="-1" strike="noStrike">
                <a:solidFill>
                  <a:srgbClr val="000000"/>
                </a:solidFill>
                <a:latin typeface="Arial"/>
              </a:endParaRPr>
            </a:p>
          </p:txBody>
        </p:sp>
        <p:sp>
          <p:nvSpPr>
            <p:cNvPr id="760" name="Google Shape;865;p36"/>
            <p:cNvSpPr/>
            <p:nvPr/>
          </p:nvSpPr>
          <p:spPr>
            <a:xfrm>
              <a:off x="8353440" y="2286000"/>
              <a:ext cx="2819160" cy="276192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100" spc="-1" strike="noStrike">
                  <a:solidFill>
                    <a:srgbClr val="d4a017"/>
                  </a:solidFill>
                  <a:latin typeface="Inter"/>
                  <a:ea typeface="Inter"/>
                </a:rPr>
                <a:t>03 / STABLE DELIVERY</a:t>
              </a:r>
              <a:endParaRPr b="0" lang="en-US" sz="1100" spc="-1" strike="noStrike">
                <a:solidFill>
                  <a:srgbClr val="000000"/>
                </a:solidFill>
                <a:latin typeface="Arial"/>
              </a:endParaRPr>
            </a:p>
            <a:p>
              <a:pPr>
                <a:lnSpc>
                  <a:spcPct val="100000"/>
                </a:lnSpc>
                <a:spcBef>
                  <a:spcPts val="374"/>
                </a:spcBef>
                <a:tabLst>
                  <a:tab algn="l" pos="0"/>
                </a:tabLst>
              </a:pPr>
              <a:r>
                <a:rPr b="1" lang="en" sz="1500" spc="-1" strike="noStrike">
                  <a:solidFill>
                    <a:srgbClr val="045a36"/>
                  </a:solidFill>
                  <a:latin typeface="Montserrat"/>
                  <a:ea typeface="Montserrat"/>
                </a:rPr>
                <a:t>Send &amp; Stability</a:t>
              </a:r>
              <a:endParaRPr b="0" lang="en-US" sz="1500" spc="-1" strike="noStrike">
                <a:solidFill>
                  <a:srgbClr val="000000"/>
                </a:solidFill>
                <a:latin typeface="Arial"/>
              </a:endParaRPr>
            </a:p>
            <a:p>
              <a:pPr marL="457200" indent="-317520">
                <a:lnSpc>
                  <a:spcPct val="100000"/>
                </a:lnSpc>
                <a:spcBef>
                  <a:spcPts val="1125"/>
                </a:spcBef>
                <a:buClr>
                  <a:srgbClr val="d4a017"/>
                </a:buClr>
                <a:buFont typeface="Inter"/>
                <a:buChar char="●"/>
                <a:tabLst>
                  <a:tab algn="l" pos="0"/>
                </a:tabLst>
              </a:pPr>
              <a:r>
                <a:rPr b="0" lang="en" sz="1150" spc="-1" strike="noStrike">
                  <a:solidFill>
                    <a:srgbClr val="374151"/>
                  </a:solidFill>
                  <a:latin typeface="Inter"/>
                  <a:ea typeface="Inter"/>
                </a:rPr>
                <a:t>Execute the </a:t>
              </a:r>
              <a:r>
                <a:rPr b="0" lang="en" sz="1150" spc="-1" strike="noStrike">
                  <a:solidFill>
                    <a:srgbClr val="374151"/>
                  </a:solidFill>
                  <a:highlight>
                    <a:srgbClr val="f1f5f9"/>
                  </a:highlight>
                  <a:latin typeface="Arial"/>
                  <a:ea typeface="Arial"/>
                </a:rPr>
                <a:t>send_message()</a:t>
              </a:r>
              <a:r>
                <a:rPr b="0" lang="en" sz="1150" spc="-1" strike="noStrike">
                  <a:solidFill>
                    <a:srgbClr val="374151"/>
                  </a:solidFill>
                  <a:latin typeface="Inter"/>
                  <a:ea typeface="Inter"/>
                </a:rPr>
                <a:t> sequence for transmission.</a:t>
              </a:r>
              <a:endParaRPr b="0" lang="en-US" sz="1150" spc="-1" strike="noStrike">
                <a:solidFill>
                  <a:srgbClr val="000000"/>
                </a:solidFill>
                <a:latin typeface="Arial"/>
              </a:endParaRPr>
            </a:p>
            <a:p>
              <a:pPr marL="457200" indent="-317520">
                <a:lnSpc>
                  <a:spcPct val="100000"/>
                </a:lnSpc>
                <a:spcBef>
                  <a:spcPts val="751"/>
                </a:spcBef>
                <a:buClr>
                  <a:srgbClr val="d4a017"/>
                </a:buClr>
                <a:buFont typeface="Inter"/>
                <a:buChar char="●"/>
                <a:tabLst>
                  <a:tab algn="l" pos="0"/>
                </a:tabLst>
              </a:pPr>
              <a:r>
                <a:rPr b="0" lang="en" sz="1150" spc="-1" strike="noStrike">
                  <a:solidFill>
                    <a:srgbClr val="374151"/>
                  </a:solidFill>
                  <a:latin typeface="Inter"/>
                  <a:ea typeface="Inter"/>
                </a:rPr>
                <a:t>Wrap network and sending operations in </a:t>
              </a:r>
              <a:r>
                <a:rPr b="0" lang="en" sz="1150" spc="-1" strike="noStrike">
                  <a:solidFill>
                    <a:srgbClr val="374151"/>
                  </a:solidFill>
                  <a:highlight>
                    <a:srgbClr val="f1f5f9"/>
                  </a:highlight>
                  <a:latin typeface="Arial"/>
                  <a:ea typeface="Arial"/>
                </a:rPr>
                <a:t>try/except</a:t>
              </a:r>
              <a:r>
                <a:rPr b="0" lang="en" sz="1150" spc="-1" strike="noStrike">
                  <a:solidFill>
                    <a:srgbClr val="374151"/>
                  </a:solidFill>
                  <a:latin typeface="Inter"/>
                  <a:ea typeface="Inter"/>
                </a:rPr>
                <a:t> blocks.</a:t>
              </a:r>
              <a:endParaRPr b="0" lang="en-US" sz="1150" spc="-1" strike="noStrike">
                <a:solidFill>
                  <a:srgbClr val="000000"/>
                </a:solidFill>
                <a:latin typeface="Arial"/>
              </a:endParaRPr>
            </a:p>
            <a:p>
              <a:pPr marL="457200" indent="-317520">
                <a:lnSpc>
                  <a:spcPct val="100000"/>
                </a:lnSpc>
                <a:spcBef>
                  <a:spcPts val="751"/>
                </a:spcBef>
                <a:spcAft>
                  <a:spcPts val="751"/>
                </a:spcAft>
                <a:buClr>
                  <a:srgbClr val="d4a017"/>
                </a:buClr>
                <a:buFont typeface="Inter"/>
                <a:buChar char="●"/>
                <a:tabLst>
                  <a:tab algn="l" pos="0"/>
                </a:tabLst>
              </a:pPr>
              <a:r>
                <a:rPr b="0" lang="en" sz="1150" spc="-1" strike="noStrike">
                  <a:solidFill>
                    <a:srgbClr val="374151"/>
                  </a:solidFill>
                  <a:latin typeface="Inter"/>
                  <a:ea typeface="Inter"/>
                </a:rPr>
                <a:t>Ensure overall script robustness and error handling.</a:t>
              </a:r>
              <a:endParaRPr b="0" lang="en-US" sz="1150" spc="-1" strike="noStrike">
                <a:solidFill>
                  <a:srgbClr val="000000"/>
                </a:solidFill>
                <a:latin typeface="Arial"/>
              </a:endParaRPr>
            </a:p>
          </p:txBody>
        </p:sp>
      </p:grpSp>
      <p:pic>
        <p:nvPicPr>
          <p:cNvPr id="761" name="Google Shape;866;p36" descr=""/>
          <p:cNvPicPr/>
          <p:nvPr/>
        </p:nvPicPr>
        <p:blipFill>
          <a:blip r:embed="rId3"/>
          <a:stretch/>
        </p:blipFill>
        <p:spPr>
          <a:xfrm>
            <a:off x="762120" y="5981760"/>
            <a:ext cx="10667520" cy="304560"/>
          </a:xfrm>
          <a:prstGeom prst="rect">
            <a:avLst/>
          </a:prstGeom>
          <a:ln w="0">
            <a:noFill/>
          </a:ln>
        </p:spPr>
      </p:pic>
      <p:sp>
        <p:nvSpPr>
          <p:cNvPr id="762" name="Google Shape;867;p36"/>
          <p:cNvSpPr/>
          <p:nvPr/>
        </p:nvSpPr>
        <p:spPr>
          <a:xfrm>
            <a:off x="762120" y="6134040"/>
            <a:ext cx="4762080" cy="19008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0" lang="en" sz="980" spc="-1" strike="noStrike">
                <a:solidFill>
                  <a:srgbClr val="6b7280"/>
                </a:solidFill>
                <a:latin typeface="Inter"/>
                <a:ea typeface="Inter"/>
              </a:rPr>
              <a:t>Introduction of Electronics | Robotics and Automation Systems</a:t>
            </a:r>
            <a:endParaRPr b="0" lang="en-US" sz="980" spc="-1" strike="noStrike">
              <a:solidFill>
                <a:srgbClr val="000000"/>
              </a:solidFill>
              <a:latin typeface="Arial"/>
            </a:endParaRPr>
          </a:p>
        </p:txBody>
      </p:sp>
      <p:pic>
        <p:nvPicPr>
          <p:cNvPr id="763" name="Google Shape;868;p36" descr=""/>
          <p:cNvPicPr/>
          <p:nvPr/>
        </p:nvPicPr>
        <p:blipFill>
          <a:blip r:embed="rId4"/>
          <a:stretch/>
        </p:blipFill>
        <p:spPr>
          <a:xfrm>
            <a:off x="10287000" y="5457960"/>
            <a:ext cx="1523520" cy="1019160"/>
          </a:xfrm>
          <a:prstGeom prst="rect">
            <a:avLst/>
          </a:prstGeom>
          <a:ln w="0">
            <a:noFill/>
          </a:ln>
        </p:spPr>
      </p:pic>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pic>
        <p:nvPicPr>
          <p:cNvPr id="764" name="Google Shape;873;p37" descr=""/>
          <p:cNvPicPr/>
          <p:nvPr/>
        </p:nvPicPr>
        <p:blipFill>
          <a:blip r:embed="rId2"/>
          <a:stretch/>
        </p:blipFill>
        <p:spPr>
          <a:xfrm>
            <a:off x="0" y="0"/>
            <a:ext cx="12191760" cy="56880"/>
          </a:xfrm>
          <a:prstGeom prst="rect">
            <a:avLst/>
          </a:prstGeom>
          <a:ln w="0">
            <a:noFill/>
          </a:ln>
        </p:spPr>
      </p:pic>
      <p:sp>
        <p:nvSpPr>
          <p:cNvPr id="765" name="Google Shape;874;p37"/>
          <p:cNvSpPr/>
          <p:nvPr/>
        </p:nvSpPr>
        <p:spPr>
          <a:xfrm>
            <a:off x="762120" y="523800"/>
            <a:ext cx="10667520" cy="52344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 sz="1870" spc="-1" strike="noStrike">
                <a:solidFill>
                  <a:srgbClr val="045a36"/>
                </a:solidFill>
                <a:latin typeface="Montserrat SemiBold"/>
                <a:ea typeface="Montserrat SemiBold"/>
              </a:rPr>
              <a:t>Mastering SMTP Fundamentals Unlocks Advanced Email Automation Capabilities</a:t>
            </a:r>
            <a:endParaRPr b="0" lang="en-US" sz="1870" spc="-1" strike="noStrike">
              <a:solidFill>
                <a:srgbClr val="000000"/>
              </a:solidFill>
              <a:latin typeface="Arial"/>
            </a:endParaRPr>
          </a:p>
        </p:txBody>
      </p:sp>
      <p:sp>
        <p:nvSpPr>
          <p:cNvPr id="766" name="Google Shape;875;p37"/>
          <p:cNvSpPr/>
          <p:nvPr/>
        </p:nvSpPr>
        <p:spPr>
          <a:xfrm>
            <a:off x="762120" y="1123920"/>
            <a:ext cx="10667520" cy="18720"/>
          </a:xfrm>
          <a:prstGeom prst="rect">
            <a:avLst/>
          </a:prstGeom>
          <a:solidFill>
            <a:srgbClr val="e2e8f0"/>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grpSp>
        <p:nvGrpSpPr>
          <p:cNvPr id="767" name="Google Shape;876;p37"/>
          <p:cNvGrpSpPr/>
          <p:nvPr/>
        </p:nvGrpSpPr>
        <p:grpSpPr>
          <a:xfrm>
            <a:off x="762120" y="1523880"/>
            <a:ext cx="4952520" cy="4000320"/>
            <a:chOff x="762120" y="1523880"/>
            <a:chExt cx="4952520" cy="4000320"/>
          </a:xfrm>
        </p:grpSpPr>
        <p:sp>
          <p:nvSpPr>
            <p:cNvPr id="768" name="Google Shape;877;p37"/>
            <p:cNvSpPr/>
            <p:nvPr/>
          </p:nvSpPr>
          <p:spPr>
            <a:xfrm>
              <a:off x="762120" y="1523880"/>
              <a:ext cx="4952520" cy="4000320"/>
            </a:xfrm>
            <a:prstGeom prst="roundRect">
              <a:avLst>
                <a:gd name="adj" fmla="val 2857"/>
              </a:avLst>
            </a:prstGeom>
            <a:solidFill>
              <a:srgbClr val="ffffff"/>
            </a:solidFill>
            <a:ln w="14300">
              <a:solidFill>
                <a:srgbClr val="e2e8f0"/>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pic>
          <p:nvPicPr>
            <p:cNvPr id="769" name="Google Shape;878;p37" descr=""/>
            <p:cNvPicPr/>
            <p:nvPr/>
          </p:nvPicPr>
          <p:blipFill>
            <a:blip r:embed="rId3"/>
            <a:stretch/>
          </p:blipFill>
          <p:spPr>
            <a:xfrm>
              <a:off x="766800" y="1523880"/>
              <a:ext cx="4943160" cy="75960"/>
            </a:xfrm>
            <a:prstGeom prst="rect">
              <a:avLst/>
            </a:prstGeom>
            <a:ln w="0">
              <a:noFill/>
            </a:ln>
          </p:spPr>
        </p:pic>
        <p:sp>
          <p:nvSpPr>
            <p:cNvPr id="770" name="Google Shape;879;p37"/>
            <p:cNvSpPr/>
            <p:nvPr/>
          </p:nvSpPr>
          <p:spPr>
            <a:xfrm>
              <a:off x="1047600" y="1857240"/>
              <a:ext cx="4381200" cy="71388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500" spc="-1" strike="noStrike">
                  <a:solidFill>
                    <a:srgbClr val="045a36"/>
                  </a:solidFill>
                  <a:latin typeface="Montserrat"/>
                  <a:ea typeface="Montserrat"/>
                </a:rPr>
                <a:t>Learned SMTP Concepts</a:t>
              </a:r>
              <a:endParaRPr b="0" lang="en-US" sz="1500" spc="-1" strike="noStrike">
                <a:solidFill>
                  <a:srgbClr val="000000"/>
                </a:solidFill>
                <a:latin typeface="Arial"/>
              </a:endParaRPr>
            </a:p>
            <a:p>
              <a:pPr>
                <a:lnSpc>
                  <a:spcPct val="100000"/>
                </a:lnSpc>
                <a:spcBef>
                  <a:spcPts val="601"/>
                </a:spcBef>
                <a:tabLst>
                  <a:tab algn="l" pos="0"/>
                </a:tabLst>
              </a:pPr>
              <a:r>
                <a:rPr b="0" lang="en" sz="1100" spc="-1" strike="noStrike">
                  <a:solidFill>
                    <a:srgbClr val="4b5563"/>
                  </a:solidFill>
                  <a:latin typeface="Inter"/>
                  <a:ea typeface="Inter"/>
                </a:rPr>
                <a:t>A solid grasp of these core components prepares you for advanced scripting:</a:t>
              </a:r>
              <a:endParaRPr b="0" lang="en-US" sz="1100" spc="-1" strike="noStrike">
                <a:solidFill>
                  <a:srgbClr val="000000"/>
                </a:solidFill>
                <a:latin typeface="Arial"/>
              </a:endParaRPr>
            </a:p>
          </p:txBody>
        </p:sp>
        <p:grpSp>
          <p:nvGrpSpPr>
            <p:cNvPr id="771" name="Google Shape;880;p37"/>
            <p:cNvGrpSpPr/>
            <p:nvPr/>
          </p:nvGrpSpPr>
          <p:grpSpPr>
            <a:xfrm>
              <a:off x="1066680" y="2752560"/>
              <a:ext cx="151920" cy="151920"/>
              <a:chOff x="1066680" y="2752560"/>
              <a:chExt cx="151920" cy="151920"/>
            </a:xfrm>
          </p:grpSpPr>
          <p:sp>
            <p:nvSpPr>
              <p:cNvPr id="772" name="Google Shape;881;p37"/>
              <p:cNvSpPr/>
              <p:nvPr/>
            </p:nvSpPr>
            <p:spPr>
              <a:xfrm>
                <a:off x="1066680" y="2752560"/>
                <a:ext cx="151920" cy="15192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773" name="Google Shape;882;p37"/>
              <p:cNvSpPr/>
              <p:nvPr/>
            </p:nvSpPr>
            <p:spPr>
              <a:xfrm>
                <a:off x="1114560" y="2805120"/>
                <a:ext cx="61560" cy="47520"/>
              </a:xfrm>
              <a:custGeom>
                <a:avLst/>
                <a:gdLst>
                  <a:gd name="textAreaLeft" fmla="*/ 0 w 61560"/>
                  <a:gd name="textAreaRight" fmla="*/ 61920 w 61560"/>
                  <a:gd name="textAreaTop" fmla="*/ 0 h 47520"/>
                  <a:gd name="textAreaBottom" fmla="*/ 47880 h 47520"/>
                </a:gdLst>
                <a:ahLst/>
                <a:rect l="textAreaLeft" t="textAreaTop" r="textAreaRight" b="textAreaBottom"/>
                <a:pathLst>
                  <a:path w="120000" h="120000">
                    <a:moveTo>
                      <a:pt x="0" y="60000"/>
                    </a:moveTo>
                    <a:lnTo>
                      <a:pt x="46154"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774" name="Google Shape;883;p37"/>
            <p:cNvSpPr/>
            <p:nvPr/>
          </p:nvSpPr>
          <p:spPr>
            <a:xfrm>
              <a:off x="1285920" y="2685960"/>
              <a:ext cx="1761840" cy="28548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 sz="1100" spc="-1" strike="noStrike">
                  <a:solidFill>
                    <a:srgbClr val="374151"/>
                  </a:solidFill>
                  <a:latin typeface="Inter Medium"/>
                  <a:ea typeface="Inter Medium"/>
                </a:rPr>
                <a:t>SMTP &amp; Server</a:t>
              </a:r>
              <a:endParaRPr b="0" lang="en-US" sz="1100" spc="-1" strike="noStrike">
                <a:solidFill>
                  <a:srgbClr val="000000"/>
                </a:solidFill>
                <a:latin typeface="Arial"/>
              </a:endParaRPr>
            </a:p>
          </p:txBody>
        </p:sp>
        <p:grpSp>
          <p:nvGrpSpPr>
            <p:cNvPr id="775" name="Google Shape;884;p37"/>
            <p:cNvGrpSpPr/>
            <p:nvPr/>
          </p:nvGrpSpPr>
          <p:grpSpPr>
            <a:xfrm>
              <a:off x="1066680" y="3133800"/>
              <a:ext cx="151920" cy="151920"/>
              <a:chOff x="1066680" y="3133800"/>
              <a:chExt cx="151920" cy="151920"/>
            </a:xfrm>
          </p:grpSpPr>
          <p:sp>
            <p:nvSpPr>
              <p:cNvPr id="776" name="Google Shape;885;p37"/>
              <p:cNvSpPr/>
              <p:nvPr/>
            </p:nvSpPr>
            <p:spPr>
              <a:xfrm>
                <a:off x="1066680" y="3133800"/>
                <a:ext cx="151920" cy="15192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777" name="Google Shape;886;p37"/>
              <p:cNvSpPr/>
              <p:nvPr/>
            </p:nvSpPr>
            <p:spPr>
              <a:xfrm>
                <a:off x="1114560" y="3186000"/>
                <a:ext cx="61560" cy="47520"/>
              </a:xfrm>
              <a:custGeom>
                <a:avLst/>
                <a:gdLst>
                  <a:gd name="textAreaLeft" fmla="*/ 0 w 61560"/>
                  <a:gd name="textAreaRight" fmla="*/ 61920 w 61560"/>
                  <a:gd name="textAreaTop" fmla="*/ 0 h 47520"/>
                  <a:gd name="textAreaBottom" fmla="*/ 47880 h 47520"/>
                </a:gdLst>
                <a:ahLst/>
                <a:rect l="textAreaLeft" t="textAreaTop" r="textAreaRight" b="textAreaBottom"/>
                <a:pathLst>
                  <a:path w="120000" h="120000">
                    <a:moveTo>
                      <a:pt x="0" y="60000"/>
                    </a:moveTo>
                    <a:lnTo>
                      <a:pt x="46154"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778" name="Google Shape;887;p37"/>
            <p:cNvSpPr/>
            <p:nvPr/>
          </p:nvSpPr>
          <p:spPr>
            <a:xfrm>
              <a:off x="1285920" y="3067200"/>
              <a:ext cx="1761840" cy="28548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 sz="1100" spc="-1" strike="noStrike">
                  <a:solidFill>
                    <a:srgbClr val="374151"/>
                  </a:solidFill>
                  <a:latin typeface="Inter Medium"/>
                  <a:ea typeface="Inter Medium"/>
                </a:rPr>
                <a:t>Ports &amp; SSL/TLS</a:t>
              </a:r>
              <a:endParaRPr b="0" lang="en-US" sz="1100" spc="-1" strike="noStrike">
                <a:solidFill>
                  <a:srgbClr val="000000"/>
                </a:solidFill>
                <a:latin typeface="Arial"/>
              </a:endParaRPr>
            </a:p>
          </p:txBody>
        </p:sp>
        <p:grpSp>
          <p:nvGrpSpPr>
            <p:cNvPr id="779" name="Google Shape;888;p37"/>
            <p:cNvGrpSpPr/>
            <p:nvPr/>
          </p:nvGrpSpPr>
          <p:grpSpPr>
            <a:xfrm>
              <a:off x="1066680" y="3514680"/>
              <a:ext cx="151920" cy="151920"/>
              <a:chOff x="1066680" y="3514680"/>
              <a:chExt cx="151920" cy="151920"/>
            </a:xfrm>
          </p:grpSpPr>
          <p:sp>
            <p:nvSpPr>
              <p:cNvPr id="780" name="Google Shape;889;p37"/>
              <p:cNvSpPr/>
              <p:nvPr/>
            </p:nvSpPr>
            <p:spPr>
              <a:xfrm>
                <a:off x="1066680" y="3514680"/>
                <a:ext cx="151920" cy="15192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781" name="Google Shape;890;p37"/>
              <p:cNvSpPr/>
              <p:nvPr/>
            </p:nvSpPr>
            <p:spPr>
              <a:xfrm>
                <a:off x="1114560" y="3567240"/>
                <a:ext cx="61560" cy="47520"/>
              </a:xfrm>
              <a:custGeom>
                <a:avLst/>
                <a:gdLst>
                  <a:gd name="textAreaLeft" fmla="*/ 0 w 61560"/>
                  <a:gd name="textAreaRight" fmla="*/ 61920 w 61560"/>
                  <a:gd name="textAreaTop" fmla="*/ 0 h 47520"/>
                  <a:gd name="textAreaBottom" fmla="*/ 47880 h 47520"/>
                </a:gdLst>
                <a:ahLst/>
                <a:rect l="textAreaLeft" t="textAreaTop" r="textAreaRight" b="textAreaBottom"/>
                <a:pathLst>
                  <a:path w="120000" h="120000">
                    <a:moveTo>
                      <a:pt x="0" y="60000"/>
                    </a:moveTo>
                    <a:lnTo>
                      <a:pt x="46154"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782" name="Google Shape;891;p37"/>
            <p:cNvSpPr/>
            <p:nvPr/>
          </p:nvSpPr>
          <p:spPr>
            <a:xfrm>
              <a:off x="1285920" y="3448080"/>
              <a:ext cx="1761840" cy="28548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 sz="1100" spc="-1" strike="noStrike">
                  <a:solidFill>
                    <a:srgbClr val="374151"/>
                  </a:solidFill>
                  <a:latin typeface="Inter Medium"/>
                  <a:ea typeface="Inter Medium"/>
                </a:rPr>
                <a:t>smtplib library</a:t>
              </a:r>
              <a:endParaRPr b="0" lang="en-US" sz="1100" spc="-1" strike="noStrike">
                <a:solidFill>
                  <a:srgbClr val="000000"/>
                </a:solidFill>
                <a:latin typeface="Arial"/>
              </a:endParaRPr>
            </a:p>
          </p:txBody>
        </p:sp>
        <p:grpSp>
          <p:nvGrpSpPr>
            <p:cNvPr id="783" name="Google Shape;892;p37"/>
            <p:cNvGrpSpPr/>
            <p:nvPr/>
          </p:nvGrpSpPr>
          <p:grpSpPr>
            <a:xfrm>
              <a:off x="1066680" y="3895560"/>
              <a:ext cx="151920" cy="151920"/>
              <a:chOff x="1066680" y="3895560"/>
              <a:chExt cx="151920" cy="151920"/>
            </a:xfrm>
          </p:grpSpPr>
          <p:sp>
            <p:nvSpPr>
              <p:cNvPr id="784" name="Google Shape;893;p37"/>
              <p:cNvSpPr/>
              <p:nvPr/>
            </p:nvSpPr>
            <p:spPr>
              <a:xfrm>
                <a:off x="1066680" y="3895560"/>
                <a:ext cx="151920" cy="15192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785" name="Google Shape;894;p37"/>
              <p:cNvSpPr/>
              <p:nvPr/>
            </p:nvSpPr>
            <p:spPr>
              <a:xfrm>
                <a:off x="1114560" y="3948120"/>
                <a:ext cx="61560" cy="47520"/>
              </a:xfrm>
              <a:custGeom>
                <a:avLst/>
                <a:gdLst>
                  <a:gd name="textAreaLeft" fmla="*/ 0 w 61560"/>
                  <a:gd name="textAreaRight" fmla="*/ 61920 w 61560"/>
                  <a:gd name="textAreaTop" fmla="*/ 0 h 47520"/>
                  <a:gd name="textAreaBottom" fmla="*/ 47880 h 47520"/>
                </a:gdLst>
                <a:ahLst/>
                <a:rect l="textAreaLeft" t="textAreaTop" r="textAreaRight" b="textAreaBottom"/>
                <a:pathLst>
                  <a:path w="120000" h="120000">
                    <a:moveTo>
                      <a:pt x="0" y="60000"/>
                    </a:moveTo>
                    <a:lnTo>
                      <a:pt x="46154"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786" name="Google Shape;895;p37"/>
            <p:cNvSpPr/>
            <p:nvPr/>
          </p:nvSpPr>
          <p:spPr>
            <a:xfrm>
              <a:off x="1285920" y="3828960"/>
              <a:ext cx="1761840" cy="28548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 sz="1100" spc="-1" strike="noStrike">
                  <a:solidFill>
                    <a:srgbClr val="374151"/>
                  </a:solidFill>
                  <a:latin typeface="Inter Medium"/>
                  <a:ea typeface="Inter Medium"/>
                </a:rPr>
                <a:t>Authentication</a:t>
              </a:r>
              <a:endParaRPr b="0" lang="en-US" sz="1100" spc="-1" strike="noStrike">
                <a:solidFill>
                  <a:srgbClr val="000000"/>
                </a:solidFill>
                <a:latin typeface="Arial"/>
              </a:endParaRPr>
            </a:p>
          </p:txBody>
        </p:sp>
        <p:grpSp>
          <p:nvGrpSpPr>
            <p:cNvPr id="787" name="Google Shape;896;p37"/>
            <p:cNvGrpSpPr/>
            <p:nvPr/>
          </p:nvGrpSpPr>
          <p:grpSpPr>
            <a:xfrm>
              <a:off x="3257640" y="2752560"/>
              <a:ext cx="151920" cy="151920"/>
              <a:chOff x="3257640" y="2752560"/>
              <a:chExt cx="151920" cy="151920"/>
            </a:xfrm>
          </p:grpSpPr>
          <p:sp>
            <p:nvSpPr>
              <p:cNvPr id="788" name="Google Shape;897;p37"/>
              <p:cNvSpPr/>
              <p:nvPr/>
            </p:nvSpPr>
            <p:spPr>
              <a:xfrm>
                <a:off x="3257640" y="2752560"/>
                <a:ext cx="151920" cy="15192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789" name="Google Shape;898;p37"/>
              <p:cNvSpPr/>
              <p:nvPr/>
            </p:nvSpPr>
            <p:spPr>
              <a:xfrm>
                <a:off x="3305160" y="2805120"/>
                <a:ext cx="61560" cy="47520"/>
              </a:xfrm>
              <a:custGeom>
                <a:avLst/>
                <a:gdLst>
                  <a:gd name="textAreaLeft" fmla="*/ 0 w 61560"/>
                  <a:gd name="textAreaRight" fmla="*/ 61920 w 61560"/>
                  <a:gd name="textAreaTop" fmla="*/ 0 h 47520"/>
                  <a:gd name="textAreaBottom" fmla="*/ 47880 h 47520"/>
                </a:gdLst>
                <a:ahLst/>
                <a:rect l="textAreaLeft" t="textAreaTop" r="textAreaRight" b="textAreaBottom"/>
                <a:pathLst>
                  <a:path w="120000" h="120000">
                    <a:moveTo>
                      <a:pt x="0" y="60000"/>
                    </a:moveTo>
                    <a:lnTo>
                      <a:pt x="46154"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790" name="Google Shape;899;p37"/>
            <p:cNvSpPr/>
            <p:nvPr/>
          </p:nvSpPr>
          <p:spPr>
            <a:xfrm>
              <a:off x="3476520" y="2685960"/>
              <a:ext cx="1952280" cy="28548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 sz="1100" spc="-1" strike="noStrike">
                  <a:solidFill>
                    <a:srgbClr val="374151"/>
                  </a:solidFill>
                  <a:latin typeface="Inter Medium"/>
                  <a:ea typeface="Inter Medium"/>
                </a:rPr>
                <a:t>EmailMessage</a:t>
              </a:r>
              <a:endParaRPr b="0" lang="en-US" sz="1100" spc="-1" strike="noStrike">
                <a:solidFill>
                  <a:srgbClr val="000000"/>
                </a:solidFill>
                <a:latin typeface="Arial"/>
              </a:endParaRPr>
            </a:p>
          </p:txBody>
        </p:sp>
        <p:grpSp>
          <p:nvGrpSpPr>
            <p:cNvPr id="791" name="Google Shape;900;p37"/>
            <p:cNvGrpSpPr/>
            <p:nvPr/>
          </p:nvGrpSpPr>
          <p:grpSpPr>
            <a:xfrm>
              <a:off x="3257640" y="3133800"/>
              <a:ext cx="151920" cy="151920"/>
              <a:chOff x="3257640" y="3133800"/>
              <a:chExt cx="151920" cy="151920"/>
            </a:xfrm>
          </p:grpSpPr>
          <p:sp>
            <p:nvSpPr>
              <p:cNvPr id="792" name="Google Shape;901;p37"/>
              <p:cNvSpPr/>
              <p:nvPr/>
            </p:nvSpPr>
            <p:spPr>
              <a:xfrm>
                <a:off x="3257640" y="3133800"/>
                <a:ext cx="151920" cy="15192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793" name="Google Shape;902;p37"/>
              <p:cNvSpPr/>
              <p:nvPr/>
            </p:nvSpPr>
            <p:spPr>
              <a:xfrm>
                <a:off x="3305160" y="3186000"/>
                <a:ext cx="61560" cy="47520"/>
              </a:xfrm>
              <a:custGeom>
                <a:avLst/>
                <a:gdLst>
                  <a:gd name="textAreaLeft" fmla="*/ 0 w 61560"/>
                  <a:gd name="textAreaRight" fmla="*/ 61920 w 61560"/>
                  <a:gd name="textAreaTop" fmla="*/ 0 h 47520"/>
                  <a:gd name="textAreaBottom" fmla="*/ 47880 h 47520"/>
                </a:gdLst>
                <a:ahLst/>
                <a:rect l="textAreaLeft" t="textAreaTop" r="textAreaRight" b="textAreaBottom"/>
                <a:pathLst>
                  <a:path w="120000" h="120000">
                    <a:moveTo>
                      <a:pt x="0" y="60000"/>
                    </a:moveTo>
                    <a:lnTo>
                      <a:pt x="46154"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794" name="Google Shape;903;p37"/>
            <p:cNvSpPr/>
            <p:nvPr/>
          </p:nvSpPr>
          <p:spPr>
            <a:xfrm>
              <a:off x="3476520" y="3067200"/>
              <a:ext cx="1952280" cy="28548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 sz="1100" spc="-1" strike="noStrike">
                  <a:solidFill>
                    <a:srgbClr val="374151"/>
                  </a:solidFill>
                  <a:latin typeface="Inter Medium"/>
                  <a:ea typeface="Inter Medium"/>
                </a:rPr>
                <a:t>Headers &amp; Body</a:t>
              </a:r>
              <a:endParaRPr b="0" lang="en-US" sz="1100" spc="-1" strike="noStrike">
                <a:solidFill>
                  <a:srgbClr val="000000"/>
                </a:solidFill>
                <a:latin typeface="Arial"/>
              </a:endParaRPr>
            </a:p>
          </p:txBody>
        </p:sp>
        <p:grpSp>
          <p:nvGrpSpPr>
            <p:cNvPr id="795" name="Google Shape;904;p37"/>
            <p:cNvGrpSpPr/>
            <p:nvPr/>
          </p:nvGrpSpPr>
          <p:grpSpPr>
            <a:xfrm>
              <a:off x="3257640" y="3514680"/>
              <a:ext cx="151920" cy="151920"/>
              <a:chOff x="3257640" y="3514680"/>
              <a:chExt cx="151920" cy="151920"/>
            </a:xfrm>
          </p:grpSpPr>
          <p:sp>
            <p:nvSpPr>
              <p:cNvPr id="796" name="Google Shape;905;p37"/>
              <p:cNvSpPr/>
              <p:nvPr/>
            </p:nvSpPr>
            <p:spPr>
              <a:xfrm>
                <a:off x="3257640" y="3514680"/>
                <a:ext cx="151920" cy="15192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797" name="Google Shape;906;p37"/>
              <p:cNvSpPr/>
              <p:nvPr/>
            </p:nvSpPr>
            <p:spPr>
              <a:xfrm>
                <a:off x="3305160" y="3567240"/>
                <a:ext cx="61560" cy="47520"/>
              </a:xfrm>
              <a:custGeom>
                <a:avLst/>
                <a:gdLst>
                  <a:gd name="textAreaLeft" fmla="*/ 0 w 61560"/>
                  <a:gd name="textAreaRight" fmla="*/ 61920 w 61560"/>
                  <a:gd name="textAreaTop" fmla="*/ 0 h 47520"/>
                  <a:gd name="textAreaBottom" fmla="*/ 47880 h 47520"/>
                </a:gdLst>
                <a:ahLst/>
                <a:rect l="textAreaLeft" t="textAreaTop" r="textAreaRight" b="textAreaBottom"/>
                <a:pathLst>
                  <a:path w="120000" h="120000">
                    <a:moveTo>
                      <a:pt x="0" y="60000"/>
                    </a:moveTo>
                    <a:lnTo>
                      <a:pt x="46154"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798" name="Google Shape;907;p37"/>
            <p:cNvSpPr/>
            <p:nvPr/>
          </p:nvSpPr>
          <p:spPr>
            <a:xfrm>
              <a:off x="3476520" y="3448080"/>
              <a:ext cx="1952280" cy="28548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 sz="1100" spc="-1" strike="noStrike">
                  <a:solidFill>
                    <a:srgbClr val="374151"/>
                  </a:solidFill>
                  <a:latin typeface="Inter Medium"/>
                  <a:ea typeface="Inter Medium"/>
                </a:rPr>
                <a:t>send_message()</a:t>
              </a:r>
              <a:endParaRPr b="0" lang="en-US" sz="1100" spc="-1" strike="noStrike">
                <a:solidFill>
                  <a:srgbClr val="000000"/>
                </a:solidFill>
                <a:latin typeface="Arial"/>
              </a:endParaRPr>
            </a:p>
          </p:txBody>
        </p:sp>
        <p:grpSp>
          <p:nvGrpSpPr>
            <p:cNvPr id="799" name="Google Shape;908;p37"/>
            <p:cNvGrpSpPr/>
            <p:nvPr/>
          </p:nvGrpSpPr>
          <p:grpSpPr>
            <a:xfrm>
              <a:off x="3257640" y="3895560"/>
              <a:ext cx="151920" cy="151920"/>
              <a:chOff x="3257640" y="3895560"/>
              <a:chExt cx="151920" cy="151920"/>
            </a:xfrm>
          </p:grpSpPr>
          <p:sp>
            <p:nvSpPr>
              <p:cNvPr id="800" name="Google Shape;909;p37"/>
              <p:cNvSpPr/>
              <p:nvPr/>
            </p:nvSpPr>
            <p:spPr>
              <a:xfrm>
                <a:off x="3257640" y="3895560"/>
                <a:ext cx="151920" cy="15192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801" name="Google Shape;910;p37"/>
              <p:cNvSpPr/>
              <p:nvPr/>
            </p:nvSpPr>
            <p:spPr>
              <a:xfrm>
                <a:off x="3305160" y="3948120"/>
                <a:ext cx="61560" cy="47520"/>
              </a:xfrm>
              <a:custGeom>
                <a:avLst/>
                <a:gdLst>
                  <a:gd name="textAreaLeft" fmla="*/ 0 w 61560"/>
                  <a:gd name="textAreaRight" fmla="*/ 61920 w 61560"/>
                  <a:gd name="textAreaTop" fmla="*/ 0 h 47520"/>
                  <a:gd name="textAreaBottom" fmla="*/ 47880 h 47520"/>
                </a:gdLst>
                <a:ahLst/>
                <a:rect l="textAreaLeft" t="textAreaTop" r="textAreaRight" b="textAreaBottom"/>
                <a:pathLst>
                  <a:path w="120000" h="120000">
                    <a:moveTo>
                      <a:pt x="0" y="60000"/>
                    </a:moveTo>
                    <a:lnTo>
                      <a:pt x="46154" y="120000"/>
                    </a:lnTo>
                    <a:lnTo>
                      <a:pt x="120000" y="0"/>
                    </a:lnTo>
                  </a:path>
                </a:pathLst>
              </a:custGeom>
              <a:noFill/>
              <a:ln cap="rnd" w="19050">
                <a:solidFill>
                  <a:srgbClr val="f8fafc"/>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grpSp>
        <p:sp>
          <p:nvSpPr>
            <p:cNvPr id="802" name="Google Shape;911;p37"/>
            <p:cNvSpPr/>
            <p:nvPr/>
          </p:nvSpPr>
          <p:spPr>
            <a:xfrm>
              <a:off x="3476520" y="3828960"/>
              <a:ext cx="1952280" cy="28548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 sz="1100" spc="-1" strike="noStrike">
                  <a:solidFill>
                    <a:srgbClr val="374151"/>
                  </a:solidFill>
                  <a:latin typeface="Inter Medium"/>
                  <a:ea typeface="Inter Medium"/>
                </a:rPr>
                <a:t>Exception Handling</a:t>
              </a:r>
              <a:endParaRPr b="0" lang="en-US" sz="1100" spc="-1" strike="noStrike">
                <a:solidFill>
                  <a:srgbClr val="000000"/>
                </a:solidFill>
                <a:latin typeface="Arial"/>
              </a:endParaRPr>
            </a:p>
          </p:txBody>
        </p:sp>
        <p:grpSp>
          <p:nvGrpSpPr>
            <p:cNvPr id="803" name="Google Shape;912;p37"/>
            <p:cNvGrpSpPr/>
            <p:nvPr/>
          </p:nvGrpSpPr>
          <p:grpSpPr>
            <a:xfrm>
              <a:off x="1047600" y="4524480"/>
              <a:ext cx="2190600" cy="266400"/>
              <a:chOff x="1047600" y="4524480"/>
              <a:chExt cx="2190600" cy="266400"/>
            </a:xfrm>
          </p:grpSpPr>
          <p:sp>
            <p:nvSpPr>
              <p:cNvPr id="804" name="Google Shape;913;p37"/>
              <p:cNvSpPr/>
              <p:nvPr/>
            </p:nvSpPr>
            <p:spPr>
              <a:xfrm>
                <a:off x="1047600" y="4524480"/>
                <a:ext cx="2190600" cy="266400"/>
              </a:xfrm>
              <a:prstGeom prst="roundRect">
                <a:avLst>
                  <a:gd name="adj" fmla="val 50000"/>
                </a:avLst>
              </a:prstGeom>
              <a:solidFill>
                <a:srgbClr val="d4a017">
                  <a:alpha val="10000"/>
                </a:srgbClr>
              </a:solidFill>
              <a:ln w="9525">
                <a:solidFill>
                  <a:srgbClr val="d4a017"/>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805" name="Google Shape;914;p37"/>
              <p:cNvSpPr/>
              <p:nvPr/>
            </p:nvSpPr>
            <p:spPr>
              <a:xfrm>
                <a:off x="1190520" y="4524480"/>
                <a:ext cx="1904760" cy="266400"/>
              </a:xfrm>
              <a:prstGeom prst="rect">
                <a:avLst/>
              </a:prstGeom>
              <a:noFill/>
              <a:ln w="0">
                <a:noFill/>
              </a:ln>
            </p:spPr>
            <p:style>
              <a:lnRef idx="0"/>
              <a:fillRef idx="0"/>
              <a:effectRef idx="0"/>
              <a:fontRef idx="minor"/>
            </p:style>
            <p:txBody>
              <a:bodyPr lIns="0" rIns="0" tIns="0" bIns="0" anchor="ctr">
                <a:noAutofit/>
              </a:bodyPr>
              <a:p>
                <a:pPr algn="ctr">
                  <a:lnSpc>
                    <a:spcPct val="100000"/>
                  </a:lnSpc>
                  <a:tabLst>
                    <a:tab algn="l" pos="0"/>
                  </a:tabLst>
                </a:pPr>
                <a:r>
                  <a:rPr b="1" lang="en" sz="850" spc="-1" strike="noStrike">
                    <a:solidFill>
                      <a:srgbClr val="045a36"/>
                    </a:solidFill>
                    <a:latin typeface="Inter"/>
                    <a:ea typeface="Inter"/>
                  </a:rPr>
                  <a:t>8 SMTP CONCEPTS MASTERED</a:t>
                </a:r>
                <a:endParaRPr b="0" lang="en-US" sz="850" spc="-1" strike="noStrike">
                  <a:solidFill>
                    <a:srgbClr val="000000"/>
                  </a:solidFill>
                  <a:latin typeface="Arial"/>
                </a:endParaRPr>
              </a:p>
            </p:txBody>
          </p:sp>
        </p:grpSp>
      </p:grpSp>
      <p:grpSp>
        <p:nvGrpSpPr>
          <p:cNvPr id="806" name="Google Shape;915;p37"/>
          <p:cNvGrpSpPr/>
          <p:nvPr/>
        </p:nvGrpSpPr>
        <p:grpSpPr>
          <a:xfrm>
            <a:off x="6477120" y="1523880"/>
            <a:ext cx="4952520" cy="4000320"/>
            <a:chOff x="6477120" y="1523880"/>
            <a:chExt cx="4952520" cy="4000320"/>
          </a:xfrm>
        </p:grpSpPr>
        <p:sp>
          <p:nvSpPr>
            <p:cNvPr id="807" name="Google Shape;916;p37"/>
            <p:cNvSpPr/>
            <p:nvPr/>
          </p:nvSpPr>
          <p:spPr>
            <a:xfrm>
              <a:off x="6477120" y="1523880"/>
              <a:ext cx="4952520" cy="4000320"/>
            </a:xfrm>
            <a:prstGeom prst="roundRect">
              <a:avLst>
                <a:gd name="adj" fmla="val 2857"/>
              </a:avLst>
            </a:prstGeom>
            <a:solidFill>
              <a:srgbClr val="ffffff"/>
            </a:solidFill>
            <a:ln w="14300">
              <a:solidFill>
                <a:srgbClr val="e2e8f0"/>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pic>
          <p:nvPicPr>
            <p:cNvPr id="808" name="Google Shape;917;p37" descr=""/>
            <p:cNvPicPr/>
            <p:nvPr/>
          </p:nvPicPr>
          <p:blipFill>
            <a:blip r:embed="rId4"/>
            <a:stretch/>
          </p:blipFill>
          <p:spPr>
            <a:xfrm>
              <a:off x="6481800" y="1523880"/>
              <a:ext cx="4943160" cy="75960"/>
            </a:xfrm>
            <a:prstGeom prst="rect">
              <a:avLst/>
            </a:prstGeom>
            <a:ln w="0">
              <a:noFill/>
            </a:ln>
          </p:spPr>
        </p:pic>
        <p:sp>
          <p:nvSpPr>
            <p:cNvPr id="809" name="Google Shape;918;p37"/>
            <p:cNvSpPr/>
            <p:nvPr/>
          </p:nvSpPr>
          <p:spPr>
            <a:xfrm>
              <a:off x="6762600" y="1857240"/>
              <a:ext cx="4381200" cy="71388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500" spc="-1" strike="noStrike">
                  <a:solidFill>
                    <a:srgbClr val="045a36"/>
                  </a:solidFill>
                  <a:latin typeface="Montserrat"/>
                  <a:ea typeface="Montserrat"/>
                </a:rPr>
                <a:t>What's Next? Future Pathways</a:t>
              </a:r>
              <a:endParaRPr b="0" lang="en-US" sz="1500" spc="-1" strike="noStrike">
                <a:solidFill>
                  <a:srgbClr val="000000"/>
                </a:solidFill>
                <a:latin typeface="Arial"/>
              </a:endParaRPr>
            </a:p>
            <a:p>
              <a:pPr>
                <a:lnSpc>
                  <a:spcPct val="100000"/>
                </a:lnSpc>
                <a:spcBef>
                  <a:spcPts val="601"/>
                </a:spcBef>
                <a:tabLst>
                  <a:tab algn="l" pos="0"/>
                </a:tabLst>
              </a:pPr>
              <a:r>
                <a:rPr b="0" lang="en" sz="1100" spc="-1" strike="noStrike">
                  <a:solidFill>
                    <a:srgbClr val="4b5563"/>
                  </a:solidFill>
                  <a:latin typeface="Inter"/>
                  <a:ea typeface="Inter"/>
                </a:rPr>
                <a:t>Expand your automation toolkit to build enterprise-ready solutions:</a:t>
              </a:r>
              <a:endParaRPr b="0" lang="en-US" sz="1100" spc="-1" strike="noStrike">
                <a:solidFill>
                  <a:srgbClr val="000000"/>
                </a:solidFill>
                <a:latin typeface="Arial"/>
              </a:endParaRPr>
            </a:p>
          </p:txBody>
        </p:sp>
        <p:sp>
          <p:nvSpPr>
            <p:cNvPr id="810" name="Google Shape;919;p37"/>
            <p:cNvSpPr/>
            <p:nvPr/>
          </p:nvSpPr>
          <p:spPr>
            <a:xfrm>
              <a:off x="6791400" y="2695680"/>
              <a:ext cx="228240" cy="228240"/>
            </a:xfrm>
            <a:prstGeom prst="ellipse">
              <a:avLst/>
            </a:prstGeom>
            <a:solidFill>
              <a:srgbClr val="d4a017"/>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811" name="Google Shape;920;p37"/>
            <p:cNvSpPr/>
            <p:nvPr/>
          </p:nvSpPr>
          <p:spPr>
            <a:xfrm>
              <a:off x="6791400" y="2695680"/>
              <a:ext cx="228240" cy="228240"/>
            </a:xfrm>
            <a:prstGeom prst="rect">
              <a:avLst/>
            </a:prstGeom>
            <a:noFill/>
            <a:ln w="0">
              <a:noFill/>
            </a:ln>
          </p:spPr>
          <p:style>
            <a:lnRef idx="0"/>
            <a:fillRef idx="0"/>
            <a:effectRef idx="0"/>
            <a:fontRef idx="minor"/>
          </p:style>
          <p:txBody>
            <a:bodyPr lIns="0" rIns="0" tIns="0" bIns="0" anchor="ctr">
              <a:noAutofit/>
            </a:bodyPr>
            <a:p>
              <a:pPr algn="ctr">
                <a:lnSpc>
                  <a:spcPct val="100000"/>
                </a:lnSpc>
                <a:tabLst>
                  <a:tab algn="l" pos="0"/>
                </a:tabLst>
              </a:pPr>
              <a:r>
                <a:rPr b="1" lang="en" sz="850" spc="-1" strike="noStrike">
                  <a:solidFill>
                    <a:srgbClr val="ffffff"/>
                  </a:solidFill>
                  <a:latin typeface="Inter"/>
                  <a:ea typeface="Inter"/>
                </a:rPr>
                <a:t>1</a:t>
              </a:r>
              <a:endParaRPr b="0" lang="en-US" sz="850" spc="-1" strike="noStrike">
                <a:solidFill>
                  <a:srgbClr val="000000"/>
                </a:solidFill>
                <a:latin typeface="Arial"/>
              </a:endParaRPr>
            </a:p>
          </p:txBody>
        </p:sp>
        <p:sp>
          <p:nvSpPr>
            <p:cNvPr id="812" name="Google Shape;921;p37"/>
            <p:cNvSpPr/>
            <p:nvPr/>
          </p:nvSpPr>
          <p:spPr>
            <a:xfrm>
              <a:off x="7143840" y="2666880"/>
              <a:ext cx="4000320" cy="52344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100" spc="-1" strike="noStrike">
                  <a:solidFill>
                    <a:srgbClr val="045a36"/>
                  </a:solidFill>
                  <a:latin typeface="Inter"/>
                  <a:ea typeface="Inter"/>
                </a:rPr>
                <a:t>Rich Emails:</a:t>
              </a:r>
              <a:r>
                <a:rPr b="0" lang="en" sz="1100" spc="-1" strike="noStrike">
                  <a:solidFill>
                    <a:srgbClr val="374151"/>
                  </a:solidFill>
                  <a:latin typeface="Inter"/>
                  <a:ea typeface="Inter"/>
                </a:rPr>
                <a:t> Send styled HTML layouts and programmatically include file Attachments.</a:t>
              </a:r>
              <a:endParaRPr b="0" lang="en-US" sz="1100" spc="-1" strike="noStrike">
                <a:solidFill>
                  <a:srgbClr val="000000"/>
                </a:solidFill>
                <a:latin typeface="Arial"/>
              </a:endParaRPr>
            </a:p>
          </p:txBody>
        </p:sp>
        <p:sp>
          <p:nvSpPr>
            <p:cNvPr id="813" name="Google Shape;922;p37"/>
            <p:cNvSpPr/>
            <p:nvPr/>
          </p:nvSpPr>
          <p:spPr>
            <a:xfrm>
              <a:off x="6791400" y="3314880"/>
              <a:ext cx="228240" cy="228240"/>
            </a:xfrm>
            <a:prstGeom prst="ellipse">
              <a:avLst/>
            </a:prstGeom>
            <a:solidFill>
              <a:srgbClr val="d4a017"/>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814" name="Google Shape;923;p37"/>
            <p:cNvSpPr/>
            <p:nvPr/>
          </p:nvSpPr>
          <p:spPr>
            <a:xfrm>
              <a:off x="6791400" y="3314880"/>
              <a:ext cx="228240" cy="228240"/>
            </a:xfrm>
            <a:prstGeom prst="rect">
              <a:avLst/>
            </a:prstGeom>
            <a:noFill/>
            <a:ln w="0">
              <a:noFill/>
            </a:ln>
          </p:spPr>
          <p:style>
            <a:lnRef idx="0"/>
            <a:fillRef idx="0"/>
            <a:effectRef idx="0"/>
            <a:fontRef idx="minor"/>
          </p:style>
          <p:txBody>
            <a:bodyPr lIns="0" rIns="0" tIns="0" bIns="0" anchor="ctr">
              <a:noAutofit/>
            </a:bodyPr>
            <a:p>
              <a:pPr algn="ctr">
                <a:lnSpc>
                  <a:spcPct val="100000"/>
                </a:lnSpc>
                <a:tabLst>
                  <a:tab algn="l" pos="0"/>
                </a:tabLst>
              </a:pPr>
              <a:r>
                <a:rPr b="1" lang="en" sz="850" spc="-1" strike="noStrike">
                  <a:solidFill>
                    <a:srgbClr val="ffffff"/>
                  </a:solidFill>
                  <a:latin typeface="Inter"/>
                  <a:ea typeface="Inter"/>
                </a:rPr>
                <a:t>2</a:t>
              </a:r>
              <a:endParaRPr b="0" lang="en-US" sz="850" spc="-1" strike="noStrike">
                <a:solidFill>
                  <a:srgbClr val="000000"/>
                </a:solidFill>
                <a:latin typeface="Arial"/>
              </a:endParaRPr>
            </a:p>
          </p:txBody>
        </p:sp>
        <p:sp>
          <p:nvSpPr>
            <p:cNvPr id="815" name="Google Shape;924;p37"/>
            <p:cNvSpPr/>
            <p:nvPr/>
          </p:nvSpPr>
          <p:spPr>
            <a:xfrm>
              <a:off x="7143840" y="3286080"/>
              <a:ext cx="4000320" cy="52344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100" spc="-1" strike="noStrike">
                  <a:solidFill>
                    <a:srgbClr val="045a36"/>
                  </a:solidFill>
                  <a:latin typeface="Inter"/>
                  <a:ea typeface="Inter"/>
                </a:rPr>
                <a:t>Smart Distribution:</a:t>
              </a:r>
              <a:r>
                <a:rPr b="0" lang="en" sz="1100" spc="-1" strike="noStrike">
                  <a:solidFill>
                    <a:srgbClr val="374151"/>
                  </a:solidFill>
                  <a:latin typeface="Inter"/>
                  <a:ea typeface="Inter"/>
                </a:rPr>
                <a:t> Utilize CC / BCC routing and distribute to Multiple Recipients simultaneously.</a:t>
              </a:r>
              <a:endParaRPr b="0" lang="en-US" sz="1100" spc="-1" strike="noStrike">
                <a:solidFill>
                  <a:srgbClr val="000000"/>
                </a:solidFill>
                <a:latin typeface="Arial"/>
              </a:endParaRPr>
            </a:p>
          </p:txBody>
        </p:sp>
        <p:sp>
          <p:nvSpPr>
            <p:cNvPr id="816" name="Google Shape;925;p37"/>
            <p:cNvSpPr/>
            <p:nvPr/>
          </p:nvSpPr>
          <p:spPr>
            <a:xfrm>
              <a:off x="6791400" y="3933720"/>
              <a:ext cx="228240" cy="228240"/>
            </a:xfrm>
            <a:prstGeom prst="ellipse">
              <a:avLst/>
            </a:prstGeom>
            <a:solidFill>
              <a:srgbClr val="d4a017"/>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817" name="Google Shape;926;p37"/>
            <p:cNvSpPr/>
            <p:nvPr/>
          </p:nvSpPr>
          <p:spPr>
            <a:xfrm>
              <a:off x="6791400" y="3933720"/>
              <a:ext cx="228240" cy="228240"/>
            </a:xfrm>
            <a:prstGeom prst="rect">
              <a:avLst/>
            </a:prstGeom>
            <a:noFill/>
            <a:ln w="0">
              <a:noFill/>
            </a:ln>
          </p:spPr>
          <p:style>
            <a:lnRef idx="0"/>
            <a:fillRef idx="0"/>
            <a:effectRef idx="0"/>
            <a:fontRef idx="minor"/>
          </p:style>
          <p:txBody>
            <a:bodyPr lIns="0" rIns="0" tIns="0" bIns="0" anchor="ctr">
              <a:noAutofit/>
            </a:bodyPr>
            <a:p>
              <a:pPr algn="ctr">
                <a:lnSpc>
                  <a:spcPct val="100000"/>
                </a:lnSpc>
                <a:tabLst>
                  <a:tab algn="l" pos="0"/>
                </a:tabLst>
              </a:pPr>
              <a:r>
                <a:rPr b="1" lang="en" sz="850" spc="-1" strike="noStrike">
                  <a:solidFill>
                    <a:srgbClr val="ffffff"/>
                  </a:solidFill>
                  <a:latin typeface="Inter"/>
                  <a:ea typeface="Inter"/>
                </a:rPr>
                <a:t>3</a:t>
              </a:r>
              <a:endParaRPr b="0" lang="en-US" sz="850" spc="-1" strike="noStrike">
                <a:solidFill>
                  <a:srgbClr val="000000"/>
                </a:solidFill>
                <a:latin typeface="Arial"/>
              </a:endParaRPr>
            </a:p>
          </p:txBody>
        </p:sp>
        <p:sp>
          <p:nvSpPr>
            <p:cNvPr id="818" name="Google Shape;927;p37"/>
            <p:cNvSpPr/>
            <p:nvPr/>
          </p:nvSpPr>
          <p:spPr>
            <a:xfrm>
              <a:off x="7143840" y="3905280"/>
              <a:ext cx="4000320" cy="523440"/>
            </a:xfrm>
            <a:prstGeom prst="rect">
              <a:avLst/>
            </a:prstGeom>
            <a:noFill/>
            <a:ln w="0">
              <a:noFill/>
            </a:ln>
          </p:spPr>
          <p:style>
            <a:lnRef idx="0"/>
            <a:fillRef idx="0"/>
            <a:effectRef idx="0"/>
            <a:fontRef idx="minor"/>
          </p:style>
          <p:txBody>
            <a:bodyPr lIns="0" rIns="0" tIns="0" bIns="0" anchor="t">
              <a:noAutofit/>
            </a:bodyPr>
            <a:p>
              <a:pPr>
                <a:lnSpc>
                  <a:spcPct val="100000"/>
                </a:lnSpc>
                <a:tabLst>
                  <a:tab algn="l" pos="0"/>
                </a:tabLst>
              </a:pPr>
              <a:r>
                <a:rPr b="1" lang="en" sz="1100" spc="-1" strike="noStrike">
                  <a:solidFill>
                    <a:srgbClr val="045a36"/>
                  </a:solidFill>
                  <a:latin typeface="Inter"/>
                  <a:ea typeface="Inter"/>
                </a:rPr>
                <a:t>Systems Integration:</a:t>
              </a:r>
              <a:r>
                <a:rPr b="0" lang="en" sz="1100" spc="-1" strike="noStrike">
                  <a:solidFill>
                    <a:srgbClr val="374151"/>
                  </a:solidFill>
                  <a:latin typeface="Inter"/>
                  <a:ea typeface="Inter"/>
                </a:rPr>
                <a:t> Generate Automated Reports or integrate with Django frameworks.</a:t>
              </a:r>
              <a:endParaRPr b="0" lang="en-US" sz="1100" spc="-1" strike="noStrike">
                <a:solidFill>
                  <a:srgbClr val="000000"/>
                </a:solidFill>
                <a:latin typeface="Arial"/>
              </a:endParaRPr>
            </a:p>
          </p:txBody>
        </p:sp>
        <p:grpSp>
          <p:nvGrpSpPr>
            <p:cNvPr id="819" name="Google Shape;928;p37"/>
            <p:cNvGrpSpPr/>
            <p:nvPr/>
          </p:nvGrpSpPr>
          <p:grpSpPr>
            <a:xfrm>
              <a:off x="6762600" y="4619520"/>
              <a:ext cx="4381200" cy="428400"/>
              <a:chOff x="6762600" y="4619520"/>
              <a:chExt cx="4381200" cy="428400"/>
            </a:xfrm>
          </p:grpSpPr>
          <p:sp>
            <p:nvSpPr>
              <p:cNvPr id="820" name="Google Shape;929;p37"/>
              <p:cNvSpPr/>
              <p:nvPr/>
            </p:nvSpPr>
            <p:spPr>
              <a:xfrm>
                <a:off x="6762600" y="4619520"/>
                <a:ext cx="4381200" cy="428400"/>
              </a:xfrm>
              <a:prstGeom prst="roundRect">
                <a:avLst>
                  <a:gd name="adj" fmla="val 17777"/>
                </a:avLst>
              </a:prstGeom>
              <a:solidFill>
                <a:srgbClr val="f1f5f9"/>
              </a:solidFill>
              <a:ln w="9525">
                <a:solidFill>
                  <a:srgbClr val="e2e8f0"/>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821" name="Google Shape;930;p37"/>
              <p:cNvSpPr/>
              <p:nvPr/>
            </p:nvSpPr>
            <p:spPr>
              <a:xfrm>
                <a:off x="6915240" y="4748040"/>
                <a:ext cx="171360" cy="171360"/>
              </a:xfrm>
              <a:prstGeom prst="ellipse">
                <a:avLst/>
              </a:prstGeom>
              <a:solidFill>
                <a:srgbClr val="045a36"/>
              </a:solidFill>
              <a:ln w="0">
                <a:noFill/>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ffffff"/>
                  </a:solidFill>
                  <a:latin typeface="Arial"/>
                </a:endParaRPr>
              </a:p>
            </p:txBody>
          </p:sp>
          <p:sp>
            <p:nvSpPr>
              <p:cNvPr id="822" name="Google Shape;931;p37"/>
              <p:cNvSpPr/>
              <p:nvPr/>
            </p:nvSpPr>
            <p:spPr>
              <a:xfrm>
                <a:off x="7000920" y="4767120"/>
                <a:ext cx="360" cy="75960"/>
              </a:xfrm>
              <a:custGeom>
                <a:avLst/>
                <a:gdLst>
                  <a:gd name="textAreaLeft" fmla="*/ 0 w 360"/>
                  <a:gd name="textAreaRight" fmla="*/ 720 w 360"/>
                  <a:gd name="textAreaTop" fmla="*/ 0 h 75960"/>
                  <a:gd name="textAreaBottom" fmla="*/ 76320 h 75960"/>
                </a:gdLst>
                <a:ahLst/>
                <a:rect l="textAreaLeft" t="textAreaTop" r="textAreaRight" b="textAreaBottom"/>
                <a:pathLst>
                  <a:path fill="none" w="120000" h="120000">
                    <a:moveTo>
                      <a:pt x="0" y="45000"/>
                    </a:moveTo>
                    <a:lnTo>
                      <a:pt x="0" y="120000"/>
                    </a:lnTo>
                    <a:moveTo>
                      <a:pt x="0" y="0"/>
                    </a:moveTo>
                    <a:lnTo>
                      <a:pt x="120000" y="0"/>
                    </a:lnTo>
                  </a:path>
                </a:pathLst>
              </a:custGeom>
              <a:solidFill>
                <a:srgbClr val="ffffff"/>
              </a:solidFill>
              <a:ln cap="rnd" w="19050">
                <a:solidFill>
                  <a:srgbClr val="ffffff"/>
                </a:solidFill>
                <a:round/>
              </a:ln>
            </p:spPr>
            <p:style>
              <a:lnRef idx="0"/>
              <a:fillRef idx="0"/>
              <a:effectRef idx="0"/>
              <a:fontRef idx="minor"/>
            </p:style>
            <p:txBody>
              <a:bodyPr lIns="0" rIns="0" tIns="0" bIns="0" anchor="ctr">
                <a:noAutofit/>
              </a:bodyPr>
              <a:p>
                <a:pPr>
                  <a:lnSpc>
                    <a:spcPct val="100000"/>
                  </a:lnSpc>
                  <a:tabLst>
                    <a:tab algn="l" pos="0"/>
                  </a:tabLst>
                </a:pPr>
                <a:endParaRPr b="0" lang="en-US" sz="1400" spc="-1" strike="noStrike">
                  <a:solidFill>
                    <a:srgbClr val="000000"/>
                  </a:solidFill>
                  <a:latin typeface="Arial"/>
                </a:endParaRPr>
              </a:p>
            </p:txBody>
          </p:sp>
          <p:sp>
            <p:nvSpPr>
              <p:cNvPr id="823" name="Google Shape;932;p37"/>
              <p:cNvSpPr/>
              <p:nvPr/>
            </p:nvSpPr>
            <p:spPr>
              <a:xfrm>
                <a:off x="7191360" y="4619520"/>
                <a:ext cx="3809520" cy="42840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i="1" lang="en" sz="950" spc="-1" strike="noStrike">
                    <a:solidFill>
                      <a:srgbClr val="4b5563"/>
                    </a:solidFill>
                    <a:latin typeface="Inter"/>
                    <a:ea typeface="Inter"/>
                  </a:rPr>
                  <a:t>For further pathways, reference the </a:t>
                </a:r>
                <a:r>
                  <a:rPr b="1" lang="en" sz="950" spc="-1" strike="noStrike">
                    <a:solidFill>
                      <a:srgbClr val="d4a017"/>
                    </a:solidFill>
                    <a:latin typeface="Inter"/>
                    <a:ea typeface="Inter"/>
                  </a:rPr>
                  <a:t>Real Python</a:t>
                </a:r>
                <a:r>
                  <a:rPr b="0" i="1" lang="en" sz="950" spc="-1" strike="noStrike">
                    <a:solidFill>
                      <a:srgbClr val="4b5563"/>
                    </a:solidFill>
                    <a:latin typeface="Inter"/>
                    <a:ea typeface="Inter"/>
                  </a:rPr>
                  <a:t> tutorial series.</a:t>
                </a:r>
                <a:endParaRPr b="0" lang="en-US" sz="950" spc="-1" strike="noStrike">
                  <a:solidFill>
                    <a:srgbClr val="000000"/>
                  </a:solidFill>
                  <a:latin typeface="Arial"/>
                </a:endParaRPr>
              </a:p>
            </p:txBody>
          </p:sp>
        </p:grpSp>
      </p:grpSp>
      <p:pic>
        <p:nvPicPr>
          <p:cNvPr id="824" name="Google Shape;933;p37" descr=""/>
          <p:cNvPicPr/>
          <p:nvPr/>
        </p:nvPicPr>
        <p:blipFill>
          <a:blip r:embed="rId5"/>
          <a:stretch/>
        </p:blipFill>
        <p:spPr>
          <a:xfrm>
            <a:off x="762120" y="5981760"/>
            <a:ext cx="10667520" cy="304560"/>
          </a:xfrm>
          <a:prstGeom prst="rect">
            <a:avLst/>
          </a:prstGeom>
          <a:ln w="0">
            <a:noFill/>
          </a:ln>
        </p:spPr>
      </p:pic>
      <p:pic>
        <p:nvPicPr>
          <p:cNvPr id="825" name="Google Shape;934;p37" descr=""/>
          <p:cNvPicPr/>
          <p:nvPr/>
        </p:nvPicPr>
        <p:blipFill>
          <a:blip r:embed="rId6"/>
          <a:stretch/>
        </p:blipFill>
        <p:spPr>
          <a:xfrm>
            <a:off x="10287000" y="5457960"/>
            <a:ext cx="1523520" cy="1018800"/>
          </a:xfrm>
          <a:prstGeom prst="rect">
            <a:avLst/>
          </a:prstGeom>
          <a:ln w="0">
            <a:noFill/>
          </a:ln>
        </p:spPr>
      </p:pic>
      <p:sp>
        <p:nvSpPr>
          <p:cNvPr id="826" name="Google Shape;935;p37"/>
          <p:cNvSpPr/>
          <p:nvPr/>
        </p:nvSpPr>
        <p:spPr>
          <a:xfrm>
            <a:off x="762120" y="6134040"/>
            <a:ext cx="5714640" cy="190080"/>
          </a:xfrm>
          <a:prstGeom prst="rect">
            <a:avLst/>
          </a:prstGeom>
          <a:noFill/>
          <a:ln w="0">
            <a:noFill/>
          </a:ln>
        </p:spPr>
        <p:style>
          <a:lnRef idx="0"/>
          <a:fillRef idx="0"/>
          <a:effectRef idx="0"/>
          <a:fontRef idx="minor"/>
        </p:style>
        <p:txBody>
          <a:bodyPr lIns="0" rIns="0" tIns="0" bIns="0" anchor="ctr">
            <a:noAutofit/>
          </a:bodyPr>
          <a:p>
            <a:pPr>
              <a:lnSpc>
                <a:spcPct val="100000"/>
              </a:lnSpc>
              <a:tabLst>
                <a:tab algn="l" pos="0"/>
              </a:tabLst>
            </a:pPr>
            <a:r>
              <a:rPr b="0" lang="en" sz="980" spc="-1" strike="noStrike">
                <a:solidFill>
                  <a:srgbClr val="6b7280"/>
                </a:solidFill>
                <a:latin typeface="Inter"/>
                <a:ea typeface="Inter"/>
              </a:rPr>
              <a:t>Introduction to Email Automation &amp; SMTP | Python Advanced</a:t>
            </a:r>
            <a:endParaRPr b="0" lang="en-US" sz="98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4.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5.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6.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7.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8.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9.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0.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pitchFamily="0" charset="1"/>
        <a:ea typeface=""/>
        <a:cs typeface=""/>
      </a:majorFont>
      <a:minorFont>
        <a:latin typeface="Arial"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51</TotalTime>
  <Application>LibreOffice/24.2.7.2$Linux_X86_64 LibreOffice_project/420$Build-2</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
  <dc:description/>
  <dc:language>en-US</dc:language>
  <cp:lastModifiedBy/>
  <dcterms:modified xsi:type="dcterms:W3CDTF">2026-08-17T12:55:49Z</dcterms:modified>
  <cp:revision>1</cp:revision>
  <dc:subject/>
  <dc:title/>
</cp:coreProperties>
</file>