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Montserrat SemiBold"/>
      <p:regular r:id="rId30"/>
      <p:bold r:id="rId31"/>
      <p:italic r:id="rId32"/>
      <p:boldItalic r:id="rId33"/>
    </p:embeddedFont>
    <p:embeddedFont>
      <p:font typeface="Inter SemiBold"/>
      <p:regular r:id="rId34"/>
      <p:bold r:id="rId35"/>
      <p:italic r:id="rId36"/>
      <p:boldItalic r:id="rId37"/>
    </p:embeddedFont>
    <p:embeddedFont>
      <p:font typeface="Inter"/>
      <p:bold r:id="rId38"/>
      <p:boldItalic r:id="rId39"/>
    </p:embeddedFont>
    <p:embeddedFont>
      <p:font typeface="Montserrat"/>
      <p:bold r:id="rId40"/>
      <p:boldItalic r:id="rId41"/>
    </p:embeddedFont>
    <p:embeddedFont>
      <p:font typeface="Inter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5.xml"/><Relationship Id="rId42" Type="http://schemas.openxmlformats.org/officeDocument/2006/relationships/font" Target="fonts/InterMedium-regular.fntdata"/><Relationship Id="rId41" Type="http://schemas.openxmlformats.org/officeDocument/2006/relationships/font" Target="fonts/Montserrat-boldItalic.fntdata"/><Relationship Id="rId22" Type="http://schemas.openxmlformats.org/officeDocument/2006/relationships/slide" Target="slides/slide17.xml"/><Relationship Id="rId44" Type="http://schemas.openxmlformats.org/officeDocument/2006/relationships/font" Target="fonts/InterMedium-italic.fntdata"/><Relationship Id="rId21" Type="http://schemas.openxmlformats.org/officeDocument/2006/relationships/slide" Target="slides/slide16.xml"/><Relationship Id="rId43" Type="http://schemas.openxmlformats.org/officeDocument/2006/relationships/font" Target="fonts/InterMedium-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Inter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bold.fntdata"/><Relationship Id="rId30" Type="http://schemas.openxmlformats.org/officeDocument/2006/relationships/font" Target="fonts/MontserratSemiBold-regular.fntdata"/><Relationship Id="rId11" Type="http://schemas.openxmlformats.org/officeDocument/2006/relationships/slide" Target="slides/slide6.xml"/><Relationship Id="rId33" Type="http://schemas.openxmlformats.org/officeDocument/2006/relationships/font" Target="fonts/MontserratSemiBold-boldItalic.fntdata"/><Relationship Id="rId10" Type="http://schemas.openxmlformats.org/officeDocument/2006/relationships/slide" Target="slides/slide5.xml"/><Relationship Id="rId32" Type="http://schemas.openxmlformats.org/officeDocument/2006/relationships/font" Target="fonts/MontserratSemiBold-italic.fntdata"/><Relationship Id="rId13" Type="http://schemas.openxmlformats.org/officeDocument/2006/relationships/slide" Target="slides/slide8.xml"/><Relationship Id="rId35" Type="http://schemas.openxmlformats.org/officeDocument/2006/relationships/font" Target="fonts/InterSemiBold-bold.fntdata"/><Relationship Id="rId12" Type="http://schemas.openxmlformats.org/officeDocument/2006/relationships/slide" Target="slides/slide7.xml"/><Relationship Id="rId34" Type="http://schemas.openxmlformats.org/officeDocument/2006/relationships/font" Target="fonts/InterSemiBold-regular.fntdata"/><Relationship Id="rId15" Type="http://schemas.openxmlformats.org/officeDocument/2006/relationships/slide" Target="slides/slide10.xml"/><Relationship Id="rId37" Type="http://schemas.openxmlformats.org/officeDocument/2006/relationships/font" Target="fonts/InterSemiBold-boldItalic.fntdata"/><Relationship Id="rId14" Type="http://schemas.openxmlformats.org/officeDocument/2006/relationships/slide" Target="slides/slide9.xml"/><Relationship Id="rId36" Type="http://schemas.openxmlformats.org/officeDocument/2006/relationships/font" Target="fonts/InterSemiBold-italic.fntdata"/><Relationship Id="rId17" Type="http://schemas.openxmlformats.org/officeDocument/2006/relationships/slide" Target="slides/slide12.xml"/><Relationship Id="rId39" Type="http://schemas.openxmlformats.org/officeDocument/2006/relationships/font" Target="fonts/Inter-boldItalic.fntdata"/><Relationship Id="rId16" Type="http://schemas.openxmlformats.org/officeDocument/2006/relationships/slide" Target="slides/slide11.xml"/><Relationship Id="rId38" Type="http://schemas.openxmlformats.org/officeDocument/2006/relationships/font" Target="fonts/Inter-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7390a9a5a_3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7390a9a5a_3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7390a9a5a_3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7390a9a5a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7390a9a5a_2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7390a9a5a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7390a9a5a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7390a9a5a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7390a9a5a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7390a9a5a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7390a9a5a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7390a9a5a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7390a9a5a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7390a9a5a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7390a9a5a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7390a9a5a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7390a9a5a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7390a9a5a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7390a9a5a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7390a9a5a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7390a9a5a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f7390a9a5a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7390a9a5a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f7390a9a5a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7390a9a5a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f7390a9a5a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f7390a9a5a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f7390a9a5a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f7390a9a5a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f7390a9a5a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f7390a9a5a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f7390a9a5a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f7390a9a5a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f7390a9a5a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7390a9a5a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f7390a9a5a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7390a9a5a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f7390a9a5a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f7390a9a5a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f7390a9a5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f7390a9a5a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f7390a9a5a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f7390a9a5a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f7390a9a5a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f7390a9a5a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f7390a9a5a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f7390a9a5a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f7390a9a5a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7390a9a5a_7_0)">
  <p:cSld name="Generated (g3f7390a9a5a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415611" y="992767"/>
            <a:ext cx="11360800" cy="27368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2" name="Google Shape;12;p3"/>
          <p:cNvSpPr txBox="1"/>
          <p:nvPr>
            <p:ph idx="1" type="subTitle"/>
          </p:nvPr>
        </p:nvSpPr>
        <p:spPr>
          <a:xfrm>
            <a:off x="415600" y="3778833"/>
            <a:ext cx="11360800" cy="105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3" name="Google Shape;13;p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15600" y="2867800"/>
            <a:ext cx="11360800" cy="11224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4"/>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9" name="Google Shape;19;p5"/>
          <p:cNvSpPr txBox="1"/>
          <p:nvPr>
            <p:ph idx="1" type="body"/>
          </p:nvPr>
        </p:nvSpPr>
        <p:spPr>
          <a:xfrm>
            <a:off x="415600" y="1536633"/>
            <a:ext cx="113608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0" name="Google Shape;20;p5"/>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 name="Google Shape;23;p6"/>
          <p:cNvSpPr txBox="1"/>
          <p:nvPr>
            <p:ph idx="1" type="body"/>
          </p:nvPr>
        </p:nvSpPr>
        <p:spPr>
          <a:xfrm>
            <a:off x="4156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6"/>
          <p:cNvSpPr txBox="1"/>
          <p:nvPr>
            <p:ph idx="2" type="body"/>
          </p:nvPr>
        </p:nvSpPr>
        <p:spPr>
          <a:xfrm>
            <a:off x="64432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 name="Google Shape;25;p6"/>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 name="Google Shape;28;p7"/>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415600" y="740800"/>
            <a:ext cx="3744000" cy="10076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1" name="Google Shape;31;p8"/>
          <p:cNvSpPr txBox="1"/>
          <p:nvPr>
            <p:ph idx="1" type="body"/>
          </p:nvPr>
        </p:nvSpPr>
        <p:spPr>
          <a:xfrm>
            <a:off x="415600" y="1852800"/>
            <a:ext cx="3744000" cy="42392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p8"/>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653667" y="600200"/>
            <a:ext cx="8490400" cy="54544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5" name="Google Shape;35;p9"/>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354000" y="1644233"/>
            <a:ext cx="53936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9" name="Google Shape;39;p10"/>
          <p:cNvSpPr txBox="1"/>
          <p:nvPr>
            <p:ph idx="1" type="subTitle"/>
          </p:nvPr>
        </p:nvSpPr>
        <p:spPr>
          <a:xfrm>
            <a:off x="354000" y="3737433"/>
            <a:ext cx="5393600" cy="164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0"/>
          <p:cNvSpPr txBox="1"/>
          <p:nvPr>
            <p:ph idx="2" type="body"/>
          </p:nvPr>
        </p:nvSpPr>
        <p:spPr>
          <a:xfrm>
            <a:off x="6586000" y="965433"/>
            <a:ext cx="5116000" cy="49268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p10"/>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415600" y="5640767"/>
            <a:ext cx="7998400" cy="8068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4" name="Google Shape;44;p11"/>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415600" y="1474833"/>
            <a:ext cx="11360800" cy="26180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7" name="Google Shape;47;p12"/>
          <p:cNvSpPr txBox="1"/>
          <p:nvPr>
            <p:ph idx="1" type="body"/>
          </p:nvPr>
        </p:nvSpPr>
        <p:spPr>
          <a:xfrm>
            <a:off x="415600" y="4202967"/>
            <a:ext cx="11360800" cy="17344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8" name="Google Shape;48;p12"/>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600" cy="5248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5.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66.jpg"/><Relationship Id="rId6" Type="http://schemas.openxmlformats.org/officeDocument/2006/relationships/image" Target="../media/image7.png"/><Relationship Id="rId7"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5.png"/><Relationship Id="rId4" Type="http://schemas.openxmlformats.org/officeDocument/2006/relationships/image" Target="../media/image7.png"/><Relationship Id="rId5" Type="http://schemas.openxmlformats.org/officeDocument/2006/relationships/image" Target="../media/image15.png"/><Relationship Id="rId6" Type="http://schemas.openxmlformats.org/officeDocument/2006/relationships/image" Target="../media/image6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98.jpg"/><Relationship Id="rId6" Type="http://schemas.openxmlformats.org/officeDocument/2006/relationships/image" Target="../media/image7.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0"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5.png"/><Relationship Id="rId9" Type="http://schemas.openxmlformats.org/officeDocument/2006/relationships/image" Target="../media/image7.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102.jpg"/><Relationship Id="rId5" Type="http://schemas.openxmlformats.org/officeDocument/2006/relationships/image" Target="../media/image7.png"/><Relationship Id="rId6"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105.png"/><Relationship Id="rId6" Type="http://schemas.openxmlformats.org/officeDocument/2006/relationships/image" Target="../media/image7.png"/><Relationship Id="rId7"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7.png"/><Relationship Id="rId6"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7.png"/><Relationship Id="rId8"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56" name="Google Shape;56;p14"/>
          <p:cNvPicPr preferRelativeResize="0"/>
          <p:nvPr/>
        </p:nvPicPr>
        <p:blipFill rotWithShape="1">
          <a:blip r:embed="rId4">
            <a:alphaModFix/>
          </a:blip>
          <a:srcRect b="0" l="130" r="130" t="0"/>
          <a:stretch/>
        </p:blipFill>
        <p:spPr>
          <a:xfrm>
            <a:off x="0" y="0"/>
            <a:ext cx="12192000" cy="57300"/>
          </a:xfrm>
          <a:prstGeom prst="rect">
            <a:avLst/>
          </a:prstGeom>
          <a:noFill/>
          <a:ln>
            <a:noFill/>
          </a:ln>
        </p:spPr>
      </p:pic>
      <p:pic>
        <p:nvPicPr>
          <p:cNvPr id="57" name="Google Shape;57;p14"/>
          <p:cNvPicPr preferRelativeResize="0"/>
          <p:nvPr/>
        </p:nvPicPr>
        <p:blipFill rotWithShape="1">
          <a:blip r:embed="rId5">
            <a:alphaModFix/>
          </a:blip>
          <a:srcRect b="0" l="0" r="10" t="0"/>
          <a:stretch/>
        </p:blipFill>
        <p:spPr>
          <a:xfrm>
            <a:off x="762000" y="571500"/>
            <a:ext cx="2533800" cy="857700"/>
          </a:xfrm>
          <a:prstGeom prst="rect">
            <a:avLst/>
          </a:prstGeom>
          <a:noFill/>
          <a:ln>
            <a:noFill/>
          </a:ln>
        </p:spPr>
      </p:pic>
      <p:pic>
        <p:nvPicPr>
          <p:cNvPr id="58" name="Google Shape;58;p14"/>
          <p:cNvPicPr preferRelativeResize="0"/>
          <p:nvPr/>
        </p:nvPicPr>
        <p:blipFill rotWithShape="1">
          <a:blip r:embed="rId6">
            <a:alphaModFix/>
          </a:blip>
          <a:srcRect b="0" l="0" r="0" t="0"/>
          <a:stretch/>
        </p:blipFill>
        <p:spPr>
          <a:xfrm>
            <a:off x="10144125" y="428625"/>
            <a:ext cx="1143000" cy="1278900"/>
          </a:xfrm>
          <a:prstGeom prst="rect">
            <a:avLst/>
          </a:prstGeom>
          <a:noFill/>
          <a:ln>
            <a:noFill/>
          </a:ln>
        </p:spPr>
      </p:pic>
      <p:sp>
        <p:nvSpPr>
          <p:cNvPr id="59" name="Google Shape;59;p14"/>
          <p:cNvSpPr txBox="1"/>
          <p:nvPr/>
        </p:nvSpPr>
        <p:spPr>
          <a:xfrm>
            <a:off x="762000" y="1333500"/>
            <a:ext cx="106680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D4A017"/>
                </a:solidFill>
                <a:latin typeface="Inter"/>
                <a:ea typeface="Inter"/>
                <a:cs typeface="Inter"/>
                <a:sym typeface="Inter"/>
              </a:rPr>
              <a:t>PYTHON EMAIL AUTOMATION</a:t>
            </a:r>
            <a:endParaRPr b="1" sz="1150">
              <a:solidFill>
                <a:srgbClr val="D4A017"/>
              </a:solidFill>
              <a:latin typeface="Inter"/>
              <a:ea typeface="Inter"/>
              <a:cs typeface="Inter"/>
              <a:sym typeface="Inter"/>
            </a:endParaRPr>
          </a:p>
        </p:txBody>
      </p:sp>
      <p:sp>
        <p:nvSpPr>
          <p:cNvPr id="60" name="Google Shape;60;p14"/>
          <p:cNvSpPr txBox="1"/>
          <p:nvPr/>
        </p:nvSpPr>
        <p:spPr>
          <a:xfrm>
            <a:off x="762000" y="1619250"/>
            <a:ext cx="10668000" cy="9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500">
                <a:solidFill>
                  <a:srgbClr val="045A36"/>
                </a:solidFill>
                <a:latin typeface="Montserrat"/>
                <a:ea typeface="Montserrat"/>
                <a:cs typeface="Montserrat"/>
                <a:sym typeface="Montserrat"/>
              </a:rPr>
              <a:t>Python Empowers Developers to Automate Email Communication</a:t>
            </a:r>
            <a:endParaRPr b="1" sz="2500">
              <a:solidFill>
                <a:srgbClr val="045A36"/>
              </a:solidFill>
              <a:latin typeface="Montserrat"/>
              <a:ea typeface="Montserrat"/>
              <a:cs typeface="Montserrat"/>
              <a:sym typeface="Montserrat"/>
            </a:endParaRPr>
          </a:p>
        </p:txBody>
      </p:sp>
      <p:sp>
        <p:nvSpPr>
          <p:cNvPr id="61" name="Google Shape;61;p14"/>
          <p:cNvSpPr/>
          <p:nvPr/>
        </p:nvSpPr>
        <p:spPr>
          <a:xfrm>
            <a:off x="5381625" y="2667000"/>
            <a:ext cx="14289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txBox="1"/>
          <p:nvPr/>
        </p:nvSpPr>
        <p:spPr>
          <a:xfrm>
            <a:off x="762000" y="2809875"/>
            <a:ext cx="10668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350">
                <a:solidFill>
                  <a:srgbClr val="4B5563"/>
                </a:solidFill>
                <a:latin typeface="Inter SemiBold"/>
                <a:ea typeface="Inter SemiBold"/>
                <a:cs typeface="Inter SemiBold"/>
                <a:sym typeface="Inter SemiBold"/>
              </a:rPr>
              <a:t>Lecture 1: Core SMTP Connections</a:t>
            </a:r>
            <a:endParaRPr b="0" sz="1350">
              <a:solidFill>
                <a:srgbClr val="4B5563"/>
              </a:solidFill>
              <a:latin typeface="Inter SemiBold"/>
              <a:ea typeface="Inter SemiBold"/>
              <a:cs typeface="Inter SemiBold"/>
              <a:sym typeface="Inter SemiBold"/>
            </a:endParaRPr>
          </a:p>
        </p:txBody>
      </p:sp>
      <p:grpSp>
        <p:nvGrpSpPr>
          <p:cNvPr id="63" name="Google Shape;63;p14"/>
          <p:cNvGrpSpPr/>
          <p:nvPr/>
        </p:nvGrpSpPr>
        <p:grpSpPr>
          <a:xfrm>
            <a:off x="762000" y="3286125"/>
            <a:ext cx="2495700" cy="2095500"/>
            <a:chOff x="0" y="0"/>
            <a:chExt cx="2495700" cy="2095500"/>
          </a:xfrm>
        </p:grpSpPr>
        <p:sp>
          <p:nvSpPr>
            <p:cNvPr id="64" name="Google Shape;64;p14"/>
            <p:cNvSpPr/>
            <p:nvPr/>
          </p:nvSpPr>
          <p:spPr>
            <a:xfrm>
              <a:off x="0" y="0"/>
              <a:ext cx="2495700" cy="2095500"/>
            </a:xfrm>
            <a:prstGeom prst="roundRect">
              <a:avLst>
                <a:gd fmla="val 54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0" y="0"/>
              <a:ext cx="2495700" cy="573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txBox="1"/>
            <p:nvPr/>
          </p:nvSpPr>
          <p:spPr>
            <a:xfrm>
              <a:off x="142875" y="190500"/>
              <a:ext cx="2209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What We Build</a:t>
              </a:r>
              <a:endParaRPr b="1" sz="1050">
                <a:solidFill>
                  <a:srgbClr val="045A36"/>
                </a:solidFill>
                <a:latin typeface="Montserrat"/>
                <a:ea typeface="Montserrat"/>
                <a:cs typeface="Montserrat"/>
                <a:sym typeface="Montserrat"/>
              </a:endParaRPr>
            </a:p>
          </p:txBody>
        </p:sp>
        <p:sp>
          <p:nvSpPr>
            <p:cNvPr id="67" name="Google Shape;67;p14"/>
            <p:cNvSpPr txBox="1"/>
            <p:nvPr/>
          </p:nvSpPr>
          <p:spPr>
            <a:xfrm>
              <a:off x="142875" y="666750"/>
              <a:ext cx="2209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A fully automated Python script to connect to mail servers and send secure emails.</a:t>
              </a:r>
              <a:endParaRPr b="0" sz="950">
                <a:solidFill>
                  <a:srgbClr val="374151"/>
                </a:solidFill>
                <a:latin typeface="Inter"/>
                <a:ea typeface="Inter"/>
                <a:cs typeface="Inter"/>
                <a:sym typeface="Inter"/>
              </a:endParaRPr>
            </a:p>
          </p:txBody>
        </p:sp>
      </p:grpSp>
      <p:grpSp>
        <p:nvGrpSpPr>
          <p:cNvPr id="68" name="Google Shape;68;p14"/>
          <p:cNvGrpSpPr/>
          <p:nvPr/>
        </p:nvGrpSpPr>
        <p:grpSpPr>
          <a:xfrm>
            <a:off x="3486150" y="3286125"/>
            <a:ext cx="2495700" cy="2095500"/>
            <a:chOff x="0" y="0"/>
            <a:chExt cx="2495700" cy="2095500"/>
          </a:xfrm>
        </p:grpSpPr>
        <p:sp>
          <p:nvSpPr>
            <p:cNvPr id="69" name="Google Shape;69;p14"/>
            <p:cNvSpPr/>
            <p:nvPr/>
          </p:nvSpPr>
          <p:spPr>
            <a:xfrm>
              <a:off x="0" y="0"/>
              <a:ext cx="2495700" cy="2095500"/>
            </a:xfrm>
            <a:prstGeom prst="roundRect">
              <a:avLst>
                <a:gd fmla="val 54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p:nvPr/>
          </p:nvSpPr>
          <p:spPr>
            <a:xfrm>
              <a:off x="0" y="0"/>
              <a:ext cx="24957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4"/>
            <p:cNvSpPr txBox="1"/>
            <p:nvPr/>
          </p:nvSpPr>
          <p:spPr>
            <a:xfrm>
              <a:off x="142875" y="190500"/>
              <a:ext cx="2209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Why Python</a:t>
              </a:r>
              <a:endParaRPr b="1" sz="1050">
                <a:solidFill>
                  <a:srgbClr val="045A36"/>
                </a:solidFill>
                <a:latin typeface="Montserrat"/>
                <a:ea typeface="Montserrat"/>
                <a:cs typeface="Montserrat"/>
                <a:sym typeface="Montserrat"/>
              </a:endParaRPr>
            </a:p>
          </p:txBody>
        </p:sp>
        <p:sp>
          <p:nvSpPr>
            <p:cNvPr id="72" name="Google Shape;72;p14"/>
            <p:cNvSpPr txBox="1"/>
            <p:nvPr/>
          </p:nvSpPr>
          <p:spPr>
            <a:xfrm>
              <a:off x="142875" y="666750"/>
              <a:ext cx="2209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Why Python is perfect for this: built-in libraries, simple syntax, and cross-platform support.</a:t>
              </a:r>
              <a:endParaRPr b="0" sz="950">
                <a:solidFill>
                  <a:srgbClr val="374151"/>
                </a:solidFill>
                <a:latin typeface="Inter"/>
                <a:ea typeface="Inter"/>
                <a:cs typeface="Inter"/>
                <a:sym typeface="Inter"/>
              </a:endParaRPr>
            </a:p>
          </p:txBody>
        </p:sp>
      </p:grpSp>
      <p:grpSp>
        <p:nvGrpSpPr>
          <p:cNvPr id="73" name="Google Shape;73;p14"/>
          <p:cNvGrpSpPr/>
          <p:nvPr/>
        </p:nvGrpSpPr>
        <p:grpSpPr>
          <a:xfrm>
            <a:off x="6210300" y="3286125"/>
            <a:ext cx="2495700" cy="2095500"/>
            <a:chOff x="0" y="0"/>
            <a:chExt cx="2495700" cy="2095500"/>
          </a:xfrm>
        </p:grpSpPr>
        <p:sp>
          <p:nvSpPr>
            <p:cNvPr id="74" name="Google Shape;74;p14"/>
            <p:cNvSpPr/>
            <p:nvPr/>
          </p:nvSpPr>
          <p:spPr>
            <a:xfrm>
              <a:off x="0" y="0"/>
              <a:ext cx="2495700" cy="2095500"/>
            </a:xfrm>
            <a:prstGeom prst="roundRect">
              <a:avLst>
                <a:gd fmla="val 54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4"/>
            <p:cNvSpPr/>
            <p:nvPr/>
          </p:nvSpPr>
          <p:spPr>
            <a:xfrm>
              <a:off x="0" y="0"/>
              <a:ext cx="2495700" cy="573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txBox="1"/>
            <p:nvPr/>
          </p:nvSpPr>
          <p:spPr>
            <a:xfrm>
              <a:off x="142875" y="190500"/>
              <a:ext cx="2209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smtplib + SMTP</a:t>
              </a:r>
              <a:endParaRPr b="1" sz="1050">
                <a:solidFill>
                  <a:srgbClr val="045A36"/>
                </a:solidFill>
                <a:latin typeface="Montserrat"/>
                <a:ea typeface="Montserrat"/>
                <a:cs typeface="Montserrat"/>
                <a:sym typeface="Montserrat"/>
              </a:endParaRPr>
            </a:p>
          </p:txBody>
        </p:sp>
        <p:sp>
          <p:nvSpPr>
            <p:cNvPr id="77" name="Google Shape;77;p14"/>
            <p:cNvSpPr txBox="1"/>
            <p:nvPr/>
          </p:nvSpPr>
          <p:spPr>
            <a:xfrm>
              <a:off x="142875" y="666750"/>
              <a:ext cx="2209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An introduction to the relationship between the Python library and the communication protocol.</a:t>
              </a:r>
              <a:endParaRPr b="0" sz="950">
                <a:solidFill>
                  <a:srgbClr val="374151"/>
                </a:solidFill>
                <a:latin typeface="Inter"/>
                <a:ea typeface="Inter"/>
                <a:cs typeface="Inter"/>
                <a:sym typeface="Inter"/>
              </a:endParaRPr>
            </a:p>
          </p:txBody>
        </p:sp>
      </p:grpSp>
      <p:grpSp>
        <p:nvGrpSpPr>
          <p:cNvPr id="78" name="Google Shape;78;p14"/>
          <p:cNvGrpSpPr/>
          <p:nvPr/>
        </p:nvGrpSpPr>
        <p:grpSpPr>
          <a:xfrm>
            <a:off x="8934450" y="3286125"/>
            <a:ext cx="2495700" cy="2095500"/>
            <a:chOff x="0" y="0"/>
            <a:chExt cx="2495700" cy="2095500"/>
          </a:xfrm>
        </p:grpSpPr>
        <p:sp>
          <p:nvSpPr>
            <p:cNvPr id="79" name="Google Shape;79;p14"/>
            <p:cNvSpPr/>
            <p:nvPr/>
          </p:nvSpPr>
          <p:spPr>
            <a:xfrm>
              <a:off x="0" y="0"/>
              <a:ext cx="2495700" cy="2095500"/>
            </a:xfrm>
            <a:prstGeom prst="roundRect">
              <a:avLst>
                <a:gd fmla="val 54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p:nvPr/>
          </p:nvSpPr>
          <p:spPr>
            <a:xfrm>
              <a:off x="0" y="0"/>
              <a:ext cx="24957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4"/>
            <p:cNvSpPr txBox="1"/>
            <p:nvPr/>
          </p:nvSpPr>
          <p:spPr>
            <a:xfrm>
              <a:off x="142875" y="190500"/>
              <a:ext cx="2209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Lecture Objectives</a:t>
              </a:r>
              <a:endParaRPr b="1" sz="1050">
                <a:solidFill>
                  <a:srgbClr val="045A36"/>
                </a:solidFill>
                <a:latin typeface="Montserrat"/>
                <a:ea typeface="Montserrat"/>
                <a:cs typeface="Montserrat"/>
                <a:sym typeface="Montserrat"/>
              </a:endParaRPr>
            </a:p>
          </p:txBody>
        </p:sp>
        <p:sp>
          <p:nvSpPr>
            <p:cNvPr id="82" name="Google Shape;82;p14"/>
            <p:cNvSpPr txBox="1"/>
            <p:nvPr/>
          </p:nvSpPr>
          <p:spPr>
            <a:xfrm>
              <a:off x="142875" y="666750"/>
              <a:ext cx="2209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 Understand SMTP</a:t>
              </a:r>
              <a:endParaRPr b="0" sz="950">
                <a:solidFill>
                  <a:srgbClr val="374151"/>
                </a:solidFill>
                <a:latin typeface="Inter"/>
                <a:ea typeface="Inter"/>
                <a:cs typeface="Inter"/>
                <a:sym typeface="Inter"/>
              </a:endParaRPr>
            </a:p>
            <a:p>
              <a:pPr indent="0" lvl="0" marL="0" rtl="0" algn="l">
                <a:spcBef>
                  <a:spcPts val="450"/>
                </a:spcBef>
                <a:spcAft>
                  <a:spcPts val="0"/>
                </a:spcAft>
                <a:buNone/>
              </a:pPr>
              <a:r>
                <a:rPr b="0" lang="en" sz="950">
                  <a:solidFill>
                    <a:srgbClr val="374151"/>
                  </a:solidFill>
                  <a:latin typeface="Inter"/>
                  <a:ea typeface="Inter"/>
                  <a:cs typeface="Inter"/>
                  <a:sym typeface="Inter"/>
                </a:rPr>
                <a:t>• Establish secure connections</a:t>
              </a:r>
              <a:endParaRPr b="0" sz="950">
                <a:solidFill>
                  <a:srgbClr val="374151"/>
                </a:solidFill>
                <a:latin typeface="Inter"/>
                <a:ea typeface="Inter"/>
                <a:cs typeface="Inter"/>
                <a:sym typeface="Inter"/>
              </a:endParaRPr>
            </a:p>
            <a:p>
              <a:pPr indent="0" lvl="0" marL="0" rtl="0" algn="l">
                <a:spcBef>
                  <a:spcPts val="450"/>
                </a:spcBef>
                <a:spcAft>
                  <a:spcPts val="0"/>
                </a:spcAft>
                <a:buNone/>
              </a:pPr>
              <a:r>
                <a:rPr b="0" lang="en" sz="950">
                  <a:solidFill>
                    <a:srgbClr val="374151"/>
                  </a:solidFill>
                  <a:latin typeface="Inter"/>
                  <a:ea typeface="Inter"/>
                  <a:cs typeface="Inter"/>
                  <a:sym typeface="Inter"/>
                </a:rPr>
                <a:t>• Authenticate with servers</a:t>
              </a:r>
              <a:endParaRPr b="0" sz="950">
                <a:solidFill>
                  <a:srgbClr val="374151"/>
                </a:solidFill>
                <a:latin typeface="Inter"/>
                <a:ea typeface="Inter"/>
                <a:cs typeface="Inter"/>
                <a:sym typeface="Inter"/>
              </a:endParaRPr>
            </a:p>
            <a:p>
              <a:pPr indent="0" lvl="0" marL="0" rtl="0" algn="l">
                <a:spcBef>
                  <a:spcPts val="450"/>
                </a:spcBef>
                <a:spcAft>
                  <a:spcPts val="0"/>
                </a:spcAft>
                <a:buNone/>
              </a:pPr>
              <a:r>
                <a:rPr b="0" lang="en" sz="950">
                  <a:solidFill>
                    <a:srgbClr val="374151"/>
                  </a:solidFill>
                  <a:latin typeface="Inter"/>
                  <a:ea typeface="Inter"/>
                  <a:cs typeface="Inter"/>
                  <a:sym typeface="Inter"/>
                </a:rPr>
                <a:t>• Handle connection errors</a:t>
              </a:r>
              <a:endParaRPr b="0" sz="950">
                <a:solidFill>
                  <a:srgbClr val="374151"/>
                </a:solidFill>
                <a:latin typeface="Inter"/>
                <a:ea typeface="Inter"/>
                <a:cs typeface="Inter"/>
                <a:sym typeface="Inter"/>
              </a:endParaRPr>
            </a:p>
          </p:txBody>
        </p:sp>
      </p:grpSp>
      <p:pic>
        <p:nvPicPr>
          <p:cNvPr id="83" name="Google Shape;83;p14"/>
          <p:cNvPicPr preferRelativeResize="0"/>
          <p:nvPr/>
        </p:nvPicPr>
        <p:blipFill rotWithShape="1">
          <a:blip r:embed="rId7">
            <a:alphaModFix/>
          </a:blip>
          <a:srcRect b="0" l="10" r="10" t="0"/>
          <a:stretch/>
        </p:blipFill>
        <p:spPr>
          <a:xfrm>
            <a:off x="762000" y="5581650"/>
            <a:ext cx="10668000" cy="705000"/>
          </a:xfrm>
          <a:prstGeom prst="rect">
            <a:avLst/>
          </a:prstGeom>
          <a:noFill/>
          <a:ln>
            <a:noFill/>
          </a:ln>
        </p:spPr>
      </p:pic>
      <p:sp>
        <p:nvSpPr>
          <p:cNvPr id="84" name="Google Shape;84;p14"/>
          <p:cNvSpPr txBox="1"/>
          <p:nvPr/>
        </p:nvSpPr>
        <p:spPr>
          <a:xfrm>
            <a:off x="762000" y="5829300"/>
            <a:ext cx="31146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CA3AF"/>
                </a:solidFill>
                <a:latin typeface="Inter"/>
                <a:ea typeface="Inter"/>
                <a:cs typeface="Inter"/>
                <a:sym typeface="Inter"/>
              </a:rPr>
              <a:t>PRESENTED BY</a:t>
            </a:r>
            <a:endParaRPr b="0" sz="900">
              <a:solidFill>
                <a:srgbClr val="9CA3AF"/>
              </a:solidFill>
              <a:latin typeface="Inter"/>
              <a:ea typeface="Inter"/>
              <a:cs typeface="Inter"/>
              <a:sym typeface="Inter"/>
            </a:endParaRPr>
          </a:p>
        </p:txBody>
      </p:sp>
      <p:sp>
        <p:nvSpPr>
          <p:cNvPr id="85" name="Google Shape;85;p14"/>
          <p:cNvSpPr txBox="1"/>
          <p:nvPr/>
        </p:nvSpPr>
        <p:spPr>
          <a:xfrm>
            <a:off x="762000" y="6019800"/>
            <a:ext cx="31146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50">
                <a:solidFill>
                  <a:srgbClr val="1F2937"/>
                </a:solidFill>
                <a:latin typeface="Inter SemiBold"/>
                <a:ea typeface="Inter SemiBold"/>
                <a:cs typeface="Inter SemiBold"/>
                <a:sym typeface="Inter SemiBold"/>
              </a:rPr>
              <a:t>Mr Muhammad Yousif</a:t>
            </a:r>
            <a:endParaRPr b="0" sz="1350">
              <a:solidFill>
                <a:srgbClr val="1F2937"/>
              </a:solidFill>
              <a:latin typeface="Inter SemiBold"/>
              <a:ea typeface="Inter SemiBold"/>
              <a:cs typeface="Inter SemiBold"/>
              <a:sym typeface="Inter SemiBold"/>
            </a:endParaRPr>
          </a:p>
        </p:txBody>
      </p:sp>
      <p:sp>
        <p:nvSpPr>
          <p:cNvPr id="86" name="Google Shape;86;p14"/>
          <p:cNvSpPr txBox="1"/>
          <p:nvPr/>
        </p:nvSpPr>
        <p:spPr>
          <a:xfrm>
            <a:off x="10287000" y="5829300"/>
            <a:ext cx="1143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9CA3AF"/>
                </a:solidFill>
                <a:latin typeface="Inter"/>
                <a:ea typeface="Inter"/>
                <a:cs typeface="Inter"/>
                <a:sym typeface="Inter"/>
              </a:rPr>
              <a:t>DATE OF SESSION</a:t>
            </a:r>
            <a:endParaRPr b="0" sz="900">
              <a:solidFill>
                <a:srgbClr val="9CA3AF"/>
              </a:solidFill>
              <a:latin typeface="Inter"/>
              <a:ea typeface="Inter"/>
              <a:cs typeface="Inter"/>
              <a:sym typeface="Inter"/>
            </a:endParaRPr>
          </a:p>
        </p:txBody>
      </p:sp>
      <p:sp>
        <p:nvSpPr>
          <p:cNvPr id="87" name="Google Shape;87;p14"/>
          <p:cNvSpPr txBox="1"/>
          <p:nvPr/>
        </p:nvSpPr>
        <p:spPr>
          <a:xfrm>
            <a:off x="10287000" y="6019800"/>
            <a:ext cx="1143000" cy="2859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350">
                <a:solidFill>
                  <a:srgbClr val="1F2937"/>
                </a:solidFill>
                <a:latin typeface="Inter SemiBold"/>
                <a:ea typeface="Inter SemiBold"/>
                <a:cs typeface="Inter SemiBold"/>
                <a:sym typeface="Inter SemiBold"/>
              </a:rPr>
              <a:t>June 2026</a:t>
            </a:r>
            <a:endParaRPr b="0" sz="1350">
              <a:solidFill>
                <a:srgbClr val="1F2937"/>
              </a:solidFill>
              <a:latin typeface="Inter SemiBold"/>
              <a:ea typeface="Inter SemiBold"/>
              <a:cs typeface="Inter SemiBold"/>
              <a:sym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93" name="Google Shape;93;p1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5"/>
          <p:cNvSpPr txBox="1"/>
          <p:nvPr/>
        </p:nvSpPr>
        <p:spPr>
          <a:xfrm>
            <a:off x="762000" y="571500"/>
            <a:ext cx="952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Email Automation Replaces Manual Tasks</a:t>
            </a:r>
            <a:endParaRPr b="0" sz="2700">
              <a:solidFill>
                <a:srgbClr val="045A36"/>
              </a:solidFill>
              <a:latin typeface="Montserrat SemiBold"/>
              <a:ea typeface="Montserrat SemiBold"/>
              <a:cs typeface="Montserrat SemiBold"/>
              <a:sym typeface="Montserrat SemiBold"/>
            </a:endParaRPr>
          </a:p>
        </p:txBody>
      </p:sp>
      <p:grpSp>
        <p:nvGrpSpPr>
          <p:cNvPr id="95" name="Google Shape;95;p15"/>
          <p:cNvGrpSpPr/>
          <p:nvPr/>
        </p:nvGrpSpPr>
        <p:grpSpPr>
          <a:xfrm>
            <a:off x="762000" y="1333500"/>
            <a:ext cx="4953000" cy="1857300"/>
            <a:chOff x="0" y="0"/>
            <a:chExt cx="4953000" cy="1857300"/>
          </a:xfrm>
        </p:grpSpPr>
        <p:sp>
          <p:nvSpPr>
            <p:cNvPr id="96" name="Google Shape;96;p15"/>
            <p:cNvSpPr/>
            <p:nvPr/>
          </p:nvSpPr>
          <p:spPr>
            <a:xfrm>
              <a:off x="0" y="0"/>
              <a:ext cx="4953000" cy="1857300"/>
            </a:xfrm>
            <a:prstGeom prst="roundRect">
              <a:avLst>
                <a:gd fmla="val 61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p:nvPr/>
          </p:nvSpPr>
          <p:spPr>
            <a:xfrm>
              <a:off x="0" y="0"/>
              <a:ext cx="49530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5"/>
            <p:cNvSpPr txBox="1"/>
            <p:nvPr/>
          </p:nvSpPr>
          <p:spPr>
            <a:xfrm>
              <a:off x="238125" y="238125"/>
              <a:ext cx="44769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Manual Email</a:t>
              </a:r>
              <a:endParaRPr b="1" sz="1650">
                <a:solidFill>
                  <a:srgbClr val="045A36"/>
                </a:solidFill>
                <a:latin typeface="Montserrat"/>
                <a:ea typeface="Montserrat"/>
                <a:cs typeface="Montserrat"/>
                <a:sym typeface="Montserrat"/>
              </a:endParaRPr>
            </a:p>
            <a:p>
              <a:pPr indent="0" lvl="0" marL="0" rtl="0" algn="l">
                <a:spcBef>
                  <a:spcPts val="600"/>
                </a:spcBef>
                <a:spcAft>
                  <a:spcPts val="0"/>
                </a:spcAft>
                <a:buNone/>
              </a:pPr>
              <a:r>
                <a:rPr b="0" lang="en" sz="1150">
                  <a:solidFill>
                    <a:srgbClr val="374151"/>
                  </a:solidFill>
                  <a:latin typeface="Inter"/>
                  <a:ea typeface="Inter"/>
                  <a:cs typeface="Inter"/>
                  <a:sym typeface="Inter"/>
                </a:rPr>
                <a:t>Requires human intervention for every message sent. Creates high operational overhead and increases the risk of human error in repetitive communication tasks.</a:t>
              </a:r>
              <a:endParaRPr b="0" sz="1150">
                <a:solidFill>
                  <a:srgbClr val="374151"/>
                </a:solidFill>
                <a:latin typeface="Inter"/>
                <a:ea typeface="Inter"/>
                <a:cs typeface="Inter"/>
                <a:sym typeface="Inter"/>
              </a:endParaRPr>
            </a:p>
          </p:txBody>
        </p:sp>
      </p:grpSp>
      <p:grpSp>
        <p:nvGrpSpPr>
          <p:cNvPr id="99" name="Google Shape;99;p15"/>
          <p:cNvGrpSpPr/>
          <p:nvPr/>
        </p:nvGrpSpPr>
        <p:grpSpPr>
          <a:xfrm>
            <a:off x="6477000" y="1333500"/>
            <a:ext cx="4953000" cy="1857300"/>
            <a:chOff x="0" y="0"/>
            <a:chExt cx="4953000" cy="1857300"/>
          </a:xfrm>
        </p:grpSpPr>
        <p:sp>
          <p:nvSpPr>
            <p:cNvPr id="100" name="Google Shape;100;p15"/>
            <p:cNvSpPr/>
            <p:nvPr/>
          </p:nvSpPr>
          <p:spPr>
            <a:xfrm>
              <a:off x="0" y="0"/>
              <a:ext cx="4953000" cy="1857300"/>
            </a:xfrm>
            <a:prstGeom prst="roundRect">
              <a:avLst>
                <a:gd fmla="val 61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p:nvPr/>
          </p:nvSpPr>
          <p:spPr>
            <a:xfrm>
              <a:off x="0" y="0"/>
              <a:ext cx="49530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txBox="1"/>
            <p:nvPr/>
          </p:nvSpPr>
          <p:spPr>
            <a:xfrm>
              <a:off x="238125" y="238125"/>
              <a:ext cx="44769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D4A017"/>
                  </a:solidFill>
                  <a:latin typeface="Montserrat"/>
                  <a:ea typeface="Montserrat"/>
                  <a:cs typeface="Montserrat"/>
                  <a:sym typeface="Montserrat"/>
                </a:rPr>
                <a:t>Automated Email</a:t>
              </a:r>
              <a:endParaRPr b="1" sz="1650">
                <a:solidFill>
                  <a:srgbClr val="D4A017"/>
                </a:solidFill>
                <a:latin typeface="Montserrat"/>
                <a:ea typeface="Montserrat"/>
                <a:cs typeface="Montserrat"/>
                <a:sym typeface="Montserrat"/>
              </a:endParaRPr>
            </a:p>
            <a:p>
              <a:pPr indent="0" lvl="0" marL="0" rtl="0" algn="l">
                <a:spcBef>
                  <a:spcPts val="600"/>
                </a:spcBef>
                <a:spcAft>
                  <a:spcPts val="0"/>
                </a:spcAft>
                <a:buNone/>
              </a:pPr>
              <a:r>
                <a:rPr b="0" lang="en" sz="1150">
                  <a:solidFill>
                    <a:srgbClr val="374151"/>
                  </a:solidFill>
                  <a:latin typeface="Inter"/>
                  <a:ea typeface="Inter"/>
                  <a:cs typeface="Inter"/>
                  <a:sym typeface="Inter"/>
                </a:rPr>
                <a:t>Handled programmatically at scale by software systems. Ensures absolute speed, reliability, and precision without requiring human oversight for each dispatch.</a:t>
              </a:r>
              <a:endParaRPr b="0" sz="1150">
                <a:solidFill>
                  <a:srgbClr val="374151"/>
                </a:solidFill>
                <a:latin typeface="Inter"/>
                <a:ea typeface="Inter"/>
                <a:cs typeface="Inter"/>
                <a:sym typeface="Inter"/>
              </a:endParaRPr>
            </a:p>
          </p:txBody>
        </p:sp>
      </p:grpSp>
      <p:sp>
        <p:nvSpPr>
          <p:cNvPr id="103" name="Google Shape;103;p15"/>
          <p:cNvSpPr/>
          <p:nvPr/>
        </p:nvSpPr>
        <p:spPr>
          <a:xfrm>
            <a:off x="762000" y="3429000"/>
            <a:ext cx="10668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txBox="1"/>
          <p:nvPr/>
        </p:nvSpPr>
        <p:spPr>
          <a:xfrm>
            <a:off x="762000" y="3571875"/>
            <a:ext cx="10668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Real-World Applications</a:t>
            </a:r>
            <a:endParaRPr b="1" sz="1400">
              <a:solidFill>
                <a:srgbClr val="045A36"/>
              </a:solidFill>
              <a:latin typeface="Montserrat"/>
              <a:ea typeface="Montserrat"/>
              <a:cs typeface="Montserrat"/>
              <a:sym typeface="Montserrat"/>
            </a:endParaRPr>
          </a:p>
        </p:txBody>
      </p:sp>
      <p:grpSp>
        <p:nvGrpSpPr>
          <p:cNvPr id="105" name="Google Shape;105;p15"/>
          <p:cNvGrpSpPr/>
          <p:nvPr/>
        </p:nvGrpSpPr>
        <p:grpSpPr>
          <a:xfrm>
            <a:off x="762000" y="4000500"/>
            <a:ext cx="190500" cy="190500"/>
            <a:chOff x="0" y="0"/>
            <a:chExt cx="190500" cy="190500"/>
          </a:xfrm>
        </p:grpSpPr>
        <p:sp>
          <p:nvSpPr>
            <p:cNvPr id="106" name="Google Shape;106;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8" name="Google Shape;108;p15"/>
          <p:cNvSpPr txBox="1"/>
          <p:nvPr/>
        </p:nvSpPr>
        <p:spPr>
          <a:xfrm>
            <a:off x="1095375" y="3981450"/>
            <a:ext cx="4619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Attendance Notifications:</a:t>
            </a:r>
            <a:r>
              <a:rPr b="0" lang="en" sz="1150">
                <a:solidFill>
                  <a:srgbClr val="374151"/>
                </a:solidFill>
                <a:latin typeface="Inter"/>
                <a:ea typeface="Inter"/>
                <a:cs typeface="Inter"/>
                <a:sym typeface="Inter"/>
              </a:rPr>
              <a:t> Triggered instantly on database updates.</a:t>
            </a:r>
            <a:endParaRPr b="0" sz="1150">
              <a:solidFill>
                <a:srgbClr val="374151"/>
              </a:solidFill>
              <a:latin typeface="Inter"/>
              <a:ea typeface="Inter"/>
              <a:cs typeface="Inter"/>
              <a:sym typeface="Inter"/>
            </a:endParaRPr>
          </a:p>
        </p:txBody>
      </p:sp>
      <p:grpSp>
        <p:nvGrpSpPr>
          <p:cNvPr id="109" name="Google Shape;109;p15"/>
          <p:cNvGrpSpPr/>
          <p:nvPr/>
        </p:nvGrpSpPr>
        <p:grpSpPr>
          <a:xfrm>
            <a:off x="762000" y="4429125"/>
            <a:ext cx="190500" cy="190500"/>
            <a:chOff x="0" y="0"/>
            <a:chExt cx="190500" cy="190500"/>
          </a:xfrm>
        </p:grpSpPr>
        <p:sp>
          <p:nvSpPr>
            <p:cNvPr id="110" name="Google Shape;110;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2" name="Google Shape;112;p15"/>
          <p:cNvSpPr txBox="1"/>
          <p:nvPr/>
        </p:nvSpPr>
        <p:spPr>
          <a:xfrm>
            <a:off x="1095375" y="4410075"/>
            <a:ext cx="4619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Registration Confirmations:</a:t>
            </a:r>
            <a:r>
              <a:rPr b="0" lang="en" sz="1150">
                <a:solidFill>
                  <a:srgbClr val="374151"/>
                </a:solidFill>
                <a:latin typeface="Inter"/>
                <a:ea typeface="Inter"/>
                <a:cs typeface="Inter"/>
                <a:sym typeface="Inter"/>
              </a:rPr>
              <a:t> Sent immediately upon user sign-up.</a:t>
            </a:r>
            <a:endParaRPr b="0" sz="1150">
              <a:solidFill>
                <a:srgbClr val="374151"/>
              </a:solidFill>
              <a:latin typeface="Inter"/>
              <a:ea typeface="Inter"/>
              <a:cs typeface="Inter"/>
              <a:sym typeface="Inter"/>
            </a:endParaRPr>
          </a:p>
        </p:txBody>
      </p:sp>
      <p:grpSp>
        <p:nvGrpSpPr>
          <p:cNvPr id="113" name="Google Shape;113;p15"/>
          <p:cNvGrpSpPr/>
          <p:nvPr/>
        </p:nvGrpSpPr>
        <p:grpSpPr>
          <a:xfrm>
            <a:off x="762000" y="4857750"/>
            <a:ext cx="190500" cy="190500"/>
            <a:chOff x="0" y="0"/>
            <a:chExt cx="190500" cy="190500"/>
          </a:xfrm>
        </p:grpSpPr>
        <p:sp>
          <p:nvSpPr>
            <p:cNvPr id="114" name="Google Shape;114;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6" name="Google Shape;116;p15"/>
          <p:cNvSpPr txBox="1"/>
          <p:nvPr/>
        </p:nvSpPr>
        <p:spPr>
          <a:xfrm>
            <a:off x="1095375" y="4838700"/>
            <a:ext cx="4619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Secure Password Resets:</a:t>
            </a:r>
            <a:r>
              <a:rPr b="0" lang="en" sz="1150">
                <a:solidFill>
                  <a:srgbClr val="374151"/>
                </a:solidFill>
                <a:latin typeface="Inter"/>
                <a:ea typeface="Inter"/>
                <a:cs typeface="Inter"/>
                <a:sym typeface="Inter"/>
              </a:rPr>
              <a:t> Delivered securely when requested.</a:t>
            </a:r>
            <a:endParaRPr b="0" sz="1150">
              <a:solidFill>
                <a:srgbClr val="374151"/>
              </a:solidFill>
              <a:latin typeface="Inter"/>
              <a:ea typeface="Inter"/>
              <a:cs typeface="Inter"/>
              <a:sym typeface="Inter"/>
            </a:endParaRPr>
          </a:p>
        </p:txBody>
      </p:sp>
      <p:grpSp>
        <p:nvGrpSpPr>
          <p:cNvPr id="117" name="Google Shape;117;p15"/>
          <p:cNvGrpSpPr/>
          <p:nvPr/>
        </p:nvGrpSpPr>
        <p:grpSpPr>
          <a:xfrm>
            <a:off x="6477000" y="4000500"/>
            <a:ext cx="190500" cy="190500"/>
            <a:chOff x="0" y="0"/>
            <a:chExt cx="190500" cy="190500"/>
          </a:xfrm>
        </p:grpSpPr>
        <p:sp>
          <p:nvSpPr>
            <p:cNvPr id="118" name="Google Shape;118;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0" name="Google Shape;120;p15"/>
          <p:cNvSpPr txBox="1"/>
          <p:nvPr/>
        </p:nvSpPr>
        <p:spPr>
          <a:xfrm>
            <a:off x="6810375" y="3981450"/>
            <a:ext cx="4619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Scheduled Weekly Reports:</a:t>
            </a:r>
            <a:r>
              <a:rPr b="0" lang="en" sz="1150">
                <a:solidFill>
                  <a:srgbClr val="374151"/>
                </a:solidFill>
                <a:latin typeface="Inter"/>
                <a:ea typeface="Inter"/>
                <a:cs typeface="Inter"/>
                <a:sym typeface="Inter"/>
              </a:rPr>
              <a:t> Dispatched automatically to target users.</a:t>
            </a:r>
            <a:endParaRPr b="0" sz="1150">
              <a:solidFill>
                <a:srgbClr val="374151"/>
              </a:solidFill>
              <a:latin typeface="Inter"/>
              <a:ea typeface="Inter"/>
              <a:cs typeface="Inter"/>
              <a:sym typeface="Inter"/>
            </a:endParaRPr>
          </a:p>
        </p:txBody>
      </p:sp>
      <p:grpSp>
        <p:nvGrpSpPr>
          <p:cNvPr id="121" name="Google Shape;121;p15"/>
          <p:cNvGrpSpPr/>
          <p:nvPr/>
        </p:nvGrpSpPr>
        <p:grpSpPr>
          <a:xfrm>
            <a:off x="6477000" y="4429125"/>
            <a:ext cx="190500" cy="190500"/>
            <a:chOff x="0" y="0"/>
            <a:chExt cx="190500" cy="190500"/>
          </a:xfrm>
        </p:grpSpPr>
        <p:sp>
          <p:nvSpPr>
            <p:cNvPr id="122" name="Google Shape;122;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4" name="Google Shape;124;p15"/>
          <p:cNvSpPr txBox="1"/>
          <p:nvPr/>
        </p:nvSpPr>
        <p:spPr>
          <a:xfrm>
            <a:off x="6810375" y="4410075"/>
            <a:ext cx="4619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Critical Downtime Alerts:</a:t>
            </a:r>
            <a:r>
              <a:rPr b="0" lang="en" sz="1150">
                <a:solidFill>
                  <a:srgbClr val="374151"/>
                </a:solidFill>
                <a:latin typeface="Inter"/>
                <a:ea typeface="Inter"/>
                <a:cs typeface="Inter"/>
                <a:sym typeface="Inter"/>
              </a:rPr>
              <a:t> Broadcasted instantly to prevent disruption.</a:t>
            </a:r>
            <a:endParaRPr b="0" sz="1150">
              <a:solidFill>
                <a:srgbClr val="374151"/>
              </a:solidFill>
              <a:latin typeface="Inter"/>
              <a:ea typeface="Inter"/>
              <a:cs typeface="Inter"/>
              <a:sym typeface="Inter"/>
            </a:endParaRPr>
          </a:p>
        </p:txBody>
      </p:sp>
      <p:pic>
        <p:nvPicPr>
          <p:cNvPr id="125" name="Google Shape;125;p15"/>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126" name="Google Shape;126;p15"/>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127" name="Google Shape;127;p15"/>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pic>
        <p:nvPicPr>
          <p:cNvPr id="132" name="Google Shape;132;p16"/>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133" name="Google Shape;133;p16"/>
          <p:cNvSpPr txBox="1"/>
          <p:nvPr/>
        </p:nvSpPr>
        <p:spPr>
          <a:xfrm>
            <a:off x="762000" y="476250"/>
            <a:ext cx="10668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045A36"/>
                </a:solidFill>
                <a:latin typeface="Montserrat SemiBold"/>
                <a:ea typeface="Montserrat SemiBold"/>
                <a:cs typeface="Montserrat SemiBold"/>
                <a:sym typeface="Montserrat SemiBold"/>
              </a:rPr>
              <a:t>Email Transmission Relies on a Network of Clients and Servers</a:t>
            </a:r>
            <a:endParaRPr b="0" sz="2200">
              <a:solidFill>
                <a:srgbClr val="045A36"/>
              </a:solidFill>
              <a:latin typeface="Montserrat SemiBold"/>
              <a:ea typeface="Montserrat SemiBold"/>
              <a:cs typeface="Montserrat SemiBold"/>
              <a:sym typeface="Montserrat SemiBold"/>
            </a:endParaRPr>
          </a:p>
        </p:txBody>
      </p:sp>
      <p:sp>
        <p:nvSpPr>
          <p:cNvPr id="134" name="Google Shape;134;p1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762000" y="1285875"/>
            <a:ext cx="4953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i="1" lang="en" sz="1250">
                <a:solidFill>
                  <a:srgbClr val="4B5563"/>
                </a:solidFill>
                <a:latin typeface="Inter Medium"/>
                <a:ea typeface="Inter Medium"/>
                <a:cs typeface="Inter Medium"/>
                <a:sym typeface="Inter Medium"/>
              </a:rPr>
              <a:t>The journey of an email involves several interconnected systems working together.</a:t>
            </a:r>
            <a:endParaRPr b="0" i="1" sz="1250">
              <a:solidFill>
                <a:srgbClr val="4B5563"/>
              </a:solidFill>
              <a:latin typeface="Inter Medium"/>
              <a:ea typeface="Inter Medium"/>
              <a:cs typeface="Inter Medium"/>
              <a:sym typeface="Inter Medium"/>
            </a:endParaRPr>
          </a:p>
        </p:txBody>
      </p:sp>
      <p:grpSp>
        <p:nvGrpSpPr>
          <p:cNvPr id="136" name="Google Shape;136;p16"/>
          <p:cNvGrpSpPr/>
          <p:nvPr/>
        </p:nvGrpSpPr>
        <p:grpSpPr>
          <a:xfrm>
            <a:off x="762000" y="1762125"/>
            <a:ext cx="4952925" cy="809700"/>
            <a:chOff x="0" y="0"/>
            <a:chExt cx="4952925" cy="809700"/>
          </a:xfrm>
        </p:grpSpPr>
        <p:sp>
          <p:nvSpPr>
            <p:cNvPr id="137" name="Google Shape;137;p16"/>
            <p:cNvSpPr/>
            <p:nvPr/>
          </p:nvSpPr>
          <p:spPr>
            <a:xfrm>
              <a:off x="0" y="95250"/>
              <a:ext cx="266700" cy="2667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0" y="95250"/>
              <a:ext cx="2667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Montserrat"/>
                  <a:ea typeface="Montserrat"/>
                  <a:cs typeface="Montserrat"/>
                  <a:sym typeface="Montserrat"/>
                </a:rPr>
                <a:t>1</a:t>
              </a:r>
              <a:endParaRPr b="1" sz="1100">
                <a:solidFill>
                  <a:srgbClr val="FFFFFF"/>
                </a:solidFill>
                <a:latin typeface="Montserrat"/>
                <a:ea typeface="Montserrat"/>
                <a:cs typeface="Montserrat"/>
                <a:sym typeface="Montserrat"/>
              </a:endParaRPr>
            </a:p>
          </p:txBody>
        </p:sp>
        <p:sp>
          <p:nvSpPr>
            <p:cNvPr id="139" name="Google Shape;139;p16"/>
            <p:cNvSpPr txBox="1"/>
            <p:nvPr/>
          </p:nvSpPr>
          <p:spPr>
            <a:xfrm>
              <a:off x="428625" y="0"/>
              <a:ext cx="45243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50">
                  <a:solidFill>
                    <a:srgbClr val="374151"/>
                  </a:solidFill>
                  <a:latin typeface="Inter"/>
                  <a:ea typeface="Inter"/>
                  <a:cs typeface="Inter"/>
                  <a:sym typeface="Inter"/>
                </a:rPr>
                <a:t>The process begins with the </a:t>
              </a:r>
              <a:r>
                <a:rPr b="1" lang="en" sz="1150">
                  <a:solidFill>
                    <a:srgbClr val="045A36"/>
                  </a:solidFill>
                  <a:latin typeface="Inter"/>
                  <a:ea typeface="Inter"/>
                  <a:cs typeface="Inter"/>
                  <a:sym typeface="Inter"/>
                </a:rPr>
                <a:t>Sender</a:t>
              </a:r>
              <a:r>
                <a:rPr lang="en" sz="1150">
                  <a:solidFill>
                    <a:srgbClr val="374151"/>
                  </a:solidFill>
                  <a:latin typeface="Inter"/>
                  <a:ea typeface="Inter"/>
                  <a:cs typeface="Inter"/>
                  <a:sym typeface="Inter"/>
                </a:rPr>
                <a:t>, who utilizes an </a:t>
              </a:r>
              <a:r>
                <a:rPr b="1" lang="en" sz="1150">
                  <a:solidFill>
                    <a:srgbClr val="045A36"/>
                  </a:solidFill>
                  <a:latin typeface="Inter"/>
                  <a:ea typeface="Inter"/>
                  <a:cs typeface="Inter"/>
                  <a:sym typeface="Inter"/>
                </a:rPr>
                <a:t>Email client</a:t>
              </a:r>
              <a:r>
                <a:rPr lang="en" sz="1150">
                  <a:solidFill>
                    <a:srgbClr val="374151"/>
                  </a:solidFill>
                  <a:latin typeface="Inter"/>
                  <a:ea typeface="Inter"/>
                  <a:cs typeface="Inter"/>
                  <a:sym typeface="Inter"/>
                </a:rPr>
                <a:t> or application—in our case, a custom Python script. This client connects to an outgoing </a:t>
              </a:r>
              <a:r>
                <a:rPr b="1" lang="en" sz="1150">
                  <a:solidFill>
                    <a:srgbClr val="045A36"/>
                  </a:solidFill>
                  <a:latin typeface="Inter"/>
                  <a:ea typeface="Inter"/>
                  <a:cs typeface="Inter"/>
                  <a:sym typeface="Inter"/>
                </a:rPr>
                <a:t>Mail server</a:t>
              </a:r>
              <a:r>
                <a:rPr lang="en" sz="1150">
                  <a:solidFill>
                    <a:srgbClr val="374151"/>
                  </a:solidFill>
                  <a:latin typeface="Inter"/>
                  <a:ea typeface="Inter"/>
                  <a:cs typeface="Inter"/>
                  <a:sym typeface="Inter"/>
                </a:rPr>
                <a:t> to hand off the message.</a:t>
              </a:r>
              <a:endParaRPr sz="1150">
                <a:solidFill>
                  <a:srgbClr val="374151"/>
                </a:solidFill>
                <a:latin typeface="Inter"/>
                <a:ea typeface="Inter"/>
                <a:cs typeface="Inter"/>
                <a:sym typeface="Inter"/>
              </a:endParaRPr>
            </a:p>
          </p:txBody>
        </p:sp>
      </p:grpSp>
      <p:grpSp>
        <p:nvGrpSpPr>
          <p:cNvPr id="140" name="Google Shape;140;p16"/>
          <p:cNvGrpSpPr/>
          <p:nvPr/>
        </p:nvGrpSpPr>
        <p:grpSpPr>
          <a:xfrm>
            <a:off x="762000" y="2619375"/>
            <a:ext cx="4952925" cy="666900"/>
            <a:chOff x="0" y="0"/>
            <a:chExt cx="4952925" cy="666900"/>
          </a:xfrm>
        </p:grpSpPr>
        <p:sp>
          <p:nvSpPr>
            <p:cNvPr id="141" name="Google Shape;141;p16"/>
            <p:cNvSpPr/>
            <p:nvPr/>
          </p:nvSpPr>
          <p:spPr>
            <a:xfrm>
              <a:off x="0" y="95250"/>
              <a:ext cx="266700" cy="2667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0" y="95250"/>
              <a:ext cx="2667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Montserrat"/>
                  <a:ea typeface="Montserrat"/>
                  <a:cs typeface="Montserrat"/>
                  <a:sym typeface="Montserrat"/>
                </a:rPr>
                <a:t>2</a:t>
              </a:r>
              <a:endParaRPr b="1" sz="1100">
                <a:solidFill>
                  <a:srgbClr val="FFFFFF"/>
                </a:solidFill>
                <a:latin typeface="Montserrat"/>
                <a:ea typeface="Montserrat"/>
                <a:cs typeface="Montserrat"/>
                <a:sym typeface="Montserrat"/>
              </a:endParaRPr>
            </a:p>
          </p:txBody>
        </p:sp>
        <p:sp>
          <p:nvSpPr>
            <p:cNvPr id="143" name="Google Shape;143;p16"/>
            <p:cNvSpPr txBox="1"/>
            <p:nvPr/>
          </p:nvSpPr>
          <p:spPr>
            <a:xfrm>
              <a:off x="428625" y="0"/>
              <a:ext cx="45243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50">
                  <a:solidFill>
                    <a:srgbClr val="374151"/>
                  </a:solidFill>
                  <a:latin typeface="Inter"/>
                  <a:ea typeface="Inter"/>
                  <a:cs typeface="Inter"/>
                  <a:sym typeface="Inter"/>
                </a:rPr>
                <a:t>The outgoing mail server then routes the message across the Internet, locating the </a:t>
              </a:r>
              <a:r>
                <a:rPr b="1" lang="en" sz="1150">
                  <a:solidFill>
                    <a:srgbClr val="045A36"/>
                  </a:solidFill>
                  <a:latin typeface="Inter"/>
                  <a:ea typeface="Inter"/>
                  <a:cs typeface="Inter"/>
                  <a:sym typeface="Inter"/>
                </a:rPr>
                <a:t>Receiver's mail server</a:t>
              </a:r>
              <a:r>
                <a:rPr lang="en" sz="1150">
                  <a:solidFill>
                    <a:srgbClr val="374151"/>
                  </a:solidFill>
                  <a:latin typeface="Inter"/>
                  <a:ea typeface="Inter"/>
                  <a:cs typeface="Inter"/>
                  <a:sym typeface="Inter"/>
                </a:rPr>
                <a:t> using specialized DNS records.</a:t>
              </a:r>
              <a:endParaRPr sz="1150">
                <a:solidFill>
                  <a:srgbClr val="374151"/>
                </a:solidFill>
                <a:latin typeface="Inter"/>
                <a:ea typeface="Inter"/>
                <a:cs typeface="Inter"/>
                <a:sym typeface="Inter"/>
              </a:endParaRPr>
            </a:p>
          </p:txBody>
        </p:sp>
      </p:grpSp>
      <p:grpSp>
        <p:nvGrpSpPr>
          <p:cNvPr id="144" name="Google Shape;144;p16"/>
          <p:cNvGrpSpPr/>
          <p:nvPr/>
        </p:nvGrpSpPr>
        <p:grpSpPr>
          <a:xfrm>
            <a:off x="762000" y="3333750"/>
            <a:ext cx="4952925" cy="619200"/>
            <a:chOff x="0" y="0"/>
            <a:chExt cx="4952925" cy="619200"/>
          </a:xfrm>
        </p:grpSpPr>
        <p:sp>
          <p:nvSpPr>
            <p:cNvPr id="145" name="Google Shape;145;p16"/>
            <p:cNvSpPr/>
            <p:nvPr/>
          </p:nvSpPr>
          <p:spPr>
            <a:xfrm>
              <a:off x="0" y="95250"/>
              <a:ext cx="266700" cy="2667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txBox="1"/>
            <p:nvPr/>
          </p:nvSpPr>
          <p:spPr>
            <a:xfrm>
              <a:off x="0" y="95250"/>
              <a:ext cx="2667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Montserrat"/>
                  <a:ea typeface="Montserrat"/>
                  <a:cs typeface="Montserrat"/>
                  <a:sym typeface="Montserrat"/>
                </a:rPr>
                <a:t>3</a:t>
              </a:r>
              <a:endParaRPr b="1" sz="1100">
                <a:solidFill>
                  <a:srgbClr val="FFFFFF"/>
                </a:solidFill>
                <a:latin typeface="Montserrat"/>
                <a:ea typeface="Montserrat"/>
                <a:cs typeface="Montserrat"/>
                <a:sym typeface="Montserrat"/>
              </a:endParaRPr>
            </a:p>
          </p:txBody>
        </p:sp>
        <p:sp>
          <p:nvSpPr>
            <p:cNvPr id="147" name="Google Shape;147;p16"/>
            <p:cNvSpPr txBox="1"/>
            <p:nvPr/>
          </p:nvSpPr>
          <p:spPr>
            <a:xfrm>
              <a:off x="428625" y="0"/>
              <a:ext cx="45243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50">
                  <a:solidFill>
                    <a:srgbClr val="374151"/>
                  </a:solidFill>
                  <a:latin typeface="Inter"/>
                  <a:ea typeface="Inter"/>
                  <a:cs typeface="Inter"/>
                  <a:sym typeface="Inter"/>
                </a:rPr>
                <a:t>Finally, the </a:t>
              </a:r>
              <a:r>
                <a:rPr b="1" lang="en" sz="1150">
                  <a:solidFill>
                    <a:srgbClr val="045A36"/>
                  </a:solidFill>
                  <a:latin typeface="Inter"/>
                  <a:ea typeface="Inter"/>
                  <a:cs typeface="Inter"/>
                  <a:sym typeface="Inter"/>
                </a:rPr>
                <a:t>Receiver</a:t>
              </a:r>
              <a:r>
                <a:rPr lang="en" sz="1150">
                  <a:solidFill>
                    <a:srgbClr val="374151"/>
                  </a:solidFill>
                  <a:latin typeface="Inter"/>
                  <a:ea typeface="Inter"/>
                  <a:cs typeface="Inter"/>
                  <a:sym typeface="Inter"/>
                </a:rPr>
                <a:t> accesses the delivered message through their own email client.</a:t>
              </a:r>
              <a:endParaRPr sz="1150">
                <a:solidFill>
                  <a:srgbClr val="374151"/>
                </a:solidFill>
                <a:latin typeface="Inter"/>
                <a:ea typeface="Inter"/>
                <a:cs typeface="Inter"/>
                <a:sym typeface="Inter"/>
              </a:endParaRPr>
            </a:p>
          </p:txBody>
        </p:sp>
      </p:grpSp>
      <p:grpSp>
        <p:nvGrpSpPr>
          <p:cNvPr id="148" name="Google Shape;148;p16"/>
          <p:cNvGrpSpPr/>
          <p:nvPr/>
        </p:nvGrpSpPr>
        <p:grpSpPr>
          <a:xfrm>
            <a:off x="762000" y="4143375"/>
            <a:ext cx="4953000" cy="1381200"/>
            <a:chOff x="0" y="0"/>
            <a:chExt cx="4953000" cy="1381200"/>
          </a:xfrm>
        </p:grpSpPr>
        <p:sp>
          <p:nvSpPr>
            <p:cNvPr id="149" name="Google Shape;149;p16"/>
            <p:cNvSpPr/>
            <p:nvPr/>
          </p:nvSpPr>
          <p:spPr>
            <a:xfrm>
              <a:off x="0" y="0"/>
              <a:ext cx="4953000" cy="1381200"/>
            </a:xfrm>
            <a:prstGeom prst="roundRect">
              <a:avLst>
                <a:gd fmla="val 5517"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6"/>
            <p:cNvSpPr/>
            <p:nvPr/>
          </p:nvSpPr>
          <p:spPr>
            <a:xfrm>
              <a:off x="0" y="0"/>
              <a:ext cx="4953000" cy="477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6"/>
            <p:cNvSpPr txBox="1"/>
            <p:nvPr/>
          </p:nvSpPr>
          <p:spPr>
            <a:xfrm>
              <a:off x="238125" y="190500"/>
              <a:ext cx="4476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D4A017"/>
                  </a:solidFill>
                  <a:latin typeface="Inter"/>
                  <a:ea typeface="Inter"/>
                  <a:cs typeface="Inter"/>
                  <a:sym typeface="Inter"/>
                </a:rPr>
                <a:t>Project Focus</a:t>
              </a:r>
              <a:endParaRPr b="1" sz="1150">
                <a:solidFill>
                  <a:srgbClr val="D4A017"/>
                </a:solidFill>
                <a:latin typeface="Inter"/>
                <a:ea typeface="Inter"/>
                <a:cs typeface="Inter"/>
                <a:sym typeface="Inter"/>
              </a:endParaRPr>
            </a:p>
            <a:p>
              <a:pPr indent="0" lvl="0" marL="0" rtl="0" algn="l">
                <a:spcBef>
                  <a:spcPts val="600"/>
                </a:spcBef>
                <a:spcAft>
                  <a:spcPts val="0"/>
                </a:spcAft>
                <a:buNone/>
              </a:pPr>
              <a:r>
                <a:rPr lang="en" sz="1100">
                  <a:solidFill>
                    <a:srgbClr val="374151"/>
                  </a:solidFill>
                  <a:latin typeface="Inter"/>
                  <a:ea typeface="Inter"/>
                  <a:cs typeface="Inter"/>
                  <a:sym typeface="Inter"/>
                </a:rPr>
                <a:t>For the scope of our automation projects, we will focus on a simplified flow: the Python script generates the message, passes it to the SMTP Server, which routes it through the Internet directly to the Receiver's inbox.</a:t>
              </a:r>
              <a:endParaRPr sz="1100">
                <a:solidFill>
                  <a:srgbClr val="374151"/>
                </a:solidFill>
                <a:latin typeface="Inter"/>
                <a:ea typeface="Inter"/>
                <a:cs typeface="Inter"/>
                <a:sym typeface="Inter"/>
              </a:endParaRPr>
            </a:p>
          </p:txBody>
        </p:sp>
      </p:grpSp>
      <p:grpSp>
        <p:nvGrpSpPr>
          <p:cNvPr id="152" name="Google Shape;152;p16"/>
          <p:cNvGrpSpPr/>
          <p:nvPr/>
        </p:nvGrpSpPr>
        <p:grpSpPr>
          <a:xfrm>
            <a:off x="6381750" y="1428750"/>
            <a:ext cx="4762500" cy="3857625"/>
            <a:chOff x="0" y="0"/>
            <a:chExt cx="4762500" cy="3857625"/>
          </a:xfrm>
        </p:grpSpPr>
        <p:pic>
          <p:nvPicPr>
            <p:cNvPr id="153" name="Google Shape;153;p16"/>
            <p:cNvPicPr preferRelativeResize="0"/>
            <p:nvPr/>
          </p:nvPicPr>
          <p:blipFill rotWithShape="1">
            <a:blip r:embed="rId5">
              <a:alphaModFix/>
            </a:blip>
            <a:srcRect b="50" l="0" r="0" t="40"/>
            <a:stretch/>
          </p:blipFill>
          <p:spPr>
            <a:xfrm>
              <a:off x="0" y="0"/>
              <a:ext cx="4762500" cy="3552900"/>
            </a:xfrm>
            <a:prstGeom prst="rect">
              <a:avLst/>
            </a:prstGeom>
            <a:noFill/>
            <a:ln>
              <a:noFill/>
            </a:ln>
          </p:spPr>
        </p:pic>
        <p:sp>
          <p:nvSpPr>
            <p:cNvPr id="154" name="Google Shape;154;p16"/>
            <p:cNvSpPr/>
            <p:nvPr/>
          </p:nvSpPr>
          <p:spPr>
            <a:xfrm>
              <a:off x="0" y="3552825"/>
              <a:ext cx="4762500" cy="304800"/>
            </a:xfrm>
            <a:prstGeom prst="roundRect">
              <a:avLst>
                <a:gd fmla="val 125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p:nvPr/>
          </p:nvSpPr>
          <p:spPr>
            <a:xfrm>
              <a:off x="0" y="3552825"/>
              <a:ext cx="4762500" cy="28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95250" y="3571875"/>
              <a:ext cx="4572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FFFFFF"/>
                  </a:solidFill>
                  <a:latin typeface="Inter SemiBold"/>
                  <a:ea typeface="Inter SemiBold"/>
                  <a:cs typeface="Inter SemiBold"/>
                  <a:sym typeface="Inter SemiBold"/>
                </a:rPr>
                <a:t>Standard Email Routing Network: From Client to Receiver Inbox</a:t>
              </a:r>
              <a:endParaRPr b="0" sz="950">
                <a:solidFill>
                  <a:srgbClr val="FFFFFF"/>
                </a:solidFill>
                <a:latin typeface="Inter SemiBold"/>
                <a:ea typeface="Inter SemiBold"/>
                <a:cs typeface="Inter SemiBold"/>
                <a:sym typeface="Inter SemiBold"/>
              </a:endParaRPr>
            </a:p>
          </p:txBody>
        </p:sp>
      </p:grpSp>
      <p:pic>
        <p:nvPicPr>
          <p:cNvPr id="157" name="Google Shape;157;p16"/>
          <p:cNvPicPr preferRelativeResize="0"/>
          <p:nvPr/>
        </p:nvPicPr>
        <p:blipFill rotWithShape="1">
          <a:blip r:embed="rId6">
            <a:alphaModFix/>
          </a:blip>
          <a:srcRect b="0" l="0" r="0" t="0"/>
          <a:stretch/>
        </p:blipFill>
        <p:spPr>
          <a:xfrm>
            <a:off x="762000" y="5981700"/>
            <a:ext cx="10668000" cy="304800"/>
          </a:xfrm>
          <a:prstGeom prst="rect">
            <a:avLst/>
          </a:prstGeom>
          <a:noFill/>
          <a:ln>
            <a:noFill/>
          </a:ln>
        </p:spPr>
      </p:pic>
      <p:sp>
        <p:nvSpPr>
          <p:cNvPr id="158" name="Google Shape;158;p16"/>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159" name="Google Shape;159;p16"/>
          <p:cNvPicPr preferRelativeResize="0"/>
          <p:nvPr/>
        </p:nvPicPr>
        <p:blipFill rotWithShape="1">
          <a:blip r:embed="rId7">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pic>
        <p:nvPicPr>
          <p:cNvPr id="164" name="Google Shape;164;p17"/>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165" name="Google Shape;165;p1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7"/>
          <p:cNvSpPr txBox="1"/>
          <p:nvPr/>
        </p:nvSpPr>
        <p:spPr>
          <a:xfrm>
            <a:off x="762000" y="571500"/>
            <a:ext cx="952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SMTP: Simple Mail Transfer Protocol</a:t>
            </a:r>
            <a:endParaRPr b="0" sz="2700">
              <a:solidFill>
                <a:srgbClr val="045A36"/>
              </a:solidFill>
              <a:latin typeface="Montserrat SemiBold"/>
              <a:ea typeface="Montserrat SemiBold"/>
              <a:cs typeface="Montserrat SemiBold"/>
              <a:sym typeface="Montserrat SemiBold"/>
            </a:endParaRPr>
          </a:p>
        </p:txBody>
      </p:sp>
      <p:grpSp>
        <p:nvGrpSpPr>
          <p:cNvPr id="167" name="Google Shape;167;p17"/>
          <p:cNvGrpSpPr/>
          <p:nvPr/>
        </p:nvGrpSpPr>
        <p:grpSpPr>
          <a:xfrm>
            <a:off x="762000" y="1333500"/>
            <a:ext cx="10668000" cy="1333500"/>
            <a:chOff x="762000" y="1333500"/>
            <a:chExt cx="10668000" cy="1333500"/>
          </a:xfrm>
        </p:grpSpPr>
        <p:sp>
          <p:nvSpPr>
            <p:cNvPr id="168" name="Google Shape;168;p17"/>
            <p:cNvSpPr/>
            <p:nvPr/>
          </p:nvSpPr>
          <p:spPr>
            <a:xfrm>
              <a:off x="762000" y="1333500"/>
              <a:ext cx="10668000" cy="1333500"/>
            </a:xfrm>
            <a:prstGeom prst="roundRect">
              <a:avLst>
                <a:gd fmla="val 8571"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7"/>
            <p:cNvSpPr/>
            <p:nvPr/>
          </p:nvSpPr>
          <p:spPr>
            <a:xfrm>
              <a:off x="762000" y="1333500"/>
              <a:ext cx="76200" cy="1333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txBox="1"/>
            <p:nvPr/>
          </p:nvSpPr>
          <p:spPr>
            <a:xfrm>
              <a:off x="1095375" y="1476375"/>
              <a:ext cx="100014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50">
                  <a:solidFill>
                    <a:srgbClr val="D4A017"/>
                  </a:solidFill>
                  <a:latin typeface="Montserrat"/>
                  <a:ea typeface="Montserrat"/>
                  <a:cs typeface="Montserrat"/>
                  <a:sym typeface="Montserrat"/>
                </a:rPr>
                <a:t>Protocol Definition</a:t>
              </a:r>
              <a:endParaRPr sz="1250">
                <a:solidFill>
                  <a:srgbClr val="FFFFFF"/>
                </a:solidFill>
                <a:latin typeface="Inter"/>
                <a:ea typeface="Inter"/>
                <a:cs typeface="Inter"/>
                <a:sym typeface="Inter"/>
              </a:endParaRPr>
            </a:p>
            <a:p>
              <a:pPr indent="0" lvl="0" marL="0" rtl="0" algn="l">
                <a:spcBef>
                  <a:spcPts val="450"/>
                </a:spcBef>
                <a:spcAft>
                  <a:spcPts val="0"/>
                </a:spcAft>
                <a:buNone/>
              </a:pPr>
              <a:r>
                <a:rPr b="1" lang="en" sz="1250">
                  <a:solidFill>
                    <a:srgbClr val="D4A017"/>
                  </a:solidFill>
                  <a:latin typeface="Inter"/>
                  <a:ea typeface="Inter"/>
                  <a:cs typeface="Inter"/>
                  <a:sym typeface="Inter"/>
                </a:rPr>
                <a:t>SMTP</a:t>
              </a:r>
              <a:r>
                <a:rPr b="0" lang="en" sz="1250">
                  <a:solidFill>
                    <a:srgbClr val="FFFFFF"/>
                  </a:solidFill>
                  <a:latin typeface="Inter"/>
                  <a:ea typeface="Inter"/>
                  <a:cs typeface="Inter"/>
                  <a:sym typeface="Inter"/>
                </a:rPr>
                <a:t> (Simple Mail Transfer Protocol) is the foundational internet standard for email transmission across IP networks. The primary purpose of SMTP is exclusively for sending or routing outgoing email traffic from a client to a server, or between servers.</a:t>
              </a:r>
              <a:endParaRPr b="0" sz="1250">
                <a:solidFill>
                  <a:srgbClr val="FFFFFF"/>
                </a:solidFill>
                <a:latin typeface="Inter"/>
                <a:ea typeface="Inter"/>
                <a:cs typeface="Inter"/>
                <a:sym typeface="Inter"/>
              </a:endParaRPr>
            </a:p>
          </p:txBody>
        </p:sp>
      </p:grpSp>
      <p:grpSp>
        <p:nvGrpSpPr>
          <p:cNvPr id="171" name="Google Shape;171;p17"/>
          <p:cNvGrpSpPr/>
          <p:nvPr/>
        </p:nvGrpSpPr>
        <p:grpSpPr>
          <a:xfrm>
            <a:off x="762000" y="2905125"/>
            <a:ext cx="5143500" cy="2476500"/>
            <a:chOff x="762000" y="2905125"/>
            <a:chExt cx="5143500" cy="2476500"/>
          </a:xfrm>
        </p:grpSpPr>
        <p:sp>
          <p:nvSpPr>
            <p:cNvPr id="172" name="Google Shape;172;p17"/>
            <p:cNvSpPr/>
            <p:nvPr/>
          </p:nvSpPr>
          <p:spPr>
            <a:xfrm>
              <a:off x="762000" y="2905125"/>
              <a:ext cx="5143500" cy="24765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7"/>
            <p:cNvSpPr/>
            <p:nvPr/>
          </p:nvSpPr>
          <p:spPr>
            <a:xfrm>
              <a:off x="762000" y="2905125"/>
              <a:ext cx="5143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7"/>
            <p:cNvSpPr txBox="1"/>
            <p:nvPr/>
          </p:nvSpPr>
          <p:spPr>
            <a:xfrm>
              <a:off x="1047750" y="3143250"/>
              <a:ext cx="4572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Sending vs. Receiving Protocols</a:t>
              </a:r>
              <a:endParaRPr b="1" sz="1400">
                <a:solidFill>
                  <a:srgbClr val="045A36"/>
                </a:solidFill>
                <a:latin typeface="Montserrat"/>
                <a:ea typeface="Montserrat"/>
                <a:cs typeface="Montserrat"/>
                <a:sym typeface="Montserrat"/>
              </a:endParaRPr>
            </a:p>
          </p:txBody>
        </p:sp>
        <p:grpSp>
          <p:nvGrpSpPr>
            <p:cNvPr id="175" name="Google Shape;175;p17"/>
            <p:cNvGrpSpPr/>
            <p:nvPr/>
          </p:nvGrpSpPr>
          <p:grpSpPr>
            <a:xfrm>
              <a:off x="1047750" y="3571875"/>
              <a:ext cx="190500" cy="190500"/>
              <a:chOff x="0" y="0"/>
              <a:chExt cx="190500" cy="190500"/>
            </a:xfrm>
          </p:grpSpPr>
          <p:sp>
            <p:nvSpPr>
              <p:cNvPr id="176" name="Google Shape;176;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7"/>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8" name="Google Shape;178;p17"/>
            <p:cNvSpPr txBox="1"/>
            <p:nvPr/>
          </p:nvSpPr>
          <p:spPr>
            <a:xfrm>
              <a:off x="1333500" y="3524250"/>
              <a:ext cx="42864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374151"/>
                  </a:solidFill>
                  <a:latin typeface="Inter"/>
                  <a:ea typeface="Inter"/>
                  <a:cs typeface="Inter"/>
                  <a:sym typeface="Inter"/>
                </a:rPr>
                <a:t>SMTP</a:t>
              </a:r>
              <a:r>
                <a:rPr b="0" lang="en" sz="1100">
                  <a:solidFill>
                    <a:srgbClr val="374151"/>
                  </a:solidFill>
                  <a:latin typeface="Inter"/>
                  <a:ea typeface="Inter"/>
                  <a:cs typeface="Inter"/>
                  <a:sym typeface="Inter"/>
                </a:rPr>
                <a:t> pushes outgoing messages toward their destination.</a:t>
              </a:r>
              <a:endParaRPr b="0" sz="1100">
                <a:solidFill>
                  <a:srgbClr val="374151"/>
                </a:solidFill>
                <a:latin typeface="Inter"/>
                <a:ea typeface="Inter"/>
                <a:cs typeface="Inter"/>
                <a:sym typeface="Inter"/>
              </a:endParaRPr>
            </a:p>
          </p:txBody>
        </p:sp>
        <p:grpSp>
          <p:nvGrpSpPr>
            <p:cNvPr id="179" name="Google Shape;179;p17"/>
            <p:cNvGrpSpPr/>
            <p:nvPr/>
          </p:nvGrpSpPr>
          <p:grpSpPr>
            <a:xfrm>
              <a:off x="1047750" y="4238625"/>
              <a:ext cx="190500" cy="190500"/>
              <a:chOff x="0" y="0"/>
              <a:chExt cx="190500" cy="190500"/>
            </a:xfrm>
          </p:grpSpPr>
          <p:sp>
            <p:nvSpPr>
              <p:cNvPr id="180" name="Google Shape;180;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2" name="Google Shape;182;p17"/>
            <p:cNvSpPr txBox="1"/>
            <p:nvPr/>
          </p:nvSpPr>
          <p:spPr>
            <a:xfrm>
              <a:off x="1333500" y="4191000"/>
              <a:ext cx="42864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74151"/>
                  </a:solidFill>
                  <a:latin typeface="Inter"/>
                  <a:ea typeface="Inter"/>
                  <a:cs typeface="Inter"/>
                  <a:sym typeface="Inter"/>
                </a:rPr>
                <a:t>Different protocols like </a:t>
              </a:r>
              <a:r>
                <a:rPr b="1" lang="en" sz="1100">
                  <a:solidFill>
                    <a:srgbClr val="374151"/>
                  </a:solidFill>
                  <a:latin typeface="Inter"/>
                  <a:ea typeface="Inter"/>
                  <a:cs typeface="Inter"/>
                  <a:sym typeface="Inter"/>
                </a:rPr>
                <a:t>IMAP</a:t>
              </a:r>
              <a:r>
                <a:rPr b="0" lang="en" sz="1100">
                  <a:solidFill>
                    <a:srgbClr val="374151"/>
                  </a:solidFill>
                  <a:latin typeface="Inter"/>
                  <a:ea typeface="Inter"/>
                  <a:cs typeface="Inter"/>
                  <a:sym typeface="Inter"/>
                </a:rPr>
                <a:t> or </a:t>
              </a:r>
              <a:r>
                <a:rPr b="1" lang="en" sz="1100">
                  <a:solidFill>
                    <a:srgbClr val="374151"/>
                  </a:solidFill>
                  <a:latin typeface="Inter"/>
                  <a:ea typeface="Inter"/>
                  <a:cs typeface="Inter"/>
                  <a:sym typeface="Inter"/>
                </a:rPr>
                <a:t>POP3</a:t>
              </a:r>
              <a:r>
                <a:rPr b="0" lang="en" sz="1100">
                  <a:solidFill>
                    <a:srgbClr val="374151"/>
                  </a:solidFill>
                  <a:latin typeface="Inter"/>
                  <a:ea typeface="Inter"/>
                  <a:cs typeface="Inter"/>
                  <a:sym typeface="Inter"/>
                </a:rPr>
                <a:t> are required for an email inbox to retrieve and download those messages.</a:t>
              </a:r>
              <a:endParaRPr b="0" sz="1100">
                <a:solidFill>
                  <a:srgbClr val="374151"/>
                </a:solidFill>
                <a:latin typeface="Inter"/>
                <a:ea typeface="Inter"/>
                <a:cs typeface="Inter"/>
                <a:sym typeface="Inter"/>
              </a:endParaRPr>
            </a:p>
          </p:txBody>
        </p:sp>
      </p:grpSp>
      <p:grpSp>
        <p:nvGrpSpPr>
          <p:cNvPr id="183" name="Google Shape;183;p17"/>
          <p:cNvGrpSpPr/>
          <p:nvPr/>
        </p:nvGrpSpPr>
        <p:grpSpPr>
          <a:xfrm>
            <a:off x="6286500" y="2905125"/>
            <a:ext cx="5143500" cy="2476500"/>
            <a:chOff x="6286500" y="2905125"/>
            <a:chExt cx="5143500" cy="2476500"/>
          </a:xfrm>
        </p:grpSpPr>
        <p:sp>
          <p:nvSpPr>
            <p:cNvPr id="184" name="Google Shape;184;p17"/>
            <p:cNvSpPr/>
            <p:nvPr/>
          </p:nvSpPr>
          <p:spPr>
            <a:xfrm>
              <a:off x="6286500" y="2905125"/>
              <a:ext cx="5143500" cy="24765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7"/>
            <p:cNvSpPr/>
            <p:nvPr/>
          </p:nvSpPr>
          <p:spPr>
            <a:xfrm>
              <a:off x="6286500" y="2905125"/>
              <a:ext cx="51435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7"/>
            <p:cNvSpPr txBox="1"/>
            <p:nvPr/>
          </p:nvSpPr>
          <p:spPr>
            <a:xfrm>
              <a:off x="6572250" y="3143250"/>
              <a:ext cx="4572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Python's Native smtplib</a:t>
              </a:r>
              <a:endParaRPr b="1" sz="1400">
                <a:solidFill>
                  <a:srgbClr val="045A36"/>
                </a:solidFill>
                <a:latin typeface="Montserrat"/>
                <a:ea typeface="Montserrat"/>
                <a:cs typeface="Montserrat"/>
                <a:sym typeface="Montserrat"/>
              </a:endParaRPr>
            </a:p>
          </p:txBody>
        </p:sp>
        <p:grpSp>
          <p:nvGrpSpPr>
            <p:cNvPr id="187" name="Google Shape;187;p17"/>
            <p:cNvGrpSpPr/>
            <p:nvPr/>
          </p:nvGrpSpPr>
          <p:grpSpPr>
            <a:xfrm>
              <a:off x="6572250" y="3571875"/>
              <a:ext cx="190500" cy="190500"/>
              <a:chOff x="0" y="0"/>
              <a:chExt cx="190500" cy="190500"/>
            </a:xfrm>
          </p:grpSpPr>
          <p:sp>
            <p:nvSpPr>
              <p:cNvPr id="188" name="Google Shape;188;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7"/>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0" name="Google Shape;190;p17"/>
            <p:cNvSpPr txBox="1"/>
            <p:nvPr/>
          </p:nvSpPr>
          <p:spPr>
            <a:xfrm>
              <a:off x="6858000" y="3524250"/>
              <a:ext cx="42864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74151"/>
                  </a:solidFill>
                  <a:latin typeface="Inter"/>
                  <a:ea typeface="Inter"/>
                  <a:cs typeface="Inter"/>
                  <a:sym typeface="Inter"/>
                </a:rPr>
                <a:t>Python provides smtplib, a powerful, built-in standard-library module.</a:t>
              </a:r>
              <a:endParaRPr b="0" sz="1100">
                <a:solidFill>
                  <a:srgbClr val="374151"/>
                </a:solidFill>
                <a:latin typeface="Inter"/>
                <a:ea typeface="Inter"/>
                <a:cs typeface="Inter"/>
                <a:sym typeface="Inter"/>
              </a:endParaRPr>
            </a:p>
          </p:txBody>
        </p:sp>
        <p:grpSp>
          <p:nvGrpSpPr>
            <p:cNvPr id="191" name="Google Shape;191;p17"/>
            <p:cNvGrpSpPr/>
            <p:nvPr/>
          </p:nvGrpSpPr>
          <p:grpSpPr>
            <a:xfrm>
              <a:off x="6572250" y="4238625"/>
              <a:ext cx="190500" cy="190500"/>
              <a:chOff x="0" y="0"/>
              <a:chExt cx="190500" cy="190500"/>
            </a:xfrm>
          </p:grpSpPr>
          <p:sp>
            <p:nvSpPr>
              <p:cNvPr id="192" name="Google Shape;192;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4" name="Google Shape;194;p17"/>
            <p:cNvSpPr txBox="1"/>
            <p:nvPr/>
          </p:nvSpPr>
          <p:spPr>
            <a:xfrm>
              <a:off x="6858000" y="4191000"/>
              <a:ext cx="42864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374151"/>
                  </a:solidFill>
                  <a:latin typeface="Inter"/>
                  <a:ea typeface="Inter"/>
                  <a:cs typeface="Inter"/>
                  <a:sym typeface="Inter"/>
                </a:rPr>
                <a:t>Specifically designed for establishing sessions and communicating with SMTP servers directly.</a:t>
              </a:r>
              <a:endParaRPr b="0" sz="1100">
                <a:solidFill>
                  <a:srgbClr val="374151"/>
                </a:solidFill>
                <a:latin typeface="Inter"/>
                <a:ea typeface="Inter"/>
                <a:cs typeface="Inter"/>
                <a:sym typeface="Inter"/>
              </a:endParaRPr>
            </a:p>
          </p:txBody>
        </p:sp>
      </p:grpSp>
      <p:pic>
        <p:nvPicPr>
          <p:cNvPr id="195" name="Google Shape;195;p17"/>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196" name="Google Shape;196;p17"/>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197" name="Google Shape;197;p17"/>
          <p:cNvPicPr preferRelativeResize="0"/>
          <p:nvPr/>
        </p:nvPicPr>
        <p:blipFill rotWithShape="1">
          <a:blip r:embed="rId6">
            <a:alphaModFix/>
          </a:blip>
          <a:srcRect b="466" l="0" r="0" t="456"/>
          <a:stretch/>
        </p:blipFill>
        <p:spPr>
          <a:xfrm>
            <a:off x="10287000" y="5457825"/>
            <a:ext cx="1524000" cy="1009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3" name="Google Shape;203;p18"/>
          <p:cNvPicPr preferRelativeResize="0"/>
          <p:nvPr/>
        </p:nvPicPr>
        <p:blipFill rotWithShape="1">
          <a:blip r:embed="rId3">
            <a:alphaModFix/>
          </a:blip>
          <a:srcRect b="0" l="130" r="130" t="0"/>
          <a:stretch/>
        </p:blipFill>
        <p:spPr>
          <a:xfrm>
            <a:off x="0" y="0"/>
            <a:ext cx="12192000" cy="57300"/>
          </a:xfrm>
          <a:prstGeom prst="rect">
            <a:avLst/>
          </a:prstGeom>
          <a:noFill/>
          <a:ln>
            <a:noFill/>
          </a:ln>
        </p:spPr>
      </p:pic>
      <p:sp>
        <p:nvSpPr>
          <p:cNvPr id="204" name="Google Shape;204;p1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5" name="Google Shape;205;p18"/>
          <p:cNvPicPr preferRelativeResize="0"/>
          <p:nvPr/>
        </p:nvPicPr>
        <p:blipFill rotWithShape="1">
          <a:blip r:embed="rId4">
            <a:alphaModFix/>
          </a:blip>
          <a:srcRect b="0" l="0" r="0" t="0"/>
          <a:stretch/>
        </p:blipFill>
        <p:spPr>
          <a:xfrm>
            <a:off x="762000" y="5981700"/>
            <a:ext cx="10668000" cy="304800"/>
          </a:xfrm>
          <a:prstGeom prst="rect">
            <a:avLst/>
          </a:prstGeom>
          <a:noFill/>
          <a:ln>
            <a:noFill/>
          </a:ln>
        </p:spPr>
      </p:pic>
      <p:sp>
        <p:nvSpPr>
          <p:cNvPr id="206" name="Google Shape;206;p18"/>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207" name="Google Shape;207;p18"/>
          <p:cNvPicPr preferRelativeResize="0"/>
          <p:nvPr/>
        </p:nvPicPr>
        <p:blipFill rotWithShape="1">
          <a:blip r:embed="rId5">
            <a:alphaModFix/>
          </a:blip>
          <a:srcRect b="0" l="10" r="0" t="0"/>
          <a:stretch/>
        </p:blipFill>
        <p:spPr>
          <a:xfrm>
            <a:off x="10287000" y="5457825"/>
            <a:ext cx="1524000" cy="1019400"/>
          </a:xfrm>
          <a:prstGeom prst="rect">
            <a:avLst/>
          </a:prstGeom>
          <a:noFill/>
          <a:ln>
            <a:noFill/>
          </a:ln>
        </p:spPr>
      </p:pic>
      <p:sp>
        <p:nvSpPr>
          <p:cNvPr id="208" name="Google Shape;208;p18"/>
          <p:cNvSpPr txBox="1"/>
          <p:nvPr/>
        </p:nvSpPr>
        <p:spPr>
          <a:xfrm>
            <a:off x="762000" y="523875"/>
            <a:ext cx="10668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100">
                <a:solidFill>
                  <a:srgbClr val="045A36"/>
                </a:solidFill>
                <a:latin typeface="Montserrat SemiBold"/>
                <a:ea typeface="Montserrat SemiBold"/>
                <a:cs typeface="Montserrat SemiBold"/>
                <a:sym typeface="Montserrat SemiBold"/>
              </a:rPr>
              <a:t>SMTP Servers Act as the Digital Post Office for Outgoing Messages</a:t>
            </a:r>
            <a:endParaRPr b="0" sz="2100">
              <a:solidFill>
                <a:srgbClr val="045A36"/>
              </a:solidFill>
              <a:latin typeface="Montserrat SemiBold"/>
              <a:ea typeface="Montserrat SemiBold"/>
              <a:cs typeface="Montserrat SemiBold"/>
              <a:sym typeface="Montserrat SemiBold"/>
            </a:endParaRPr>
          </a:p>
        </p:txBody>
      </p:sp>
      <p:grpSp>
        <p:nvGrpSpPr>
          <p:cNvPr id="209" name="Google Shape;209;p18"/>
          <p:cNvGrpSpPr/>
          <p:nvPr/>
        </p:nvGrpSpPr>
        <p:grpSpPr>
          <a:xfrm>
            <a:off x="762000" y="1476375"/>
            <a:ext cx="4953150" cy="1019100"/>
            <a:chOff x="0" y="0"/>
            <a:chExt cx="4953150" cy="1019100"/>
          </a:xfrm>
        </p:grpSpPr>
        <p:grpSp>
          <p:nvGrpSpPr>
            <p:cNvPr id="210" name="Google Shape;210;p18"/>
            <p:cNvGrpSpPr/>
            <p:nvPr/>
          </p:nvGrpSpPr>
          <p:grpSpPr>
            <a:xfrm>
              <a:off x="0" y="28575"/>
              <a:ext cx="190500" cy="190500"/>
              <a:chOff x="0" y="0"/>
              <a:chExt cx="190500" cy="190500"/>
            </a:xfrm>
          </p:grpSpPr>
          <p:sp>
            <p:nvSpPr>
              <p:cNvPr id="211" name="Google Shape;211;p1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3" name="Google Shape;213;p18"/>
            <p:cNvSpPr txBox="1"/>
            <p:nvPr/>
          </p:nvSpPr>
          <p:spPr>
            <a:xfrm>
              <a:off x="285750" y="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Dedicated Outgoing Infrastructure</a:t>
              </a:r>
              <a:endParaRPr b="1" sz="1400">
                <a:solidFill>
                  <a:srgbClr val="045A36"/>
                </a:solidFill>
                <a:latin typeface="Montserrat"/>
                <a:ea typeface="Montserrat"/>
                <a:cs typeface="Montserrat"/>
                <a:sym typeface="Montserrat"/>
              </a:endParaRPr>
            </a:p>
          </p:txBody>
        </p:sp>
        <p:sp>
          <p:nvSpPr>
            <p:cNvPr id="214" name="Google Shape;214;p18"/>
            <p:cNvSpPr txBox="1"/>
            <p:nvPr/>
          </p:nvSpPr>
          <p:spPr>
            <a:xfrm>
              <a:off x="285750" y="304800"/>
              <a:ext cx="46674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An SMTP server is a dedicated computer or application responsible for receiving, routing, and delivering outgoing email messages.</a:t>
              </a:r>
              <a:endParaRPr b="0" sz="1150">
                <a:solidFill>
                  <a:srgbClr val="374151"/>
                </a:solidFill>
                <a:latin typeface="Inter"/>
                <a:ea typeface="Inter"/>
                <a:cs typeface="Inter"/>
                <a:sym typeface="Inter"/>
              </a:endParaRPr>
            </a:p>
          </p:txBody>
        </p:sp>
      </p:grpSp>
      <p:grpSp>
        <p:nvGrpSpPr>
          <p:cNvPr id="215" name="Google Shape;215;p18"/>
          <p:cNvGrpSpPr/>
          <p:nvPr/>
        </p:nvGrpSpPr>
        <p:grpSpPr>
          <a:xfrm>
            <a:off x="762000" y="2667000"/>
            <a:ext cx="4953150" cy="1352700"/>
            <a:chOff x="0" y="0"/>
            <a:chExt cx="4953150" cy="1352700"/>
          </a:xfrm>
        </p:grpSpPr>
        <p:grpSp>
          <p:nvGrpSpPr>
            <p:cNvPr id="216" name="Google Shape;216;p18"/>
            <p:cNvGrpSpPr/>
            <p:nvPr/>
          </p:nvGrpSpPr>
          <p:grpSpPr>
            <a:xfrm>
              <a:off x="0" y="28575"/>
              <a:ext cx="190500" cy="190500"/>
              <a:chOff x="0" y="0"/>
              <a:chExt cx="190500" cy="190500"/>
            </a:xfrm>
          </p:grpSpPr>
          <p:sp>
            <p:nvSpPr>
              <p:cNvPr id="217" name="Google Shape;217;p1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9" name="Google Shape;219;p18"/>
            <p:cNvSpPr txBox="1"/>
            <p:nvPr/>
          </p:nvSpPr>
          <p:spPr>
            <a:xfrm>
              <a:off x="285750" y="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Why Python Requires SMTP</a:t>
              </a:r>
              <a:endParaRPr b="1" sz="1400">
                <a:solidFill>
                  <a:srgbClr val="045A36"/>
                </a:solidFill>
                <a:latin typeface="Montserrat"/>
                <a:ea typeface="Montserrat"/>
                <a:cs typeface="Montserrat"/>
                <a:sym typeface="Montserrat"/>
              </a:endParaRPr>
            </a:p>
          </p:txBody>
        </p:sp>
        <p:sp>
          <p:nvSpPr>
            <p:cNvPr id="220" name="Google Shape;220;p18"/>
            <p:cNvSpPr txBox="1"/>
            <p:nvPr/>
          </p:nvSpPr>
          <p:spPr>
            <a:xfrm>
              <a:off x="285750" y="304800"/>
              <a:ext cx="4667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Python needs an SMTP server because a local script cannot directly place an email into a remote recipient's inbox; it must hand the message off to specialized infrastructure designed for email routing.</a:t>
              </a:r>
              <a:endParaRPr b="0" sz="1150">
                <a:solidFill>
                  <a:srgbClr val="374151"/>
                </a:solidFill>
                <a:latin typeface="Inter"/>
                <a:ea typeface="Inter"/>
                <a:cs typeface="Inter"/>
                <a:sym typeface="Inter"/>
              </a:endParaRPr>
            </a:p>
          </p:txBody>
        </p:sp>
      </p:grpSp>
      <p:grpSp>
        <p:nvGrpSpPr>
          <p:cNvPr id="221" name="Google Shape;221;p18"/>
          <p:cNvGrpSpPr/>
          <p:nvPr/>
        </p:nvGrpSpPr>
        <p:grpSpPr>
          <a:xfrm>
            <a:off x="762000" y="4143375"/>
            <a:ext cx="4953150" cy="1352700"/>
            <a:chOff x="0" y="0"/>
            <a:chExt cx="4953150" cy="1352700"/>
          </a:xfrm>
        </p:grpSpPr>
        <p:grpSp>
          <p:nvGrpSpPr>
            <p:cNvPr id="222" name="Google Shape;222;p18"/>
            <p:cNvGrpSpPr/>
            <p:nvPr/>
          </p:nvGrpSpPr>
          <p:grpSpPr>
            <a:xfrm>
              <a:off x="0" y="28575"/>
              <a:ext cx="190500" cy="190500"/>
              <a:chOff x="0" y="0"/>
              <a:chExt cx="190500" cy="190500"/>
            </a:xfrm>
          </p:grpSpPr>
          <p:sp>
            <p:nvSpPr>
              <p:cNvPr id="223" name="Google Shape;223;p1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5" name="Google Shape;225;p18"/>
            <p:cNvSpPr txBox="1"/>
            <p:nvPr/>
          </p:nvSpPr>
          <p:spPr>
            <a:xfrm>
              <a:off x="285750" y="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Provider-Specific Configurations</a:t>
              </a:r>
              <a:endParaRPr b="1" sz="1400">
                <a:solidFill>
                  <a:srgbClr val="045A36"/>
                </a:solidFill>
                <a:latin typeface="Montserrat"/>
                <a:ea typeface="Montserrat"/>
                <a:cs typeface="Montserrat"/>
                <a:sym typeface="Montserrat"/>
              </a:endParaRPr>
            </a:p>
          </p:txBody>
        </p:sp>
        <p:sp>
          <p:nvSpPr>
            <p:cNvPr id="226" name="Google Shape;226;p18"/>
            <p:cNvSpPr txBox="1"/>
            <p:nvPr/>
          </p:nvSpPr>
          <p:spPr>
            <a:xfrm>
              <a:off x="285750" y="304800"/>
              <a:ext cx="4667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Different providers maintain distinct SMTP addresses (e.g., </a:t>
              </a:r>
              <a:r>
                <a:rPr b="0" lang="en" sz="1050">
                  <a:solidFill>
                    <a:srgbClr val="D4A017"/>
                  </a:solidFill>
                  <a:latin typeface="Arial"/>
                  <a:ea typeface="Arial"/>
                  <a:cs typeface="Arial"/>
                  <a:sym typeface="Arial"/>
                </a:rPr>
                <a:t>smtp.gmail.com</a:t>
              </a:r>
              <a:r>
                <a:rPr b="0" lang="en" sz="1150">
                  <a:solidFill>
                    <a:srgbClr val="374151"/>
                  </a:solidFill>
                  <a:latin typeface="Inter"/>
                  <a:ea typeface="Inter"/>
                  <a:cs typeface="Inter"/>
                  <a:sym typeface="Inter"/>
                </a:rPr>
                <a:t>) and configurations. The Python script must target the exact SMTP server associated with the sender's account.</a:t>
              </a:r>
              <a:endParaRPr b="0" sz="1150">
                <a:solidFill>
                  <a:srgbClr val="374151"/>
                </a:solidFill>
                <a:latin typeface="Inter"/>
                <a:ea typeface="Inter"/>
                <a:cs typeface="Inter"/>
                <a:sym typeface="Inter"/>
              </a:endParaRPr>
            </a:p>
          </p:txBody>
        </p:sp>
      </p:grpSp>
      <p:pic>
        <p:nvPicPr>
          <p:cNvPr id="227" name="Google Shape;227;p18"/>
          <p:cNvPicPr preferRelativeResize="0"/>
          <p:nvPr/>
        </p:nvPicPr>
        <p:blipFill rotWithShape="1">
          <a:blip r:embed="rId6">
            <a:alphaModFix/>
          </a:blip>
          <a:srcRect b="40" l="0" r="0" t="40"/>
          <a:stretch/>
        </p:blipFill>
        <p:spPr>
          <a:xfrm>
            <a:off x="6477000" y="1476375"/>
            <a:ext cx="4953000" cy="2762400"/>
          </a:xfrm>
          <a:prstGeom prst="rect">
            <a:avLst/>
          </a:prstGeom>
          <a:noFill/>
          <a:ln>
            <a:noFill/>
          </a:ln>
        </p:spPr>
      </p:pic>
      <p:grpSp>
        <p:nvGrpSpPr>
          <p:cNvPr id="228" name="Google Shape;228;p18"/>
          <p:cNvGrpSpPr/>
          <p:nvPr/>
        </p:nvGrpSpPr>
        <p:grpSpPr>
          <a:xfrm>
            <a:off x="6477000" y="4429125"/>
            <a:ext cx="4953000" cy="809700"/>
            <a:chOff x="0" y="0"/>
            <a:chExt cx="4953000" cy="809700"/>
          </a:xfrm>
        </p:grpSpPr>
        <p:sp>
          <p:nvSpPr>
            <p:cNvPr id="229" name="Google Shape;229;p18"/>
            <p:cNvSpPr/>
            <p:nvPr/>
          </p:nvSpPr>
          <p:spPr>
            <a:xfrm>
              <a:off x="0" y="0"/>
              <a:ext cx="4953000" cy="8097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8"/>
            <p:cNvSpPr/>
            <p:nvPr/>
          </p:nvSpPr>
          <p:spPr>
            <a:xfrm>
              <a:off x="0" y="0"/>
              <a:ext cx="4953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8"/>
            <p:cNvSpPr txBox="1"/>
            <p:nvPr/>
          </p:nvSpPr>
          <p:spPr>
            <a:xfrm>
              <a:off x="190500" y="114300"/>
              <a:ext cx="45720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SMTP Protocol Role:</a:t>
              </a:r>
              <a:r>
                <a:rPr lang="en" sz="1100">
                  <a:solidFill>
                    <a:srgbClr val="374151"/>
                  </a:solidFill>
                  <a:latin typeface="Inter"/>
                  <a:ea typeface="Inter"/>
                  <a:cs typeface="Inter"/>
                  <a:sym typeface="Inter"/>
                </a:rPr>
                <a:t> Standardizes how email is packaged, authenticated, and hopped across servers worldwide before reaching the final recipient inbox.</a:t>
              </a:r>
              <a:endParaRPr sz="1100">
                <a:solidFill>
                  <a:srgbClr val="374151"/>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5" name="Shape 235"/>
        <p:cNvGrpSpPr/>
        <p:nvPr/>
      </p:nvGrpSpPr>
      <p:grpSpPr>
        <a:xfrm>
          <a:off x="0" y="0"/>
          <a:ext cx="0" cy="0"/>
          <a:chOff x="0" y="0"/>
          <a:chExt cx="0" cy="0"/>
        </a:xfrm>
      </p:grpSpPr>
      <p:pic>
        <p:nvPicPr>
          <p:cNvPr id="236" name="Google Shape;236;p19"/>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237" name="Google Shape;237;p19"/>
          <p:cNvSpPr txBox="1"/>
          <p:nvPr/>
        </p:nvSpPr>
        <p:spPr>
          <a:xfrm>
            <a:off x="762000" y="571500"/>
            <a:ext cx="10668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Network Ports &amp; Server Processes</a:t>
            </a:r>
            <a:endParaRPr b="0" sz="2700">
              <a:solidFill>
                <a:srgbClr val="045A36"/>
              </a:solidFill>
              <a:latin typeface="Montserrat SemiBold"/>
              <a:ea typeface="Montserrat SemiBold"/>
              <a:cs typeface="Montserrat SemiBold"/>
              <a:sym typeface="Montserrat SemiBold"/>
            </a:endParaRPr>
          </a:p>
        </p:txBody>
      </p:sp>
      <p:sp>
        <p:nvSpPr>
          <p:cNvPr id="238" name="Google Shape;238;p1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9"/>
          <p:cNvSpPr txBox="1"/>
          <p:nvPr/>
        </p:nvSpPr>
        <p:spPr>
          <a:xfrm>
            <a:off x="762000" y="1285875"/>
            <a:ext cx="10668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A network port is a virtual endpoint where network connections start and end. Ports are strictly required to direct incoming data to the correct service, preventing SMTP email traffic from being confused with web traffic or file transfers.</a:t>
            </a:r>
            <a:endParaRPr b="0" sz="1300">
              <a:solidFill>
                <a:srgbClr val="374151"/>
              </a:solidFill>
              <a:latin typeface="Inter"/>
              <a:ea typeface="Inter"/>
              <a:cs typeface="Inter"/>
              <a:sym typeface="Inter"/>
            </a:endParaRPr>
          </a:p>
        </p:txBody>
      </p:sp>
      <p:grpSp>
        <p:nvGrpSpPr>
          <p:cNvPr id="240" name="Google Shape;240;p19"/>
          <p:cNvGrpSpPr/>
          <p:nvPr/>
        </p:nvGrpSpPr>
        <p:grpSpPr>
          <a:xfrm>
            <a:off x="762000" y="2095500"/>
            <a:ext cx="4857900" cy="3238500"/>
            <a:chOff x="762000" y="2095500"/>
            <a:chExt cx="4857900" cy="3238500"/>
          </a:xfrm>
        </p:grpSpPr>
        <p:sp>
          <p:nvSpPr>
            <p:cNvPr id="241" name="Google Shape;241;p19"/>
            <p:cNvSpPr/>
            <p:nvPr/>
          </p:nvSpPr>
          <p:spPr>
            <a:xfrm>
              <a:off x="762000" y="2095500"/>
              <a:ext cx="48579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9"/>
            <p:cNvSpPr/>
            <p:nvPr/>
          </p:nvSpPr>
          <p:spPr>
            <a:xfrm>
              <a:off x="762000" y="2095500"/>
              <a:ext cx="48579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9"/>
            <p:cNvSpPr txBox="1"/>
            <p:nvPr/>
          </p:nvSpPr>
          <p:spPr>
            <a:xfrm>
              <a:off x="1000125" y="2333625"/>
              <a:ext cx="438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Port 465 (SSL)</a:t>
              </a:r>
              <a:endParaRPr b="1" sz="1650">
                <a:solidFill>
                  <a:srgbClr val="045A36"/>
                </a:solidFill>
                <a:latin typeface="Montserrat"/>
                <a:ea typeface="Montserrat"/>
                <a:cs typeface="Montserrat"/>
                <a:sym typeface="Montserrat"/>
              </a:endParaRPr>
            </a:p>
          </p:txBody>
        </p:sp>
        <p:sp>
          <p:nvSpPr>
            <p:cNvPr id="244" name="Google Shape;244;p19"/>
            <p:cNvSpPr txBox="1"/>
            <p:nvPr/>
          </p:nvSpPr>
          <p:spPr>
            <a:xfrm>
              <a:off x="1000125" y="2809875"/>
              <a:ext cx="4381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The standard port for SMTP over SSL. It establishes a secure, encrypted connection immediately before any data is transmitted.</a:t>
              </a:r>
              <a:endParaRPr b="0" sz="1300">
                <a:solidFill>
                  <a:srgbClr val="374151"/>
                </a:solidFill>
                <a:latin typeface="Inter"/>
                <a:ea typeface="Inter"/>
                <a:cs typeface="Inter"/>
                <a:sym typeface="Inter"/>
              </a:endParaRPr>
            </a:p>
          </p:txBody>
        </p:sp>
        <p:grpSp>
          <p:nvGrpSpPr>
            <p:cNvPr id="245" name="Google Shape;245;p19"/>
            <p:cNvGrpSpPr/>
            <p:nvPr/>
          </p:nvGrpSpPr>
          <p:grpSpPr>
            <a:xfrm>
              <a:off x="1000125" y="3800475"/>
              <a:ext cx="190500" cy="190500"/>
              <a:chOff x="0" y="0"/>
              <a:chExt cx="190500" cy="190500"/>
            </a:xfrm>
          </p:grpSpPr>
          <p:sp>
            <p:nvSpPr>
              <p:cNvPr id="246" name="Google Shape;246;p19"/>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9"/>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8" name="Google Shape;248;p19"/>
            <p:cNvSpPr txBox="1"/>
            <p:nvPr/>
          </p:nvSpPr>
          <p:spPr>
            <a:xfrm>
              <a:off x="1333500" y="3762375"/>
              <a:ext cx="40482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SemiBold"/>
                  <a:ea typeface="Inter SemiBold"/>
                  <a:cs typeface="Inter SemiBold"/>
                  <a:sym typeface="Inter SemiBold"/>
                </a:rPr>
                <a:t>Beginner Recommendation:</a:t>
              </a:r>
              <a:r>
                <a:rPr b="0" lang="en" sz="1300">
                  <a:solidFill>
                    <a:srgbClr val="374151"/>
                  </a:solidFill>
                  <a:latin typeface="Inter"/>
                  <a:ea typeface="Inter"/>
                  <a:cs typeface="Inter"/>
                  <a:sym typeface="Inter"/>
                </a:rPr>
                <a:t> Exclusively used in initial configurations to ensure maximum security right from the start.</a:t>
              </a:r>
              <a:endParaRPr b="0" sz="1300">
                <a:solidFill>
                  <a:srgbClr val="374151"/>
                </a:solidFill>
                <a:latin typeface="Inter"/>
                <a:ea typeface="Inter"/>
                <a:cs typeface="Inter"/>
                <a:sym typeface="Inter"/>
              </a:endParaRPr>
            </a:p>
          </p:txBody>
        </p:sp>
      </p:grpSp>
      <p:sp>
        <p:nvSpPr>
          <p:cNvPr id="249" name="Google Shape;249;p19"/>
          <p:cNvSpPr/>
          <p:nvPr/>
        </p:nvSpPr>
        <p:spPr>
          <a:xfrm>
            <a:off x="6086475" y="2095500"/>
            <a:ext cx="19200" cy="3238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0" name="Google Shape;250;p19"/>
          <p:cNvGrpSpPr/>
          <p:nvPr/>
        </p:nvGrpSpPr>
        <p:grpSpPr>
          <a:xfrm>
            <a:off x="6572250" y="2095500"/>
            <a:ext cx="4857900" cy="3238500"/>
            <a:chOff x="6572250" y="2095500"/>
            <a:chExt cx="4857900" cy="3238500"/>
          </a:xfrm>
        </p:grpSpPr>
        <p:sp>
          <p:nvSpPr>
            <p:cNvPr id="251" name="Google Shape;251;p19"/>
            <p:cNvSpPr/>
            <p:nvPr/>
          </p:nvSpPr>
          <p:spPr>
            <a:xfrm>
              <a:off x="6572250" y="2095500"/>
              <a:ext cx="48579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9"/>
            <p:cNvSpPr/>
            <p:nvPr/>
          </p:nvSpPr>
          <p:spPr>
            <a:xfrm>
              <a:off x="6572250" y="2095500"/>
              <a:ext cx="48579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9"/>
            <p:cNvSpPr txBox="1"/>
            <p:nvPr/>
          </p:nvSpPr>
          <p:spPr>
            <a:xfrm>
              <a:off x="6810375" y="2333625"/>
              <a:ext cx="438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Port 587 (STARTTLS)</a:t>
              </a:r>
              <a:endParaRPr b="1" sz="1650">
                <a:solidFill>
                  <a:srgbClr val="045A36"/>
                </a:solidFill>
                <a:latin typeface="Montserrat"/>
                <a:ea typeface="Montserrat"/>
                <a:cs typeface="Montserrat"/>
                <a:sym typeface="Montserrat"/>
              </a:endParaRPr>
            </a:p>
          </p:txBody>
        </p:sp>
        <p:sp>
          <p:nvSpPr>
            <p:cNvPr id="254" name="Google Shape;254;p19"/>
            <p:cNvSpPr txBox="1"/>
            <p:nvPr/>
          </p:nvSpPr>
          <p:spPr>
            <a:xfrm>
              <a:off x="6810375" y="2809875"/>
              <a:ext cx="4381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The modern standard for SMTP with STARTTLS. It begins with an unencrypted connection and then upgrades to secure.</a:t>
              </a:r>
              <a:endParaRPr b="0" sz="1300">
                <a:solidFill>
                  <a:srgbClr val="374151"/>
                </a:solidFill>
                <a:latin typeface="Inter"/>
                <a:ea typeface="Inter"/>
                <a:cs typeface="Inter"/>
                <a:sym typeface="Inter"/>
              </a:endParaRPr>
            </a:p>
          </p:txBody>
        </p:sp>
        <p:grpSp>
          <p:nvGrpSpPr>
            <p:cNvPr id="255" name="Google Shape;255;p19"/>
            <p:cNvGrpSpPr/>
            <p:nvPr/>
          </p:nvGrpSpPr>
          <p:grpSpPr>
            <a:xfrm>
              <a:off x="6810375" y="3800475"/>
              <a:ext cx="190500" cy="190500"/>
              <a:chOff x="0" y="0"/>
              <a:chExt cx="190500" cy="190500"/>
            </a:xfrm>
          </p:grpSpPr>
          <p:sp>
            <p:nvSpPr>
              <p:cNvPr id="256" name="Google Shape;256;p19"/>
              <p:cNvSpPr/>
              <p:nvPr/>
            </p:nvSpPr>
            <p:spPr>
              <a:xfrm>
                <a:off x="0" y="0"/>
                <a:ext cx="190500" cy="1905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19"/>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8" name="Google Shape;258;p19"/>
            <p:cNvSpPr txBox="1"/>
            <p:nvPr/>
          </p:nvSpPr>
          <p:spPr>
            <a:xfrm>
              <a:off x="7143750" y="3762375"/>
              <a:ext cx="40482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D4A017"/>
                  </a:solidFill>
                  <a:latin typeface="Inter SemiBold"/>
                  <a:ea typeface="Inter SemiBold"/>
                  <a:cs typeface="Inter SemiBold"/>
                  <a:sym typeface="Inter SemiBold"/>
                </a:rPr>
                <a:t>Opportunistic Security:</a:t>
              </a:r>
              <a:r>
                <a:rPr b="0" lang="en" sz="1300">
                  <a:solidFill>
                    <a:srgbClr val="374151"/>
                  </a:solidFill>
                  <a:latin typeface="Inter"/>
                  <a:ea typeface="Inter"/>
                  <a:cs typeface="Inter"/>
                  <a:sym typeface="Inter"/>
                </a:rPr>
                <a:t> Connects insecurely first and requests an upgrade. If the upgrade fails, traffic might remain unencrypted.</a:t>
              </a:r>
              <a:endParaRPr b="0" sz="1300">
                <a:solidFill>
                  <a:srgbClr val="374151"/>
                </a:solidFill>
                <a:latin typeface="Inter"/>
                <a:ea typeface="Inter"/>
                <a:cs typeface="Inter"/>
                <a:sym typeface="Inter"/>
              </a:endParaRPr>
            </a:p>
          </p:txBody>
        </p:sp>
      </p:grpSp>
      <p:pic>
        <p:nvPicPr>
          <p:cNvPr id="259" name="Google Shape;259;p19"/>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260" name="Google Shape;260;p19"/>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261" name="Google Shape;261;p19"/>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pic>
        <p:nvPicPr>
          <p:cNvPr id="266" name="Google Shape;266;p20"/>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267" name="Google Shape;267;p20"/>
          <p:cNvSpPr txBox="1"/>
          <p:nvPr/>
        </p:nvSpPr>
        <p:spPr>
          <a:xfrm>
            <a:off x="762000" y="333375"/>
            <a:ext cx="952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100">
                <a:solidFill>
                  <a:srgbClr val="045A36"/>
                </a:solidFill>
                <a:latin typeface="Montserrat SemiBold"/>
                <a:ea typeface="Montserrat SemiBold"/>
                <a:cs typeface="Montserrat SemiBold"/>
                <a:sym typeface="Montserrat SemiBold"/>
              </a:rPr>
              <a:t>SSL and TLS Encryption Protect Sensitive Email Credentials from Interception</a:t>
            </a:r>
            <a:endParaRPr b="0" sz="2100">
              <a:solidFill>
                <a:srgbClr val="045A36"/>
              </a:solidFill>
              <a:latin typeface="Montserrat SemiBold"/>
              <a:ea typeface="Montserrat SemiBold"/>
              <a:cs typeface="Montserrat SemiBold"/>
              <a:sym typeface="Montserrat SemiBold"/>
            </a:endParaRPr>
          </a:p>
        </p:txBody>
      </p:sp>
      <p:sp>
        <p:nvSpPr>
          <p:cNvPr id="268" name="Google Shape;268;p2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0"/>
          <p:cNvSpPr txBox="1"/>
          <p:nvPr/>
        </p:nvSpPr>
        <p:spPr>
          <a:xfrm>
            <a:off x="762000" y="1476375"/>
            <a:ext cx="50484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50">
                <a:solidFill>
                  <a:srgbClr val="045A36"/>
                </a:solidFill>
                <a:latin typeface="Montserrat"/>
                <a:ea typeface="Montserrat"/>
                <a:cs typeface="Montserrat"/>
                <a:sym typeface="Montserrat"/>
              </a:rPr>
              <a:t>Protecting email credentials during automation is a critical security requirement.</a:t>
            </a:r>
            <a:endParaRPr b="1" sz="1450">
              <a:solidFill>
                <a:srgbClr val="045A36"/>
              </a:solidFill>
              <a:latin typeface="Montserrat"/>
              <a:ea typeface="Montserrat"/>
              <a:cs typeface="Montserrat"/>
              <a:sym typeface="Montserrat"/>
            </a:endParaRPr>
          </a:p>
          <a:p>
            <a:pPr indent="0" lvl="0" marL="0" rtl="0" algn="l">
              <a:spcBef>
                <a:spcPts val="1200"/>
              </a:spcBef>
              <a:spcAft>
                <a:spcPts val="0"/>
              </a:spcAft>
              <a:buNone/>
            </a:pPr>
            <a:r>
              <a:rPr b="0" lang="en" sz="1250">
                <a:solidFill>
                  <a:srgbClr val="374151"/>
                </a:solidFill>
                <a:latin typeface="Inter"/>
                <a:ea typeface="Inter"/>
                <a:cs typeface="Inter"/>
                <a:sym typeface="Inter"/>
              </a:rPr>
              <a:t>Transmitting passwords over an unencrypted connection exposes them to network eavesdropping, whereas an encrypted connection scrambles the data, making it unreadable to interceptors.</a:t>
            </a:r>
            <a:endParaRPr b="0" sz="1250">
              <a:solidFill>
                <a:srgbClr val="374151"/>
              </a:solidFill>
              <a:latin typeface="Inter"/>
              <a:ea typeface="Inter"/>
              <a:cs typeface="Inter"/>
              <a:sym typeface="Inter"/>
            </a:endParaRPr>
          </a:p>
          <a:p>
            <a:pPr indent="0" lvl="0" marL="0" rtl="0" algn="l">
              <a:spcBef>
                <a:spcPts val="1200"/>
              </a:spcBef>
              <a:spcAft>
                <a:spcPts val="0"/>
              </a:spcAft>
              <a:buNone/>
            </a:pPr>
            <a:r>
              <a:rPr b="0" lang="en" sz="1250">
                <a:solidFill>
                  <a:srgbClr val="374151"/>
                </a:solidFill>
                <a:latin typeface="Inter"/>
                <a:ea typeface="Inter"/>
                <a:cs typeface="Inter"/>
                <a:sym typeface="Inter"/>
              </a:rPr>
              <a:t>This security is achieved through </a:t>
            </a:r>
            <a:r>
              <a:rPr b="0" lang="en" sz="1250">
                <a:solidFill>
                  <a:srgbClr val="045A36"/>
                </a:solidFill>
                <a:latin typeface="Inter SemiBold"/>
                <a:ea typeface="Inter SemiBold"/>
                <a:cs typeface="Inter SemiBold"/>
                <a:sym typeface="Inter SemiBold"/>
              </a:rPr>
              <a:t>SSL</a:t>
            </a:r>
            <a:r>
              <a:rPr b="0" lang="en" sz="1250">
                <a:solidFill>
                  <a:srgbClr val="374151"/>
                </a:solidFill>
                <a:latin typeface="Inter"/>
                <a:ea typeface="Inter"/>
                <a:cs typeface="Inter"/>
                <a:sym typeface="Inter"/>
              </a:rPr>
              <a:t> (Secure Sockets Layer) and its modern successor </a:t>
            </a:r>
            <a:r>
              <a:rPr b="0" lang="en" sz="1250">
                <a:solidFill>
                  <a:srgbClr val="045A36"/>
                </a:solidFill>
                <a:latin typeface="Inter SemiBold"/>
                <a:ea typeface="Inter SemiBold"/>
                <a:cs typeface="Inter SemiBold"/>
                <a:sym typeface="Inter SemiBold"/>
              </a:rPr>
              <a:t>TLS</a:t>
            </a:r>
            <a:r>
              <a:rPr b="0" lang="en" sz="1250">
                <a:solidFill>
                  <a:srgbClr val="374151"/>
                </a:solidFill>
                <a:latin typeface="Inter"/>
                <a:ea typeface="Inter"/>
                <a:cs typeface="Inter"/>
                <a:sym typeface="Inter"/>
              </a:rPr>
              <a:t> (Transport Layer Security), which are cryptographic protocols designed to secure communications over a network. In Python, utilizing the </a:t>
            </a:r>
            <a:r>
              <a:rPr b="0" lang="en" sz="1250">
                <a:solidFill>
                  <a:srgbClr val="374151"/>
                </a:solidFill>
                <a:highlight>
                  <a:srgbClr val="E2E8F0"/>
                </a:highlight>
                <a:latin typeface="Arial"/>
                <a:ea typeface="Arial"/>
                <a:cs typeface="Arial"/>
                <a:sym typeface="Arial"/>
              </a:rPr>
              <a:t>SMTP_SSL()</a:t>
            </a:r>
            <a:r>
              <a:rPr b="0" lang="en" sz="1250">
                <a:solidFill>
                  <a:srgbClr val="374151"/>
                </a:solidFill>
                <a:latin typeface="Inter"/>
                <a:ea typeface="Inter"/>
                <a:cs typeface="Inter"/>
                <a:sym typeface="Inter"/>
              </a:rPr>
              <a:t> class guarantees that the connection is encrypted from the very first byte.</a:t>
            </a:r>
            <a:endParaRPr b="0" sz="1250">
              <a:solidFill>
                <a:srgbClr val="374151"/>
              </a:solidFill>
              <a:latin typeface="Inter"/>
              <a:ea typeface="Inter"/>
              <a:cs typeface="Inter"/>
              <a:sym typeface="Inter"/>
            </a:endParaRPr>
          </a:p>
          <a:p>
            <a:pPr indent="0" lvl="0" marL="0" rtl="0" algn="l">
              <a:spcBef>
                <a:spcPts val="1200"/>
              </a:spcBef>
              <a:spcAft>
                <a:spcPts val="0"/>
              </a:spcAft>
              <a:buNone/>
            </a:pPr>
            <a:r>
              <a:rPr b="0" lang="en" sz="1250">
                <a:solidFill>
                  <a:srgbClr val="374151"/>
                </a:solidFill>
                <a:latin typeface="Inter"/>
                <a:ea typeface="Inter"/>
                <a:cs typeface="Inter"/>
                <a:sym typeface="Inter"/>
              </a:rPr>
              <a:t>Following industry best practices, tutorials recommend establishing this encrypted SMTP connection by combining </a:t>
            </a:r>
            <a:r>
              <a:rPr b="0" lang="en" sz="1250">
                <a:solidFill>
                  <a:srgbClr val="374151"/>
                </a:solidFill>
                <a:highlight>
                  <a:srgbClr val="E2E8F0"/>
                </a:highlight>
                <a:latin typeface="Arial"/>
                <a:ea typeface="Arial"/>
                <a:cs typeface="Arial"/>
                <a:sym typeface="Arial"/>
              </a:rPr>
              <a:t>ssl.create_default_context()</a:t>
            </a:r>
            <a:r>
              <a:rPr b="0" lang="en" sz="1250">
                <a:solidFill>
                  <a:srgbClr val="374151"/>
                </a:solidFill>
                <a:latin typeface="Inter"/>
                <a:ea typeface="Inter"/>
                <a:cs typeface="Inter"/>
                <a:sym typeface="Inter"/>
              </a:rPr>
              <a:t>—which loads trusted system certificates—with the </a:t>
            </a:r>
            <a:r>
              <a:rPr b="0" lang="en" sz="1250">
                <a:solidFill>
                  <a:srgbClr val="374151"/>
                </a:solidFill>
                <a:highlight>
                  <a:srgbClr val="E2E8F0"/>
                </a:highlight>
                <a:latin typeface="Arial"/>
                <a:ea typeface="Arial"/>
                <a:cs typeface="Arial"/>
                <a:sym typeface="Arial"/>
              </a:rPr>
              <a:t>SMTP_SSL()</a:t>
            </a:r>
            <a:r>
              <a:rPr b="0" lang="en" sz="1250">
                <a:solidFill>
                  <a:srgbClr val="374151"/>
                </a:solidFill>
                <a:latin typeface="Inter"/>
                <a:ea typeface="Inter"/>
                <a:cs typeface="Inter"/>
                <a:sym typeface="Inter"/>
              </a:rPr>
              <a:t> command for robust security.</a:t>
            </a:r>
            <a:endParaRPr b="0" sz="1250">
              <a:solidFill>
                <a:srgbClr val="374151"/>
              </a:solidFill>
              <a:latin typeface="Inter"/>
              <a:ea typeface="Inter"/>
              <a:cs typeface="Inter"/>
              <a:sym typeface="Inter"/>
            </a:endParaRPr>
          </a:p>
        </p:txBody>
      </p:sp>
      <p:pic>
        <p:nvPicPr>
          <p:cNvPr id="270" name="Google Shape;270;p20"/>
          <p:cNvPicPr preferRelativeResize="0"/>
          <p:nvPr/>
        </p:nvPicPr>
        <p:blipFill rotWithShape="1">
          <a:blip r:embed="rId5">
            <a:alphaModFix/>
          </a:blip>
          <a:srcRect b="50" l="0" r="0" t="60"/>
          <a:stretch/>
        </p:blipFill>
        <p:spPr>
          <a:xfrm>
            <a:off x="6477000" y="1714500"/>
            <a:ext cx="4572000" cy="3410100"/>
          </a:xfrm>
          <a:prstGeom prst="rect">
            <a:avLst/>
          </a:prstGeom>
          <a:noFill/>
          <a:ln>
            <a:noFill/>
          </a:ln>
        </p:spPr>
      </p:pic>
      <p:pic>
        <p:nvPicPr>
          <p:cNvPr id="271" name="Google Shape;271;p20"/>
          <p:cNvPicPr preferRelativeResize="0"/>
          <p:nvPr/>
        </p:nvPicPr>
        <p:blipFill rotWithShape="1">
          <a:blip r:embed="rId6">
            <a:alphaModFix/>
          </a:blip>
          <a:srcRect b="0" l="0" r="0" t="0"/>
          <a:stretch/>
        </p:blipFill>
        <p:spPr>
          <a:xfrm>
            <a:off x="762000" y="5981700"/>
            <a:ext cx="10668000" cy="304800"/>
          </a:xfrm>
          <a:prstGeom prst="rect">
            <a:avLst/>
          </a:prstGeom>
          <a:noFill/>
          <a:ln>
            <a:noFill/>
          </a:ln>
        </p:spPr>
      </p:pic>
      <p:sp>
        <p:nvSpPr>
          <p:cNvPr id="272" name="Google Shape;272;p20"/>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273" name="Google Shape;273;p20"/>
          <p:cNvPicPr preferRelativeResize="0"/>
          <p:nvPr/>
        </p:nvPicPr>
        <p:blipFill rotWithShape="1">
          <a:blip r:embed="rId7">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pic>
        <p:nvPicPr>
          <p:cNvPr id="278" name="Google Shape;278;p21"/>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279" name="Google Shape;279;p21"/>
          <p:cNvSpPr txBox="1"/>
          <p:nvPr/>
        </p:nvSpPr>
        <p:spPr>
          <a:xfrm>
            <a:off x="762000" y="523875"/>
            <a:ext cx="9525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The smtplib Module</a:t>
            </a:r>
            <a:endParaRPr b="0" sz="2700">
              <a:solidFill>
                <a:srgbClr val="045A36"/>
              </a:solidFill>
              <a:latin typeface="Montserrat SemiBold"/>
              <a:ea typeface="Montserrat SemiBold"/>
              <a:cs typeface="Montserrat SemiBold"/>
              <a:sym typeface="Montserrat SemiBold"/>
            </a:endParaRPr>
          </a:p>
        </p:txBody>
      </p:sp>
      <p:sp>
        <p:nvSpPr>
          <p:cNvPr id="280" name="Google Shape;280;p2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1"/>
          <p:cNvSpPr txBox="1"/>
          <p:nvPr/>
        </p:nvSpPr>
        <p:spPr>
          <a:xfrm>
            <a:off x="762000" y="1333500"/>
            <a:ext cx="10668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50">
                <a:solidFill>
                  <a:srgbClr val="1F2937"/>
                </a:solidFill>
                <a:latin typeface="Inter"/>
                <a:ea typeface="Inter"/>
                <a:cs typeface="Inter"/>
                <a:sym typeface="Inter"/>
              </a:rPr>
              <a:t>To begin automating emails, we introduce the </a:t>
            </a:r>
            <a:r>
              <a:rPr b="1" lang="en" sz="1450">
                <a:solidFill>
                  <a:srgbClr val="045A36"/>
                </a:solidFill>
                <a:highlight>
                  <a:srgbClr val="F1F5F9"/>
                </a:highlight>
                <a:latin typeface="Courier New"/>
                <a:ea typeface="Courier New"/>
                <a:cs typeface="Courier New"/>
                <a:sym typeface="Courier New"/>
              </a:rPr>
              <a:t>import smtplib</a:t>
            </a:r>
            <a:r>
              <a:rPr b="0" lang="en" sz="1450">
                <a:solidFill>
                  <a:srgbClr val="1F2937"/>
                </a:solidFill>
                <a:latin typeface="Inter"/>
                <a:ea typeface="Inter"/>
                <a:cs typeface="Inter"/>
                <a:sym typeface="Inter"/>
              </a:rPr>
              <a:t> statement.</a:t>
            </a:r>
            <a:endParaRPr b="0" sz="1450">
              <a:solidFill>
                <a:srgbClr val="1F2937"/>
              </a:solidFill>
              <a:latin typeface="Inter"/>
              <a:ea typeface="Inter"/>
              <a:cs typeface="Inter"/>
              <a:sym typeface="Inter"/>
            </a:endParaRPr>
          </a:p>
        </p:txBody>
      </p:sp>
      <p:grpSp>
        <p:nvGrpSpPr>
          <p:cNvPr id="282" name="Google Shape;282;p21"/>
          <p:cNvGrpSpPr/>
          <p:nvPr/>
        </p:nvGrpSpPr>
        <p:grpSpPr>
          <a:xfrm>
            <a:off x="762000" y="1905000"/>
            <a:ext cx="5048400" cy="3429000"/>
            <a:chOff x="0" y="0"/>
            <a:chExt cx="5048400" cy="3429000"/>
          </a:xfrm>
        </p:grpSpPr>
        <p:sp>
          <p:nvSpPr>
            <p:cNvPr id="283" name="Google Shape;283;p21"/>
            <p:cNvSpPr/>
            <p:nvPr/>
          </p:nvSpPr>
          <p:spPr>
            <a:xfrm>
              <a:off x="0" y="0"/>
              <a:ext cx="5048400" cy="3429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1"/>
            <p:cNvSpPr/>
            <p:nvPr/>
          </p:nvSpPr>
          <p:spPr>
            <a:xfrm>
              <a:off x="0" y="0"/>
              <a:ext cx="5048400" cy="76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1"/>
            <p:cNvSpPr txBox="1"/>
            <p:nvPr/>
          </p:nvSpPr>
          <p:spPr>
            <a:xfrm>
              <a:off x="238125" y="285750"/>
              <a:ext cx="45720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Core Module Concept</a:t>
              </a:r>
              <a:endParaRPr b="1" sz="1650">
                <a:solidFill>
                  <a:srgbClr val="045A36"/>
                </a:solidFill>
                <a:latin typeface="Montserrat"/>
                <a:ea typeface="Montserrat"/>
                <a:cs typeface="Montserrat"/>
                <a:sym typeface="Montserrat"/>
              </a:endParaRPr>
            </a:p>
            <a:p>
              <a:pPr indent="0" lvl="0" marL="0" rtl="0" algn="l">
                <a:spcBef>
                  <a:spcPts val="1500"/>
                </a:spcBef>
                <a:spcAft>
                  <a:spcPts val="0"/>
                </a:spcAft>
                <a:buNone/>
              </a:pPr>
              <a:r>
                <a:rPr lang="en" sz="1350">
                  <a:solidFill>
                    <a:srgbClr val="374151"/>
                  </a:solidFill>
                  <a:latin typeface="Inter"/>
                  <a:ea typeface="Inter"/>
                  <a:cs typeface="Inter"/>
                  <a:sym typeface="Inter"/>
                </a:rPr>
                <a:t>In Python, a module is a file containing Python definitions and statements that allow developers to reuse pre-written code.</a:t>
              </a:r>
              <a:endParaRPr sz="1350">
                <a:solidFill>
                  <a:srgbClr val="374151"/>
                </a:solidFill>
                <a:latin typeface="Inter"/>
                <a:ea typeface="Inter"/>
                <a:cs typeface="Inter"/>
                <a:sym typeface="Inter"/>
              </a:endParaRPr>
            </a:p>
            <a:p>
              <a:pPr indent="0" lvl="0" marL="0" rtl="0" algn="l">
                <a:spcBef>
                  <a:spcPts val="1500"/>
                </a:spcBef>
                <a:spcAft>
                  <a:spcPts val="0"/>
                </a:spcAft>
                <a:buNone/>
              </a:pPr>
              <a:r>
                <a:rPr lang="en" sz="1350">
                  <a:solidFill>
                    <a:srgbClr val="374151"/>
                  </a:solidFill>
                  <a:latin typeface="Inter"/>
                  <a:ea typeface="Inter"/>
                  <a:cs typeface="Inter"/>
                  <a:sym typeface="Inter"/>
                </a:rPr>
                <a:t>The </a:t>
              </a:r>
              <a:r>
                <a:rPr b="1" lang="en" sz="1350">
                  <a:solidFill>
                    <a:srgbClr val="045A36"/>
                  </a:solidFill>
                  <a:highlight>
                    <a:srgbClr val="F1F5F9"/>
                  </a:highlight>
                  <a:latin typeface="Courier New"/>
                  <a:ea typeface="Courier New"/>
                  <a:cs typeface="Courier New"/>
                  <a:sym typeface="Courier New"/>
                </a:rPr>
                <a:t>smtplib</a:t>
              </a:r>
              <a:r>
                <a:rPr lang="en" sz="1350">
                  <a:solidFill>
                    <a:srgbClr val="374151"/>
                  </a:solidFill>
                  <a:latin typeface="Inter"/>
                  <a:ea typeface="Inter"/>
                  <a:cs typeface="Inter"/>
                  <a:sym typeface="Inter"/>
                </a:rPr>
                <a:t> module is a powerful tool included in Python's standard library that defines an SMTP client session object.</a:t>
              </a:r>
              <a:endParaRPr sz="1350">
                <a:solidFill>
                  <a:srgbClr val="374151"/>
                </a:solidFill>
                <a:latin typeface="Inter"/>
                <a:ea typeface="Inter"/>
                <a:cs typeface="Inter"/>
                <a:sym typeface="Inter"/>
              </a:endParaRPr>
            </a:p>
          </p:txBody>
        </p:sp>
      </p:grpSp>
      <p:grpSp>
        <p:nvGrpSpPr>
          <p:cNvPr id="286" name="Google Shape;286;p21"/>
          <p:cNvGrpSpPr/>
          <p:nvPr/>
        </p:nvGrpSpPr>
        <p:grpSpPr>
          <a:xfrm>
            <a:off x="6381750" y="1905000"/>
            <a:ext cx="5048400" cy="3429000"/>
            <a:chOff x="0" y="0"/>
            <a:chExt cx="5048400" cy="3429000"/>
          </a:xfrm>
        </p:grpSpPr>
        <p:sp>
          <p:nvSpPr>
            <p:cNvPr id="287" name="Google Shape;287;p21"/>
            <p:cNvSpPr/>
            <p:nvPr/>
          </p:nvSpPr>
          <p:spPr>
            <a:xfrm>
              <a:off x="0" y="0"/>
              <a:ext cx="5048400" cy="3429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1"/>
            <p:cNvSpPr/>
            <p:nvPr/>
          </p:nvSpPr>
          <p:spPr>
            <a:xfrm>
              <a:off x="0" y="0"/>
              <a:ext cx="5048400" cy="76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21"/>
            <p:cNvSpPr txBox="1"/>
            <p:nvPr/>
          </p:nvSpPr>
          <p:spPr>
            <a:xfrm>
              <a:off x="238125" y="285750"/>
              <a:ext cx="457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Networking Capabilities</a:t>
              </a:r>
              <a:endParaRPr b="1" sz="1650">
                <a:solidFill>
                  <a:srgbClr val="045A36"/>
                </a:solidFill>
                <a:latin typeface="Montserrat"/>
                <a:ea typeface="Montserrat"/>
                <a:cs typeface="Montserrat"/>
                <a:sym typeface="Montserrat"/>
              </a:endParaRPr>
            </a:p>
          </p:txBody>
        </p:sp>
        <p:grpSp>
          <p:nvGrpSpPr>
            <p:cNvPr id="290" name="Google Shape;290;p21"/>
            <p:cNvGrpSpPr/>
            <p:nvPr/>
          </p:nvGrpSpPr>
          <p:grpSpPr>
            <a:xfrm>
              <a:off x="238125" y="876300"/>
              <a:ext cx="190500" cy="190500"/>
              <a:chOff x="0" y="0"/>
              <a:chExt cx="190500" cy="190500"/>
            </a:xfrm>
          </p:grpSpPr>
          <p:sp>
            <p:nvSpPr>
              <p:cNvPr id="291" name="Google Shape;291;p2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93" name="Google Shape;293;p21"/>
            <p:cNvSpPr txBox="1"/>
            <p:nvPr/>
          </p:nvSpPr>
          <p:spPr>
            <a:xfrm>
              <a:off x="571500" y="857250"/>
              <a:ext cx="4238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374151"/>
                  </a:solidFill>
                  <a:latin typeface="Inter"/>
                  <a:ea typeface="Inter"/>
                  <a:cs typeface="Inter"/>
                  <a:sym typeface="Inter"/>
                </a:rPr>
                <a:t>Seamlessly connect to SMTP servers</a:t>
              </a:r>
              <a:endParaRPr sz="1300">
                <a:solidFill>
                  <a:srgbClr val="374151"/>
                </a:solidFill>
                <a:latin typeface="Inter"/>
                <a:ea typeface="Inter"/>
                <a:cs typeface="Inter"/>
                <a:sym typeface="Inter"/>
              </a:endParaRPr>
            </a:p>
          </p:txBody>
        </p:sp>
        <p:grpSp>
          <p:nvGrpSpPr>
            <p:cNvPr id="294" name="Google Shape;294;p21"/>
            <p:cNvGrpSpPr/>
            <p:nvPr/>
          </p:nvGrpSpPr>
          <p:grpSpPr>
            <a:xfrm>
              <a:off x="238125" y="1352550"/>
              <a:ext cx="190500" cy="190500"/>
              <a:chOff x="0" y="0"/>
              <a:chExt cx="190500" cy="190500"/>
            </a:xfrm>
          </p:grpSpPr>
          <p:sp>
            <p:nvSpPr>
              <p:cNvPr id="295" name="Google Shape;295;p2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2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97" name="Google Shape;297;p21"/>
            <p:cNvSpPr txBox="1"/>
            <p:nvPr/>
          </p:nvSpPr>
          <p:spPr>
            <a:xfrm>
              <a:off x="571500" y="1333500"/>
              <a:ext cx="4238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374151"/>
                  </a:solidFill>
                  <a:latin typeface="Inter"/>
                  <a:ea typeface="Inter"/>
                  <a:cs typeface="Inter"/>
                  <a:sym typeface="Inter"/>
                </a:rPr>
                <a:t>Manage secure authentication processes</a:t>
              </a:r>
              <a:endParaRPr sz="1300">
                <a:solidFill>
                  <a:srgbClr val="374151"/>
                </a:solidFill>
                <a:latin typeface="Inter"/>
                <a:ea typeface="Inter"/>
                <a:cs typeface="Inter"/>
                <a:sym typeface="Inter"/>
              </a:endParaRPr>
            </a:p>
          </p:txBody>
        </p:sp>
        <p:grpSp>
          <p:nvGrpSpPr>
            <p:cNvPr id="298" name="Google Shape;298;p21"/>
            <p:cNvGrpSpPr/>
            <p:nvPr/>
          </p:nvGrpSpPr>
          <p:grpSpPr>
            <a:xfrm>
              <a:off x="238125" y="1828800"/>
              <a:ext cx="190500" cy="190500"/>
              <a:chOff x="0" y="0"/>
              <a:chExt cx="190500" cy="190500"/>
            </a:xfrm>
          </p:grpSpPr>
          <p:sp>
            <p:nvSpPr>
              <p:cNvPr id="299" name="Google Shape;299;p2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1" name="Google Shape;301;p21"/>
            <p:cNvSpPr txBox="1"/>
            <p:nvPr/>
          </p:nvSpPr>
          <p:spPr>
            <a:xfrm>
              <a:off x="571500" y="1809750"/>
              <a:ext cx="4238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374151"/>
                  </a:solidFill>
                  <a:latin typeface="Inter"/>
                  <a:ea typeface="Inter"/>
                  <a:cs typeface="Inter"/>
                  <a:sym typeface="Inter"/>
                </a:rPr>
                <a:t>Route emails to their final destinations</a:t>
              </a:r>
              <a:endParaRPr sz="1300">
                <a:solidFill>
                  <a:srgbClr val="374151"/>
                </a:solidFill>
                <a:latin typeface="Inter"/>
                <a:ea typeface="Inter"/>
                <a:cs typeface="Inter"/>
                <a:sym typeface="Inter"/>
              </a:endParaRPr>
            </a:p>
          </p:txBody>
        </p:sp>
        <p:grpSp>
          <p:nvGrpSpPr>
            <p:cNvPr id="302" name="Google Shape;302;p21"/>
            <p:cNvGrpSpPr/>
            <p:nvPr/>
          </p:nvGrpSpPr>
          <p:grpSpPr>
            <a:xfrm>
              <a:off x="238125" y="2305050"/>
              <a:ext cx="190500" cy="190500"/>
              <a:chOff x="0" y="0"/>
              <a:chExt cx="190500" cy="190500"/>
            </a:xfrm>
          </p:grpSpPr>
          <p:sp>
            <p:nvSpPr>
              <p:cNvPr id="303" name="Google Shape;303;p2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2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5" name="Google Shape;305;p21"/>
            <p:cNvSpPr txBox="1"/>
            <p:nvPr/>
          </p:nvSpPr>
          <p:spPr>
            <a:xfrm>
              <a:off x="571500" y="2286000"/>
              <a:ext cx="4238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374151"/>
                  </a:solidFill>
                  <a:latin typeface="Inter"/>
                  <a:ea typeface="Inter"/>
                  <a:cs typeface="Inter"/>
                  <a:sym typeface="Inter"/>
                </a:rPr>
                <a:t>Abstract complex underlying socket connections</a:t>
              </a:r>
              <a:endParaRPr sz="1300">
                <a:solidFill>
                  <a:srgbClr val="374151"/>
                </a:solidFill>
                <a:latin typeface="Inter"/>
                <a:ea typeface="Inter"/>
                <a:cs typeface="Inter"/>
                <a:sym typeface="Inter"/>
              </a:endParaRPr>
            </a:p>
          </p:txBody>
        </p:sp>
        <p:grpSp>
          <p:nvGrpSpPr>
            <p:cNvPr id="306" name="Google Shape;306;p21"/>
            <p:cNvGrpSpPr/>
            <p:nvPr/>
          </p:nvGrpSpPr>
          <p:grpSpPr>
            <a:xfrm>
              <a:off x="238125" y="2781300"/>
              <a:ext cx="190500" cy="190500"/>
              <a:chOff x="0" y="0"/>
              <a:chExt cx="190500" cy="190500"/>
            </a:xfrm>
          </p:grpSpPr>
          <p:sp>
            <p:nvSpPr>
              <p:cNvPr id="307" name="Google Shape;307;p2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9" name="Google Shape;309;p21"/>
            <p:cNvSpPr txBox="1"/>
            <p:nvPr/>
          </p:nvSpPr>
          <p:spPr>
            <a:xfrm>
              <a:off x="571500" y="2762250"/>
              <a:ext cx="42387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374151"/>
                  </a:solidFill>
                  <a:latin typeface="Inter"/>
                  <a:ea typeface="Inter"/>
                  <a:cs typeface="Inter"/>
                  <a:sym typeface="Inter"/>
                </a:rPr>
                <a:t>Focus entirely on connecting and transmitting data</a:t>
              </a:r>
              <a:endParaRPr sz="1300">
                <a:solidFill>
                  <a:srgbClr val="374151"/>
                </a:solidFill>
                <a:latin typeface="Inter"/>
                <a:ea typeface="Inter"/>
                <a:cs typeface="Inter"/>
                <a:sym typeface="Inter"/>
              </a:endParaRPr>
            </a:p>
          </p:txBody>
        </p:sp>
      </p:grpSp>
      <p:pic>
        <p:nvPicPr>
          <p:cNvPr id="310" name="Google Shape;310;p21"/>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311" name="Google Shape;311;p21"/>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312" name="Google Shape;312;p21"/>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6" name="Shape 316"/>
        <p:cNvGrpSpPr/>
        <p:nvPr/>
      </p:nvGrpSpPr>
      <p:grpSpPr>
        <a:xfrm>
          <a:off x="0" y="0"/>
          <a:ext cx="0" cy="0"/>
          <a:chOff x="0" y="0"/>
          <a:chExt cx="0" cy="0"/>
        </a:xfrm>
      </p:grpSpPr>
      <p:pic>
        <p:nvPicPr>
          <p:cNvPr id="317" name="Google Shape;317;p22"/>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318" name="Google Shape;318;p22"/>
          <p:cNvSpPr txBox="1"/>
          <p:nvPr/>
        </p:nvSpPr>
        <p:spPr>
          <a:xfrm>
            <a:off x="762000" y="457200"/>
            <a:ext cx="10668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045A36"/>
                </a:solidFill>
                <a:latin typeface="Montserrat SemiBold"/>
                <a:ea typeface="Montserrat SemiBold"/>
                <a:cs typeface="Montserrat SemiBold"/>
                <a:sym typeface="Montserrat SemiBold"/>
              </a:rPr>
              <a:t>Establishing a Secure Connection Requires the Server Address and Port</a:t>
            </a:r>
            <a:endParaRPr b="0" sz="2200">
              <a:solidFill>
                <a:srgbClr val="045A36"/>
              </a:solidFill>
              <a:latin typeface="Montserrat SemiBold"/>
              <a:ea typeface="Montserrat SemiBold"/>
              <a:cs typeface="Montserrat SemiBold"/>
              <a:sym typeface="Montserrat SemiBold"/>
            </a:endParaRPr>
          </a:p>
        </p:txBody>
      </p:sp>
      <p:sp>
        <p:nvSpPr>
          <p:cNvPr id="319" name="Google Shape;319;p2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0" name="Google Shape;320;p22"/>
          <p:cNvGrpSpPr/>
          <p:nvPr/>
        </p:nvGrpSpPr>
        <p:grpSpPr>
          <a:xfrm>
            <a:off x="762000" y="1285875"/>
            <a:ext cx="10668000" cy="809700"/>
            <a:chOff x="0" y="0"/>
            <a:chExt cx="10668000" cy="809700"/>
          </a:xfrm>
        </p:grpSpPr>
        <p:sp>
          <p:nvSpPr>
            <p:cNvPr id="321" name="Google Shape;321;p22"/>
            <p:cNvSpPr/>
            <p:nvPr/>
          </p:nvSpPr>
          <p:spPr>
            <a:xfrm>
              <a:off x="0" y="0"/>
              <a:ext cx="10668000" cy="809700"/>
            </a:xfrm>
            <a:prstGeom prst="roundRect">
              <a:avLst>
                <a:gd fmla="val 705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2"/>
            <p:cNvSpPr/>
            <p:nvPr/>
          </p:nvSpPr>
          <p:spPr>
            <a:xfrm>
              <a:off x="0" y="0"/>
              <a:ext cx="114300" cy="809700"/>
            </a:xfrm>
            <a:custGeom>
              <a:rect b="b" l="l" r="r" t="t"/>
              <a:pathLst>
                <a:path extrusionOk="0" h="120000" w="120000">
                  <a:moveTo>
                    <a:pt x="0" y="8471"/>
                  </a:moveTo>
                  <a:cubicBezTo>
                    <a:pt x="0" y="3784"/>
                    <a:pt x="26800" y="0"/>
                    <a:pt x="60000" y="0"/>
                  </a:cubicBezTo>
                  <a:lnTo>
                    <a:pt x="120000" y="0"/>
                  </a:lnTo>
                  <a:lnTo>
                    <a:pt x="120000" y="120000"/>
                  </a:lnTo>
                  <a:lnTo>
                    <a:pt x="60000" y="120000"/>
                  </a:lnTo>
                  <a:cubicBezTo>
                    <a:pt x="26800" y="120000"/>
                    <a:pt x="0" y="116216"/>
                    <a:pt x="0" y="111529"/>
                  </a:cubicBezTo>
                  <a:close/>
                </a:path>
              </a:pathLst>
            </a:cu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22"/>
            <p:cNvSpPr txBox="1"/>
            <p:nvPr/>
          </p:nvSpPr>
          <p:spPr>
            <a:xfrm>
              <a:off x="285750" y="190500"/>
              <a:ext cx="10096500" cy="428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500">
                  <a:solidFill>
                    <a:srgbClr val="6B7280"/>
                  </a:solidFill>
                  <a:latin typeface="Consolas"/>
                  <a:ea typeface="Consolas"/>
                  <a:cs typeface="Consolas"/>
                  <a:sym typeface="Consolas"/>
                </a:rPr>
                <a:t>server</a:t>
              </a:r>
              <a:r>
                <a:rPr b="0" lang="en" sz="1500">
                  <a:solidFill>
                    <a:srgbClr val="1F2937"/>
                  </a:solidFill>
                  <a:latin typeface="Consolas"/>
                  <a:ea typeface="Consolas"/>
                  <a:cs typeface="Consolas"/>
                  <a:sym typeface="Consolas"/>
                </a:rPr>
                <a:t> = </a:t>
              </a:r>
              <a:r>
                <a:rPr b="0" lang="en" sz="1500">
                  <a:solidFill>
                    <a:srgbClr val="045A36"/>
                  </a:solidFill>
                  <a:latin typeface="Consolas"/>
                  <a:ea typeface="Consolas"/>
                  <a:cs typeface="Consolas"/>
                  <a:sym typeface="Consolas"/>
                </a:rPr>
                <a:t>smtplib</a:t>
              </a:r>
              <a:r>
                <a:rPr b="0" lang="en" sz="1500">
                  <a:solidFill>
                    <a:srgbClr val="1F2937"/>
                  </a:solidFill>
                  <a:latin typeface="Consolas"/>
                  <a:ea typeface="Consolas"/>
                  <a:cs typeface="Consolas"/>
                  <a:sym typeface="Consolas"/>
                </a:rPr>
                <a:t>.</a:t>
              </a:r>
              <a:r>
                <a:rPr b="1" lang="en" sz="1500">
                  <a:solidFill>
                    <a:srgbClr val="045A36"/>
                  </a:solidFill>
                  <a:latin typeface="Consolas"/>
                  <a:ea typeface="Consolas"/>
                  <a:cs typeface="Consolas"/>
                  <a:sym typeface="Consolas"/>
                </a:rPr>
                <a:t>SMTP_SSL</a:t>
              </a:r>
              <a:r>
                <a:rPr b="0" lang="en" sz="1500">
                  <a:solidFill>
                    <a:srgbClr val="1F2937"/>
                  </a:solidFill>
                  <a:latin typeface="Consolas"/>
                  <a:ea typeface="Consolas"/>
                  <a:cs typeface="Consolas"/>
                  <a:sym typeface="Consolas"/>
                </a:rPr>
                <a:t>(</a:t>
              </a:r>
              <a:r>
                <a:rPr b="0" lang="en" sz="1500">
                  <a:solidFill>
                    <a:srgbClr val="D4A017"/>
                  </a:solidFill>
                  <a:latin typeface="Consolas"/>
                  <a:ea typeface="Consolas"/>
                  <a:cs typeface="Consolas"/>
                  <a:sym typeface="Consolas"/>
                </a:rPr>
                <a:t>"smtp.gmail.com"</a:t>
              </a:r>
              <a:r>
                <a:rPr b="0" lang="en" sz="1500">
                  <a:solidFill>
                    <a:srgbClr val="1F2937"/>
                  </a:solidFill>
                  <a:latin typeface="Consolas"/>
                  <a:ea typeface="Consolas"/>
                  <a:cs typeface="Consolas"/>
                  <a:sym typeface="Consolas"/>
                </a:rPr>
                <a:t>, </a:t>
              </a:r>
              <a:r>
                <a:rPr b="0" lang="en" sz="1500">
                  <a:solidFill>
                    <a:srgbClr val="D4A017"/>
                  </a:solidFill>
                  <a:latin typeface="Consolas"/>
                  <a:ea typeface="Consolas"/>
                  <a:cs typeface="Consolas"/>
                  <a:sym typeface="Consolas"/>
                </a:rPr>
                <a:t>465</a:t>
              </a:r>
              <a:r>
                <a:rPr b="0" lang="en" sz="1500">
                  <a:solidFill>
                    <a:srgbClr val="1F2937"/>
                  </a:solidFill>
                  <a:latin typeface="Consolas"/>
                  <a:ea typeface="Consolas"/>
                  <a:cs typeface="Consolas"/>
                  <a:sym typeface="Consolas"/>
                </a:rPr>
                <a:t>)</a:t>
              </a:r>
              <a:endParaRPr b="0" sz="1500">
                <a:solidFill>
                  <a:srgbClr val="1F2937"/>
                </a:solidFill>
                <a:latin typeface="Consolas"/>
                <a:ea typeface="Consolas"/>
                <a:cs typeface="Consolas"/>
                <a:sym typeface="Consolas"/>
              </a:endParaRPr>
            </a:p>
          </p:txBody>
        </p:sp>
      </p:grpSp>
      <p:grpSp>
        <p:nvGrpSpPr>
          <p:cNvPr id="324" name="Google Shape;324;p22"/>
          <p:cNvGrpSpPr/>
          <p:nvPr/>
        </p:nvGrpSpPr>
        <p:grpSpPr>
          <a:xfrm>
            <a:off x="762000" y="2381250"/>
            <a:ext cx="5191275" cy="952500"/>
            <a:chOff x="0" y="0"/>
            <a:chExt cx="5191275" cy="952500"/>
          </a:xfrm>
        </p:grpSpPr>
        <p:grpSp>
          <p:nvGrpSpPr>
            <p:cNvPr id="325" name="Google Shape;325;p22"/>
            <p:cNvGrpSpPr/>
            <p:nvPr/>
          </p:nvGrpSpPr>
          <p:grpSpPr>
            <a:xfrm>
              <a:off x="0" y="47625"/>
              <a:ext cx="190500" cy="190500"/>
              <a:chOff x="0" y="0"/>
              <a:chExt cx="190500" cy="190500"/>
            </a:xfrm>
          </p:grpSpPr>
          <p:sp>
            <p:nvSpPr>
              <p:cNvPr id="326" name="Google Shape;326;p22"/>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2"/>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8" name="Google Shape;328;p22"/>
            <p:cNvSpPr txBox="1"/>
            <p:nvPr/>
          </p:nvSpPr>
          <p:spPr>
            <a:xfrm>
              <a:off x="333375" y="0"/>
              <a:ext cx="4857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Consolas"/>
                  <a:ea typeface="Consolas"/>
                  <a:cs typeface="Consolas"/>
                  <a:sym typeface="Consolas"/>
                </a:rPr>
                <a:t>smtplib</a:t>
              </a:r>
              <a:r>
                <a:rPr b="0" lang="en" sz="1300">
                  <a:solidFill>
                    <a:srgbClr val="374151"/>
                  </a:solidFill>
                  <a:latin typeface="Inter"/>
                  <a:ea typeface="Inter"/>
                  <a:cs typeface="Inter"/>
                  <a:sym typeface="Inter"/>
                </a:rPr>
                <a:t> </a:t>
              </a:r>
              <a:r>
                <a:rPr b="0" lang="en" sz="1100">
                  <a:solidFill>
                    <a:srgbClr val="6B7280"/>
                  </a:solidFill>
                  <a:latin typeface="Inter SemiBold"/>
                  <a:ea typeface="Inter SemiBold"/>
                  <a:cs typeface="Inter SemiBold"/>
                  <a:sym typeface="Inter SemiBold"/>
                </a:rPr>
                <a:t>(Library Call)</a:t>
              </a:r>
              <a:r>
                <a:rPr b="0" lang="en" sz="1300">
                  <a:solidFill>
                    <a:srgbClr val="374151"/>
                  </a:solidFill>
                  <a:latin typeface="Inter"/>
                  <a:ea typeface="Inter"/>
                  <a:cs typeface="Inter"/>
                  <a:sym typeface="Inter"/>
                </a:rPr>
                <a:t> </a:t>
              </a:r>
              <a:r>
                <a:rPr b="0" lang="en" sz="1250">
                  <a:solidFill>
                    <a:srgbClr val="374151"/>
                  </a:solidFill>
                  <a:latin typeface="Inter"/>
                  <a:ea typeface="Inter"/>
                  <a:cs typeface="Inter"/>
                  <a:sym typeface="Inter"/>
                </a:rPr>
                <a:t>The smtplib call references the imported library.</a:t>
              </a:r>
              <a:endParaRPr b="0" sz="1300">
                <a:solidFill>
                  <a:srgbClr val="374151"/>
                </a:solidFill>
                <a:latin typeface="Inter"/>
                <a:ea typeface="Inter"/>
                <a:cs typeface="Inter"/>
                <a:sym typeface="Inter"/>
              </a:endParaRPr>
            </a:p>
          </p:txBody>
        </p:sp>
      </p:grpSp>
      <p:grpSp>
        <p:nvGrpSpPr>
          <p:cNvPr id="329" name="Google Shape;329;p22"/>
          <p:cNvGrpSpPr/>
          <p:nvPr/>
        </p:nvGrpSpPr>
        <p:grpSpPr>
          <a:xfrm>
            <a:off x="6477000" y="2381250"/>
            <a:ext cx="5191275" cy="952500"/>
            <a:chOff x="0" y="0"/>
            <a:chExt cx="5191275" cy="952500"/>
          </a:xfrm>
        </p:grpSpPr>
        <p:grpSp>
          <p:nvGrpSpPr>
            <p:cNvPr id="330" name="Google Shape;330;p22"/>
            <p:cNvGrpSpPr/>
            <p:nvPr/>
          </p:nvGrpSpPr>
          <p:grpSpPr>
            <a:xfrm>
              <a:off x="0" y="47625"/>
              <a:ext cx="190500" cy="190500"/>
              <a:chOff x="0" y="0"/>
              <a:chExt cx="190500" cy="190500"/>
            </a:xfrm>
          </p:grpSpPr>
          <p:sp>
            <p:nvSpPr>
              <p:cNvPr id="331" name="Google Shape;331;p22"/>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3" name="Google Shape;333;p22"/>
            <p:cNvSpPr txBox="1"/>
            <p:nvPr/>
          </p:nvSpPr>
          <p:spPr>
            <a:xfrm>
              <a:off x="333375" y="0"/>
              <a:ext cx="4857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Consolas"/>
                  <a:ea typeface="Consolas"/>
                  <a:cs typeface="Consolas"/>
                  <a:sym typeface="Consolas"/>
                </a:rPr>
                <a:t>SMTP_SSL</a:t>
              </a:r>
              <a:r>
                <a:rPr b="0" lang="en" sz="1300">
                  <a:solidFill>
                    <a:srgbClr val="374151"/>
                  </a:solidFill>
                  <a:latin typeface="Inter"/>
                  <a:ea typeface="Inter"/>
                  <a:cs typeface="Inter"/>
                  <a:sym typeface="Inter"/>
                </a:rPr>
                <a:t> </a:t>
              </a:r>
              <a:r>
                <a:rPr b="0" lang="en" sz="1100">
                  <a:solidFill>
                    <a:srgbClr val="6B7280"/>
                  </a:solidFill>
                  <a:latin typeface="Inter SemiBold"/>
                  <a:ea typeface="Inter SemiBold"/>
                  <a:cs typeface="Inter SemiBold"/>
                  <a:sym typeface="Inter SemiBold"/>
                </a:rPr>
                <a:t>(Security Class)</a:t>
              </a:r>
              <a:r>
                <a:rPr b="0" lang="en" sz="1300">
                  <a:solidFill>
                    <a:srgbClr val="374151"/>
                  </a:solidFill>
                  <a:latin typeface="Inter"/>
                  <a:ea typeface="Inter"/>
                  <a:cs typeface="Inter"/>
                  <a:sym typeface="Inter"/>
                </a:rPr>
                <a:t> </a:t>
              </a:r>
              <a:r>
                <a:rPr b="0" lang="en" sz="1250">
                  <a:solidFill>
                    <a:srgbClr val="374151"/>
                  </a:solidFill>
                  <a:latin typeface="Inter"/>
                  <a:ea typeface="Inter"/>
                  <a:cs typeface="Inter"/>
                  <a:sym typeface="Inter"/>
                </a:rPr>
                <a:t>The SMTP_SSL class is instantiated to guarantee that the connection is encrypted securely from the moment it opens.</a:t>
              </a:r>
              <a:endParaRPr b="0" sz="1300">
                <a:solidFill>
                  <a:srgbClr val="374151"/>
                </a:solidFill>
                <a:latin typeface="Inter"/>
                <a:ea typeface="Inter"/>
                <a:cs typeface="Inter"/>
                <a:sym typeface="Inter"/>
              </a:endParaRPr>
            </a:p>
          </p:txBody>
        </p:sp>
      </p:grpSp>
      <p:grpSp>
        <p:nvGrpSpPr>
          <p:cNvPr id="334" name="Google Shape;334;p22"/>
          <p:cNvGrpSpPr/>
          <p:nvPr/>
        </p:nvGrpSpPr>
        <p:grpSpPr>
          <a:xfrm>
            <a:off x="762000" y="3524250"/>
            <a:ext cx="5191275" cy="952500"/>
            <a:chOff x="0" y="0"/>
            <a:chExt cx="5191275" cy="952500"/>
          </a:xfrm>
        </p:grpSpPr>
        <p:grpSp>
          <p:nvGrpSpPr>
            <p:cNvPr id="335" name="Google Shape;335;p22"/>
            <p:cNvGrpSpPr/>
            <p:nvPr/>
          </p:nvGrpSpPr>
          <p:grpSpPr>
            <a:xfrm>
              <a:off x="0" y="47625"/>
              <a:ext cx="190500" cy="190500"/>
              <a:chOff x="0" y="0"/>
              <a:chExt cx="190500" cy="190500"/>
            </a:xfrm>
          </p:grpSpPr>
          <p:sp>
            <p:nvSpPr>
              <p:cNvPr id="336" name="Google Shape;336;p22"/>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2"/>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8" name="Google Shape;338;p22"/>
            <p:cNvSpPr txBox="1"/>
            <p:nvPr/>
          </p:nvSpPr>
          <p:spPr>
            <a:xfrm>
              <a:off x="333375" y="0"/>
              <a:ext cx="4857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Consolas"/>
                  <a:ea typeface="Consolas"/>
                  <a:cs typeface="Consolas"/>
                  <a:sym typeface="Consolas"/>
                </a:rPr>
                <a:t>"smtp.gmail.com"</a:t>
              </a:r>
              <a:r>
                <a:rPr b="0" lang="en" sz="1300">
                  <a:solidFill>
                    <a:srgbClr val="374151"/>
                  </a:solidFill>
                  <a:latin typeface="Inter"/>
                  <a:ea typeface="Inter"/>
                  <a:cs typeface="Inter"/>
                  <a:sym typeface="Inter"/>
                </a:rPr>
                <a:t> </a:t>
              </a:r>
              <a:r>
                <a:rPr b="0" lang="en" sz="1100">
                  <a:solidFill>
                    <a:srgbClr val="6B7280"/>
                  </a:solidFill>
                  <a:latin typeface="Inter SemiBold"/>
                  <a:ea typeface="Inter SemiBold"/>
                  <a:cs typeface="Inter SemiBold"/>
                  <a:sym typeface="Inter SemiBold"/>
                </a:rPr>
                <a:t>(Server Address)</a:t>
              </a:r>
              <a:r>
                <a:rPr b="0" lang="en" sz="1300">
                  <a:solidFill>
                    <a:srgbClr val="374151"/>
                  </a:solidFill>
                  <a:latin typeface="Inter"/>
                  <a:ea typeface="Inter"/>
                  <a:cs typeface="Inter"/>
                  <a:sym typeface="Inter"/>
                </a:rPr>
                <a:t> </a:t>
              </a:r>
              <a:r>
                <a:rPr b="0" lang="en" sz="1250">
                  <a:solidFill>
                    <a:srgbClr val="374151"/>
                  </a:solidFill>
                  <a:latin typeface="Inter"/>
                  <a:ea typeface="Inter"/>
                  <a:cs typeface="Inter"/>
                  <a:sym typeface="Inter"/>
                </a:rPr>
                <a:t>The Server address specifies the exact domain name of the email provider's outgoing mail infrastructure.</a:t>
              </a:r>
              <a:endParaRPr b="0" sz="1300">
                <a:solidFill>
                  <a:srgbClr val="374151"/>
                </a:solidFill>
                <a:latin typeface="Inter"/>
                <a:ea typeface="Inter"/>
                <a:cs typeface="Inter"/>
                <a:sym typeface="Inter"/>
              </a:endParaRPr>
            </a:p>
          </p:txBody>
        </p:sp>
      </p:grpSp>
      <p:grpSp>
        <p:nvGrpSpPr>
          <p:cNvPr id="339" name="Google Shape;339;p22"/>
          <p:cNvGrpSpPr/>
          <p:nvPr/>
        </p:nvGrpSpPr>
        <p:grpSpPr>
          <a:xfrm>
            <a:off x="6477000" y="3524250"/>
            <a:ext cx="5191275" cy="952500"/>
            <a:chOff x="0" y="0"/>
            <a:chExt cx="5191275" cy="952500"/>
          </a:xfrm>
        </p:grpSpPr>
        <p:grpSp>
          <p:nvGrpSpPr>
            <p:cNvPr id="340" name="Google Shape;340;p22"/>
            <p:cNvGrpSpPr/>
            <p:nvPr/>
          </p:nvGrpSpPr>
          <p:grpSpPr>
            <a:xfrm>
              <a:off x="0" y="47625"/>
              <a:ext cx="190500" cy="190500"/>
              <a:chOff x="0" y="0"/>
              <a:chExt cx="190500" cy="190500"/>
            </a:xfrm>
          </p:grpSpPr>
          <p:sp>
            <p:nvSpPr>
              <p:cNvPr id="341" name="Google Shape;341;p22"/>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2"/>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43" name="Google Shape;343;p22"/>
            <p:cNvSpPr txBox="1"/>
            <p:nvPr/>
          </p:nvSpPr>
          <p:spPr>
            <a:xfrm>
              <a:off x="333375" y="0"/>
              <a:ext cx="4857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Consolas"/>
                  <a:ea typeface="Consolas"/>
                  <a:cs typeface="Consolas"/>
                  <a:sym typeface="Consolas"/>
                </a:rPr>
                <a:t>465</a:t>
              </a:r>
              <a:r>
                <a:rPr b="0" lang="en" sz="1300">
                  <a:solidFill>
                    <a:srgbClr val="374151"/>
                  </a:solidFill>
                  <a:latin typeface="Inter"/>
                  <a:ea typeface="Inter"/>
                  <a:cs typeface="Inter"/>
                  <a:sym typeface="Inter"/>
                </a:rPr>
                <a:t> </a:t>
              </a:r>
              <a:r>
                <a:rPr b="0" lang="en" sz="1100">
                  <a:solidFill>
                    <a:srgbClr val="6B7280"/>
                  </a:solidFill>
                  <a:latin typeface="Inter SemiBold"/>
                  <a:ea typeface="Inter SemiBold"/>
                  <a:cs typeface="Inter SemiBold"/>
                  <a:sym typeface="Inter SemiBold"/>
                </a:rPr>
                <a:t>(Numerical Port)</a:t>
              </a:r>
              <a:r>
                <a:rPr b="0" lang="en" sz="1300">
                  <a:solidFill>
                    <a:srgbClr val="374151"/>
                  </a:solidFill>
                  <a:latin typeface="Inter"/>
                  <a:ea typeface="Inter"/>
                  <a:cs typeface="Inter"/>
                  <a:sym typeface="Inter"/>
                </a:rPr>
                <a:t> </a:t>
              </a:r>
              <a:r>
                <a:rPr b="0" lang="en" sz="1250">
                  <a:solidFill>
                    <a:srgbClr val="374151"/>
                  </a:solidFill>
                  <a:latin typeface="Inter"/>
                  <a:ea typeface="Inter"/>
                  <a:cs typeface="Inter"/>
                  <a:sym typeface="Inter"/>
                </a:rPr>
                <a:t>Finally, the Port directs the traffic to the designated numerical endpoint for secure SMTP communication.</a:t>
              </a:r>
              <a:endParaRPr b="0" sz="1300">
                <a:solidFill>
                  <a:srgbClr val="374151"/>
                </a:solidFill>
                <a:latin typeface="Inter"/>
                <a:ea typeface="Inter"/>
                <a:cs typeface="Inter"/>
                <a:sym typeface="Inter"/>
              </a:endParaRPr>
            </a:p>
          </p:txBody>
        </p:sp>
      </p:grpSp>
      <p:grpSp>
        <p:nvGrpSpPr>
          <p:cNvPr id="344" name="Google Shape;344;p22"/>
          <p:cNvGrpSpPr/>
          <p:nvPr/>
        </p:nvGrpSpPr>
        <p:grpSpPr>
          <a:xfrm>
            <a:off x="762000" y="4667250"/>
            <a:ext cx="10668000" cy="619200"/>
            <a:chOff x="0" y="0"/>
            <a:chExt cx="10668000" cy="619200"/>
          </a:xfrm>
        </p:grpSpPr>
        <p:sp>
          <p:nvSpPr>
            <p:cNvPr id="345" name="Google Shape;345;p22"/>
            <p:cNvSpPr/>
            <p:nvPr/>
          </p:nvSpPr>
          <p:spPr>
            <a:xfrm>
              <a:off x="0" y="0"/>
              <a:ext cx="10668000" cy="619200"/>
            </a:xfrm>
            <a:prstGeom prst="roundRect">
              <a:avLst>
                <a:gd fmla="val 923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2"/>
            <p:cNvSpPr/>
            <p:nvPr/>
          </p:nvSpPr>
          <p:spPr>
            <a:xfrm>
              <a:off x="0" y="0"/>
              <a:ext cx="114300" cy="619200"/>
            </a:xfrm>
            <a:custGeom>
              <a:rect b="b" l="l" r="r" t="t"/>
              <a:pathLst>
                <a:path extrusionOk="0" h="120000" w="120000">
                  <a:moveTo>
                    <a:pt x="0" y="11077"/>
                  </a:moveTo>
                  <a:cubicBezTo>
                    <a:pt x="0" y="4948"/>
                    <a:pt x="26800" y="0"/>
                    <a:pt x="60000" y="0"/>
                  </a:cubicBezTo>
                  <a:lnTo>
                    <a:pt x="120000" y="0"/>
                  </a:lnTo>
                  <a:lnTo>
                    <a:pt x="120000" y="120000"/>
                  </a:lnTo>
                  <a:lnTo>
                    <a:pt x="60000" y="120000"/>
                  </a:lnTo>
                  <a:cubicBezTo>
                    <a:pt x="26800" y="120000"/>
                    <a:pt x="0" y="115052"/>
                    <a:pt x="0" y="108923"/>
                  </a:cubicBezTo>
                  <a:close/>
                </a:path>
              </a:pathLst>
            </a:cu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2"/>
            <p:cNvSpPr txBox="1"/>
            <p:nvPr/>
          </p:nvSpPr>
          <p:spPr>
            <a:xfrm>
              <a:off x="285750" y="114300"/>
              <a:ext cx="10096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Pipeline:</a:t>
              </a:r>
              <a:r>
                <a:rPr b="0" lang="en" sz="1250">
                  <a:solidFill>
                    <a:srgbClr val="374151"/>
                  </a:solidFill>
                  <a:latin typeface="Inter"/>
                  <a:ea typeface="Inter"/>
                  <a:cs typeface="Inter"/>
                  <a:sym typeface="Inter"/>
                </a:rPr>
                <a:t>Together, these elements open a dedicated, encrypted pipeline between the local Python script and the remote mail server.</a:t>
              </a:r>
              <a:endParaRPr b="0" sz="1250">
                <a:solidFill>
                  <a:srgbClr val="374151"/>
                </a:solidFill>
                <a:latin typeface="Inter"/>
                <a:ea typeface="Inter"/>
                <a:cs typeface="Inter"/>
                <a:sym typeface="Inter"/>
              </a:endParaRPr>
            </a:p>
          </p:txBody>
        </p:sp>
      </p:grpSp>
      <p:pic>
        <p:nvPicPr>
          <p:cNvPr id="348" name="Google Shape;348;p22"/>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349" name="Google Shape;349;p22"/>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350" name="Google Shape;350;p22"/>
          <p:cNvPicPr preferRelativeResize="0"/>
          <p:nvPr/>
        </p:nvPicPr>
        <p:blipFill rotWithShape="1">
          <a:blip r:embed="rId6">
            <a:alphaModFix/>
          </a:blip>
          <a:srcRect b="0" l="159" r="159" t="0"/>
          <a:stretch/>
        </p:blipFill>
        <p:spPr>
          <a:xfrm>
            <a:off x="10287000" y="5457825"/>
            <a:ext cx="1524000" cy="1019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4" name="Shape 354"/>
        <p:cNvGrpSpPr/>
        <p:nvPr/>
      </p:nvGrpSpPr>
      <p:grpSpPr>
        <a:xfrm>
          <a:off x="0" y="0"/>
          <a:ext cx="0" cy="0"/>
          <a:chOff x="0" y="0"/>
          <a:chExt cx="0" cy="0"/>
        </a:xfrm>
      </p:grpSpPr>
      <p:pic>
        <p:nvPicPr>
          <p:cNvPr id="355" name="Google Shape;355;p23"/>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356" name="Google Shape;356;p23"/>
          <p:cNvSpPr txBox="1"/>
          <p:nvPr/>
        </p:nvSpPr>
        <p:spPr>
          <a:xfrm>
            <a:off x="762000" y="333375"/>
            <a:ext cx="9525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Secure Authentication Verifies Sender Identity Using App Passwords</a:t>
            </a:r>
            <a:endParaRPr b="0" sz="2700">
              <a:solidFill>
                <a:srgbClr val="045A36"/>
              </a:solidFill>
              <a:latin typeface="Montserrat SemiBold"/>
              <a:ea typeface="Montserrat SemiBold"/>
              <a:cs typeface="Montserrat SemiBold"/>
              <a:sym typeface="Montserrat SemiBold"/>
            </a:endParaRPr>
          </a:p>
        </p:txBody>
      </p:sp>
      <p:sp>
        <p:nvSpPr>
          <p:cNvPr id="357" name="Google Shape;357;p23"/>
          <p:cNvSpPr/>
          <p:nvPr/>
        </p:nvSpPr>
        <p:spPr>
          <a:xfrm>
            <a:off x="762000" y="12382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8" name="Google Shape;358;p23"/>
          <p:cNvCxnSpPr/>
          <p:nvPr/>
        </p:nvCxnSpPr>
        <p:spPr>
          <a:xfrm>
            <a:off x="6096000" y="1476375"/>
            <a:ext cx="0" cy="39528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359" name="Google Shape;359;p23"/>
          <p:cNvSpPr/>
          <p:nvPr/>
        </p:nvSpPr>
        <p:spPr>
          <a:xfrm>
            <a:off x="762000" y="1476375"/>
            <a:ext cx="4953000" cy="714300"/>
          </a:xfrm>
          <a:prstGeom prst="roundRect">
            <a:avLst>
              <a:gd fmla="val 10666"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3"/>
          <p:cNvSpPr/>
          <p:nvPr/>
        </p:nvSpPr>
        <p:spPr>
          <a:xfrm>
            <a:off x="762000" y="1476375"/>
            <a:ext cx="47700" cy="7143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3"/>
          <p:cNvSpPr txBox="1"/>
          <p:nvPr/>
        </p:nvSpPr>
        <p:spPr>
          <a:xfrm>
            <a:off x="952500" y="1571625"/>
            <a:ext cx="45720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50">
                <a:solidFill>
                  <a:srgbClr val="045A36"/>
                </a:solidFill>
                <a:latin typeface="Courier New"/>
                <a:ea typeface="Courier New"/>
                <a:cs typeface="Courier New"/>
                <a:sym typeface="Courier New"/>
              </a:rPr>
              <a:t>server.login(sender_email, password)</a:t>
            </a:r>
            <a:endParaRPr b="1" sz="1350">
              <a:solidFill>
                <a:srgbClr val="045A36"/>
              </a:solidFill>
              <a:latin typeface="Courier New"/>
              <a:ea typeface="Courier New"/>
              <a:cs typeface="Courier New"/>
              <a:sym typeface="Courier New"/>
            </a:endParaRPr>
          </a:p>
        </p:txBody>
      </p:sp>
      <p:sp>
        <p:nvSpPr>
          <p:cNvPr id="362" name="Google Shape;362;p23"/>
          <p:cNvSpPr txBox="1"/>
          <p:nvPr/>
        </p:nvSpPr>
        <p:spPr>
          <a:xfrm>
            <a:off x="762000" y="2381250"/>
            <a:ext cx="495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SMTP Authentication &amp; Security</a:t>
            </a:r>
            <a:endParaRPr b="1" sz="1650">
              <a:solidFill>
                <a:srgbClr val="045A36"/>
              </a:solidFill>
              <a:latin typeface="Montserrat"/>
              <a:ea typeface="Montserrat"/>
              <a:cs typeface="Montserrat"/>
              <a:sym typeface="Montserrat"/>
            </a:endParaRPr>
          </a:p>
        </p:txBody>
      </p:sp>
      <p:sp>
        <p:nvSpPr>
          <p:cNvPr id="363" name="Google Shape;363;p23"/>
          <p:cNvSpPr/>
          <p:nvPr/>
        </p:nvSpPr>
        <p:spPr>
          <a:xfrm>
            <a:off x="762000" y="2714625"/>
            <a:ext cx="381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4" name="Google Shape;364;p23"/>
          <p:cNvGrpSpPr/>
          <p:nvPr/>
        </p:nvGrpSpPr>
        <p:grpSpPr>
          <a:xfrm>
            <a:off x="762000" y="3000375"/>
            <a:ext cx="190500" cy="190500"/>
            <a:chOff x="0" y="0"/>
            <a:chExt cx="190500" cy="190500"/>
          </a:xfrm>
        </p:grpSpPr>
        <p:sp>
          <p:nvSpPr>
            <p:cNvPr id="365" name="Google Shape;365;p23"/>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3"/>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67" name="Google Shape;367;p23"/>
          <p:cNvSpPr txBox="1"/>
          <p:nvPr/>
        </p:nvSpPr>
        <p:spPr>
          <a:xfrm>
            <a:off x="1095375" y="2952750"/>
            <a:ext cx="46197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Sender Verification:</a:t>
            </a:r>
            <a:r>
              <a:rPr b="0" lang="en" sz="1500">
                <a:solidFill>
                  <a:srgbClr val="374151"/>
                </a:solidFill>
                <a:latin typeface="Inter"/>
                <a:ea typeface="Inter"/>
                <a:cs typeface="Inter"/>
                <a:sym typeface="Inter"/>
              </a:rPr>
              <a:t> Once connected, the sender email acts as the username, and authentication proves your identity to the server.</a:t>
            </a:r>
            <a:endParaRPr b="0" sz="1500">
              <a:solidFill>
                <a:srgbClr val="374151"/>
              </a:solidFill>
              <a:latin typeface="Inter"/>
              <a:ea typeface="Inter"/>
              <a:cs typeface="Inter"/>
              <a:sym typeface="Inter"/>
            </a:endParaRPr>
          </a:p>
        </p:txBody>
      </p:sp>
      <p:grpSp>
        <p:nvGrpSpPr>
          <p:cNvPr id="368" name="Google Shape;368;p23"/>
          <p:cNvGrpSpPr/>
          <p:nvPr/>
        </p:nvGrpSpPr>
        <p:grpSpPr>
          <a:xfrm>
            <a:off x="762000" y="4048125"/>
            <a:ext cx="190500" cy="190500"/>
            <a:chOff x="0" y="0"/>
            <a:chExt cx="190500" cy="190500"/>
          </a:xfrm>
        </p:grpSpPr>
        <p:sp>
          <p:nvSpPr>
            <p:cNvPr id="369" name="Google Shape;369;p23"/>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3"/>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71" name="Google Shape;371;p23"/>
          <p:cNvSpPr txBox="1"/>
          <p:nvPr/>
        </p:nvSpPr>
        <p:spPr>
          <a:xfrm>
            <a:off x="1095375" y="4000500"/>
            <a:ext cx="46197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Spam Prevention:</a:t>
            </a:r>
            <a:r>
              <a:rPr b="0" lang="en" sz="1500">
                <a:solidFill>
                  <a:srgbClr val="374151"/>
                </a:solidFill>
                <a:latin typeface="Inter"/>
                <a:ea typeface="Inter"/>
                <a:cs typeface="Inter"/>
                <a:sym typeface="Inter"/>
              </a:rPr>
              <a:t> Credentials are strictly required because SMTP servers must prevent unauthorized users from utilizing legitimate domains.</a:t>
            </a:r>
            <a:endParaRPr b="0" sz="1500">
              <a:solidFill>
                <a:srgbClr val="374151"/>
              </a:solidFill>
              <a:latin typeface="Inter"/>
              <a:ea typeface="Inter"/>
              <a:cs typeface="Inter"/>
              <a:sym typeface="Inter"/>
            </a:endParaRPr>
          </a:p>
        </p:txBody>
      </p:sp>
      <p:sp>
        <p:nvSpPr>
          <p:cNvPr id="372" name="Google Shape;372;p23"/>
          <p:cNvSpPr/>
          <p:nvPr/>
        </p:nvSpPr>
        <p:spPr>
          <a:xfrm>
            <a:off x="6477000" y="1476375"/>
            <a:ext cx="4953000" cy="3952800"/>
          </a:xfrm>
          <a:prstGeom prst="roundRect">
            <a:avLst>
              <a:gd fmla="val 289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3"/>
          <p:cNvSpPr/>
          <p:nvPr/>
        </p:nvSpPr>
        <p:spPr>
          <a:xfrm>
            <a:off x="6477000" y="1476375"/>
            <a:ext cx="4953000" cy="142800"/>
          </a:xfrm>
          <a:custGeom>
            <a:rect b="b" l="l" r="r" t="t"/>
            <a:pathLst>
              <a:path extrusionOk="0" h="120000" w="120000">
                <a:moveTo>
                  <a:pt x="0" y="96000"/>
                </a:moveTo>
                <a:cubicBezTo>
                  <a:pt x="0" y="42981"/>
                  <a:pt x="1240" y="0"/>
                  <a:pt x="2769" y="0"/>
                </a:cubicBezTo>
                <a:lnTo>
                  <a:pt x="117231" y="0"/>
                </a:lnTo>
                <a:cubicBezTo>
                  <a:pt x="118760" y="4"/>
                  <a:pt x="120000" y="42984"/>
                  <a:pt x="120000" y="96000"/>
                </a:cubicBezTo>
                <a:lnTo>
                  <a:pt x="120000" y="120000"/>
                </a:lnTo>
                <a:lnTo>
                  <a:pt x="0" y="120000"/>
                </a:lnTo>
                <a:close/>
              </a:path>
            </a:pathLst>
          </a:cu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3"/>
          <p:cNvSpPr/>
          <p:nvPr/>
        </p:nvSpPr>
        <p:spPr>
          <a:xfrm>
            <a:off x="6762750" y="1809750"/>
            <a:ext cx="1524000" cy="247800"/>
          </a:xfrm>
          <a:prstGeom prst="roundRect">
            <a:avLst>
              <a:gd fmla="val 50000" name="adj"/>
            </a:avLst>
          </a:prstGeom>
          <a:solidFill>
            <a:srgbClr val="D4A017">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3"/>
          <p:cNvSpPr txBox="1"/>
          <p:nvPr/>
        </p:nvSpPr>
        <p:spPr>
          <a:xfrm>
            <a:off x="6762750" y="1809750"/>
            <a:ext cx="1524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D4A017"/>
                </a:solidFill>
                <a:latin typeface="Inter"/>
                <a:ea typeface="Inter"/>
                <a:cs typeface="Inter"/>
                <a:sym typeface="Inter"/>
              </a:rPr>
              <a:t>SECURITY PRACTICE</a:t>
            </a:r>
            <a:endParaRPr b="1" sz="900">
              <a:solidFill>
                <a:srgbClr val="D4A017"/>
              </a:solidFill>
              <a:latin typeface="Inter"/>
              <a:ea typeface="Inter"/>
              <a:cs typeface="Inter"/>
              <a:sym typeface="Inter"/>
            </a:endParaRPr>
          </a:p>
        </p:txBody>
      </p:sp>
      <p:sp>
        <p:nvSpPr>
          <p:cNvPr id="376" name="Google Shape;376;p23"/>
          <p:cNvSpPr txBox="1"/>
          <p:nvPr/>
        </p:nvSpPr>
        <p:spPr>
          <a:xfrm>
            <a:off x="6762750" y="2190750"/>
            <a:ext cx="4381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Montserrat"/>
                <a:ea typeface="Montserrat"/>
                <a:cs typeface="Montserrat"/>
                <a:sym typeface="Montserrat"/>
              </a:rPr>
              <a:t>Protect Primary Credentials</a:t>
            </a:r>
            <a:endParaRPr b="1" sz="1600">
              <a:solidFill>
                <a:srgbClr val="045A36"/>
              </a:solidFill>
              <a:latin typeface="Montserrat"/>
              <a:ea typeface="Montserrat"/>
              <a:cs typeface="Montserrat"/>
              <a:sym typeface="Montserrat"/>
            </a:endParaRPr>
          </a:p>
        </p:txBody>
      </p:sp>
      <p:sp>
        <p:nvSpPr>
          <p:cNvPr id="377" name="Google Shape;377;p23"/>
          <p:cNvSpPr txBox="1"/>
          <p:nvPr/>
        </p:nvSpPr>
        <p:spPr>
          <a:xfrm>
            <a:off x="6762750" y="2619375"/>
            <a:ext cx="4381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Developers should always utilize a dedicated testing account equipped with </a:t>
            </a:r>
            <a:r>
              <a:rPr b="0" lang="en" sz="1350">
                <a:solidFill>
                  <a:srgbClr val="045A36"/>
                </a:solidFill>
                <a:latin typeface="Inter SemiBold"/>
                <a:ea typeface="Inter SemiBold"/>
                <a:cs typeface="Inter SemiBold"/>
                <a:sym typeface="Inter SemiBold"/>
              </a:rPr>
              <a:t>Two-Factor Authentication (2FA)</a:t>
            </a:r>
            <a:r>
              <a:rPr b="0" lang="en" sz="1350">
                <a:solidFill>
                  <a:srgbClr val="374151"/>
                </a:solidFill>
                <a:latin typeface="Inter"/>
                <a:ea typeface="Inter"/>
                <a:cs typeface="Inter"/>
                <a:sym typeface="Inter"/>
              </a:rPr>
              <a:t> and a specific App Password, rather than exposing primary personal credentials within plaintext scripts.</a:t>
            </a:r>
            <a:endParaRPr b="0" sz="1350">
              <a:solidFill>
                <a:srgbClr val="374151"/>
              </a:solidFill>
              <a:latin typeface="Inter"/>
              <a:ea typeface="Inter"/>
              <a:cs typeface="Inter"/>
              <a:sym typeface="Inter"/>
            </a:endParaRPr>
          </a:p>
        </p:txBody>
      </p:sp>
      <p:cxnSp>
        <p:nvCxnSpPr>
          <p:cNvPr id="378" name="Google Shape;378;p23"/>
          <p:cNvCxnSpPr/>
          <p:nvPr/>
        </p:nvCxnSpPr>
        <p:spPr>
          <a:xfrm>
            <a:off x="6762750" y="3667125"/>
            <a:ext cx="4381500" cy="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379" name="Google Shape;379;p23"/>
          <p:cNvSpPr txBox="1"/>
          <p:nvPr/>
        </p:nvSpPr>
        <p:spPr>
          <a:xfrm>
            <a:off x="6762750" y="3857625"/>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50">
                <a:solidFill>
                  <a:srgbClr val="D4A017"/>
                </a:solidFill>
                <a:latin typeface="Montserrat"/>
                <a:ea typeface="Montserrat"/>
                <a:cs typeface="Montserrat"/>
                <a:sym typeface="Montserrat"/>
              </a:rPr>
              <a:t>Secure App Passwords</a:t>
            </a:r>
            <a:endParaRPr b="1" sz="1450">
              <a:solidFill>
                <a:srgbClr val="D4A017"/>
              </a:solidFill>
              <a:latin typeface="Montserrat"/>
              <a:ea typeface="Montserrat"/>
              <a:cs typeface="Montserrat"/>
              <a:sym typeface="Montserrat"/>
            </a:endParaRPr>
          </a:p>
        </p:txBody>
      </p:sp>
      <p:sp>
        <p:nvSpPr>
          <p:cNvPr id="380" name="Google Shape;380;p23"/>
          <p:cNvSpPr txBox="1"/>
          <p:nvPr/>
        </p:nvSpPr>
        <p:spPr>
          <a:xfrm>
            <a:off x="6762750" y="4191000"/>
            <a:ext cx="4381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6B7280"/>
                </a:solidFill>
                <a:latin typeface="Inter"/>
                <a:ea typeface="Inter"/>
                <a:cs typeface="Inter"/>
                <a:sym typeface="Inter"/>
              </a:rPr>
              <a:t>Providers utilize specially generated, </a:t>
            </a:r>
            <a:r>
              <a:rPr b="0" lang="en" sz="1350">
                <a:solidFill>
                  <a:srgbClr val="045A36"/>
                </a:solidFill>
                <a:latin typeface="Inter SemiBold"/>
                <a:ea typeface="Inter SemiBold"/>
                <a:cs typeface="Inter SemiBold"/>
                <a:sym typeface="Inter SemiBold"/>
              </a:rPr>
              <a:t>single-use passwords</a:t>
            </a:r>
            <a:r>
              <a:rPr b="0" lang="en" sz="1350">
                <a:solidFill>
                  <a:srgbClr val="6B7280"/>
                </a:solidFill>
                <a:latin typeface="Inter"/>
                <a:ea typeface="Inter"/>
                <a:cs typeface="Inter"/>
                <a:sym typeface="Inter"/>
              </a:rPr>
              <a:t> that securely bypass standard login screens and 2FA prompts.</a:t>
            </a:r>
            <a:endParaRPr b="0" sz="1350">
              <a:solidFill>
                <a:srgbClr val="6B7280"/>
              </a:solidFill>
              <a:latin typeface="Inter"/>
              <a:ea typeface="Inter"/>
              <a:cs typeface="Inter"/>
              <a:sym typeface="Inter"/>
            </a:endParaRPr>
          </a:p>
        </p:txBody>
      </p:sp>
      <p:pic>
        <p:nvPicPr>
          <p:cNvPr id="381" name="Google Shape;381;p23"/>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382" name="Google Shape;382;p23"/>
          <p:cNvSpPr txBox="1"/>
          <p:nvPr/>
        </p:nvSpPr>
        <p:spPr>
          <a:xfrm>
            <a:off x="762000" y="6134100"/>
            <a:ext cx="571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383" name="Google Shape;383;p23"/>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89" name="Google Shape;389;p24"/>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390" name="Google Shape;390;p24"/>
          <p:cNvSpPr txBox="1"/>
          <p:nvPr/>
        </p:nvSpPr>
        <p:spPr>
          <a:xfrm>
            <a:off x="762000" y="571500"/>
            <a:ext cx="952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Secure Connection &amp; Authentication Flow</a:t>
            </a:r>
            <a:endParaRPr b="0" sz="2700">
              <a:solidFill>
                <a:srgbClr val="045A36"/>
              </a:solidFill>
              <a:latin typeface="Montserrat SemiBold"/>
              <a:ea typeface="Montserrat SemiBold"/>
              <a:cs typeface="Montserrat SemiBold"/>
              <a:sym typeface="Montserrat SemiBold"/>
            </a:endParaRPr>
          </a:p>
        </p:txBody>
      </p:sp>
      <p:sp>
        <p:nvSpPr>
          <p:cNvPr id="391" name="Google Shape;391;p2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4"/>
          <p:cNvSpPr txBox="1"/>
          <p:nvPr/>
        </p:nvSpPr>
        <p:spPr>
          <a:xfrm>
            <a:off x="762000" y="1238250"/>
            <a:ext cx="10668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350">
                <a:solidFill>
                  <a:srgbClr val="4B5563"/>
                </a:solidFill>
                <a:latin typeface="Inter Medium"/>
                <a:ea typeface="Inter Medium"/>
                <a:cs typeface="Inter Medium"/>
                <a:sym typeface="Inter Medium"/>
              </a:rPr>
              <a:t>This live coding demonstration highlights the fundamental connection lifecycle.</a:t>
            </a:r>
            <a:endParaRPr b="0" i="1" sz="1350">
              <a:solidFill>
                <a:srgbClr val="4B5563"/>
              </a:solidFill>
              <a:latin typeface="Inter Medium"/>
              <a:ea typeface="Inter Medium"/>
              <a:cs typeface="Inter Medium"/>
              <a:sym typeface="Inter Medium"/>
            </a:endParaRPr>
          </a:p>
        </p:txBody>
      </p:sp>
      <p:grpSp>
        <p:nvGrpSpPr>
          <p:cNvPr id="393" name="Google Shape;393;p24"/>
          <p:cNvGrpSpPr/>
          <p:nvPr/>
        </p:nvGrpSpPr>
        <p:grpSpPr>
          <a:xfrm>
            <a:off x="762000" y="1666875"/>
            <a:ext cx="5715000" cy="3810000"/>
            <a:chOff x="0" y="0"/>
            <a:chExt cx="5715000" cy="3810000"/>
          </a:xfrm>
        </p:grpSpPr>
        <p:sp>
          <p:nvSpPr>
            <p:cNvPr id="394" name="Google Shape;394;p24"/>
            <p:cNvSpPr/>
            <p:nvPr/>
          </p:nvSpPr>
          <p:spPr>
            <a:xfrm>
              <a:off x="0" y="0"/>
              <a:ext cx="5715000" cy="3810000"/>
            </a:xfrm>
            <a:prstGeom prst="roundRect">
              <a:avLst>
                <a:gd fmla="val 3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4"/>
            <p:cNvSpPr/>
            <p:nvPr/>
          </p:nvSpPr>
          <p:spPr>
            <a:xfrm>
              <a:off x="0" y="0"/>
              <a:ext cx="57150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4"/>
            <p:cNvSpPr txBox="1"/>
            <p:nvPr/>
          </p:nvSpPr>
          <p:spPr>
            <a:xfrm>
              <a:off x="285750" y="238125"/>
              <a:ext cx="5143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Montserrat"/>
                  <a:ea typeface="Montserrat"/>
                  <a:cs typeface="Montserrat"/>
                  <a:sym typeface="Montserrat"/>
                </a:rPr>
                <a:t>PYTHON SMTP_SSL IMPLEMENTATION</a:t>
              </a:r>
              <a:endParaRPr b="1" sz="1100">
                <a:solidFill>
                  <a:srgbClr val="D4A017"/>
                </a:solidFill>
                <a:latin typeface="Montserrat"/>
                <a:ea typeface="Montserrat"/>
                <a:cs typeface="Montserrat"/>
                <a:sym typeface="Montserrat"/>
              </a:endParaRPr>
            </a:p>
          </p:txBody>
        </p:sp>
        <p:sp>
          <p:nvSpPr>
            <p:cNvPr id="397" name="Google Shape;397;p24"/>
            <p:cNvSpPr txBox="1"/>
            <p:nvPr/>
          </p:nvSpPr>
          <p:spPr>
            <a:xfrm>
              <a:off x="285750" y="666750"/>
              <a:ext cx="51435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45A36"/>
                  </a:solidFill>
                  <a:latin typeface="Courier New"/>
                  <a:ea typeface="Courier New"/>
                  <a:cs typeface="Courier New"/>
                  <a:sym typeface="Courier New"/>
                </a:rPr>
                <a:t>import</a:t>
              </a:r>
              <a:r>
                <a:rPr b="0" lang="en" sz="1250">
                  <a:solidFill>
                    <a:srgbClr val="1F2937"/>
                  </a:solidFill>
                  <a:latin typeface="Courier New"/>
                  <a:ea typeface="Courier New"/>
                  <a:cs typeface="Courier New"/>
                  <a:sym typeface="Courier New"/>
                </a:rPr>
                <a:t> smtplib</a:t>
              </a:r>
              <a:endParaRPr b="0" sz="1250">
                <a:solidFill>
                  <a:srgbClr val="1F2937"/>
                </a:solidFill>
                <a:latin typeface="Courier New"/>
                <a:ea typeface="Courier New"/>
                <a:cs typeface="Courier New"/>
                <a:sym typeface="Courier New"/>
              </a:endParaRPr>
            </a:p>
            <a:p>
              <a:pPr indent="0" lvl="0" marL="0" rtl="0" algn="l">
                <a:spcBef>
                  <a:spcPts val="450"/>
                </a:spcBef>
                <a:spcAft>
                  <a:spcPts val="0"/>
                </a:spcAft>
                <a:buNone/>
              </a:pPr>
              <a:r>
                <a:rPr b="1" lang="en" sz="1250">
                  <a:solidFill>
                    <a:srgbClr val="045A36"/>
                  </a:solidFill>
                  <a:latin typeface="Courier New"/>
                  <a:ea typeface="Courier New"/>
                  <a:cs typeface="Courier New"/>
                  <a:sym typeface="Courier New"/>
                </a:rPr>
                <a:t>import</a:t>
              </a:r>
              <a:r>
                <a:rPr b="0" lang="en" sz="1250">
                  <a:solidFill>
                    <a:srgbClr val="1F2937"/>
                  </a:solidFill>
                  <a:latin typeface="Courier New"/>
                  <a:ea typeface="Courier New"/>
                  <a:cs typeface="Courier New"/>
                  <a:sym typeface="Courier New"/>
                </a:rPr>
                <a:t> ssl</a:t>
              </a:r>
              <a:endParaRPr b="0" sz="1250">
                <a:solidFill>
                  <a:srgbClr val="1F2937"/>
                </a:solidFill>
                <a:latin typeface="Courier New"/>
                <a:ea typeface="Courier New"/>
                <a:cs typeface="Courier New"/>
                <a:sym typeface="Courier New"/>
              </a:endParaRPr>
            </a:p>
            <a:p>
              <a:pPr indent="0" lvl="0" marL="0" rtl="0" algn="l">
                <a:spcBef>
                  <a:spcPts val="450"/>
                </a:spcBef>
                <a:spcAft>
                  <a:spcPts val="0"/>
                </a:spcAft>
                <a:buNone/>
              </a:pPr>
              <a:r>
                <a:t/>
              </a:r>
              <a:endParaRPr b="0" sz="1250">
                <a:solidFill>
                  <a:srgbClr val="1F2937"/>
                </a:solidFill>
                <a:latin typeface="Courier New"/>
                <a:ea typeface="Courier New"/>
                <a:cs typeface="Courier New"/>
                <a:sym typeface="Courier New"/>
              </a:endParaRPr>
            </a:p>
            <a:p>
              <a:pPr indent="0" lvl="0" marL="0" rtl="0" algn="l">
                <a:spcBef>
                  <a:spcPts val="900"/>
                </a:spcBef>
                <a:spcAft>
                  <a:spcPts val="0"/>
                </a:spcAft>
                <a:buNone/>
              </a:pPr>
              <a:r>
                <a:rPr b="0" lang="en" sz="1250">
                  <a:solidFill>
                    <a:srgbClr val="1F2937"/>
                  </a:solidFill>
                  <a:latin typeface="Courier New"/>
                  <a:ea typeface="Courier New"/>
                  <a:cs typeface="Courier New"/>
                  <a:sym typeface="Courier New"/>
                </a:rPr>
                <a:t>context = ssl.create_default_context()</a:t>
              </a:r>
              <a:endParaRPr b="0" sz="1250">
                <a:solidFill>
                  <a:srgbClr val="1F2937"/>
                </a:solidFill>
                <a:latin typeface="Courier New"/>
                <a:ea typeface="Courier New"/>
                <a:cs typeface="Courier New"/>
                <a:sym typeface="Courier New"/>
              </a:endParaRPr>
            </a:p>
            <a:p>
              <a:pPr indent="0" lvl="0" marL="0" rtl="0" algn="l">
                <a:spcBef>
                  <a:spcPts val="450"/>
                </a:spcBef>
                <a:spcAft>
                  <a:spcPts val="0"/>
                </a:spcAft>
                <a:buNone/>
              </a:pPr>
              <a:r>
                <a:rPr b="1" lang="en" sz="1250">
                  <a:solidFill>
                    <a:srgbClr val="045A36"/>
                  </a:solidFill>
                  <a:latin typeface="Courier New"/>
                  <a:ea typeface="Courier New"/>
                  <a:cs typeface="Courier New"/>
                  <a:sym typeface="Courier New"/>
                </a:rPr>
                <a:t>with</a:t>
              </a:r>
              <a:r>
                <a:rPr b="0" lang="en" sz="1250">
                  <a:solidFill>
                    <a:srgbClr val="1F2937"/>
                  </a:solidFill>
                  <a:latin typeface="Courier New"/>
                  <a:ea typeface="Courier New"/>
                  <a:cs typeface="Courier New"/>
                  <a:sym typeface="Courier New"/>
                </a:rPr>
                <a:t> smtplib.SMTP_SSL(</a:t>
              </a:r>
              <a:r>
                <a:rPr b="0" lang="en" sz="1250">
                  <a:solidFill>
                    <a:srgbClr val="D4A017"/>
                  </a:solidFill>
                  <a:latin typeface="Courier New"/>
                  <a:ea typeface="Courier New"/>
                  <a:cs typeface="Courier New"/>
                  <a:sym typeface="Courier New"/>
                </a:rPr>
                <a:t>"smtp.gmail.com"</a:t>
              </a:r>
              <a:r>
                <a:rPr b="0" lang="en" sz="1250">
                  <a:solidFill>
                    <a:srgbClr val="1F2937"/>
                  </a:solidFill>
                  <a:latin typeface="Courier New"/>
                  <a:ea typeface="Courier New"/>
                  <a:cs typeface="Courier New"/>
                  <a:sym typeface="Courier New"/>
                </a:rPr>
                <a:t>, </a:t>
              </a:r>
              <a:r>
                <a:rPr b="0" lang="en" sz="1250">
                  <a:solidFill>
                    <a:srgbClr val="D4A017"/>
                  </a:solidFill>
                  <a:latin typeface="Courier New"/>
                  <a:ea typeface="Courier New"/>
                  <a:cs typeface="Courier New"/>
                  <a:sym typeface="Courier New"/>
                </a:rPr>
                <a:t>465</a:t>
              </a:r>
              <a:r>
                <a:rPr b="0" lang="en" sz="1250">
                  <a:solidFill>
                    <a:srgbClr val="1F2937"/>
                  </a:solidFill>
                  <a:latin typeface="Courier New"/>
                  <a:ea typeface="Courier New"/>
                  <a:cs typeface="Courier New"/>
                  <a:sym typeface="Courier New"/>
                </a:rPr>
                <a:t>, context=context) </a:t>
              </a:r>
              <a:r>
                <a:rPr b="1" lang="en" sz="1250">
                  <a:solidFill>
                    <a:srgbClr val="045A36"/>
                  </a:solidFill>
                  <a:latin typeface="Courier New"/>
                  <a:ea typeface="Courier New"/>
                  <a:cs typeface="Courier New"/>
                  <a:sym typeface="Courier New"/>
                </a:rPr>
                <a:t>as</a:t>
              </a:r>
              <a:r>
                <a:rPr b="0" lang="en" sz="1250">
                  <a:solidFill>
                    <a:srgbClr val="1F2937"/>
                  </a:solidFill>
                  <a:latin typeface="Courier New"/>
                  <a:ea typeface="Courier New"/>
                  <a:cs typeface="Courier New"/>
                  <a:sym typeface="Courier New"/>
                </a:rPr>
                <a:t> server:</a:t>
              </a:r>
              <a:endParaRPr b="0" sz="1250">
                <a:solidFill>
                  <a:srgbClr val="1F2937"/>
                </a:solidFill>
                <a:latin typeface="Courier New"/>
                <a:ea typeface="Courier New"/>
                <a:cs typeface="Courier New"/>
                <a:sym typeface="Courier New"/>
              </a:endParaRPr>
            </a:p>
            <a:p>
              <a:pPr indent="0" lvl="0" marL="0" rtl="0" algn="l">
                <a:spcBef>
                  <a:spcPts val="450"/>
                </a:spcBef>
                <a:spcAft>
                  <a:spcPts val="0"/>
                </a:spcAft>
                <a:buNone/>
              </a:pPr>
              <a:r>
                <a:rPr b="0" lang="en" sz="1250">
                  <a:solidFill>
                    <a:srgbClr val="1F2937"/>
                  </a:solidFill>
                  <a:latin typeface="Courier New"/>
                  <a:ea typeface="Courier New"/>
                  <a:cs typeface="Courier New"/>
                  <a:sym typeface="Courier New"/>
                </a:rPr>
                <a:t>server.login(sender_email, password)</a:t>
              </a:r>
              <a:endParaRPr b="0" sz="1250">
                <a:solidFill>
                  <a:srgbClr val="1F2937"/>
                </a:solidFill>
                <a:latin typeface="Courier New"/>
                <a:ea typeface="Courier New"/>
                <a:cs typeface="Courier New"/>
                <a:sym typeface="Courier New"/>
              </a:endParaRPr>
            </a:p>
            <a:p>
              <a:pPr indent="0" lvl="0" marL="0" rtl="0" algn="l">
                <a:spcBef>
                  <a:spcPts val="450"/>
                </a:spcBef>
                <a:spcAft>
                  <a:spcPts val="0"/>
                </a:spcAft>
                <a:buNone/>
              </a:pPr>
              <a:r>
                <a:rPr b="1" lang="en" sz="1250">
                  <a:solidFill>
                    <a:srgbClr val="045A36"/>
                  </a:solidFill>
                  <a:latin typeface="Courier New"/>
                  <a:ea typeface="Courier New"/>
                  <a:cs typeface="Courier New"/>
                  <a:sym typeface="Courier New"/>
                </a:rPr>
                <a:t>print</a:t>
              </a:r>
              <a:r>
                <a:rPr b="0" lang="en" sz="1250">
                  <a:solidFill>
                    <a:srgbClr val="1F2937"/>
                  </a:solidFill>
                  <a:latin typeface="Courier New"/>
                  <a:ea typeface="Courier New"/>
                  <a:cs typeface="Courier New"/>
                  <a:sym typeface="Courier New"/>
                </a:rPr>
                <a:t>(</a:t>
              </a:r>
              <a:r>
                <a:rPr b="0" lang="en" sz="1250">
                  <a:solidFill>
                    <a:srgbClr val="D4A017"/>
                  </a:solidFill>
                  <a:latin typeface="Courier New"/>
                  <a:ea typeface="Courier New"/>
                  <a:cs typeface="Courier New"/>
                  <a:sym typeface="Courier New"/>
                </a:rPr>
                <a:t>"Connected successfully!"</a:t>
              </a:r>
              <a:r>
                <a:rPr b="0" lang="en" sz="1250">
                  <a:solidFill>
                    <a:srgbClr val="1F2937"/>
                  </a:solidFill>
                  <a:latin typeface="Courier New"/>
                  <a:ea typeface="Courier New"/>
                  <a:cs typeface="Courier New"/>
                  <a:sym typeface="Courier New"/>
                </a:rPr>
                <a:t>)</a:t>
              </a:r>
              <a:endParaRPr b="0" sz="1250">
                <a:solidFill>
                  <a:srgbClr val="1F2937"/>
                </a:solidFill>
                <a:latin typeface="Courier New"/>
                <a:ea typeface="Courier New"/>
                <a:cs typeface="Courier New"/>
                <a:sym typeface="Courier New"/>
              </a:endParaRPr>
            </a:p>
          </p:txBody>
        </p:sp>
      </p:grpSp>
      <p:sp>
        <p:nvSpPr>
          <p:cNvPr id="398" name="Google Shape;398;p24"/>
          <p:cNvSpPr/>
          <p:nvPr/>
        </p:nvSpPr>
        <p:spPr>
          <a:xfrm>
            <a:off x="0" y="0"/>
            <a:ext cx="1238400" cy="3429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4"/>
          <p:cNvSpPr txBox="1"/>
          <p:nvPr/>
        </p:nvSpPr>
        <p:spPr>
          <a:xfrm>
            <a:off x="0" y="0"/>
            <a:ext cx="12384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CONNECT</a:t>
            </a:r>
            <a:endParaRPr b="1" sz="1000">
              <a:solidFill>
                <a:srgbClr val="FFFFFF"/>
              </a:solidFill>
              <a:latin typeface="Montserrat"/>
              <a:ea typeface="Montserrat"/>
              <a:cs typeface="Montserrat"/>
              <a:sym typeface="Montserrat"/>
            </a:endParaRPr>
          </a:p>
        </p:txBody>
      </p:sp>
      <p:sp>
        <p:nvSpPr>
          <p:cNvPr id="400" name="Google Shape;400;p24"/>
          <p:cNvSpPr/>
          <p:nvPr/>
        </p:nvSpPr>
        <p:spPr>
          <a:xfrm>
            <a:off x="1333500" y="114300"/>
            <a:ext cx="190500" cy="114300"/>
          </a:xfrm>
          <a:custGeom>
            <a:rect b="b" l="l" r="r" t="t"/>
            <a:pathLst>
              <a:path extrusionOk="0" h="120000" w="120000">
                <a:moveTo>
                  <a:pt x="0" y="60000"/>
                </a:moveTo>
                <a:lnTo>
                  <a:pt x="120000" y="60000"/>
                </a:lnTo>
                <a:moveTo>
                  <a:pt x="84000" y="0"/>
                </a:moveTo>
                <a:lnTo>
                  <a:pt x="120000" y="60000"/>
                </a:lnTo>
                <a:lnTo>
                  <a:pt x="84000" y="120000"/>
                </a:lnTo>
              </a:path>
            </a:pathLst>
          </a:custGeom>
          <a:solidFill>
            <a:srgbClr val="000000">
              <a:alpha val="0"/>
            </a:srgbClr>
          </a:solidFill>
          <a:ln cap="rnd" cmpd="sng" w="23825">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4"/>
          <p:cNvSpPr/>
          <p:nvPr/>
        </p:nvSpPr>
        <p:spPr>
          <a:xfrm>
            <a:off x="1619250" y="0"/>
            <a:ext cx="1333500" cy="3429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4"/>
          <p:cNvSpPr txBox="1"/>
          <p:nvPr/>
        </p:nvSpPr>
        <p:spPr>
          <a:xfrm>
            <a:off x="1619250" y="0"/>
            <a:ext cx="1333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AUTHENTICATE</a:t>
            </a:r>
            <a:endParaRPr b="1" sz="1000">
              <a:solidFill>
                <a:srgbClr val="FFFFFF"/>
              </a:solidFill>
              <a:latin typeface="Montserrat"/>
              <a:ea typeface="Montserrat"/>
              <a:cs typeface="Montserrat"/>
              <a:sym typeface="Montserrat"/>
            </a:endParaRPr>
          </a:p>
        </p:txBody>
      </p:sp>
      <p:sp>
        <p:nvSpPr>
          <p:cNvPr id="403" name="Google Shape;403;p24"/>
          <p:cNvSpPr/>
          <p:nvPr/>
        </p:nvSpPr>
        <p:spPr>
          <a:xfrm>
            <a:off x="3048000" y="114300"/>
            <a:ext cx="190500" cy="114300"/>
          </a:xfrm>
          <a:custGeom>
            <a:rect b="b" l="l" r="r" t="t"/>
            <a:pathLst>
              <a:path extrusionOk="0" h="120000" w="120000">
                <a:moveTo>
                  <a:pt x="0" y="60000"/>
                </a:moveTo>
                <a:lnTo>
                  <a:pt x="120000" y="60000"/>
                </a:lnTo>
                <a:moveTo>
                  <a:pt x="84000" y="0"/>
                </a:moveTo>
                <a:lnTo>
                  <a:pt x="120000" y="60000"/>
                </a:lnTo>
                <a:lnTo>
                  <a:pt x="84000" y="120000"/>
                </a:lnTo>
              </a:path>
            </a:pathLst>
          </a:custGeom>
          <a:solidFill>
            <a:srgbClr val="000000">
              <a:alpha val="0"/>
            </a:srgbClr>
          </a:solidFill>
          <a:ln cap="rnd" cmpd="sng" w="23825">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4"/>
          <p:cNvSpPr/>
          <p:nvPr/>
        </p:nvSpPr>
        <p:spPr>
          <a:xfrm>
            <a:off x="3333750" y="0"/>
            <a:ext cx="1238400" cy="342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4"/>
          <p:cNvSpPr txBox="1"/>
          <p:nvPr/>
        </p:nvSpPr>
        <p:spPr>
          <a:xfrm>
            <a:off x="3333750" y="0"/>
            <a:ext cx="12384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CLOSE</a:t>
            </a:r>
            <a:endParaRPr b="1" sz="1000">
              <a:solidFill>
                <a:srgbClr val="FFFFFF"/>
              </a:solidFill>
              <a:latin typeface="Montserrat"/>
              <a:ea typeface="Montserrat"/>
              <a:cs typeface="Montserrat"/>
              <a:sym typeface="Montserrat"/>
            </a:endParaRPr>
          </a:p>
        </p:txBody>
      </p:sp>
      <p:grpSp>
        <p:nvGrpSpPr>
          <p:cNvPr id="406" name="Google Shape;406;p24"/>
          <p:cNvGrpSpPr/>
          <p:nvPr/>
        </p:nvGrpSpPr>
        <p:grpSpPr>
          <a:xfrm>
            <a:off x="6858000" y="2238375"/>
            <a:ext cx="4572075" cy="1571700"/>
            <a:chOff x="0" y="0"/>
            <a:chExt cx="4572075" cy="1571700"/>
          </a:xfrm>
        </p:grpSpPr>
        <p:grpSp>
          <p:nvGrpSpPr>
            <p:cNvPr id="407" name="Google Shape;407;p24"/>
            <p:cNvGrpSpPr/>
            <p:nvPr/>
          </p:nvGrpSpPr>
          <p:grpSpPr>
            <a:xfrm>
              <a:off x="0" y="38100"/>
              <a:ext cx="190500" cy="190500"/>
              <a:chOff x="0" y="0"/>
              <a:chExt cx="190500" cy="190500"/>
            </a:xfrm>
          </p:grpSpPr>
          <p:sp>
            <p:nvSpPr>
              <p:cNvPr id="408" name="Google Shape;408;p2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24"/>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10" name="Google Shape;410;p24"/>
            <p:cNvSpPr txBox="1"/>
            <p:nvPr/>
          </p:nvSpPr>
          <p:spPr>
            <a:xfrm>
              <a:off x="333375" y="0"/>
              <a:ext cx="42387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Secure Environment &amp; Lifecycle</a:t>
              </a:r>
              <a:endParaRPr b="1" sz="1350">
                <a:solidFill>
                  <a:srgbClr val="045A36"/>
                </a:solidFill>
                <a:latin typeface="Montserrat"/>
                <a:ea typeface="Montserrat"/>
                <a:cs typeface="Montserrat"/>
                <a:sym typeface="Montserrat"/>
              </a:endParaRPr>
            </a:p>
            <a:p>
              <a:pPr indent="0" lvl="0" marL="0" rtl="0" algn="l">
                <a:spcBef>
                  <a:spcPts val="450"/>
                </a:spcBef>
                <a:spcAft>
                  <a:spcPts val="0"/>
                </a:spcAft>
                <a:buNone/>
              </a:pPr>
              <a:r>
                <a:rPr lang="en" sz="1150">
                  <a:solidFill>
                    <a:srgbClr val="374151"/>
                  </a:solidFill>
                  <a:latin typeface="Inter"/>
                  <a:ea typeface="Inter"/>
                  <a:cs typeface="Inter"/>
                  <a:sym typeface="Inter"/>
                </a:rPr>
                <a:t>The script imports </a:t>
              </a:r>
              <a:r>
                <a:rPr b="0" lang="en" sz="1150">
                  <a:solidFill>
                    <a:srgbClr val="045A36"/>
                  </a:solidFill>
                  <a:highlight>
                    <a:srgbClr val="F1F5F9"/>
                  </a:highlight>
                  <a:latin typeface="Arial"/>
                  <a:ea typeface="Arial"/>
                  <a:cs typeface="Arial"/>
                  <a:sym typeface="Arial"/>
                </a:rPr>
                <a:t>smtplib</a:t>
              </a:r>
              <a:r>
                <a:rPr lang="en" sz="1150">
                  <a:solidFill>
                    <a:srgbClr val="374151"/>
                  </a:solidFill>
                  <a:latin typeface="Inter"/>
                  <a:ea typeface="Inter"/>
                  <a:cs typeface="Inter"/>
                  <a:sym typeface="Inter"/>
                </a:rPr>
                <a:t> and </a:t>
              </a:r>
              <a:r>
                <a:rPr b="0" lang="en" sz="1150">
                  <a:solidFill>
                    <a:srgbClr val="045A36"/>
                  </a:solidFill>
                  <a:highlight>
                    <a:srgbClr val="F1F5F9"/>
                  </a:highlight>
                  <a:latin typeface="Arial"/>
                  <a:ea typeface="Arial"/>
                  <a:cs typeface="Arial"/>
                  <a:sym typeface="Arial"/>
                </a:rPr>
                <a:t>ssl</a:t>
              </a:r>
              <a:r>
                <a:rPr lang="en" sz="1150">
                  <a:solidFill>
                    <a:srgbClr val="374151"/>
                  </a:solidFill>
                  <a:latin typeface="Inter"/>
                  <a:ea typeface="Inter"/>
                  <a:cs typeface="Inter"/>
                  <a:sym typeface="Inter"/>
                </a:rPr>
                <a:t>, then creates a secure environment using </a:t>
              </a:r>
              <a:r>
                <a:rPr b="0" lang="en" sz="1150">
                  <a:solidFill>
                    <a:srgbClr val="045A36"/>
                  </a:solidFill>
                  <a:highlight>
                    <a:srgbClr val="F1F5F9"/>
                  </a:highlight>
                  <a:latin typeface="Arial"/>
                  <a:ea typeface="Arial"/>
                  <a:cs typeface="Arial"/>
                  <a:sym typeface="Arial"/>
                </a:rPr>
                <a:t>context = ssl.create_default_context()</a:t>
              </a:r>
              <a:r>
                <a:rPr lang="en" sz="1150">
                  <a:solidFill>
                    <a:srgbClr val="374151"/>
                  </a:solidFill>
                  <a:latin typeface="Inter"/>
                  <a:ea typeface="Inter"/>
                  <a:cs typeface="Inter"/>
                  <a:sym typeface="Inter"/>
                </a:rPr>
                <a:t>. The </a:t>
              </a:r>
              <a:r>
                <a:rPr b="0" lang="en" sz="1150">
                  <a:solidFill>
                    <a:srgbClr val="045A36"/>
                  </a:solidFill>
                  <a:highlight>
                    <a:srgbClr val="F1F5F9"/>
                  </a:highlight>
                  <a:latin typeface="Arial"/>
                  <a:ea typeface="Arial"/>
                  <a:cs typeface="Arial"/>
                  <a:sym typeface="Arial"/>
                </a:rPr>
                <a:t>with</a:t>
              </a:r>
              <a:r>
                <a:rPr lang="en" sz="1150">
                  <a:solidFill>
                    <a:srgbClr val="374151"/>
                  </a:solidFill>
                  <a:latin typeface="Inter"/>
                  <a:ea typeface="Inter"/>
                  <a:cs typeface="Inter"/>
                  <a:sym typeface="Inter"/>
                </a:rPr>
                <a:t> statement is utilized alongside </a:t>
              </a:r>
              <a:r>
                <a:rPr b="0" lang="en" sz="1150">
                  <a:solidFill>
                    <a:srgbClr val="045A36"/>
                  </a:solidFill>
                  <a:highlight>
                    <a:srgbClr val="F1F5F9"/>
                  </a:highlight>
                  <a:latin typeface="Arial"/>
                  <a:ea typeface="Arial"/>
                  <a:cs typeface="Arial"/>
                  <a:sym typeface="Arial"/>
                </a:rPr>
                <a:t>smtplib.SMTP_SSL</a:t>
              </a:r>
              <a:r>
                <a:rPr lang="en" sz="1150">
                  <a:solidFill>
                    <a:srgbClr val="374151"/>
                  </a:solidFill>
                  <a:latin typeface="Inter"/>
                  <a:ea typeface="Inter"/>
                  <a:cs typeface="Inter"/>
                  <a:sym typeface="Inter"/>
                </a:rPr>
                <a:t> to ensure the network connection is automatically and safely closed after execution.</a:t>
              </a:r>
              <a:endParaRPr sz="1150">
                <a:solidFill>
                  <a:srgbClr val="374151"/>
                </a:solidFill>
                <a:latin typeface="Inter"/>
                <a:ea typeface="Inter"/>
                <a:cs typeface="Inter"/>
                <a:sym typeface="Inter"/>
              </a:endParaRPr>
            </a:p>
          </p:txBody>
        </p:sp>
      </p:grpSp>
      <p:grpSp>
        <p:nvGrpSpPr>
          <p:cNvPr id="411" name="Google Shape;411;p24"/>
          <p:cNvGrpSpPr/>
          <p:nvPr/>
        </p:nvGrpSpPr>
        <p:grpSpPr>
          <a:xfrm>
            <a:off x="6858000" y="3905250"/>
            <a:ext cx="4572075" cy="1571700"/>
            <a:chOff x="0" y="0"/>
            <a:chExt cx="4572075" cy="1571700"/>
          </a:xfrm>
        </p:grpSpPr>
        <p:grpSp>
          <p:nvGrpSpPr>
            <p:cNvPr id="412" name="Google Shape;412;p24"/>
            <p:cNvGrpSpPr/>
            <p:nvPr/>
          </p:nvGrpSpPr>
          <p:grpSpPr>
            <a:xfrm>
              <a:off x="0" y="38100"/>
              <a:ext cx="190500" cy="190500"/>
              <a:chOff x="0" y="0"/>
              <a:chExt cx="190500" cy="190500"/>
            </a:xfrm>
          </p:grpSpPr>
          <p:sp>
            <p:nvSpPr>
              <p:cNvPr id="413" name="Google Shape;413;p2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4"/>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15" name="Google Shape;415;p24"/>
            <p:cNvSpPr txBox="1"/>
            <p:nvPr/>
          </p:nvSpPr>
          <p:spPr>
            <a:xfrm>
              <a:off x="333375" y="0"/>
              <a:ext cx="42387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Authentication Flow</a:t>
              </a:r>
              <a:endParaRPr b="1" sz="1350">
                <a:solidFill>
                  <a:srgbClr val="045A36"/>
                </a:solidFill>
                <a:latin typeface="Montserrat"/>
                <a:ea typeface="Montserrat"/>
                <a:cs typeface="Montserrat"/>
                <a:sym typeface="Montserrat"/>
              </a:endParaRPr>
            </a:p>
            <a:p>
              <a:pPr indent="0" lvl="0" marL="0" rtl="0" algn="l">
                <a:spcBef>
                  <a:spcPts val="450"/>
                </a:spcBef>
                <a:spcAft>
                  <a:spcPts val="0"/>
                </a:spcAft>
                <a:buNone/>
              </a:pPr>
              <a:r>
                <a:rPr lang="en" sz="1150">
                  <a:solidFill>
                    <a:srgbClr val="374151"/>
                  </a:solidFill>
                  <a:latin typeface="Inter"/>
                  <a:ea typeface="Inter"/>
                  <a:cs typeface="Inter"/>
                  <a:sym typeface="Inter"/>
                </a:rPr>
                <a:t>Inside this block, </a:t>
              </a:r>
              <a:r>
                <a:rPr b="0" lang="en" sz="1150">
                  <a:solidFill>
                    <a:srgbClr val="045A36"/>
                  </a:solidFill>
                  <a:highlight>
                    <a:srgbClr val="F1F5F9"/>
                  </a:highlight>
                  <a:latin typeface="Arial"/>
                  <a:ea typeface="Arial"/>
                  <a:cs typeface="Arial"/>
                  <a:sym typeface="Arial"/>
                </a:rPr>
                <a:t>server.login()</a:t>
              </a:r>
              <a:r>
                <a:rPr lang="en" sz="1150">
                  <a:solidFill>
                    <a:srgbClr val="374151"/>
                  </a:solidFill>
                  <a:latin typeface="Inter"/>
                  <a:ea typeface="Inter"/>
                  <a:cs typeface="Inter"/>
                  <a:sym typeface="Inter"/>
                </a:rPr>
                <a:t> authenticates the user, followed by a success print statement. The focus here is entirely on the core mechanics: initiating the Connect phase, successfully completing Authenticate, and ensuring a clean Close without sending an email yet.</a:t>
              </a:r>
              <a:endParaRPr sz="1150">
                <a:solidFill>
                  <a:srgbClr val="374151"/>
                </a:solidFill>
                <a:latin typeface="Inter"/>
                <a:ea typeface="Inter"/>
                <a:cs typeface="Inter"/>
                <a:sym typeface="Inter"/>
              </a:endParaRPr>
            </a:p>
          </p:txBody>
        </p:sp>
      </p:grpSp>
      <p:pic>
        <p:nvPicPr>
          <p:cNvPr id="416" name="Google Shape;416;p24"/>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417" name="Google Shape;417;p24"/>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418" name="Google Shape;418;p24"/>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2" name="Shape 422"/>
        <p:cNvGrpSpPr/>
        <p:nvPr/>
      </p:nvGrpSpPr>
      <p:grpSpPr>
        <a:xfrm>
          <a:off x="0" y="0"/>
          <a:ext cx="0" cy="0"/>
          <a:chOff x="0" y="0"/>
          <a:chExt cx="0" cy="0"/>
        </a:xfrm>
      </p:grpSpPr>
      <p:pic>
        <p:nvPicPr>
          <p:cNvPr id="423" name="Google Shape;423;p25"/>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424" name="Google Shape;424;p2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25" name="Google Shape;425;p25"/>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426" name="Google Shape;426;p25"/>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427" name="Google Shape;427;p25"/>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grpSp>
        <p:nvGrpSpPr>
          <p:cNvPr id="428" name="Google Shape;428;p25"/>
          <p:cNvGrpSpPr/>
          <p:nvPr/>
        </p:nvGrpSpPr>
        <p:grpSpPr>
          <a:xfrm>
            <a:off x="762000" y="571500"/>
            <a:ext cx="9525000" cy="428700"/>
            <a:chOff x="0" y="0"/>
            <a:chExt cx="9525000" cy="428700"/>
          </a:xfrm>
        </p:grpSpPr>
        <p:sp>
          <p:nvSpPr>
            <p:cNvPr id="429" name="Google Shape;429;p25"/>
            <p:cNvSpPr/>
            <p:nvPr/>
          </p:nvSpPr>
          <p:spPr>
            <a:xfrm>
              <a:off x="0" y="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5"/>
            <p:cNvSpPr txBox="1"/>
            <p:nvPr/>
          </p:nvSpPr>
          <p:spPr>
            <a:xfrm>
              <a:off x="0" y="0"/>
              <a:ext cx="952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Build &amp; Verify First Secure SMTP Connection</a:t>
              </a:r>
              <a:endParaRPr b="0" sz="2700">
                <a:solidFill>
                  <a:srgbClr val="045A36"/>
                </a:solidFill>
                <a:latin typeface="Montserrat SemiBold"/>
                <a:ea typeface="Montserrat SemiBold"/>
                <a:cs typeface="Montserrat SemiBold"/>
                <a:sym typeface="Montserrat SemiBold"/>
              </a:endParaRPr>
            </a:p>
          </p:txBody>
        </p:sp>
      </p:grpSp>
      <p:grpSp>
        <p:nvGrpSpPr>
          <p:cNvPr id="431" name="Google Shape;431;p25"/>
          <p:cNvGrpSpPr/>
          <p:nvPr/>
        </p:nvGrpSpPr>
        <p:grpSpPr>
          <a:xfrm>
            <a:off x="762000" y="1428750"/>
            <a:ext cx="5905500" cy="857250"/>
            <a:chOff x="0" y="0"/>
            <a:chExt cx="5905500" cy="857250"/>
          </a:xfrm>
        </p:grpSpPr>
        <p:sp>
          <p:nvSpPr>
            <p:cNvPr id="432" name="Google Shape;432;p25"/>
            <p:cNvSpPr txBox="1"/>
            <p:nvPr/>
          </p:nvSpPr>
          <p:spPr>
            <a:xfrm>
              <a:off x="0" y="0"/>
              <a:ext cx="5905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Lecture 1 Mini Task</a:t>
              </a:r>
              <a:endParaRPr b="1" sz="1100">
                <a:solidFill>
                  <a:srgbClr val="D4A017"/>
                </a:solidFill>
                <a:latin typeface="Inter"/>
                <a:ea typeface="Inter"/>
                <a:cs typeface="Inter"/>
                <a:sym typeface="Inter"/>
              </a:endParaRPr>
            </a:p>
          </p:txBody>
        </p:sp>
        <p:sp>
          <p:nvSpPr>
            <p:cNvPr id="433" name="Google Shape;433;p25"/>
            <p:cNvSpPr txBox="1"/>
            <p:nvPr/>
          </p:nvSpPr>
          <p:spPr>
            <a:xfrm>
              <a:off x="0" y="285750"/>
              <a:ext cx="5905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Students will create a functional Python program from scratch that validates their environment setup.</a:t>
              </a:r>
              <a:endParaRPr b="0" sz="1350">
                <a:solidFill>
                  <a:srgbClr val="374151"/>
                </a:solidFill>
                <a:latin typeface="Inter"/>
                <a:ea typeface="Inter"/>
                <a:cs typeface="Inter"/>
                <a:sym typeface="Inter"/>
              </a:endParaRPr>
            </a:p>
          </p:txBody>
        </p:sp>
      </p:grpSp>
      <p:grpSp>
        <p:nvGrpSpPr>
          <p:cNvPr id="434" name="Google Shape;434;p25"/>
          <p:cNvGrpSpPr/>
          <p:nvPr/>
        </p:nvGrpSpPr>
        <p:grpSpPr>
          <a:xfrm>
            <a:off x="762000" y="2428875"/>
            <a:ext cx="5905575" cy="2524200"/>
            <a:chOff x="762000" y="2428875"/>
            <a:chExt cx="5905575" cy="2524200"/>
          </a:xfrm>
        </p:grpSpPr>
        <p:grpSp>
          <p:nvGrpSpPr>
            <p:cNvPr id="435" name="Google Shape;435;p25"/>
            <p:cNvGrpSpPr/>
            <p:nvPr/>
          </p:nvGrpSpPr>
          <p:grpSpPr>
            <a:xfrm>
              <a:off x="762000" y="2476500"/>
              <a:ext cx="190500" cy="190500"/>
              <a:chOff x="0" y="0"/>
              <a:chExt cx="190500" cy="190500"/>
            </a:xfrm>
          </p:grpSpPr>
          <p:sp>
            <p:nvSpPr>
              <p:cNvPr id="436" name="Google Shape;436;p2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2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38" name="Google Shape;438;p25"/>
            <p:cNvSpPr txBox="1"/>
            <p:nvPr/>
          </p:nvSpPr>
          <p:spPr>
            <a:xfrm>
              <a:off x="1095375" y="2428875"/>
              <a:ext cx="5572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Imports </a:t>
              </a:r>
              <a:r>
                <a:rPr b="0" lang="en" sz="1350">
                  <a:solidFill>
                    <a:srgbClr val="045A36"/>
                  </a:solidFill>
                  <a:latin typeface="Inter SemiBold"/>
                  <a:ea typeface="Inter SemiBold"/>
                  <a:cs typeface="Inter SemiBold"/>
                  <a:sym typeface="Inter SemiBold"/>
                </a:rPr>
                <a:t>smtplib</a:t>
              </a:r>
              <a:r>
                <a:rPr b="0" lang="en" sz="1350">
                  <a:solidFill>
                    <a:srgbClr val="374151"/>
                  </a:solidFill>
                  <a:latin typeface="Inter"/>
                  <a:ea typeface="Inter"/>
                  <a:cs typeface="Inter"/>
                  <a:sym typeface="Inter"/>
                </a:rPr>
                <a:t> to access the networking tools.</a:t>
              </a:r>
              <a:endParaRPr b="0" sz="1350">
                <a:solidFill>
                  <a:srgbClr val="374151"/>
                </a:solidFill>
                <a:latin typeface="Inter"/>
                <a:ea typeface="Inter"/>
                <a:cs typeface="Inter"/>
                <a:sym typeface="Inter"/>
              </a:endParaRPr>
            </a:p>
          </p:txBody>
        </p:sp>
        <p:grpSp>
          <p:nvGrpSpPr>
            <p:cNvPr id="439" name="Google Shape;439;p25"/>
            <p:cNvGrpSpPr/>
            <p:nvPr/>
          </p:nvGrpSpPr>
          <p:grpSpPr>
            <a:xfrm>
              <a:off x="762000" y="3000375"/>
              <a:ext cx="190500" cy="190500"/>
              <a:chOff x="0" y="0"/>
              <a:chExt cx="190500" cy="190500"/>
            </a:xfrm>
          </p:grpSpPr>
          <p:sp>
            <p:nvSpPr>
              <p:cNvPr id="440" name="Google Shape;440;p2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2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42" name="Google Shape;442;p25"/>
            <p:cNvSpPr txBox="1"/>
            <p:nvPr/>
          </p:nvSpPr>
          <p:spPr>
            <a:xfrm>
              <a:off x="1095375" y="2952750"/>
              <a:ext cx="5572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Creates an </a:t>
              </a:r>
              <a:r>
                <a:rPr b="0" lang="en" sz="1350">
                  <a:solidFill>
                    <a:srgbClr val="045A36"/>
                  </a:solidFill>
                  <a:latin typeface="Inter SemiBold"/>
                  <a:ea typeface="Inter SemiBold"/>
                  <a:cs typeface="Inter SemiBold"/>
                  <a:sym typeface="Inter SemiBold"/>
                </a:rPr>
                <a:t>SSL context</a:t>
              </a:r>
              <a:r>
                <a:rPr b="0" lang="en" sz="1350">
                  <a:solidFill>
                    <a:srgbClr val="374151"/>
                  </a:solidFill>
                  <a:latin typeface="Inter"/>
                  <a:ea typeface="Inter"/>
                  <a:cs typeface="Inter"/>
                  <a:sym typeface="Inter"/>
                </a:rPr>
                <a:t> to guarantee connection security.</a:t>
              </a:r>
              <a:endParaRPr b="0" sz="1350">
                <a:solidFill>
                  <a:srgbClr val="374151"/>
                </a:solidFill>
                <a:latin typeface="Inter"/>
                <a:ea typeface="Inter"/>
                <a:cs typeface="Inter"/>
                <a:sym typeface="Inter"/>
              </a:endParaRPr>
            </a:p>
          </p:txBody>
        </p:sp>
        <p:grpSp>
          <p:nvGrpSpPr>
            <p:cNvPr id="443" name="Google Shape;443;p25"/>
            <p:cNvGrpSpPr/>
            <p:nvPr/>
          </p:nvGrpSpPr>
          <p:grpSpPr>
            <a:xfrm>
              <a:off x="762000" y="3524250"/>
              <a:ext cx="190500" cy="190500"/>
              <a:chOff x="0" y="0"/>
              <a:chExt cx="190500" cy="190500"/>
            </a:xfrm>
          </p:grpSpPr>
          <p:sp>
            <p:nvSpPr>
              <p:cNvPr id="444" name="Google Shape;444;p2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46" name="Google Shape;446;p25"/>
            <p:cNvSpPr txBox="1"/>
            <p:nvPr/>
          </p:nvSpPr>
          <p:spPr>
            <a:xfrm>
              <a:off x="1095375" y="3476625"/>
              <a:ext cx="5572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Connects to </a:t>
              </a:r>
              <a:r>
                <a:rPr b="0" lang="en" sz="1350">
                  <a:solidFill>
                    <a:srgbClr val="045A36"/>
                  </a:solidFill>
                  <a:latin typeface="Inter SemiBold"/>
                  <a:ea typeface="Inter SemiBold"/>
                  <a:cs typeface="Inter SemiBold"/>
                  <a:sym typeface="Inter SemiBold"/>
                </a:rPr>
                <a:t>Gmail SMTP</a:t>
              </a:r>
              <a:r>
                <a:rPr b="0" lang="en" sz="1350">
                  <a:solidFill>
                    <a:srgbClr val="374151"/>
                  </a:solidFill>
                  <a:latin typeface="Inter"/>
                  <a:ea typeface="Inter"/>
                  <a:cs typeface="Inter"/>
                  <a:sym typeface="Inter"/>
                </a:rPr>
                <a:t> using the correct server address and port.</a:t>
              </a:r>
              <a:endParaRPr b="0" sz="1350">
                <a:solidFill>
                  <a:srgbClr val="374151"/>
                </a:solidFill>
                <a:latin typeface="Inter"/>
                <a:ea typeface="Inter"/>
                <a:cs typeface="Inter"/>
                <a:sym typeface="Inter"/>
              </a:endParaRPr>
            </a:p>
          </p:txBody>
        </p:sp>
        <p:grpSp>
          <p:nvGrpSpPr>
            <p:cNvPr id="447" name="Google Shape;447;p25"/>
            <p:cNvGrpSpPr/>
            <p:nvPr/>
          </p:nvGrpSpPr>
          <p:grpSpPr>
            <a:xfrm>
              <a:off x="762000" y="4048125"/>
              <a:ext cx="190500" cy="190500"/>
              <a:chOff x="0" y="0"/>
              <a:chExt cx="190500" cy="190500"/>
            </a:xfrm>
          </p:grpSpPr>
          <p:sp>
            <p:nvSpPr>
              <p:cNvPr id="448" name="Google Shape;448;p2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2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50" name="Google Shape;450;p25"/>
            <p:cNvSpPr txBox="1"/>
            <p:nvPr/>
          </p:nvSpPr>
          <p:spPr>
            <a:xfrm>
              <a:off x="1095375" y="4000500"/>
              <a:ext cx="5572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Logs in using the student's designated testing email and </a:t>
              </a:r>
              <a:r>
                <a:rPr b="0" lang="en" sz="1350">
                  <a:solidFill>
                    <a:srgbClr val="045A36"/>
                  </a:solidFill>
                  <a:latin typeface="Inter SemiBold"/>
                  <a:ea typeface="Inter SemiBold"/>
                  <a:cs typeface="Inter SemiBold"/>
                  <a:sym typeface="Inter SemiBold"/>
                </a:rPr>
                <a:t>App Password</a:t>
              </a:r>
              <a:r>
                <a:rPr b="0" lang="en" sz="1350">
                  <a:solidFill>
                    <a:srgbClr val="374151"/>
                  </a:solidFill>
                  <a:latin typeface="Inter"/>
                  <a:ea typeface="Inter"/>
                  <a:cs typeface="Inter"/>
                  <a:sym typeface="Inter"/>
                </a:rPr>
                <a:t>.</a:t>
              </a:r>
              <a:endParaRPr b="0" sz="1350">
                <a:solidFill>
                  <a:srgbClr val="374151"/>
                </a:solidFill>
                <a:latin typeface="Inter"/>
                <a:ea typeface="Inter"/>
                <a:cs typeface="Inter"/>
                <a:sym typeface="Inter"/>
              </a:endParaRPr>
            </a:p>
          </p:txBody>
        </p:sp>
        <p:grpSp>
          <p:nvGrpSpPr>
            <p:cNvPr id="451" name="Google Shape;451;p25"/>
            <p:cNvGrpSpPr/>
            <p:nvPr/>
          </p:nvGrpSpPr>
          <p:grpSpPr>
            <a:xfrm>
              <a:off x="762000" y="4572000"/>
              <a:ext cx="190500" cy="190500"/>
              <a:chOff x="0" y="0"/>
              <a:chExt cx="190500" cy="190500"/>
            </a:xfrm>
          </p:grpSpPr>
          <p:sp>
            <p:nvSpPr>
              <p:cNvPr id="452" name="Google Shape;452;p2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5"/>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54" name="Google Shape;454;p25"/>
            <p:cNvSpPr txBox="1"/>
            <p:nvPr/>
          </p:nvSpPr>
          <p:spPr>
            <a:xfrm>
              <a:off x="1095375" y="4524375"/>
              <a:ext cx="5572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Prints </a:t>
              </a:r>
              <a:r>
                <a:rPr b="0" lang="en" sz="1350">
                  <a:solidFill>
                    <a:srgbClr val="045A36"/>
                  </a:solidFill>
                  <a:latin typeface="Inter SemiBold"/>
                  <a:ea typeface="Inter SemiBold"/>
                  <a:cs typeface="Inter SemiBold"/>
                  <a:sym typeface="Inter SemiBold"/>
                </a:rPr>
                <a:t>"SMTP Login Successful"</a:t>
              </a:r>
              <a:r>
                <a:rPr b="0" lang="en" sz="1350">
                  <a:solidFill>
                    <a:srgbClr val="374151"/>
                  </a:solidFill>
                  <a:latin typeface="Inter"/>
                  <a:ea typeface="Inter"/>
                  <a:cs typeface="Inter"/>
                  <a:sym typeface="Inter"/>
                </a:rPr>
                <a:t> to the console upon completion.</a:t>
              </a:r>
              <a:endParaRPr b="0" sz="1350">
                <a:solidFill>
                  <a:srgbClr val="374151"/>
                </a:solidFill>
                <a:latin typeface="Inter"/>
                <a:ea typeface="Inter"/>
                <a:cs typeface="Inter"/>
                <a:sym typeface="Inter"/>
              </a:endParaRPr>
            </a:p>
          </p:txBody>
        </p:sp>
      </p:grpSp>
      <p:grpSp>
        <p:nvGrpSpPr>
          <p:cNvPr id="455" name="Google Shape;455;p25"/>
          <p:cNvGrpSpPr/>
          <p:nvPr/>
        </p:nvGrpSpPr>
        <p:grpSpPr>
          <a:xfrm>
            <a:off x="7048500" y="1524000"/>
            <a:ext cx="4381500" cy="1714500"/>
            <a:chOff x="0" y="0"/>
            <a:chExt cx="4381500" cy="1714500"/>
          </a:xfrm>
        </p:grpSpPr>
        <p:sp>
          <p:nvSpPr>
            <p:cNvPr id="456" name="Google Shape;456;p25"/>
            <p:cNvSpPr/>
            <p:nvPr/>
          </p:nvSpPr>
          <p:spPr>
            <a:xfrm>
              <a:off x="0" y="0"/>
              <a:ext cx="4381500" cy="1714500"/>
            </a:xfrm>
            <a:prstGeom prst="roundRect">
              <a:avLst>
                <a:gd fmla="val 4444" name="adj"/>
              </a:avLst>
            </a:prstGeom>
            <a:solidFill>
              <a:srgbClr val="FFFDF5"/>
            </a:solidFill>
            <a:ln cap="flat" cmpd="sng" w="19050">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5"/>
            <p:cNvSpPr/>
            <p:nvPr/>
          </p:nvSpPr>
          <p:spPr>
            <a:xfrm>
              <a:off x="0" y="0"/>
              <a:ext cx="57300" cy="1714500"/>
            </a:xfrm>
            <a:prstGeom prst="roundRect">
              <a:avLst>
                <a:gd fmla="val 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25"/>
            <p:cNvSpPr txBox="1"/>
            <p:nvPr/>
          </p:nvSpPr>
          <p:spPr>
            <a:xfrm>
              <a:off x="238125" y="216789"/>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D4A017"/>
                  </a:solidFill>
                  <a:latin typeface="Material Icons"/>
                  <a:ea typeface="Material Icons"/>
                  <a:cs typeface="Material Icons"/>
                  <a:sym typeface="Material Icons"/>
                </a:rPr>
                <a:t>warning</a:t>
              </a:r>
              <a:endParaRPr sz="1800">
                <a:solidFill>
                  <a:srgbClr val="D4A017"/>
                </a:solidFill>
                <a:latin typeface="Material Icons"/>
                <a:ea typeface="Material Icons"/>
                <a:cs typeface="Material Icons"/>
                <a:sym typeface="Material Icons"/>
              </a:endParaRPr>
            </a:p>
          </p:txBody>
        </p:sp>
        <p:sp>
          <p:nvSpPr>
            <p:cNvPr id="459" name="Google Shape;459;p25"/>
            <p:cNvSpPr txBox="1"/>
            <p:nvPr/>
          </p:nvSpPr>
          <p:spPr>
            <a:xfrm>
              <a:off x="619125" y="190500"/>
              <a:ext cx="35244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D4A017"/>
                  </a:solidFill>
                  <a:latin typeface="Inter"/>
                  <a:ea typeface="Inter"/>
                  <a:cs typeface="Inter"/>
                  <a:sym typeface="Inter"/>
                </a:rPr>
                <a:t>Task Safety Constraint</a:t>
              </a:r>
              <a:endParaRPr b="1" sz="1100">
                <a:solidFill>
                  <a:srgbClr val="D4A017"/>
                </a:solidFill>
                <a:latin typeface="Inter"/>
                <a:ea typeface="Inter"/>
                <a:cs typeface="Inter"/>
                <a:sym typeface="Inter"/>
              </a:endParaRPr>
            </a:p>
          </p:txBody>
        </p:sp>
        <p:sp>
          <p:nvSpPr>
            <p:cNvPr id="460" name="Google Shape;460;p25"/>
            <p:cNvSpPr txBox="1"/>
            <p:nvPr/>
          </p:nvSpPr>
          <p:spPr>
            <a:xfrm>
              <a:off x="238125" y="571500"/>
              <a:ext cx="3905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D4A017"/>
                  </a:solidFill>
                  <a:latin typeface="Inter"/>
                  <a:ea typeface="Inter"/>
                  <a:cs typeface="Inter"/>
                  <a:sym typeface="Inter"/>
                </a:rPr>
                <a:t>Note:</a:t>
              </a:r>
              <a:r>
                <a:rPr b="0" lang="en" sz="1150">
                  <a:solidFill>
                    <a:srgbClr val="374151"/>
                  </a:solidFill>
                  <a:latin typeface="Inter"/>
                  <a:ea typeface="Inter"/>
                  <a:cs typeface="Inter"/>
                  <a:sym typeface="Inter"/>
                </a:rPr>
                <a:t> Do not attempt to send an email during this task. The objective is to establish a clear endpoint for Lecture 1 by mastering the connection and authentication mechanics first.</a:t>
              </a:r>
              <a:endParaRPr b="0" sz="1150">
                <a:solidFill>
                  <a:srgbClr val="374151"/>
                </a:solidFill>
                <a:latin typeface="Inter"/>
                <a:ea typeface="Inter"/>
                <a:cs typeface="Inter"/>
                <a:sym typeface="Inter"/>
              </a:endParaRPr>
            </a:p>
          </p:txBody>
        </p:sp>
      </p:grpSp>
      <p:grpSp>
        <p:nvGrpSpPr>
          <p:cNvPr id="461" name="Google Shape;461;p25"/>
          <p:cNvGrpSpPr/>
          <p:nvPr/>
        </p:nvGrpSpPr>
        <p:grpSpPr>
          <a:xfrm>
            <a:off x="7048500" y="3429000"/>
            <a:ext cx="4381500" cy="1762200"/>
            <a:chOff x="0" y="0"/>
            <a:chExt cx="4381500" cy="1762200"/>
          </a:xfrm>
        </p:grpSpPr>
        <p:sp>
          <p:nvSpPr>
            <p:cNvPr id="462" name="Google Shape;462;p25"/>
            <p:cNvSpPr/>
            <p:nvPr/>
          </p:nvSpPr>
          <p:spPr>
            <a:xfrm>
              <a:off x="0" y="0"/>
              <a:ext cx="4381500" cy="1762200"/>
            </a:xfrm>
            <a:prstGeom prst="roundRect">
              <a:avLst>
                <a:gd fmla="val 4324"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25"/>
            <p:cNvSpPr/>
            <p:nvPr/>
          </p:nvSpPr>
          <p:spPr>
            <a:xfrm>
              <a:off x="190500" y="161925"/>
              <a:ext cx="95400" cy="954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5"/>
            <p:cNvSpPr/>
            <p:nvPr/>
          </p:nvSpPr>
          <p:spPr>
            <a:xfrm>
              <a:off x="342900" y="161925"/>
              <a:ext cx="95400" cy="954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5"/>
            <p:cNvSpPr/>
            <p:nvPr/>
          </p:nvSpPr>
          <p:spPr>
            <a:xfrm>
              <a:off x="495300" y="161925"/>
              <a:ext cx="95400" cy="95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25"/>
            <p:cNvSpPr txBox="1"/>
            <p:nvPr/>
          </p:nvSpPr>
          <p:spPr>
            <a:xfrm>
              <a:off x="714375" y="114300"/>
              <a:ext cx="3429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64748B"/>
                  </a:solidFill>
                  <a:latin typeface="Inter Medium"/>
                  <a:ea typeface="Inter Medium"/>
                  <a:cs typeface="Inter Medium"/>
                  <a:sym typeface="Inter Medium"/>
                </a:rPr>
                <a:t>smtp_verify.py</a:t>
              </a:r>
              <a:endParaRPr b="0" sz="900">
                <a:solidFill>
                  <a:srgbClr val="64748B"/>
                </a:solidFill>
                <a:latin typeface="Inter Medium"/>
                <a:ea typeface="Inter Medium"/>
                <a:cs typeface="Inter Medium"/>
                <a:sym typeface="Inter Medium"/>
              </a:endParaRPr>
            </a:p>
          </p:txBody>
        </p:sp>
        <p:cxnSp>
          <p:nvCxnSpPr>
            <p:cNvPr id="467" name="Google Shape;467;p25"/>
            <p:cNvCxnSpPr/>
            <p:nvPr/>
          </p:nvCxnSpPr>
          <p:spPr>
            <a:xfrm>
              <a:off x="0" y="361950"/>
              <a:ext cx="43815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468" name="Google Shape;468;p25"/>
            <p:cNvSpPr txBox="1"/>
            <p:nvPr/>
          </p:nvSpPr>
          <p:spPr>
            <a:xfrm>
              <a:off x="238125" y="523875"/>
              <a:ext cx="3905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64748B"/>
                  </a:solidFill>
                  <a:latin typeface="Courier New"/>
                  <a:ea typeface="Courier New"/>
                  <a:cs typeface="Courier New"/>
                  <a:sym typeface="Courier New"/>
                </a:rPr>
                <a:t># Run verification script</a:t>
              </a:r>
              <a:endParaRPr sz="1100">
                <a:solidFill>
                  <a:srgbClr val="64748B"/>
                </a:solidFill>
                <a:latin typeface="Courier New"/>
                <a:ea typeface="Courier New"/>
                <a:cs typeface="Courier New"/>
                <a:sym typeface="Courier New"/>
              </a:endParaRPr>
            </a:p>
            <a:p>
              <a:pPr indent="0" lvl="0" marL="0" rtl="0" algn="l">
                <a:spcBef>
                  <a:spcPts val="300"/>
                </a:spcBef>
                <a:spcAft>
                  <a:spcPts val="0"/>
                </a:spcAft>
                <a:buNone/>
              </a:pPr>
              <a:r>
                <a:rPr lang="en" sz="1100">
                  <a:solidFill>
                    <a:srgbClr val="38BDF8"/>
                  </a:solidFill>
                  <a:latin typeface="Courier New"/>
                  <a:ea typeface="Courier New"/>
                  <a:cs typeface="Courier New"/>
                  <a:sym typeface="Courier New"/>
                </a:rPr>
                <a:t>$</a:t>
              </a:r>
              <a:r>
                <a:rPr lang="en" sz="1100">
                  <a:solidFill>
                    <a:srgbClr val="F1F5F9"/>
                  </a:solidFill>
                  <a:latin typeface="Courier New"/>
                  <a:ea typeface="Courier New"/>
                  <a:cs typeface="Courier New"/>
                  <a:sym typeface="Courier New"/>
                </a:rPr>
                <a:t> python smtp_verify.py</a:t>
              </a:r>
              <a:endParaRPr sz="1100">
                <a:solidFill>
                  <a:srgbClr val="F1F5F9"/>
                </a:solidFill>
                <a:latin typeface="Courier New"/>
                <a:ea typeface="Courier New"/>
                <a:cs typeface="Courier New"/>
                <a:sym typeface="Courier New"/>
              </a:endParaRPr>
            </a:p>
            <a:p>
              <a:pPr indent="0" lvl="0" marL="0" rtl="0" algn="l">
                <a:spcBef>
                  <a:spcPts val="1125"/>
                </a:spcBef>
                <a:spcAft>
                  <a:spcPts val="0"/>
                </a:spcAft>
                <a:buNone/>
              </a:pPr>
              <a:r>
                <a:rPr lang="en" sz="1100">
                  <a:solidFill>
                    <a:srgbClr val="64748B"/>
                  </a:solidFill>
                  <a:latin typeface="Courier New"/>
                  <a:ea typeface="Courier New"/>
                  <a:cs typeface="Courier New"/>
                  <a:sym typeface="Courier New"/>
                </a:rPr>
                <a:t># Expected terminal output:</a:t>
              </a:r>
              <a:endParaRPr sz="1100">
                <a:solidFill>
                  <a:srgbClr val="64748B"/>
                </a:solidFill>
                <a:latin typeface="Courier New"/>
                <a:ea typeface="Courier New"/>
                <a:cs typeface="Courier New"/>
                <a:sym typeface="Courier New"/>
              </a:endParaRPr>
            </a:p>
            <a:p>
              <a:pPr indent="0" lvl="0" marL="0" rtl="0" algn="l">
                <a:spcBef>
                  <a:spcPts val="300"/>
                </a:spcBef>
                <a:spcAft>
                  <a:spcPts val="0"/>
                </a:spcAft>
                <a:buNone/>
              </a:pPr>
              <a:r>
                <a:rPr b="1" lang="en" sz="1100">
                  <a:solidFill>
                    <a:srgbClr val="34D399"/>
                  </a:solidFill>
                  <a:latin typeface="Courier New"/>
                  <a:ea typeface="Courier New"/>
                  <a:cs typeface="Courier New"/>
                  <a:sym typeface="Courier New"/>
                </a:rPr>
                <a:t>SMTP Login Successful</a:t>
              </a:r>
              <a:endParaRPr b="1" sz="1100">
                <a:solidFill>
                  <a:srgbClr val="34D399"/>
                </a:solidFill>
                <a:latin typeface="Courier New"/>
                <a:ea typeface="Courier New"/>
                <a:cs typeface="Courier New"/>
                <a:sym typeface="Courier New"/>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 name="Shape 472"/>
        <p:cNvGrpSpPr/>
        <p:nvPr/>
      </p:nvGrpSpPr>
      <p:grpSpPr>
        <a:xfrm>
          <a:off x="0" y="0"/>
          <a:ext cx="0" cy="0"/>
          <a:chOff x="0" y="0"/>
          <a:chExt cx="0" cy="0"/>
        </a:xfrm>
      </p:grpSpPr>
      <p:pic>
        <p:nvPicPr>
          <p:cNvPr id="473" name="Google Shape;473;p26"/>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474" name="Google Shape;474;p26"/>
          <p:cNvSpPr txBox="1"/>
          <p:nvPr/>
        </p:nvSpPr>
        <p:spPr>
          <a:xfrm>
            <a:off x="762000" y="428625"/>
            <a:ext cx="10668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943">
                <a:solidFill>
                  <a:srgbClr val="045A36"/>
                </a:solidFill>
                <a:latin typeface="Montserrat SemiBold"/>
                <a:ea typeface="Montserrat SemiBold"/>
                <a:cs typeface="Montserrat SemiBold"/>
                <a:sym typeface="Montserrat SemiBold"/>
              </a:rPr>
              <a:t>Sending an Email Requires Constructing a Message</a:t>
            </a:r>
            <a:endParaRPr b="0" sz="1943">
              <a:solidFill>
                <a:srgbClr val="045A36"/>
              </a:solidFill>
              <a:latin typeface="Montserrat SemiBold"/>
              <a:ea typeface="Montserrat SemiBold"/>
              <a:cs typeface="Montserrat SemiBold"/>
              <a:sym typeface="Montserrat SemiBold"/>
            </a:endParaRPr>
          </a:p>
          <a:p>
            <a:pPr indent="0" lvl="0" marL="0" rtl="0" algn="l">
              <a:spcBef>
                <a:spcPts val="300"/>
              </a:spcBef>
              <a:spcAft>
                <a:spcPts val="0"/>
              </a:spcAft>
              <a:buNone/>
            </a:pPr>
            <a:r>
              <a:rPr b="0" lang="en" sz="1943">
                <a:solidFill>
                  <a:srgbClr val="045A36"/>
                </a:solidFill>
                <a:latin typeface="Montserrat SemiBold"/>
                <a:ea typeface="Montserrat SemiBold"/>
                <a:cs typeface="Montserrat SemiBold"/>
                <a:sym typeface="Montserrat SemiBold"/>
              </a:rPr>
              <a:t>Before Transmission</a:t>
            </a:r>
            <a:endParaRPr b="0" sz="1943">
              <a:solidFill>
                <a:srgbClr val="045A36"/>
              </a:solidFill>
              <a:latin typeface="Montserrat SemiBold"/>
              <a:ea typeface="Montserrat SemiBold"/>
              <a:cs typeface="Montserrat SemiBold"/>
              <a:sym typeface="Montserrat SemiBold"/>
            </a:endParaRPr>
          </a:p>
        </p:txBody>
      </p:sp>
      <p:sp>
        <p:nvSpPr>
          <p:cNvPr id="475" name="Google Shape;475;p26"/>
          <p:cNvSpPr/>
          <p:nvPr/>
        </p:nvSpPr>
        <p:spPr>
          <a:xfrm>
            <a:off x="762000" y="11620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6" name="Google Shape;476;p26"/>
          <p:cNvGrpSpPr/>
          <p:nvPr/>
        </p:nvGrpSpPr>
        <p:grpSpPr>
          <a:xfrm>
            <a:off x="762000" y="1314450"/>
            <a:ext cx="10668150" cy="857400"/>
            <a:chOff x="762000" y="1314450"/>
            <a:chExt cx="10668150" cy="857400"/>
          </a:xfrm>
        </p:grpSpPr>
        <p:sp>
          <p:nvSpPr>
            <p:cNvPr id="477" name="Google Shape;477;p26"/>
            <p:cNvSpPr txBox="1"/>
            <p:nvPr/>
          </p:nvSpPr>
          <p:spPr>
            <a:xfrm>
              <a:off x="762000" y="1314450"/>
              <a:ext cx="60009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Lecture 1 Revision:</a:t>
              </a:r>
              <a:r>
                <a:rPr b="0" lang="en" sz="1050">
                  <a:solidFill>
                    <a:srgbClr val="374151"/>
                  </a:solidFill>
                  <a:latin typeface="Inter"/>
                  <a:ea typeface="Inter"/>
                  <a:cs typeface="Inter"/>
                  <a:sym typeface="Inter"/>
                </a:rPr>
                <a:t> Let's perform a quick revision of the workflow established in the previous session. The execution begins with Python, which initiates a connection to the SMTP Server. Once connected, the script performs Authentication to verify identity.</a:t>
              </a:r>
              <a:endParaRPr b="0" sz="1050">
                <a:solidFill>
                  <a:srgbClr val="374151"/>
                </a:solidFill>
                <a:latin typeface="Inter"/>
                <a:ea typeface="Inter"/>
                <a:cs typeface="Inter"/>
                <a:sym typeface="Inter"/>
              </a:endParaRPr>
            </a:p>
          </p:txBody>
        </p:sp>
        <p:sp>
          <p:nvSpPr>
            <p:cNvPr id="478" name="Google Shape;478;p26"/>
            <p:cNvSpPr txBox="1"/>
            <p:nvPr/>
          </p:nvSpPr>
          <p:spPr>
            <a:xfrm>
              <a:off x="7143750" y="1314450"/>
              <a:ext cx="4286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D4A017"/>
                  </a:solidFill>
                  <a:latin typeface="Montserrat"/>
                  <a:ea typeface="Montserrat"/>
                  <a:cs typeface="Montserrat"/>
                  <a:sym typeface="Montserrat"/>
                </a:rPr>
                <a:t>Lecture 2 Transition:</a:t>
              </a:r>
              <a:r>
                <a:rPr b="0" lang="en" sz="1050">
                  <a:solidFill>
                    <a:srgbClr val="374151"/>
                  </a:solidFill>
                  <a:latin typeface="Inter"/>
                  <a:ea typeface="Inter"/>
                  <a:cs typeface="Inter"/>
                  <a:sym typeface="Inter"/>
                </a:rPr>
                <a:t> To bridge the gap, we must introduce the critical next phase: Create Email. Before any data can be transmitted, the actual email payload must be meticulously constructed. Only after the message object is built can we execute Send Email.</a:t>
              </a:r>
              <a:endParaRPr b="0" sz="1050">
                <a:solidFill>
                  <a:srgbClr val="374151"/>
                </a:solidFill>
                <a:latin typeface="Inter"/>
                <a:ea typeface="Inter"/>
                <a:cs typeface="Inter"/>
                <a:sym typeface="Inter"/>
              </a:endParaRPr>
            </a:p>
          </p:txBody>
        </p:sp>
      </p:grpSp>
      <p:grpSp>
        <p:nvGrpSpPr>
          <p:cNvPr id="479" name="Google Shape;479;p26"/>
          <p:cNvGrpSpPr/>
          <p:nvPr/>
        </p:nvGrpSpPr>
        <p:grpSpPr>
          <a:xfrm>
            <a:off x="752475" y="2238375"/>
            <a:ext cx="10677675" cy="2781300"/>
            <a:chOff x="752475" y="2238375"/>
            <a:chExt cx="10677675" cy="2781300"/>
          </a:xfrm>
        </p:grpSpPr>
        <p:pic>
          <p:nvPicPr>
            <p:cNvPr id="480" name="Google Shape;480;p26"/>
            <p:cNvPicPr preferRelativeResize="0"/>
            <p:nvPr/>
          </p:nvPicPr>
          <p:blipFill rotWithShape="1">
            <a:blip r:embed="rId5">
              <a:alphaModFix/>
            </a:blip>
            <a:srcRect b="0" l="0" r="0" t="0"/>
            <a:stretch/>
          </p:blipFill>
          <p:spPr>
            <a:xfrm>
              <a:off x="752475" y="2238375"/>
              <a:ext cx="6210300" cy="2781300"/>
            </a:xfrm>
            <a:prstGeom prst="rect">
              <a:avLst/>
            </a:prstGeom>
            <a:noFill/>
            <a:ln>
              <a:noFill/>
            </a:ln>
          </p:spPr>
        </p:pic>
        <p:sp>
          <p:nvSpPr>
            <p:cNvPr id="481" name="Google Shape;481;p26"/>
            <p:cNvSpPr txBox="1"/>
            <p:nvPr/>
          </p:nvSpPr>
          <p:spPr>
            <a:xfrm>
              <a:off x="952500" y="2400300"/>
              <a:ext cx="5810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6B7280"/>
                  </a:solidFill>
                  <a:latin typeface="Montserrat"/>
                  <a:ea typeface="Montserrat"/>
                  <a:cs typeface="Montserrat"/>
                  <a:sym typeface="Montserrat"/>
                </a:rPr>
                <a:t>Lecture 1 Revision</a:t>
              </a:r>
              <a:endParaRPr b="1" sz="1000">
                <a:solidFill>
                  <a:srgbClr val="6B7280"/>
                </a:solidFill>
                <a:latin typeface="Montserrat"/>
                <a:ea typeface="Montserrat"/>
                <a:cs typeface="Montserrat"/>
                <a:sym typeface="Montserrat"/>
              </a:endParaRPr>
            </a:p>
          </p:txBody>
        </p:sp>
        <p:sp>
          <p:nvSpPr>
            <p:cNvPr id="482" name="Google Shape;482;p26"/>
            <p:cNvSpPr/>
            <p:nvPr/>
          </p:nvSpPr>
          <p:spPr>
            <a:xfrm>
              <a:off x="7143750" y="2247900"/>
              <a:ext cx="4286400" cy="2762400"/>
            </a:xfrm>
            <a:prstGeom prst="roundRect">
              <a:avLst>
                <a:gd fmla="val 2758" name="adj"/>
              </a:avLst>
            </a:prstGeom>
            <a:solidFill>
              <a:srgbClr val="FFFFFF"/>
            </a:solidFill>
            <a:ln cap="flat" cmpd="sng" w="19050">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26"/>
            <p:cNvSpPr/>
            <p:nvPr/>
          </p:nvSpPr>
          <p:spPr>
            <a:xfrm>
              <a:off x="7143750" y="2247900"/>
              <a:ext cx="4286400" cy="76200"/>
            </a:xfrm>
            <a:custGeom>
              <a:rect b="b" l="l" r="r" t="t"/>
              <a:pathLst>
                <a:path extrusionOk="0" h="120000" w="120000">
                  <a:moveTo>
                    <a:pt x="0" y="120000"/>
                  </a:moveTo>
                  <a:lnTo>
                    <a:pt x="0" y="60000"/>
                  </a:lnTo>
                  <a:cubicBezTo>
                    <a:pt x="0" y="30000"/>
                    <a:pt x="533" y="0"/>
                    <a:pt x="1067" y="0"/>
                  </a:cubicBezTo>
                  <a:lnTo>
                    <a:pt x="118933" y="0"/>
                  </a:lnTo>
                  <a:cubicBezTo>
                    <a:pt x="119467" y="0"/>
                    <a:pt x="120000" y="30000"/>
                    <a:pt x="120000" y="60000"/>
                  </a:cubicBezTo>
                  <a:lnTo>
                    <a:pt x="120000" y="120000"/>
                  </a:lnTo>
                  <a:close/>
                </a:path>
              </a:pathLst>
            </a:cu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6"/>
            <p:cNvSpPr txBox="1"/>
            <p:nvPr/>
          </p:nvSpPr>
          <p:spPr>
            <a:xfrm>
              <a:off x="7334250" y="2400300"/>
              <a:ext cx="3905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FFFFF"/>
                  </a:solidFill>
                  <a:latin typeface="Montserrat"/>
                  <a:ea typeface="Montserrat"/>
                  <a:cs typeface="Montserrat"/>
                  <a:sym typeface="Montserrat"/>
                </a:rPr>
                <a:t>Lecture 2 Transition (New Milestone)</a:t>
              </a:r>
              <a:endParaRPr b="1" sz="1000">
                <a:solidFill>
                  <a:srgbClr val="FFFFFF"/>
                </a:solidFill>
                <a:latin typeface="Montserrat"/>
                <a:ea typeface="Montserrat"/>
                <a:cs typeface="Montserrat"/>
                <a:sym typeface="Montserrat"/>
              </a:endParaRPr>
            </a:p>
          </p:txBody>
        </p:sp>
      </p:grpSp>
      <p:grpSp>
        <p:nvGrpSpPr>
          <p:cNvPr id="485" name="Google Shape;485;p26"/>
          <p:cNvGrpSpPr/>
          <p:nvPr/>
        </p:nvGrpSpPr>
        <p:grpSpPr>
          <a:xfrm>
            <a:off x="952500" y="2819400"/>
            <a:ext cx="10286925" cy="2000100"/>
            <a:chOff x="952500" y="2819400"/>
            <a:chExt cx="10286925" cy="2000100"/>
          </a:xfrm>
        </p:grpSpPr>
        <p:sp>
          <p:nvSpPr>
            <p:cNvPr id="486" name="Google Shape;486;p26"/>
            <p:cNvSpPr/>
            <p:nvPr/>
          </p:nvSpPr>
          <p:spPr>
            <a:xfrm>
              <a:off x="952500" y="2819400"/>
              <a:ext cx="1619100" cy="20001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6"/>
            <p:cNvSpPr txBox="1"/>
            <p:nvPr/>
          </p:nvSpPr>
          <p:spPr>
            <a:xfrm>
              <a:off x="952500" y="2819400"/>
              <a:ext cx="1619100" cy="2000100"/>
            </a:xfrm>
            <a:prstGeom prst="rect">
              <a:avLst/>
            </a:prstGeom>
            <a:noFill/>
            <a:ln>
              <a:noFill/>
            </a:ln>
          </p:spPr>
          <p:txBody>
            <a:bodyPr anchorCtr="0" anchor="t" bIns="95250" lIns="114300" spcFirstLastPara="1" rIns="114300" wrap="square" tIns="238125">
              <a:noAutofit/>
            </a:bodyPr>
            <a:lstStyle/>
            <a:p>
              <a:pPr indent="0" lvl="0" marL="0" rtl="0" algn="ctr">
                <a:spcBef>
                  <a:spcPts val="0"/>
                </a:spcBef>
                <a:spcAft>
                  <a:spcPts val="0"/>
                </a:spcAft>
                <a:buNone/>
              </a:pPr>
              <a:r>
                <a:rPr b="1" lang="en" sz="1100">
                  <a:solidFill>
                    <a:srgbClr val="045A36"/>
                  </a:solidFill>
                  <a:latin typeface="Montserrat"/>
                  <a:ea typeface="Montserrat"/>
                  <a:cs typeface="Montserrat"/>
                  <a:sym typeface="Montserrat"/>
                </a:rPr>
                <a:t>Python Script</a:t>
              </a:r>
              <a:endParaRPr b="1" sz="1100">
                <a:solidFill>
                  <a:srgbClr val="045A36"/>
                </a:solidFill>
                <a:latin typeface="Montserrat"/>
                <a:ea typeface="Montserrat"/>
                <a:cs typeface="Montserrat"/>
                <a:sym typeface="Montserrat"/>
              </a:endParaRPr>
            </a:p>
            <a:p>
              <a:pPr indent="0" lvl="0" marL="0" rtl="0" algn="ctr">
                <a:spcBef>
                  <a:spcPts val="900"/>
                </a:spcBef>
                <a:spcAft>
                  <a:spcPts val="0"/>
                </a:spcAft>
                <a:buNone/>
              </a:pPr>
              <a:r>
                <a:rPr lang="en" sz="950">
                  <a:solidFill>
                    <a:srgbClr val="374151"/>
                  </a:solidFill>
                  <a:latin typeface="Inter"/>
                  <a:ea typeface="Inter"/>
                  <a:cs typeface="Inter"/>
                  <a:sym typeface="Inter"/>
                </a:rPr>
                <a:t>The script execution begins, launching the automated email flow.</a:t>
              </a:r>
              <a:endParaRPr sz="950">
                <a:solidFill>
                  <a:srgbClr val="374151"/>
                </a:solidFill>
                <a:latin typeface="Inter"/>
                <a:ea typeface="Inter"/>
                <a:cs typeface="Inter"/>
                <a:sym typeface="Inter"/>
              </a:endParaRPr>
            </a:p>
          </p:txBody>
        </p:sp>
        <p:sp>
          <p:nvSpPr>
            <p:cNvPr id="488" name="Google Shape;488;p26"/>
            <p:cNvSpPr/>
            <p:nvPr/>
          </p:nvSpPr>
          <p:spPr>
            <a:xfrm>
              <a:off x="3048000" y="2819400"/>
              <a:ext cx="1619100" cy="20001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6"/>
            <p:cNvSpPr txBox="1"/>
            <p:nvPr/>
          </p:nvSpPr>
          <p:spPr>
            <a:xfrm>
              <a:off x="3048000" y="2819400"/>
              <a:ext cx="1619100" cy="2000100"/>
            </a:xfrm>
            <a:prstGeom prst="rect">
              <a:avLst/>
            </a:prstGeom>
            <a:noFill/>
            <a:ln>
              <a:noFill/>
            </a:ln>
          </p:spPr>
          <p:txBody>
            <a:bodyPr anchorCtr="0" anchor="t" bIns="95250" lIns="114300" spcFirstLastPara="1" rIns="114300" wrap="square" tIns="238125">
              <a:noAutofit/>
            </a:bodyPr>
            <a:lstStyle/>
            <a:p>
              <a:pPr indent="0" lvl="0" marL="0" rtl="0" algn="ctr">
                <a:spcBef>
                  <a:spcPts val="0"/>
                </a:spcBef>
                <a:spcAft>
                  <a:spcPts val="0"/>
                </a:spcAft>
                <a:buNone/>
              </a:pPr>
              <a:r>
                <a:rPr b="1" lang="en" sz="1100">
                  <a:solidFill>
                    <a:srgbClr val="045A36"/>
                  </a:solidFill>
                  <a:latin typeface="Montserrat"/>
                  <a:ea typeface="Montserrat"/>
                  <a:cs typeface="Montserrat"/>
                  <a:sym typeface="Montserrat"/>
                </a:rPr>
                <a:t>SMTP Server</a:t>
              </a:r>
              <a:endParaRPr b="1" sz="1100">
                <a:solidFill>
                  <a:srgbClr val="045A36"/>
                </a:solidFill>
                <a:latin typeface="Montserrat"/>
                <a:ea typeface="Montserrat"/>
                <a:cs typeface="Montserrat"/>
                <a:sym typeface="Montserrat"/>
              </a:endParaRPr>
            </a:p>
            <a:p>
              <a:pPr indent="0" lvl="0" marL="0" rtl="0" algn="ctr">
                <a:spcBef>
                  <a:spcPts val="900"/>
                </a:spcBef>
                <a:spcAft>
                  <a:spcPts val="0"/>
                </a:spcAft>
                <a:buNone/>
              </a:pPr>
              <a:r>
                <a:rPr lang="en" sz="950">
                  <a:solidFill>
                    <a:srgbClr val="374151"/>
                  </a:solidFill>
                  <a:latin typeface="Inter"/>
                  <a:ea typeface="Inter"/>
                  <a:cs typeface="Inter"/>
                  <a:sym typeface="Inter"/>
                </a:rPr>
                <a:t>Initiates a secure connection to the designated SMTP server.</a:t>
              </a:r>
              <a:endParaRPr sz="950">
                <a:solidFill>
                  <a:srgbClr val="374151"/>
                </a:solidFill>
                <a:latin typeface="Inter"/>
                <a:ea typeface="Inter"/>
                <a:cs typeface="Inter"/>
                <a:sym typeface="Inter"/>
              </a:endParaRPr>
            </a:p>
          </p:txBody>
        </p:sp>
        <p:sp>
          <p:nvSpPr>
            <p:cNvPr id="490" name="Google Shape;490;p26"/>
            <p:cNvSpPr/>
            <p:nvPr/>
          </p:nvSpPr>
          <p:spPr>
            <a:xfrm>
              <a:off x="5143500" y="2819400"/>
              <a:ext cx="1619100" cy="20001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26"/>
            <p:cNvSpPr txBox="1"/>
            <p:nvPr/>
          </p:nvSpPr>
          <p:spPr>
            <a:xfrm>
              <a:off x="5143500" y="2819400"/>
              <a:ext cx="1619100" cy="2000100"/>
            </a:xfrm>
            <a:prstGeom prst="rect">
              <a:avLst/>
            </a:prstGeom>
            <a:noFill/>
            <a:ln>
              <a:noFill/>
            </a:ln>
          </p:spPr>
          <p:txBody>
            <a:bodyPr anchorCtr="0" anchor="t" bIns="95250" lIns="114300" spcFirstLastPara="1" rIns="114300" wrap="square" tIns="238125">
              <a:noAutofit/>
            </a:bodyPr>
            <a:lstStyle/>
            <a:p>
              <a:pPr indent="0" lvl="0" marL="0" rtl="0" algn="ctr">
                <a:spcBef>
                  <a:spcPts val="0"/>
                </a:spcBef>
                <a:spcAft>
                  <a:spcPts val="0"/>
                </a:spcAft>
                <a:buNone/>
              </a:pPr>
              <a:r>
                <a:rPr b="1" lang="en" sz="1100">
                  <a:solidFill>
                    <a:srgbClr val="045A36"/>
                  </a:solidFill>
                  <a:latin typeface="Montserrat"/>
                  <a:ea typeface="Montserrat"/>
                  <a:cs typeface="Montserrat"/>
                  <a:sym typeface="Montserrat"/>
                </a:rPr>
                <a:t>Authenticate</a:t>
              </a:r>
              <a:endParaRPr b="1" sz="1100">
                <a:solidFill>
                  <a:srgbClr val="045A36"/>
                </a:solidFill>
                <a:latin typeface="Montserrat"/>
                <a:ea typeface="Montserrat"/>
                <a:cs typeface="Montserrat"/>
                <a:sym typeface="Montserrat"/>
              </a:endParaRPr>
            </a:p>
            <a:p>
              <a:pPr indent="0" lvl="0" marL="0" rtl="0" algn="ctr">
                <a:spcBef>
                  <a:spcPts val="900"/>
                </a:spcBef>
                <a:spcAft>
                  <a:spcPts val="0"/>
                </a:spcAft>
                <a:buNone/>
              </a:pPr>
              <a:r>
                <a:rPr lang="en" sz="950">
                  <a:solidFill>
                    <a:srgbClr val="374151"/>
                  </a:solidFill>
                  <a:latin typeface="Inter"/>
                  <a:ea typeface="Inter"/>
                  <a:cs typeface="Inter"/>
                  <a:sym typeface="Inter"/>
                </a:rPr>
                <a:t>Performs secure login protocols to verify connection identity.</a:t>
              </a:r>
              <a:endParaRPr sz="950">
                <a:solidFill>
                  <a:srgbClr val="374151"/>
                </a:solidFill>
                <a:latin typeface="Inter"/>
                <a:ea typeface="Inter"/>
                <a:cs typeface="Inter"/>
                <a:sym typeface="Inter"/>
              </a:endParaRPr>
            </a:p>
          </p:txBody>
        </p:sp>
        <p:sp>
          <p:nvSpPr>
            <p:cNvPr id="492" name="Google Shape;492;p26"/>
            <p:cNvSpPr/>
            <p:nvPr/>
          </p:nvSpPr>
          <p:spPr>
            <a:xfrm>
              <a:off x="7334250" y="2819400"/>
              <a:ext cx="1666800" cy="2000100"/>
            </a:xfrm>
            <a:prstGeom prst="roundRect">
              <a:avLst>
                <a:gd fmla="val 3428" name="adj"/>
              </a:avLst>
            </a:prstGeom>
            <a:solidFill>
              <a:srgbClr val="FFFDF5"/>
            </a:solidFill>
            <a:ln cap="flat" cmpd="sng" w="14300">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6"/>
            <p:cNvSpPr txBox="1"/>
            <p:nvPr/>
          </p:nvSpPr>
          <p:spPr>
            <a:xfrm>
              <a:off x="7334250" y="2819400"/>
              <a:ext cx="1666800" cy="2000100"/>
            </a:xfrm>
            <a:prstGeom prst="rect">
              <a:avLst/>
            </a:prstGeom>
            <a:noFill/>
            <a:ln>
              <a:noFill/>
            </a:ln>
          </p:spPr>
          <p:txBody>
            <a:bodyPr anchorCtr="0" anchor="t" bIns="95250" lIns="114300" spcFirstLastPara="1" rIns="114300" wrap="square" tIns="238125">
              <a:noAutofit/>
            </a:bodyPr>
            <a:lstStyle/>
            <a:p>
              <a:pPr indent="0" lvl="0" marL="0" rtl="0" algn="ctr">
                <a:spcBef>
                  <a:spcPts val="0"/>
                </a:spcBef>
                <a:spcAft>
                  <a:spcPts val="0"/>
                </a:spcAft>
                <a:buNone/>
              </a:pPr>
              <a:r>
                <a:rPr b="1" lang="en" sz="1100">
                  <a:solidFill>
                    <a:srgbClr val="045A36"/>
                  </a:solidFill>
                  <a:latin typeface="Montserrat"/>
                  <a:ea typeface="Montserrat"/>
                  <a:cs typeface="Montserrat"/>
                  <a:sym typeface="Montserrat"/>
                </a:rPr>
                <a:t>Create Email</a:t>
              </a:r>
              <a:endParaRPr b="1" sz="1100">
                <a:solidFill>
                  <a:srgbClr val="045A36"/>
                </a:solidFill>
                <a:latin typeface="Montserrat"/>
                <a:ea typeface="Montserrat"/>
                <a:cs typeface="Montserrat"/>
                <a:sym typeface="Montserrat"/>
              </a:endParaRPr>
            </a:p>
            <a:p>
              <a:pPr indent="0" lvl="0" marL="0" rtl="0" algn="ctr">
                <a:spcBef>
                  <a:spcPts val="750"/>
                </a:spcBef>
                <a:spcAft>
                  <a:spcPts val="0"/>
                </a:spcAft>
                <a:buNone/>
              </a:pPr>
              <a:r>
                <a:rPr lang="en" sz="950">
                  <a:solidFill>
                    <a:srgbClr val="374151"/>
                  </a:solidFill>
                  <a:latin typeface="Inter"/>
                  <a:ea typeface="Inter"/>
                  <a:cs typeface="Inter"/>
                  <a:sym typeface="Inter"/>
                </a:rPr>
                <a:t>Meticulously constructs and formats the email payload standards.</a:t>
              </a:r>
              <a:endParaRPr sz="950">
                <a:solidFill>
                  <a:srgbClr val="374151"/>
                </a:solidFill>
                <a:latin typeface="Inter"/>
                <a:ea typeface="Inter"/>
                <a:cs typeface="Inter"/>
                <a:sym typeface="Inter"/>
              </a:endParaRPr>
            </a:p>
            <a:p>
              <a:pPr indent="0" lvl="0" marL="0" rtl="0" algn="ctr">
                <a:spcBef>
                  <a:spcPts val="1050"/>
                </a:spcBef>
                <a:spcAft>
                  <a:spcPts val="0"/>
                </a:spcAft>
                <a:buNone/>
              </a:pPr>
              <a:r>
                <a:rPr b="1" lang="en" sz="800">
                  <a:solidFill>
                    <a:srgbClr val="FFFFFF"/>
                  </a:solidFill>
                  <a:latin typeface="Inter"/>
                  <a:ea typeface="Inter"/>
                  <a:cs typeface="Inter"/>
                  <a:sym typeface="Inter"/>
                </a:rPr>
                <a:t>New Bridge</a:t>
              </a:r>
              <a:endParaRPr/>
            </a:p>
          </p:txBody>
        </p:sp>
        <p:sp>
          <p:nvSpPr>
            <p:cNvPr id="494" name="Google Shape;494;p26"/>
            <p:cNvSpPr/>
            <p:nvPr/>
          </p:nvSpPr>
          <p:spPr>
            <a:xfrm>
              <a:off x="9572625" y="2819400"/>
              <a:ext cx="1666800" cy="2000100"/>
            </a:xfrm>
            <a:prstGeom prst="roundRect">
              <a:avLst>
                <a:gd fmla="val 3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26"/>
            <p:cNvSpPr txBox="1"/>
            <p:nvPr/>
          </p:nvSpPr>
          <p:spPr>
            <a:xfrm>
              <a:off x="9572625" y="2819400"/>
              <a:ext cx="1666800" cy="2000100"/>
            </a:xfrm>
            <a:prstGeom prst="rect">
              <a:avLst/>
            </a:prstGeom>
            <a:noFill/>
            <a:ln>
              <a:noFill/>
            </a:ln>
          </p:spPr>
          <p:txBody>
            <a:bodyPr anchorCtr="0" anchor="t" bIns="95250" lIns="114300" spcFirstLastPara="1" rIns="114300" wrap="square" tIns="238125">
              <a:noAutofit/>
            </a:bodyPr>
            <a:lstStyle/>
            <a:p>
              <a:pPr indent="0" lvl="0" marL="0" rtl="0" algn="ctr">
                <a:spcBef>
                  <a:spcPts val="0"/>
                </a:spcBef>
                <a:spcAft>
                  <a:spcPts val="0"/>
                </a:spcAft>
                <a:buNone/>
              </a:pPr>
              <a:r>
                <a:rPr b="1" lang="en" sz="1100">
                  <a:solidFill>
                    <a:srgbClr val="045A36"/>
                  </a:solidFill>
                  <a:latin typeface="Montserrat"/>
                  <a:ea typeface="Montserrat"/>
                  <a:cs typeface="Montserrat"/>
                  <a:sym typeface="Montserrat"/>
                </a:rPr>
                <a:t>Send Email</a:t>
              </a:r>
              <a:endParaRPr b="1" sz="1100">
                <a:solidFill>
                  <a:srgbClr val="045A36"/>
                </a:solidFill>
                <a:latin typeface="Montserrat"/>
                <a:ea typeface="Montserrat"/>
                <a:cs typeface="Montserrat"/>
                <a:sym typeface="Montserrat"/>
              </a:endParaRPr>
            </a:p>
            <a:p>
              <a:pPr indent="0" lvl="0" marL="0" rtl="0" algn="ctr">
                <a:spcBef>
                  <a:spcPts val="900"/>
                </a:spcBef>
                <a:spcAft>
                  <a:spcPts val="0"/>
                </a:spcAft>
                <a:buNone/>
              </a:pPr>
              <a:r>
                <a:rPr lang="en" sz="950">
                  <a:solidFill>
                    <a:srgbClr val="374151"/>
                  </a:solidFill>
                  <a:latin typeface="Inter"/>
                  <a:ea typeface="Inter"/>
                  <a:cs typeface="Inter"/>
                  <a:sym typeface="Inter"/>
                </a:rPr>
                <a:t>Executes the final command to transmit content to recipient.</a:t>
              </a:r>
              <a:endParaRPr sz="950">
                <a:solidFill>
                  <a:srgbClr val="374151"/>
                </a:solidFill>
                <a:latin typeface="Inter"/>
                <a:ea typeface="Inter"/>
                <a:cs typeface="Inter"/>
                <a:sym typeface="Inter"/>
              </a:endParaRPr>
            </a:p>
          </p:txBody>
        </p:sp>
      </p:grpSp>
      <p:grpSp>
        <p:nvGrpSpPr>
          <p:cNvPr id="496" name="Google Shape;496;p26"/>
          <p:cNvGrpSpPr/>
          <p:nvPr/>
        </p:nvGrpSpPr>
        <p:grpSpPr>
          <a:xfrm>
            <a:off x="1619250" y="2676525"/>
            <a:ext cx="8929838" cy="285900"/>
            <a:chOff x="1619250" y="2676525"/>
            <a:chExt cx="8929838" cy="285900"/>
          </a:xfrm>
        </p:grpSpPr>
        <p:sp>
          <p:nvSpPr>
            <p:cNvPr id="497" name="Google Shape;497;p26"/>
            <p:cNvSpPr/>
            <p:nvPr/>
          </p:nvSpPr>
          <p:spPr>
            <a:xfrm>
              <a:off x="1619250" y="2676525"/>
              <a:ext cx="285900" cy="2859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26"/>
            <p:cNvSpPr txBox="1"/>
            <p:nvPr/>
          </p:nvSpPr>
          <p:spPr>
            <a:xfrm>
              <a:off x="1619250" y="267652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Inter"/>
                  <a:ea typeface="Inter"/>
                  <a:cs typeface="Inter"/>
                  <a:sym typeface="Inter"/>
                </a:rPr>
                <a:t>1</a:t>
              </a:r>
              <a:endParaRPr b="1" sz="1100">
                <a:solidFill>
                  <a:srgbClr val="FFFFFF"/>
                </a:solidFill>
                <a:latin typeface="Inter"/>
                <a:ea typeface="Inter"/>
                <a:cs typeface="Inter"/>
                <a:sym typeface="Inter"/>
              </a:endParaRPr>
            </a:p>
          </p:txBody>
        </p:sp>
        <p:sp>
          <p:nvSpPr>
            <p:cNvPr id="499" name="Google Shape;499;p26"/>
            <p:cNvSpPr/>
            <p:nvPr/>
          </p:nvSpPr>
          <p:spPr>
            <a:xfrm>
              <a:off x="3714750" y="2676525"/>
              <a:ext cx="285900" cy="2859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26"/>
            <p:cNvSpPr txBox="1"/>
            <p:nvPr/>
          </p:nvSpPr>
          <p:spPr>
            <a:xfrm>
              <a:off x="3714750" y="267652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Inter"/>
                  <a:ea typeface="Inter"/>
                  <a:cs typeface="Inter"/>
                  <a:sym typeface="Inter"/>
                </a:rPr>
                <a:t>2</a:t>
              </a:r>
              <a:endParaRPr b="1" sz="1100">
                <a:solidFill>
                  <a:srgbClr val="FFFFFF"/>
                </a:solidFill>
                <a:latin typeface="Inter"/>
                <a:ea typeface="Inter"/>
                <a:cs typeface="Inter"/>
                <a:sym typeface="Inter"/>
              </a:endParaRPr>
            </a:p>
          </p:txBody>
        </p:sp>
        <p:sp>
          <p:nvSpPr>
            <p:cNvPr id="501" name="Google Shape;501;p26"/>
            <p:cNvSpPr/>
            <p:nvPr/>
          </p:nvSpPr>
          <p:spPr>
            <a:xfrm>
              <a:off x="5810250" y="2676525"/>
              <a:ext cx="285900" cy="2859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26"/>
            <p:cNvSpPr txBox="1"/>
            <p:nvPr/>
          </p:nvSpPr>
          <p:spPr>
            <a:xfrm>
              <a:off x="5810250" y="267652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Inter"/>
                  <a:ea typeface="Inter"/>
                  <a:cs typeface="Inter"/>
                  <a:sym typeface="Inter"/>
                </a:rPr>
                <a:t>3</a:t>
              </a:r>
              <a:endParaRPr b="1" sz="1100">
                <a:solidFill>
                  <a:srgbClr val="FFFFFF"/>
                </a:solidFill>
                <a:latin typeface="Inter"/>
                <a:ea typeface="Inter"/>
                <a:cs typeface="Inter"/>
                <a:sym typeface="Inter"/>
              </a:endParaRPr>
            </a:p>
          </p:txBody>
        </p:sp>
        <p:sp>
          <p:nvSpPr>
            <p:cNvPr id="503" name="Google Shape;503;p26"/>
            <p:cNvSpPr/>
            <p:nvPr/>
          </p:nvSpPr>
          <p:spPr>
            <a:xfrm>
              <a:off x="8024813" y="2676525"/>
              <a:ext cx="285900" cy="285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26"/>
            <p:cNvSpPr txBox="1"/>
            <p:nvPr/>
          </p:nvSpPr>
          <p:spPr>
            <a:xfrm>
              <a:off x="8024813" y="267652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Inter"/>
                  <a:ea typeface="Inter"/>
                  <a:cs typeface="Inter"/>
                  <a:sym typeface="Inter"/>
                </a:rPr>
                <a:t>4</a:t>
              </a:r>
              <a:endParaRPr b="1" sz="1100">
                <a:solidFill>
                  <a:srgbClr val="FFFFFF"/>
                </a:solidFill>
                <a:latin typeface="Inter"/>
                <a:ea typeface="Inter"/>
                <a:cs typeface="Inter"/>
                <a:sym typeface="Inter"/>
              </a:endParaRPr>
            </a:p>
          </p:txBody>
        </p:sp>
        <p:sp>
          <p:nvSpPr>
            <p:cNvPr id="505" name="Google Shape;505;p26"/>
            <p:cNvSpPr/>
            <p:nvPr/>
          </p:nvSpPr>
          <p:spPr>
            <a:xfrm>
              <a:off x="10263188" y="2676525"/>
              <a:ext cx="285900" cy="2859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26"/>
            <p:cNvSpPr txBox="1"/>
            <p:nvPr/>
          </p:nvSpPr>
          <p:spPr>
            <a:xfrm>
              <a:off x="10263188" y="267652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Inter"/>
                  <a:ea typeface="Inter"/>
                  <a:cs typeface="Inter"/>
                  <a:sym typeface="Inter"/>
                </a:rPr>
                <a:t>5</a:t>
              </a:r>
              <a:endParaRPr b="1" sz="1100">
                <a:solidFill>
                  <a:srgbClr val="FFFFFF"/>
                </a:solidFill>
                <a:latin typeface="Inter"/>
                <a:ea typeface="Inter"/>
                <a:cs typeface="Inter"/>
                <a:sym typeface="Inter"/>
              </a:endParaRPr>
            </a:p>
          </p:txBody>
        </p:sp>
      </p:grpSp>
      <p:grpSp>
        <p:nvGrpSpPr>
          <p:cNvPr id="507" name="Google Shape;507;p26"/>
          <p:cNvGrpSpPr/>
          <p:nvPr/>
        </p:nvGrpSpPr>
        <p:grpSpPr>
          <a:xfrm>
            <a:off x="2590800" y="3748088"/>
            <a:ext cx="6972375" cy="142800"/>
            <a:chOff x="2590800" y="3748088"/>
            <a:chExt cx="6972375" cy="142800"/>
          </a:xfrm>
        </p:grpSpPr>
        <p:pic>
          <p:nvPicPr>
            <p:cNvPr id="508" name="Google Shape;508;p26"/>
            <p:cNvPicPr preferRelativeResize="0"/>
            <p:nvPr/>
          </p:nvPicPr>
          <p:blipFill rotWithShape="1">
            <a:blip r:embed="rId6">
              <a:alphaModFix/>
            </a:blip>
            <a:srcRect b="0" l="0" r="0" t="0"/>
            <a:stretch/>
          </p:blipFill>
          <p:spPr>
            <a:xfrm>
              <a:off x="2590800" y="3771900"/>
              <a:ext cx="447600" cy="95400"/>
            </a:xfrm>
            <a:prstGeom prst="rect">
              <a:avLst/>
            </a:prstGeom>
            <a:noFill/>
            <a:ln>
              <a:noFill/>
            </a:ln>
          </p:spPr>
        </p:pic>
        <p:pic>
          <p:nvPicPr>
            <p:cNvPr id="509" name="Google Shape;509;p26"/>
            <p:cNvPicPr preferRelativeResize="0"/>
            <p:nvPr/>
          </p:nvPicPr>
          <p:blipFill rotWithShape="1">
            <a:blip r:embed="rId6">
              <a:alphaModFix/>
            </a:blip>
            <a:srcRect b="0" l="0" r="0" t="0"/>
            <a:stretch/>
          </p:blipFill>
          <p:spPr>
            <a:xfrm>
              <a:off x="4686300" y="3771900"/>
              <a:ext cx="447600" cy="95400"/>
            </a:xfrm>
            <a:prstGeom prst="rect">
              <a:avLst/>
            </a:prstGeom>
            <a:noFill/>
            <a:ln>
              <a:noFill/>
            </a:ln>
          </p:spPr>
        </p:pic>
        <p:pic>
          <p:nvPicPr>
            <p:cNvPr id="510" name="Google Shape;510;p26"/>
            <p:cNvPicPr preferRelativeResize="0"/>
            <p:nvPr/>
          </p:nvPicPr>
          <p:blipFill rotWithShape="1">
            <a:blip r:embed="rId7">
              <a:alphaModFix/>
            </a:blip>
            <a:srcRect b="0" l="0" r="0" t="0"/>
            <a:stretch/>
          </p:blipFill>
          <p:spPr>
            <a:xfrm>
              <a:off x="6781800" y="3748088"/>
              <a:ext cx="561900" cy="142800"/>
            </a:xfrm>
            <a:prstGeom prst="rect">
              <a:avLst/>
            </a:prstGeom>
            <a:noFill/>
            <a:ln>
              <a:noFill/>
            </a:ln>
          </p:spPr>
        </p:pic>
        <p:pic>
          <p:nvPicPr>
            <p:cNvPr id="511" name="Google Shape;511;p26"/>
            <p:cNvPicPr preferRelativeResize="0"/>
            <p:nvPr/>
          </p:nvPicPr>
          <p:blipFill rotWithShape="1">
            <a:blip r:embed="rId8">
              <a:alphaModFix/>
            </a:blip>
            <a:srcRect b="0" l="0" r="0" t="0"/>
            <a:stretch/>
          </p:blipFill>
          <p:spPr>
            <a:xfrm>
              <a:off x="9020175" y="3771900"/>
              <a:ext cx="543000" cy="95400"/>
            </a:xfrm>
            <a:prstGeom prst="rect">
              <a:avLst/>
            </a:prstGeom>
            <a:noFill/>
            <a:ln>
              <a:noFill/>
            </a:ln>
          </p:spPr>
        </p:pic>
      </p:grpSp>
      <p:grpSp>
        <p:nvGrpSpPr>
          <p:cNvPr id="512" name="Google Shape;512;p26"/>
          <p:cNvGrpSpPr/>
          <p:nvPr/>
        </p:nvGrpSpPr>
        <p:grpSpPr>
          <a:xfrm>
            <a:off x="762000" y="5457825"/>
            <a:ext cx="11049000" cy="1019400"/>
            <a:chOff x="762000" y="5457825"/>
            <a:chExt cx="11049000" cy="1019400"/>
          </a:xfrm>
        </p:grpSpPr>
        <p:pic>
          <p:nvPicPr>
            <p:cNvPr id="513" name="Google Shape;513;p26"/>
            <p:cNvPicPr preferRelativeResize="0"/>
            <p:nvPr/>
          </p:nvPicPr>
          <p:blipFill rotWithShape="1">
            <a:blip r:embed="rId9">
              <a:alphaModFix/>
            </a:blip>
            <a:srcRect b="0" l="0" r="0" t="0"/>
            <a:stretch/>
          </p:blipFill>
          <p:spPr>
            <a:xfrm>
              <a:off x="762000" y="5981700"/>
              <a:ext cx="10668000" cy="304800"/>
            </a:xfrm>
            <a:prstGeom prst="rect">
              <a:avLst/>
            </a:prstGeom>
            <a:noFill/>
            <a:ln>
              <a:noFill/>
            </a:ln>
          </p:spPr>
        </p:pic>
        <p:sp>
          <p:nvSpPr>
            <p:cNvPr id="514" name="Google Shape;514;p26"/>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515" name="Google Shape;515;p26"/>
            <p:cNvPicPr preferRelativeResize="0"/>
            <p:nvPr/>
          </p:nvPicPr>
          <p:blipFill rotWithShape="1">
            <a:blip r:embed="rId10">
              <a:alphaModFix/>
            </a:blip>
            <a:srcRect b="0" l="10" r="0" t="0"/>
            <a:stretch/>
          </p:blipFill>
          <p:spPr>
            <a:xfrm>
              <a:off x="10287000" y="5457825"/>
              <a:ext cx="1524000" cy="10194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7"/>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21" name="Google Shape;521;p27"/>
          <p:cNvPicPr preferRelativeResize="0"/>
          <p:nvPr/>
        </p:nvPicPr>
        <p:blipFill rotWithShape="1">
          <a:blip r:embed="rId3">
            <a:alphaModFix/>
          </a:blip>
          <a:srcRect b="0" l="130" r="130" t="0"/>
          <a:stretch/>
        </p:blipFill>
        <p:spPr>
          <a:xfrm>
            <a:off x="0" y="0"/>
            <a:ext cx="12192000" cy="57300"/>
          </a:xfrm>
          <a:prstGeom prst="rect">
            <a:avLst/>
          </a:prstGeom>
          <a:noFill/>
          <a:ln>
            <a:noFill/>
          </a:ln>
        </p:spPr>
      </p:pic>
      <p:sp>
        <p:nvSpPr>
          <p:cNvPr id="522" name="Google Shape;522;p2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27"/>
          <p:cNvSpPr/>
          <p:nvPr/>
        </p:nvSpPr>
        <p:spPr>
          <a:xfrm>
            <a:off x="6086475" y="1524000"/>
            <a:ext cx="19200" cy="4000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27"/>
          <p:cNvSpPr txBox="1"/>
          <p:nvPr/>
        </p:nvSpPr>
        <p:spPr>
          <a:xfrm>
            <a:off x="762000" y="523875"/>
            <a:ext cx="1066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45A36"/>
                </a:solidFill>
                <a:latin typeface="Montserrat SemiBold"/>
                <a:ea typeface="Montserrat SemiBold"/>
                <a:cs typeface="Montserrat SemiBold"/>
                <a:sym typeface="Montserrat SemiBold"/>
              </a:rPr>
              <a:t>Standard Emails Consist of Structured Headers and a Main Body</a:t>
            </a:r>
            <a:endParaRPr b="0" sz="2400">
              <a:solidFill>
                <a:srgbClr val="045A36"/>
              </a:solidFill>
              <a:latin typeface="Montserrat SemiBold"/>
              <a:ea typeface="Montserrat SemiBold"/>
              <a:cs typeface="Montserrat SemiBold"/>
              <a:sym typeface="Montserrat SemiBold"/>
            </a:endParaRPr>
          </a:p>
        </p:txBody>
      </p:sp>
      <p:sp>
        <p:nvSpPr>
          <p:cNvPr id="525" name="Google Shape;525;p27"/>
          <p:cNvSpPr txBox="1"/>
          <p:nvPr/>
        </p:nvSpPr>
        <p:spPr>
          <a:xfrm>
            <a:off x="762000" y="1381125"/>
            <a:ext cx="49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374151"/>
                </a:solidFill>
                <a:latin typeface="Inter"/>
                <a:ea typeface="Inter"/>
                <a:cs typeface="Inter"/>
                <a:sym typeface="Inter"/>
              </a:rPr>
              <a:t>To build an email programmatically, we must understand its basic anatomy. Every standard email is divided into structured components.</a:t>
            </a:r>
            <a:endParaRPr sz="1300">
              <a:solidFill>
                <a:srgbClr val="374151"/>
              </a:solidFill>
              <a:latin typeface="Inter"/>
              <a:ea typeface="Inter"/>
              <a:cs typeface="Inter"/>
              <a:sym typeface="Inter"/>
            </a:endParaRPr>
          </a:p>
        </p:txBody>
      </p:sp>
      <p:grpSp>
        <p:nvGrpSpPr>
          <p:cNvPr id="526" name="Google Shape;526;p27"/>
          <p:cNvGrpSpPr/>
          <p:nvPr/>
        </p:nvGrpSpPr>
        <p:grpSpPr>
          <a:xfrm>
            <a:off x="762000" y="2143125"/>
            <a:ext cx="4953000" cy="1619100"/>
            <a:chOff x="0" y="0"/>
            <a:chExt cx="4953000" cy="1619100"/>
          </a:xfrm>
        </p:grpSpPr>
        <p:sp>
          <p:nvSpPr>
            <p:cNvPr id="527" name="Google Shape;527;p27"/>
            <p:cNvSpPr/>
            <p:nvPr/>
          </p:nvSpPr>
          <p:spPr>
            <a:xfrm>
              <a:off x="0" y="0"/>
              <a:ext cx="4953000" cy="1619100"/>
            </a:xfrm>
            <a:prstGeom prst="roundRect">
              <a:avLst>
                <a:gd fmla="val 5882"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27"/>
            <p:cNvSpPr/>
            <p:nvPr/>
          </p:nvSpPr>
          <p:spPr>
            <a:xfrm>
              <a:off x="0" y="0"/>
              <a:ext cx="49530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27"/>
            <p:cNvSpPr txBox="1"/>
            <p:nvPr/>
          </p:nvSpPr>
          <p:spPr>
            <a:xfrm>
              <a:off x="238125" y="190500"/>
              <a:ext cx="4476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45A36"/>
                  </a:solidFill>
                  <a:latin typeface="Montserrat"/>
                  <a:ea typeface="Montserrat"/>
                  <a:cs typeface="Montserrat"/>
                  <a:sym typeface="Montserrat"/>
                </a:rPr>
                <a:t>Routing Headers (Metadata)</a:t>
              </a:r>
              <a:endParaRPr b="1" sz="1250">
                <a:solidFill>
                  <a:srgbClr val="045A36"/>
                </a:solidFill>
                <a:latin typeface="Montserrat"/>
                <a:ea typeface="Montserrat"/>
                <a:cs typeface="Montserrat"/>
                <a:sym typeface="Montserrat"/>
              </a:endParaRPr>
            </a:p>
          </p:txBody>
        </p:sp>
        <p:grpSp>
          <p:nvGrpSpPr>
            <p:cNvPr id="530" name="Google Shape;530;p27"/>
            <p:cNvGrpSpPr/>
            <p:nvPr/>
          </p:nvGrpSpPr>
          <p:grpSpPr>
            <a:xfrm>
              <a:off x="238125" y="523875"/>
              <a:ext cx="4476750" cy="952650"/>
              <a:chOff x="0" y="0"/>
              <a:chExt cx="4476750" cy="952650"/>
            </a:xfrm>
          </p:grpSpPr>
          <p:grpSp>
            <p:nvGrpSpPr>
              <p:cNvPr id="531" name="Google Shape;531;p27"/>
              <p:cNvGrpSpPr/>
              <p:nvPr/>
            </p:nvGrpSpPr>
            <p:grpSpPr>
              <a:xfrm>
                <a:off x="0" y="0"/>
                <a:ext cx="4476750" cy="285900"/>
                <a:chOff x="0" y="0"/>
                <a:chExt cx="4476750" cy="285900"/>
              </a:xfrm>
            </p:grpSpPr>
            <p:grpSp>
              <p:nvGrpSpPr>
                <p:cNvPr id="532" name="Google Shape;532;p27"/>
                <p:cNvGrpSpPr/>
                <p:nvPr/>
              </p:nvGrpSpPr>
              <p:grpSpPr>
                <a:xfrm>
                  <a:off x="0" y="19050"/>
                  <a:ext cx="190500" cy="190500"/>
                  <a:chOff x="0" y="0"/>
                  <a:chExt cx="190500" cy="190500"/>
                </a:xfrm>
              </p:grpSpPr>
              <p:sp>
                <p:nvSpPr>
                  <p:cNvPr id="533" name="Google Shape;533;p2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27"/>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35" name="Google Shape;535;p27"/>
                <p:cNvSpPr txBox="1"/>
                <p:nvPr/>
              </p:nvSpPr>
              <p:spPr>
                <a:xfrm>
                  <a:off x="285750" y="0"/>
                  <a:ext cx="419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From:</a:t>
                  </a:r>
                  <a:r>
                    <a:rPr lang="en" sz="1150">
                      <a:solidFill>
                        <a:srgbClr val="374151"/>
                      </a:solidFill>
                      <a:latin typeface="Inter"/>
                      <a:ea typeface="Inter"/>
                      <a:cs typeface="Inter"/>
                      <a:sym typeface="Inter"/>
                    </a:rPr>
                    <a:t> </a:t>
                  </a:r>
                  <a:r>
                    <a:rPr lang="en" sz="1150">
                      <a:solidFill>
                        <a:srgbClr val="1F2937"/>
                      </a:solidFill>
                      <a:highlight>
                        <a:srgbClr val="FFFFFF"/>
                      </a:highlight>
                      <a:latin typeface="Arial"/>
                      <a:ea typeface="Arial"/>
                      <a:cs typeface="Arial"/>
                      <a:sym typeface="Arial"/>
                    </a:rPr>
                    <a:t>teacher@gmail.com</a:t>
                  </a:r>
                  <a:r>
                    <a:rPr lang="en" sz="1150">
                      <a:solidFill>
                        <a:srgbClr val="374151"/>
                      </a:solidFill>
                      <a:latin typeface="Inter"/>
                      <a:ea typeface="Inter"/>
                      <a:cs typeface="Inter"/>
                      <a:sym typeface="Inter"/>
                    </a:rPr>
                    <a:t> </a:t>
                  </a:r>
                  <a:r>
                    <a:rPr lang="en" sz="1000">
                      <a:solidFill>
                        <a:srgbClr val="6B7280"/>
                      </a:solidFill>
                      <a:latin typeface="Inter"/>
                      <a:ea typeface="Inter"/>
                      <a:cs typeface="Inter"/>
                      <a:sym typeface="Inter"/>
                    </a:rPr>
                    <a:t>(Sender's address)</a:t>
                  </a:r>
                  <a:endParaRPr sz="1150">
                    <a:solidFill>
                      <a:srgbClr val="374151"/>
                    </a:solidFill>
                    <a:latin typeface="Inter"/>
                    <a:ea typeface="Inter"/>
                    <a:cs typeface="Inter"/>
                    <a:sym typeface="Inter"/>
                  </a:endParaRPr>
                </a:p>
              </p:txBody>
            </p:sp>
          </p:grpSp>
          <p:grpSp>
            <p:nvGrpSpPr>
              <p:cNvPr id="536" name="Google Shape;536;p27"/>
              <p:cNvGrpSpPr/>
              <p:nvPr/>
            </p:nvGrpSpPr>
            <p:grpSpPr>
              <a:xfrm>
                <a:off x="0" y="333375"/>
                <a:ext cx="4476750" cy="285900"/>
                <a:chOff x="0" y="0"/>
                <a:chExt cx="4476750" cy="285900"/>
              </a:xfrm>
            </p:grpSpPr>
            <p:grpSp>
              <p:nvGrpSpPr>
                <p:cNvPr id="537" name="Google Shape;537;p27"/>
                <p:cNvGrpSpPr/>
                <p:nvPr/>
              </p:nvGrpSpPr>
              <p:grpSpPr>
                <a:xfrm>
                  <a:off x="0" y="19050"/>
                  <a:ext cx="190500" cy="190500"/>
                  <a:chOff x="0" y="0"/>
                  <a:chExt cx="190500" cy="190500"/>
                </a:xfrm>
              </p:grpSpPr>
              <p:sp>
                <p:nvSpPr>
                  <p:cNvPr id="538" name="Google Shape;538;p2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27"/>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40" name="Google Shape;540;p27"/>
                <p:cNvSpPr txBox="1"/>
                <p:nvPr/>
              </p:nvSpPr>
              <p:spPr>
                <a:xfrm>
                  <a:off x="285750" y="0"/>
                  <a:ext cx="419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To:</a:t>
                  </a:r>
                  <a:r>
                    <a:rPr lang="en" sz="1150">
                      <a:solidFill>
                        <a:srgbClr val="374151"/>
                      </a:solidFill>
                      <a:latin typeface="Inter"/>
                      <a:ea typeface="Inter"/>
                      <a:cs typeface="Inter"/>
                      <a:sym typeface="Inter"/>
                    </a:rPr>
                    <a:t> </a:t>
                  </a:r>
                  <a:r>
                    <a:rPr lang="en" sz="1150">
                      <a:solidFill>
                        <a:srgbClr val="1F2937"/>
                      </a:solidFill>
                      <a:highlight>
                        <a:srgbClr val="FFFFFF"/>
                      </a:highlight>
                      <a:latin typeface="Arial"/>
                      <a:ea typeface="Arial"/>
                      <a:cs typeface="Arial"/>
                      <a:sym typeface="Arial"/>
                    </a:rPr>
                    <a:t>student@gmail.com</a:t>
                  </a:r>
                  <a:r>
                    <a:rPr lang="en" sz="1150">
                      <a:solidFill>
                        <a:srgbClr val="374151"/>
                      </a:solidFill>
                      <a:latin typeface="Inter"/>
                      <a:ea typeface="Inter"/>
                      <a:cs typeface="Inter"/>
                      <a:sym typeface="Inter"/>
                    </a:rPr>
                    <a:t> </a:t>
                  </a:r>
                  <a:r>
                    <a:rPr lang="en" sz="1000">
                      <a:solidFill>
                        <a:srgbClr val="6B7280"/>
                      </a:solidFill>
                      <a:latin typeface="Inter"/>
                      <a:ea typeface="Inter"/>
                      <a:cs typeface="Inter"/>
                      <a:sym typeface="Inter"/>
                    </a:rPr>
                    <a:t>(Recipient's destination)</a:t>
                  </a:r>
                  <a:endParaRPr sz="1150">
                    <a:solidFill>
                      <a:srgbClr val="374151"/>
                    </a:solidFill>
                    <a:latin typeface="Inter"/>
                    <a:ea typeface="Inter"/>
                    <a:cs typeface="Inter"/>
                    <a:sym typeface="Inter"/>
                  </a:endParaRPr>
                </a:p>
              </p:txBody>
            </p:sp>
          </p:grpSp>
          <p:grpSp>
            <p:nvGrpSpPr>
              <p:cNvPr id="541" name="Google Shape;541;p27"/>
              <p:cNvGrpSpPr/>
              <p:nvPr/>
            </p:nvGrpSpPr>
            <p:grpSpPr>
              <a:xfrm>
                <a:off x="0" y="666750"/>
                <a:ext cx="4476750" cy="285900"/>
                <a:chOff x="0" y="0"/>
                <a:chExt cx="4476750" cy="285900"/>
              </a:xfrm>
            </p:grpSpPr>
            <p:grpSp>
              <p:nvGrpSpPr>
                <p:cNvPr id="542" name="Google Shape;542;p27"/>
                <p:cNvGrpSpPr/>
                <p:nvPr/>
              </p:nvGrpSpPr>
              <p:grpSpPr>
                <a:xfrm>
                  <a:off x="0" y="19050"/>
                  <a:ext cx="190500" cy="190500"/>
                  <a:chOff x="0" y="0"/>
                  <a:chExt cx="190500" cy="190500"/>
                </a:xfrm>
              </p:grpSpPr>
              <p:sp>
                <p:nvSpPr>
                  <p:cNvPr id="543" name="Google Shape;543;p2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27"/>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45" name="Google Shape;545;p27"/>
                <p:cNvSpPr txBox="1"/>
                <p:nvPr/>
              </p:nvSpPr>
              <p:spPr>
                <a:xfrm>
                  <a:off x="285750" y="0"/>
                  <a:ext cx="4191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Subject:</a:t>
                  </a:r>
                  <a:r>
                    <a:rPr lang="en" sz="1150">
                      <a:solidFill>
                        <a:srgbClr val="374151"/>
                      </a:solidFill>
                      <a:latin typeface="Inter"/>
                      <a:ea typeface="Inter"/>
                      <a:cs typeface="Inter"/>
                      <a:sym typeface="Inter"/>
                    </a:rPr>
                    <a:t> </a:t>
                  </a:r>
                  <a:r>
                    <a:rPr lang="en" sz="1150">
                      <a:solidFill>
                        <a:srgbClr val="1F2937"/>
                      </a:solidFill>
                      <a:highlight>
                        <a:srgbClr val="FFFFFF"/>
                      </a:highlight>
                      <a:latin typeface="Arial"/>
                      <a:ea typeface="Arial"/>
                      <a:cs typeface="Arial"/>
                      <a:sym typeface="Arial"/>
                    </a:rPr>
                    <a:t>Python Assignment</a:t>
                  </a:r>
                  <a:r>
                    <a:rPr lang="en" sz="1150">
                      <a:solidFill>
                        <a:srgbClr val="374151"/>
                      </a:solidFill>
                      <a:latin typeface="Inter"/>
                      <a:ea typeface="Inter"/>
                      <a:cs typeface="Inter"/>
                      <a:sym typeface="Inter"/>
                    </a:rPr>
                    <a:t> </a:t>
                  </a:r>
                  <a:r>
                    <a:rPr lang="en" sz="1000">
                      <a:solidFill>
                        <a:srgbClr val="6B7280"/>
                      </a:solidFill>
                      <a:latin typeface="Inter"/>
                      <a:ea typeface="Inter"/>
                      <a:cs typeface="Inter"/>
                      <a:sym typeface="Inter"/>
                    </a:rPr>
                    <a:t>(Content summary)</a:t>
                  </a:r>
                  <a:endParaRPr sz="1150">
                    <a:solidFill>
                      <a:srgbClr val="374151"/>
                    </a:solidFill>
                    <a:latin typeface="Inter"/>
                    <a:ea typeface="Inter"/>
                    <a:cs typeface="Inter"/>
                    <a:sym typeface="Inter"/>
                  </a:endParaRPr>
                </a:p>
              </p:txBody>
            </p:sp>
          </p:grpSp>
        </p:grpSp>
      </p:grpSp>
      <p:grpSp>
        <p:nvGrpSpPr>
          <p:cNvPr id="546" name="Google Shape;546;p27"/>
          <p:cNvGrpSpPr/>
          <p:nvPr/>
        </p:nvGrpSpPr>
        <p:grpSpPr>
          <a:xfrm>
            <a:off x="762000" y="3905250"/>
            <a:ext cx="4953000" cy="1095300"/>
            <a:chOff x="0" y="0"/>
            <a:chExt cx="4953000" cy="1095300"/>
          </a:xfrm>
        </p:grpSpPr>
        <p:sp>
          <p:nvSpPr>
            <p:cNvPr id="547" name="Google Shape;547;p27"/>
            <p:cNvSpPr/>
            <p:nvPr/>
          </p:nvSpPr>
          <p:spPr>
            <a:xfrm>
              <a:off x="0" y="0"/>
              <a:ext cx="4953000" cy="1095300"/>
            </a:xfrm>
            <a:prstGeom prst="roundRect">
              <a:avLst>
                <a:gd fmla="val 8695"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27"/>
            <p:cNvSpPr/>
            <p:nvPr/>
          </p:nvSpPr>
          <p:spPr>
            <a:xfrm>
              <a:off x="0" y="0"/>
              <a:ext cx="49530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27"/>
            <p:cNvSpPr txBox="1"/>
            <p:nvPr/>
          </p:nvSpPr>
          <p:spPr>
            <a:xfrm>
              <a:off x="238125" y="190500"/>
              <a:ext cx="4476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45A36"/>
                  </a:solidFill>
                  <a:latin typeface="Montserrat"/>
                  <a:ea typeface="Montserrat"/>
                  <a:cs typeface="Montserrat"/>
                  <a:sym typeface="Montserrat"/>
                </a:rPr>
                <a:t>Email Body (Payload)</a:t>
              </a:r>
              <a:endParaRPr b="1" sz="1250">
                <a:solidFill>
                  <a:srgbClr val="045A36"/>
                </a:solidFill>
                <a:latin typeface="Montserrat"/>
                <a:ea typeface="Montserrat"/>
                <a:cs typeface="Montserrat"/>
                <a:sym typeface="Montserrat"/>
              </a:endParaRPr>
            </a:p>
          </p:txBody>
        </p:sp>
        <p:sp>
          <p:nvSpPr>
            <p:cNvPr id="550" name="Google Shape;550;p27"/>
            <p:cNvSpPr txBox="1"/>
            <p:nvPr/>
          </p:nvSpPr>
          <p:spPr>
            <a:xfrm>
              <a:off x="238125" y="523875"/>
              <a:ext cx="4476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 sz="1150">
                  <a:solidFill>
                    <a:srgbClr val="1F2937"/>
                  </a:solidFill>
                  <a:highlight>
                    <a:srgbClr val="FFFFFF"/>
                  </a:highlight>
                  <a:latin typeface="Arial"/>
                  <a:ea typeface="Arial"/>
                  <a:cs typeface="Arial"/>
                  <a:sym typeface="Arial"/>
                </a:rPr>
                <a:t>"Hello Student, Your assignment has been received."</a:t>
              </a:r>
              <a:endParaRPr i="1" sz="1150">
                <a:solidFill>
                  <a:srgbClr val="1F2937"/>
                </a:solidFill>
                <a:highlight>
                  <a:srgbClr val="FFFFFF"/>
                </a:highlight>
                <a:latin typeface="Arial"/>
                <a:ea typeface="Arial"/>
                <a:cs typeface="Arial"/>
                <a:sym typeface="Arial"/>
              </a:endParaRPr>
            </a:p>
          </p:txBody>
        </p:sp>
      </p:grpSp>
      <p:sp>
        <p:nvSpPr>
          <p:cNvPr id="551" name="Google Shape;551;p27"/>
          <p:cNvSpPr txBox="1"/>
          <p:nvPr/>
        </p:nvSpPr>
        <p:spPr>
          <a:xfrm>
            <a:off x="762000" y="5095875"/>
            <a:ext cx="4953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45A36"/>
                </a:solidFill>
                <a:latin typeface="Inter SemiBold"/>
                <a:ea typeface="Inter SemiBold"/>
                <a:cs typeface="Inter SemiBold"/>
                <a:sym typeface="Inter SemiBold"/>
              </a:rPr>
              <a:t>Understanding this strict separation between headers and body is crucial for proper programmatic construction.</a:t>
            </a:r>
            <a:endParaRPr b="0" sz="1200">
              <a:solidFill>
                <a:srgbClr val="045A36"/>
              </a:solidFill>
              <a:latin typeface="Inter SemiBold"/>
              <a:ea typeface="Inter SemiBold"/>
              <a:cs typeface="Inter SemiBold"/>
              <a:sym typeface="Inter SemiBold"/>
            </a:endParaRPr>
          </a:p>
        </p:txBody>
      </p:sp>
      <p:pic>
        <p:nvPicPr>
          <p:cNvPr id="552" name="Google Shape;552;p27"/>
          <p:cNvPicPr preferRelativeResize="0"/>
          <p:nvPr/>
        </p:nvPicPr>
        <p:blipFill rotWithShape="1">
          <a:blip r:embed="rId4">
            <a:alphaModFix/>
          </a:blip>
          <a:srcRect b="50" l="0" r="0" t="40"/>
          <a:stretch/>
        </p:blipFill>
        <p:spPr>
          <a:xfrm>
            <a:off x="6477000" y="1571625"/>
            <a:ext cx="4762500" cy="3552900"/>
          </a:xfrm>
          <a:prstGeom prst="rect">
            <a:avLst/>
          </a:prstGeom>
          <a:noFill/>
          <a:ln>
            <a:noFill/>
          </a:ln>
        </p:spPr>
      </p:pic>
      <p:sp>
        <p:nvSpPr>
          <p:cNvPr id="553" name="Google Shape;553;p27"/>
          <p:cNvSpPr txBox="1"/>
          <p:nvPr/>
        </p:nvSpPr>
        <p:spPr>
          <a:xfrm>
            <a:off x="6477000" y="5286375"/>
            <a:ext cx="476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100">
                <a:solidFill>
                  <a:srgbClr val="6B7280"/>
                </a:solidFill>
                <a:latin typeface="Inter"/>
                <a:ea typeface="Inter"/>
                <a:cs typeface="Inter"/>
                <a:sym typeface="Inter"/>
              </a:rPr>
              <a:t>Physical Envelope Analogy: Mapping Sender, Recipient, and Content Payload</a:t>
            </a:r>
            <a:endParaRPr i="1" sz="1100">
              <a:solidFill>
                <a:srgbClr val="6B7280"/>
              </a:solidFill>
              <a:latin typeface="Inter"/>
              <a:ea typeface="Inter"/>
              <a:cs typeface="Inter"/>
              <a:sym typeface="Inter"/>
            </a:endParaRPr>
          </a:p>
        </p:txBody>
      </p:sp>
      <p:pic>
        <p:nvPicPr>
          <p:cNvPr id="554" name="Google Shape;554;p27"/>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555" name="Google Shape;555;p27"/>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556" name="Google Shape;556;p27"/>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0" name="Shape 560"/>
        <p:cNvGrpSpPr/>
        <p:nvPr/>
      </p:nvGrpSpPr>
      <p:grpSpPr>
        <a:xfrm>
          <a:off x="0" y="0"/>
          <a:ext cx="0" cy="0"/>
          <a:chOff x="0" y="0"/>
          <a:chExt cx="0" cy="0"/>
        </a:xfrm>
      </p:grpSpPr>
      <p:pic>
        <p:nvPicPr>
          <p:cNvPr id="561" name="Google Shape;561;p28"/>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562" name="Google Shape;562;p28"/>
          <p:cNvSpPr txBox="1"/>
          <p:nvPr/>
        </p:nvSpPr>
        <p:spPr>
          <a:xfrm>
            <a:off x="762000" y="476250"/>
            <a:ext cx="10668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20">
                <a:solidFill>
                  <a:srgbClr val="045A36"/>
                </a:solidFill>
                <a:latin typeface="Montserrat SemiBold"/>
                <a:ea typeface="Montserrat SemiBold"/>
                <a:cs typeface="Montserrat SemiBold"/>
                <a:sym typeface="Montserrat SemiBold"/>
              </a:rPr>
              <a:t>The Email Package Constructs the Message Payload for Transmission</a:t>
            </a:r>
            <a:endParaRPr b="0" sz="2498">
              <a:solidFill>
                <a:srgbClr val="045A36"/>
              </a:solidFill>
              <a:latin typeface="Montserrat SemiBold"/>
              <a:ea typeface="Montserrat SemiBold"/>
              <a:cs typeface="Montserrat SemiBold"/>
              <a:sym typeface="Montserrat SemiBold"/>
            </a:endParaRPr>
          </a:p>
        </p:txBody>
      </p:sp>
      <p:sp>
        <p:nvSpPr>
          <p:cNvPr id="563" name="Google Shape;563;p2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p28"/>
          <p:cNvSpPr txBox="1"/>
          <p:nvPr/>
        </p:nvSpPr>
        <p:spPr>
          <a:xfrm>
            <a:off x="762000" y="1257300"/>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To construct our message, we introduce a new tool: </a:t>
            </a:r>
            <a:r>
              <a:rPr b="1" lang="en" sz="1350">
                <a:solidFill>
                  <a:srgbClr val="045A36"/>
                </a:solidFill>
                <a:latin typeface="Arial"/>
                <a:ea typeface="Arial"/>
                <a:cs typeface="Arial"/>
                <a:sym typeface="Arial"/>
              </a:rPr>
              <a:t>from email.message import EmailMessage</a:t>
            </a:r>
            <a:endParaRPr b="0" sz="1350">
              <a:solidFill>
                <a:srgbClr val="374151"/>
              </a:solidFill>
              <a:latin typeface="Inter"/>
              <a:ea typeface="Inter"/>
              <a:cs typeface="Inter"/>
              <a:sym typeface="Inter"/>
            </a:endParaRPr>
          </a:p>
        </p:txBody>
      </p:sp>
      <p:sp>
        <p:nvSpPr>
          <p:cNvPr id="565" name="Google Shape;565;p28"/>
          <p:cNvSpPr/>
          <p:nvPr/>
        </p:nvSpPr>
        <p:spPr>
          <a:xfrm>
            <a:off x="6086475" y="1666875"/>
            <a:ext cx="19200" cy="37149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28"/>
          <p:cNvSpPr/>
          <p:nvPr/>
        </p:nvSpPr>
        <p:spPr>
          <a:xfrm>
            <a:off x="762000" y="1666875"/>
            <a:ext cx="4857900" cy="37149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p28"/>
          <p:cNvSpPr/>
          <p:nvPr/>
        </p:nvSpPr>
        <p:spPr>
          <a:xfrm>
            <a:off x="762000" y="1666875"/>
            <a:ext cx="48579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28"/>
          <p:cNvSpPr txBox="1"/>
          <p:nvPr/>
        </p:nvSpPr>
        <p:spPr>
          <a:xfrm>
            <a:off x="1000125" y="1857375"/>
            <a:ext cx="4381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Montserrat"/>
                <a:ea typeface="Montserrat"/>
                <a:cs typeface="Montserrat"/>
                <a:sym typeface="Montserrat"/>
              </a:rPr>
              <a:t>The email Package</a:t>
            </a:r>
            <a:endParaRPr b="1" sz="1600">
              <a:solidFill>
                <a:srgbClr val="045A36"/>
              </a:solidFill>
              <a:latin typeface="Montserrat"/>
              <a:ea typeface="Montserrat"/>
              <a:cs typeface="Montserrat"/>
              <a:sym typeface="Montserrat"/>
            </a:endParaRPr>
          </a:p>
          <a:p>
            <a:pPr indent="0" lvl="0" marL="0" rtl="0" algn="l">
              <a:spcBef>
                <a:spcPts val="300"/>
              </a:spcBef>
              <a:spcAft>
                <a:spcPts val="0"/>
              </a:spcAft>
              <a:buNone/>
            </a:pPr>
            <a:r>
              <a:rPr b="1" lang="en" sz="1050">
                <a:solidFill>
                  <a:srgbClr val="D4A017"/>
                </a:solidFill>
                <a:latin typeface="Inter"/>
                <a:ea typeface="Inter"/>
                <a:cs typeface="Inter"/>
                <a:sym typeface="Inter"/>
              </a:rPr>
              <a:t>The Letter &amp; Envelope (Data Layer)</a:t>
            </a:r>
            <a:endParaRPr b="1" sz="1050">
              <a:solidFill>
                <a:srgbClr val="D4A017"/>
              </a:solidFill>
              <a:latin typeface="Inter"/>
              <a:ea typeface="Inter"/>
              <a:cs typeface="Inter"/>
              <a:sym typeface="Inter"/>
            </a:endParaRPr>
          </a:p>
        </p:txBody>
      </p:sp>
      <p:sp>
        <p:nvSpPr>
          <p:cNvPr id="569" name="Google Shape;569;p28"/>
          <p:cNvSpPr txBox="1"/>
          <p:nvPr/>
        </p:nvSpPr>
        <p:spPr>
          <a:xfrm>
            <a:off x="1000125" y="2476500"/>
            <a:ext cx="4381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Responsible for the data layer. It is responsible for creating, formatting, and structuring the actual email message content.</a:t>
            </a:r>
            <a:endParaRPr b="0" sz="1250">
              <a:solidFill>
                <a:srgbClr val="374151"/>
              </a:solidFill>
              <a:latin typeface="Inter"/>
              <a:ea typeface="Inter"/>
              <a:cs typeface="Inter"/>
              <a:sym typeface="Inter"/>
            </a:endParaRPr>
          </a:p>
        </p:txBody>
      </p:sp>
      <p:grpSp>
        <p:nvGrpSpPr>
          <p:cNvPr id="570" name="Google Shape;570;p28"/>
          <p:cNvGrpSpPr/>
          <p:nvPr/>
        </p:nvGrpSpPr>
        <p:grpSpPr>
          <a:xfrm>
            <a:off x="1000125" y="3448050"/>
            <a:ext cx="190500" cy="190500"/>
            <a:chOff x="0" y="0"/>
            <a:chExt cx="190500" cy="190500"/>
          </a:xfrm>
        </p:grpSpPr>
        <p:sp>
          <p:nvSpPr>
            <p:cNvPr id="571" name="Google Shape;571;p2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73" name="Google Shape;573;p28"/>
          <p:cNvSpPr txBox="1"/>
          <p:nvPr/>
        </p:nvSpPr>
        <p:spPr>
          <a:xfrm>
            <a:off x="1285875" y="3381375"/>
            <a:ext cx="4048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Acts as the digital envelope and letter</a:t>
            </a:r>
            <a:endParaRPr b="0" sz="1250">
              <a:solidFill>
                <a:srgbClr val="374151"/>
              </a:solidFill>
              <a:latin typeface="Inter"/>
              <a:ea typeface="Inter"/>
              <a:cs typeface="Inter"/>
              <a:sym typeface="Inter"/>
            </a:endParaRPr>
          </a:p>
        </p:txBody>
      </p:sp>
      <p:grpSp>
        <p:nvGrpSpPr>
          <p:cNvPr id="574" name="Google Shape;574;p28"/>
          <p:cNvGrpSpPr/>
          <p:nvPr/>
        </p:nvGrpSpPr>
        <p:grpSpPr>
          <a:xfrm>
            <a:off x="1000125" y="3971925"/>
            <a:ext cx="190500" cy="190500"/>
            <a:chOff x="0" y="0"/>
            <a:chExt cx="190500" cy="190500"/>
          </a:xfrm>
        </p:grpSpPr>
        <p:sp>
          <p:nvSpPr>
            <p:cNvPr id="575" name="Google Shape;575;p2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77" name="Google Shape;577;p28"/>
          <p:cNvSpPr txBox="1"/>
          <p:nvPr/>
        </p:nvSpPr>
        <p:spPr>
          <a:xfrm>
            <a:off x="1285875" y="3905250"/>
            <a:ext cx="4048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Sets up message content, headers, and body structure</a:t>
            </a:r>
            <a:endParaRPr b="0" sz="1250">
              <a:solidFill>
                <a:srgbClr val="374151"/>
              </a:solidFill>
              <a:latin typeface="Inter"/>
              <a:ea typeface="Inter"/>
              <a:cs typeface="Inter"/>
              <a:sym typeface="Inter"/>
            </a:endParaRPr>
          </a:p>
        </p:txBody>
      </p:sp>
      <p:sp>
        <p:nvSpPr>
          <p:cNvPr id="578" name="Google Shape;578;p28"/>
          <p:cNvSpPr/>
          <p:nvPr/>
        </p:nvSpPr>
        <p:spPr>
          <a:xfrm>
            <a:off x="6572250" y="1666875"/>
            <a:ext cx="4857900" cy="37149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28"/>
          <p:cNvSpPr/>
          <p:nvPr/>
        </p:nvSpPr>
        <p:spPr>
          <a:xfrm>
            <a:off x="6572250" y="1666875"/>
            <a:ext cx="48579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28"/>
          <p:cNvSpPr txBox="1"/>
          <p:nvPr/>
        </p:nvSpPr>
        <p:spPr>
          <a:xfrm>
            <a:off x="6810375" y="1857375"/>
            <a:ext cx="4381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Montserrat"/>
                <a:ea typeface="Montserrat"/>
                <a:cs typeface="Montserrat"/>
                <a:sym typeface="Montserrat"/>
              </a:rPr>
              <a:t>The smtplib Module</a:t>
            </a:r>
            <a:endParaRPr b="1" sz="1600">
              <a:solidFill>
                <a:srgbClr val="045A36"/>
              </a:solidFill>
              <a:latin typeface="Montserrat"/>
              <a:ea typeface="Montserrat"/>
              <a:cs typeface="Montserrat"/>
              <a:sym typeface="Montserrat"/>
            </a:endParaRPr>
          </a:p>
          <a:p>
            <a:pPr indent="0" lvl="0" marL="0" rtl="0" algn="l">
              <a:spcBef>
                <a:spcPts val="300"/>
              </a:spcBef>
              <a:spcAft>
                <a:spcPts val="0"/>
              </a:spcAft>
              <a:buNone/>
            </a:pPr>
            <a:r>
              <a:rPr b="1" lang="en" sz="1050">
                <a:solidFill>
                  <a:srgbClr val="045A36"/>
                </a:solidFill>
                <a:latin typeface="Inter"/>
                <a:ea typeface="Inter"/>
                <a:cs typeface="Inter"/>
                <a:sym typeface="Inter"/>
              </a:rPr>
              <a:t>The Postal Service (Network Layer)</a:t>
            </a:r>
            <a:endParaRPr b="1" sz="1050">
              <a:solidFill>
                <a:srgbClr val="045A36"/>
              </a:solidFill>
              <a:latin typeface="Inter"/>
              <a:ea typeface="Inter"/>
              <a:cs typeface="Inter"/>
              <a:sym typeface="Inter"/>
            </a:endParaRPr>
          </a:p>
        </p:txBody>
      </p:sp>
      <p:sp>
        <p:nvSpPr>
          <p:cNvPr id="581" name="Google Shape;581;p28"/>
          <p:cNvSpPr txBox="1"/>
          <p:nvPr/>
        </p:nvSpPr>
        <p:spPr>
          <a:xfrm>
            <a:off x="6810375" y="2476500"/>
            <a:ext cx="4381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Responsible for the network layer. It communicates with SMTP servers to deliver the package over the internet.</a:t>
            </a:r>
            <a:endParaRPr b="0" sz="1250">
              <a:solidFill>
                <a:srgbClr val="374151"/>
              </a:solidFill>
              <a:latin typeface="Inter"/>
              <a:ea typeface="Inter"/>
              <a:cs typeface="Inter"/>
              <a:sym typeface="Inter"/>
            </a:endParaRPr>
          </a:p>
        </p:txBody>
      </p:sp>
      <p:grpSp>
        <p:nvGrpSpPr>
          <p:cNvPr id="582" name="Google Shape;582;p28"/>
          <p:cNvGrpSpPr/>
          <p:nvPr/>
        </p:nvGrpSpPr>
        <p:grpSpPr>
          <a:xfrm>
            <a:off x="6810375" y="3448050"/>
            <a:ext cx="190500" cy="190500"/>
            <a:chOff x="0" y="0"/>
            <a:chExt cx="190500" cy="190500"/>
          </a:xfrm>
        </p:grpSpPr>
        <p:sp>
          <p:nvSpPr>
            <p:cNvPr id="583" name="Google Shape;583;p28"/>
            <p:cNvSpPr/>
            <p:nvPr/>
          </p:nvSpPr>
          <p:spPr>
            <a:xfrm>
              <a:off x="0" y="0"/>
              <a:ext cx="190500" cy="1905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85" name="Google Shape;585;p28"/>
          <p:cNvSpPr txBox="1"/>
          <p:nvPr/>
        </p:nvSpPr>
        <p:spPr>
          <a:xfrm>
            <a:off x="7096125" y="3381375"/>
            <a:ext cx="4048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Acts as the postal service to physically handle sending</a:t>
            </a:r>
            <a:endParaRPr b="0" sz="1250">
              <a:solidFill>
                <a:srgbClr val="374151"/>
              </a:solidFill>
              <a:latin typeface="Inter"/>
              <a:ea typeface="Inter"/>
              <a:cs typeface="Inter"/>
              <a:sym typeface="Inter"/>
            </a:endParaRPr>
          </a:p>
        </p:txBody>
      </p:sp>
      <p:grpSp>
        <p:nvGrpSpPr>
          <p:cNvPr id="586" name="Google Shape;586;p28"/>
          <p:cNvGrpSpPr/>
          <p:nvPr/>
        </p:nvGrpSpPr>
        <p:grpSpPr>
          <a:xfrm>
            <a:off x="6810375" y="3971925"/>
            <a:ext cx="190500" cy="190500"/>
            <a:chOff x="0" y="0"/>
            <a:chExt cx="190500" cy="190500"/>
          </a:xfrm>
        </p:grpSpPr>
        <p:sp>
          <p:nvSpPr>
            <p:cNvPr id="587" name="Google Shape;587;p28"/>
            <p:cNvSpPr/>
            <p:nvPr/>
          </p:nvSpPr>
          <p:spPr>
            <a:xfrm>
              <a:off x="0" y="0"/>
              <a:ext cx="190500" cy="1905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89" name="Google Shape;589;p28"/>
          <p:cNvSpPr txBox="1"/>
          <p:nvPr/>
        </p:nvSpPr>
        <p:spPr>
          <a:xfrm>
            <a:off x="7096125" y="3905250"/>
            <a:ext cx="40482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Manages SMTP server connection, auth, and routing</a:t>
            </a:r>
            <a:endParaRPr b="0" sz="1250">
              <a:solidFill>
                <a:srgbClr val="374151"/>
              </a:solidFill>
              <a:latin typeface="Inter"/>
              <a:ea typeface="Inter"/>
              <a:cs typeface="Inter"/>
              <a:sym typeface="Inter"/>
            </a:endParaRPr>
          </a:p>
        </p:txBody>
      </p:sp>
      <p:pic>
        <p:nvPicPr>
          <p:cNvPr id="590" name="Google Shape;590;p28"/>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591" name="Google Shape;591;p28"/>
          <p:cNvSpPr txBox="1"/>
          <p:nvPr/>
        </p:nvSpPr>
        <p:spPr>
          <a:xfrm>
            <a:off x="762000" y="6134100"/>
            <a:ext cx="571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592" name="Google Shape;592;p28"/>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6" name="Shape 596"/>
        <p:cNvGrpSpPr/>
        <p:nvPr/>
      </p:nvGrpSpPr>
      <p:grpSpPr>
        <a:xfrm>
          <a:off x="0" y="0"/>
          <a:ext cx="0" cy="0"/>
          <a:chOff x="0" y="0"/>
          <a:chExt cx="0" cy="0"/>
        </a:xfrm>
      </p:grpSpPr>
      <p:pic>
        <p:nvPicPr>
          <p:cNvPr id="597" name="Google Shape;597;p29"/>
          <p:cNvPicPr preferRelativeResize="0"/>
          <p:nvPr/>
        </p:nvPicPr>
        <p:blipFill rotWithShape="1">
          <a:blip r:embed="rId4">
            <a:alphaModFix/>
          </a:blip>
          <a:srcRect b="0" l="130" r="130" t="0"/>
          <a:stretch/>
        </p:blipFill>
        <p:spPr>
          <a:xfrm>
            <a:off x="0" y="0"/>
            <a:ext cx="12192000" cy="57300"/>
          </a:xfrm>
          <a:prstGeom prst="rect">
            <a:avLst/>
          </a:prstGeom>
          <a:noFill/>
          <a:ln>
            <a:noFill/>
          </a:ln>
        </p:spPr>
      </p:pic>
      <p:grpSp>
        <p:nvGrpSpPr>
          <p:cNvPr id="598" name="Google Shape;598;p29"/>
          <p:cNvGrpSpPr/>
          <p:nvPr/>
        </p:nvGrpSpPr>
        <p:grpSpPr>
          <a:xfrm>
            <a:off x="762000" y="571500"/>
            <a:ext cx="9525000" cy="428700"/>
            <a:chOff x="0" y="0"/>
            <a:chExt cx="9525000" cy="428700"/>
          </a:xfrm>
        </p:grpSpPr>
        <p:sp>
          <p:nvSpPr>
            <p:cNvPr id="599" name="Google Shape;599;p29"/>
            <p:cNvSpPr/>
            <p:nvPr/>
          </p:nvSpPr>
          <p:spPr>
            <a:xfrm>
              <a:off x="0" y="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29"/>
            <p:cNvSpPr txBox="1"/>
            <p:nvPr/>
          </p:nvSpPr>
          <p:spPr>
            <a:xfrm>
              <a:off x="0" y="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0" lang="en" sz="2700">
                  <a:solidFill>
                    <a:srgbClr val="045A36"/>
                  </a:solidFill>
                  <a:latin typeface="Montserrat SemiBold"/>
                  <a:ea typeface="Montserrat SemiBold"/>
                  <a:cs typeface="Montserrat SemiBold"/>
                  <a:sym typeface="Montserrat SemiBold"/>
                </a:rPr>
                <a:t>Instantiating an EmailMessage Object</a:t>
              </a:r>
              <a:endParaRPr b="0" i="0" sz="2700">
                <a:solidFill>
                  <a:srgbClr val="045A36"/>
                </a:solidFill>
                <a:latin typeface="Montserrat SemiBold"/>
                <a:ea typeface="Montserrat SemiBold"/>
                <a:cs typeface="Montserrat SemiBold"/>
                <a:sym typeface="Montserrat SemiBold"/>
              </a:endParaRPr>
            </a:p>
          </p:txBody>
        </p:sp>
      </p:grpSp>
      <p:sp>
        <p:nvSpPr>
          <p:cNvPr id="601" name="Google Shape;601;p2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29"/>
          <p:cNvSpPr/>
          <p:nvPr/>
        </p:nvSpPr>
        <p:spPr>
          <a:xfrm>
            <a:off x="6086475" y="1524000"/>
            <a:ext cx="19200" cy="4000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29"/>
          <p:cNvSpPr txBox="1"/>
          <p:nvPr/>
        </p:nvSpPr>
        <p:spPr>
          <a:xfrm>
            <a:off x="762000" y="1524000"/>
            <a:ext cx="4762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PROGRAMMING CONCEPT</a:t>
            </a:r>
            <a:endParaRPr b="1" sz="1200">
              <a:solidFill>
                <a:srgbClr val="D4A017"/>
              </a:solidFill>
              <a:latin typeface="Inter"/>
              <a:ea typeface="Inter"/>
              <a:cs typeface="Inter"/>
              <a:sym typeface="Inter"/>
            </a:endParaRPr>
          </a:p>
        </p:txBody>
      </p:sp>
      <p:sp>
        <p:nvSpPr>
          <p:cNvPr id="604" name="Google Shape;604;p29"/>
          <p:cNvSpPr/>
          <p:nvPr/>
        </p:nvSpPr>
        <p:spPr>
          <a:xfrm>
            <a:off x="762000" y="1857375"/>
            <a:ext cx="381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5" name="Google Shape;605;p29"/>
          <p:cNvSpPr txBox="1"/>
          <p:nvPr/>
        </p:nvSpPr>
        <p:spPr>
          <a:xfrm>
            <a:off x="762000" y="2047875"/>
            <a:ext cx="4762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750">
                <a:solidFill>
                  <a:srgbClr val="1F2937"/>
                </a:solidFill>
                <a:latin typeface="Inter Medium"/>
                <a:ea typeface="Inter Medium"/>
                <a:cs typeface="Inter Medium"/>
                <a:sym typeface="Inter Medium"/>
              </a:rPr>
              <a:t>“An object is a specific instance of a class that holds structured data and the methods required to manipulate that data.”</a:t>
            </a:r>
            <a:endParaRPr b="0" i="1" sz="1750">
              <a:solidFill>
                <a:srgbClr val="1F2937"/>
              </a:solidFill>
              <a:latin typeface="Inter Medium"/>
              <a:ea typeface="Inter Medium"/>
              <a:cs typeface="Inter Medium"/>
              <a:sym typeface="Inter Medium"/>
            </a:endParaRPr>
          </a:p>
        </p:txBody>
      </p:sp>
      <p:sp>
        <p:nvSpPr>
          <p:cNvPr id="606" name="Google Shape;606;p29"/>
          <p:cNvSpPr txBox="1"/>
          <p:nvPr/>
        </p:nvSpPr>
        <p:spPr>
          <a:xfrm>
            <a:off x="762000" y="3952875"/>
            <a:ext cx="4762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50">
                <a:solidFill>
                  <a:srgbClr val="374151"/>
                </a:solidFill>
                <a:latin typeface="Inter"/>
                <a:ea typeface="Inter"/>
                <a:cs typeface="Inter"/>
                <a:sym typeface="Inter"/>
              </a:rPr>
              <a:t>In Python, the </a:t>
            </a:r>
            <a:r>
              <a:rPr b="1" lang="en" sz="1350">
                <a:solidFill>
                  <a:srgbClr val="045A36"/>
                </a:solidFill>
                <a:latin typeface="Inter"/>
                <a:ea typeface="Inter"/>
                <a:cs typeface="Inter"/>
                <a:sym typeface="Inter"/>
              </a:rPr>
              <a:t>EmailMessage</a:t>
            </a:r>
            <a:r>
              <a:rPr lang="en" sz="1350">
                <a:solidFill>
                  <a:srgbClr val="374151"/>
                </a:solidFill>
                <a:latin typeface="Inter"/>
                <a:ea typeface="Inter"/>
                <a:cs typeface="Inter"/>
                <a:sym typeface="Inter"/>
              </a:rPr>
              <a:t> is a specialized class designed to represent an email in memory, automatically handling complex internet formatting rules.</a:t>
            </a:r>
            <a:endParaRPr sz="1350">
              <a:solidFill>
                <a:srgbClr val="374151"/>
              </a:solidFill>
              <a:latin typeface="Inter"/>
              <a:ea typeface="Inter"/>
              <a:cs typeface="Inter"/>
              <a:sym typeface="Inter"/>
            </a:endParaRPr>
          </a:p>
        </p:txBody>
      </p:sp>
      <p:sp>
        <p:nvSpPr>
          <p:cNvPr id="607" name="Google Shape;607;p29"/>
          <p:cNvSpPr txBox="1"/>
          <p:nvPr/>
        </p:nvSpPr>
        <p:spPr>
          <a:xfrm>
            <a:off x="6477000" y="1524000"/>
            <a:ext cx="495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INSTANTIATION</a:t>
            </a:r>
            <a:endParaRPr b="1" sz="1200">
              <a:solidFill>
                <a:srgbClr val="D4A017"/>
              </a:solidFill>
              <a:latin typeface="Inter"/>
              <a:ea typeface="Inter"/>
              <a:cs typeface="Inter"/>
              <a:sym typeface="Inter"/>
            </a:endParaRPr>
          </a:p>
        </p:txBody>
      </p:sp>
      <p:sp>
        <p:nvSpPr>
          <p:cNvPr id="608" name="Google Shape;608;p29"/>
          <p:cNvSpPr/>
          <p:nvPr/>
        </p:nvSpPr>
        <p:spPr>
          <a:xfrm>
            <a:off x="6477000" y="1857375"/>
            <a:ext cx="381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09" name="Google Shape;609;p29"/>
          <p:cNvGrpSpPr/>
          <p:nvPr/>
        </p:nvGrpSpPr>
        <p:grpSpPr>
          <a:xfrm>
            <a:off x="6477000" y="2047875"/>
            <a:ext cx="4953000" cy="1333500"/>
            <a:chOff x="6477000" y="2047875"/>
            <a:chExt cx="4953000" cy="1333500"/>
          </a:xfrm>
        </p:grpSpPr>
        <p:sp>
          <p:nvSpPr>
            <p:cNvPr id="610" name="Google Shape;610;p29"/>
            <p:cNvSpPr/>
            <p:nvPr/>
          </p:nvSpPr>
          <p:spPr>
            <a:xfrm>
              <a:off x="6477000" y="2047875"/>
              <a:ext cx="4953000" cy="1333500"/>
            </a:xfrm>
            <a:prstGeom prst="roundRect">
              <a:avLst>
                <a:gd fmla="val 5714" name="adj"/>
              </a:avLst>
            </a:prstGeom>
            <a:solidFill>
              <a:srgbClr val="F1F5F9"/>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29"/>
            <p:cNvSpPr/>
            <p:nvPr/>
          </p:nvSpPr>
          <p:spPr>
            <a:xfrm>
              <a:off x="6477000" y="2047875"/>
              <a:ext cx="57300" cy="13335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29"/>
            <p:cNvSpPr txBox="1"/>
            <p:nvPr/>
          </p:nvSpPr>
          <p:spPr>
            <a:xfrm>
              <a:off x="6715125" y="2238375"/>
              <a:ext cx="45243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6B7280"/>
                  </a:solidFill>
                  <a:latin typeface="Courier New"/>
                  <a:ea typeface="Courier New"/>
                  <a:cs typeface="Courier New"/>
                  <a:sym typeface="Courier New"/>
                </a:rPr>
                <a:t># Create a blank, structured container</a:t>
              </a:r>
              <a:endParaRPr b="0" sz="1350">
                <a:solidFill>
                  <a:srgbClr val="6B7280"/>
                </a:solidFill>
                <a:latin typeface="Courier New"/>
                <a:ea typeface="Courier New"/>
                <a:cs typeface="Courier New"/>
                <a:sym typeface="Courier New"/>
              </a:endParaRPr>
            </a:p>
            <a:p>
              <a:pPr indent="0" lvl="0" marL="0" rtl="0" algn="l">
                <a:spcBef>
                  <a:spcPts val="750"/>
                </a:spcBef>
                <a:spcAft>
                  <a:spcPts val="0"/>
                </a:spcAft>
                <a:buNone/>
              </a:pPr>
              <a:r>
                <a:rPr b="1" lang="en" sz="1450">
                  <a:solidFill>
                    <a:srgbClr val="1F2937"/>
                  </a:solidFill>
                  <a:latin typeface="Courier New"/>
                  <a:ea typeface="Courier New"/>
                  <a:cs typeface="Courier New"/>
                  <a:sym typeface="Courier New"/>
                </a:rPr>
                <a:t>msg </a:t>
              </a:r>
              <a:r>
                <a:rPr b="1" lang="en" sz="1450">
                  <a:solidFill>
                    <a:srgbClr val="D4A017"/>
                  </a:solidFill>
                  <a:latin typeface="Courier New"/>
                  <a:ea typeface="Courier New"/>
                  <a:cs typeface="Courier New"/>
                  <a:sym typeface="Courier New"/>
                </a:rPr>
                <a:t>=</a:t>
              </a:r>
              <a:r>
                <a:rPr b="1" lang="en" sz="1450">
                  <a:solidFill>
                    <a:srgbClr val="1F2937"/>
                  </a:solidFill>
                  <a:latin typeface="Courier New"/>
                  <a:ea typeface="Courier New"/>
                  <a:cs typeface="Courier New"/>
                  <a:sym typeface="Courier New"/>
                </a:rPr>
                <a:t> </a:t>
              </a:r>
              <a:r>
                <a:rPr b="1" lang="en" sz="1450">
                  <a:solidFill>
                    <a:srgbClr val="045A36"/>
                  </a:solidFill>
                  <a:latin typeface="Courier New"/>
                  <a:ea typeface="Courier New"/>
                  <a:cs typeface="Courier New"/>
                  <a:sym typeface="Courier New"/>
                </a:rPr>
                <a:t>EmailMessage</a:t>
              </a:r>
              <a:r>
                <a:rPr b="1" lang="en" sz="1450">
                  <a:solidFill>
                    <a:srgbClr val="1F2937"/>
                  </a:solidFill>
                  <a:latin typeface="Courier New"/>
                  <a:ea typeface="Courier New"/>
                  <a:cs typeface="Courier New"/>
                  <a:sym typeface="Courier New"/>
                </a:rPr>
                <a:t>()</a:t>
              </a:r>
              <a:endParaRPr b="1" sz="1450">
                <a:solidFill>
                  <a:srgbClr val="1F2937"/>
                </a:solidFill>
                <a:latin typeface="Courier New"/>
                <a:ea typeface="Courier New"/>
                <a:cs typeface="Courier New"/>
                <a:sym typeface="Courier New"/>
              </a:endParaRPr>
            </a:p>
          </p:txBody>
        </p:sp>
      </p:grpSp>
      <p:sp>
        <p:nvSpPr>
          <p:cNvPr id="613" name="Google Shape;613;p29"/>
          <p:cNvSpPr txBox="1"/>
          <p:nvPr/>
        </p:nvSpPr>
        <p:spPr>
          <a:xfrm>
            <a:off x="6477000" y="3619500"/>
            <a:ext cx="4953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50">
                <a:solidFill>
                  <a:srgbClr val="374151"/>
                </a:solidFill>
                <a:latin typeface="Inter"/>
                <a:ea typeface="Inter"/>
                <a:cs typeface="Inter"/>
                <a:sym typeface="Inter"/>
              </a:rPr>
              <a:t>The foundation of our message construction is the instantiation of the empty object container.</a:t>
            </a:r>
            <a:endParaRPr sz="1350">
              <a:solidFill>
                <a:srgbClr val="374151"/>
              </a:solidFill>
              <a:latin typeface="Inter"/>
              <a:ea typeface="Inter"/>
              <a:cs typeface="Inter"/>
              <a:sym typeface="Inter"/>
            </a:endParaRPr>
          </a:p>
          <a:p>
            <a:pPr indent="0" lvl="0" marL="0" rtl="0" algn="l">
              <a:spcBef>
                <a:spcPts val="1125"/>
              </a:spcBef>
              <a:spcAft>
                <a:spcPts val="0"/>
              </a:spcAft>
              <a:buNone/>
            </a:pPr>
            <a:r>
              <a:rPr lang="en" sz="1350">
                <a:solidFill>
                  <a:srgbClr val="374151"/>
                </a:solidFill>
                <a:latin typeface="Inter"/>
                <a:ea typeface="Inter"/>
                <a:cs typeface="Inter"/>
                <a:sym typeface="Inter"/>
              </a:rPr>
              <a:t>By instantiating </a:t>
            </a:r>
            <a:r>
              <a:rPr b="1" lang="en" sz="1350">
                <a:solidFill>
                  <a:srgbClr val="045A36"/>
                </a:solidFill>
                <a:latin typeface="Inter"/>
                <a:ea typeface="Inter"/>
                <a:cs typeface="Inter"/>
                <a:sym typeface="Inter"/>
              </a:rPr>
              <a:t>msg</a:t>
            </a:r>
            <a:r>
              <a:rPr lang="en" sz="1350">
                <a:solidFill>
                  <a:srgbClr val="374151"/>
                </a:solidFill>
                <a:latin typeface="Inter"/>
                <a:ea typeface="Inter"/>
                <a:cs typeface="Inter"/>
                <a:sym typeface="Inter"/>
              </a:rPr>
              <a:t>, we generate an empty digital envelope where we can systematically attach our routing headers, subjects, and body text before delivery.</a:t>
            </a:r>
            <a:endParaRPr sz="1350">
              <a:solidFill>
                <a:srgbClr val="374151"/>
              </a:solidFill>
              <a:latin typeface="Inter"/>
              <a:ea typeface="Inter"/>
              <a:cs typeface="Inter"/>
              <a:sym typeface="Inter"/>
            </a:endParaRPr>
          </a:p>
        </p:txBody>
      </p:sp>
      <p:pic>
        <p:nvPicPr>
          <p:cNvPr id="614" name="Google Shape;614;p29"/>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615" name="Google Shape;615;p29"/>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616" name="Google Shape;616;p29"/>
          <p:cNvPicPr preferRelativeResize="0"/>
          <p:nvPr/>
        </p:nvPicPr>
        <p:blipFill rotWithShape="1">
          <a:blip r:embed="rId6">
            <a:alphaModFix/>
          </a:blip>
          <a:srcRect b="0" l="10" r="0" t="0"/>
          <a:stretch/>
        </p:blipFill>
        <p:spPr>
          <a:xfrm>
            <a:off x="10287000" y="5453079"/>
            <a:ext cx="1524000" cy="1019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0" name="Shape 620"/>
        <p:cNvGrpSpPr/>
        <p:nvPr/>
      </p:nvGrpSpPr>
      <p:grpSpPr>
        <a:xfrm>
          <a:off x="0" y="0"/>
          <a:ext cx="0" cy="0"/>
          <a:chOff x="0" y="0"/>
          <a:chExt cx="0" cy="0"/>
        </a:xfrm>
      </p:grpSpPr>
      <p:pic>
        <p:nvPicPr>
          <p:cNvPr id="621" name="Google Shape;621;p30"/>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622" name="Google Shape;622;p3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30"/>
          <p:cNvSpPr/>
          <p:nvPr/>
        </p:nvSpPr>
        <p:spPr>
          <a:xfrm>
            <a:off x="6086475" y="1524000"/>
            <a:ext cx="19200" cy="4000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24" name="Google Shape;624;p30"/>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625" name="Google Shape;625;p30"/>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626" name="Google Shape;626;p30"/>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grpSp>
        <p:nvGrpSpPr>
          <p:cNvPr id="627" name="Google Shape;627;p30"/>
          <p:cNvGrpSpPr/>
          <p:nvPr/>
        </p:nvGrpSpPr>
        <p:grpSpPr>
          <a:xfrm>
            <a:off x="762000" y="476250"/>
            <a:ext cx="10668000" cy="619200"/>
            <a:chOff x="0" y="0"/>
            <a:chExt cx="10668000" cy="619200"/>
          </a:xfrm>
        </p:grpSpPr>
        <p:sp>
          <p:nvSpPr>
            <p:cNvPr id="628" name="Google Shape;628;p30"/>
            <p:cNvSpPr/>
            <p:nvPr/>
          </p:nvSpPr>
          <p:spPr>
            <a:xfrm>
              <a:off x="0" y="0"/>
              <a:ext cx="10668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30"/>
            <p:cNvSpPr txBox="1"/>
            <p:nvPr/>
          </p:nvSpPr>
          <p:spPr>
            <a:xfrm>
              <a:off x="0" y="0"/>
              <a:ext cx="10668000" cy="619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943">
                  <a:solidFill>
                    <a:srgbClr val="045A36"/>
                  </a:solidFill>
                  <a:latin typeface="Montserrat SemiBold"/>
                  <a:ea typeface="Montserrat SemiBold"/>
                  <a:cs typeface="Montserrat SemiBold"/>
                  <a:sym typeface="Montserrat SemiBold"/>
                </a:rPr>
                <a:t>Dictionary Syntax Assigns Critical Routing Information to the Message Headers</a:t>
              </a:r>
              <a:endParaRPr b="0" sz="1943">
                <a:solidFill>
                  <a:srgbClr val="045A36"/>
                </a:solidFill>
                <a:latin typeface="Montserrat SemiBold"/>
                <a:ea typeface="Montserrat SemiBold"/>
                <a:cs typeface="Montserrat SemiBold"/>
                <a:sym typeface="Montserrat SemiBold"/>
              </a:endParaRPr>
            </a:p>
          </p:txBody>
        </p:sp>
      </p:grpSp>
      <p:sp>
        <p:nvSpPr>
          <p:cNvPr id="630" name="Google Shape;630;p30"/>
          <p:cNvSpPr/>
          <p:nvPr/>
        </p:nvSpPr>
        <p:spPr>
          <a:xfrm>
            <a:off x="762000" y="1524000"/>
            <a:ext cx="4953000" cy="1428900"/>
          </a:xfrm>
          <a:prstGeom prst="roundRect">
            <a:avLst>
              <a:gd fmla="val 5333"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30"/>
          <p:cNvSpPr/>
          <p:nvPr/>
        </p:nvSpPr>
        <p:spPr>
          <a:xfrm>
            <a:off x="762000" y="1524000"/>
            <a:ext cx="57300" cy="1428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30"/>
          <p:cNvSpPr txBox="1"/>
          <p:nvPr/>
        </p:nvSpPr>
        <p:spPr>
          <a:xfrm>
            <a:off x="904875" y="1571625"/>
            <a:ext cx="46674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1150">
                <a:solidFill>
                  <a:srgbClr val="6B7280"/>
                </a:solidFill>
                <a:latin typeface="Consolas"/>
                <a:ea typeface="Consolas"/>
                <a:cs typeface="Consolas"/>
                <a:sym typeface="Consolas"/>
              </a:rPr>
              <a:t># Populate header fields</a:t>
            </a:r>
            <a:endParaRPr i="1" sz="1150">
              <a:solidFill>
                <a:srgbClr val="6B7280"/>
              </a:solidFill>
              <a:latin typeface="Consolas"/>
              <a:ea typeface="Consolas"/>
              <a:cs typeface="Consolas"/>
              <a:sym typeface="Consolas"/>
            </a:endParaRPr>
          </a:p>
          <a:p>
            <a:pPr indent="0" lvl="0" marL="0" rtl="0" algn="l">
              <a:spcBef>
                <a:spcPts val="450"/>
              </a:spcBef>
              <a:spcAft>
                <a:spcPts val="0"/>
              </a:spcAft>
              <a:buNone/>
            </a:pPr>
            <a:r>
              <a:rPr lang="en" sz="1150">
                <a:solidFill>
                  <a:srgbClr val="1F2937"/>
                </a:solidFill>
                <a:latin typeface="Consolas"/>
                <a:ea typeface="Consolas"/>
                <a:cs typeface="Consolas"/>
                <a:sym typeface="Consolas"/>
              </a:rPr>
              <a:t>msg[</a:t>
            </a:r>
            <a:r>
              <a:rPr b="1" lang="en" sz="1150">
                <a:solidFill>
                  <a:srgbClr val="045A36"/>
                </a:solidFill>
                <a:latin typeface="Consolas"/>
                <a:ea typeface="Consolas"/>
                <a:cs typeface="Consolas"/>
                <a:sym typeface="Consolas"/>
              </a:rPr>
              <a:t>"From"</a:t>
            </a:r>
            <a:r>
              <a:rPr lang="en" sz="1150">
                <a:solidFill>
                  <a:srgbClr val="1F2937"/>
                </a:solidFill>
                <a:latin typeface="Consolas"/>
                <a:ea typeface="Consolas"/>
                <a:cs typeface="Consolas"/>
                <a:sym typeface="Consolas"/>
              </a:rPr>
              <a:t>] = sender_email</a:t>
            </a:r>
            <a:endParaRPr sz="1150">
              <a:solidFill>
                <a:srgbClr val="1F2937"/>
              </a:solidFill>
              <a:latin typeface="Consolas"/>
              <a:ea typeface="Consolas"/>
              <a:cs typeface="Consolas"/>
              <a:sym typeface="Consolas"/>
            </a:endParaRPr>
          </a:p>
          <a:p>
            <a:pPr indent="0" lvl="0" marL="0" rtl="0" algn="l">
              <a:spcBef>
                <a:spcPts val="450"/>
              </a:spcBef>
              <a:spcAft>
                <a:spcPts val="0"/>
              </a:spcAft>
              <a:buNone/>
            </a:pPr>
            <a:r>
              <a:rPr lang="en" sz="1150">
                <a:solidFill>
                  <a:srgbClr val="1F2937"/>
                </a:solidFill>
                <a:latin typeface="Consolas"/>
                <a:ea typeface="Consolas"/>
                <a:cs typeface="Consolas"/>
                <a:sym typeface="Consolas"/>
              </a:rPr>
              <a:t>msg[</a:t>
            </a:r>
            <a:r>
              <a:rPr b="1" lang="en" sz="1150">
                <a:solidFill>
                  <a:srgbClr val="045A36"/>
                </a:solidFill>
                <a:latin typeface="Consolas"/>
                <a:ea typeface="Consolas"/>
                <a:cs typeface="Consolas"/>
                <a:sym typeface="Consolas"/>
              </a:rPr>
              <a:t>"To"</a:t>
            </a:r>
            <a:r>
              <a:rPr lang="en" sz="1150">
                <a:solidFill>
                  <a:srgbClr val="1F2937"/>
                </a:solidFill>
                <a:latin typeface="Consolas"/>
                <a:ea typeface="Consolas"/>
                <a:cs typeface="Consolas"/>
                <a:sym typeface="Consolas"/>
              </a:rPr>
              <a:t>] = receiver_email</a:t>
            </a:r>
            <a:endParaRPr sz="1150">
              <a:solidFill>
                <a:srgbClr val="1F2937"/>
              </a:solidFill>
              <a:latin typeface="Consolas"/>
              <a:ea typeface="Consolas"/>
              <a:cs typeface="Consolas"/>
              <a:sym typeface="Consolas"/>
            </a:endParaRPr>
          </a:p>
          <a:p>
            <a:pPr indent="0" lvl="0" marL="0" rtl="0" algn="l">
              <a:spcBef>
                <a:spcPts val="450"/>
              </a:spcBef>
              <a:spcAft>
                <a:spcPts val="0"/>
              </a:spcAft>
              <a:buNone/>
            </a:pPr>
            <a:r>
              <a:rPr lang="en" sz="1150">
                <a:solidFill>
                  <a:srgbClr val="1F2937"/>
                </a:solidFill>
                <a:latin typeface="Consolas"/>
                <a:ea typeface="Consolas"/>
                <a:cs typeface="Consolas"/>
                <a:sym typeface="Consolas"/>
              </a:rPr>
              <a:t>msg[</a:t>
            </a:r>
            <a:r>
              <a:rPr b="1" lang="en" sz="1150">
                <a:solidFill>
                  <a:srgbClr val="045A36"/>
                </a:solidFill>
                <a:latin typeface="Consolas"/>
                <a:ea typeface="Consolas"/>
                <a:cs typeface="Consolas"/>
                <a:sym typeface="Consolas"/>
              </a:rPr>
              <a:t>"Subject"</a:t>
            </a:r>
            <a:r>
              <a:rPr lang="en" sz="1150">
                <a:solidFill>
                  <a:srgbClr val="1F2937"/>
                </a:solidFill>
                <a:latin typeface="Consolas"/>
                <a:ea typeface="Consolas"/>
                <a:cs typeface="Consolas"/>
                <a:sym typeface="Consolas"/>
              </a:rPr>
              <a:t>] = </a:t>
            </a:r>
            <a:r>
              <a:rPr b="1" lang="en" sz="1150">
                <a:solidFill>
                  <a:srgbClr val="D4A017"/>
                </a:solidFill>
                <a:latin typeface="Consolas"/>
                <a:ea typeface="Consolas"/>
                <a:cs typeface="Consolas"/>
                <a:sym typeface="Consolas"/>
              </a:rPr>
              <a:t>"My First Python Email"</a:t>
            </a:r>
            <a:endParaRPr sz="1150">
              <a:solidFill>
                <a:srgbClr val="1F2937"/>
              </a:solidFill>
              <a:latin typeface="Consolas"/>
              <a:ea typeface="Consolas"/>
              <a:cs typeface="Consolas"/>
              <a:sym typeface="Consolas"/>
            </a:endParaRPr>
          </a:p>
        </p:txBody>
      </p:sp>
      <p:sp>
        <p:nvSpPr>
          <p:cNvPr id="633" name="Google Shape;633;p30"/>
          <p:cNvSpPr txBox="1"/>
          <p:nvPr/>
        </p:nvSpPr>
        <p:spPr>
          <a:xfrm>
            <a:off x="762000" y="3143250"/>
            <a:ext cx="49530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250">
                <a:solidFill>
                  <a:srgbClr val="374151"/>
                </a:solidFill>
                <a:latin typeface="Inter"/>
                <a:ea typeface="Inter"/>
                <a:cs typeface="Inter"/>
                <a:sym typeface="Inter"/>
              </a:rPr>
              <a:t>The </a:t>
            </a:r>
            <a:r>
              <a:rPr b="1" lang="en" sz="1200">
                <a:solidFill>
                  <a:srgbClr val="045A36"/>
                </a:solidFill>
                <a:latin typeface="Arial"/>
                <a:ea typeface="Arial"/>
                <a:cs typeface="Arial"/>
                <a:sym typeface="Arial"/>
              </a:rPr>
              <a:t>EmailMessage</a:t>
            </a:r>
            <a:r>
              <a:rPr lang="en" sz="1250">
                <a:solidFill>
                  <a:srgbClr val="374151"/>
                </a:solidFill>
                <a:latin typeface="Inter"/>
                <a:ea typeface="Inter"/>
                <a:cs typeface="Inter"/>
                <a:sym typeface="Inter"/>
              </a:rPr>
              <a:t> object utilizes a dictionary-style syntax, allowing developers to set header fields using intuitive key-value pair assignments.</a:t>
            </a:r>
            <a:endParaRPr sz="1250">
              <a:solidFill>
                <a:srgbClr val="374151"/>
              </a:solidFill>
              <a:latin typeface="Inter"/>
              <a:ea typeface="Inter"/>
              <a:cs typeface="Inter"/>
              <a:sym typeface="Inter"/>
            </a:endParaRPr>
          </a:p>
          <a:p>
            <a:pPr indent="0" lvl="0" marL="0" rtl="0" algn="l">
              <a:spcBef>
                <a:spcPts val="1125"/>
              </a:spcBef>
              <a:spcAft>
                <a:spcPts val="0"/>
              </a:spcAft>
              <a:buNone/>
            </a:pPr>
            <a:r>
              <a:rPr lang="en" sz="1250">
                <a:solidFill>
                  <a:srgbClr val="374151"/>
                </a:solidFill>
                <a:latin typeface="Inter"/>
                <a:ea typeface="Inter"/>
                <a:cs typeface="Inter"/>
                <a:sym typeface="Inter"/>
              </a:rPr>
              <a:t>This straightforward syntax abstracts away the complex string formatting normally required by raw SMTP protocols, making it simple and reliable to build routing information.</a:t>
            </a:r>
            <a:endParaRPr sz="1250">
              <a:solidFill>
                <a:srgbClr val="374151"/>
              </a:solidFill>
              <a:latin typeface="Inter"/>
              <a:ea typeface="Inter"/>
              <a:cs typeface="Inter"/>
              <a:sym typeface="Inter"/>
            </a:endParaRPr>
          </a:p>
        </p:txBody>
      </p:sp>
      <p:sp>
        <p:nvSpPr>
          <p:cNvPr id="634" name="Google Shape;634;p30"/>
          <p:cNvSpPr txBox="1"/>
          <p:nvPr/>
        </p:nvSpPr>
        <p:spPr>
          <a:xfrm>
            <a:off x="6477000" y="1524000"/>
            <a:ext cx="495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45A36"/>
                </a:solidFill>
                <a:latin typeface="Montserrat"/>
                <a:ea typeface="Montserrat"/>
                <a:cs typeface="Montserrat"/>
                <a:sym typeface="Montserrat"/>
              </a:rPr>
              <a:t>Header Key-Value Bindings</a:t>
            </a:r>
            <a:endParaRPr b="1" sz="1500">
              <a:solidFill>
                <a:srgbClr val="045A36"/>
              </a:solidFill>
              <a:latin typeface="Montserrat"/>
              <a:ea typeface="Montserrat"/>
              <a:cs typeface="Montserrat"/>
              <a:sym typeface="Montserrat"/>
            </a:endParaRPr>
          </a:p>
        </p:txBody>
      </p:sp>
      <p:sp>
        <p:nvSpPr>
          <p:cNvPr id="635" name="Google Shape;635;p30"/>
          <p:cNvSpPr txBox="1"/>
          <p:nvPr/>
        </p:nvSpPr>
        <p:spPr>
          <a:xfrm>
            <a:off x="6477000" y="2000250"/>
            <a:ext cx="4953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Python abstracts low-level RFC formatting into clean, intuitive key-value assignments:</a:t>
            </a:r>
            <a:endParaRPr b="0" sz="1250">
              <a:solidFill>
                <a:srgbClr val="374151"/>
              </a:solidFill>
              <a:latin typeface="Inter"/>
              <a:ea typeface="Inter"/>
              <a:cs typeface="Inter"/>
              <a:sym typeface="Inter"/>
            </a:endParaRPr>
          </a:p>
        </p:txBody>
      </p:sp>
      <p:grpSp>
        <p:nvGrpSpPr>
          <p:cNvPr id="636" name="Google Shape;636;p30"/>
          <p:cNvGrpSpPr/>
          <p:nvPr/>
        </p:nvGrpSpPr>
        <p:grpSpPr>
          <a:xfrm>
            <a:off x="6477000" y="2667000"/>
            <a:ext cx="4953000" cy="809700"/>
            <a:chOff x="6477000" y="2667000"/>
            <a:chExt cx="4953000" cy="809700"/>
          </a:xfrm>
        </p:grpSpPr>
        <p:sp>
          <p:nvSpPr>
            <p:cNvPr id="637" name="Google Shape;637;p30"/>
            <p:cNvSpPr/>
            <p:nvPr/>
          </p:nvSpPr>
          <p:spPr>
            <a:xfrm>
              <a:off x="6477000" y="2667000"/>
              <a:ext cx="4953000" cy="809700"/>
            </a:xfrm>
            <a:prstGeom prst="roundRect">
              <a:avLst>
                <a:gd fmla="val 9411"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38" name="Google Shape;638;p30"/>
            <p:cNvGrpSpPr/>
            <p:nvPr/>
          </p:nvGrpSpPr>
          <p:grpSpPr>
            <a:xfrm>
              <a:off x="6619875" y="2971800"/>
              <a:ext cx="190500" cy="190500"/>
              <a:chOff x="0" y="0"/>
              <a:chExt cx="190500" cy="190500"/>
            </a:xfrm>
          </p:grpSpPr>
          <p:sp>
            <p:nvSpPr>
              <p:cNvPr id="639" name="Google Shape;639;p30"/>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0" name="Google Shape;640;p30"/>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1" name="Google Shape;641;p30"/>
            <p:cNvSpPr txBox="1"/>
            <p:nvPr/>
          </p:nvSpPr>
          <p:spPr>
            <a:xfrm>
              <a:off x="6953250" y="2809875"/>
              <a:ext cx="43338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"From" Key</a:t>
              </a:r>
              <a:endParaRPr b="1" sz="1300">
                <a:solidFill>
                  <a:srgbClr val="045A36"/>
                </a:solidFill>
                <a:latin typeface="Inter"/>
                <a:ea typeface="Inter"/>
                <a:cs typeface="Inter"/>
                <a:sym typeface="Inter"/>
              </a:endParaRPr>
            </a:p>
            <a:p>
              <a:pPr indent="0" lvl="0" marL="0" rtl="0" algn="l">
                <a:spcBef>
                  <a:spcPts val="150"/>
                </a:spcBef>
                <a:spcAft>
                  <a:spcPts val="0"/>
                </a:spcAft>
                <a:buNone/>
              </a:pPr>
              <a:r>
                <a:rPr lang="en" sz="1150">
                  <a:solidFill>
                    <a:srgbClr val="374151"/>
                  </a:solidFill>
                  <a:latin typeface="Inter"/>
                  <a:ea typeface="Inter"/>
                  <a:cs typeface="Inter"/>
                  <a:sym typeface="Inter"/>
                </a:rPr>
                <a:t>Defines the origin address (</a:t>
              </a:r>
              <a:r>
                <a:rPr b="0" lang="en" sz="1150">
                  <a:solidFill>
                    <a:srgbClr val="045A36"/>
                  </a:solidFill>
                  <a:latin typeface="Arial"/>
                  <a:ea typeface="Arial"/>
                  <a:cs typeface="Arial"/>
                  <a:sym typeface="Arial"/>
                </a:rPr>
                <a:t>sender_email</a:t>
              </a:r>
              <a:r>
                <a:rPr lang="en" sz="1150">
                  <a:solidFill>
                    <a:srgbClr val="374151"/>
                  </a:solidFill>
                  <a:latin typeface="Inter"/>
                  <a:ea typeface="Inter"/>
                  <a:cs typeface="Inter"/>
                  <a:sym typeface="Inter"/>
                </a:rPr>
                <a:t>)</a:t>
              </a:r>
              <a:endParaRPr sz="1150">
                <a:solidFill>
                  <a:srgbClr val="374151"/>
                </a:solidFill>
                <a:latin typeface="Inter"/>
                <a:ea typeface="Inter"/>
                <a:cs typeface="Inter"/>
                <a:sym typeface="Inter"/>
              </a:endParaRPr>
            </a:p>
          </p:txBody>
        </p:sp>
      </p:grpSp>
      <p:grpSp>
        <p:nvGrpSpPr>
          <p:cNvPr id="642" name="Google Shape;642;p30"/>
          <p:cNvGrpSpPr/>
          <p:nvPr/>
        </p:nvGrpSpPr>
        <p:grpSpPr>
          <a:xfrm>
            <a:off x="6477000" y="3619500"/>
            <a:ext cx="4953000" cy="809700"/>
            <a:chOff x="6477000" y="3619500"/>
            <a:chExt cx="4953000" cy="809700"/>
          </a:xfrm>
        </p:grpSpPr>
        <p:sp>
          <p:nvSpPr>
            <p:cNvPr id="643" name="Google Shape;643;p30"/>
            <p:cNvSpPr/>
            <p:nvPr/>
          </p:nvSpPr>
          <p:spPr>
            <a:xfrm>
              <a:off x="6477000" y="3619500"/>
              <a:ext cx="4953000" cy="809700"/>
            </a:xfrm>
            <a:prstGeom prst="roundRect">
              <a:avLst>
                <a:gd fmla="val 9411"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44" name="Google Shape;644;p30"/>
            <p:cNvGrpSpPr/>
            <p:nvPr/>
          </p:nvGrpSpPr>
          <p:grpSpPr>
            <a:xfrm>
              <a:off x="6619875" y="3924300"/>
              <a:ext cx="190500" cy="190500"/>
              <a:chOff x="0" y="0"/>
              <a:chExt cx="190500" cy="190500"/>
            </a:xfrm>
          </p:grpSpPr>
          <p:sp>
            <p:nvSpPr>
              <p:cNvPr id="645" name="Google Shape;645;p30"/>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30"/>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7" name="Google Shape;647;p30"/>
            <p:cNvSpPr txBox="1"/>
            <p:nvPr/>
          </p:nvSpPr>
          <p:spPr>
            <a:xfrm>
              <a:off x="6953250" y="3762375"/>
              <a:ext cx="43338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"To" Key</a:t>
              </a:r>
              <a:endParaRPr b="1" sz="1300">
                <a:solidFill>
                  <a:srgbClr val="045A36"/>
                </a:solidFill>
                <a:latin typeface="Inter"/>
                <a:ea typeface="Inter"/>
                <a:cs typeface="Inter"/>
                <a:sym typeface="Inter"/>
              </a:endParaRPr>
            </a:p>
            <a:p>
              <a:pPr indent="0" lvl="0" marL="0" rtl="0" algn="l">
                <a:spcBef>
                  <a:spcPts val="150"/>
                </a:spcBef>
                <a:spcAft>
                  <a:spcPts val="0"/>
                </a:spcAft>
                <a:buNone/>
              </a:pPr>
              <a:r>
                <a:rPr lang="en" sz="1150">
                  <a:solidFill>
                    <a:srgbClr val="374151"/>
                  </a:solidFill>
                  <a:latin typeface="Inter"/>
                  <a:ea typeface="Inter"/>
                  <a:cs typeface="Inter"/>
                  <a:sym typeface="Inter"/>
                </a:rPr>
                <a:t>Defines the destination address (</a:t>
              </a:r>
              <a:r>
                <a:rPr b="0" lang="en" sz="1150">
                  <a:solidFill>
                    <a:srgbClr val="045A36"/>
                  </a:solidFill>
                  <a:latin typeface="Arial"/>
                  <a:ea typeface="Arial"/>
                  <a:cs typeface="Arial"/>
                  <a:sym typeface="Arial"/>
                </a:rPr>
                <a:t>receiver_email</a:t>
              </a:r>
              <a:r>
                <a:rPr lang="en" sz="1150">
                  <a:solidFill>
                    <a:srgbClr val="374151"/>
                  </a:solidFill>
                  <a:latin typeface="Inter"/>
                  <a:ea typeface="Inter"/>
                  <a:cs typeface="Inter"/>
                  <a:sym typeface="Inter"/>
                </a:rPr>
                <a:t>)</a:t>
              </a:r>
              <a:endParaRPr sz="1150">
                <a:solidFill>
                  <a:srgbClr val="374151"/>
                </a:solidFill>
                <a:latin typeface="Inter"/>
                <a:ea typeface="Inter"/>
                <a:cs typeface="Inter"/>
                <a:sym typeface="Inter"/>
              </a:endParaRPr>
            </a:p>
          </p:txBody>
        </p:sp>
      </p:grpSp>
      <p:grpSp>
        <p:nvGrpSpPr>
          <p:cNvPr id="648" name="Google Shape;648;p30"/>
          <p:cNvGrpSpPr/>
          <p:nvPr/>
        </p:nvGrpSpPr>
        <p:grpSpPr>
          <a:xfrm>
            <a:off x="6477000" y="4572000"/>
            <a:ext cx="4953000" cy="809700"/>
            <a:chOff x="6477000" y="4572000"/>
            <a:chExt cx="4953000" cy="809700"/>
          </a:xfrm>
        </p:grpSpPr>
        <p:sp>
          <p:nvSpPr>
            <p:cNvPr id="649" name="Google Shape;649;p30"/>
            <p:cNvSpPr/>
            <p:nvPr/>
          </p:nvSpPr>
          <p:spPr>
            <a:xfrm>
              <a:off x="6477000" y="4572000"/>
              <a:ext cx="4953000" cy="809700"/>
            </a:xfrm>
            <a:prstGeom prst="roundRect">
              <a:avLst>
                <a:gd fmla="val 9411"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50" name="Google Shape;650;p30"/>
            <p:cNvGrpSpPr/>
            <p:nvPr/>
          </p:nvGrpSpPr>
          <p:grpSpPr>
            <a:xfrm>
              <a:off x="6619875" y="4876800"/>
              <a:ext cx="190500" cy="190500"/>
              <a:chOff x="0" y="0"/>
              <a:chExt cx="190500" cy="190500"/>
            </a:xfrm>
          </p:grpSpPr>
          <p:sp>
            <p:nvSpPr>
              <p:cNvPr id="651" name="Google Shape;651;p30"/>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30"/>
              <p:cNvSpPr/>
              <p:nvPr/>
            </p:nvSpPr>
            <p:spPr>
              <a:xfrm>
                <a:off x="57150" y="80975"/>
                <a:ext cx="76200" cy="47700"/>
              </a:xfrm>
              <a:custGeom>
                <a:rect b="b" l="l" r="r" t="t"/>
                <a:pathLst>
                  <a:path extrusionOk="0" h="120000" w="120000">
                    <a:moveTo>
                      <a:pt x="0" y="47987"/>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3" name="Google Shape;653;p30"/>
            <p:cNvSpPr txBox="1"/>
            <p:nvPr/>
          </p:nvSpPr>
          <p:spPr>
            <a:xfrm>
              <a:off x="6953250" y="4714875"/>
              <a:ext cx="43338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"Subject" Key</a:t>
              </a:r>
              <a:endParaRPr b="1" sz="1300">
                <a:solidFill>
                  <a:srgbClr val="045A36"/>
                </a:solidFill>
                <a:latin typeface="Inter"/>
                <a:ea typeface="Inter"/>
                <a:cs typeface="Inter"/>
                <a:sym typeface="Inter"/>
              </a:endParaRPr>
            </a:p>
            <a:p>
              <a:pPr indent="0" lvl="0" marL="0" rtl="0" algn="l">
                <a:spcBef>
                  <a:spcPts val="150"/>
                </a:spcBef>
                <a:spcAft>
                  <a:spcPts val="0"/>
                </a:spcAft>
                <a:buNone/>
              </a:pPr>
              <a:r>
                <a:rPr lang="en" sz="1150">
                  <a:solidFill>
                    <a:srgbClr val="374151"/>
                  </a:solidFill>
                  <a:latin typeface="Inter"/>
                  <a:ea typeface="Inter"/>
                  <a:cs typeface="Inter"/>
                  <a:sym typeface="Inter"/>
                </a:rPr>
                <a:t>Defines the email title (</a:t>
              </a:r>
              <a:r>
                <a:rPr b="0" lang="en" sz="1150">
                  <a:solidFill>
                    <a:srgbClr val="D4A017"/>
                  </a:solidFill>
                  <a:latin typeface="Inter SemiBold"/>
                  <a:ea typeface="Inter SemiBold"/>
                  <a:cs typeface="Inter SemiBold"/>
                  <a:sym typeface="Inter SemiBold"/>
                </a:rPr>
                <a:t>"My First Python Email"</a:t>
              </a:r>
              <a:r>
                <a:rPr lang="en" sz="1150">
                  <a:solidFill>
                    <a:srgbClr val="374151"/>
                  </a:solidFill>
                  <a:latin typeface="Inter"/>
                  <a:ea typeface="Inter"/>
                  <a:cs typeface="Inter"/>
                  <a:sym typeface="Inter"/>
                </a:rPr>
                <a:t>)</a:t>
              </a:r>
              <a:endParaRPr sz="1150">
                <a:solidFill>
                  <a:srgbClr val="374151"/>
                </a:solidFill>
                <a:latin typeface="Inter"/>
                <a:ea typeface="Inter"/>
                <a:cs typeface="Inter"/>
                <a:sym typeface="Inte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7" name="Shape 657"/>
        <p:cNvGrpSpPr/>
        <p:nvPr/>
      </p:nvGrpSpPr>
      <p:grpSpPr>
        <a:xfrm>
          <a:off x="0" y="0"/>
          <a:ext cx="0" cy="0"/>
          <a:chOff x="0" y="0"/>
          <a:chExt cx="0" cy="0"/>
        </a:xfrm>
      </p:grpSpPr>
      <p:pic>
        <p:nvPicPr>
          <p:cNvPr id="658" name="Google Shape;658;p31"/>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659" name="Google Shape;659;p31"/>
          <p:cNvSpPr txBox="1"/>
          <p:nvPr/>
        </p:nvSpPr>
        <p:spPr>
          <a:xfrm>
            <a:off x="762000" y="571500"/>
            <a:ext cx="952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The set_content() Method</a:t>
            </a:r>
            <a:endParaRPr b="0" sz="2700">
              <a:solidFill>
                <a:srgbClr val="045A36"/>
              </a:solidFill>
              <a:latin typeface="Montserrat SemiBold"/>
              <a:ea typeface="Montserrat SemiBold"/>
              <a:cs typeface="Montserrat SemiBold"/>
              <a:sym typeface="Montserrat SemiBold"/>
            </a:endParaRPr>
          </a:p>
        </p:txBody>
      </p:sp>
      <p:sp>
        <p:nvSpPr>
          <p:cNvPr id="660" name="Google Shape;660;p3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1" name="Google Shape;661;p31"/>
          <p:cNvGrpSpPr/>
          <p:nvPr/>
        </p:nvGrpSpPr>
        <p:grpSpPr>
          <a:xfrm>
            <a:off x="762000" y="1381125"/>
            <a:ext cx="10668000" cy="1047900"/>
            <a:chOff x="0" y="0"/>
            <a:chExt cx="10668000" cy="1047900"/>
          </a:xfrm>
        </p:grpSpPr>
        <p:sp>
          <p:nvSpPr>
            <p:cNvPr id="662" name="Google Shape;662;p31"/>
            <p:cNvSpPr/>
            <p:nvPr/>
          </p:nvSpPr>
          <p:spPr>
            <a:xfrm>
              <a:off x="0" y="0"/>
              <a:ext cx="10668000" cy="1047900"/>
            </a:xfrm>
            <a:prstGeom prst="roundRect">
              <a:avLst>
                <a:gd fmla="val 7272"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31"/>
            <p:cNvSpPr/>
            <p:nvPr/>
          </p:nvSpPr>
          <p:spPr>
            <a:xfrm>
              <a:off x="0" y="0"/>
              <a:ext cx="57300" cy="1047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4" name="Google Shape;664;p31"/>
            <p:cNvSpPr txBox="1"/>
            <p:nvPr/>
          </p:nvSpPr>
          <p:spPr>
            <a:xfrm>
              <a:off x="8572500" y="95250"/>
              <a:ext cx="1905000" cy="2382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b="1" lang="en" sz="800">
                  <a:solidFill>
                    <a:srgbClr val="6B7280"/>
                  </a:solidFill>
                  <a:latin typeface="Inter"/>
                  <a:ea typeface="Inter"/>
                  <a:cs typeface="Inter"/>
                  <a:sym typeface="Inter"/>
                </a:rPr>
                <a:t>Code Implementation</a:t>
              </a:r>
              <a:endParaRPr b="1" sz="800">
                <a:solidFill>
                  <a:srgbClr val="6B7280"/>
                </a:solidFill>
                <a:latin typeface="Inter"/>
                <a:ea typeface="Inter"/>
                <a:cs typeface="Inter"/>
                <a:sym typeface="Inter"/>
              </a:endParaRPr>
            </a:p>
          </p:txBody>
        </p:sp>
        <p:sp>
          <p:nvSpPr>
            <p:cNvPr id="665" name="Google Shape;665;p31"/>
            <p:cNvSpPr txBox="1"/>
            <p:nvPr/>
          </p:nvSpPr>
          <p:spPr>
            <a:xfrm>
              <a:off x="285750" y="142875"/>
              <a:ext cx="10096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500">
                  <a:solidFill>
                    <a:srgbClr val="6B7280"/>
                  </a:solidFill>
                  <a:latin typeface="Courier New"/>
                  <a:ea typeface="Courier New"/>
                  <a:cs typeface="Courier New"/>
                  <a:sym typeface="Courier New"/>
                </a:rPr>
                <a:t>msg</a:t>
              </a:r>
              <a:r>
                <a:rPr b="1" lang="en" sz="1500">
                  <a:solidFill>
                    <a:srgbClr val="045A36"/>
                  </a:solidFill>
                  <a:latin typeface="Courier New"/>
                  <a:ea typeface="Courier New"/>
                  <a:cs typeface="Courier New"/>
                  <a:sym typeface="Courier New"/>
                </a:rPr>
                <a:t>.set_content</a:t>
              </a:r>
              <a:r>
                <a:rPr lang="en" sz="1500">
                  <a:solidFill>
                    <a:srgbClr val="1F2937"/>
                  </a:solidFill>
                  <a:latin typeface="Courier New"/>
                  <a:ea typeface="Courier New"/>
                  <a:cs typeface="Courier New"/>
                  <a:sym typeface="Courier New"/>
                </a:rPr>
                <a:t>(</a:t>
              </a:r>
              <a:endParaRPr sz="1500">
                <a:solidFill>
                  <a:srgbClr val="1F2937"/>
                </a:solidFill>
                <a:latin typeface="Courier New"/>
                <a:ea typeface="Courier New"/>
                <a:cs typeface="Courier New"/>
                <a:sym typeface="Courier New"/>
              </a:endParaRPr>
            </a:p>
            <a:p>
              <a:pPr indent="0" lvl="0" marL="0" rtl="0" algn="l">
                <a:spcBef>
                  <a:spcPts val="300"/>
                </a:spcBef>
                <a:spcAft>
                  <a:spcPts val="0"/>
                </a:spcAft>
                <a:buNone/>
              </a:pPr>
              <a:r>
                <a:rPr lang="en" sz="1500">
                  <a:solidFill>
                    <a:srgbClr val="D4A017"/>
                  </a:solidFill>
                  <a:latin typeface="Courier New"/>
                  <a:ea typeface="Courier New"/>
                  <a:cs typeface="Courier New"/>
                  <a:sym typeface="Courier New"/>
                </a:rPr>
                <a:t>"Hello! This email was sent..."</a:t>
              </a:r>
              <a:endParaRPr sz="1500">
                <a:solidFill>
                  <a:srgbClr val="1F2937"/>
                </a:solidFill>
                <a:latin typeface="Courier New"/>
                <a:ea typeface="Courier New"/>
                <a:cs typeface="Courier New"/>
                <a:sym typeface="Courier New"/>
              </a:endParaRPr>
            </a:p>
            <a:p>
              <a:pPr indent="0" lvl="0" marL="0" rtl="0" algn="l">
                <a:spcBef>
                  <a:spcPts val="300"/>
                </a:spcBef>
                <a:spcAft>
                  <a:spcPts val="0"/>
                </a:spcAft>
                <a:buNone/>
              </a:pPr>
              <a:r>
                <a:rPr lang="en" sz="1500">
                  <a:solidFill>
                    <a:srgbClr val="1F2937"/>
                  </a:solidFill>
                  <a:latin typeface="Courier New"/>
                  <a:ea typeface="Courier New"/>
                  <a:cs typeface="Courier New"/>
                  <a:sym typeface="Courier New"/>
                </a:rPr>
                <a:t>)</a:t>
              </a:r>
              <a:endParaRPr sz="1500">
                <a:solidFill>
                  <a:srgbClr val="1F2937"/>
                </a:solidFill>
                <a:latin typeface="Courier New"/>
                <a:ea typeface="Courier New"/>
                <a:cs typeface="Courier New"/>
                <a:sym typeface="Courier New"/>
              </a:endParaRPr>
            </a:p>
          </p:txBody>
        </p:sp>
      </p:grpSp>
      <p:grpSp>
        <p:nvGrpSpPr>
          <p:cNvPr id="666" name="Google Shape;666;p31"/>
          <p:cNvGrpSpPr/>
          <p:nvPr/>
        </p:nvGrpSpPr>
        <p:grpSpPr>
          <a:xfrm>
            <a:off x="762000" y="2667000"/>
            <a:ext cx="3238500" cy="2762400"/>
            <a:chOff x="0" y="0"/>
            <a:chExt cx="3238500" cy="2762400"/>
          </a:xfrm>
        </p:grpSpPr>
        <p:sp>
          <p:nvSpPr>
            <p:cNvPr id="667" name="Google Shape;667;p31"/>
            <p:cNvSpPr/>
            <p:nvPr/>
          </p:nvSpPr>
          <p:spPr>
            <a:xfrm>
              <a:off x="0" y="0"/>
              <a:ext cx="3238500" cy="2762400"/>
            </a:xfrm>
            <a:prstGeom prst="roundRect">
              <a:avLst>
                <a:gd fmla="val 413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31"/>
            <p:cNvSpPr/>
            <p:nvPr/>
          </p:nvSpPr>
          <p:spPr>
            <a:xfrm>
              <a:off x="0" y="0"/>
              <a:ext cx="3238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31"/>
            <p:cNvSpPr txBox="1"/>
            <p:nvPr/>
          </p:nvSpPr>
          <p:spPr>
            <a:xfrm>
              <a:off x="238125" y="238125"/>
              <a:ext cx="2762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Method Anatomy</a:t>
              </a:r>
              <a:endParaRPr b="1" sz="1650">
                <a:solidFill>
                  <a:srgbClr val="045A36"/>
                </a:solidFill>
                <a:latin typeface="Montserrat"/>
                <a:ea typeface="Montserrat"/>
                <a:cs typeface="Montserrat"/>
                <a:sym typeface="Montserrat"/>
              </a:endParaRPr>
            </a:p>
          </p:txBody>
        </p:sp>
        <p:grpSp>
          <p:nvGrpSpPr>
            <p:cNvPr id="670" name="Google Shape;670;p31"/>
            <p:cNvGrpSpPr/>
            <p:nvPr/>
          </p:nvGrpSpPr>
          <p:grpSpPr>
            <a:xfrm>
              <a:off x="238125" y="762000"/>
              <a:ext cx="190500" cy="190500"/>
              <a:chOff x="0" y="0"/>
              <a:chExt cx="190500" cy="190500"/>
            </a:xfrm>
          </p:grpSpPr>
          <p:sp>
            <p:nvSpPr>
              <p:cNvPr id="671" name="Google Shape;671;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2" name="Google Shape;672;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3" name="Google Shape;673;p31"/>
            <p:cNvSpPr txBox="1"/>
            <p:nvPr/>
          </p:nvSpPr>
          <p:spPr>
            <a:xfrm>
              <a:off x="523875" y="723900"/>
              <a:ext cx="2476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Courier New"/>
                  <a:ea typeface="Courier New"/>
                  <a:cs typeface="Courier New"/>
                  <a:sym typeface="Courier New"/>
                </a:rPr>
                <a:t>msg</a:t>
              </a:r>
              <a:r>
                <a:rPr b="0" lang="en" sz="1100">
                  <a:solidFill>
                    <a:srgbClr val="374151"/>
                  </a:solidFill>
                  <a:latin typeface="Inter"/>
                  <a:ea typeface="Inter"/>
                  <a:cs typeface="Inter"/>
                  <a:sym typeface="Inter"/>
                </a:rPr>
                <a:t>: The EmailMessage object instance</a:t>
              </a:r>
              <a:endParaRPr b="0" sz="1100">
                <a:solidFill>
                  <a:srgbClr val="374151"/>
                </a:solidFill>
                <a:latin typeface="Inter"/>
                <a:ea typeface="Inter"/>
                <a:cs typeface="Inter"/>
                <a:sym typeface="Inter"/>
              </a:endParaRPr>
            </a:p>
          </p:txBody>
        </p:sp>
        <p:grpSp>
          <p:nvGrpSpPr>
            <p:cNvPr id="674" name="Google Shape;674;p31"/>
            <p:cNvGrpSpPr/>
            <p:nvPr/>
          </p:nvGrpSpPr>
          <p:grpSpPr>
            <a:xfrm>
              <a:off x="238125" y="1333500"/>
              <a:ext cx="190500" cy="190500"/>
              <a:chOff x="0" y="0"/>
              <a:chExt cx="190500" cy="190500"/>
            </a:xfrm>
          </p:grpSpPr>
          <p:sp>
            <p:nvSpPr>
              <p:cNvPr id="675" name="Google Shape;675;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6" name="Google Shape;676;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7" name="Google Shape;677;p31"/>
            <p:cNvSpPr txBox="1"/>
            <p:nvPr/>
          </p:nvSpPr>
          <p:spPr>
            <a:xfrm>
              <a:off x="523875" y="1295400"/>
              <a:ext cx="2476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Courier New"/>
                  <a:ea typeface="Courier New"/>
                  <a:cs typeface="Courier New"/>
                  <a:sym typeface="Courier New"/>
                </a:rPr>
                <a:t>set_content()</a:t>
              </a:r>
              <a:r>
                <a:rPr b="0" lang="en" sz="1100">
                  <a:solidFill>
                    <a:srgbClr val="374151"/>
                  </a:solidFill>
                  <a:latin typeface="Inter"/>
                  <a:ea typeface="Inter"/>
                  <a:cs typeface="Inter"/>
                  <a:sym typeface="Inter"/>
                </a:rPr>
                <a:t>: Method to safely inject body</a:t>
              </a:r>
              <a:endParaRPr b="0" sz="1100">
                <a:solidFill>
                  <a:srgbClr val="374151"/>
                </a:solidFill>
                <a:latin typeface="Inter"/>
                <a:ea typeface="Inter"/>
                <a:cs typeface="Inter"/>
                <a:sym typeface="Inter"/>
              </a:endParaRPr>
            </a:p>
          </p:txBody>
        </p:sp>
        <p:grpSp>
          <p:nvGrpSpPr>
            <p:cNvPr id="678" name="Google Shape;678;p31"/>
            <p:cNvGrpSpPr/>
            <p:nvPr/>
          </p:nvGrpSpPr>
          <p:grpSpPr>
            <a:xfrm>
              <a:off x="238125" y="1905000"/>
              <a:ext cx="190500" cy="190500"/>
              <a:chOff x="0" y="0"/>
              <a:chExt cx="190500" cy="190500"/>
            </a:xfrm>
          </p:grpSpPr>
          <p:sp>
            <p:nvSpPr>
              <p:cNvPr id="679" name="Google Shape;679;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81" name="Google Shape;681;p31"/>
            <p:cNvSpPr txBox="1"/>
            <p:nvPr/>
          </p:nvSpPr>
          <p:spPr>
            <a:xfrm>
              <a:off x="523875" y="1866900"/>
              <a:ext cx="2476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Courier New"/>
                  <a:ea typeface="Courier New"/>
                  <a:cs typeface="Courier New"/>
                  <a:sym typeface="Courier New"/>
                </a:rPr>
                <a:t>"Hello!..."</a:t>
              </a:r>
              <a:r>
                <a:rPr b="0" lang="en" sz="1100">
                  <a:solidFill>
                    <a:srgbClr val="374151"/>
                  </a:solidFill>
                  <a:latin typeface="Inter"/>
                  <a:ea typeface="Inter"/>
                  <a:cs typeface="Inter"/>
                  <a:sym typeface="Inter"/>
                </a:rPr>
                <a:t>: The plain-text message string</a:t>
              </a:r>
              <a:endParaRPr b="0" sz="1100">
                <a:solidFill>
                  <a:srgbClr val="374151"/>
                </a:solidFill>
                <a:latin typeface="Inter"/>
                <a:ea typeface="Inter"/>
                <a:cs typeface="Inter"/>
                <a:sym typeface="Inter"/>
              </a:endParaRPr>
            </a:p>
          </p:txBody>
        </p:sp>
      </p:grpSp>
      <p:grpSp>
        <p:nvGrpSpPr>
          <p:cNvPr id="682" name="Google Shape;682;p31"/>
          <p:cNvGrpSpPr/>
          <p:nvPr/>
        </p:nvGrpSpPr>
        <p:grpSpPr>
          <a:xfrm>
            <a:off x="4476750" y="2667000"/>
            <a:ext cx="3238500" cy="2762400"/>
            <a:chOff x="0" y="0"/>
            <a:chExt cx="3238500" cy="2762400"/>
          </a:xfrm>
        </p:grpSpPr>
        <p:sp>
          <p:nvSpPr>
            <p:cNvPr id="683" name="Google Shape;683;p31"/>
            <p:cNvSpPr/>
            <p:nvPr/>
          </p:nvSpPr>
          <p:spPr>
            <a:xfrm>
              <a:off x="0" y="0"/>
              <a:ext cx="3238500" cy="2762400"/>
            </a:xfrm>
            <a:prstGeom prst="roundRect">
              <a:avLst>
                <a:gd fmla="val 413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31"/>
            <p:cNvSpPr/>
            <p:nvPr/>
          </p:nvSpPr>
          <p:spPr>
            <a:xfrm>
              <a:off x="0" y="0"/>
              <a:ext cx="3238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5" name="Google Shape;685;p31"/>
            <p:cNvSpPr txBox="1"/>
            <p:nvPr/>
          </p:nvSpPr>
          <p:spPr>
            <a:xfrm>
              <a:off x="238125" y="238125"/>
              <a:ext cx="2762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Plain-Text Standard</a:t>
              </a:r>
              <a:endParaRPr b="1" sz="1650">
                <a:solidFill>
                  <a:srgbClr val="045A36"/>
                </a:solidFill>
                <a:latin typeface="Montserrat"/>
                <a:ea typeface="Montserrat"/>
                <a:cs typeface="Montserrat"/>
                <a:sym typeface="Montserrat"/>
              </a:endParaRPr>
            </a:p>
          </p:txBody>
        </p:sp>
        <p:grpSp>
          <p:nvGrpSpPr>
            <p:cNvPr id="686" name="Google Shape;686;p31"/>
            <p:cNvGrpSpPr/>
            <p:nvPr/>
          </p:nvGrpSpPr>
          <p:grpSpPr>
            <a:xfrm>
              <a:off x="238125" y="762000"/>
              <a:ext cx="190500" cy="190500"/>
              <a:chOff x="0" y="0"/>
              <a:chExt cx="190500" cy="190500"/>
            </a:xfrm>
          </p:grpSpPr>
          <p:sp>
            <p:nvSpPr>
              <p:cNvPr id="687" name="Google Shape;687;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89" name="Google Shape;689;p31"/>
            <p:cNvSpPr txBox="1"/>
            <p:nvPr/>
          </p:nvSpPr>
          <p:spPr>
            <a:xfrm>
              <a:off x="523875" y="723900"/>
              <a:ext cx="2476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45A36"/>
                  </a:solidFill>
                  <a:latin typeface="Inter SemiBold"/>
                  <a:ea typeface="Inter SemiBold"/>
                  <a:cs typeface="Inter SemiBold"/>
                  <a:sym typeface="Inter SemiBold"/>
                </a:rPr>
                <a:t>Built-In Body Injection</a:t>
              </a:r>
              <a:r>
                <a:rPr b="0" lang="en" sz="1100">
                  <a:solidFill>
                    <a:srgbClr val="374151"/>
                  </a:solidFill>
                  <a:latin typeface="Inter"/>
                  <a:ea typeface="Inter"/>
                  <a:cs typeface="Inter"/>
                  <a:sym typeface="Inter"/>
                </a:rPr>
                <a:t> Designed specifically to safely inject text into the body of the EmailMessage object.</a:t>
              </a:r>
              <a:endParaRPr b="0" sz="1100">
                <a:solidFill>
                  <a:srgbClr val="374151"/>
                </a:solidFill>
                <a:latin typeface="Inter"/>
                <a:ea typeface="Inter"/>
                <a:cs typeface="Inter"/>
                <a:sym typeface="Inter"/>
              </a:endParaRPr>
            </a:p>
          </p:txBody>
        </p:sp>
        <p:grpSp>
          <p:nvGrpSpPr>
            <p:cNvPr id="690" name="Google Shape;690;p31"/>
            <p:cNvGrpSpPr/>
            <p:nvPr/>
          </p:nvGrpSpPr>
          <p:grpSpPr>
            <a:xfrm>
              <a:off x="238125" y="1666875"/>
              <a:ext cx="190500" cy="190500"/>
              <a:chOff x="0" y="0"/>
              <a:chExt cx="190500" cy="190500"/>
            </a:xfrm>
          </p:grpSpPr>
          <p:sp>
            <p:nvSpPr>
              <p:cNvPr id="691" name="Google Shape;691;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3" name="Google Shape;693;p31"/>
            <p:cNvSpPr txBox="1"/>
            <p:nvPr/>
          </p:nvSpPr>
          <p:spPr>
            <a:xfrm>
              <a:off x="523875" y="1628775"/>
              <a:ext cx="2476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45A36"/>
                  </a:solidFill>
                  <a:latin typeface="Inter SemiBold"/>
                  <a:ea typeface="Inter SemiBold"/>
                  <a:cs typeface="Inter SemiBold"/>
                  <a:sym typeface="Inter SemiBold"/>
                </a:rPr>
                <a:t>Plain-Text Standard</a:t>
              </a:r>
              <a:r>
                <a:rPr b="0" lang="en" sz="1100">
                  <a:solidFill>
                    <a:srgbClr val="374151"/>
                  </a:solidFill>
                  <a:latin typeface="Inter"/>
                  <a:ea typeface="Inter"/>
                  <a:cs typeface="Inter"/>
                  <a:sym typeface="Inter"/>
                </a:rPr>
                <a:t> Creates a clean email containing only unformatted characters without any complex HTML styling.</a:t>
              </a:r>
              <a:endParaRPr b="0" sz="1100">
                <a:solidFill>
                  <a:srgbClr val="374151"/>
                </a:solidFill>
                <a:latin typeface="Inter"/>
                <a:ea typeface="Inter"/>
                <a:cs typeface="Inter"/>
                <a:sym typeface="Inter"/>
              </a:endParaRPr>
            </a:p>
          </p:txBody>
        </p:sp>
      </p:grpSp>
      <p:grpSp>
        <p:nvGrpSpPr>
          <p:cNvPr id="694" name="Google Shape;694;p31"/>
          <p:cNvGrpSpPr/>
          <p:nvPr/>
        </p:nvGrpSpPr>
        <p:grpSpPr>
          <a:xfrm>
            <a:off x="8191500" y="2667000"/>
            <a:ext cx="3238500" cy="2762400"/>
            <a:chOff x="0" y="0"/>
            <a:chExt cx="3238500" cy="2762400"/>
          </a:xfrm>
        </p:grpSpPr>
        <p:sp>
          <p:nvSpPr>
            <p:cNvPr id="695" name="Google Shape;695;p31"/>
            <p:cNvSpPr/>
            <p:nvPr/>
          </p:nvSpPr>
          <p:spPr>
            <a:xfrm>
              <a:off x="0" y="0"/>
              <a:ext cx="3238500" cy="2762400"/>
            </a:xfrm>
            <a:prstGeom prst="roundRect">
              <a:avLst>
                <a:gd fmla="val 413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31"/>
            <p:cNvSpPr/>
            <p:nvPr/>
          </p:nvSpPr>
          <p:spPr>
            <a:xfrm>
              <a:off x="0" y="0"/>
              <a:ext cx="3238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31"/>
            <p:cNvSpPr txBox="1"/>
            <p:nvPr/>
          </p:nvSpPr>
          <p:spPr>
            <a:xfrm>
              <a:off x="238125" y="238125"/>
              <a:ext cx="2762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Structure &amp; Delivery</a:t>
              </a:r>
              <a:endParaRPr b="1" sz="1650">
                <a:solidFill>
                  <a:srgbClr val="045A36"/>
                </a:solidFill>
                <a:latin typeface="Montserrat"/>
                <a:ea typeface="Montserrat"/>
                <a:cs typeface="Montserrat"/>
                <a:sym typeface="Montserrat"/>
              </a:endParaRPr>
            </a:p>
          </p:txBody>
        </p:sp>
        <p:grpSp>
          <p:nvGrpSpPr>
            <p:cNvPr id="698" name="Google Shape;698;p31"/>
            <p:cNvGrpSpPr/>
            <p:nvPr/>
          </p:nvGrpSpPr>
          <p:grpSpPr>
            <a:xfrm>
              <a:off x="238125" y="762000"/>
              <a:ext cx="190500" cy="190500"/>
              <a:chOff x="0" y="0"/>
              <a:chExt cx="190500" cy="190500"/>
            </a:xfrm>
          </p:grpSpPr>
          <p:sp>
            <p:nvSpPr>
              <p:cNvPr id="699" name="Google Shape;699;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0" name="Google Shape;700;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01" name="Google Shape;701;p31"/>
            <p:cNvSpPr txBox="1"/>
            <p:nvPr/>
          </p:nvSpPr>
          <p:spPr>
            <a:xfrm>
              <a:off x="523875" y="723900"/>
              <a:ext cx="2476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45A36"/>
                  </a:solidFill>
                  <a:latin typeface="Inter SemiBold"/>
                  <a:ea typeface="Inter SemiBold"/>
                  <a:cs typeface="Inter SemiBold"/>
                  <a:sym typeface="Inter SemiBold"/>
                </a:rPr>
                <a:t>Universal Compatibility</a:t>
              </a:r>
              <a:r>
                <a:rPr b="0" lang="en" sz="1100">
                  <a:solidFill>
                    <a:srgbClr val="374151"/>
                  </a:solidFill>
                  <a:latin typeface="Inter"/>
                  <a:ea typeface="Inter"/>
                  <a:cs typeface="Inter"/>
                  <a:sym typeface="Inter"/>
                </a:rPr>
                <a:t> Highly compatible across all modern devices and significantly less likely to trigger aggressive spam filters.</a:t>
              </a:r>
              <a:endParaRPr b="0" sz="1100">
                <a:solidFill>
                  <a:srgbClr val="374151"/>
                </a:solidFill>
                <a:latin typeface="Inter"/>
                <a:ea typeface="Inter"/>
                <a:cs typeface="Inter"/>
                <a:sym typeface="Inter"/>
              </a:endParaRPr>
            </a:p>
          </p:txBody>
        </p:sp>
        <p:grpSp>
          <p:nvGrpSpPr>
            <p:cNvPr id="702" name="Google Shape;702;p31"/>
            <p:cNvGrpSpPr/>
            <p:nvPr/>
          </p:nvGrpSpPr>
          <p:grpSpPr>
            <a:xfrm>
              <a:off x="238125" y="1666875"/>
              <a:ext cx="190500" cy="190500"/>
              <a:chOff x="0" y="0"/>
              <a:chExt cx="190500" cy="190500"/>
            </a:xfrm>
          </p:grpSpPr>
          <p:sp>
            <p:nvSpPr>
              <p:cNvPr id="703" name="Google Shape;703;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31"/>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05" name="Google Shape;705;p31"/>
            <p:cNvSpPr txBox="1"/>
            <p:nvPr/>
          </p:nvSpPr>
          <p:spPr>
            <a:xfrm>
              <a:off x="523875" y="1628775"/>
              <a:ext cx="2476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045A36"/>
                  </a:solidFill>
                  <a:latin typeface="Inter SemiBold"/>
                  <a:ea typeface="Inter SemiBold"/>
                  <a:cs typeface="Inter SemiBold"/>
                  <a:sym typeface="Inter SemiBold"/>
                </a:rPr>
                <a:t>Structural Distinction</a:t>
              </a:r>
              <a:r>
                <a:rPr b="0" lang="en" sz="1018">
                  <a:solidFill>
                    <a:srgbClr val="374151"/>
                  </a:solidFill>
                  <a:latin typeface="Inter"/>
                  <a:ea typeface="Inter"/>
                  <a:cs typeface="Inter"/>
                  <a:sym typeface="Inter"/>
                </a:rPr>
                <a:t> Dictionary syntax handles the metadata headers, while the set_content() method is used exclusively for the main body.</a:t>
              </a:r>
              <a:endParaRPr b="0" sz="1018">
                <a:solidFill>
                  <a:srgbClr val="374151"/>
                </a:solidFill>
                <a:latin typeface="Inter"/>
                <a:ea typeface="Inter"/>
                <a:cs typeface="Inter"/>
                <a:sym typeface="Inter"/>
              </a:endParaRPr>
            </a:p>
          </p:txBody>
        </p:sp>
      </p:grpSp>
      <p:pic>
        <p:nvPicPr>
          <p:cNvPr id="706" name="Google Shape;706;p31"/>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707" name="Google Shape;707;p31"/>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708" name="Google Shape;708;p31"/>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2" name="Shape 712"/>
        <p:cNvGrpSpPr/>
        <p:nvPr/>
      </p:nvGrpSpPr>
      <p:grpSpPr>
        <a:xfrm>
          <a:off x="0" y="0"/>
          <a:ext cx="0" cy="0"/>
          <a:chOff x="0" y="0"/>
          <a:chExt cx="0" cy="0"/>
        </a:xfrm>
      </p:grpSpPr>
      <p:pic>
        <p:nvPicPr>
          <p:cNvPr id="713" name="Google Shape;713;p32"/>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714" name="Google Shape;714;p3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32"/>
          <p:cNvSpPr txBox="1"/>
          <p:nvPr/>
        </p:nvSpPr>
        <p:spPr>
          <a:xfrm>
            <a:off x="762000" y="571500"/>
            <a:ext cx="9525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The send_message Command</a:t>
            </a:r>
            <a:endParaRPr b="0" sz="2700">
              <a:solidFill>
                <a:srgbClr val="045A36"/>
              </a:solidFill>
              <a:latin typeface="Montserrat SemiBold"/>
              <a:ea typeface="Montserrat SemiBold"/>
              <a:cs typeface="Montserrat SemiBold"/>
              <a:sym typeface="Montserrat SemiBold"/>
            </a:endParaRPr>
          </a:p>
        </p:txBody>
      </p:sp>
      <p:grpSp>
        <p:nvGrpSpPr>
          <p:cNvPr id="716" name="Google Shape;716;p32"/>
          <p:cNvGrpSpPr/>
          <p:nvPr/>
        </p:nvGrpSpPr>
        <p:grpSpPr>
          <a:xfrm>
            <a:off x="762000" y="1524000"/>
            <a:ext cx="4191000" cy="3714900"/>
            <a:chOff x="0" y="0"/>
            <a:chExt cx="4191000" cy="3714900"/>
          </a:xfrm>
        </p:grpSpPr>
        <p:sp>
          <p:nvSpPr>
            <p:cNvPr id="717" name="Google Shape;717;p32"/>
            <p:cNvSpPr/>
            <p:nvPr/>
          </p:nvSpPr>
          <p:spPr>
            <a:xfrm>
              <a:off x="0" y="0"/>
              <a:ext cx="4191000" cy="3714900"/>
            </a:xfrm>
            <a:prstGeom prst="roundRect">
              <a:avLst>
                <a:gd fmla="val 30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32"/>
            <p:cNvSpPr/>
            <p:nvPr/>
          </p:nvSpPr>
          <p:spPr>
            <a:xfrm>
              <a:off x="0" y="0"/>
              <a:ext cx="41910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32"/>
            <p:cNvSpPr txBox="1"/>
            <p:nvPr/>
          </p:nvSpPr>
          <p:spPr>
            <a:xfrm>
              <a:off x="285750" y="285750"/>
              <a:ext cx="3619500" cy="3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ACTIVE COMMAND</a:t>
              </a:r>
              <a:endParaRPr b="1" sz="1100">
                <a:solidFill>
                  <a:srgbClr val="D4A017"/>
                </a:solidFill>
                <a:latin typeface="Inter"/>
                <a:ea typeface="Inter"/>
                <a:cs typeface="Inter"/>
                <a:sym typeface="Inter"/>
              </a:endParaRPr>
            </a:p>
            <a:p>
              <a:pPr indent="0" lvl="0" marL="0" rtl="0" algn="l">
                <a:spcBef>
                  <a:spcPts val="750"/>
                </a:spcBef>
                <a:spcAft>
                  <a:spcPts val="0"/>
                </a:spcAft>
                <a:buNone/>
              </a:pPr>
              <a:r>
                <a:rPr b="1" lang="en" sz="1600">
                  <a:solidFill>
                    <a:srgbClr val="045A36"/>
                  </a:solidFill>
                  <a:latin typeface="Montserrat"/>
                  <a:ea typeface="Montserrat"/>
                  <a:cs typeface="Montserrat"/>
                  <a:sym typeface="Montserrat"/>
                </a:rPr>
                <a:t>server.send_message(msg)</a:t>
              </a:r>
              <a:endParaRPr b="1" sz="1600">
                <a:solidFill>
                  <a:srgbClr val="045A36"/>
                </a:solidFill>
                <a:latin typeface="Montserrat"/>
                <a:ea typeface="Montserrat"/>
                <a:cs typeface="Montserrat"/>
                <a:sym typeface="Montserrat"/>
              </a:endParaRPr>
            </a:p>
            <a:p>
              <a:pPr indent="0" lvl="0" marL="0" rtl="0" algn="l">
                <a:spcBef>
                  <a:spcPts val="1500"/>
                </a:spcBef>
                <a:spcAft>
                  <a:spcPts val="0"/>
                </a:spcAft>
                <a:buNone/>
              </a:pPr>
              <a:r>
                <a:rPr b="0" lang="en" sz="1250">
                  <a:solidFill>
                    <a:srgbClr val="374151"/>
                  </a:solidFill>
                  <a:latin typeface="Inter"/>
                  <a:ea typeface="Inter"/>
                  <a:cs typeface="Inter"/>
                  <a:sym typeface="Inter"/>
                </a:rPr>
                <a:t>The final step in our execution is the command above. This single line represents the </a:t>
              </a:r>
              <a:r>
                <a:rPr b="0" lang="en" sz="1250">
                  <a:solidFill>
                    <a:srgbClr val="045A36"/>
                  </a:solidFill>
                  <a:latin typeface="Inter SemiBold"/>
                  <a:ea typeface="Inter SemiBold"/>
                  <a:cs typeface="Inter SemiBold"/>
                  <a:sym typeface="Inter SemiBold"/>
                </a:rPr>
                <a:t>culmination of the complete sequence</a:t>
              </a:r>
              <a:r>
                <a:rPr b="0" lang="en" sz="1250">
                  <a:solidFill>
                    <a:srgbClr val="374151"/>
                  </a:solidFill>
                  <a:latin typeface="Inter"/>
                  <a:ea typeface="Inter"/>
                  <a:cs typeface="Inter"/>
                  <a:sym typeface="Inter"/>
                </a:rPr>
                <a:t>, successfully bridging the message construction phase with the server communication phase.</a:t>
              </a:r>
              <a:endParaRPr b="0" sz="1250">
                <a:solidFill>
                  <a:srgbClr val="374151"/>
                </a:solidFill>
                <a:latin typeface="Inter"/>
                <a:ea typeface="Inter"/>
                <a:cs typeface="Inter"/>
                <a:sym typeface="Inter"/>
              </a:endParaRPr>
            </a:p>
            <a:p>
              <a:pPr indent="0" lvl="0" marL="0" rtl="0" algn="l">
                <a:spcBef>
                  <a:spcPts val="1125"/>
                </a:spcBef>
                <a:spcAft>
                  <a:spcPts val="0"/>
                </a:spcAft>
                <a:buNone/>
              </a:pPr>
              <a:r>
                <a:rPr b="0" lang="en" sz="1200">
                  <a:solidFill>
                    <a:srgbClr val="6B7280"/>
                  </a:solidFill>
                  <a:latin typeface="Inter"/>
                  <a:ea typeface="Inter"/>
                  <a:cs typeface="Inter"/>
                  <a:sym typeface="Inter"/>
                </a:rPr>
                <a:t>It ensures that all headers, attachments, and payloads are fully transmitted to the designated SMTP server before connection closure.</a:t>
              </a:r>
              <a:endParaRPr b="0" sz="1200">
                <a:solidFill>
                  <a:srgbClr val="6B7280"/>
                </a:solidFill>
                <a:latin typeface="Inter"/>
                <a:ea typeface="Inter"/>
                <a:cs typeface="Inter"/>
                <a:sym typeface="Inter"/>
              </a:endParaRPr>
            </a:p>
          </p:txBody>
        </p:sp>
      </p:grpSp>
      <p:pic>
        <p:nvPicPr>
          <p:cNvPr id="720" name="Google Shape;720;p32"/>
          <p:cNvPicPr preferRelativeResize="0"/>
          <p:nvPr/>
        </p:nvPicPr>
        <p:blipFill rotWithShape="1">
          <a:blip r:embed="rId5">
            <a:alphaModFix/>
          </a:blip>
          <a:srcRect b="0" l="0" r="0" t="0"/>
          <a:stretch/>
        </p:blipFill>
        <p:spPr>
          <a:xfrm>
            <a:off x="5848350" y="1714500"/>
            <a:ext cx="19200" cy="3105300"/>
          </a:xfrm>
          <a:prstGeom prst="rect">
            <a:avLst/>
          </a:prstGeom>
          <a:noFill/>
          <a:ln>
            <a:noFill/>
          </a:ln>
        </p:spPr>
      </p:pic>
      <p:grpSp>
        <p:nvGrpSpPr>
          <p:cNvPr id="721" name="Google Shape;721;p32"/>
          <p:cNvGrpSpPr/>
          <p:nvPr/>
        </p:nvGrpSpPr>
        <p:grpSpPr>
          <a:xfrm>
            <a:off x="5524500" y="1524000"/>
            <a:ext cx="5905500" cy="666900"/>
            <a:chOff x="0" y="0"/>
            <a:chExt cx="5905500" cy="666900"/>
          </a:xfrm>
        </p:grpSpPr>
        <p:sp>
          <p:nvSpPr>
            <p:cNvPr id="722" name="Google Shape;722;p32"/>
            <p:cNvSpPr/>
            <p:nvPr/>
          </p:nvSpPr>
          <p:spPr>
            <a:xfrm>
              <a:off x="0" y="0"/>
              <a:ext cx="5905500" cy="666900"/>
            </a:xfrm>
            <a:prstGeom prst="roundRect">
              <a:avLst>
                <a:gd fmla="val 1142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32"/>
            <p:cNvSpPr/>
            <p:nvPr/>
          </p:nvSpPr>
          <p:spPr>
            <a:xfrm>
              <a:off x="161925" y="161925"/>
              <a:ext cx="342900" cy="342900"/>
            </a:xfrm>
            <a:prstGeom prst="ellipse">
              <a:avLst/>
            </a:prstGeom>
            <a:solidFill>
              <a:srgbClr val="045A3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4" name="Google Shape;724;p32"/>
            <p:cNvSpPr txBox="1"/>
            <p:nvPr/>
          </p:nvSpPr>
          <p:spPr>
            <a:xfrm>
              <a:off x="161925" y="228600"/>
              <a:ext cx="3429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45A36"/>
                  </a:solidFill>
                  <a:latin typeface="Montserrat"/>
                  <a:ea typeface="Montserrat"/>
                  <a:cs typeface="Montserrat"/>
                  <a:sym typeface="Montserrat"/>
                </a:rPr>
                <a:t>01</a:t>
              </a:r>
              <a:endParaRPr b="1" sz="1000">
                <a:solidFill>
                  <a:srgbClr val="045A36"/>
                </a:solidFill>
                <a:latin typeface="Montserrat"/>
                <a:ea typeface="Montserrat"/>
                <a:cs typeface="Montserrat"/>
                <a:sym typeface="Montserrat"/>
              </a:endParaRPr>
            </a:p>
          </p:txBody>
        </p:sp>
        <p:sp>
          <p:nvSpPr>
            <p:cNvPr id="725" name="Google Shape;725;p32"/>
            <p:cNvSpPr txBox="1"/>
            <p:nvPr/>
          </p:nvSpPr>
          <p:spPr>
            <a:xfrm>
              <a:off x="666750" y="0"/>
              <a:ext cx="5048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CREATE</a:t>
              </a:r>
              <a:endParaRPr b="1" sz="1050">
                <a:solidFill>
                  <a:srgbClr val="045A36"/>
                </a:solidFill>
                <a:latin typeface="Montserrat"/>
                <a:ea typeface="Montserrat"/>
                <a:cs typeface="Montserrat"/>
                <a:sym typeface="Montserrat"/>
              </a:endParaRPr>
            </a:p>
            <a:p>
              <a:pPr indent="0" lvl="0" marL="0" rtl="0" algn="l">
                <a:spcBef>
                  <a:spcPts val="150"/>
                </a:spcBef>
                <a:spcAft>
                  <a:spcPts val="0"/>
                </a:spcAft>
                <a:buNone/>
              </a:pPr>
              <a:r>
                <a:rPr b="0" lang="en" sz="1000">
                  <a:solidFill>
                    <a:srgbClr val="4B5563"/>
                  </a:solidFill>
                  <a:latin typeface="Inter"/>
                  <a:ea typeface="Inter"/>
                  <a:cs typeface="Inter"/>
                  <a:sym typeface="Inter"/>
                </a:rPr>
                <a:t>Create message object and populate its headers and body.</a:t>
              </a:r>
              <a:endParaRPr b="0" sz="1000">
                <a:solidFill>
                  <a:srgbClr val="4B5563"/>
                </a:solidFill>
                <a:latin typeface="Inter"/>
                <a:ea typeface="Inter"/>
                <a:cs typeface="Inter"/>
                <a:sym typeface="Inter"/>
              </a:endParaRPr>
            </a:p>
          </p:txBody>
        </p:sp>
      </p:grpSp>
      <p:grpSp>
        <p:nvGrpSpPr>
          <p:cNvPr id="726" name="Google Shape;726;p32"/>
          <p:cNvGrpSpPr/>
          <p:nvPr/>
        </p:nvGrpSpPr>
        <p:grpSpPr>
          <a:xfrm>
            <a:off x="5524500" y="2295525"/>
            <a:ext cx="5905500" cy="666900"/>
            <a:chOff x="0" y="0"/>
            <a:chExt cx="5905500" cy="666900"/>
          </a:xfrm>
        </p:grpSpPr>
        <p:sp>
          <p:nvSpPr>
            <p:cNvPr id="727" name="Google Shape;727;p32"/>
            <p:cNvSpPr/>
            <p:nvPr/>
          </p:nvSpPr>
          <p:spPr>
            <a:xfrm>
              <a:off x="0" y="0"/>
              <a:ext cx="5905500" cy="666900"/>
            </a:xfrm>
            <a:prstGeom prst="roundRect">
              <a:avLst>
                <a:gd fmla="val 1142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32"/>
            <p:cNvSpPr/>
            <p:nvPr/>
          </p:nvSpPr>
          <p:spPr>
            <a:xfrm>
              <a:off x="161925" y="161925"/>
              <a:ext cx="342900" cy="342900"/>
            </a:xfrm>
            <a:prstGeom prst="ellipse">
              <a:avLst/>
            </a:prstGeom>
            <a:solidFill>
              <a:srgbClr val="045A3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9" name="Google Shape;729;p32"/>
            <p:cNvSpPr txBox="1"/>
            <p:nvPr/>
          </p:nvSpPr>
          <p:spPr>
            <a:xfrm>
              <a:off x="161925" y="228600"/>
              <a:ext cx="3429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45A36"/>
                  </a:solidFill>
                  <a:latin typeface="Montserrat"/>
                  <a:ea typeface="Montserrat"/>
                  <a:cs typeface="Montserrat"/>
                  <a:sym typeface="Montserrat"/>
                </a:rPr>
                <a:t>02</a:t>
              </a:r>
              <a:endParaRPr b="1" sz="1000">
                <a:solidFill>
                  <a:srgbClr val="045A36"/>
                </a:solidFill>
                <a:latin typeface="Montserrat"/>
                <a:ea typeface="Montserrat"/>
                <a:cs typeface="Montserrat"/>
                <a:sym typeface="Montserrat"/>
              </a:endParaRPr>
            </a:p>
          </p:txBody>
        </p:sp>
        <p:sp>
          <p:nvSpPr>
            <p:cNvPr id="730" name="Google Shape;730;p32"/>
            <p:cNvSpPr txBox="1"/>
            <p:nvPr/>
          </p:nvSpPr>
          <p:spPr>
            <a:xfrm>
              <a:off x="666750" y="0"/>
              <a:ext cx="5048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CONNECT</a:t>
              </a:r>
              <a:endParaRPr b="1" sz="1050">
                <a:solidFill>
                  <a:srgbClr val="045A36"/>
                </a:solidFill>
                <a:latin typeface="Montserrat"/>
                <a:ea typeface="Montserrat"/>
                <a:cs typeface="Montserrat"/>
                <a:sym typeface="Montserrat"/>
              </a:endParaRPr>
            </a:p>
            <a:p>
              <a:pPr indent="0" lvl="0" marL="0" rtl="0" algn="l">
                <a:spcBef>
                  <a:spcPts val="150"/>
                </a:spcBef>
                <a:spcAft>
                  <a:spcPts val="0"/>
                </a:spcAft>
                <a:buNone/>
              </a:pPr>
              <a:r>
                <a:rPr b="0" lang="en" sz="1000">
                  <a:solidFill>
                    <a:srgbClr val="4B5563"/>
                  </a:solidFill>
                  <a:latin typeface="Inter"/>
                  <a:ea typeface="Inter"/>
                  <a:cs typeface="Inter"/>
                  <a:sym typeface="Inter"/>
                </a:rPr>
                <a:t>Connect to the designated SMTP server securely.</a:t>
              </a:r>
              <a:endParaRPr b="0" sz="1000">
                <a:solidFill>
                  <a:srgbClr val="4B5563"/>
                </a:solidFill>
                <a:latin typeface="Inter"/>
                <a:ea typeface="Inter"/>
                <a:cs typeface="Inter"/>
                <a:sym typeface="Inter"/>
              </a:endParaRPr>
            </a:p>
          </p:txBody>
        </p:sp>
      </p:grpSp>
      <p:grpSp>
        <p:nvGrpSpPr>
          <p:cNvPr id="731" name="Google Shape;731;p32"/>
          <p:cNvGrpSpPr/>
          <p:nvPr/>
        </p:nvGrpSpPr>
        <p:grpSpPr>
          <a:xfrm>
            <a:off x="5524500" y="3067050"/>
            <a:ext cx="5905500" cy="666900"/>
            <a:chOff x="0" y="0"/>
            <a:chExt cx="5905500" cy="666900"/>
          </a:xfrm>
        </p:grpSpPr>
        <p:sp>
          <p:nvSpPr>
            <p:cNvPr id="732" name="Google Shape;732;p32"/>
            <p:cNvSpPr/>
            <p:nvPr/>
          </p:nvSpPr>
          <p:spPr>
            <a:xfrm>
              <a:off x="0" y="0"/>
              <a:ext cx="5905500" cy="666900"/>
            </a:xfrm>
            <a:prstGeom prst="roundRect">
              <a:avLst>
                <a:gd fmla="val 1142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32"/>
            <p:cNvSpPr/>
            <p:nvPr/>
          </p:nvSpPr>
          <p:spPr>
            <a:xfrm>
              <a:off x="161925" y="161925"/>
              <a:ext cx="342900" cy="342900"/>
            </a:xfrm>
            <a:prstGeom prst="ellipse">
              <a:avLst/>
            </a:prstGeom>
            <a:solidFill>
              <a:srgbClr val="045A3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32"/>
            <p:cNvSpPr txBox="1"/>
            <p:nvPr/>
          </p:nvSpPr>
          <p:spPr>
            <a:xfrm>
              <a:off x="161925" y="228600"/>
              <a:ext cx="3429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45A36"/>
                  </a:solidFill>
                  <a:latin typeface="Montserrat"/>
                  <a:ea typeface="Montserrat"/>
                  <a:cs typeface="Montserrat"/>
                  <a:sym typeface="Montserrat"/>
                </a:rPr>
                <a:t>03</a:t>
              </a:r>
              <a:endParaRPr b="1" sz="1000">
                <a:solidFill>
                  <a:srgbClr val="045A36"/>
                </a:solidFill>
                <a:latin typeface="Montserrat"/>
                <a:ea typeface="Montserrat"/>
                <a:cs typeface="Montserrat"/>
                <a:sym typeface="Montserrat"/>
              </a:endParaRPr>
            </a:p>
          </p:txBody>
        </p:sp>
        <p:sp>
          <p:nvSpPr>
            <p:cNvPr id="735" name="Google Shape;735;p32"/>
            <p:cNvSpPr txBox="1"/>
            <p:nvPr/>
          </p:nvSpPr>
          <p:spPr>
            <a:xfrm>
              <a:off x="666750" y="0"/>
              <a:ext cx="5048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LOGIN</a:t>
              </a:r>
              <a:endParaRPr b="1" sz="1050">
                <a:solidFill>
                  <a:srgbClr val="045A36"/>
                </a:solidFill>
                <a:latin typeface="Montserrat"/>
                <a:ea typeface="Montserrat"/>
                <a:cs typeface="Montserrat"/>
                <a:sym typeface="Montserrat"/>
              </a:endParaRPr>
            </a:p>
            <a:p>
              <a:pPr indent="0" lvl="0" marL="0" rtl="0" algn="l">
                <a:spcBef>
                  <a:spcPts val="150"/>
                </a:spcBef>
                <a:spcAft>
                  <a:spcPts val="0"/>
                </a:spcAft>
                <a:buNone/>
              </a:pPr>
              <a:r>
                <a:rPr b="0" lang="en" sz="1000">
                  <a:solidFill>
                    <a:srgbClr val="4B5563"/>
                  </a:solidFill>
                  <a:latin typeface="Inter"/>
                  <a:ea typeface="Inter"/>
                  <a:cs typeface="Inter"/>
                  <a:sym typeface="Inter"/>
                </a:rPr>
                <a:t>Execute the login process to authenticate credentials.</a:t>
              </a:r>
              <a:endParaRPr b="0" sz="1000">
                <a:solidFill>
                  <a:srgbClr val="4B5563"/>
                </a:solidFill>
                <a:latin typeface="Inter"/>
                <a:ea typeface="Inter"/>
                <a:cs typeface="Inter"/>
                <a:sym typeface="Inter"/>
              </a:endParaRPr>
            </a:p>
          </p:txBody>
        </p:sp>
      </p:grpSp>
      <p:grpSp>
        <p:nvGrpSpPr>
          <p:cNvPr id="736" name="Google Shape;736;p32"/>
          <p:cNvGrpSpPr/>
          <p:nvPr/>
        </p:nvGrpSpPr>
        <p:grpSpPr>
          <a:xfrm>
            <a:off x="5524500" y="3838575"/>
            <a:ext cx="5905500" cy="666900"/>
            <a:chOff x="0" y="0"/>
            <a:chExt cx="5905500" cy="666900"/>
          </a:xfrm>
        </p:grpSpPr>
        <p:sp>
          <p:nvSpPr>
            <p:cNvPr id="737" name="Google Shape;737;p32"/>
            <p:cNvSpPr/>
            <p:nvPr/>
          </p:nvSpPr>
          <p:spPr>
            <a:xfrm>
              <a:off x="0" y="0"/>
              <a:ext cx="5905500" cy="666900"/>
            </a:xfrm>
            <a:prstGeom prst="roundRect">
              <a:avLst>
                <a:gd fmla="val 11428" name="adj"/>
              </a:avLst>
            </a:prstGeom>
            <a:solidFill>
              <a:srgbClr val="045A36"/>
            </a:solidFill>
            <a:ln cap="flat" cmpd="sng" w="19050">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8" name="Google Shape;738;p32"/>
            <p:cNvSpPr/>
            <p:nvPr/>
          </p:nvSpPr>
          <p:spPr>
            <a:xfrm>
              <a:off x="161925" y="161925"/>
              <a:ext cx="342900" cy="3429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32"/>
            <p:cNvSpPr txBox="1"/>
            <p:nvPr/>
          </p:nvSpPr>
          <p:spPr>
            <a:xfrm>
              <a:off x="161925" y="228600"/>
              <a:ext cx="3429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04</a:t>
              </a:r>
              <a:endParaRPr b="1" sz="1000">
                <a:solidFill>
                  <a:srgbClr val="FFFFFF"/>
                </a:solidFill>
                <a:latin typeface="Montserrat"/>
                <a:ea typeface="Montserrat"/>
                <a:cs typeface="Montserrat"/>
                <a:sym typeface="Montserrat"/>
              </a:endParaRPr>
            </a:p>
          </p:txBody>
        </p:sp>
        <p:sp>
          <p:nvSpPr>
            <p:cNvPr id="740" name="Google Shape;740;p32"/>
            <p:cNvSpPr txBox="1"/>
            <p:nvPr/>
          </p:nvSpPr>
          <p:spPr>
            <a:xfrm>
              <a:off x="666750" y="0"/>
              <a:ext cx="5048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D4A017"/>
                  </a:solidFill>
                  <a:latin typeface="Montserrat"/>
                  <a:ea typeface="Montserrat"/>
                  <a:cs typeface="Montserrat"/>
                  <a:sym typeface="Montserrat"/>
                </a:rPr>
                <a:t>SEND (ACTIVE)</a:t>
              </a:r>
              <a:endParaRPr b="1" sz="1050">
                <a:solidFill>
                  <a:srgbClr val="D4A017"/>
                </a:solidFill>
                <a:latin typeface="Montserrat"/>
                <a:ea typeface="Montserrat"/>
                <a:cs typeface="Montserrat"/>
                <a:sym typeface="Montserrat"/>
              </a:endParaRPr>
            </a:p>
            <a:p>
              <a:pPr indent="0" lvl="0" marL="0" rtl="0" algn="l">
                <a:spcBef>
                  <a:spcPts val="150"/>
                </a:spcBef>
                <a:spcAft>
                  <a:spcPts val="0"/>
                </a:spcAft>
                <a:buNone/>
              </a:pPr>
              <a:r>
                <a:rPr b="0" lang="en" sz="1000">
                  <a:solidFill>
                    <a:srgbClr val="FFFFFF"/>
                  </a:solidFill>
                  <a:latin typeface="Inter Medium"/>
                  <a:ea typeface="Inter Medium"/>
                  <a:cs typeface="Inter Medium"/>
                  <a:sym typeface="Inter Medium"/>
                </a:rPr>
                <a:t>Utilizes </a:t>
              </a:r>
              <a:r>
                <a:rPr b="0" lang="en" sz="1000">
                  <a:solidFill>
                    <a:srgbClr val="FFFFFF"/>
                  </a:solidFill>
                  <a:highlight>
                    <a:srgbClr val="034429"/>
                  </a:highlight>
                  <a:latin typeface="Arial"/>
                  <a:ea typeface="Arial"/>
                  <a:cs typeface="Arial"/>
                  <a:sym typeface="Arial"/>
                </a:rPr>
                <a:t>send_message</a:t>
              </a:r>
              <a:r>
                <a:rPr b="0" lang="en" sz="1000">
                  <a:solidFill>
                    <a:srgbClr val="FFFFFF"/>
                  </a:solidFill>
                  <a:latin typeface="Inter Medium"/>
                  <a:ea typeface="Inter Medium"/>
                  <a:cs typeface="Inter Medium"/>
                  <a:sym typeface="Inter Medium"/>
                </a:rPr>
                <a:t> to transmit the constructed object.</a:t>
              </a:r>
              <a:endParaRPr b="0" sz="1000">
                <a:solidFill>
                  <a:srgbClr val="FFFFFF"/>
                </a:solidFill>
                <a:latin typeface="Inter Medium"/>
                <a:ea typeface="Inter Medium"/>
                <a:cs typeface="Inter Medium"/>
                <a:sym typeface="Inter Medium"/>
              </a:endParaRPr>
            </a:p>
          </p:txBody>
        </p:sp>
      </p:grpSp>
      <p:grpSp>
        <p:nvGrpSpPr>
          <p:cNvPr id="741" name="Google Shape;741;p32"/>
          <p:cNvGrpSpPr/>
          <p:nvPr/>
        </p:nvGrpSpPr>
        <p:grpSpPr>
          <a:xfrm>
            <a:off x="5524500" y="4610100"/>
            <a:ext cx="5905500" cy="666900"/>
            <a:chOff x="0" y="0"/>
            <a:chExt cx="5905500" cy="666900"/>
          </a:xfrm>
        </p:grpSpPr>
        <p:sp>
          <p:nvSpPr>
            <p:cNvPr id="742" name="Google Shape;742;p32"/>
            <p:cNvSpPr/>
            <p:nvPr/>
          </p:nvSpPr>
          <p:spPr>
            <a:xfrm>
              <a:off x="0" y="0"/>
              <a:ext cx="5905500" cy="666900"/>
            </a:xfrm>
            <a:prstGeom prst="roundRect">
              <a:avLst>
                <a:gd fmla="val 1142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3" name="Google Shape;743;p32"/>
            <p:cNvSpPr/>
            <p:nvPr/>
          </p:nvSpPr>
          <p:spPr>
            <a:xfrm>
              <a:off x="161925" y="161925"/>
              <a:ext cx="342900" cy="342900"/>
            </a:xfrm>
            <a:prstGeom prst="ellipse">
              <a:avLst/>
            </a:prstGeom>
            <a:solidFill>
              <a:srgbClr val="045A3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32"/>
            <p:cNvSpPr txBox="1"/>
            <p:nvPr/>
          </p:nvSpPr>
          <p:spPr>
            <a:xfrm>
              <a:off x="161925" y="228600"/>
              <a:ext cx="3429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45A36"/>
                  </a:solidFill>
                  <a:latin typeface="Montserrat"/>
                  <a:ea typeface="Montserrat"/>
                  <a:cs typeface="Montserrat"/>
                  <a:sym typeface="Montserrat"/>
                </a:rPr>
                <a:t>05</a:t>
              </a:r>
              <a:endParaRPr b="1" sz="1000">
                <a:solidFill>
                  <a:srgbClr val="045A36"/>
                </a:solidFill>
                <a:latin typeface="Montserrat"/>
                <a:ea typeface="Montserrat"/>
                <a:cs typeface="Montserrat"/>
                <a:sym typeface="Montserrat"/>
              </a:endParaRPr>
            </a:p>
          </p:txBody>
        </p:sp>
        <p:sp>
          <p:nvSpPr>
            <p:cNvPr id="745" name="Google Shape;745;p32"/>
            <p:cNvSpPr txBox="1"/>
            <p:nvPr/>
          </p:nvSpPr>
          <p:spPr>
            <a:xfrm>
              <a:off x="666750" y="0"/>
              <a:ext cx="5048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45A36"/>
                  </a:solidFill>
                  <a:latin typeface="Montserrat"/>
                  <a:ea typeface="Montserrat"/>
                  <a:cs typeface="Montserrat"/>
                  <a:sym typeface="Montserrat"/>
                </a:rPr>
                <a:t>CLOSE</a:t>
              </a:r>
              <a:endParaRPr b="1" sz="1050">
                <a:solidFill>
                  <a:srgbClr val="045A36"/>
                </a:solidFill>
                <a:latin typeface="Montserrat"/>
                <a:ea typeface="Montserrat"/>
                <a:cs typeface="Montserrat"/>
                <a:sym typeface="Montserrat"/>
              </a:endParaRPr>
            </a:p>
            <a:p>
              <a:pPr indent="0" lvl="0" marL="0" rtl="0" algn="l">
                <a:spcBef>
                  <a:spcPts val="150"/>
                </a:spcBef>
                <a:spcAft>
                  <a:spcPts val="0"/>
                </a:spcAft>
                <a:buNone/>
              </a:pPr>
              <a:r>
                <a:rPr b="0" lang="en" sz="1000">
                  <a:solidFill>
                    <a:srgbClr val="4B5563"/>
                  </a:solidFill>
                  <a:latin typeface="Inter"/>
                  <a:ea typeface="Inter"/>
                  <a:cs typeface="Inter"/>
                  <a:sym typeface="Inter"/>
                </a:rPr>
                <a:t>Close the connection to free up system resources.</a:t>
              </a:r>
              <a:endParaRPr b="0" sz="1000">
                <a:solidFill>
                  <a:srgbClr val="4B5563"/>
                </a:solidFill>
                <a:latin typeface="Inter"/>
                <a:ea typeface="Inter"/>
                <a:cs typeface="Inter"/>
                <a:sym typeface="Inter"/>
              </a:endParaRPr>
            </a:p>
          </p:txBody>
        </p:sp>
      </p:grpSp>
      <p:pic>
        <p:nvPicPr>
          <p:cNvPr id="746" name="Google Shape;746;p32"/>
          <p:cNvPicPr preferRelativeResize="0"/>
          <p:nvPr/>
        </p:nvPicPr>
        <p:blipFill rotWithShape="1">
          <a:blip r:embed="rId6">
            <a:alphaModFix/>
          </a:blip>
          <a:srcRect b="0" l="0" r="0" t="0"/>
          <a:stretch/>
        </p:blipFill>
        <p:spPr>
          <a:xfrm>
            <a:off x="762000" y="5981700"/>
            <a:ext cx="10668000" cy="304800"/>
          </a:xfrm>
          <a:prstGeom prst="rect">
            <a:avLst/>
          </a:prstGeom>
          <a:noFill/>
          <a:ln>
            <a:noFill/>
          </a:ln>
        </p:spPr>
      </p:pic>
      <p:sp>
        <p:nvSpPr>
          <p:cNvPr id="747" name="Google Shape;747;p32"/>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748" name="Google Shape;748;p32"/>
          <p:cNvPicPr preferRelativeResize="0"/>
          <p:nvPr/>
        </p:nvPicPr>
        <p:blipFill rotWithShape="1">
          <a:blip r:embed="rId7">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2" name="Shape 752"/>
        <p:cNvGrpSpPr/>
        <p:nvPr/>
      </p:nvGrpSpPr>
      <p:grpSpPr>
        <a:xfrm>
          <a:off x="0" y="0"/>
          <a:ext cx="0" cy="0"/>
          <a:chOff x="0" y="0"/>
          <a:chExt cx="0" cy="0"/>
        </a:xfrm>
      </p:grpSpPr>
      <p:pic>
        <p:nvPicPr>
          <p:cNvPr id="753" name="Google Shape;753;p33"/>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754" name="Google Shape;754;p33"/>
          <p:cNvSpPr txBox="1"/>
          <p:nvPr/>
        </p:nvSpPr>
        <p:spPr>
          <a:xfrm>
            <a:off x="762000" y="428625"/>
            <a:ext cx="1066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45A36"/>
                </a:solidFill>
                <a:latin typeface="Montserrat SemiBold"/>
                <a:ea typeface="Montserrat SemiBold"/>
                <a:cs typeface="Montserrat SemiBold"/>
                <a:sym typeface="Montserrat SemiBold"/>
              </a:rPr>
              <a:t>Combining the Libraries Yields a Fully Functional Email Automation Script</a:t>
            </a:r>
            <a:endParaRPr b="0" sz="2200">
              <a:solidFill>
                <a:srgbClr val="045A36"/>
              </a:solidFill>
              <a:latin typeface="Montserrat SemiBold"/>
              <a:ea typeface="Montserrat SemiBold"/>
              <a:cs typeface="Montserrat SemiBold"/>
              <a:sym typeface="Montserrat SemiBold"/>
            </a:endParaRPr>
          </a:p>
        </p:txBody>
      </p:sp>
      <p:sp>
        <p:nvSpPr>
          <p:cNvPr id="755" name="Google Shape;755;p3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56" name="Google Shape;756;p33"/>
          <p:cNvGrpSpPr/>
          <p:nvPr/>
        </p:nvGrpSpPr>
        <p:grpSpPr>
          <a:xfrm>
            <a:off x="762000" y="1352550"/>
            <a:ext cx="10668000" cy="4000500"/>
            <a:chOff x="762000" y="1352550"/>
            <a:chExt cx="10668000" cy="4000500"/>
          </a:xfrm>
        </p:grpSpPr>
        <p:sp>
          <p:nvSpPr>
            <p:cNvPr id="757" name="Google Shape;757;p33"/>
            <p:cNvSpPr/>
            <p:nvPr/>
          </p:nvSpPr>
          <p:spPr>
            <a:xfrm>
              <a:off x="762000" y="1352550"/>
              <a:ext cx="10668000" cy="4000500"/>
            </a:xfrm>
            <a:prstGeom prst="roundRect">
              <a:avLst>
                <a:gd fmla="val 2857" name="adj"/>
              </a:avLst>
            </a:prstGeom>
            <a:solidFill>
              <a:srgbClr val="1F2937"/>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8" name="Google Shape;758;p33"/>
            <p:cNvSpPr/>
            <p:nvPr/>
          </p:nvSpPr>
          <p:spPr>
            <a:xfrm>
              <a:off x="762000" y="1352550"/>
              <a:ext cx="10668000" cy="381000"/>
            </a:xfrm>
            <a:custGeom>
              <a:rect b="b" l="l" r="r" t="t"/>
              <a:pathLst>
                <a:path extrusionOk="0" h="120000" w="120000">
                  <a:moveTo>
                    <a:pt x="0" y="36000"/>
                  </a:moveTo>
                  <a:cubicBezTo>
                    <a:pt x="0" y="26452"/>
                    <a:pt x="135" y="17295"/>
                    <a:pt x="377" y="10544"/>
                  </a:cubicBezTo>
                  <a:cubicBezTo>
                    <a:pt x="618" y="3793"/>
                    <a:pt x="945" y="0"/>
                    <a:pt x="1286" y="0"/>
                  </a:cubicBezTo>
                  <a:lnTo>
                    <a:pt x="118714" y="0"/>
                  </a:lnTo>
                  <a:cubicBezTo>
                    <a:pt x="119055" y="-2"/>
                    <a:pt x="119382" y="3790"/>
                    <a:pt x="119623" y="10541"/>
                  </a:cubicBezTo>
                  <a:cubicBezTo>
                    <a:pt x="119865" y="17293"/>
                    <a:pt x="120000" y="26451"/>
                    <a:pt x="120000" y="36000"/>
                  </a:cubicBezTo>
                  <a:lnTo>
                    <a:pt x="120000" y="120000"/>
                  </a:lnTo>
                  <a:lnTo>
                    <a:pt x="0" y="120000"/>
                  </a:lnTo>
                  <a:close/>
                </a:path>
              </a:pathLst>
            </a:custGeom>
            <a:solidFill>
              <a:srgbClr val="11182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9" name="Google Shape;759;p33"/>
            <p:cNvSpPr/>
            <p:nvPr/>
          </p:nvSpPr>
          <p:spPr>
            <a:xfrm>
              <a:off x="990600" y="1485900"/>
              <a:ext cx="114300" cy="114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0" name="Google Shape;760;p33"/>
            <p:cNvSpPr/>
            <p:nvPr/>
          </p:nvSpPr>
          <p:spPr>
            <a:xfrm>
              <a:off x="1181100" y="1485900"/>
              <a:ext cx="114300" cy="114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1" name="Google Shape;761;p33"/>
            <p:cNvSpPr/>
            <p:nvPr/>
          </p:nvSpPr>
          <p:spPr>
            <a:xfrm>
              <a:off x="1371600" y="1485900"/>
              <a:ext cx="114300" cy="114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2" name="Google Shape;762;p33"/>
            <p:cNvSpPr txBox="1"/>
            <p:nvPr/>
          </p:nvSpPr>
          <p:spPr>
            <a:xfrm>
              <a:off x="1714500" y="1352550"/>
              <a:ext cx="2857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9CA3AF"/>
                  </a:solidFill>
                  <a:latin typeface="Inter Medium"/>
                  <a:ea typeface="Inter Medium"/>
                  <a:cs typeface="Inter Medium"/>
                  <a:sym typeface="Inter Medium"/>
                </a:rPr>
                <a:t>email_automation.py</a:t>
              </a:r>
              <a:endParaRPr b="0" sz="1100">
                <a:solidFill>
                  <a:srgbClr val="9CA3AF"/>
                </a:solidFill>
                <a:latin typeface="Inter Medium"/>
                <a:ea typeface="Inter Medium"/>
                <a:cs typeface="Inter Medium"/>
                <a:sym typeface="Inter Medium"/>
              </a:endParaRPr>
            </a:p>
          </p:txBody>
        </p:sp>
        <p:sp>
          <p:nvSpPr>
            <p:cNvPr id="763" name="Google Shape;763;p33"/>
            <p:cNvSpPr txBox="1"/>
            <p:nvPr/>
          </p:nvSpPr>
          <p:spPr>
            <a:xfrm>
              <a:off x="1047750" y="1857375"/>
              <a:ext cx="10096500" cy="3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64">
                  <a:solidFill>
                    <a:srgbClr val="F472B6"/>
                  </a:solidFill>
                  <a:latin typeface="Consolas"/>
                  <a:ea typeface="Consolas"/>
                  <a:cs typeface="Consolas"/>
                  <a:sym typeface="Consolas"/>
                </a:rPr>
                <a:t>import</a:t>
              </a:r>
              <a:r>
                <a:rPr lang="en" sz="1064">
                  <a:solidFill>
                    <a:srgbClr val="E5E7EB"/>
                  </a:solidFill>
                  <a:latin typeface="Consolas"/>
                  <a:ea typeface="Consolas"/>
                  <a:cs typeface="Consolas"/>
                  <a:sym typeface="Consolas"/>
                </a:rPr>
                <a:t> smtplib</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b="1" lang="en" sz="1064">
                  <a:solidFill>
                    <a:srgbClr val="F472B6"/>
                  </a:solidFill>
                  <a:latin typeface="Consolas"/>
                  <a:ea typeface="Consolas"/>
                  <a:cs typeface="Consolas"/>
                  <a:sym typeface="Consolas"/>
                </a:rPr>
                <a:t>import</a:t>
              </a:r>
              <a:r>
                <a:rPr lang="en" sz="1064">
                  <a:solidFill>
                    <a:srgbClr val="E5E7EB"/>
                  </a:solidFill>
                  <a:latin typeface="Consolas"/>
                  <a:ea typeface="Consolas"/>
                  <a:cs typeface="Consolas"/>
                  <a:sym typeface="Consolas"/>
                </a:rPr>
                <a:t> ssl</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b="1" lang="en" sz="1064">
                  <a:solidFill>
                    <a:srgbClr val="F472B6"/>
                  </a:solidFill>
                  <a:latin typeface="Consolas"/>
                  <a:ea typeface="Consolas"/>
                  <a:cs typeface="Consolas"/>
                  <a:sym typeface="Consolas"/>
                </a:rPr>
                <a:t>from</a:t>
              </a:r>
              <a:r>
                <a:rPr lang="en" sz="1064">
                  <a:solidFill>
                    <a:srgbClr val="E5E7EB"/>
                  </a:solidFill>
                  <a:latin typeface="Consolas"/>
                  <a:ea typeface="Consolas"/>
                  <a:cs typeface="Consolas"/>
                  <a:sym typeface="Consolas"/>
                </a:rPr>
                <a:t> email.message </a:t>
              </a:r>
              <a:r>
                <a:rPr b="1" lang="en" sz="1064">
                  <a:solidFill>
                    <a:srgbClr val="F472B6"/>
                  </a:solidFill>
                  <a:latin typeface="Consolas"/>
                  <a:ea typeface="Consolas"/>
                  <a:cs typeface="Consolas"/>
                  <a:sym typeface="Consolas"/>
                </a:rPr>
                <a:t>import</a:t>
              </a:r>
              <a:r>
                <a:rPr lang="en" sz="1064">
                  <a:solidFill>
                    <a:srgbClr val="E5E7EB"/>
                  </a:solidFill>
                  <a:latin typeface="Consolas"/>
                  <a:ea typeface="Consolas"/>
                  <a:cs typeface="Consolas"/>
                  <a:sym typeface="Consolas"/>
                </a:rPr>
                <a:t> </a:t>
              </a:r>
              <a:r>
                <a:rPr lang="en" sz="1064">
                  <a:solidFill>
                    <a:srgbClr val="60A5FA"/>
                  </a:solidFill>
                  <a:latin typeface="Consolas"/>
                  <a:ea typeface="Consolas"/>
                  <a:cs typeface="Consolas"/>
                  <a:sym typeface="Consolas"/>
                </a:rPr>
                <a:t>EmailMessage</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sender_email = </a:t>
              </a:r>
              <a:r>
                <a:rPr lang="en" sz="1064">
                  <a:solidFill>
                    <a:srgbClr val="34D399"/>
                  </a:solidFill>
                  <a:latin typeface="Consolas"/>
                  <a:ea typeface="Consolas"/>
                  <a:cs typeface="Consolas"/>
                  <a:sym typeface="Consolas"/>
                </a:rPr>
                <a:t>"sender@gmail.com"</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receiver_email = </a:t>
              </a:r>
              <a:r>
                <a:rPr lang="en" sz="1064">
                  <a:solidFill>
                    <a:srgbClr val="34D399"/>
                  </a:solidFill>
                  <a:latin typeface="Consolas"/>
                  <a:ea typeface="Consolas"/>
                  <a:cs typeface="Consolas"/>
                  <a:sym typeface="Consolas"/>
                </a:rPr>
                <a:t>"receiver@gmail.com"</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msg = </a:t>
              </a:r>
              <a:r>
                <a:rPr lang="en" sz="1064">
                  <a:solidFill>
                    <a:srgbClr val="60A5FA"/>
                  </a:solidFill>
                  <a:latin typeface="Consolas"/>
                  <a:ea typeface="Consolas"/>
                  <a:cs typeface="Consolas"/>
                  <a:sym typeface="Consolas"/>
                </a:rPr>
                <a:t>EmailMessage</a:t>
              </a:r>
              <a:r>
                <a:rPr lang="en" sz="1064">
                  <a:solidFill>
                    <a:srgbClr val="E5E7EB"/>
                  </a:solidFill>
                  <a:latin typeface="Consolas"/>
                  <a:ea typeface="Consolas"/>
                  <a:cs typeface="Consolas"/>
                  <a:sym typeface="Consolas"/>
                </a:rPr>
                <a:t>()</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msg[</a:t>
              </a:r>
              <a:r>
                <a:rPr lang="en" sz="1064">
                  <a:solidFill>
                    <a:srgbClr val="34D399"/>
                  </a:solidFill>
                  <a:latin typeface="Consolas"/>
                  <a:ea typeface="Consolas"/>
                  <a:cs typeface="Consolas"/>
                  <a:sym typeface="Consolas"/>
                </a:rPr>
                <a:t>"From"</a:t>
              </a:r>
              <a:r>
                <a:rPr lang="en" sz="1064">
                  <a:solidFill>
                    <a:srgbClr val="E5E7EB"/>
                  </a:solidFill>
                  <a:latin typeface="Consolas"/>
                  <a:ea typeface="Consolas"/>
                  <a:cs typeface="Consolas"/>
                  <a:sym typeface="Consolas"/>
                </a:rPr>
                <a:t>] = sender_email</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msg[</a:t>
              </a:r>
              <a:r>
                <a:rPr lang="en" sz="1064">
                  <a:solidFill>
                    <a:srgbClr val="34D399"/>
                  </a:solidFill>
                  <a:latin typeface="Consolas"/>
                  <a:ea typeface="Consolas"/>
                  <a:cs typeface="Consolas"/>
                  <a:sym typeface="Consolas"/>
                </a:rPr>
                <a:t>"To"</a:t>
              </a:r>
              <a:r>
                <a:rPr lang="en" sz="1064">
                  <a:solidFill>
                    <a:srgbClr val="E5E7EB"/>
                  </a:solidFill>
                  <a:latin typeface="Consolas"/>
                  <a:ea typeface="Consolas"/>
                  <a:cs typeface="Consolas"/>
                  <a:sym typeface="Consolas"/>
                </a:rPr>
                <a:t>] = receiver_email</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msg[</a:t>
              </a:r>
              <a:r>
                <a:rPr lang="en" sz="1064">
                  <a:solidFill>
                    <a:srgbClr val="34D399"/>
                  </a:solidFill>
                  <a:latin typeface="Consolas"/>
                  <a:ea typeface="Consolas"/>
                  <a:cs typeface="Consolas"/>
                  <a:sym typeface="Consolas"/>
                </a:rPr>
                <a:t>"Subject"</a:t>
              </a:r>
              <a:r>
                <a:rPr lang="en" sz="1064">
                  <a:solidFill>
                    <a:srgbClr val="E5E7EB"/>
                  </a:solidFill>
                  <a:latin typeface="Consolas"/>
                  <a:ea typeface="Consolas"/>
                  <a:cs typeface="Consolas"/>
                  <a:sym typeface="Consolas"/>
                </a:rPr>
                <a:t>] = </a:t>
              </a:r>
              <a:r>
                <a:rPr lang="en" sz="1064">
                  <a:solidFill>
                    <a:srgbClr val="34D399"/>
                  </a:solidFill>
                  <a:latin typeface="Consolas"/>
                  <a:ea typeface="Consolas"/>
                  <a:cs typeface="Consolas"/>
                  <a:sym typeface="Consolas"/>
                </a:rPr>
                <a:t>"Python Test Email"</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msg.set_content(</a:t>
              </a:r>
              <a:r>
                <a:rPr lang="en" sz="1064">
                  <a:solidFill>
                    <a:srgbClr val="34D399"/>
                  </a:solidFill>
                  <a:latin typeface="Consolas"/>
                  <a:ea typeface="Consolas"/>
                  <a:cs typeface="Consolas"/>
                  <a:sym typeface="Consolas"/>
                </a:rPr>
                <a:t>"Hello! This email was sent using Python."</a:t>
              </a:r>
              <a:r>
                <a:rPr lang="en" sz="1064">
                  <a:solidFill>
                    <a:srgbClr val="E5E7EB"/>
                  </a:solidFill>
                  <a:latin typeface="Consolas"/>
                  <a:ea typeface="Consolas"/>
                  <a:cs typeface="Consolas"/>
                  <a:sym typeface="Consolas"/>
                </a:rPr>
                <a:t>)</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context = ssl.create_default_context()</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b="1" lang="en" sz="1064">
                  <a:solidFill>
                    <a:srgbClr val="F472B6"/>
                  </a:solidFill>
                  <a:latin typeface="Consolas"/>
                  <a:ea typeface="Consolas"/>
                  <a:cs typeface="Consolas"/>
                  <a:sym typeface="Consolas"/>
                </a:rPr>
                <a:t>with</a:t>
              </a:r>
              <a:r>
                <a:rPr lang="en" sz="1064">
                  <a:solidFill>
                    <a:srgbClr val="E5E7EB"/>
                  </a:solidFill>
                  <a:latin typeface="Consolas"/>
                  <a:ea typeface="Consolas"/>
                  <a:cs typeface="Consolas"/>
                  <a:sym typeface="Consolas"/>
                </a:rPr>
                <a:t> smtplib.SMTP_SSL(</a:t>
              </a:r>
              <a:r>
                <a:rPr lang="en" sz="1064">
                  <a:solidFill>
                    <a:srgbClr val="34D399"/>
                  </a:solidFill>
                  <a:latin typeface="Consolas"/>
                  <a:ea typeface="Consolas"/>
                  <a:cs typeface="Consolas"/>
                  <a:sym typeface="Consolas"/>
                </a:rPr>
                <a:t>"smtp.gmail.com"</a:t>
              </a:r>
              <a:r>
                <a:rPr lang="en" sz="1064">
                  <a:solidFill>
                    <a:srgbClr val="E5E7EB"/>
                  </a:solidFill>
                  <a:latin typeface="Consolas"/>
                  <a:ea typeface="Consolas"/>
                  <a:cs typeface="Consolas"/>
                  <a:sym typeface="Consolas"/>
                </a:rPr>
                <a:t>, </a:t>
              </a:r>
              <a:r>
                <a:rPr lang="en" sz="1064">
                  <a:solidFill>
                    <a:srgbClr val="FBBF24"/>
                  </a:solidFill>
                  <a:latin typeface="Consolas"/>
                  <a:ea typeface="Consolas"/>
                  <a:cs typeface="Consolas"/>
                  <a:sym typeface="Consolas"/>
                </a:rPr>
                <a:t>465</a:t>
              </a:r>
              <a:r>
                <a:rPr lang="en" sz="1064">
                  <a:solidFill>
                    <a:srgbClr val="E5E7EB"/>
                  </a:solidFill>
                  <a:latin typeface="Consolas"/>
                  <a:ea typeface="Consolas"/>
                  <a:cs typeface="Consolas"/>
                  <a:sym typeface="Consolas"/>
                </a:rPr>
                <a:t>, context=context) </a:t>
              </a:r>
              <a:r>
                <a:rPr b="1" lang="en" sz="1064">
                  <a:solidFill>
                    <a:srgbClr val="F472B6"/>
                  </a:solidFill>
                  <a:latin typeface="Consolas"/>
                  <a:ea typeface="Consolas"/>
                  <a:cs typeface="Consolas"/>
                  <a:sym typeface="Consolas"/>
                </a:rPr>
                <a:t>as</a:t>
              </a:r>
              <a:r>
                <a:rPr lang="en" sz="1064">
                  <a:solidFill>
                    <a:srgbClr val="E5E7EB"/>
                  </a:solidFill>
                  <a:latin typeface="Consolas"/>
                  <a:ea typeface="Consolas"/>
                  <a:cs typeface="Consolas"/>
                  <a:sym typeface="Consolas"/>
                </a:rPr>
                <a:t> server:</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    server.login(sender_email, password)</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E5E7EB"/>
                  </a:solidFill>
                  <a:latin typeface="Consolas"/>
                  <a:ea typeface="Consolas"/>
                  <a:cs typeface="Consolas"/>
                  <a:sym typeface="Consolas"/>
                </a:rPr>
                <a:t>    server.send_message(msg)</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t/>
              </a:r>
              <a:endParaRPr sz="1064">
                <a:solidFill>
                  <a:srgbClr val="E5E7EB"/>
                </a:solidFill>
                <a:latin typeface="Consolas"/>
                <a:ea typeface="Consolas"/>
                <a:cs typeface="Consolas"/>
                <a:sym typeface="Consolas"/>
              </a:endParaRPr>
            </a:p>
            <a:p>
              <a:pPr indent="0" lvl="0" marL="0" rtl="0" algn="l">
                <a:spcBef>
                  <a:spcPts val="0"/>
                </a:spcBef>
                <a:spcAft>
                  <a:spcPts val="0"/>
                </a:spcAft>
                <a:buNone/>
              </a:pPr>
              <a:r>
                <a:rPr lang="en" sz="1064">
                  <a:solidFill>
                    <a:srgbClr val="38BDF8"/>
                  </a:solidFill>
                  <a:latin typeface="Consolas"/>
                  <a:ea typeface="Consolas"/>
                  <a:cs typeface="Consolas"/>
                  <a:sym typeface="Consolas"/>
                </a:rPr>
                <a:t>print</a:t>
              </a:r>
              <a:r>
                <a:rPr lang="en" sz="1064">
                  <a:solidFill>
                    <a:srgbClr val="E5E7EB"/>
                  </a:solidFill>
                  <a:latin typeface="Consolas"/>
                  <a:ea typeface="Consolas"/>
                  <a:cs typeface="Consolas"/>
                  <a:sym typeface="Consolas"/>
                </a:rPr>
                <a:t>(</a:t>
              </a:r>
              <a:r>
                <a:rPr lang="en" sz="1064">
                  <a:solidFill>
                    <a:srgbClr val="34D399"/>
                  </a:solidFill>
                  <a:latin typeface="Consolas"/>
                  <a:ea typeface="Consolas"/>
                  <a:cs typeface="Consolas"/>
                  <a:sym typeface="Consolas"/>
                </a:rPr>
                <a:t>"Email sent successfully!"</a:t>
              </a:r>
              <a:r>
                <a:rPr lang="en" sz="1064">
                  <a:solidFill>
                    <a:srgbClr val="E5E7EB"/>
                  </a:solidFill>
                  <a:latin typeface="Consolas"/>
                  <a:ea typeface="Consolas"/>
                  <a:cs typeface="Consolas"/>
                  <a:sym typeface="Consolas"/>
                </a:rPr>
                <a:t>)</a:t>
              </a:r>
              <a:endParaRPr sz="1064">
                <a:solidFill>
                  <a:srgbClr val="E5E7EB"/>
                </a:solidFill>
                <a:latin typeface="Consolas"/>
                <a:ea typeface="Consolas"/>
                <a:cs typeface="Consolas"/>
                <a:sym typeface="Consolas"/>
              </a:endParaRPr>
            </a:p>
          </p:txBody>
        </p:sp>
      </p:grpSp>
      <p:pic>
        <p:nvPicPr>
          <p:cNvPr id="764" name="Google Shape;764;p33"/>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765" name="Google Shape;765;p33"/>
          <p:cNvSpPr txBox="1"/>
          <p:nvPr/>
        </p:nvSpPr>
        <p:spPr>
          <a:xfrm>
            <a:off x="762000" y="6134100"/>
            <a:ext cx="6667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75">
                <a:solidFill>
                  <a:srgbClr val="6B7280"/>
                </a:solidFill>
                <a:latin typeface="Inter"/>
                <a:ea typeface="Inter"/>
                <a:cs typeface="Inter"/>
                <a:sym typeface="Inter"/>
              </a:rPr>
              <a:t>Introduction to Email Automation &amp; SMTP | Python Basics</a:t>
            </a:r>
            <a:endParaRPr sz="975">
              <a:solidFill>
                <a:srgbClr val="6B7280"/>
              </a:solidFill>
              <a:latin typeface="Inter"/>
              <a:ea typeface="Inter"/>
              <a:cs typeface="Inter"/>
              <a:sym typeface="Inter"/>
            </a:endParaRPr>
          </a:p>
        </p:txBody>
      </p:sp>
      <p:pic>
        <p:nvPicPr>
          <p:cNvPr id="766" name="Google Shape;766;p33"/>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0" name="Shape 770"/>
        <p:cNvGrpSpPr/>
        <p:nvPr/>
      </p:nvGrpSpPr>
      <p:grpSpPr>
        <a:xfrm>
          <a:off x="0" y="0"/>
          <a:ext cx="0" cy="0"/>
          <a:chOff x="0" y="0"/>
          <a:chExt cx="0" cy="0"/>
        </a:xfrm>
      </p:grpSpPr>
      <p:pic>
        <p:nvPicPr>
          <p:cNvPr id="771" name="Google Shape;771;p34"/>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772" name="Google Shape;772;p34"/>
          <p:cNvSpPr txBox="1"/>
          <p:nvPr/>
        </p:nvSpPr>
        <p:spPr>
          <a:xfrm>
            <a:off x="762000" y="523875"/>
            <a:ext cx="10668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Four Stages of Script Execution</a:t>
            </a:r>
            <a:endParaRPr b="0" sz="2700">
              <a:solidFill>
                <a:srgbClr val="045A36"/>
              </a:solidFill>
              <a:latin typeface="Montserrat SemiBold"/>
              <a:ea typeface="Montserrat SemiBold"/>
              <a:cs typeface="Montserrat SemiBold"/>
              <a:sym typeface="Montserrat SemiBold"/>
            </a:endParaRPr>
          </a:p>
        </p:txBody>
      </p:sp>
      <p:sp>
        <p:nvSpPr>
          <p:cNvPr id="773" name="Google Shape;773;p3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74" name="Google Shape;774;p34"/>
          <p:cNvGrpSpPr/>
          <p:nvPr/>
        </p:nvGrpSpPr>
        <p:grpSpPr>
          <a:xfrm>
            <a:off x="762000" y="1428750"/>
            <a:ext cx="5143500" cy="2000100"/>
            <a:chOff x="0" y="0"/>
            <a:chExt cx="5143500" cy="2000100"/>
          </a:xfrm>
        </p:grpSpPr>
        <p:sp>
          <p:nvSpPr>
            <p:cNvPr id="775" name="Google Shape;775;p34"/>
            <p:cNvSpPr/>
            <p:nvPr/>
          </p:nvSpPr>
          <p:spPr>
            <a:xfrm>
              <a:off x="0" y="0"/>
              <a:ext cx="5143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6" name="Google Shape;776;p34"/>
            <p:cNvSpPr/>
            <p:nvPr/>
          </p:nvSpPr>
          <p:spPr>
            <a:xfrm>
              <a:off x="0" y="0"/>
              <a:ext cx="51435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7" name="Google Shape;777;p34"/>
            <p:cNvSpPr/>
            <p:nvPr/>
          </p:nvSpPr>
          <p:spPr>
            <a:xfrm>
              <a:off x="238125" y="238125"/>
              <a:ext cx="857400" cy="247800"/>
            </a:xfrm>
            <a:prstGeom prst="roundRect">
              <a:avLst>
                <a:gd fmla="val 23076" name="adj"/>
              </a:avLst>
            </a:prstGeom>
            <a:solidFill>
              <a:srgbClr val="D4A017">
                <a:alpha val="12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8" name="Google Shape;778;p34"/>
            <p:cNvSpPr txBox="1"/>
            <p:nvPr/>
          </p:nvSpPr>
          <p:spPr>
            <a:xfrm>
              <a:off x="238125" y="238125"/>
              <a:ext cx="857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D4A017"/>
                  </a:solidFill>
                  <a:latin typeface="Inter"/>
                  <a:ea typeface="Inter"/>
                  <a:cs typeface="Inter"/>
                  <a:sym typeface="Inter"/>
                </a:rPr>
                <a:t>STAGE 01</a:t>
              </a:r>
              <a:endParaRPr b="1" sz="950">
                <a:solidFill>
                  <a:srgbClr val="D4A017"/>
                </a:solidFill>
                <a:latin typeface="Inter"/>
                <a:ea typeface="Inter"/>
                <a:cs typeface="Inter"/>
                <a:sym typeface="Inter"/>
              </a:endParaRPr>
            </a:p>
          </p:txBody>
        </p:sp>
        <p:sp>
          <p:nvSpPr>
            <p:cNvPr id="779" name="Google Shape;779;p34"/>
            <p:cNvSpPr txBox="1"/>
            <p:nvPr/>
          </p:nvSpPr>
          <p:spPr>
            <a:xfrm>
              <a:off x="238125" y="619125"/>
              <a:ext cx="46674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Import Libraries</a:t>
              </a:r>
              <a:endParaRPr b="1" sz="1650">
                <a:solidFill>
                  <a:srgbClr val="045A36"/>
                </a:solidFill>
                <a:latin typeface="Montserrat"/>
                <a:ea typeface="Montserrat"/>
                <a:cs typeface="Montserrat"/>
                <a:sym typeface="Montserrat"/>
              </a:endParaRPr>
            </a:p>
          </p:txBody>
        </p:sp>
        <p:sp>
          <p:nvSpPr>
            <p:cNvPr id="780" name="Google Shape;780;p34"/>
            <p:cNvSpPr txBox="1"/>
            <p:nvPr/>
          </p:nvSpPr>
          <p:spPr>
            <a:xfrm>
              <a:off x="238125" y="1047750"/>
              <a:ext cx="46674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Bringing in </a:t>
              </a:r>
              <a:r>
                <a:rPr b="0" lang="en" sz="1250">
                  <a:solidFill>
                    <a:srgbClr val="045A36"/>
                  </a:solidFill>
                  <a:latin typeface="Inter SemiBold"/>
                  <a:ea typeface="Inter SemiBold"/>
                  <a:cs typeface="Inter SemiBold"/>
                  <a:sym typeface="Inter SemiBold"/>
                </a:rPr>
                <a:t>smtplib</a:t>
              </a:r>
              <a:r>
                <a:rPr b="0" lang="en" sz="1250">
                  <a:solidFill>
                    <a:srgbClr val="374151"/>
                  </a:solidFill>
                  <a:latin typeface="Inter"/>
                  <a:ea typeface="Inter"/>
                  <a:cs typeface="Inter"/>
                  <a:sym typeface="Inter"/>
                </a:rPr>
                <a:t>, </a:t>
              </a:r>
              <a:r>
                <a:rPr b="0" lang="en" sz="1250">
                  <a:solidFill>
                    <a:srgbClr val="045A36"/>
                  </a:solidFill>
                  <a:latin typeface="Inter SemiBold"/>
                  <a:ea typeface="Inter SemiBold"/>
                  <a:cs typeface="Inter SemiBold"/>
                  <a:sym typeface="Inter SemiBold"/>
                </a:rPr>
                <a:t>ssl</a:t>
              </a:r>
              <a:r>
                <a:rPr b="0" lang="en" sz="1250">
                  <a:solidFill>
                    <a:srgbClr val="374151"/>
                  </a:solidFill>
                  <a:latin typeface="Inter"/>
                  <a:ea typeface="Inter"/>
                  <a:cs typeface="Inter"/>
                  <a:sym typeface="Inter"/>
                </a:rPr>
                <a:t>, and </a:t>
              </a:r>
              <a:r>
                <a:rPr b="0" lang="en" sz="1250">
                  <a:solidFill>
                    <a:srgbClr val="045A36"/>
                  </a:solidFill>
                  <a:latin typeface="Inter SemiBold"/>
                  <a:ea typeface="Inter SemiBold"/>
                  <a:cs typeface="Inter SemiBold"/>
                  <a:sym typeface="Inter SemiBold"/>
                </a:rPr>
                <a:t>EmailMessage</a:t>
              </a:r>
              <a:r>
                <a:rPr b="0" lang="en" sz="1250">
                  <a:solidFill>
                    <a:srgbClr val="374151"/>
                  </a:solidFill>
                  <a:latin typeface="Inter"/>
                  <a:ea typeface="Inter"/>
                  <a:cs typeface="Inter"/>
                  <a:sym typeface="Inter"/>
                </a:rPr>
                <a:t> to access necessary networking and formatting tools.</a:t>
              </a:r>
              <a:endParaRPr b="0" sz="1250">
                <a:solidFill>
                  <a:srgbClr val="374151"/>
                </a:solidFill>
                <a:latin typeface="Inter"/>
                <a:ea typeface="Inter"/>
                <a:cs typeface="Inter"/>
                <a:sym typeface="Inter"/>
              </a:endParaRPr>
            </a:p>
          </p:txBody>
        </p:sp>
      </p:grpSp>
      <p:grpSp>
        <p:nvGrpSpPr>
          <p:cNvPr id="781" name="Google Shape;781;p34"/>
          <p:cNvGrpSpPr/>
          <p:nvPr/>
        </p:nvGrpSpPr>
        <p:grpSpPr>
          <a:xfrm>
            <a:off x="6286500" y="1428750"/>
            <a:ext cx="5143500" cy="2000100"/>
            <a:chOff x="0" y="0"/>
            <a:chExt cx="5143500" cy="2000100"/>
          </a:xfrm>
        </p:grpSpPr>
        <p:sp>
          <p:nvSpPr>
            <p:cNvPr id="782" name="Google Shape;782;p34"/>
            <p:cNvSpPr/>
            <p:nvPr/>
          </p:nvSpPr>
          <p:spPr>
            <a:xfrm>
              <a:off x="0" y="0"/>
              <a:ext cx="5143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3" name="Google Shape;783;p34"/>
            <p:cNvSpPr/>
            <p:nvPr/>
          </p:nvSpPr>
          <p:spPr>
            <a:xfrm>
              <a:off x="0" y="0"/>
              <a:ext cx="51435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4" name="Google Shape;784;p34"/>
            <p:cNvSpPr/>
            <p:nvPr/>
          </p:nvSpPr>
          <p:spPr>
            <a:xfrm>
              <a:off x="238125" y="238125"/>
              <a:ext cx="857400" cy="247800"/>
            </a:xfrm>
            <a:prstGeom prst="roundRect">
              <a:avLst>
                <a:gd fmla="val 23076" name="adj"/>
              </a:avLst>
            </a:prstGeom>
            <a:solidFill>
              <a:srgbClr val="D4A017">
                <a:alpha val="12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34"/>
            <p:cNvSpPr txBox="1"/>
            <p:nvPr/>
          </p:nvSpPr>
          <p:spPr>
            <a:xfrm>
              <a:off x="238125" y="238125"/>
              <a:ext cx="857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D4A017"/>
                  </a:solidFill>
                  <a:latin typeface="Inter"/>
                  <a:ea typeface="Inter"/>
                  <a:cs typeface="Inter"/>
                  <a:sym typeface="Inter"/>
                </a:rPr>
                <a:t>STAGE 02</a:t>
              </a:r>
              <a:endParaRPr b="1" sz="950">
                <a:solidFill>
                  <a:srgbClr val="D4A017"/>
                </a:solidFill>
                <a:latin typeface="Inter"/>
                <a:ea typeface="Inter"/>
                <a:cs typeface="Inter"/>
                <a:sym typeface="Inter"/>
              </a:endParaRPr>
            </a:p>
          </p:txBody>
        </p:sp>
        <p:sp>
          <p:nvSpPr>
            <p:cNvPr id="786" name="Google Shape;786;p34"/>
            <p:cNvSpPr txBox="1"/>
            <p:nvPr/>
          </p:nvSpPr>
          <p:spPr>
            <a:xfrm>
              <a:off x="238125" y="619125"/>
              <a:ext cx="46674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Create Email</a:t>
              </a:r>
              <a:endParaRPr b="1" sz="1650">
                <a:solidFill>
                  <a:srgbClr val="045A36"/>
                </a:solidFill>
                <a:latin typeface="Montserrat"/>
                <a:ea typeface="Montserrat"/>
                <a:cs typeface="Montserrat"/>
                <a:sym typeface="Montserrat"/>
              </a:endParaRPr>
            </a:p>
          </p:txBody>
        </p:sp>
        <p:sp>
          <p:nvSpPr>
            <p:cNvPr id="787" name="Google Shape;787;p34"/>
            <p:cNvSpPr txBox="1"/>
            <p:nvPr/>
          </p:nvSpPr>
          <p:spPr>
            <a:xfrm>
              <a:off x="238125" y="1047750"/>
              <a:ext cx="46674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Instantiating the object, utilizing </a:t>
              </a:r>
              <a:r>
                <a:rPr b="0" lang="en" sz="1250">
                  <a:solidFill>
                    <a:srgbClr val="045A36"/>
                  </a:solidFill>
                  <a:latin typeface="Inter SemiBold"/>
                  <a:ea typeface="Inter SemiBold"/>
                  <a:cs typeface="Inter SemiBold"/>
                  <a:sym typeface="Inter SemiBold"/>
                </a:rPr>
                <a:t>dictionary syntax</a:t>
              </a:r>
              <a:r>
                <a:rPr b="0" lang="en" sz="1250">
                  <a:solidFill>
                    <a:srgbClr val="374151"/>
                  </a:solidFill>
                  <a:latin typeface="Inter"/>
                  <a:ea typeface="Inter"/>
                  <a:cs typeface="Inter"/>
                  <a:sym typeface="Inter"/>
                </a:rPr>
                <a:t> for headers, and setting the body content.</a:t>
              </a:r>
              <a:endParaRPr b="0" sz="1250">
                <a:solidFill>
                  <a:srgbClr val="374151"/>
                </a:solidFill>
                <a:latin typeface="Inter"/>
                <a:ea typeface="Inter"/>
                <a:cs typeface="Inter"/>
                <a:sym typeface="Inter"/>
              </a:endParaRPr>
            </a:p>
          </p:txBody>
        </p:sp>
      </p:grpSp>
      <p:grpSp>
        <p:nvGrpSpPr>
          <p:cNvPr id="788" name="Google Shape;788;p34"/>
          <p:cNvGrpSpPr/>
          <p:nvPr/>
        </p:nvGrpSpPr>
        <p:grpSpPr>
          <a:xfrm>
            <a:off x="762000" y="3714750"/>
            <a:ext cx="5143500" cy="2000100"/>
            <a:chOff x="0" y="0"/>
            <a:chExt cx="5143500" cy="2000100"/>
          </a:xfrm>
        </p:grpSpPr>
        <p:sp>
          <p:nvSpPr>
            <p:cNvPr id="789" name="Google Shape;789;p34"/>
            <p:cNvSpPr/>
            <p:nvPr/>
          </p:nvSpPr>
          <p:spPr>
            <a:xfrm>
              <a:off x="0" y="0"/>
              <a:ext cx="5143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0" name="Google Shape;790;p34"/>
            <p:cNvSpPr/>
            <p:nvPr/>
          </p:nvSpPr>
          <p:spPr>
            <a:xfrm>
              <a:off x="0" y="0"/>
              <a:ext cx="51435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1" name="Google Shape;791;p34"/>
            <p:cNvSpPr/>
            <p:nvPr/>
          </p:nvSpPr>
          <p:spPr>
            <a:xfrm>
              <a:off x="238125" y="238125"/>
              <a:ext cx="857400" cy="247800"/>
            </a:xfrm>
            <a:prstGeom prst="roundRect">
              <a:avLst>
                <a:gd fmla="val 23076" name="adj"/>
              </a:avLst>
            </a:prstGeom>
            <a:solidFill>
              <a:srgbClr val="D4A017">
                <a:alpha val="12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34"/>
            <p:cNvSpPr txBox="1"/>
            <p:nvPr/>
          </p:nvSpPr>
          <p:spPr>
            <a:xfrm>
              <a:off x="238125" y="238125"/>
              <a:ext cx="857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D4A017"/>
                  </a:solidFill>
                  <a:latin typeface="Inter"/>
                  <a:ea typeface="Inter"/>
                  <a:cs typeface="Inter"/>
                  <a:sym typeface="Inter"/>
                </a:rPr>
                <a:t>STAGE 03</a:t>
              </a:r>
              <a:endParaRPr b="1" sz="950">
                <a:solidFill>
                  <a:srgbClr val="D4A017"/>
                </a:solidFill>
                <a:latin typeface="Inter"/>
                <a:ea typeface="Inter"/>
                <a:cs typeface="Inter"/>
                <a:sym typeface="Inter"/>
              </a:endParaRPr>
            </a:p>
          </p:txBody>
        </p:sp>
        <p:sp>
          <p:nvSpPr>
            <p:cNvPr id="793" name="Google Shape;793;p34"/>
            <p:cNvSpPr txBox="1"/>
            <p:nvPr/>
          </p:nvSpPr>
          <p:spPr>
            <a:xfrm>
              <a:off x="238125" y="619125"/>
              <a:ext cx="46674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Connect &amp; Login</a:t>
              </a:r>
              <a:endParaRPr b="1" sz="1650">
                <a:solidFill>
                  <a:srgbClr val="045A36"/>
                </a:solidFill>
                <a:latin typeface="Montserrat"/>
                <a:ea typeface="Montserrat"/>
                <a:cs typeface="Montserrat"/>
                <a:sym typeface="Montserrat"/>
              </a:endParaRPr>
            </a:p>
          </p:txBody>
        </p:sp>
        <p:sp>
          <p:nvSpPr>
            <p:cNvPr id="794" name="Google Shape;794;p34"/>
            <p:cNvSpPr txBox="1"/>
            <p:nvPr/>
          </p:nvSpPr>
          <p:spPr>
            <a:xfrm>
              <a:off x="238125" y="1047750"/>
              <a:ext cx="46674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Establishing a secure </a:t>
              </a:r>
              <a:r>
                <a:rPr b="0" lang="en" sz="1250">
                  <a:solidFill>
                    <a:srgbClr val="045A36"/>
                  </a:solidFill>
                  <a:latin typeface="Inter SemiBold"/>
                  <a:ea typeface="Inter SemiBold"/>
                  <a:cs typeface="Inter SemiBold"/>
                  <a:sym typeface="Inter SemiBold"/>
                </a:rPr>
                <a:t>SSL context</a:t>
              </a:r>
              <a:r>
                <a:rPr b="0" lang="en" sz="1250">
                  <a:solidFill>
                    <a:srgbClr val="374151"/>
                  </a:solidFill>
                  <a:latin typeface="Inter"/>
                  <a:ea typeface="Inter"/>
                  <a:cs typeface="Inter"/>
                  <a:sym typeface="Inter"/>
                </a:rPr>
                <a:t>, opening the connection to the SMTP server, and authenticating credentials.</a:t>
              </a:r>
              <a:endParaRPr b="0" sz="1250">
                <a:solidFill>
                  <a:srgbClr val="374151"/>
                </a:solidFill>
                <a:latin typeface="Inter"/>
                <a:ea typeface="Inter"/>
                <a:cs typeface="Inter"/>
                <a:sym typeface="Inter"/>
              </a:endParaRPr>
            </a:p>
          </p:txBody>
        </p:sp>
      </p:grpSp>
      <p:grpSp>
        <p:nvGrpSpPr>
          <p:cNvPr id="795" name="Google Shape;795;p34"/>
          <p:cNvGrpSpPr/>
          <p:nvPr/>
        </p:nvGrpSpPr>
        <p:grpSpPr>
          <a:xfrm>
            <a:off x="6286500" y="3714750"/>
            <a:ext cx="5143500" cy="2000100"/>
            <a:chOff x="0" y="0"/>
            <a:chExt cx="5143500" cy="2000100"/>
          </a:xfrm>
        </p:grpSpPr>
        <p:sp>
          <p:nvSpPr>
            <p:cNvPr id="796" name="Google Shape;796;p34"/>
            <p:cNvSpPr/>
            <p:nvPr/>
          </p:nvSpPr>
          <p:spPr>
            <a:xfrm>
              <a:off x="0" y="0"/>
              <a:ext cx="5143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7" name="Google Shape;797;p34"/>
            <p:cNvSpPr/>
            <p:nvPr/>
          </p:nvSpPr>
          <p:spPr>
            <a:xfrm>
              <a:off x="0" y="0"/>
              <a:ext cx="51435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34"/>
            <p:cNvSpPr/>
            <p:nvPr/>
          </p:nvSpPr>
          <p:spPr>
            <a:xfrm>
              <a:off x="238125" y="238125"/>
              <a:ext cx="857400" cy="247800"/>
            </a:xfrm>
            <a:prstGeom prst="roundRect">
              <a:avLst>
                <a:gd fmla="val 23076" name="adj"/>
              </a:avLst>
            </a:prstGeom>
            <a:solidFill>
              <a:srgbClr val="D4A017">
                <a:alpha val="12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9" name="Google Shape;799;p34"/>
            <p:cNvSpPr txBox="1"/>
            <p:nvPr/>
          </p:nvSpPr>
          <p:spPr>
            <a:xfrm>
              <a:off x="238125" y="238125"/>
              <a:ext cx="857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D4A017"/>
                  </a:solidFill>
                  <a:latin typeface="Inter"/>
                  <a:ea typeface="Inter"/>
                  <a:cs typeface="Inter"/>
                  <a:sym typeface="Inter"/>
                </a:rPr>
                <a:t>STAGE 04</a:t>
              </a:r>
              <a:endParaRPr b="1" sz="950">
                <a:solidFill>
                  <a:srgbClr val="D4A017"/>
                </a:solidFill>
                <a:latin typeface="Inter"/>
                <a:ea typeface="Inter"/>
                <a:cs typeface="Inter"/>
                <a:sym typeface="Inter"/>
              </a:endParaRPr>
            </a:p>
          </p:txBody>
        </p:sp>
        <p:sp>
          <p:nvSpPr>
            <p:cNvPr id="800" name="Google Shape;800;p34"/>
            <p:cNvSpPr txBox="1"/>
            <p:nvPr/>
          </p:nvSpPr>
          <p:spPr>
            <a:xfrm>
              <a:off x="238125" y="619125"/>
              <a:ext cx="46674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Send Email</a:t>
              </a:r>
              <a:endParaRPr b="1" sz="1650">
                <a:solidFill>
                  <a:srgbClr val="045A36"/>
                </a:solidFill>
                <a:latin typeface="Montserrat"/>
                <a:ea typeface="Montserrat"/>
                <a:cs typeface="Montserrat"/>
                <a:sym typeface="Montserrat"/>
              </a:endParaRPr>
            </a:p>
          </p:txBody>
        </p:sp>
        <p:sp>
          <p:nvSpPr>
            <p:cNvPr id="801" name="Google Shape;801;p34"/>
            <p:cNvSpPr txBox="1"/>
            <p:nvPr/>
          </p:nvSpPr>
          <p:spPr>
            <a:xfrm>
              <a:off x="238125" y="1047750"/>
              <a:ext cx="46674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374151"/>
                  </a:solidFill>
                  <a:latin typeface="Inter"/>
                  <a:ea typeface="Inter"/>
                  <a:cs typeface="Inter"/>
                  <a:sym typeface="Inter"/>
                </a:rPr>
                <a:t>Transmitting the constructed payload via </a:t>
              </a:r>
              <a:r>
                <a:rPr b="0" lang="en" sz="1250">
                  <a:solidFill>
                    <a:srgbClr val="045A36"/>
                  </a:solidFill>
                  <a:latin typeface="Inter SemiBold"/>
                  <a:ea typeface="Inter SemiBold"/>
                  <a:cs typeface="Inter SemiBold"/>
                  <a:sym typeface="Inter SemiBold"/>
                </a:rPr>
                <a:t>send_message()</a:t>
              </a:r>
              <a:r>
                <a:rPr b="0" lang="en" sz="1250">
                  <a:solidFill>
                    <a:srgbClr val="374151"/>
                  </a:solidFill>
                  <a:latin typeface="Inter"/>
                  <a:ea typeface="Inter"/>
                  <a:cs typeface="Inter"/>
                  <a:sym typeface="Inter"/>
                </a:rPr>
                <a:t> and allowing the context manager to close the connection.</a:t>
              </a:r>
              <a:endParaRPr b="0" sz="1250">
                <a:solidFill>
                  <a:srgbClr val="374151"/>
                </a:solidFill>
                <a:latin typeface="Inter"/>
                <a:ea typeface="Inter"/>
                <a:cs typeface="Inter"/>
                <a:sym typeface="Inter"/>
              </a:endParaRPr>
            </a:p>
          </p:txBody>
        </p:sp>
      </p:grpSp>
      <p:pic>
        <p:nvPicPr>
          <p:cNvPr id="802" name="Google Shape;802;p34"/>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803" name="Google Shape;803;p34"/>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804" name="Google Shape;804;p34"/>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8" name="Shape 808"/>
        <p:cNvGrpSpPr/>
        <p:nvPr/>
      </p:nvGrpSpPr>
      <p:grpSpPr>
        <a:xfrm>
          <a:off x="0" y="0"/>
          <a:ext cx="0" cy="0"/>
          <a:chOff x="0" y="0"/>
          <a:chExt cx="0" cy="0"/>
        </a:xfrm>
      </p:grpSpPr>
      <p:pic>
        <p:nvPicPr>
          <p:cNvPr id="809" name="Google Shape;809;p35"/>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810" name="Google Shape;810;p35"/>
          <p:cNvSpPr txBox="1"/>
          <p:nvPr/>
        </p:nvSpPr>
        <p:spPr>
          <a:xfrm>
            <a:off x="762000" y="571500"/>
            <a:ext cx="9525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Try-Except Blocks Prevent Crashes</a:t>
            </a:r>
            <a:endParaRPr b="0" sz="2700">
              <a:solidFill>
                <a:srgbClr val="045A36"/>
              </a:solidFill>
              <a:latin typeface="Montserrat SemiBold"/>
              <a:ea typeface="Montserrat SemiBold"/>
              <a:cs typeface="Montserrat SemiBold"/>
              <a:sym typeface="Montserrat SemiBold"/>
            </a:endParaRPr>
          </a:p>
        </p:txBody>
      </p:sp>
      <p:sp>
        <p:nvSpPr>
          <p:cNvPr id="811" name="Google Shape;811;p3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35"/>
          <p:cNvSpPr/>
          <p:nvPr/>
        </p:nvSpPr>
        <p:spPr>
          <a:xfrm>
            <a:off x="6086475" y="1524000"/>
            <a:ext cx="19200" cy="4000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13" name="Google Shape;813;p35"/>
          <p:cNvGrpSpPr/>
          <p:nvPr/>
        </p:nvGrpSpPr>
        <p:grpSpPr>
          <a:xfrm>
            <a:off x="762000" y="1524000"/>
            <a:ext cx="4953000" cy="3810150"/>
            <a:chOff x="762000" y="1524000"/>
            <a:chExt cx="4953000" cy="3810150"/>
          </a:xfrm>
        </p:grpSpPr>
        <p:sp>
          <p:nvSpPr>
            <p:cNvPr id="814" name="Google Shape;814;p35"/>
            <p:cNvSpPr txBox="1"/>
            <p:nvPr/>
          </p:nvSpPr>
          <p:spPr>
            <a:xfrm>
              <a:off x="762000" y="1524000"/>
              <a:ext cx="495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Python Try-Except Structure</a:t>
              </a:r>
              <a:endParaRPr b="1" sz="1650">
                <a:solidFill>
                  <a:srgbClr val="045A36"/>
                </a:solidFill>
                <a:latin typeface="Montserrat"/>
                <a:ea typeface="Montserrat"/>
                <a:cs typeface="Montserrat"/>
                <a:sym typeface="Montserrat"/>
              </a:endParaRPr>
            </a:p>
          </p:txBody>
        </p:sp>
        <p:sp>
          <p:nvSpPr>
            <p:cNvPr id="815" name="Google Shape;815;p35"/>
            <p:cNvSpPr/>
            <p:nvPr/>
          </p:nvSpPr>
          <p:spPr>
            <a:xfrm>
              <a:off x="762000" y="2000250"/>
              <a:ext cx="4953000" cy="1714500"/>
            </a:xfrm>
            <a:prstGeom prst="roundRect">
              <a:avLst>
                <a:gd fmla="val 6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6" name="Google Shape;816;p35"/>
            <p:cNvSpPr txBox="1"/>
            <p:nvPr/>
          </p:nvSpPr>
          <p:spPr>
            <a:xfrm>
              <a:off x="762000" y="2000250"/>
              <a:ext cx="4953000" cy="17145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250">
                  <a:solidFill>
                    <a:srgbClr val="045A36"/>
                  </a:solidFill>
                  <a:latin typeface="Courier New"/>
                  <a:ea typeface="Courier New"/>
                  <a:cs typeface="Courier New"/>
                  <a:sym typeface="Courier New"/>
                </a:rPr>
                <a:t>try</a:t>
              </a:r>
              <a:r>
                <a:rPr b="1" lang="en" sz="1250">
                  <a:solidFill>
                    <a:srgbClr val="1F2937"/>
                  </a:solidFill>
                  <a:latin typeface="Courier New"/>
                  <a:ea typeface="Courier New"/>
                  <a:cs typeface="Courier New"/>
                  <a:sym typeface="Courier New"/>
                </a:rPr>
                <a:t>:</a:t>
              </a:r>
              <a:endParaRPr b="1" sz="1250">
                <a:solidFill>
                  <a:srgbClr val="1F2937"/>
                </a:solidFill>
                <a:latin typeface="Courier New"/>
                <a:ea typeface="Courier New"/>
                <a:cs typeface="Courier New"/>
                <a:sym typeface="Courier New"/>
              </a:endParaRPr>
            </a:p>
            <a:p>
              <a:pPr indent="0" lvl="0" marL="0" rtl="0" algn="l">
                <a:spcBef>
                  <a:spcPts val="600"/>
                </a:spcBef>
                <a:spcAft>
                  <a:spcPts val="0"/>
                </a:spcAft>
                <a:buNone/>
              </a:pPr>
              <a:r>
                <a:rPr b="0" i="1" lang="en" sz="1250">
                  <a:solidFill>
                    <a:srgbClr val="6B7280"/>
                  </a:solidFill>
                  <a:latin typeface="Courier New"/>
                  <a:ea typeface="Courier New"/>
                  <a:cs typeface="Courier New"/>
                  <a:sym typeface="Courier New"/>
                </a:rPr>
                <a:t># email execution code</a:t>
              </a:r>
              <a:endParaRPr b="1" sz="1250">
                <a:solidFill>
                  <a:srgbClr val="1F2937"/>
                </a:solidFill>
                <a:latin typeface="Courier New"/>
                <a:ea typeface="Courier New"/>
                <a:cs typeface="Courier New"/>
                <a:sym typeface="Courier New"/>
              </a:endParaRPr>
            </a:p>
            <a:p>
              <a:pPr indent="0" lvl="0" marL="0" rtl="0" algn="l">
                <a:spcBef>
                  <a:spcPts val="600"/>
                </a:spcBef>
                <a:spcAft>
                  <a:spcPts val="0"/>
                </a:spcAft>
                <a:buNone/>
              </a:pPr>
              <a:r>
                <a:rPr b="1" lang="en" sz="1250">
                  <a:solidFill>
                    <a:srgbClr val="045A36"/>
                  </a:solidFill>
                  <a:latin typeface="Courier New"/>
                  <a:ea typeface="Courier New"/>
                  <a:cs typeface="Courier New"/>
                  <a:sym typeface="Courier New"/>
                </a:rPr>
                <a:t>print</a:t>
              </a:r>
              <a:r>
                <a:rPr b="1" lang="en" sz="1250">
                  <a:solidFill>
                    <a:srgbClr val="1F2937"/>
                  </a:solidFill>
                  <a:latin typeface="Courier New"/>
                  <a:ea typeface="Courier New"/>
                  <a:cs typeface="Courier New"/>
                  <a:sym typeface="Courier New"/>
                </a:rPr>
                <a:t>(</a:t>
              </a:r>
              <a:r>
                <a:rPr b="1" lang="en" sz="1250">
                  <a:solidFill>
                    <a:srgbClr val="D4A017"/>
                  </a:solidFill>
                  <a:latin typeface="Courier New"/>
                  <a:ea typeface="Courier New"/>
                  <a:cs typeface="Courier New"/>
                  <a:sym typeface="Courier New"/>
                </a:rPr>
                <a:t>"Email sent!"</a:t>
              </a:r>
              <a:r>
                <a:rPr b="1" lang="en" sz="1250">
                  <a:solidFill>
                    <a:srgbClr val="1F2937"/>
                  </a:solidFill>
                  <a:latin typeface="Courier New"/>
                  <a:ea typeface="Courier New"/>
                  <a:cs typeface="Courier New"/>
                  <a:sym typeface="Courier New"/>
                </a:rPr>
                <a:t>)</a:t>
              </a:r>
              <a:endParaRPr b="1" sz="1250">
                <a:solidFill>
                  <a:srgbClr val="1F2937"/>
                </a:solidFill>
                <a:latin typeface="Courier New"/>
                <a:ea typeface="Courier New"/>
                <a:cs typeface="Courier New"/>
                <a:sym typeface="Courier New"/>
              </a:endParaRPr>
            </a:p>
            <a:p>
              <a:pPr indent="0" lvl="0" marL="0" rtl="0" algn="l">
                <a:spcBef>
                  <a:spcPts val="600"/>
                </a:spcBef>
                <a:spcAft>
                  <a:spcPts val="0"/>
                </a:spcAft>
                <a:buNone/>
              </a:pPr>
              <a:r>
                <a:rPr b="1" lang="en" sz="1250">
                  <a:solidFill>
                    <a:srgbClr val="045A36"/>
                  </a:solidFill>
                  <a:latin typeface="Courier New"/>
                  <a:ea typeface="Courier New"/>
                  <a:cs typeface="Courier New"/>
                  <a:sym typeface="Courier New"/>
                </a:rPr>
                <a:t>except</a:t>
              </a:r>
              <a:r>
                <a:rPr b="1" lang="en" sz="1250">
                  <a:solidFill>
                    <a:srgbClr val="1F2937"/>
                  </a:solidFill>
                  <a:latin typeface="Courier New"/>
                  <a:ea typeface="Courier New"/>
                  <a:cs typeface="Courier New"/>
                  <a:sym typeface="Courier New"/>
                </a:rPr>
                <a:t> </a:t>
              </a:r>
              <a:r>
                <a:rPr b="1" lang="en" sz="1250">
                  <a:solidFill>
                    <a:srgbClr val="045A36"/>
                  </a:solidFill>
                  <a:latin typeface="Courier New"/>
                  <a:ea typeface="Courier New"/>
                  <a:cs typeface="Courier New"/>
                  <a:sym typeface="Courier New"/>
                </a:rPr>
                <a:t>Exception</a:t>
              </a:r>
              <a:r>
                <a:rPr b="1" lang="en" sz="1250">
                  <a:solidFill>
                    <a:srgbClr val="1F2937"/>
                  </a:solidFill>
                  <a:latin typeface="Courier New"/>
                  <a:ea typeface="Courier New"/>
                  <a:cs typeface="Courier New"/>
                  <a:sym typeface="Courier New"/>
                </a:rPr>
                <a:t> </a:t>
              </a:r>
              <a:r>
                <a:rPr b="1" lang="en" sz="1250">
                  <a:solidFill>
                    <a:srgbClr val="045A36"/>
                  </a:solidFill>
                  <a:latin typeface="Courier New"/>
                  <a:ea typeface="Courier New"/>
                  <a:cs typeface="Courier New"/>
                  <a:sym typeface="Courier New"/>
                </a:rPr>
                <a:t>as</a:t>
              </a:r>
              <a:r>
                <a:rPr b="1" lang="en" sz="1250">
                  <a:solidFill>
                    <a:srgbClr val="1F2937"/>
                  </a:solidFill>
                  <a:latin typeface="Courier New"/>
                  <a:ea typeface="Courier New"/>
                  <a:cs typeface="Courier New"/>
                  <a:sym typeface="Courier New"/>
                </a:rPr>
                <a:t> e:</a:t>
              </a:r>
              <a:endParaRPr b="1" sz="1250">
                <a:solidFill>
                  <a:srgbClr val="1F2937"/>
                </a:solidFill>
                <a:latin typeface="Courier New"/>
                <a:ea typeface="Courier New"/>
                <a:cs typeface="Courier New"/>
                <a:sym typeface="Courier New"/>
              </a:endParaRPr>
            </a:p>
            <a:p>
              <a:pPr indent="0" lvl="0" marL="0" rtl="0" algn="l">
                <a:spcBef>
                  <a:spcPts val="600"/>
                </a:spcBef>
                <a:spcAft>
                  <a:spcPts val="0"/>
                </a:spcAft>
                <a:buNone/>
              </a:pPr>
              <a:r>
                <a:rPr b="1" lang="en" sz="1250">
                  <a:solidFill>
                    <a:srgbClr val="045A36"/>
                  </a:solidFill>
                  <a:latin typeface="Courier New"/>
                  <a:ea typeface="Courier New"/>
                  <a:cs typeface="Courier New"/>
                  <a:sym typeface="Courier New"/>
                </a:rPr>
                <a:t>print</a:t>
              </a:r>
              <a:r>
                <a:rPr b="1" lang="en" sz="1250">
                  <a:solidFill>
                    <a:srgbClr val="1F2937"/>
                  </a:solidFill>
                  <a:latin typeface="Courier New"/>
                  <a:ea typeface="Courier New"/>
                  <a:cs typeface="Courier New"/>
                  <a:sym typeface="Courier New"/>
                </a:rPr>
                <a:t>(</a:t>
              </a:r>
              <a:r>
                <a:rPr b="1" lang="en" sz="1250">
                  <a:solidFill>
                    <a:srgbClr val="D4A017"/>
                  </a:solidFill>
                  <a:latin typeface="Courier New"/>
                  <a:ea typeface="Courier New"/>
                  <a:cs typeface="Courier New"/>
                  <a:sym typeface="Courier New"/>
                </a:rPr>
                <a:t>"Error:"</a:t>
              </a:r>
              <a:r>
                <a:rPr b="1" lang="en" sz="1250">
                  <a:solidFill>
                    <a:srgbClr val="1F2937"/>
                  </a:solidFill>
                  <a:latin typeface="Courier New"/>
                  <a:ea typeface="Courier New"/>
                  <a:cs typeface="Courier New"/>
                  <a:sym typeface="Courier New"/>
                </a:rPr>
                <a:t>, e)</a:t>
              </a:r>
              <a:endParaRPr b="1" sz="1250">
                <a:solidFill>
                  <a:srgbClr val="1F2937"/>
                </a:solidFill>
                <a:latin typeface="Courier New"/>
                <a:ea typeface="Courier New"/>
                <a:cs typeface="Courier New"/>
                <a:sym typeface="Courier New"/>
              </a:endParaRPr>
            </a:p>
          </p:txBody>
        </p:sp>
        <p:sp>
          <p:nvSpPr>
            <p:cNvPr id="817" name="Google Shape;817;p35"/>
            <p:cNvSpPr txBox="1"/>
            <p:nvPr/>
          </p:nvSpPr>
          <p:spPr>
            <a:xfrm>
              <a:off x="762000" y="3905250"/>
              <a:ext cx="4953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0" lang="en" sz="1400">
                  <a:solidFill>
                    <a:srgbClr val="374151"/>
                  </a:solidFill>
                  <a:latin typeface="Inter"/>
                  <a:ea typeface="Inter"/>
                  <a:cs typeface="Inter"/>
                  <a:sym typeface="Inter"/>
                </a:rPr>
                <a:t>Wrapping execution code in a </a:t>
              </a:r>
              <a:r>
                <a:rPr b="0" lang="en" sz="1400">
                  <a:solidFill>
                    <a:srgbClr val="045A36"/>
                  </a:solidFill>
                  <a:latin typeface="Inter SemiBold"/>
                  <a:ea typeface="Inter SemiBold"/>
                  <a:cs typeface="Inter SemiBold"/>
                  <a:sym typeface="Inter SemiBold"/>
                </a:rPr>
                <a:t>try</a:t>
              </a:r>
              <a:r>
                <a:rPr b="0" lang="en" sz="1400">
                  <a:solidFill>
                    <a:srgbClr val="374151"/>
                  </a:solidFill>
                  <a:latin typeface="Inter"/>
                  <a:ea typeface="Inter"/>
                  <a:cs typeface="Inter"/>
                  <a:sym typeface="Inter"/>
                </a:rPr>
                <a:t> block attempts the operation, while the </a:t>
              </a:r>
              <a:r>
                <a:rPr b="0" lang="en" sz="1400">
                  <a:solidFill>
                    <a:srgbClr val="045A36"/>
                  </a:solidFill>
                  <a:latin typeface="Inter SemiBold"/>
                  <a:ea typeface="Inter SemiBold"/>
                  <a:cs typeface="Inter SemiBold"/>
                  <a:sym typeface="Inter SemiBold"/>
                </a:rPr>
                <a:t>except</a:t>
              </a:r>
              <a:r>
                <a:rPr b="0" lang="en" sz="1400">
                  <a:solidFill>
                    <a:srgbClr val="374151"/>
                  </a:solidFill>
                  <a:latin typeface="Inter"/>
                  <a:ea typeface="Inter"/>
                  <a:cs typeface="Inter"/>
                  <a:sym typeface="Inter"/>
                </a:rPr>
                <a:t> block gracefully catches and prints errors instead of crashing the script.</a:t>
              </a:r>
              <a:endParaRPr b="0" sz="1400">
                <a:solidFill>
                  <a:srgbClr val="374151"/>
                </a:solidFill>
                <a:latin typeface="Inter"/>
                <a:ea typeface="Inter"/>
                <a:cs typeface="Inter"/>
                <a:sym typeface="Inter"/>
              </a:endParaRPr>
            </a:p>
          </p:txBody>
        </p:sp>
      </p:grpSp>
      <p:grpSp>
        <p:nvGrpSpPr>
          <p:cNvPr id="818" name="Google Shape;818;p35"/>
          <p:cNvGrpSpPr/>
          <p:nvPr/>
        </p:nvGrpSpPr>
        <p:grpSpPr>
          <a:xfrm>
            <a:off x="6467475" y="1524000"/>
            <a:ext cx="4953075" cy="3381525"/>
            <a:chOff x="6467475" y="1524000"/>
            <a:chExt cx="4953075" cy="3381525"/>
          </a:xfrm>
        </p:grpSpPr>
        <p:sp>
          <p:nvSpPr>
            <p:cNvPr id="819" name="Google Shape;819;p35"/>
            <p:cNvSpPr txBox="1"/>
            <p:nvPr/>
          </p:nvSpPr>
          <p:spPr>
            <a:xfrm>
              <a:off x="6467475" y="1524000"/>
              <a:ext cx="495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50">
                  <a:solidFill>
                    <a:srgbClr val="045A36"/>
                  </a:solidFill>
                  <a:latin typeface="Montserrat"/>
                  <a:ea typeface="Montserrat"/>
                  <a:cs typeface="Montserrat"/>
                  <a:sym typeface="Montserrat"/>
                </a:rPr>
                <a:t>Common Automation Failures</a:t>
              </a:r>
              <a:endParaRPr b="1" sz="1650">
                <a:solidFill>
                  <a:srgbClr val="045A36"/>
                </a:solidFill>
                <a:latin typeface="Montserrat"/>
                <a:ea typeface="Montserrat"/>
                <a:cs typeface="Montserrat"/>
                <a:sym typeface="Montserrat"/>
              </a:endParaRPr>
            </a:p>
          </p:txBody>
        </p:sp>
        <p:sp>
          <p:nvSpPr>
            <p:cNvPr id="820" name="Google Shape;820;p35"/>
            <p:cNvSpPr txBox="1"/>
            <p:nvPr/>
          </p:nvSpPr>
          <p:spPr>
            <a:xfrm>
              <a:off x="6467475" y="2000250"/>
              <a:ext cx="49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Proper exception handling is critical for diagnosing these common beginner errors in network automation:</a:t>
              </a:r>
              <a:endParaRPr b="0" sz="1400">
                <a:solidFill>
                  <a:srgbClr val="374151"/>
                </a:solidFill>
                <a:latin typeface="Inter"/>
                <a:ea typeface="Inter"/>
                <a:cs typeface="Inter"/>
                <a:sym typeface="Inter"/>
              </a:endParaRPr>
            </a:p>
          </p:txBody>
        </p:sp>
        <p:grpSp>
          <p:nvGrpSpPr>
            <p:cNvPr id="821" name="Google Shape;821;p35"/>
            <p:cNvGrpSpPr/>
            <p:nvPr/>
          </p:nvGrpSpPr>
          <p:grpSpPr>
            <a:xfrm>
              <a:off x="6467475" y="2733675"/>
              <a:ext cx="190500" cy="190500"/>
              <a:chOff x="0" y="0"/>
              <a:chExt cx="190500" cy="190500"/>
            </a:xfrm>
          </p:grpSpPr>
          <p:sp>
            <p:nvSpPr>
              <p:cNvPr id="822" name="Google Shape;822;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3" name="Google Shape;823;p3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24" name="Google Shape;824;p35"/>
            <p:cNvSpPr txBox="1"/>
            <p:nvPr/>
          </p:nvSpPr>
          <p:spPr>
            <a:xfrm>
              <a:off x="6800850" y="2714625"/>
              <a:ext cx="46197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SemiBold"/>
                  <a:ea typeface="Inter SemiBold"/>
                  <a:cs typeface="Inter SemiBold"/>
                  <a:sym typeface="Inter SemiBold"/>
                </a:rPr>
                <a:t>Wrong Email Formatting:</a:t>
              </a:r>
              <a:r>
                <a:rPr b="0" lang="en" sz="1300">
                  <a:solidFill>
                    <a:srgbClr val="374151"/>
                  </a:solidFill>
                  <a:latin typeface="Inter"/>
                  <a:ea typeface="Inter"/>
                  <a:cs typeface="Inter"/>
                  <a:sym typeface="Inter"/>
                </a:rPr>
                <a:t> Syntax or spelling mistakes in sender or recipient addresses.</a:t>
              </a:r>
              <a:endParaRPr b="0" sz="1300">
                <a:solidFill>
                  <a:srgbClr val="374151"/>
                </a:solidFill>
                <a:latin typeface="Inter"/>
                <a:ea typeface="Inter"/>
                <a:cs typeface="Inter"/>
                <a:sym typeface="Inter"/>
              </a:endParaRPr>
            </a:p>
          </p:txBody>
        </p:sp>
        <p:grpSp>
          <p:nvGrpSpPr>
            <p:cNvPr id="825" name="Google Shape;825;p35"/>
            <p:cNvGrpSpPr/>
            <p:nvPr/>
          </p:nvGrpSpPr>
          <p:grpSpPr>
            <a:xfrm>
              <a:off x="6467475" y="3305175"/>
              <a:ext cx="190500" cy="190500"/>
              <a:chOff x="0" y="0"/>
              <a:chExt cx="190500" cy="190500"/>
            </a:xfrm>
          </p:grpSpPr>
          <p:sp>
            <p:nvSpPr>
              <p:cNvPr id="826" name="Google Shape;826;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7" name="Google Shape;827;p3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28" name="Google Shape;828;p35"/>
            <p:cNvSpPr txBox="1"/>
            <p:nvPr/>
          </p:nvSpPr>
          <p:spPr>
            <a:xfrm>
              <a:off x="6800850" y="3286125"/>
              <a:ext cx="46197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SemiBold"/>
                  <a:ea typeface="Inter SemiBold"/>
                  <a:cs typeface="Inter SemiBold"/>
                  <a:sym typeface="Inter SemiBold"/>
                </a:rPr>
                <a:t>Invalid App Password:</a:t>
              </a:r>
              <a:r>
                <a:rPr b="0" lang="en" sz="1300">
                  <a:solidFill>
                    <a:srgbClr val="374151"/>
                  </a:solidFill>
                  <a:latin typeface="Inter"/>
                  <a:ea typeface="Inter"/>
                  <a:cs typeface="Inter"/>
                  <a:sym typeface="Inter"/>
                </a:rPr>
                <a:t> Utilizing standard passwords instead of app-specific credentials.</a:t>
              </a:r>
              <a:endParaRPr b="0" sz="1300">
                <a:solidFill>
                  <a:srgbClr val="374151"/>
                </a:solidFill>
                <a:latin typeface="Inter"/>
                <a:ea typeface="Inter"/>
                <a:cs typeface="Inter"/>
                <a:sym typeface="Inter"/>
              </a:endParaRPr>
            </a:p>
          </p:txBody>
        </p:sp>
        <p:grpSp>
          <p:nvGrpSpPr>
            <p:cNvPr id="829" name="Google Shape;829;p35"/>
            <p:cNvGrpSpPr/>
            <p:nvPr/>
          </p:nvGrpSpPr>
          <p:grpSpPr>
            <a:xfrm>
              <a:off x="6467475" y="3876675"/>
              <a:ext cx="190500" cy="190500"/>
              <a:chOff x="0" y="0"/>
              <a:chExt cx="190500" cy="190500"/>
            </a:xfrm>
          </p:grpSpPr>
          <p:sp>
            <p:nvSpPr>
              <p:cNvPr id="830" name="Google Shape;830;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1" name="Google Shape;831;p3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2" name="Google Shape;832;p35"/>
            <p:cNvSpPr txBox="1"/>
            <p:nvPr/>
          </p:nvSpPr>
          <p:spPr>
            <a:xfrm>
              <a:off x="6800850" y="3857625"/>
              <a:ext cx="46197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SemiBold"/>
                  <a:ea typeface="Inter SemiBold"/>
                  <a:cs typeface="Inter SemiBold"/>
                  <a:sym typeface="Inter SemiBold"/>
                </a:rPr>
                <a:t>SMTP Port Blocking:</a:t>
              </a:r>
              <a:r>
                <a:rPr b="0" lang="en" sz="1300">
                  <a:solidFill>
                    <a:srgbClr val="374151"/>
                  </a:solidFill>
                  <a:latin typeface="Inter"/>
                  <a:ea typeface="Inter"/>
                  <a:cs typeface="Inter"/>
                  <a:sym typeface="Inter"/>
                </a:rPr>
                <a:t> Connection failures due to ISPs or firewalls blocking secure ports.</a:t>
              </a:r>
              <a:endParaRPr b="0" sz="1300">
                <a:solidFill>
                  <a:srgbClr val="374151"/>
                </a:solidFill>
                <a:latin typeface="Inter"/>
                <a:ea typeface="Inter"/>
                <a:cs typeface="Inter"/>
                <a:sym typeface="Inter"/>
              </a:endParaRPr>
            </a:p>
          </p:txBody>
        </p:sp>
        <p:grpSp>
          <p:nvGrpSpPr>
            <p:cNvPr id="833" name="Google Shape;833;p35"/>
            <p:cNvGrpSpPr/>
            <p:nvPr/>
          </p:nvGrpSpPr>
          <p:grpSpPr>
            <a:xfrm>
              <a:off x="6467475" y="4448175"/>
              <a:ext cx="190500" cy="190500"/>
              <a:chOff x="0" y="0"/>
              <a:chExt cx="190500" cy="190500"/>
            </a:xfrm>
          </p:grpSpPr>
          <p:sp>
            <p:nvSpPr>
              <p:cNvPr id="834" name="Google Shape;834;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3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6" name="Google Shape;836;p35"/>
            <p:cNvSpPr txBox="1"/>
            <p:nvPr/>
          </p:nvSpPr>
          <p:spPr>
            <a:xfrm>
              <a:off x="6800850" y="4429125"/>
              <a:ext cx="46197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SemiBold"/>
                  <a:ea typeface="Inter SemiBold"/>
                  <a:cs typeface="Inter SemiBold"/>
                  <a:sym typeface="Inter SemiBold"/>
                </a:rPr>
                <a:t>Network Connectivity:</a:t>
              </a:r>
              <a:r>
                <a:rPr b="0" lang="en" sz="1300">
                  <a:solidFill>
                    <a:srgbClr val="374151"/>
                  </a:solidFill>
                  <a:latin typeface="Inter"/>
                  <a:ea typeface="Inter"/>
                  <a:cs typeface="Inter"/>
                  <a:sym typeface="Inter"/>
                </a:rPr>
                <a:t> General internet dropouts disrupting the mail server handshake.</a:t>
              </a:r>
              <a:endParaRPr b="0" sz="1300">
                <a:solidFill>
                  <a:srgbClr val="374151"/>
                </a:solidFill>
                <a:latin typeface="Inter"/>
                <a:ea typeface="Inter"/>
                <a:cs typeface="Inter"/>
                <a:sym typeface="Inter"/>
              </a:endParaRPr>
            </a:p>
          </p:txBody>
        </p:sp>
      </p:grpSp>
      <p:pic>
        <p:nvPicPr>
          <p:cNvPr id="837" name="Google Shape;837;p35"/>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838" name="Google Shape;838;p35"/>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Basics</a:t>
            </a:r>
            <a:endParaRPr b="0" sz="975">
              <a:solidFill>
                <a:srgbClr val="6B7280"/>
              </a:solidFill>
              <a:latin typeface="Inter"/>
              <a:ea typeface="Inter"/>
              <a:cs typeface="Inter"/>
              <a:sym typeface="Inter"/>
            </a:endParaRPr>
          </a:p>
        </p:txBody>
      </p:sp>
      <p:pic>
        <p:nvPicPr>
          <p:cNvPr id="839" name="Google Shape;839;p35"/>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3" name="Shape 843"/>
        <p:cNvGrpSpPr/>
        <p:nvPr/>
      </p:nvGrpSpPr>
      <p:grpSpPr>
        <a:xfrm>
          <a:off x="0" y="0"/>
          <a:ext cx="0" cy="0"/>
          <a:chOff x="0" y="0"/>
          <a:chExt cx="0" cy="0"/>
        </a:xfrm>
      </p:grpSpPr>
      <p:pic>
        <p:nvPicPr>
          <p:cNvPr id="844" name="Google Shape;844;p36"/>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845" name="Google Shape;845;p36"/>
          <p:cNvSpPr txBox="1"/>
          <p:nvPr/>
        </p:nvSpPr>
        <p:spPr>
          <a:xfrm>
            <a:off x="762000" y="571500"/>
            <a:ext cx="10668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Mini Project: Student Email Sender</a:t>
            </a:r>
            <a:endParaRPr b="0" sz="2700">
              <a:solidFill>
                <a:srgbClr val="045A36"/>
              </a:solidFill>
              <a:latin typeface="Montserrat SemiBold"/>
              <a:ea typeface="Montserrat SemiBold"/>
              <a:cs typeface="Montserrat SemiBold"/>
              <a:sym typeface="Montserrat SemiBold"/>
            </a:endParaRPr>
          </a:p>
        </p:txBody>
      </p:sp>
      <p:sp>
        <p:nvSpPr>
          <p:cNvPr id="846" name="Google Shape;846;p3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7" name="Google Shape;847;p36"/>
          <p:cNvSpPr txBox="1"/>
          <p:nvPr/>
        </p:nvSpPr>
        <p:spPr>
          <a:xfrm>
            <a:off x="762000" y="1333500"/>
            <a:ext cx="10668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Inter"/>
                <a:ea typeface="Inter"/>
                <a:cs typeface="Inter"/>
                <a:sym typeface="Inter"/>
              </a:rPr>
              <a:t>Objective:</a:t>
            </a:r>
            <a:r>
              <a:rPr lang="en" sz="1350">
                <a:solidFill>
                  <a:srgbClr val="374151"/>
                </a:solidFill>
                <a:latin typeface="Inter"/>
                <a:ea typeface="Inter"/>
                <a:cs typeface="Inter"/>
                <a:sym typeface="Inter"/>
              </a:rPr>
              <a:t> Build an interactive script that prompts users for dynamic email details, structures the message payload, and securely transmits it using SMTP protocols.</a:t>
            </a:r>
            <a:endParaRPr sz="1350">
              <a:solidFill>
                <a:srgbClr val="374151"/>
              </a:solidFill>
              <a:latin typeface="Inter"/>
              <a:ea typeface="Inter"/>
              <a:cs typeface="Inter"/>
              <a:sym typeface="Inter"/>
            </a:endParaRPr>
          </a:p>
        </p:txBody>
      </p:sp>
      <p:grpSp>
        <p:nvGrpSpPr>
          <p:cNvPr id="848" name="Google Shape;848;p36"/>
          <p:cNvGrpSpPr/>
          <p:nvPr/>
        </p:nvGrpSpPr>
        <p:grpSpPr>
          <a:xfrm>
            <a:off x="762000" y="2000250"/>
            <a:ext cx="3295800" cy="3286200"/>
            <a:chOff x="0" y="0"/>
            <a:chExt cx="3295800" cy="3286200"/>
          </a:xfrm>
        </p:grpSpPr>
        <p:sp>
          <p:nvSpPr>
            <p:cNvPr id="849" name="Google Shape;849;p36"/>
            <p:cNvSpPr/>
            <p:nvPr/>
          </p:nvSpPr>
          <p:spPr>
            <a:xfrm>
              <a:off x="0" y="0"/>
              <a:ext cx="3295800" cy="3286200"/>
            </a:xfrm>
            <a:prstGeom prst="roundRect">
              <a:avLst>
                <a:gd fmla="val 34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0" name="Google Shape;850;p36"/>
            <p:cNvSpPr/>
            <p:nvPr/>
          </p:nvSpPr>
          <p:spPr>
            <a:xfrm>
              <a:off x="0" y="0"/>
              <a:ext cx="32958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1" name="Google Shape;851;p36"/>
            <p:cNvSpPr/>
            <p:nvPr/>
          </p:nvSpPr>
          <p:spPr>
            <a:xfrm>
              <a:off x="2733675" y="209550"/>
              <a:ext cx="342900" cy="3429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2" name="Google Shape;852;p36"/>
            <p:cNvSpPr txBox="1"/>
            <p:nvPr/>
          </p:nvSpPr>
          <p:spPr>
            <a:xfrm>
              <a:off x="2733675" y="2095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Montserrat"/>
                  <a:ea typeface="Montserrat"/>
                  <a:cs typeface="Montserrat"/>
                  <a:sym typeface="Montserrat"/>
                </a:rPr>
                <a:t>01</a:t>
              </a:r>
              <a:endParaRPr b="1" sz="1100">
                <a:solidFill>
                  <a:srgbClr val="FFFFFF"/>
                </a:solidFill>
                <a:latin typeface="Montserrat"/>
                <a:ea typeface="Montserrat"/>
                <a:cs typeface="Montserrat"/>
                <a:sym typeface="Montserrat"/>
              </a:endParaRPr>
            </a:p>
          </p:txBody>
        </p:sp>
        <p:sp>
          <p:nvSpPr>
            <p:cNvPr id="853" name="Google Shape;853;p36"/>
            <p:cNvSpPr txBox="1"/>
            <p:nvPr/>
          </p:nvSpPr>
          <p:spPr>
            <a:xfrm>
              <a:off x="238125" y="285750"/>
              <a:ext cx="28194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01 / DATA CAPTURE</a:t>
              </a:r>
              <a:endParaRPr b="1" sz="1100">
                <a:solidFill>
                  <a:srgbClr val="D4A017"/>
                </a:solidFill>
                <a:latin typeface="Inter"/>
                <a:ea typeface="Inter"/>
                <a:cs typeface="Inter"/>
                <a:sym typeface="Inter"/>
              </a:endParaRPr>
            </a:p>
            <a:p>
              <a:pPr indent="0" lvl="0" marL="0" rtl="0" algn="l">
                <a:spcBef>
                  <a:spcPts val="375"/>
                </a:spcBef>
                <a:spcAft>
                  <a:spcPts val="0"/>
                </a:spcAft>
                <a:buNone/>
              </a:pPr>
              <a:r>
                <a:rPr b="1" lang="en" sz="1500">
                  <a:solidFill>
                    <a:srgbClr val="045A36"/>
                  </a:solidFill>
                  <a:latin typeface="Montserrat"/>
                  <a:ea typeface="Montserrat"/>
                  <a:cs typeface="Montserrat"/>
                  <a:sym typeface="Montserrat"/>
                </a:rPr>
                <a:t>Input &amp; Variables</a:t>
              </a:r>
              <a:endParaRPr b="1" sz="1500">
                <a:solidFill>
                  <a:srgbClr val="045A36"/>
                </a:solidFill>
                <a:latin typeface="Montserrat"/>
                <a:ea typeface="Montserrat"/>
                <a:cs typeface="Montserrat"/>
                <a:sym typeface="Montserrat"/>
              </a:endParaRPr>
            </a:p>
            <a:p>
              <a:pPr indent="-317500" lvl="0" marL="457200" rtl="0" algn="l">
                <a:spcBef>
                  <a:spcPts val="1125"/>
                </a:spcBef>
                <a:spcAft>
                  <a:spcPts val="0"/>
                </a:spcAft>
                <a:buClr>
                  <a:srgbClr val="D4A017"/>
                </a:buClr>
                <a:buSzPts val="1400"/>
                <a:buFont typeface="Inter"/>
                <a:buChar char="●"/>
              </a:pPr>
              <a:r>
                <a:rPr b="0" lang="en" sz="1150">
                  <a:solidFill>
                    <a:srgbClr val="374151"/>
                  </a:solidFill>
                  <a:latin typeface="Inter"/>
                  <a:ea typeface="Inter"/>
                  <a:cs typeface="Inter"/>
                  <a:sym typeface="Inter"/>
                </a:rPr>
                <a:t>Capture dynamic receiver email using Python's </a:t>
              </a:r>
              <a:r>
                <a:rPr b="0" lang="en" sz="1150">
                  <a:solidFill>
                    <a:srgbClr val="374151"/>
                  </a:solidFill>
                  <a:highlight>
                    <a:srgbClr val="F1F5F9"/>
                  </a:highlight>
                  <a:latin typeface="Arial"/>
                  <a:ea typeface="Arial"/>
                  <a:cs typeface="Arial"/>
                  <a:sym typeface="Arial"/>
                </a:rPr>
                <a:t>input()</a:t>
              </a:r>
              <a:r>
                <a:rPr b="0" lang="en" sz="1150">
                  <a:solidFill>
                    <a:srgbClr val="374151"/>
                  </a:solidFill>
                  <a:latin typeface="Inter"/>
                  <a:ea typeface="Inter"/>
                  <a:cs typeface="Inter"/>
                  <a:sym typeface="Inter"/>
                </a:rPr>
                <a:t>.</a:t>
              </a:r>
              <a:endParaRPr>
                <a:solidFill>
                  <a:srgbClr val="D4A017"/>
                </a:solidFill>
                <a:latin typeface="Inter"/>
                <a:ea typeface="Inter"/>
                <a:cs typeface="Inter"/>
                <a:sym typeface="Inter"/>
              </a:endParaRPr>
            </a:p>
            <a:p>
              <a:pPr indent="-317500" lvl="0" marL="457200" rtl="0" algn="l">
                <a:spcBef>
                  <a:spcPts val="750"/>
                </a:spcBef>
                <a:spcAft>
                  <a:spcPts val="0"/>
                </a:spcAft>
                <a:buClr>
                  <a:srgbClr val="D4A017"/>
                </a:buClr>
                <a:buSzPts val="1400"/>
                <a:buFont typeface="Inter"/>
                <a:buChar char="●"/>
              </a:pPr>
              <a:r>
                <a:rPr b="0" lang="en" sz="1150">
                  <a:solidFill>
                    <a:srgbClr val="374151"/>
                  </a:solidFill>
                  <a:latin typeface="Inter"/>
                  <a:ea typeface="Inter"/>
                  <a:cs typeface="Inter"/>
                  <a:sym typeface="Inter"/>
                </a:rPr>
                <a:t>Collect custom subject lines and message body text.</a:t>
              </a:r>
              <a:endParaRPr>
                <a:solidFill>
                  <a:srgbClr val="D4A017"/>
                </a:solidFill>
                <a:latin typeface="Inter"/>
                <a:ea typeface="Inter"/>
                <a:cs typeface="Inter"/>
                <a:sym typeface="Inter"/>
              </a:endParaRPr>
            </a:p>
            <a:p>
              <a:pPr indent="-317500" lvl="0" marL="457200" rtl="0" algn="l">
                <a:spcBef>
                  <a:spcPts val="750"/>
                </a:spcBef>
                <a:spcAft>
                  <a:spcPts val="750"/>
                </a:spcAft>
                <a:buClr>
                  <a:srgbClr val="D4A017"/>
                </a:buClr>
                <a:buSzPts val="1400"/>
                <a:buFont typeface="Inter"/>
                <a:buChar char="●"/>
              </a:pPr>
              <a:r>
                <a:rPr b="0" lang="en" sz="1150">
                  <a:solidFill>
                    <a:srgbClr val="374151"/>
                  </a:solidFill>
                  <a:latin typeface="Inter"/>
                  <a:ea typeface="Inter"/>
                  <a:cs typeface="Inter"/>
                  <a:sym typeface="Inter"/>
                </a:rPr>
                <a:t>Store and synthesize dynamic inputs safely using Variables.</a:t>
              </a:r>
              <a:endParaRPr>
                <a:solidFill>
                  <a:srgbClr val="D4A017"/>
                </a:solidFill>
                <a:latin typeface="Inter"/>
                <a:ea typeface="Inter"/>
                <a:cs typeface="Inter"/>
                <a:sym typeface="Inter"/>
              </a:endParaRPr>
            </a:p>
          </p:txBody>
        </p:sp>
      </p:grpSp>
      <p:grpSp>
        <p:nvGrpSpPr>
          <p:cNvPr id="854" name="Google Shape;854;p36"/>
          <p:cNvGrpSpPr/>
          <p:nvPr/>
        </p:nvGrpSpPr>
        <p:grpSpPr>
          <a:xfrm>
            <a:off x="4438650" y="2000250"/>
            <a:ext cx="3295800" cy="3286200"/>
            <a:chOff x="0" y="0"/>
            <a:chExt cx="3295800" cy="3286200"/>
          </a:xfrm>
        </p:grpSpPr>
        <p:sp>
          <p:nvSpPr>
            <p:cNvPr id="855" name="Google Shape;855;p36"/>
            <p:cNvSpPr/>
            <p:nvPr/>
          </p:nvSpPr>
          <p:spPr>
            <a:xfrm>
              <a:off x="0" y="0"/>
              <a:ext cx="3295800" cy="3286200"/>
            </a:xfrm>
            <a:prstGeom prst="roundRect">
              <a:avLst>
                <a:gd fmla="val 34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6" name="Google Shape;856;p36"/>
            <p:cNvSpPr/>
            <p:nvPr/>
          </p:nvSpPr>
          <p:spPr>
            <a:xfrm>
              <a:off x="0" y="0"/>
              <a:ext cx="32958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7" name="Google Shape;857;p36"/>
            <p:cNvSpPr/>
            <p:nvPr/>
          </p:nvSpPr>
          <p:spPr>
            <a:xfrm>
              <a:off x="2733675" y="209550"/>
              <a:ext cx="342900" cy="3429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8" name="Google Shape;858;p36"/>
            <p:cNvSpPr txBox="1"/>
            <p:nvPr/>
          </p:nvSpPr>
          <p:spPr>
            <a:xfrm>
              <a:off x="2733675" y="2095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Montserrat"/>
                  <a:ea typeface="Montserrat"/>
                  <a:cs typeface="Montserrat"/>
                  <a:sym typeface="Montserrat"/>
                </a:rPr>
                <a:t>02</a:t>
              </a:r>
              <a:endParaRPr b="1" sz="1100">
                <a:solidFill>
                  <a:srgbClr val="FFFFFF"/>
                </a:solidFill>
                <a:latin typeface="Montserrat"/>
                <a:ea typeface="Montserrat"/>
                <a:cs typeface="Montserrat"/>
                <a:sym typeface="Montserrat"/>
              </a:endParaRPr>
            </a:p>
          </p:txBody>
        </p:sp>
        <p:sp>
          <p:nvSpPr>
            <p:cNvPr id="859" name="Google Shape;859;p36"/>
            <p:cNvSpPr txBox="1"/>
            <p:nvPr/>
          </p:nvSpPr>
          <p:spPr>
            <a:xfrm>
              <a:off x="238125" y="285750"/>
              <a:ext cx="28194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02 / EMAIL MESSAGE</a:t>
              </a:r>
              <a:endParaRPr b="1" sz="1100">
                <a:solidFill>
                  <a:srgbClr val="045A36"/>
                </a:solidFill>
                <a:latin typeface="Inter"/>
                <a:ea typeface="Inter"/>
                <a:cs typeface="Inter"/>
                <a:sym typeface="Inter"/>
              </a:endParaRPr>
            </a:p>
            <a:p>
              <a:pPr indent="0" lvl="0" marL="0" rtl="0" algn="l">
                <a:spcBef>
                  <a:spcPts val="375"/>
                </a:spcBef>
                <a:spcAft>
                  <a:spcPts val="0"/>
                </a:spcAft>
                <a:buNone/>
              </a:pPr>
              <a:r>
                <a:rPr b="1" lang="en" sz="1500">
                  <a:solidFill>
                    <a:srgbClr val="045A36"/>
                  </a:solidFill>
                  <a:latin typeface="Montserrat"/>
                  <a:ea typeface="Montserrat"/>
                  <a:cs typeface="Montserrat"/>
                  <a:sym typeface="Montserrat"/>
                </a:rPr>
                <a:t>SMTP &amp; Structure</a:t>
              </a:r>
              <a:endParaRPr b="1" sz="1500">
                <a:solidFill>
                  <a:srgbClr val="045A36"/>
                </a:solidFill>
                <a:latin typeface="Montserrat"/>
                <a:ea typeface="Montserrat"/>
                <a:cs typeface="Montserrat"/>
                <a:sym typeface="Montserrat"/>
              </a:endParaRPr>
            </a:p>
            <a:p>
              <a:pPr indent="-317500" lvl="0" marL="457200" rtl="0" algn="l">
                <a:spcBef>
                  <a:spcPts val="1125"/>
                </a:spcBef>
                <a:spcAft>
                  <a:spcPts val="0"/>
                </a:spcAft>
                <a:buClr>
                  <a:srgbClr val="045A36"/>
                </a:buClr>
                <a:buSzPts val="1400"/>
                <a:buFont typeface="Inter"/>
                <a:buChar char="●"/>
              </a:pPr>
              <a:r>
                <a:rPr b="0" lang="en" sz="1150">
                  <a:solidFill>
                    <a:srgbClr val="374151"/>
                  </a:solidFill>
                  <a:latin typeface="Inter"/>
                  <a:ea typeface="Inter"/>
                  <a:cs typeface="Inter"/>
                  <a:sym typeface="Inter"/>
                </a:rPr>
                <a:t>Structure dynamic input data within an </a:t>
              </a:r>
              <a:r>
                <a:rPr b="0" lang="en" sz="1150">
                  <a:solidFill>
                    <a:srgbClr val="374151"/>
                  </a:solidFill>
                  <a:highlight>
                    <a:srgbClr val="F1F5F9"/>
                  </a:highlight>
                  <a:latin typeface="Arial"/>
                  <a:ea typeface="Arial"/>
                  <a:cs typeface="Arial"/>
                  <a:sym typeface="Arial"/>
                </a:rPr>
                <a:t>EmailMessage</a:t>
              </a:r>
              <a:r>
                <a:rPr b="0" lang="en" sz="1150">
                  <a:solidFill>
                    <a:srgbClr val="374151"/>
                  </a:solidFill>
                  <a:latin typeface="Inter"/>
                  <a:ea typeface="Inter"/>
                  <a:cs typeface="Inter"/>
                  <a:sym typeface="Inter"/>
                </a:rPr>
                <a:t>.</a:t>
              </a:r>
              <a:endParaRPr>
                <a:solidFill>
                  <a:srgbClr val="045A36"/>
                </a:solidFill>
                <a:latin typeface="Inter"/>
                <a:ea typeface="Inter"/>
                <a:cs typeface="Inter"/>
                <a:sym typeface="Inter"/>
              </a:endParaRPr>
            </a:p>
            <a:p>
              <a:pPr indent="-317500" lvl="0" marL="457200" rtl="0" algn="l">
                <a:spcBef>
                  <a:spcPts val="750"/>
                </a:spcBef>
                <a:spcAft>
                  <a:spcPts val="0"/>
                </a:spcAft>
                <a:buClr>
                  <a:srgbClr val="045A36"/>
                </a:buClr>
                <a:buSzPts val="1400"/>
                <a:buFont typeface="Inter"/>
                <a:buChar char="●"/>
              </a:pPr>
              <a:r>
                <a:rPr b="0" lang="en" sz="1150">
                  <a:solidFill>
                    <a:srgbClr val="374151"/>
                  </a:solidFill>
                  <a:latin typeface="Inter"/>
                  <a:ea typeface="Inter"/>
                  <a:cs typeface="Inter"/>
                  <a:sym typeface="Inter"/>
                </a:rPr>
                <a:t>Establish secure connections using Python's </a:t>
              </a:r>
              <a:r>
                <a:rPr b="0" lang="en" sz="1150">
                  <a:solidFill>
                    <a:srgbClr val="374151"/>
                  </a:solidFill>
                  <a:highlight>
                    <a:srgbClr val="F1F5F9"/>
                  </a:highlight>
                  <a:latin typeface="Arial"/>
                  <a:ea typeface="Arial"/>
                  <a:cs typeface="Arial"/>
                  <a:sym typeface="Arial"/>
                </a:rPr>
                <a:t>smtplib</a:t>
              </a:r>
              <a:r>
                <a:rPr b="0" lang="en" sz="1150">
                  <a:solidFill>
                    <a:srgbClr val="374151"/>
                  </a:solidFill>
                  <a:latin typeface="Inter"/>
                  <a:ea typeface="Inter"/>
                  <a:cs typeface="Inter"/>
                  <a:sym typeface="Inter"/>
                </a:rPr>
                <a:t>.</a:t>
              </a:r>
              <a:endParaRPr>
                <a:solidFill>
                  <a:srgbClr val="045A36"/>
                </a:solidFill>
                <a:latin typeface="Inter"/>
                <a:ea typeface="Inter"/>
                <a:cs typeface="Inter"/>
                <a:sym typeface="Inter"/>
              </a:endParaRPr>
            </a:p>
            <a:p>
              <a:pPr indent="-317500" lvl="0" marL="457200" rtl="0" algn="l">
                <a:spcBef>
                  <a:spcPts val="750"/>
                </a:spcBef>
                <a:spcAft>
                  <a:spcPts val="750"/>
                </a:spcAft>
                <a:buClr>
                  <a:srgbClr val="045A36"/>
                </a:buClr>
                <a:buSzPts val="1400"/>
                <a:buFont typeface="Inter"/>
                <a:buChar char="●"/>
              </a:pPr>
              <a:r>
                <a:rPr b="0" lang="en" sz="1150">
                  <a:solidFill>
                    <a:srgbClr val="374151"/>
                  </a:solidFill>
                  <a:latin typeface="Inter"/>
                  <a:ea typeface="Inter"/>
                  <a:cs typeface="Inter"/>
                  <a:sym typeface="Inter"/>
                </a:rPr>
                <a:t>Handle secure SMTP authentication with credentials.</a:t>
              </a:r>
              <a:endParaRPr>
                <a:solidFill>
                  <a:srgbClr val="045A36"/>
                </a:solidFill>
                <a:latin typeface="Inter"/>
                <a:ea typeface="Inter"/>
                <a:cs typeface="Inter"/>
                <a:sym typeface="Inter"/>
              </a:endParaRPr>
            </a:p>
          </p:txBody>
        </p:sp>
      </p:grpSp>
      <p:grpSp>
        <p:nvGrpSpPr>
          <p:cNvPr id="860" name="Google Shape;860;p36"/>
          <p:cNvGrpSpPr/>
          <p:nvPr/>
        </p:nvGrpSpPr>
        <p:grpSpPr>
          <a:xfrm>
            <a:off x="8115300" y="2000250"/>
            <a:ext cx="3295800" cy="3286200"/>
            <a:chOff x="0" y="0"/>
            <a:chExt cx="3295800" cy="3286200"/>
          </a:xfrm>
        </p:grpSpPr>
        <p:sp>
          <p:nvSpPr>
            <p:cNvPr id="861" name="Google Shape;861;p36"/>
            <p:cNvSpPr/>
            <p:nvPr/>
          </p:nvSpPr>
          <p:spPr>
            <a:xfrm>
              <a:off x="0" y="0"/>
              <a:ext cx="3295800" cy="3286200"/>
            </a:xfrm>
            <a:prstGeom prst="roundRect">
              <a:avLst>
                <a:gd fmla="val 34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2" name="Google Shape;862;p36"/>
            <p:cNvSpPr/>
            <p:nvPr/>
          </p:nvSpPr>
          <p:spPr>
            <a:xfrm>
              <a:off x="0" y="0"/>
              <a:ext cx="32958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36"/>
            <p:cNvSpPr/>
            <p:nvPr/>
          </p:nvSpPr>
          <p:spPr>
            <a:xfrm>
              <a:off x="2733675" y="209550"/>
              <a:ext cx="342900" cy="3429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4" name="Google Shape;864;p36"/>
            <p:cNvSpPr txBox="1"/>
            <p:nvPr/>
          </p:nvSpPr>
          <p:spPr>
            <a:xfrm>
              <a:off x="2733675" y="20955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Montserrat"/>
                  <a:ea typeface="Montserrat"/>
                  <a:cs typeface="Montserrat"/>
                  <a:sym typeface="Montserrat"/>
                </a:rPr>
                <a:t>03</a:t>
              </a:r>
              <a:endParaRPr b="1" sz="1100">
                <a:solidFill>
                  <a:srgbClr val="FFFFFF"/>
                </a:solidFill>
                <a:latin typeface="Montserrat"/>
                <a:ea typeface="Montserrat"/>
                <a:cs typeface="Montserrat"/>
                <a:sym typeface="Montserrat"/>
              </a:endParaRPr>
            </a:p>
          </p:txBody>
        </p:sp>
        <p:sp>
          <p:nvSpPr>
            <p:cNvPr id="865" name="Google Shape;865;p36"/>
            <p:cNvSpPr txBox="1"/>
            <p:nvPr/>
          </p:nvSpPr>
          <p:spPr>
            <a:xfrm>
              <a:off x="238125" y="285750"/>
              <a:ext cx="28194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03 / STABLE DELIVERY</a:t>
              </a:r>
              <a:endParaRPr b="1" sz="1100">
                <a:solidFill>
                  <a:srgbClr val="D4A017"/>
                </a:solidFill>
                <a:latin typeface="Inter"/>
                <a:ea typeface="Inter"/>
                <a:cs typeface="Inter"/>
                <a:sym typeface="Inter"/>
              </a:endParaRPr>
            </a:p>
            <a:p>
              <a:pPr indent="0" lvl="0" marL="0" rtl="0" algn="l">
                <a:spcBef>
                  <a:spcPts val="375"/>
                </a:spcBef>
                <a:spcAft>
                  <a:spcPts val="0"/>
                </a:spcAft>
                <a:buNone/>
              </a:pPr>
              <a:r>
                <a:rPr b="1" lang="en" sz="1500">
                  <a:solidFill>
                    <a:srgbClr val="045A36"/>
                  </a:solidFill>
                  <a:latin typeface="Montserrat"/>
                  <a:ea typeface="Montserrat"/>
                  <a:cs typeface="Montserrat"/>
                  <a:sym typeface="Montserrat"/>
                </a:rPr>
                <a:t>Send &amp; Stability</a:t>
              </a:r>
              <a:endParaRPr b="1" sz="1500">
                <a:solidFill>
                  <a:srgbClr val="045A36"/>
                </a:solidFill>
                <a:latin typeface="Montserrat"/>
                <a:ea typeface="Montserrat"/>
                <a:cs typeface="Montserrat"/>
                <a:sym typeface="Montserrat"/>
              </a:endParaRPr>
            </a:p>
            <a:p>
              <a:pPr indent="-317500" lvl="0" marL="457200" rtl="0" algn="l">
                <a:spcBef>
                  <a:spcPts val="1125"/>
                </a:spcBef>
                <a:spcAft>
                  <a:spcPts val="0"/>
                </a:spcAft>
                <a:buClr>
                  <a:srgbClr val="D4A017"/>
                </a:buClr>
                <a:buSzPts val="1400"/>
                <a:buFont typeface="Inter"/>
                <a:buChar char="●"/>
              </a:pPr>
              <a:r>
                <a:rPr b="0" lang="en" sz="1150">
                  <a:solidFill>
                    <a:srgbClr val="374151"/>
                  </a:solidFill>
                  <a:latin typeface="Inter"/>
                  <a:ea typeface="Inter"/>
                  <a:cs typeface="Inter"/>
                  <a:sym typeface="Inter"/>
                </a:rPr>
                <a:t>Execute the </a:t>
              </a:r>
              <a:r>
                <a:rPr b="0" lang="en" sz="1150">
                  <a:solidFill>
                    <a:srgbClr val="374151"/>
                  </a:solidFill>
                  <a:highlight>
                    <a:srgbClr val="F1F5F9"/>
                  </a:highlight>
                  <a:latin typeface="Arial"/>
                  <a:ea typeface="Arial"/>
                  <a:cs typeface="Arial"/>
                  <a:sym typeface="Arial"/>
                </a:rPr>
                <a:t>send_message()</a:t>
              </a:r>
              <a:r>
                <a:rPr b="0" lang="en" sz="1150">
                  <a:solidFill>
                    <a:srgbClr val="374151"/>
                  </a:solidFill>
                  <a:latin typeface="Inter"/>
                  <a:ea typeface="Inter"/>
                  <a:cs typeface="Inter"/>
                  <a:sym typeface="Inter"/>
                </a:rPr>
                <a:t> sequence for transmission.</a:t>
              </a:r>
              <a:endParaRPr>
                <a:solidFill>
                  <a:srgbClr val="D4A017"/>
                </a:solidFill>
                <a:latin typeface="Inter"/>
                <a:ea typeface="Inter"/>
                <a:cs typeface="Inter"/>
                <a:sym typeface="Inter"/>
              </a:endParaRPr>
            </a:p>
            <a:p>
              <a:pPr indent="-317500" lvl="0" marL="457200" rtl="0" algn="l">
                <a:spcBef>
                  <a:spcPts val="750"/>
                </a:spcBef>
                <a:spcAft>
                  <a:spcPts val="0"/>
                </a:spcAft>
                <a:buClr>
                  <a:srgbClr val="D4A017"/>
                </a:buClr>
                <a:buSzPts val="1400"/>
                <a:buFont typeface="Inter"/>
                <a:buChar char="●"/>
              </a:pPr>
              <a:r>
                <a:rPr b="0" lang="en" sz="1150">
                  <a:solidFill>
                    <a:srgbClr val="374151"/>
                  </a:solidFill>
                  <a:latin typeface="Inter"/>
                  <a:ea typeface="Inter"/>
                  <a:cs typeface="Inter"/>
                  <a:sym typeface="Inter"/>
                </a:rPr>
                <a:t>Wrap network and sending operations in </a:t>
              </a:r>
              <a:r>
                <a:rPr b="0" lang="en" sz="1150">
                  <a:solidFill>
                    <a:srgbClr val="374151"/>
                  </a:solidFill>
                  <a:highlight>
                    <a:srgbClr val="F1F5F9"/>
                  </a:highlight>
                  <a:latin typeface="Arial"/>
                  <a:ea typeface="Arial"/>
                  <a:cs typeface="Arial"/>
                  <a:sym typeface="Arial"/>
                </a:rPr>
                <a:t>try/except</a:t>
              </a:r>
              <a:r>
                <a:rPr b="0" lang="en" sz="1150">
                  <a:solidFill>
                    <a:srgbClr val="374151"/>
                  </a:solidFill>
                  <a:latin typeface="Inter"/>
                  <a:ea typeface="Inter"/>
                  <a:cs typeface="Inter"/>
                  <a:sym typeface="Inter"/>
                </a:rPr>
                <a:t> blocks.</a:t>
              </a:r>
              <a:endParaRPr>
                <a:solidFill>
                  <a:srgbClr val="D4A017"/>
                </a:solidFill>
                <a:latin typeface="Inter"/>
                <a:ea typeface="Inter"/>
                <a:cs typeface="Inter"/>
                <a:sym typeface="Inter"/>
              </a:endParaRPr>
            </a:p>
            <a:p>
              <a:pPr indent="-317500" lvl="0" marL="457200" rtl="0" algn="l">
                <a:spcBef>
                  <a:spcPts val="750"/>
                </a:spcBef>
                <a:spcAft>
                  <a:spcPts val="750"/>
                </a:spcAft>
                <a:buClr>
                  <a:srgbClr val="D4A017"/>
                </a:buClr>
                <a:buSzPts val="1400"/>
                <a:buFont typeface="Inter"/>
                <a:buChar char="●"/>
              </a:pPr>
              <a:r>
                <a:rPr b="0" lang="en" sz="1150">
                  <a:solidFill>
                    <a:srgbClr val="374151"/>
                  </a:solidFill>
                  <a:latin typeface="Inter"/>
                  <a:ea typeface="Inter"/>
                  <a:cs typeface="Inter"/>
                  <a:sym typeface="Inter"/>
                </a:rPr>
                <a:t>Ensure overall script robustness and error handling.</a:t>
              </a:r>
              <a:endParaRPr>
                <a:solidFill>
                  <a:srgbClr val="D4A017"/>
                </a:solidFill>
                <a:latin typeface="Inter"/>
                <a:ea typeface="Inter"/>
                <a:cs typeface="Inter"/>
                <a:sym typeface="Inter"/>
              </a:endParaRPr>
            </a:p>
          </p:txBody>
        </p:sp>
      </p:grpSp>
      <p:pic>
        <p:nvPicPr>
          <p:cNvPr id="866" name="Google Shape;866;p36"/>
          <p:cNvPicPr preferRelativeResize="0"/>
          <p:nvPr/>
        </p:nvPicPr>
        <p:blipFill rotWithShape="1">
          <a:blip r:embed="rId5">
            <a:alphaModFix/>
          </a:blip>
          <a:srcRect b="0" l="0" r="0" t="0"/>
          <a:stretch/>
        </p:blipFill>
        <p:spPr>
          <a:xfrm>
            <a:off x="762000" y="5981700"/>
            <a:ext cx="10668000" cy="304800"/>
          </a:xfrm>
          <a:prstGeom prst="rect">
            <a:avLst/>
          </a:prstGeom>
          <a:noFill/>
          <a:ln>
            <a:noFill/>
          </a:ln>
        </p:spPr>
      </p:pic>
      <p:sp>
        <p:nvSpPr>
          <p:cNvPr id="867" name="Google Shape;867;p36"/>
          <p:cNvSpPr txBox="1"/>
          <p:nvPr/>
        </p:nvSpPr>
        <p:spPr>
          <a:xfrm>
            <a:off x="762000" y="6134100"/>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pic>
        <p:nvPicPr>
          <p:cNvPr id="868" name="Google Shape;868;p36"/>
          <p:cNvPicPr preferRelativeResize="0"/>
          <p:nvPr/>
        </p:nvPicPr>
        <p:blipFill rotWithShape="1">
          <a:blip r:embed="rId6">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2" name="Shape 872"/>
        <p:cNvGrpSpPr/>
        <p:nvPr/>
      </p:nvGrpSpPr>
      <p:grpSpPr>
        <a:xfrm>
          <a:off x="0" y="0"/>
          <a:ext cx="0" cy="0"/>
          <a:chOff x="0" y="0"/>
          <a:chExt cx="0" cy="0"/>
        </a:xfrm>
      </p:grpSpPr>
      <p:pic>
        <p:nvPicPr>
          <p:cNvPr id="873" name="Google Shape;873;p37"/>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874" name="Google Shape;874;p37"/>
          <p:cNvSpPr txBox="1"/>
          <p:nvPr/>
        </p:nvSpPr>
        <p:spPr>
          <a:xfrm>
            <a:off x="762000" y="523875"/>
            <a:ext cx="10668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70">
                <a:solidFill>
                  <a:srgbClr val="045A36"/>
                </a:solidFill>
                <a:latin typeface="Montserrat SemiBold"/>
                <a:ea typeface="Montserrat SemiBold"/>
                <a:cs typeface="Montserrat SemiBold"/>
                <a:sym typeface="Montserrat SemiBold"/>
              </a:rPr>
              <a:t>Mastering SMTP Fundamentals Unlocks Advanced Email Automation Capabilities</a:t>
            </a:r>
            <a:endParaRPr b="0" sz="1870">
              <a:solidFill>
                <a:srgbClr val="045A36"/>
              </a:solidFill>
              <a:latin typeface="Montserrat SemiBold"/>
              <a:ea typeface="Montserrat SemiBold"/>
              <a:cs typeface="Montserrat SemiBold"/>
              <a:sym typeface="Montserrat SemiBold"/>
            </a:endParaRPr>
          </a:p>
        </p:txBody>
      </p:sp>
      <p:sp>
        <p:nvSpPr>
          <p:cNvPr id="875" name="Google Shape;875;p3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76" name="Google Shape;876;p37"/>
          <p:cNvGrpSpPr/>
          <p:nvPr/>
        </p:nvGrpSpPr>
        <p:grpSpPr>
          <a:xfrm>
            <a:off x="762000" y="1524000"/>
            <a:ext cx="4953000" cy="4000500"/>
            <a:chOff x="762000" y="1524000"/>
            <a:chExt cx="4953000" cy="4000500"/>
          </a:xfrm>
        </p:grpSpPr>
        <p:sp>
          <p:nvSpPr>
            <p:cNvPr id="877" name="Google Shape;877;p37"/>
            <p:cNvSpPr/>
            <p:nvPr/>
          </p:nvSpPr>
          <p:spPr>
            <a:xfrm>
              <a:off x="762000" y="1524000"/>
              <a:ext cx="4953000" cy="4000500"/>
            </a:xfrm>
            <a:prstGeom prst="roundRect">
              <a:avLst>
                <a:gd fmla="val 285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78" name="Google Shape;878;p37"/>
            <p:cNvPicPr preferRelativeResize="0"/>
            <p:nvPr/>
          </p:nvPicPr>
          <p:blipFill rotWithShape="1">
            <a:blip r:embed="rId5">
              <a:alphaModFix/>
            </a:blip>
            <a:srcRect b="0" l="0" r="0" t="0"/>
            <a:stretch/>
          </p:blipFill>
          <p:spPr>
            <a:xfrm>
              <a:off x="766763" y="1524000"/>
              <a:ext cx="4943400" cy="76200"/>
            </a:xfrm>
            <a:prstGeom prst="rect">
              <a:avLst/>
            </a:prstGeom>
            <a:noFill/>
            <a:ln>
              <a:noFill/>
            </a:ln>
          </p:spPr>
        </p:pic>
        <p:sp>
          <p:nvSpPr>
            <p:cNvPr id="879" name="Google Shape;879;p37"/>
            <p:cNvSpPr txBox="1"/>
            <p:nvPr/>
          </p:nvSpPr>
          <p:spPr>
            <a:xfrm>
              <a:off x="1047750" y="1857375"/>
              <a:ext cx="43815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45A36"/>
                  </a:solidFill>
                  <a:latin typeface="Montserrat"/>
                  <a:ea typeface="Montserrat"/>
                  <a:cs typeface="Montserrat"/>
                  <a:sym typeface="Montserrat"/>
                </a:rPr>
                <a:t>Learned SMTP Concepts</a:t>
              </a:r>
              <a:endParaRPr b="1" sz="1500">
                <a:solidFill>
                  <a:srgbClr val="045A36"/>
                </a:solidFill>
                <a:latin typeface="Montserrat"/>
                <a:ea typeface="Montserrat"/>
                <a:cs typeface="Montserrat"/>
                <a:sym typeface="Montserrat"/>
              </a:endParaRPr>
            </a:p>
            <a:p>
              <a:pPr indent="0" lvl="0" marL="0" rtl="0" algn="l">
                <a:spcBef>
                  <a:spcPts val="600"/>
                </a:spcBef>
                <a:spcAft>
                  <a:spcPts val="0"/>
                </a:spcAft>
                <a:buNone/>
              </a:pPr>
              <a:r>
                <a:rPr lang="en" sz="1100">
                  <a:solidFill>
                    <a:srgbClr val="4B5563"/>
                  </a:solidFill>
                  <a:latin typeface="Inter"/>
                  <a:ea typeface="Inter"/>
                  <a:cs typeface="Inter"/>
                  <a:sym typeface="Inter"/>
                </a:rPr>
                <a:t>A solid grasp of these core components prepares you for advanced scripting:</a:t>
              </a:r>
              <a:endParaRPr sz="1100">
                <a:solidFill>
                  <a:srgbClr val="4B5563"/>
                </a:solidFill>
                <a:latin typeface="Inter"/>
                <a:ea typeface="Inter"/>
                <a:cs typeface="Inter"/>
                <a:sym typeface="Inter"/>
              </a:endParaRPr>
            </a:p>
          </p:txBody>
        </p:sp>
        <p:grpSp>
          <p:nvGrpSpPr>
            <p:cNvPr id="880" name="Google Shape;880;p37"/>
            <p:cNvGrpSpPr/>
            <p:nvPr/>
          </p:nvGrpSpPr>
          <p:grpSpPr>
            <a:xfrm>
              <a:off x="1066800" y="2752725"/>
              <a:ext cx="152400" cy="152400"/>
              <a:chOff x="19050" y="19050"/>
              <a:chExt cx="152400" cy="152400"/>
            </a:xfrm>
          </p:grpSpPr>
          <p:sp>
            <p:nvSpPr>
              <p:cNvPr id="881" name="Google Shape;881;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2" name="Google Shape;882;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83" name="Google Shape;883;p37"/>
            <p:cNvSpPr txBox="1"/>
            <p:nvPr/>
          </p:nvSpPr>
          <p:spPr>
            <a:xfrm>
              <a:off x="1285875" y="2686050"/>
              <a:ext cx="1762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SMTP &amp; Server</a:t>
              </a:r>
              <a:endParaRPr b="0" sz="1100">
                <a:solidFill>
                  <a:srgbClr val="374151"/>
                </a:solidFill>
                <a:latin typeface="Inter Medium"/>
                <a:ea typeface="Inter Medium"/>
                <a:cs typeface="Inter Medium"/>
                <a:sym typeface="Inter Medium"/>
              </a:endParaRPr>
            </a:p>
          </p:txBody>
        </p:sp>
        <p:grpSp>
          <p:nvGrpSpPr>
            <p:cNvPr id="884" name="Google Shape;884;p37"/>
            <p:cNvGrpSpPr/>
            <p:nvPr/>
          </p:nvGrpSpPr>
          <p:grpSpPr>
            <a:xfrm>
              <a:off x="1066800" y="3133725"/>
              <a:ext cx="152400" cy="152400"/>
              <a:chOff x="19050" y="19050"/>
              <a:chExt cx="152400" cy="152400"/>
            </a:xfrm>
          </p:grpSpPr>
          <p:sp>
            <p:nvSpPr>
              <p:cNvPr id="885" name="Google Shape;885;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6" name="Google Shape;886;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87" name="Google Shape;887;p37"/>
            <p:cNvSpPr txBox="1"/>
            <p:nvPr/>
          </p:nvSpPr>
          <p:spPr>
            <a:xfrm>
              <a:off x="1285875" y="3067050"/>
              <a:ext cx="1762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Ports &amp; SSL/TLS</a:t>
              </a:r>
              <a:endParaRPr b="0" sz="1100">
                <a:solidFill>
                  <a:srgbClr val="374151"/>
                </a:solidFill>
                <a:latin typeface="Inter Medium"/>
                <a:ea typeface="Inter Medium"/>
                <a:cs typeface="Inter Medium"/>
                <a:sym typeface="Inter Medium"/>
              </a:endParaRPr>
            </a:p>
          </p:txBody>
        </p:sp>
        <p:grpSp>
          <p:nvGrpSpPr>
            <p:cNvPr id="888" name="Google Shape;888;p37"/>
            <p:cNvGrpSpPr/>
            <p:nvPr/>
          </p:nvGrpSpPr>
          <p:grpSpPr>
            <a:xfrm>
              <a:off x="1066800" y="3514725"/>
              <a:ext cx="152400" cy="152400"/>
              <a:chOff x="19050" y="19050"/>
              <a:chExt cx="152400" cy="152400"/>
            </a:xfrm>
          </p:grpSpPr>
          <p:sp>
            <p:nvSpPr>
              <p:cNvPr id="889" name="Google Shape;889;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0" name="Google Shape;890;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91" name="Google Shape;891;p37"/>
            <p:cNvSpPr txBox="1"/>
            <p:nvPr/>
          </p:nvSpPr>
          <p:spPr>
            <a:xfrm>
              <a:off x="1285875" y="3448050"/>
              <a:ext cx="1762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smtplib library</a:t>
              </a:r>
              <a:endParaRPr b="0" sz="1100">
                <a:solidFill>
                  <a:srgbClr val="374151"/>
                </a:solidFill>
                <a:latin typeface="Inter Medium"/>
                <a:ea typeface="Inter Medium"/>
                <a:cs typeface="Inter Medium"/>
                <a:sym typeface="Inter Medium"/>
              </a:endParaRPr>
            </a:p>
          </p:txBody>
        </p:sp>
        <p:grpSp>
          <p:nvGrpSpPr>
            <p:cNvPr id="892" name="Google Shape;892;p37"/>
            <p:cNvGrpSpPr/>
            <p:nvPr/>
          </p:nvGrpSpPr>
          <p:grpSpPr>
            <a:xfrm>
              <a:off x="1066800" y="3895725"/>
              <a:ext cx="152400" cy="152400"/>
              <a:chOff x="19050" y="19050"/>
              <a:chExt cx="152400" cy="152400"/>
            </a:xfrm>
          </p:grpSpPr>
          <p:sp>
            <p:nvSpPr>
              <p:cNvPr id="893" name="Google Shape;893;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4" name="Google Shape;894;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95" name="Google Shape;895;p37"/>
            <p:cNvSpPr txBox="1"/>
            <p:nvPr/>
          </p:nvSpPr>
          <p:spPr>
            <a:xfrm>
              <a:off x="1285875" y="3829050"/>
              <a:ext cx="1762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Authentication</a:t>
              </a:r>
              <a:endParaRPr b="0" sz="1100">
                <a:solidFill>
                  <a:srgbClr val="374151"/>
                </a:solidFill>
                <a:latin typeface="Inter Medium"/>
                <a:ea typeface="Inter Medium"/>
                <a:cs typeface="Inter Medium"/>
                <a:sym typeface="Inter Medium"/>
              </a:endParaRPr>
            </a:p>
          </p:txBody>
        </p:sp>
        <p:grpSp>
          <p:nvGrpSpPr>
            <p:cNvPr id="896" name="Google Shape;896;p37"/>
            <p:cNvGrpSpPr/>
            <p:nvPr/>
          </p:nvGrpSpPr>
          <p:grpSpPr>
            <a:xfrm>
              <a:off x="3257550" y="2752725"/>
              <a:ext cx="152400" cy="152400"/>
              <a:chOff x="19050" y="19050"/>
              <a:chExt cx="152400" cy="152400"/>
            </a:xfrm>
          </p:grpSpPr>
          <p:sp>
            <p:nvSpPr>
              <p:cNvPr id="897" name="Google Shape;897;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8" name="Google Shape;898;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99" name="Google Shape;899;p37"/>
            <p:cNvSpPr txBox="1"/>
            <p:nvPr/>
          </p:nvSpPr>
          <p:spPr>
            <a:xfrm>
              <a:off x="3476625" y="26860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EmailMessage</a:t>
              </a:r>
              <a:endParaRPr b="0" sz="1100">
                <a:solidFill>
                  <a:srgbClr val="374151"/>
                </a:solidFill>
                <a:latin typeface="Inter Medium"/>
                <a:ea typeface="Inter Medium"/>
                <a:cs typeface="Inter Medium"/>
                <a:sym typeface="Inter Medium"/>
              </a:endParaRPr>
            </a:p>
          </p:txBody>
        </p:sp>
        <p:grpSp>
          <p:nvGrpSpPr>
            <p:cNvPr id="900" name="Google Shape;900;p37"/>
            <p:cNvGrpSpPr/>
            <p:nvPr/>
          </p:nvGrpSpPr>
          <p:grpSpPr>
            <a:xfrm>
              <a:off x="3257550" y="3133725"/>
              <a:ext cx="152400" cy="152400"/>
              <a:chOff x="19050" y="19050"/>
              <a:chExt cx="152400" cy="152400"/>
            </a:xfrm>
          </p:grpSpPr>
          <p:sp>
            <p:nvSpPr>
              <p:cNvPr id="901" name="Google Shape;901;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2" name="Google Shape;902;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03" name="Google Shape;903;p37"/>
            <p:cNvSpPr txBox="1"/>
            <p:nvPr/>
          </p:nvSpPr>
          <p:spPr>
            <a:xfrm>
              <a:off x="3476625" y="30670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Headers &amp; Body</a:t>
              </a:r>
              <a:endParaRPr b="0" sz="1100">
                <a:solidFill>
                  <a:srgbClr val="374151"/>
                </a:solidFill>
                <a:latin typeface="Inter Medium"/>
                <a:ea typeface="Inter Medium"/>
                <a:cs typeface="Inter Medium"/>
                <a:sym typeface="Inter Medium"/>
              </a:endParaRPr>
            </a:p>
          </p:txBody>
        </p:sp>
        <p:grpSp>
          <p:nvGrpSpPr>
            <p:cNvPr id="904" name="Google Shape;904;p37"/>
            <p:cNvGrpSpPr/>
            <p:nvPr/>
          </p:nvGrpSpPr>
          <p:grpSpPr>
            <a:xfrm>
              <a:off x="3257550" y="3514725"/>
              <a:ext cx="152400" cy="152400"/>
              <a:chOff x="19050" y="19050"/>
              <a:chExt cx="152400" cy="152400"/>
            </a:xfrm>
          </p:grpSpPr>
          <p:sp>
            <p:nvSpPr>
              <p:cNvPr id="905" name="Google Shape;905;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6" name="Google Shape;906;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07" name="Google Shape;907;p37"/>
            <p:cNvSpPr txBox="1"/>
            <p:nvPr/>
          </p:nvSpPr>
          <p:spPr>
            <a:xfrm>
              <a:off x="3476625" y="34480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send_message()</a:t>
              </a:r>
              <a:endParaRPr b="0" sz="1100">
                <a:solidFill>
                  <a:srgbClr val="374151"/>
                </a:solidFill>
                <a:latin typeface="Inter Medium"/>
                <a:ea typeface="Inter Medium"/>
                <a:cs typeface="Inter Medium"/>
                <a:sym typeface="Inter Medium"/>
              </a:endParaRPr>
            </a:p>
          </p:txBody>
        </p:sp>
        <p:grpSp>
          <p:nvGrpSpPr>
            <p:cNvPr id="908" name="Google Shape;908;p37"/>
            <p:cNvGrpSpPr/>
            <p:nvPr/>
          </p:nvGrpSpPr>
          <p:grpSpPr>
            <a:xfrm>
              <a:off x="3257550" y="3895725"/>
              <a:ext cx="152400" cy="152400"/>
              <a:chOff x="19050" y="19050"/>
              <a:chExt cx="152400" cy="152400"/>
            </a:xfrm>
          </p:grpSpPr>
          <p:sp>
            <p:nvSpPr>
              <p:cNvPr id="909" name="Google Shape;909;p37"/>
              <p:cNvSpPr/>
              <p:nvPr/>
            </p:nvSpPr>
            <p:spPr>
              <a:xfrm>
                <a:off x="19050" y="19050"/>
                <a:ext cx="152400" cy="1524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0" name="Google Shape;910;p37"/>
              <p:cNvSpPr/>
              <p:nvPr/>
            </p:nvSpPr>
            <p:spPr>
              <a:xfrm>
                <a:off x="66675" y="71438"/>
                <a:ext cx="61800" cy="47700"/>
              </a:xfrm>
              <a:custGeom>
                <a:rect b="b" l="l" r="r" t="t"/>
                <a:pathLst>
                  <a:path extrusionOk="0" h="120000" w="120000">
                    <a:moveTo>
                      <a:pt x="0" y="60000"/>
                    </a:moveTo>
                    <a:lnTo>
                      <a:pt x="46154"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11" name="Google Shape;911;p37"/>
            <p:cNvSpPr txBox="1"/>
            <p:nvPr/>
          </p:nvSpPr>
          <p:spPr>
            <a:xfrm>
              <a:off x="3476625" y="3829050"/>
              <a:ext cx="1952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Medium"/>
                  <a:ea typeface="Inter Medium"/>
                  <a:cs typeface="Inter Medium"/>
                  <a:sym typeface="Inter Medium"/>
                </a:rPr>
                <a:t>Exception Handling</a:t>
              </a:r>
              <a:endParaRPr b="0" sz="1100">
                <a:solidFill>
                  <a:srgbClr val="374151"/>
                </a:solidFill>
                <a:latin typeface="Inter Medium"/>
                <a:ea typeface="Inter Medium"/>
                <a:cs typeface="Inter Medium"/>
                <a:sym typeface="Inter Medium"/>
              </a:endParaRPr>
            </a:p>
          </p:txBody>
        </p:sp>
        <p:grpSp>
          <p:nvGrpSpPr>
            <p:cNvPr id="912" name="Google Shape;912;p37"/>
            <p:cNvGrpSpPr/>
            <p:nvPr/>
          </p:nvGrpSpPr>
          <p:grpSpPr>
            <a:xfrm>
              <a:off x="1047750" y="4524375"/>
              <a:ext cx="2190900" cy="266700"/>
              <a:chOff x="0" y="0"/>
              <a:chExt cx="2190900" cy="266700"/>
            </a:xfrm>
          </p:grpSpPr>
          <p:sp>
            <p:nvSpPr>
              <p:cNvPr id="913" name="Google Shape;913;p37"/>
              <p:cNvSpPr/>
              <p:nvPr/>
            </p:nvSpPr>
            <p:spPr>
              <a:xfrm>
                <a:off x="0" y="0"/>
                <a:ext cx="2190900" cy="266700"/>
              </a:xfrm>
              <a:prstGeom prst="roundRect">
                <a:avLst>
                  <a:gd fmla="val 50000" name="adj"/>
                </a:avLst>
              </a:prstGeom>
              <a:solidFill>
                <a:srgbClr val="D4A017">
                  <a:alpha val="10000"/>
                </a:srgbClr>
              </a:solidFill>
              <a:ln cap="flat" cmpd="sng" w="9525">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4" name="Google Shape;914;p37"/>
              <p:cNvSpPr txBox="1"/>
              <p:nvPr/>
            </p:nvSpPr>
            <p:spPr>
              <a:xfrm>
                <a:off x="142875" y="0"/>
                <a:ext cx="1905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45A36"/>
                    </a:solidFill>
                    <a:latin typeface="Inter"/>
                    <a:ea typeface="Inter"/>
                    <a:cs typeface="Inter"/>
                    <a:sym typeface="Inter"/>
                  </a:rPr>
                  <a:t>8 SMTP CONCEPTS MASTERED</a:t>
                </a:r>
                <a:endParaRPr b="1" sz="850">
                  <a:solidFill>
                    <a:srgbClr val="045A36"/>
                  </a:solidFill>
                  <a:latin typeface="Inter"/>
                  <a:ea typeface="Inter"/>
                  <a:cs typeface="Inter"/>
                  <a:sym typeface="Inter"/>
                </a:endParaRPr>
              </a:p>
            </p:txBody>
          </p:sp>
        </p:grpSp>
      </p:grpSp>
      <p:grpSp>
        <p:nvGrpSpPr>
          <p:cNvPr id="915" name="Google Shape;915;p37"/>
          <p:cNvGrpSpPr/>
          <p:nvPr/>
        </p:nvGrpSpPr>
        <p:grpSpPr>
          <a:xfrm>
            <a:off x="6477000" y="1524000"/>
            <a:ext cx="4953000" cy="4000500"/>
            <a:chOff x="6477000" y="1524000"/>
            <a:chExt cx="4953000" cy="4000500"/>
          </a:xfrm>
        </p:grpSpPr>
        <p:sp>
          <p:nvSpPr>
            <p:cNvPr id="916" name="Google Shape;916;p37"/>
            <p:cNvSpPr/>
            <p:nvPr/>
          </p:nvSpPr>
          <p:spPr>
            <a:xfrm>
              <a:off x="6477000" y="1524000"/>
              <a:ext cx="4953000" cy="4000500"/>
            </a:xfrm>
            <a:prstGeom prst="roundRect">
              <a:avLst>
                <a:gd fmla="val 285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17" name="Google Shape;917;p37"/>
            <p:cNvPicPr preferRelativeResize="0"/>
            <p:nvPr/>
          </p:nvPicPr>
          <p:blipFill rotWithShape="1">
            <a:blip r:embed="rId6">
              <a:alphaModFix/>
            </a:blip>
            <a:srcRect b="0" l="0" r="0" t="0"/>
            <a:stretch/>
          </p:blipFill>
          <p:spPr>
            <a:xfrm>
              <a:off x="6481763" y="1524000"/>
              <a:ext cx="4943400" cy="76200"/>
            </a:xfrm>
            <a:prstGeom prst="rect">
              <a:avLst/>
            </a:prstGeom>
            <a:noFill/>
            <a:ln>
              <a:noFill/>
            </a:ln>
          </p:spPr>
        </p:pic>
        <p:sp>
          <p:nvSpPr>
            <p:cNvPr id="918" name="Google Shape;918;p37"/>
            <p:cNvSpPr txBox="1"/>
            <p:nvPr/>
          </p:nvSpPr>
          <p:spPr>
            <a:xfrm>
              <a:off x="6762750" y="1857375"/>
              <a:ext cx="43815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45A36"/>
                  </a:solidFill>
                  <a:latin typeface="Montserrat"/>
                  <a:ea typeface="Montserrat"/>
                  <a:cs typeface="Montserrat"/>
                  <a:sym typeface="Montserrat"/>
                </a:rPr>
                <a:t>What's Next? Future Pathways</a:t>
              </a:r>
              <a:endParaRPr b="1" sz="1500">
                <a:solidFill>
                  <a:srgbClr val="045A36"/>
                </a:solidFill>
                <a:latin typeface="Montserrat"/>
                <a:ea typeface="Montserrat"/>
                <a:cs typeface="Montserrat"/>
                <a:sym typeface="Montserrat"/>
              </a:endParaRPr>
            </a:p>
            <a:p>
              <a:pPr indent="0" lvl="0" marL="0" rtl="0" algn="l">
                <a:spcBef>
                  <a:spcPts val="600"/>
                </a:spcBef>
                <a:spcAft>
                  <a:spcPts val="0"/>
                </a:spcAft>
                <a:buNone/>
              </a:pPr>
              <a:r>
                <a:rPr lang="en" sz="1100">
                  <a:solidFill>
                    <a:srgbClr val="4B5563"/>
                  </a:solidFill>
                  <a:latin typeface="Inter"/>
                  <a:ea typeface="Inter"/>
                  <a:cs typeface="Inter"/>
                  <a:sym typeface="Inter"/>
                </a:rPr>
                <a:t>Expand your automation toolkit to build enterprise-ready solutions:</a:t>
              </a:r>
              <a:endParaRPr sz="1100">
                <a:solidFill>
                  <a:srgbClr val="4B5563"/>
                </a:solidFill>
                <a:latin typeface="Inter"/>
                <a:ea typeface="Inter"/>
                <a:cs typeface="Inter"/>
                <a:sym typeface="Inter"/>
              </a:endParaRPr>
            </a:p>
          </p:txBody>
        </p:sp>
        <p:sp>
          <p:nvSpPr>
            <p:cNvPr id="919" name="Google Shape;919;p37"/>
            <p:cNvSpPr/>
            <p:nvPr/>
          </p:nvSpPr>
          <p:spPr>
            <a:xfrm>
              <a:off x="6791325" y="2695575"/>
              <a:ext cx="228600" cy="2286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0" name="Google Shape;920;p37"/>
            <p:cNvSpPr txBox="1"/>
            <p:nvPr/>
          </p:nvSpPr>
          <p:spPr>
            <a:xfrm>
              <a:off x="6791325" y="269557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1</a:t>
              </a:r>
              <a:endParaRPr b="1" sz="850">
                <a:solidFill>
                  <a:srgbClr val="FFFFFF"/>
                </a:solidFill>
                <a:latin typeface="Inter"/>
                <a:ea typeface="Inter"/>
                <a:cs typeface="Inter"/>
                <a:sym typeface="Inter"/>
              </a:endParaRPr>
            </a:p>
          </p:txBody>
        </p:sp>
        <p:sp>
          <p:nvSpPr>
            <p:cNvPr id="921" name="Google Shape;921;p37"/>
            <p:cNvSpPr txBox="1"/>
            <p:nvPr/>
          </p:nvSpPr>
          <p:spPr>
            <a:xfrm>
              <a:off x="7143750" y="2667000"/>
              <a:ext cx="4000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Rich Emails:</a:t>
              </a:r>
              <a:r>
                <a:rPr lang="en" sz="1100">
                  <a:solidFill>
                    <a:srgbClr val="374151"/>
                  </a:solidFill>
                  <a:latin typeface="Inter"/>
                  <a:ea typeface="Inter"/>
                  <a:cs typeface="Inter"/>
                  <a:sym typeface="Inter"/>
                </a:rPr>
                <a:t> Send styled HTML layouts and programmatically include file Attachments.</a:t>
              </a:r>
              <a:endParaRPr sz="1100">
                <a:solidFill>
                  <a:srgbClr val="374151"/>
                </a:solidFill>
                <a:latin typeface="Inter"/>
                <a:ea typeface="Inter"/>
                <a:cs typeface="Inter"/>
                <a:sym typeface="Inter"/>
              </a:endParaRPr>
            </a:p>
          </p:txBody>
        </p:sp>
        <p:sp>
          <p:nvSpPr>
            <p:cNvPr id="922" name="Google Shape;922;p37"/>
            <p:cNvSpPr/>
            <p:nvPr/>
          </p:nvSpPr>
          <p:spPr>
            <a:xfrm>
              <a:off x="6791325" y="3314700"/>
              <a:ext cx="228600" cy="2286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3" name="Google Shape;923;p37"/>
            <p:cNvSpPr txBox="1"/>
            <p:nvPr/>
          </p:nvSpPr>
          <p:spPr>
            <a:xfrm>
              <a:off x="6791325" y="331470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2</a:t>
              </a:r>
              <a:endParaRPr b="1" sz="850">
                <a:solidFill>
                  <a:srgbClr val="FFFFFF"/>
                </a:solidFill>
                <a:latin typeface="Inter"/>
                <a:ea typeface="Inter"/>
                <a:cs typeface="Inter"/>
                <a:sym typeface="Inter"/>
              </a:endParaRPr>
            </a:p>
          </p:txBody>
        </p:sp>
        <p:sp>
          <p:nvSpPr>
            <p:cNvPr id="924" name="Google Shape;924;p37"/>
            <p:cNvSpPr txBox="1"/>
            <p:nvPr/>
          </p:nvSpPr>
          <p:spPr>
            <a:xfrm>
              <a:off x="7143750" y="3286125"/>
              <a:ext cx="4000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Smart Distribution:</a:t>
              </a:r>
              <a:r>
                <a:rPr lang="en" sz="1100">
                  <a:solidFill>
                    <a:srgbClr val="374151"/>
                  </a:solidFill>
                  <a:latin typeface="Inter"/>
                  <a:ea typeface="Inter"/>
                  <a:cs typeface="Inter"/>
                  <a:sym typeface="Inter"/>
                </a:rPr>
                <a:t> Utilize CC / BCC routing and distribute to Multiple Recipients simultaneously.</a:t>
              </a:r>
              <a:endParaRPr sz="1100">
                <a:solidFill>
                  <a:srgbClr val="374151"/>
                </a:solidFill>
                <a:latin typeface="Inter"/>
                <a:ea typeface="Inter"/>
                <a:cs typeface="Inter"/>
                <a:sym typeface="Inter"/>
              </a:endParaRPr>
            </a:p>
          </p:txBody>
        </p:sp>
        <p:sp>
          <p:nvSpPr>
            <p:cNvPr id="925" name="Google Shape;925;p37"/>
            <p:cNvSpPr/>
            <p:nvPr/>
          </p:nvSpPr>
          <p:spPr>
            <a:xfrm>
              <a:off x="6791325" y="3933825"/>
              <a:ext cx="228600" cy="2286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6" name="Google Shape;926;p37"/>
            <p:cNvSpPr txBox="1"/>
            <p:nvPr/>
          </p:nvSpPr>
          <p:spPr>
            <a:xfrm>
              <a:off x="6791325" y="393382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3</a:t>
              </a:r>
              <a:endParaRPr b="1" sz="850">
                <a:solidFill>
                  <a:srgbClr val="FFFFFF"/>
                </a:solidFill>
                <a:latin typeface="Inter"/>
                <a:ea typeface="Inter"/>
                <a:cs typeface="Inter"/>
                <a:sym typeface="Inter"/>
              </a:endParaRPr>
            </a:p>
          </p:txBody>
        </p:sp>
        <p:sp>
          <p:nvSpPr>
            <p:cNvPr id="927" name="Google Shape;927;p37"/>
            <p:cNvSpPr txBox="1"/>
            <p:nvPr/>
          </p:nvSpPr>
          <p:spPr>
            <a:xfrm>
              <a:off x="7143750" y="3905250"/>
              <a:ext cx="40005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Systems Integration:</a:t>
              </a:r>
              <a:r>
                <a:rPr lang="en" sz="1100">
                  <a:solidFill>
                    <a:srgbClr val="374151"/>
                  </a:solidFill>
                  <a:latin typeface="Inter"/>
                  <a:ea typeface="Inter"/>
                  <a:cs typeface="Inter"/>
                  <a:sym typeface="Inter"/>
                </a:rPr>
                <a:t> Generate Automated Reports or integrate with Django frameworks.</a:t>
              </a:r>
              <a:endParaRPr sz="1100">
                <a:solidFill>
                  <a:srgbClr val="374151"/>
                </a:solidFill>
                <a:latin typeface="Inter"/>
                <a:ea typeface="Inter"/>
                <a:cs typeface="Inter"/>
                <a:sym typeface="Inter"/>
              </a:endParaRPr>
            </a:p>
          </p:txBody>
        </p:sp>
        <p:grpSp>
          <p:nvGrpSpPr>
            <p:cNvPr id="928" name="Google Shape;928;p37"/>
            <p:cNvGrpSpPr/>
            <p:nvPr/>
          </p:nvGrpSpPr>
          <p:grpSpPr>
            <a:xfrm>
              <a:off x="6762750" y="4619625"/>
              <a:ext cx="4381500" cy="428700"/>
              <a:chOff x="0" y="0"/>
              <a:chExt cx="4381500" cy="428700"/>
            </a:xfrm>
          </p:grpSpPr>
          <p:sp>
            <p:nvSpPr>
              <p:cNvPr id="929" name="Google Shape;929;p37"/>
              <p:cNvSpPr/>
              <p:nvPr/>
            </p:nvSpPr>
            <p:spPr>
              <a:xfrm>
                <a:off x="0" y="0"/>
                <a:ext cx="4381500" cy="428700"/>
              </a:xfrm>
              <a:prstGeom prst="roundRect">
                <a:avLst>
                  <a:gd fmla="val 17777"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37"/>
              <p:cNvSpPr/>
              <p:nvPr/>
            </p:nvSpPr>
            <p:spPr>
              <a:xfrm>
                <a:off x="152400" y="128588"/>
                <a:ext cx="171600" cy="1716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1" name="Google Shape;931;p37"/>
              <p:cNvSpPr/>
              <p:nvPr/>
            </p:nvSpPr>
            <p:spPr>
              <a:xfrm>
                <a:off x="238125" y="147638"/>
                <a:ext cx="0" cy="76200"/>
              </a:xfrm>
              <a:custGeom>
                <a:rect b="b" l="l" r="r" t="t"/>
                <a:pathLst>
                  <a:path extrusionOk="0" fill="none" h="120000" w="120000">
                    <a:moveTo>
                      <a:pt x="0" y="45000"/>
                    </a:moveTo>
                    <a:lnTo>
                      <a:pt x="0" y="120000"/>
                    </a:lnTo>
                    <a:moveTo>
                      <a:pt x="0" y="0"/>
                    </a:moveTo>
                    <a:lnTo>
                      <a:pt x="120000" y="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2" name="Google Shape;932;p37"/>
              <p:cNvSpPr txBox="1"/>
              <p:nvPr/>
            </p:nvSpPr>
            <p:spPr>
              <a:xfrm>
                <a:off x="428625" y="0"/>
                <a:ext cx="3810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950">
                    <a:solidFill>
                      <a:srgbClr val="4B5563"/>
                    </a:solidFill>
                    <a:latin typeface="Inter"/>
                    <a:ea typeface="Inter"/>
                    <a:cs typeface="Inter"/>
                    <a:sym typeface="Inter"/>
                  </a:rPr>
                  <a:t>For further pathways, reference the </a:t>
                </a:r>
                <a:r>
                  <a:rPr b="1" i="0" lang="en" sz="950">
                    <a:solidFill>
                      <a:srgbClr val="D4A017"/>
                    </a:solidFill>
                    <a:latin typeface="Inter"/>
                    <a:ea typeface="Inter"/>
                    <a:cs typeface="Inter"/>
                    <a:sym typeface="Inter"/>
                  </a:rPr>
                  <a:t>Real Python</a:t>
                </a:r>
                <a:r>
                  <a:rPr i="1" lang="en" sz="950">
                    <a:solidFill>
                      <a:srgbClr val="4B5563"/>
                    </a:solidFill>
                    <a:latin typeface="Inter"/>
                    <a:ea typeface="Inter"/>
                    <a:cs typeface="Inter"/>
                    <a:sym typeface="Inter"/>
                  </a:rPr>
                  <a:t> tutorial series.</a:t>
                </a:r>
                <a:endParaRPr i="1" sz="950">
                  <a:solidFill>
                    <a:srgbClr val="4B5563"/>
                  </a:solidFill>
                  <a:latin typeface="Inter"/>
                  <a:ea typeface="Inter"/>
                  <a:cs typeface="Inter"/>
                  <a:sym typeface="Inter"/>
                </a:endParaRPr>
              </a:p>
            </p:txBody>
          </p:sp>
        </p:grpSp>
      </p:grpSp>
      <p:pic>
        <p:nvPicPr>
          <p:cNvPr id="933" name="Google Shape;933;p37"/>
          <p:cNvPicPr preferRelativeResize="0"/>
          <p:nvPr/>
        </p:nvPicPr>
        <p:blipFill rotWithShape="1">
          <a:blip r:embed="rId7">
            <a:alphaModFix/>
          </a:blip>
          <a:srcRect b="0" l="0" r="0" t="0"/>
          <a:stretch/>
        </p:blipFill>
        <p:spPr>
          <a:xfrm>
            <a:off x="762000" y="5981700"/>
            <a:ext cx="10668000" cy="304800"/>
          </a:xfrm>
          <a:prstGeom prst="rect">
            <a:avLst/>
          </a:prstGeom>
          <a:noFill/>
          <a:ln>
            <a:noFill/>
          </a:ln>
        </p:spPr>
      </p:pic>
      <p:pic>
        <p:nvPicPr>
          <p:cNvPr id="934" name="Google Shape;934;p37"/>
          <p:cNvPicPr preferRelativeResize="0"/>
          <p:nvPr/>
        </p:nvPicPr>
        <p:blipFill rotWithShape="1">
          <a:blip r:embed="rId8">
            <a:alphaModFix/>
          </a:blip>
          <a:srcRect b="0" l="0" r="0" t="0"/>
          <a:stretch/>
        </p:blipFill>
        <p:spPr>
          <a:xfrm>
            <a:off x="10287000" y="5457825"/>
            <a:ext cx="1524000" cy="1019100"/>
          </a:xfrm>
          <a:prstGeom prst="rect">
            <a:avLst/>
          </a:prstGeom>
          <a:noFill/>
          <a:ln>
            <a:noFill/>
          </a:ln>
        </p:spPr>
      </p:pic>
      <p:sp>
        <p:nvSpPr>
          <p:cNvPr id="935" name="Google Shape;935;p37"/>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to Email Automation &amp; SMTP | Python Advanced</a:t>
            </a:r>
            <a:endParaRPr b="0" sz="975">
              <a:solidFill>
                <a:srgbClr val="6B7280"/>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