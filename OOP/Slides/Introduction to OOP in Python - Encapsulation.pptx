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Montserrat SemiBold"/>
      <p:regular r:id="rId31"/>
      <p:bold r:id="rId32"/>
      <p:italic r:id="rId33"/>
      <p:boldItalic r:id="rId34"/>
    </p:embeddedFont>
    <p:embeddedFont>
      <p:font typeface="Inter SemiBold"/>
      <p:regular r:id="rId35"/>
      <p:bold r:id="rId36"/>
      <p:italic r:id="rId37"/>
      <p:boldItalic r:id="rId38"/>
    </p:embeddedFont>
    <p:embeddedFont>
      <p:font typeface="Inter"/>
      <p:bold r:id="rId39"/>
      <p:boldItalic r:id="rId40"/>
    </p:embeddedFont>
    <p:embeddedFont>
      <p:font typeface="Montserrat"/>
      <p:bold r:id="rId41"/>
      <p:boldItalic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InterMedium-bold.fntdata"/><Relationship Id="rId21" Type="http://schemas.openxmlformats.org/officeDocument/2006/relationships/slide" Target="slides/slide16.xml"/><Relationship Id="rId43" Type="http://schemas.openxmlformats.org/officeDocument/2006/relationships/font" Target="fonts/InterMedium-regular.fntdata"/><Relationship Id="rId24" Type="http://schemas.openxmlformats.org/officeDocument/2006/relationships/slide" Target="slides/slide19.xml"/><Relationship Id="rId46" Type="http://schemas.openxmlformats.org/officeDocument/2006/relationships/font" Target="fonts/InterMedium-bold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SemiBold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SemiBold-bold.fntdata"/><Relationship Id="rId13" Type="http://schemas.openxmlformats.org/officeDocument/2006/relationships/slide" Target="slides/slide8.xml"/><Relationship Id="rId35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SemiBold-italic.fntdata"/><Relationship Id="rId14" Type="http://schemas.openxmlformats.org/officeDocument/2006/relationships/slide" Target="slides/slide9.xml"/><Relationship Id="rId36" Type="http://schemas.openxmlformats.org/officeDocument/2006/relationships/font" Target="fonts/InterSemiBold-bold.fntdata"/><Relationship Id="rId17" Type="http://schemas.openxmlformats.org/officeDocument/2006/relationships/slide" Target="slides/slide12.xml"/><Relationship Id="rId39" Type="http://schemas.openxmlformats.org/officeDocument/2006/relationships/font" Target="fonts/Inter-bold.fntdata"/><Relationship Id="rId16" Type="http://schemas.openxmlformats.org/officeDocument/2006/relationships/slide" Target="slides/slide11.xml"/><Relationship Id="rId38" Type="http://schemas.openxmlformats.org/officeDocument/2006/relationships/font" Target="fonts/Inter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fd2d83ba3_3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fd2d83ba3_3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fd2d83ba3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fd2d83ba3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fd2d83ba3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fd2d83ba3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fd2d83ba3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fd2d83ba3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fd2d83ba3_2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fd2d83ba3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fd2d83ba3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fd2d83ba3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efd2d83ba3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efd2d83ba3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fd2d83ba3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fd2d83ba3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fd2d83ba3_2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fd2d83ba3_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fd2d83ba3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efd2d83ba3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efd2d83ba3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efd2d83ba3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fd2d83ba3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efd2d83ba3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efd2d83ba3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efd2d83ba3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fd2d83ba3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efd2d83ba3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efd2d83ba3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efd2d83ba3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fd2d83ba3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fd2d83ba3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fd2d83ba3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efd2d83ba3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efd2d83ba3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efd2d83ba3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efd2d83ba3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efd2d83ba3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efd2d83ba3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efd2d83ba3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efd2d83ba3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efd2d83ba3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efd2d83ba3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efd2d83ba3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efd2d83ba3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efd2d83ba3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efd2d83ba3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efd2d83ba3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efd2d83ba3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efd2d83ba3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fd2d83ba3_7_0)">
  <p:cSld name="Generated (g3efd2d83ba3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0"/>
            <a:ext cx="12192000" cy="6353100"/>
            <a:chOff x="0" y="0"/>
            <a:chExt cx="12192000" cy="6353100"/>
          </a:xfrm>
        </p:grpSpPr>
        <p:sp>
          <p:nvSpPr>
            <p:cNvPr id="56" name="Google Shape;56;p14"/>
            <p:cNvSpPr/>
            <p:nvPr/>
          </p:nvSpPr>
          <p:spPr>
            <a:xfrm>
              <a:off x="0" y="0"/>
              <a:ext cx="12192000" cy="573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7" name="Google Shape;57;p14"/>
            <p:cNvPicPr preferRelativeResize="0"/>
            <p:nvPr/>
          </p:nvPicPr>
          <p:blipFill rotWithShape="1">
            <a:blip r:embed="rId4">
              <a:alphaModFix/>
            </a:blip>
            <a:srcRect b="20" l="0" r="0" t="20"/>
            <a:stretch/>
          </p:blipFill>
          <p:spPr>
            <a:xfrm>
              <a:off x="762000" y="571500"/>
              <a:ext cx="2533800" cy="857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4"/>
            <p:cNvPicPr preferRelativeResize="0"/>
            <p:nvPr/>
          </p:nvPicPr>
          <p:blipFill rotWithShape="1">
            <a:blip r:embed="rId5">
              <a:alphaModFix/>
            </a:blip>
            <a:srcRect b="5317" l="0" r="0" t="5317"/>
            <a:stretch/>
          </p:blipFill>
          <p:spPr>
            <a:xfrm>
              <a:off x="10144125" y="428625"/>
              <a:ext cx="1143000" cy="114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14"/>
            <p:cNvSpPr txBox="1"/>
            <p:nvPr/>
          </p:nvSpPr>
          <p:spPr>
            <a:xfrm>
              <a:off x="2514600" y="2190750"/>
              <a:ext cx="716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PYTHON PROGRAMMING COURSE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" name="Google Shape;60;p14"/>
            <p:cNvSpPr txBox="1"/>
            <p:nvPr/>
          </p:nvSpPr>
          <p:spPr>
            <a:xfrm>
              <a:off x="2333625" y="2619375"/>
              <a:ext cx="752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 to Object-Oriented</a:t>
              </a:r>
              <a:endParaRPr b="1" sz="3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34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Programming (OOP) in Python</a:t>
              </a:r>
              <a:endParaRPr b="1" sz="34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381625" y="3905250"/>
              <a:ext cx="1428900" cy="381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 txBox="1"/>
            <p:nvPr/>
          </p:nvSpPr>
          <p:spPr>
            <a:xfrm>
              <a:off x="2514600" y="4191000"/>
              <a:ext cx="7162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Understanding Encapsulation</a:t>
              </a:r>
              <a:endParaRPr b="0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63" name="Google Shape;63;p14"/>
            <p:cNvGrpSpPr/>
            <p:nvPr/>
          </p:nvGrpSpPr>
          <p:grpSpPr>
            <a:xfrm>
              <a:off x="762000" y="5829300"/>
              <a:ext cx="3105300" cy="523800"/>
              <a:chOff x="0" y="0"/>
              <a:chExt cx="3105300" cy="523800"/>
            </a:xfrm>
          </p:grpSpPr>
          <p:sp>
            <p:nvSpPr>
              <p:cNvPr id="64" name="Google Shape;64;p14"/>
              <p:cNvSpPr txBox="1"/>
              <p:nvPr/>
            </p:nvSpPr>
            <p:spPr>
              <a:xfrm>
                <a:off x="0" y="0"/>
                <a:ext cx="31053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PRESENTED BY</a:t>
                </a:r>
                <a:endParaRPr b="0" sz="10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" name="Google Shape;65;p14"/>
              <p:cNvSpPr txBox="1"/>
              <p:nvPr/>
            </p:nvSpPr>
            <p:spPr>
              <a:xfrm>
                <a:off x="0" y="190500"/>
                <a:ext cx="31053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Muhammad Yousif Memon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66" name="Google Shape;66;p14"/>
            <p:cNvGrpSpPr/>
            <p:nvPr/>
          </p:nvGrpSpPr>
          <p:grpSpPr>
            <a:xfrm>
              <a:off x="8382000" y="5829300"/>
              <a:ext cx="3048000" cy="523800"/>
              <a:chOff x="0" y="0"/>
              <a:chExt cx="3048000" cy="523800"/>
            </a:xfrm>
          </p:grpSpPr>
          <p:sp>
            <p:nvSpPr>
              <p:cNvPr id="67" name="Google Shape;67;p14"/>
              <p:cNvSpPr txBox="1"/>
              <p:nvPr/>
            </p:nvSpPr>
            <p:spPr>
              <a:xfrm>
                <a:off x="0" y="0"/>
                <a:ext cx="3048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9CA3AF"/>
                    </a:solidFill>
                    <a:latin typeface="Inter"/>
                    <a:ea typeface="Inter"/>
                    <a:cs typeface="Inter"/>
                    <a:sym typeface="Inter"/>
                  </a:rPr>
                  <a:t>DATE OF SESSION</a:t>
                </a:r>
                <a:endParaRPr b="0" sz="10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" name="Google Shape;68;p14"/>
              <p:cNvSpPr txBox="1"/>
              <p:nvPr/>
            </p:nvSpPr>
            <p:spPr>
              <a:xfrm>
                <a:off x="0" y="190500"/>
                <a:ext cx="3048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June 2026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Learning Objectives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5"/>
          <p:cNvGrpSpPr/>
          <p:nvPr/>
        </p:nvGrpSpPr>
        <p:grpSpPr>
          <a:xfrm>
            <a:off x="762000" y="1619250"/>
            <a:ext cx="5143575" cy="3952800"/>
            <a:chOff x="0" y="0"/>
            <a:chExt cx="5143575" cy="3952800"/>
          </a:xfrm>
        </p:grpSpPr>
        <p:grpSp>
          <p:nvGrpSpPr>
            <p:cNvPr id="78" name="Google Shape;78;p15"/>
            <p:cNvGrpSpPr/>
            <p:nvPr/>
          </p:nvGrpSpPr>
          <p:grpSpPr>
            <a:xfrm>
              <a:off x="0" y="0"/>
              <a:ext cx="5143575" cy="523800"/>
              <a:chOff x="0" y="0"/>
              <a:chExt cx="5143575" cy="523800"/>
            </a:xfrm>
          </p:grpSpPr>
          <p:grpSp>
            <p:nvGrpSpPr>
              <p:cNvPr id="79" name="Google Shape;79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0" name="Google Shape;80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1" name="Google Shape;81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2" name="Google Shape;82;p15"/>
              <p:cNvSpPr txBox="1"/>
              <p:nvPr/>
            </p:nvSpPr>
            <p:spPr>
              <a:xfrm>
                <a:off x="333375" y="0"/>
                <a:ext cx="48102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Understand </a:t>
                </a: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Object-Oriented Programming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3" name="Google Shape;83;p15"/>
            <p:cNvGrpSpPr/>
            <p:nvPr/>
          </p:nvGrpSpPr>
          <p:grpSpPr>
            <a:xfrm>
              <a:off x="0" y="685800"/>
              <a:ext cx="5143575" cy="523800"/>
              <a:chOff x="0" y="0"/>
              <a:chExt cx="5143575" cy="523800"/>
            </a:xfrm>
          </p:grpSpPr>
          <p:grpSp>
            <p:nvGrpSpPr>
              <p:cNvPr id="84" name="Google Shape;84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5" name="Google Shape;85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" name="Google Shape;86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7" name="Google Shape;87;p15"/>
              <p:cNvSpPr txBox="1"/>
              <p:nvPr/>
            </p:nvSpPr>
            <p:spPr>
              <a:xfrm>
                <a:off x="333375" y="0"/>
                <a:ext cx="48102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Differentiate </a:t>
                </a: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Procedural and OOP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programming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8" name="Google Shape;88;p15"/>
            <p:cNvGrpSpPr/>
            <p:nvPr/>
          </p:nvGrpSpPr>
          <p:grpSpPr>
            <a:xfrm>
              <a:off x="0" y="1371600"/>
              <a:ext cx="5143575" cy="523800"/>
              <a:chOff x="0" y="0"/>
              <a:chExt cx="5143575" cy="523800"/>
            </a:xfrm>
          </p:grpSpPr>
          <p:grpSp>
            <p:nvGrpSpPr>
              <p:cNvPr id="89" name="Google Shape;89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90" name="Google Shape;90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2" name="Google Shape;92;p15"/>
              <p:cNvSpPr txBox="1"/>
              <p:nvPr/>
            </p:nvSpPr>
            <p:spPr>
              <a:xfrm>
                <a:off x="333375" y="0"/>
                <a:ext cx="48102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Explain </a:t>
                </a: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Classes and Objects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3" name="Google Shape;93;p15"/>
            <p:cNvGrpSpPr/>
            <p:nvPr/>
          </p:nvGrpSpPr>
          <p:grpSpPr>
            <a:xfrm>
              <a:off x="0" y="2057400"/>
              <a:ext cx="5143575" cy="523800"/>
              <a:chOff x="0" y="0"/>
              <a:chExt cx="5143575" cy="523800"/>
            </a:xfrm>
          </p:grpSpPr>
          <p:grpSp>
            <p:nvGrpSpPr>
              <p:cNvPr id="94" name="Google Shape;94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95" name="Google Shape;95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7" name="Google Shape;97;p15"/>
              <p:cNvSpPr txBox="1"/>
              <p:nvPr/>
            </p:nvSpPr>
            <p:spPr>
              <a:xfrm>
                <a:off x="333375" y="0"/>
                <a:ext cx="48102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Understand </a:t>
                </a: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OOP principles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98" name="Google Shape;98;p15"/>
            <p:cNvGrpSpPr/>
            <p:nvPr/>
          </p:nvGrpSpPr>
          <p:grpSpPr>
            <a:xfrm>
              <a:off x="0" y="2743200"/>
              <a:ext cx="5143575" cy="523800"/>
              <a:chOff x="0" y="0"/>
              <a:chExt cx="5143575" cy="523800"/>
            </a:xfrm>
          </p:grpSpPr>
          <p:grpSp>
            <p:nvGrpSpPr>
              <p:cNvPr id="99" name="Google Shape;99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100" name="Google Shape;100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2" name="Google Shape;102;p15"/>
              <p:cNvSpPr txBox="1"/>
              <p:nvPr/>
            </p:nvSpPr>
            <p:spPr>
              <a:xfrm>
                <a:off x="333375" y="0"/>
                <a:ext cx="48102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Learn </a:t>
                </a: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Encapsulation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03" name="Google Shape;103;p15"/>
            <p:cNvGrpSpPr/>
            <p:nvPr/>
          </p:nvGrpSpPr>
          <p:grpSpPr>
            <a:xfrm>
              <a:off x="0" y="3429000"/>
              <a:ext cx="5143575" cy="523800"/>
              <a:chOff x="0" y="0"/>
              <a:chExt cx="5143575" cy="523800"/>
            </a:xfrm>
          </p:grpSpPr>
          <p:grpSp>
            <p:nvGrpSpPr>
              <p:cNvPr id="104" name="Google Shape;104;p15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7" name="Google Shape;107;p15"/>
              <p:cNvSpPr txBox="1"/>
              <p:nvPr/>
            </p:nvSpPr>
            <p:spPr>
              <a:xfrm>
                <a:off x="333375" y="0"/>
                <a:ext cx="48102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Apply </a:t>
                </a: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Encapsulation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in Python programs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8" name="Google Shape;108;p15"/>
          <p:cNvGrpSpPr/>
          <p:nvPr/>
        </p:nvGrpSpPr>
        <p:grpSpPr>
          <a:xfrm>
            <a:off x="6667500" y="1714500"/>
            <a:ext cx="4762500" cy="3810000"/>
            <a:chOff x="0" y="0"/>
            <a:chExt cx="4762500" cy="3810000"/>
          </a:xfrm>
        </p:grpSpPr>
        <p:sp>
          <p:nvSpPr>
            <p:cNvPr id="109" name="Google Shape;109;p15"/>
            <p:cNvSpPr/>
            <p:nvPr/>
          </p:nvSpPr>
          <p:spPr>
            <a:xfrm>
              <a:off x="0" y="0"/>
              <a:ext cx="47625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" name="Google Shape;110;p15"/>
            <p:cNvPicPr preferRelativeResize="0"/>
            <p:nvPr/>
          </p:nvPicPr>
          <p:blipFill rotWithShape="1">
            <a:blip r:embed="rId3">
              <a:alphaModFix/>
            </a:blip>
            <a:srcRect b="0" l="-12500" r="-12500" t="0"/>
            <a:stretch/>
          </p:blipFill>
          <p:spPr>
            <a:xfrm>
              <a:off x="0" y="0"/>
              <a:ext cx="4762500" cy="3810000"/>
            </a:xfrm>
            <a:prstGeom prst="roundRect">
              <a:avLst>
                <a:gd fmla="val 3000" name="adj"/>
              </a:avLst>
            </a:prstGeom>
            <a:noFill/>
            <a:ln>
              <a:noFill/>
            </a:ln>
          </p:spPr>
        </p:pic>
      </p:grpSp>
      <p:sp>
        <p:nvSpPr>
          <p:cNvPr id="111" name="Google Shape;111;p15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Programming Paradigm?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62000" y="1524000"/>
            <a:ext cx="5143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programming paradigm is a style or method of writing programs.</a:t>
            </a:r>
            <a:endParaRPr b="0" sz="15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21" name="Google Shape;121;p16"/>
          <p:cNvGrpSpPr/>
          <p:nvPr/>
        </p:nvGrpSpPr>
        <p:grpSpPr>
          <a:xfrm>
            <a:off x="762000" y="2286000"/>
            <a:ext cx="5143500" cy="238200"/>
            <a:chOff x="762000" y="2286000"/>
            <a:chExt cx="5143500" cy="238200"/>
          </a:xfrm>
        </p:grpSpPr>
        <p:sp>
          <p:nvSpPr>
            <p:cNvPr id="122" name="Google Shape;122;p16"/>
            <p:cNvSpPr/>
            <p:nvPr/>
          </p:nvSpPr>
          <p:spPr>
            <a:xfrm>
              <a:off x="762000" y="2286000"/>
              <a:ext cx="38100" cy="2382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952500" y="2286000"/>
              <a:ext cx="4953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COMMON PARADIGMS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4" name="Google Shape;124;p16"/>
          <p:cNvGrpSpPr/>
          <p:nvPr/>
        </p:nvGrpSpPr>
        <p:grpSpPr>
          <a:xfrm>
            <a:off x="762000" y="2714625"/>
            <a:ext cx="5143650" cy="1809750"/>
            <a:chOff x="762000" y="2714625"/>
            <a:chExt cx="5143650" cy="1809750"/>
          </a:xfrm>
        </p:grpSpPr>
        <p:grpSp>
          <p:nvGrpSpPr>
            <p:cNvPr id="125" name="Google Shape;125;p16"/>
            <p:cNvGrpSpPr/>
            <p:nvPr/>
          </p:nvGrpSpPr>
          <p:grpSpPr>
            <a:xfrm>
              <a:off x="762000" y="2714625"/>
              <a:ext cx="5143650" cy="381000"/>
              <a:chOff x="762000" y="2714625"/>
              <a:chExt cx="5143650" cy="381000"/>
            </a:xfrm>
          </p:grpSpPr>
          <p:sp>
            <p:nvSpPr>
              <p:cNvPr id="126" name="Google Shape;126;p16"/>
              <p:cNvSpPr/>
              <p:nvPr/>
            </p:nvSpPr>
            <p:spPr>
              <a:xfrm>
                <a:off x="762000" y="2790825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6"/>
              <p:cNvSpPr txBox="1"/>
              <p:nvPr/>
            </p:nvSpPr>
            <p:spPr>
              <a:xfrm>
                <a:off x="1047750" y="2714625"/>
                <a:ext cx="485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Procedural Programming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28" name="Google Shape;128;p16"/>
            <p:cNvGrpSpPr/>
            <p:nvPr/>
          </p:nvGrpSpPr>
          <p:grpSpPr>
            <a:xfrm>
              <a:off x="762000" y="3190875"/>
              <a:ext cx="5143650" cy="381000"/>
              <a:chOff x="762000" y="3190875"/>
              <a:chExt cx="5143650" cy="381000"/>
            </a:xfrm>
          </p:grpSpPr>
          <p:sp>
            <p:nvSpPr>
              <p:cNvPr id="129" name="Google Shape;129;p16"/>
              <p:cNvSpPr/>
              <p:nvPr/>
            </p:nvSpPr>
            <p:spPr>
              <a:xfrm>
                <a:off x="762000" y="3267075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6"/>
              <p:cNvSpPr txBox="1"/>
              <p:nvPr/>
            </p:nvSpPr>
            <p:spPr>
              <a:xfrm>
                <a:off x="1047750" y="3190875"/>
                <a:ext cx="485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Object-Oriented Programming (OOP)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31" name="Google Shape;131;p16"/>
            <p:cNvGrpSpPr/>
            <p:nvPr/>
          </p:nvGrpSpPr>
          <p:grpSpPr>
            <a:xfrm>
              <a:off x="762000" y="3667125"/>
              <a:ext cx="5143650" cy="381000"/>
              <a:chOff x="762000" y="3667125"/>
              <a:chExt cx="5143650" cy="381000"/>
            </a:xfrm>
          </p:grpSpPr>
          <p:sp>
            <p:nvSpPr>
              <p:cNvPr id="132" name="Google Shape;132;p16"/>
              <p:cNvSpPr/>
              <p:nvPr/>
            </p:nvSpPr>
            <p:spPr>
              <a:xfrm>
                <a:off x="762000" y="3743325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 txBox="1"/>
              <p:nvPr/>
            </p:nvSpPr>
            <p:spPr>
              <a:xfrm>
                <a:off x="1047750" y="3667125"/>
                <a:ext cx="485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Functional Programming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134" name="Google Shape;134;p16"/>
            <p:cNvGrpSpPr/>
            <p:nvPr/>
          </p:nvGrpSpPr>
          <p:grpSpPr>
            <a:xfrm>
              <a:off x="762000" y="4143375"/>
              <a:ext cx="5143650" cy="381000"/>
              <a:chOff x="762000" y="4143375"/>
              <a:chExt cx="5143650" cy="381000"/>
            </a:xfrm>
          </p:grpSpPr>
          <p:sp>
            <p:nvSpPr>
              <p:cNvPr id="135" name="Google Shape;135;p16"/>
              <p:cNvSpPr/>
              <p:nvPr/>
            </p:nvSpPr>
            <p:spPr>
              <a:xfrm>
                <a:off x="762000" y="4219575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16"/>
              <p:cNvSpPr txBox="1"/>
              <p:nvPr/>
            </p:nvSpPr>
            <p:spPr>
              <a:xfrm>
                <a:off x="1047750" y="4143375"/>
                <a:ext cx="4857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Event-Driven Programming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137" name="Google Shape;137;p16"/>
          <p:cNvGrpSpPr/>
          <p:nvPr/>
        </p:nvGrpSpPr>
        <p:grpSpPr>
          <a:xfrm>
            <a:off x="6286500" y="1524000"/>
            <a:ext cx="5143500" cy="2895600"/>
            <a:chOff x="0" y="0"/>
            <a:chExt cx="5143500" cy="2895600"/>
          </a:xfrm>
        </p:grpSpPr>
        <p:sp>
          <p:nvSpPr>
            <p:cNvPr id="138" name="Google Shape;138;p16"/>
            <p:cNvSpPr/>
            <p:nvPr/>
          </p:nvSpPr>
          <p:spPr>
            <a:xfrm>
              <a:off x="0" y="0"/>
              <a:ext cx="5143500" cy="2895600"/>
            </a:xfrm>
            <a:prstGeom prst="roundRect">
              <a:avLst>
                <a:gd fmla="val 394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9" name="Google Shape;139;p16"/>
            <p:cNvPicPr preferRelativeResize="0"/>
            <p:nvPr/>
          </p:nvPicPr>
          <p:blipFill rotWithShape="1">
            <a:blip r:embed="rId3">
              <a:alphaModFix/>
            </a:blip>
            <a:srcRect b="0" l="40" r="40" t="0"/>
            <a:stretch/>
          </p:blipFill>
          <p:spPr>
            <a:xfrm>
              <a:off x="0" y="0"/>
              <a:ext cx="5143500" cy="2895600"/>
            </a:xfrm>
            <a:prstGeom prst="roundRect">
              <a:avLst>
                <a:gd fmla="val 3946" name="adj"/>
              </a:avLst>
            </a:prstGeom>
            <a:noFill/>
            <a:ln>
              <a:noFill/>
            </a:ln>
          </p:spPr>
        </p:pic>
      </p:grpSp>
      <p:grpSp>
        <p:nvGrpSpPr>
          <p:cNvPr id="140" name="Google Shape;140;p16"/>
          <p:cNvGrpSpPr/>
          <p:nvPr/>
        </p:nvGrpSpPr>
        <p:grpSpPr>
          <a:xfrm>
            <a:off x="6286500" y="4619625"/>
            <a:ext cx="5143500" cy="571500"/>
            <a:chOff x="0" y="0"/>
            <a:chExt cx="5143500" cy="571500"/>
          </a:xfrm>
        </p:grpSpPr>
        <p:sp>
          <p:nvSpPr>
            <p:cNvPr id="141" name="Google Shape;141;p16"/>
            <p:cNvSpPr/>
            <p:nvPr/>
          </p:nvSpPr>
          <p:spPr>
            <a:xfrm>
              <a:off x="0" y="0"/>
              <a:ext cx="38100" cy="5715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190500" y="0"/>
              <a:ext cx="49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5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Python Flexibility:</a:t>
              </a:r>
              <a:r>
                <a:rPr b="0" i="1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Supports multiple programming paradigms, making it highly flexible.</a:t>
              </a:r>
              <a:endParaRPr b="0" i="1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3" name="Google Shape;143;p16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Programming Paradigms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Object-Oriented Programming (OOP)?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1524000"/>
            <a:ext cx="5143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Programming methodology where programs are designed using objects instead of only functions.</a:t>
            </a:r>
            <a:endParaRPr b="0" sz="15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53" name="Google Shape;153;p17"/>
          <p:cNvGrpSpPr/>
          <p:nvPr/>
        </p:nvGrpSpPr>
        <p:grpSpPr>
          <a:xfrm>
            <a:off x="762000" y="2524125"/>
            <a:ext cx="5143500" cy="238200"/>
            <a:chOff x="0" y="0"/>
            <a:chExt cx="5143500" cy="238200"/>
          </a:xfrm>
        </p:grpSpPr>
        <p:sp>
          <p:nvSpPr>
            <p:cNvPr id="154" name="Google Shape;154;p17"/>
            <p:cNvSpPr/>
            <p:nvPr/>
          </p:nvSpPr>
          <p:spPr>
            <a:xfrm>
              <a:off x="0" y="0"/>
              <a:ext cx="38100" cy="2382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 txBox="1"/>
            <p:nvPr/>
          </p:nvSpPr>
          <p:spPr>
            <a:xfrm>
              <a:off x="190500" y="0"/>
              <a:ext cx="4953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CORE CHARACTERISTICS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6" name="Google Shape;156;p17"/>
          <p:cNvGrpSpPr/>
          <p:nvPr/>
        </p:nvGrpSpPr>
        <p:grpSpPr>
          <a:xfrm>
            <a:off x="762000" y="2952750"/>
            <a:ext cx="5143650" cy="666900"/>
            <a:chOff x="0" y="0"/>
            <a:chExt cx="5143650" cy="666900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7620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285750" y="0"/>
              <a:ext cx="4857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Object Composition: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An object combines Data (Attributes) and Functions (Methods).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9" name="Google Shape;159;p17"/>
          <p:cNvGrpSpPr/>
          <p:nvPr/>
        </p:nvGrpSpPr>
        <p:grpSpPr>
          <a:xfrm>
            <a:off x="762000" y="3810000"/>
            <a:ext cx="5143650" cy="666900"/>
            <a:chOff x="0" y="0"/>
            <a:chExt cx="5143650" cy="666900"/>
          </a:xfrm>
        </p:grpSpPr>
        <p:sp>
          <p:nvSpPr>
            <p:cNvPr id="160" name="Google Shape;160;p17"/>
            <p:cNvSpPr/>
            <p:nvPr/>
          </p:nvSpPr>
          <p:spPr>
            <a:xfrm>
              <a:off x="0" y="7620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285750" y="0"/>
              <a:ext cx="4857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Real-World Modeling: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OOP models real-world entities and their behaviors.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2" name="Google Shape;162;p17"/>
          <p:cNvGrpSpPr/>
          <p:nvPr/>
        </p:nvGrpSpPr>
        <p:grpSpPr>
          <a:xfrm>
            <a:off x="6286500" y="1524000"/>
            <a:ext cx="5143500" cy="3857700"/>
            <a:chOff x="0" y="0"/>
            <a:chExt cx="5143500" cy="3857700"/>
          </a:xfrm>
        </p:grpSpPr>
        <p:sp>
          <p:nvSpPr>
            <p:cNvPr id="163" name="Google Shape;163;p17"/>
            <p:cNvSpPr/>
            <p:nvPr/>
          </p:nvSpPr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4" name="Google Shape;164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noFill/>
            <a:ln>
              <a:noFill/>
            </a:ln>
          </p:spPr>
        </p:pic>
      </p:grpSp>
      <p:sp>
        <p:nvSpPr>
          <p:cNvPr id="165" name="Google Shape;165;p17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Introduction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Why Do We Need OOP?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1285875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How software complexity scales and how Object-Oriented Programming solves it.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086475" y="1809750"/>
            <a:ext cx="19200" cy="40005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762000" y="1809750"/>
            <a:ext cx="5143500" cy="4000500"/>
            <a:chOff x="762000" y="1809750"/>
            <a:chExt cx="5143500" cy="4000500"/>
          </a:xfrm>
        </p:grpSpPr>
        <p:sp>
          <p:nvSpPr>
            <p:cNvPr id="176" name="Google Shape;176;p18"/>
            <p:cNvSpPr/>
            <p:nvPr/>
          </p:nvSpPr>
          <p:spPr>
            <a:xfrm>
              <a:off x="762000" y="180975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EE2E2"/>
            </a:solidFill>
            <a:ln cap="flat" cmpd="sng" w="14300">
              <a:solidFill>
                <a:srgbClr val="F871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/>
            <p:nvPr/>
          </p:nvSpPr>
          <p:spPr>
            <a:xfrm>
              <a:off x="762000" y="180975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B9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1047750" y="2047875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THE PROBLEM</a:t>
              </a:r>
              <a:endParaRPr b="1" sz="12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1047750" y="238125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Scaling Issues in Procedural Code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1047750" y="2809875"/>
              <a:ext cx="457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As software grows, maintaining and expanding a procedural codebase becomes increasingly complex:</a:t>
              </a:r>
              <a:endParaRPr b="0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81" name="Google Shape;181;p18"/>
            <p:cNvGrpSpPr/>
            <p:nvPr/>
          </p:nvGrpSpPr>
          <p:grpSpPr>
            <a:xfrm>
              <a:off x="1047750" y="3476625"/>
              <a:ext cx="4571925" cy="428700"/>
              <a:chOff x="0" y="0"/>
              <a:chExt cx="4571925" cy="428700"/>
            </a:xfrm>
          </p:grpSpPr>
          <p:sp>
            <p:nvSpPr>
              <p:cNvPr id="182" name="Google Shape;182;p18"/>
              <p:cNvSpPr/>
              <p:nvPr/>
            </p:nvSpPr>
            <p:spPr>
              <a:xfrm>
                <a:off x="0" y="5715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8"/>
              <p:cNvSpPr txBox="1"/>
              <p:nvPr/>
            </p:nvSpPr>
            <p:spPr>
              <a:xfrm>
                <a:off x="238125" y="0"/>
                <a:ext cx="43338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B91C1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Maintenance: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Code is hard to maintain.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4" name="Google Shape;184;p18"/>
            <p:cNvGrpSpPr/>
            <p:nvPr/>
          </p:nvGrpSpPr>
          <p:grpSpPr>
            <a:xfrm>
              <a:off x="1047750" y="4000500"/>
              <a:ext cx="4571925" cy="428700"/>
              <a:chOff x="0" y="0"/>
              <a:chExt cx="4571925" cy="428700"/>
            </a:xfrm>
          </p:grpSpPr>
          <p:sp>
            <p:nvSpPr>
              <p:cNvPr id="185" name="Google Shape;185;p18"/>
              <p:cNvSpPr/>
              <p:nvPr/>
            </p:nvSpPr>
            <p:spPr>
              <a:xfrm>
                <a:off x="0" y="5715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8"/>
              <p:cNvSpPr txBox="1"/>
              <p:nvPr/>
            </p:nvSpPr>
            <p:spPr>
              <a:xfrm>
                <a:off x="238125" y="0"/>
                <a:ext cx="43338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B91C1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Repetition: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Repetition increases.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87" name="Google Shape;187;p18"/>
            <p:cNvGrpSpPr/>
            <p:nvPr/>
          </p:nvGrpSpPr>
          <p:grpSpPr>
            <a:xfrm>
              <a:off x="1047750" y="4524375"/>
              <a:ext cx="4571925" cy="428700"/>
              <a:chOff x="0" y="0"/>
              <a:chExt cx="4571925" cy="428700"/>
            </a:xfrm>
          </p:grpSpPr>
          <p:sp>
            <p:nvSpPr>
              <p:cNvPr id="188" name="Google Shape;188;p18"/>
              <p:cNvSpPr/>
              <p:nvPr/>
            </p:nvSpPr>
            <p:spPr>
              <a:xfrm>
                <a:off x="0" y="5715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8"/>
              <p:cNvSpPr txBox="1"/>
              <p:nvPr/>
            </p:nvSpPr>
            <p:spPr>
              <a:xfrm>
                <a:off x="238125" y="0"/>
                <a:ext cx="43338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B91C1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Debugging: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Debugging is difficult.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90" name="Google Shape;190;p18"/>
            <p:cNvGrpSpPr/>
            <p:nvPr/>
          </p:nvGrpSpPr>
          <p:grpSpPr>
            <a:xfrm>
              <a:off x="1047750" y="5048250"/>
              <a:ext cx="4571925" cy="428700"/>
              <a:chOff x="0" y="0"/>
              <a:chExt cx="4571925" cy="428700"/>
            </a:xfrm>
          </p:grpSpPr>
          <p:sp>
            <p:nvSpPr>
              <p:cNvPr id="191" name="Google Shape;191;p18"/>
              <p:cNvSpPr/>
              <p:nvPr/>
            </p:nvSpPr>
            <p:spPr>
              <a:xfrm>
                <a:off x="0" y="5715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8"/>
              <p:cNvSpPr txBox="1"/>
              <p:nvPr/>
            </p:nvSpPr>
            <p:spPr>
              <a:xfrm>
                <a:off x="238125" y="0"/>
                <a:ext cx="43338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B91C1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Collaboration: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Collaboration is harder.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93" name="Google Shape;193;p18"/>
          <p:cNvGrpSpPr/>
          <p:nvPr/>
        </p:nvGrpSpPr>
        <p:grpSpPr>
          <a:xfrm>
            <a:off x="6286500" y="1809750"/>
            <a:ext cx="5143500" cy="4000500"/>
            <a:chOff x="6286500" y="1809750"/>
            <a:chExt cx="5143500" cy="4000500"/>
          </a:xfrm>
        </p:grpSpPr>
        <p:sp>
          <p:nvSpPr>
            <p:cNvPr id="194" name="Google Shape;194;p18"/>
            <p:cNvSpPr/>
            <p:nvPr/>
          </p:nvSpPr>
          <p:spPr>
            <a:xfrm>
              <a:off x="6286500" y="180975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/>
            <p:nvPr/>
          </p:nvSpPr>
          <p:spPr>
            <a:xfrm>
              <a:off x="6286500" y="180975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8"/>
            <p:cNvSpPr txBox="1"/>
            <p:nvPr/>
          </p:nvSpPr>
          <p:spPr>
            <a:xfrm>
              <a:off x="6572250" y="2047875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THE SOLUTION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6572250" y="238125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Object-Oriented Solutions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6572250" y="2809875"/>
              <a:ext cx="457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9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OOP introduces powerful design paradigms that model real-world concepts to resolve scaling limitations:</a:t>
              </a:r>
              <a:endParaRPr b="0" sz="129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9" name="Google Shape;199;p18"/>
            <p:cNvGrpSpPr/>
            <p:nvPr/>
          </p:nvGrpSpPr>
          <p:grpSpPr>
            <a:xfrm>
              <a:off x="6572250" y="3476625"/>
              <a:ext cx="4572150" cy="428700"/>
              <a:chOff x="0" y="0"/>
              <a:chExt cx="4572150" cy="428700"/>
            </a:xfrm>
          </p:grpSpPr>
          <p:grpSp>
            <p:nvGrpSpPr>
              <p:cNvPr id="200" name="Google Shape;200;p18"/>
              <p:cNvGrpSpPr/>
              <p:nvPr/>
            </p:nvGrpSpPr>
            <p:grpSpPr>
              <a:xfrm>
                <a:off x="0" y="19050"/>
                <a:ext cx="190500" cy="190500"/>
                <a:chOff x="0" y="0"/>
                <a:chExt cx="190500" cy="190500"/>
              </a:xfrm>
            </p:grpSpPr>
            <p:sp>
              <p:nvSpPr>
                <p:cNvPr id="201" name="Google Shape;201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" name="Google Shape;202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3" name="Google Shape;203;p18"/>
              <p:cNvSpPr txBox="1"/>
              <p:nvPr/>
            </p:nvSpPr>
            <p:spPr>
              <a:xfrm>
                <a:off x="285750" y="0"/>
                <a:ext cx="4286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Organization: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Better organization.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4" name="Google Shape;204;p18"/>
            <p:cNvGrpSpPr/>
            <p:nvPr/>
          </p:nvGrpSpPr>
          <p:grpSpPr>
            <a:xfrm>
              <a:off x="6572250" y="4000500"/>
              <a:ext cx="4572150" cy="428700"/>
              <a:chOff x="0" y="0"/>
              <a:chExt cx="4572150" cy="428700"/>
            </a:xfrm>
          </p:grpSpPr>
          <p:grpSp>
            <p:nvGrpSpPr>
              <p:cNvPr id="205" name="Google Shape;205;p18"/>
              <p:cNvGrpSpPr/>
              <p:nvPr/>
            </p:nvGrpSpPr>
            <p:grpSpPr>
              <a:xfrm>
                <a:off x="0" y="19050"/>
                <a:ext cx="190500" cy="190500"/>
                <a:chOff x="0" y="0"/>
                <a:chExt cx="190500" cy="190500"/>
              </a:xfrm>
            </p:grpSpPr>
            <p:sp>
              <p:nvSpPr>
                <p:cNvPr id="206" name="Google Shape;206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" name="Google Shape;207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8" name="Google Shape;208;p18"/>
              <p:cNvSpPr txBox="1"/>
              <p:nvPr/>
            </p:nvSpPr>
            <p:spPr>
              <a:xfrm>
                <a:off x="285750" y="0"/>
                <a:ext cx="4286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Reusability: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Code reusability.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09" name="Google Shape;209;p18"/>
            <p:cNvGrpSpPr/>
            <p:nvPr/>
          </p:nvGrpSpPr>
          <p:grpSpPr>
            <a:xfrm>
              <a:off x="6572250" y="4524375"/>
              <a:ext cx="4572150" cy="428700"/>
              <a:chOff x="0" y="0"/>
              <a:chExt cx="4572150" cy="428700"/>
            </a:xfrm>
          </p:grpSpPr>
          <p:grpSp>
            <p:nvGrpSpPr>
              <p:cNvPr id="210" name="Google Shape;210;p18"/>
              <p:cNvGrpSpPr/>
              <p:nvPr/>
            </p:nvGrpSpPr>
            <p:grpSpPr>
              <a:xfrm>
                <a:off x="0" y="19050"/>
                <a:ext cx="190500" cy="190500"/>
                <a:chOff x="0" y="0"/>
                <a:chExt cx="190500" cy="190500"/>
              </a:xfrm>
            </p:grpSpPr>
            <p:sp>
              <p:nvSpPr>
                <p:cNvPr id="211" name="Google Shape;211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" name="Google Shape;212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3" name="Google Shape;213;p18"/>
              <p:cNvSpPr txBox="1"/>
              <p:nvPr/>
            </p:nvSpPr>
            <p:spPr>
              <a:xfrm>
                <a:off x="285750" y="0"/>
                <a:ext cx="4286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Maintenance: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Easy maintenance.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214" name="Google Shape;214;p18"/>
            <p:cNvGrpSpPr/>
            <p:nvPr/>
          </p:nvGrpSpPr>
          <p:grpSpPr>
            <a:xfrm>
              <a:off x="6572250" y="5048250"/>
              <a:ext cx="4572150" cy="428700"/>
              <a:chOff x="0" y="0"/>
              <a:chExt cx="4572150" cy="428700"/>
            </a:xfrm>
          </p:grpSpPr>
          <p:grpSp>
            <p:nvGrpSpPr>
              <p:cNvPr id="215" name="Google Shape;215;p18"/>
              <p:cNvGrpSpPr/>
              <p:nvPr/>
            </p:nvGrpSpPr>
            <p:grpSpPr>
              <a:xfrm>
                <a:off x="0" y="19050"/>
                <a:ext cx="190500" cy="190500"/>
                <a:chOff x="0" y="0"/>
                <a:chExt cx="190500" cy="190500"/>
              </a:xfrm>
            </p:grpSpPr>
            <p:sp>
              <p:nvSpPr>
                <p:cNvPr id="216" name="Google Shape;216;p1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" name="Google Shape;217;p1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8" name="Google Shape;218;p18"/>
              <p:cNvSpPr txBox="1"/>
              <p:nvPr/>
            </p:nvSpPr>
            <p:spPr>
              <a:xfrm>
                <a:off x="285750" y="0"/>
                <a:ext cx="4286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Modularity: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Modularity.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219" name="Google Shape;219;p18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OOP Fundamentals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Real-Life Examples of Objects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19"/>
          <p:cNvGrpSpPr/>
          <p:nvPr/>
        </p:nvGrpSpPr>
        <p:grpSpPr>
          <a:xfrm>
            <a:off x="762000" y="1524000"/>
            <a:ext cx="3295800" cy="2286000"/>
            <a:chOff x="0" y="0"/>
            <a:chExt cx="3295800" cy="2286000"/>
          </a:xfrm>
        </p:grpSpPr>
        <p:sp>
          <p:nvSpPr>
            <p:cNvPr id="228" name="Google Shape;228;p19"/>
            <p:cNvSpPr/>
            <p:nvPr/>
          </p:nvSpPr>
          <p:spPr>
            <a:xfrm>
              <a:off x="0" y="0"/>
              <a:ext cx="32958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CAR OBJECT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190500" y="666750"/>
              <a:ext cx="2914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ATTRIBUTES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Color, Model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Start(), Stop()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2" name="Google Shape;232;p19"/>
          <p:cNvGrpSpPr/>
          <p:nvPr/>
        </p:nvGrpSpPr>
        <p:grpSpPr>
          <a:xfrm>
            <a:off x="4438650" y="1524000"/>
            <a:ext cx="3295800" cy="2286000"/>
            <a:chOff x="0" y="0"/>
            <a:chExt cx="3295800" cy="2286000"/>
          </a:xfrm>
        </p:grpSpPr>
        <p:sp>
          <p:nvSpPr>
            <p:cNvPr id="233" name="Google Shape;233;p19"/>
            <p:cNvSpPr/>
            <p:nvPr/>
          </p:nvSpPr>
          <p:spPr>
            <a:xfrm>
              <a:off x="0" y="0"/>
              <a:ext cx="32958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STUDENT OBJECT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6" name="Google Shape;236;p19"/>
            <p:cNvSpPr txBox="1"/>
            <p:nvPr/>
          </p:nvSpPr>
          <p:spPr>
            <a:xfrm>
              <a:off x="190500" y="666750"/>
              <a:ext cx="2914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ATTRIBUTES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Name, Roll No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Study(), AttendClass()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p19"/>
          <p:cNvGrpSpPr/>
          <p:nvPr/>
        </p:nvGrpSpPr>
        <p:grpSpPr>
          <a:xfrm>
            <a:off x="8124825" y="1524000"/>
            <a:ext cx="3295800" cy="2286000"/>
            <a:chOff x="0" y="0"/>
            <a:chExt cx="3295800" cy="2286000"/>
          </a:xfrm>
        </p:grpSpPr>
        <p:sp>
          <p:nvSpPr>
            <p:cNvPr id="238" name="Google Shape;238;p19"/>
            <p:cNvSpPr/>
            <p:nvPr/>
          </p:nvSpPr>
          <p:spPr>
            <a:xfrm>
              <a:off x="0" y="0"/>
              <a:ext cx="32958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9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9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BANK ACCOUNT OBJECT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1" name="Google Shape;241;p19"/>
            <p:cNvSpPr txBox="1"/>
            <p:nvPr/>
          </p:nvSpPr>
          <p:spPr>
            <a:xfrm>
              <a:off x="190500" y="666750"/>
              <a:ext cx="29148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ATTRIBUTES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Balance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METHODS</a:t>
              </a:r>
              <a:b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</a:br>
              <a:r>
                <a:rPr b="0" lang="en" sz="15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Deposit(), Withdraw()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2" name="Google Shape;242;p19"/>
          <p:cNvGrpSpPr/>
          <p:nvPr/>
        </p:nvGrpSpPr>
        <p:grpSpPr>
          <a:xfrm>
            <a:off x="762000" y="4191000"/>
            <a:ext cx="10668000" cy="1047900"/>
            <a:chOff x="0" y="0"/>
            <a:chExt cx="10668000" cy="1047900"/>
          </a:xfrm>
        </p:grpSpPr>
        <p:sp>
          <p:nvSpPr>
            <p:cNvPr id="243" name="Google Shape;243;p19"/>
            <p:cNvSpPr/>
            <p:nvPr/>
          </p:nvSpPr>
          <p:spPr>
            <a:xfrm>
              <a:off x="0" y="0"/>
              <a:ext cx="38100" cy="10479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9"/>
            <p:cNvSpPr txBox="1"/>
            <p:nvPr/>
          </p:nvSpPr>
          <p:spPr>
            <a:xfrm>
              <a:off x="190500" y="0"/>
              <a:ext cx="1047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CORE IDEA &amp; EXAMPLES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190500" y="285750"/>
              <a:ext cx="1047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Everything around us can be viewed as an object.</a:t>
              </a:r>
              <a:endParaRPr b="0" sz="16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Mobile:</a:t>
              </a: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Attributes (Brand, Storage) | Methods (Call(), Charge())</a:t>
              </a:r>
              <a:endParaRPr b="0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6" name="Google Shape;246;p19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Real-Life Examples of Objects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Procedural Programming vs OOP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0"/>
          <p:cNvSpPr txBox="1"/>
          <p:nvPr/>
        </p:nvSpPr>
        <p:spPr>
          <a:xfrm>
            <a:off x="762000" y="1285875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Comparing Programming Paradigms in Python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6086475" y="1714500"/>
            <a:ext cx="19200" cy="39054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" name="Google Shape;257;p20"/>
          <p:cNvGrpSpPr/>
          <p:nvPr/>
        </p:nvGrpSpPr>
        <p:grpSpPr>
          <a:xfrm>
            <a:off x="762000" y="1809750"/>
            <a:ext cx="4953000" cy="3905250"/>
            <a:chOff x="0" y="0"/>
            <a:chExt cx="4953000" cy="3905250"/>
          </a:xfrm>
        </p:grpSpPr>
        <p:sp>
          <p:nvSpPr>
            <p:cNvPr id="258" name="Google Shape;258;p20"/>
            <p:cNvSpPr txBox="1"/>
            <p:nvPr/>
          </p:nvSpPr>
          <p:spPr>
            <a:xfrm>
              <a:off x="0" y="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Procedural Paradigm: 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Focuses on functions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59" name="Google Shape;259;p20"/>
            <p:cNvGrpSpPr/>
            <p:nvPr/>
          </p:nvGrpSpPr>
          <p:grpSpPr>
            <a:xfrm>
              <a:off x="0" y="476250"/>
              <a:ext cx="4953000" cy="3429000"/>
              <a:chOff x="0" y="0"/>
              <a:chExt cx="4953000" cy="3429000"/>
            </a:xfrm>
          </p:grpSpPr>
          <p:sp>
            <p:nvSpPr>
              <p:cNvPr id="260" name="Google Shape;260;p20"/>
              <p:cNvSpPr/>
              <p:nvPr/>
            </p:nvSpPr>
            <p:spPr>
              <a:xfrm>
                <a:off x="0" y="0"/>
                <a:ext cx="4953000" cy="3429000"/>
              </a:xfrm>
              <a:prstGeom prst="roundRect">
                <a:avLst>
                  <a:gd fmla="val 2222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0"/>
              <p:cNvSpPr/>
              <p:nvPr/>
            </p:nvSpPr>
            <p:spPr>
              <a:xfrm>
                <a:off x="0" y="0"/>
                <a:ext cx="57300" cy="3429000"/>
              </a:xfrm>
              <a:prstGeom prst="roundRect">
                <a:avLst>
                  <a:gd fmla="val 49999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62" name="Google Shape;262;p20"/>
              <p:cNvGrpSpPr/>
              <p:nvPr/>
            </p:nvGrpSpPr>
            <p:grpSpPr>
              <a:xfrm>
                <a:off x="238125" y="285750"/>
                <a:ext cx="4571925" cy="857400"/>
                <a:chOff x="0" y="0"/>
                <a:chExt cx="4571925" cy="857400"/>
              </a:xfrm>
            </p:grpSpPr>
            <p:sp>
              <p:nvSpPr>
                <p:cNvPr id="263" name="Google Shape;263;p20"/>
                <p:cNvSpPr/>
                <p:nvPr/>
              </p:nvSpPr>
              <p:spPr>
                <a:xfrm>
                  <a:off x="0" y="381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20"/>
                <p:cNvSpPr txBox="1"/>
                <p:nvPr/>
              </p:nvSpPr>
              <p:spPr>
                <a:xfrm>
                  <a:off x="238125" y="0"/>
                  <a:ext cx="43338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5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Separated Data: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Functions operate on external data, creating a clean separation that can lead to unintended structural side effects.</a:t>
                  </a:r>
                  <a:endParaRPr b="0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65" name="Google Shape;265;p20"/>
              <p:cNvGrpSpPr/>
              <p:nvPr/>
            </p:nvGrpSpPr>
            <p:grpSpPr>
              <a:xfrm>
                <a:off x="238125" y="1285875"/>
                <a:ext cx="4571925" cy="857400"/>
                <a:chOff x="0" y="0"/>
                <a:chExt cx="4571925" cy="857400"/>
              </a:xfrm>
            </p:grpSpPr>
            <p:sp>
              <p:nvSpPr>
                <p:cNvPr id="266" name="Google Shape;266;p20"/>
                <p:cNvSpPr/>
                <p:nvPr/>
              </p:nvSpPr>
              <p:spPr>
                <a:xfrm>
                  <a:off x="0" y="381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20"/>
                <p:cNvSpPr txBox="1"/>
                <p:nvPr/>
              </p:nvSpPr>
              <p:spPr>
                <a:xfrm>
                  <a:off x="238125" y="0"/>
                  <a:ext cx="43338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5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Harder to Scale: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As project size increases, managing global state values and tracing bug origins becomes highly complex.</a:t>
                  </a:r>
                  <a:endParaRPr b="0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68" name="Google Shape;268;p20"/>
              <p:cNvGrpSpPr/>
              <p:nvPr/>
            </p:nvGrpSpPr>
            <p:grpSpPr>
              <a:xfrm>
                <a:off x="238125" y="2286000"/>
                <a:ext cx="4571925" cy="857400"/>
                <a:chOff x="0" y="0"/>
                <a:chExt cx="4571925" cy="857400"/>
              </a:xfrm>
            </p:grpSpPr>
            <p:sp>
              <p:nvSpPr>
                <p:cNvPr id="269" name="Google Shape;269;p20"/>
                <p:cNvSpPr/>
                <p:nvPr/>
              </p:nvSpPr>
              <p:spPr>
                <a:xfrm>
                  <a:off x="0" y="3810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20"/>
                <p:cNvSpPr txBox="1"/>
                <p:nvPr/>
              </p:nvSpPr>
              <p:spPr>
                <a:xfrm>
                  <a:off x="238125" y="0"/>
                  <a:ext cx="43338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5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Linear Logic: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Execution runs top-down through sequential blocks, limiting the ease of reusing standalone utilities.</a:t>
                  </a:r>
                  <a:endParaRPr b="0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grpSp>
        <p:nvGrpSpPr>
          <p:cNvPr id="271" name="Google Shape;271;p20"/>
          <p:cNvGrpSpPr/>
          <p:nvPr/>
        </p:nvGrpSpPr>
        <p:grpSpPr>
          <a:xfrm>
            <a:off x="6477000" y="1809750"/>
            <a:ext cx="4953000" cy="3905250"/>
            <a:chOff x="0" y="0"/>
            <a:chExt cx="4953000" cy="3905250"/>
          </a:xfrm>
        </p:grpSpPr>
        <p:sp>
          <p:nvSpPr>
            <p:cNvPr id="272" name="Google Shape;272;p20"/>
            <p:cNvSpPr txBox="1"/>
            <p:nvPr/>
          </p:nvSpPr>
          <p:spPr>
            <a:xfrm>
              <a:off x="0" y="0"/>
              <a:ext cx="4953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Object-Oriented Paradigm: </a:t>
              </a: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Focuses on objects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273" name="Google Shape;273;p20"/>
            <p:cNvGrpSpPr/>
            <p:nvPr/>
          </p:nvGrpSpPr>
          <p:grpSpPr>
            <a:xfrm>
              <a:off x="0" y="476250"/>
              <a:ext cx="4953000" cy="3429000"/>
              <a:chOff x="0" y="0"/>
              <a:chExt cx="4953000" cy="3429000"/>
            </a:xfrm>
          </p:grpSpPr>
          <p:sp>
            <p:nvSpPr>
              <p:cNvPr id="274" name="Google Shape;274;p20"/>
              <p:cNvSpPr/>
              <p:nvPr/>
            </p:nvSpPr>
            <p:spPr>
              <a:xfrm>
                <a:off x="0" y="0"/>
                <a:ext cx="4953000" cy="3429000"/>
              </a:xfrm>
              <a:prstGeom prst="roundRect">
                <a:avLst>
                  <a:gd fmla="val 2222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045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0"/>
              <p:cNvSpPr/>
              <p:nvPr/>
            </p:nvSpPr>
            <p:spPr>
              <a:xfrm>
                <a:off x="0" y="0"/>
                <a:ext cx="57300" cy="3429000"/>
              </a:xfrm>
              <a:prstGeom prst="roundRect">
                <a:avLst>
                  <a:gd fmla="val 49999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6" name="Google Shape;276;p20"/>
              <p:cNvGrpSpPr/>
              <p:nvPr/>
            </p:nvGrpSpPr>
            <p:grpSpPr>
              <a:xfrm>
                <a:off x="238125" y="285750"/>
                <a:ext cx="4572150" cy="857400"/>
                <a:chOff x="0" y="0"/>
                <a:chExt cx="4572150" cy="857400"/>
              </a:xfrm>
            </p:grpSpPr>
            <p:grpSp>
              <p:nvGrpSpPr>
                <p:cNvPr id="277" name="Google Shape;277;p20"/>
                <p:cNvGrpSpPr/>
                <p:nvPr/>
              </p:nvGrpSpPr>
              <p:grpSpPr>
                <a:xfrm>
                  <a:off x="0" y="9525"/>
                  <a:ext cx="190500" cy="190500"/>
                  <a:chOff x="0" y="0"/>
                  <a:chExt cx="190500" cy="190500"/>
                </a:xfrm>
              </p:grpSpPr>
              <p:sp>
                <p:nvSpPr>
                  <p:cNvPr id="278" name="Google Shape;278;p20"/>
                  <p:cNvSpPr/>
                  <p:nvPr/>
                </p:nvSpPr>
                <p:spPr>
                  <a:xfrm>
                    <a:off x="0" y="0"/>
                    <a:ext cx="190500" cy="190500"/>
                  </a:xfrm>
                  <a:prstGeom prst="ellipse">
                    <a:avLst/>
                  </a:prstGeom>
                  <a:solidFill>
                    <a:srgbClr val="045A36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79" name="Google Shape;279;p20"/>
                  <p:cNvSpPr/>
                  <p:nvPr/>
                </p:nvSpPr>
                <p:spPr>
                  <a:xfrm>
                    <a:off x="57150" y="57150"/>
                    <a:ext cx="76200" cy="666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68514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80" name="Google Shape;280;p20"/>
                <p:cNvSpPr txBox="1"/>
                <p:nvPr/>
              </p:nvSpPr>
              <p:spPr>
                <a:xfrm>
                  <a:off x="285750" y="0"/>
                  <a:ext cx="42864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50">
                      <a:solidFill>
                        <a:srgbClr val="045A3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Encapsulated State: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Bundles state data (attributes) and behavior (methods) cleanly together, preventing unauthorized direct changes.</a:t>
                  </a:r>
                  <a:endParaRPr b="0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81" name="Google Shape;281;p20"/>
              <p:cNvGrpSpPr/>
              <p:nvPr/>
            </p:nvGrpSpPr>
            <p:grpSpPr>
              <a:xfrm>
                <a:off x="238125" y="1285875"/>
                <a:ext cx="4572150" cy="857400"/>
                <a:chOff x="0" y="0"/>
                <a:chExt cx="4572150" cy="857400"/>
              </a:xfrm>
            </p:grpSpPr>
            <p:grpSp>
              <p:nvGrpSpPr>
                <p:cNvPr id="282" name="Google Shape;282;p20"/>
                <p:cNvGrpSpPr/>
                <p:nvPr/>
              </p:nvGrpSpPr>
              <p:grpSpPr>
                <a:xfrm>
                  <a:off x="0" y="9525"/>
                  <a:ext cx="190500" cy="190500"/>
                  <a:chOff x="0" y="0"/>
                  <a:chExt cx="190500" cy="190500"/>
                </a:xfrm>
              </p:grpSpPr>
              <p:sp>
                <p:nvSpPr>
                  <p:cNvPr id="283" name="Google Shape;283;p20"/>
                  <p:cNvSpPr/>
                  <p:nvPr/>
                </p:nvSpPr>
                <p:spPr>
                  <a:xfrm>
                    <a:off x="0" y="0"/>
                    <a:ext cx="190500" cy="190500"/>
                  </a:xfrm>
                  <a:prstGeom prst="ellipse">
                    <a:avLst/>
                  </a:prstGeom>
                  <a:solidFill>
                    <a:srgbClr val="045A36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4" name="Google Shape;284;p20"/>
                  <p:cNvSpPr/>
                  <p:nvPr/>
                </p:nvSpPr>
                <p:spPr>
                  <a:xfrm>
                    <a:off x="57150" y="57150"/>
                    <a:ext cx="76200" cy="666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68514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85" name="Google Shape;285;p20"/>
                <p:cNvSpPr txBox="1"/>
                <p:nvPr/>
              </p:nvSpPr>
              <p:spPr>
                <a:xfrm>
                  <a:off x="285750" y="0"/>
                  <a:ext cx="42864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50">
                      <a:solidFill>
                        <a:srgbClr val="045A3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Highly Scalable: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Modular structure enables engineering teams to easily maintain, debug, and expand large software architectures.</a:t>
                  </a:r>
                  <a:endParaRPr b="0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286" name="Google Shape;286;p20"/>
              <p:cNvGrpSpPr/>
              <p:nvPr/>
            </p:nvGrpSpPr>
            <p:grpSpPr>
              <a:xfrm>
                <a:off x="238125" y="2286000"/>
                <a:ext cx="4572150" cy="857400"/>
                <a:chOff x="0" y="0"/>
                <a:chExt cx="4572150" cy="857400"/>
              </a:xfrm>
            </p:grpSpPr>
            <p:grpSp>
              <p:nvGrpSpPr>
                <p:cNvPr id="287" name="Google Shape;287;p20"/>
                <p:cNvGrpSpPr/>
                <p:nvPr/>
              </p:nvGrpSpPr>
              <p:grpSpPr>
                <a:xfrm>
                  <a:off x="0" y="9525"/>
                  <a:ext cx="190500" cy="190500"/>
                  <a:chOff x="0" y="0"/>
                  <a:chExt cx="190500" cy="190500"/>
                </a:xfrm>
              </p:grpSpPr>
              <p:sp>
                <p:nvSpPr>
                  <p:cNvPr id="288" name="Google Shape;288;p20"/>
                  <p:cNvSpPr/>
                  <p:nvPr/>
                </p:nvSpPr>
                <p:spPr>
                  <a:xfrm>
                    <a:off x="0" y="0"/>
                    <a:ext cx="190500" cy="190500"/>
                  </a:xfrm>
                  <a:prstGeom prst="ellipse">
                    <a:avLst/>
                  </a:prstGeom>
                  <a:solidFill>
                    <a:srgbClr val="045A36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89" name="Google Shape;289;p20"/>
                  <p:cNvSpPr/>
                  <p:nvPr/>
                </p:nvSpPr>
                <p:spPr>
                  <a:xfrm>
                    <a:off x="57150" y="57150"/>
                    <a:ext cx="76200" cy="66600"/>
                  </a:xfrm>
                  <a:custGeom>
                    <a:rect b="b" l="l" r="r" t="t"/>
                    <a:pathLst>
                      <a:path extrusionOk="0" h="120000" w="120000">
                        <a:moveTo>
                          <a:pt x="0" y="68514"/>
                        </a:moveTo>
                        <a:lnTo>
                          <a:pt x="45000" y="120000"/>
                        </a:lnTo>
                        <a:lnTo>
                          <a:pt x="120000" y="0"/>
                        </a:lnTo>
                      </a:path>
                    </a:pathLst>
                  </a:custGeom>
                  <a:solidFill>
                    <a:srgbClr val="000000">
                      <a:alpha val="0"/>
                    </a:srgbClr>
                  </a:solidFill>
                  <a:ln cap="rnd" cmpd="sng" w="19050">
                    <a:solidFill>
                      <a:srgbClr val="FFFFFF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90" name="Google Shape;290;p20"/>
                <p:cNvSpPr txBox="1"/>
                <p:nvPr/>
              </p:nvSpPr>
              <p:spPr>
                <a:xfrm>
                  <a:off x="285750" y="0"/>
                  <a:ext cx="4286400" cy="85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50">
                      <a:solidFill>
                        <a:srgbClr val="045A36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Intuitive Modeling:</a:t>
                  </a:r>
                  <a:r>
                    <a:rPr b="0" lang="en" sz="135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Uses real-world metaphors with inheritance and polymorphism to simplify design logic and accelerate development.</a:t>
                  </a:r>
                  <a:endParaRPr b="0" sz="135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sp>
        <p:nvSpPr>
          <p:cNvPr id="291" name="Google Shape;291;p20"/>
          <p:cNvSpPr txBox="1"/>
          <p:nvPr/>
        </p:nvSpPr>
        <p:spPr>
          <a:xfrm>
            <a:off x="762000" y="61341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Package Management &amp; File Handling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21"/>
          <p:cNvGrpSpPr/>
          <p:nvPr/>
        </p:nvGrpSpPr>
        <p:grpSpPr>
          <a:xfrm>
            <a:off x="762000" y="571500"/>
            <a:ext cx="10668000" cy="571650"/>
            <a:chOff x="762000" y="571500"/>
            <a:chExt cx="10668000" cy="571650"/>
          </a:xfrm>
        </p:grpSpPr>
        <p:sp>
          <p:nvSpPr>
            <p:cNvPr id="299" name="Google Shape;299;p21"/>
            <p:cNvSpPr txBox="1"/>
            <p:nvPr/>
          </p:nvSpPr>
          <p:spPr>
            <a:xfrm>
              <a:off x="762000" y="57150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Basic Concepts of OOP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762000" y="1123950"/>
              <a:ext cx="10668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21"/>
          <p:cNvGrpSpPr/>
          <p:nvPr/>
        </p:nvGrpSpPr>
        <p:grpSpPr>
          <a:xfrm>
            <a:off x="762000" y="1428750"/>
            <a:ext cx="5143500" cy="4381500"/>
            <a:chOff x="762000" y="1428750"/>
            <a:chExt cx="5143500" cy="4381500"/>
          </a:xfrm>
        </p:grpSpPr>
        <p:sp>
          <p:nvSpPr>
            <p:cNvPr id="302" name="Google Shape;302;p21"/>
            <p:cNvSpPr/>
            <p:nvPr/>
          </p:nvSpPr>
          <p:spPr>
            <a:xfrm>
              <a:off x="762000" y="1428750"/>
              <a:ext cx="5143500" cy="43815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1"/>
            <p:cNvSpPr/>
            <p:nvPr/>
          </p:nvSpPr>
          <p:spPr>
            <a:xfrm>
              <a:off x="762000" y="142875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1"/>
            <p:cNvSpPr txBox="1"/>
            <p:nvPr/>
          </p:nvSpPr>
          <p:spPr>
            <a:xfrm>
              <a:off x="1047750" y="1762125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MAIN CONCEPTS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5" name="Google Shape;305;p21"/>
            <p:cNvGrpSpPr/>
            <p:nvPr/>
          </p:nvGrpSpPr>
          <p:grpSpPr>
            <a:xfrm>
              <a:off x="1047750" y="2381250"/>
              <a:ext cx="4572075" cy="381000"/>
              <a:chOff x="0" y="0"/>
              <a:chExt cx="4572075" cy="381000"/>
            </a:xfrm>
          </p:grpSpPr>
          <p:grpSp>
            <p:nvGrpSpPr>
              <p:cNvPr id="306" name="Google Shape;306;p21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307" name="Google Shape;307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" name="Google Shape;308;p21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9" name="Google Shape;309;p21"/>
              <p:cNvSpPr txBox="1"/>
              <p:nvPr/>
            </p:nvSpPr>
            <p:spPr>
              <a:xfrm>
                <a:off x="333375" y="0"/>
                <a:ext cx="4238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Class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10" name="Google Shape;310;p21"/>
            <p:cNvGrpSpPr/>
            <p:nvPr/>
          </p:nvGrpSpPr>
          <p:grpSpPr>
            <a:xfrm>
              <a:off x="1047750" y="3143250"/>
              <a:ext cx="4572075" cy="381000"/>
              <a:chOff x="0" y="0"/>
              <a:chExt cx="4572075" cy="381000"/>
            </a:xfrm>
          </p:grpSpPr>
          <p:grpSp>
            <p:nvGrpSpPr>
              <p:cNvPr id="311" name="Google Shape;311;p21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312" name="Google Shape;312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" name="Google Shape;313;p21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4" name="Google Shape;314;p21"/>
              <p:cNvSpPr txBox="1"/>
              <p:nvPr/>
            </p:nvSpPr>
            <p:spPr>
              <a:xfrm>
                <a:off x="333375" y="0"/>
                <a:ext cx="4238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Object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15" name="Google Shape;315;p21"/>
            <p:cNvGrpSpPr/>
            <p:nvPr/>
          </p:nvGrpSpPr>
          <p:grpSpPr>
            <a:xfrm>
              <a:off x="1047750" y="3905250"/>
              <a:ext cx="4572075" cy="381000"/>
              <a:chOff x="0" y="0"/>
              <a:chExt cx="4572075" cy="381000"/>
            </a:xfrm>
          </p:grpSpPr>
          <p:grpSp>
            <p:nvGrpSpPr>
              <p:cNvPr id="316" name="Google Shape;316;p21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317" name="Google Shape;317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" name="Google Shape;318;p21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19" name="Google Shape;319;p21"/>
              <p:cNvSpPr txBox="1"/>
              <p:nvPr/>
            </p:nvSpPr>
            <p:spPr>
              <a:xfrm>
                <a:off x="333375" y="0"/>
                <a:ext cx="4238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Attributes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20" name="Google Shape;320;p21"/>
            <p:cNvGrpSpPr/>
            <p:nvPr/>
          </p:nvGrpSpPr>
          <p:grpSpPr>
            <a:xfrm>
              <a:off x="1047750" y="4667250"/>
              <a:ext cx="4572075" cy="381000"/>
              <a:chOff x="0" y="0"/>
              <a:chExt cx="4572075" cy="381000"/>
            </a:xfrm>
          </p:grpSpPr>
          <p:grpSp>
            <p:nvGrpSpPr>
              <p:cNvPr id="321" name="Google Shape;321;p21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322" name="Google Shape;322;p2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21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24" name="Google Shape;324;p21"/>
              <p:cNvSpPr txBox="1"/>
              <p:nvPr/>
            </p:nvSpPr>
            <p:spPr>
              <a:xfrm>
                <a:off x="333375" y="0"/>
                <a:ext cx="4238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Methods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grpSp>
        <p:nvGrpSpPr>
          <p:cNvPr id="325" name="Google Shape;325;p21"/>
          <p:cNvGrpSpPr/>
          <p:nvPr/>
        </p:nvGrpSpPr>
        <p:grpSpPr>
          <a:xfrm>
            <a:off x="6286500" y="1428750"/>
            <a:ext cx="5143500" cy="4381500"/>
            <a:chOff x="6286500" y="1428750"/>
            <a:chExt cx="5143500" cy="4381500"/>
          </a:xfrm>
        </p:grpSpPr>
        <p:sp>
          <p:nvSpPr>
            <p:cNvPr id="326" name="Google Shape;326;p21"/>
            <p:cNvSpPr/>
            <p:nvPr/>
          </p:nvSpPr>
          <p:spPr>
            <a:xfrm>
              <a:off x="6286500" y="1428750"/>
              <a:ext cx="5143500" cy="4381500"/>
            </a:xfrm>
            <a:prstGeom prst="roundRect">
              <a:avLst>
                <a:gd fmla="val 260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6286500" y="142875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6572250" y="1762125"/>
              <a:ext cx="457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ADVANCED CONCEPTS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29" name="Google Shape;329;p21"/>
            <p:cNvGrpSpPr/>
            <p:nvPr/>
          </p:nvGrpSpPr>
          <p:grpSpPr>
            <a:xfrm>
              <a:off x="6610350" y="2381250"/>
              <a:ext cx="4533975" cy="381000"/>
              <a:chOff x="38100" y="0"/>
              <a:chExt cx="4533975" cy="381000"/>
            </a:xfrm>
          </p:grpSpPr>
          <p:sp>
            <p:nvSpPr>
              <p:cNvPr id="330" name="Google Shape;330;p21"/>
              <p:cNvSpPr/>
              <p:nvPr/>
            </p:nvSpPr>
            <p:spPr>
              <a:xfrm>
                <a:off x="3810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21"/>
              <p:cNvSpPr txBox="1"/>
              <p:nvPr/>
            </p:nvSpPr>
            <p:spPr>
              <a:xfrm>
                <a:off x="333375" y="0"/>
                <a:ext cx="4238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Encapsulation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32" name="Google Shape;332;p21"/>
            <p:cNvGrpSpPr/>
            <p:nvPr/>
          </p:nvGrpSpPr>
          <p:grpSpPr>
            <a:xfrm>
              <a:off x="6610350" y="3143250"/>
              <a:ext cx="4533975" cy="381000"/>
              <a:chOff x="38100" y="0"/>
              <a:chExt cx="4533975" cy="381000"/>
            </a:xfrm>
          </p:grpSpPr>
          <p:sp>
            <p:nvSpPr>
              <p:cNvPr id="333" name="Google Shape;333;p21"/>
              <p:cNvSpPr/>
              <p:nvPr/>
            </p:nvSpPr>
            <p:spPr>
              <a:xfrm>
                <a:off x="3810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21"/>
              <p:cNvSpPr txBox="1"/>
              <p:nvPr/>
            </p:nvSpPr>
            <p:spPr>
              <a:xfrm>
                <a:off x="333375" y="0"/>
                <a:ext cx="4238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Inheritance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35" name="Google Shape;335;p21"/>
            <p:cNvGrpSpPr/>
            <p:nvPr/>
          </p:nvGrpSpPr>
          <p:grpSpPr>
            <a:xfrm>
              <a:off x="6610350" y="3905250"/>
              <a:ext cx="4533975" cy="381000"/>
              <a:chOff x="38100" y="0"/>
              <a:chExt cx="4533975" cy="381000"/>
            </a:xfrm>
          </p:grpSpPr>
          <p:sp>
            <p:nvSpPr>
              <p:cNvPr id="336" name="Google Shape;336;p21"/>
              <p:cNvSpPr/>
              <p:nvPr/>
            </p:nvSpPr>
            <p:spPr>
              <a:xfrm>
                <a:off x="3810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21"/>
              <p:cNvSpPr txBox="1"/>
              <p:nvPr/>
            </p:nvSpPr>
            <p:spPr>
              <a:xfrm>
                <a:off x="333375" y="0"/>
                <a:ext cx="4238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Polymorphism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  <p:grpSp>
          <p:nvGrpSpPr>
            <p:cNvPr id="338" name="Google Shape;338;p21"/>
            <p:cNvGrpSpPr/>
            <p:nvPr/>
          </p:nvGrpSpPr>
          <p:grpSpPr>
            <a:xfrm>
              <a:off x="6610350" y="4667250"/>
              <a:ext cx="4533975" cy="381000"/>
              <a:chOff x="38100" y="0"/>
              <a:chExt cx="4533975" cy="381000"/>
            </a:xfrm>
          </p:grpSpPr>
          <p:sp>
            <p:nvSpPr>
              <p:cNvPr id="339" name="Google Shape;339;p21"/>
              <p:cNvSpPr/>
              <p:nvPr/>
            </p:nvSpPr>
            <p:spPr>
              <a:xfrm>
                <a:off x="3810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21"/>
              <p:cNvSpPr txBox="1"/>
              <p:nvPr/>
            </p:nvSpPr>
            <p:spPr>
              <a:xfrm>
                <a:off x="333375" y="0"/>
                <a:ext cx="4238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Abstraction</a:t>
                </a:r>
                <a:endParaRPr b="0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</p:grpSp>
      </p:grpSp>
      <p:sp>
        <p:nvSpPr>
          <p:cNvPr id="341" name="Google Shape;341;p21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Object-Oriented Programming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a Class?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49" name="Google Shape;349;p22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0" name="Google Shape;350;p22"/>
          <p:cNvGrpSpPr/>
          <p:nvPr/>
        </p:nvGrpSpPr>
        <p:grpSpPr>
          <a:xfrm>
            <a:off x="762000" y="1524000"/>
            <a:ext cx="5143500" cy="3619650"/>
            <a:chOff x="0" y="0"/>
            <a:chExt cx="5143500" cy="3619650"/>
          </a:xfrm>
        </p:grpSpPr>
        <p:sp>
          <p:nvSpPr>
            <p:cNvPr id="351" name="Google Shape;351;p22"/>
            <p:cNvSpPr txBox="1"/>
            <p:nvPr/>
          </p:nvSpPr>
          <p:spPr>
            <a:xfrm>
              <a:off x="0" y="0"/>
              <a:ext cx="5143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88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 </a:t>
              </a:r>
              <a:r>
                <a:rPr b="0" lang="en" sz="1388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Class</a:t>
              </a:r>
              <a:r>
                <a:rPr b="0" lang="en" sz="1388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is a template or blueprint used to create individual objects. It serves as the master design in object-oriented programming.</a:t>
              </a:r>
              <a:endParaRPr b="0" sz="1388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2" name="Google Shape;352;p22"/>
            <p:cNvGrpSpPr/>
            <p:nvPr/>
          </p:nvGrpSpPr>
          <p:grpSpPr>
            <a:xfrm>
              <a:off x="0" y="857250"/>
              <a:ext cx="5143500" cy="1381275"/>
              <a:chOff x="0" y="0"/>
              <a:chExt cx="5143500" cy="1381275"/>
            </a:xfrm>
          </p:grpSpPr>
          <p:sp>
            <p:nvSpPr>
              <p:cNvPr id="353" name="Google Shape;353;p22"/>
              <p:cNvSpPr txBox="1"/>
              <p:nvPr/>
            </p:nvSpPr>
            <p:spPr>
              <a:xfrm>
                <a:off x="0" y="0"/>
                <a:ext cx="5143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CORE COMPONENTS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354" name="Google Shape;354;p22"/>
              <p:cNvGrpSpPr/>
              <p:nvPr/>
            </p:nvGrpSpPr>
            <p:grpSpPr>
              <a:xfrm>
                <a:off x="0" y="333375"/>
                <a:ext cx="5143425" cy="476400"/>
                <a:chOff x="0" y="0"/>
                <a:chExt cx="5143425" cy="476400"/>
              </a:xfrm>
            </p:grpSpPr>
            <p:sp>
              <p:nvSpPr>
                <p:cNvPr id="355" name="Google Shape;355;p22"/>
                <p:cNvSpPr/>
                <p:nvPr/>
              </p:nvSpPr>
              <p:spPr>
                <a:xfrm>
                  <a:off x="0" y="5715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6" name="Google Shape;356;p22"/>
                <p:cNvSpPr txBox="1"/>
                <p:nvPr/>
              </p:nvSpPr>
              <p:spPr>
                <a:xfrm>
                  <a:off x="238125" y="0"/>
                  <a:ext cx="49053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Data (Attributes):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The state, properties, or variables defined for the class.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357" name="Google Shape;357;p22"/>
              <p:cNvGrpSpPr/>
              <p:nvPr/>
            </p:nvGrpSpPr>
            <p:grpSpPr>
              <a:xfrm>
                <a:off x="0" y="904875"/>
                <a:ext cx="5143425" cy="476400"/>
                <a:chOff x="0" y="0"/>
                <a:chExt cx="5143425" cy="476400"/>
              </a:xfrm>
            </p:grpSpPr>
            <p:sp>
              <p:nvSpPr>
                <p:cNvPr id="358" name="Google Shape;358;p22"/>
                <p:cNvSpPr/>
                <p:nvPr/>
              </p:nvSpPr>
              <p:spPr>
                <a:xfrm>
                  <a:off x="0" y="57150"/>
                  <a:ext cx="114300" cy="1143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9" name="Google Shape;359;p22"/>
                <p:cNvSpPr txBox="1"/>
                <p:nvPr/>
              </p:nvSpPr>
              <p:spPr>
                <a:xfrm>
                  <a:off x="238125" y="0"/>
                  <a:ext cx="4905300" cy="476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Behaviors (Methods):</a:t>
                  </a: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The functions or actions that objects of the class can execute.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  <p:grpSp>
          <p:nvGrpSpPr>
            <p:cNvPr id="360" name="Google Shape;360;p22"/>
            <p:cNvGrpSpPr/>
            <p:nvPr/>
          </p:nvGrpSpPr>
          <p:grpSpPr>
            <a:xfrm>
              <a:off x="0" y="2428875"/>
              <a:ext cx="5143500" cy="1190775"/>
              <a:chOff x="0" y="0"/>
              <a:chExt cx="5143500" cy="1190775"/>
            </a:xfrm>
          </p:grpSpPr>
          <p:sp>
            <p:nvSpPr>
              <p:cNvPr id="361" name="Google Shape;361;p22"/>
              <p:cNvSpPr txBox="1"/>
              <p:nvPr/>
            </p:nvSpPr>
            <p:spPr>
              <a:xfrm>
                <a:off x="0" y="0"/>
                <a:ext cx="51435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PRACTICAL METAPHOR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grpSp>
            <p:nvGrpSpPr>
              <p:cNvPr id="362" name="Google Shape;362;p22"/>
              <p:cNvGrpSpPr/>
              <p:nvPr/>
            </p:nvGrpSpPr>
            <p:grpSpPr>
              <a:xfrm>
                <a:off x="0" y="333375"/>
                <a:ext cx="5143500" cy="857400"/>
                <a:chOff x="0" y="0"/>
                <a:chExt cx="5143500" cy="857400"/>
              </a:xfrm>
            </p:grpSpPr>
            <p:sp>
              <p:nvSpPr>
                <p:cNvPr id="363" name="Google Shape;363;p22"/>
                <p:cNvSpPr/>
                <p:nvPr/>
              </p:nvSpPr>
              <p:spPr>
                <a:xfrm>
                  <a:off x="0" y="0"/>
                  <a:ext cx="5143500" cy="857400"/>
                </a:xfrm>
                <a:prstGeom prst="roundRect">
                  <a:avLst>
                    <a:gd fmla="val 8888" name="adj"/>
                  </a:avLst>
                </a:prstGeom>
                <a:solidFill>
                  <a:srgbClr val="F1F5F9"/>
                </a:solidFill>
                <a:ln cap="flat" cmpd="sng" w="9525">
                  <a:solidFill>
                    <a:srgbClr val="E2E8F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4" name="Google Shape;364;p22"/>
                <p:cNvSpPr/>
                <p:nvPr/>
              </p:nvSpPr>
              <p:spPr>
                <a:xfrm>
                  <a:off x="0" y="0"/>
                  <a:ext cx="57300" cy="857400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65" name="Google Shape;365;p22"/>
                <p:cNvSpPr txBox="1"/>
                <p:nvPr/>
              </p:nvSpPr>
              <p:spPr>
                <a:xfrm>
                  <a:off x="238125" y="142875"/>
                  <a:ext cx="46674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75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Example:</a:t>
                  </a:r>
                  <a:r>
                    <a:rPr b="0" lang="en" sz="1105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A </a:t>
                  </a:r>
                  <a:r>
                    <a:rPr b="0" lang="en" sz="1105">
                      <a:solidFill>
                        <a:srgbClr val="0B7A4B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Student</a:t>
                  </a:r>
                  <a:r>
                    <a:rPr b="0" lang="en" sz="1105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 class defines what fields (such as name or GPA) and actions (such as study or register) every individual student object will have.</a:t>
                  </a:r>
                  <a:endParaRPr b="0" sz="1105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grpSp>
        <p:nvGrpSpPr>
          <p:cNvPr id="366" name="Google Shape;366;p22"/>
          <p:cNvGrpSpPr/>
          <p:nvPr/>
        </p:nvGrpSpPr>
        <p:grpSpPr>
          <a:xfrm>
            <a:off x="6286500" y="1524000"/>
            <a:ext cx="5143500" cy="4191000"/>
            <a:chOff x="0" y="0"/>
            <a:chExt cx="5143500" cy="4191000"/>
          </a:xfrm>
        </p:grpSpPr>
        <p:sp>
          <p:nvSpPr>
            <p:cNvPr id="367" name="Google Shape;367;p22"/>
            <p:cNvSpPr/>
            <p:nvPr/>
          </p:nvSpPr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68" name="Google Shape;368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noFill/>
            <a:ln>
              <a:noFill/>
            </a:ln>
          </p:spPr>
        </p:pic>
        <p:sp>
          <p:nvSpPr>
            <p:cNvPr id="369" name="Google Shape;369;p22"/>
            <p:cNvSpPr txBox="1"/>
            <p:nvPr/>
          </p:nvSpPr>
          <p:spPr>
            <a:xfrm>
              <a:off x="0" y="4000500"/>
              <a:ext cx="5143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Class Blueprint Metaphor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70" name="Google Shape;370;p22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Classes &amp; Objects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6" name="Google Shape;376;p23"/>
          <p:cNvGrpSpPr/>
          <p:nvPr/>
        </p:nvGrpSpPr>
        <p:grpSpPr>
          <a:xfrm>
            <a:off x="762000" y="571500"/>
            <a:ext cx="10668000" cy="571650"/>
            <a:chOff x="762000" y="571500"/>
            <a:chExt cx="10668000" cy="571650"/>
          </a:xfrm>
        </p:grpSpPr>
        <p:sp>
          <p:nvSpPr>
            <p:cNvPr id="377" name="Google Shape;377;p23"/>
            <p:cNvSpPr txBox="1"/>
            <p:nvPr/>
          </p:nvSpPr>
          <p:spPr>
            <a:xfrm>
              <a:off x="762000" y="57150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What is an Object?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78" name="Google Shape;378;p23"/>
            <p:cNvSpPr/>
            <p:nvPr/>
          </p:nvSpPr>
          <p:spPr>
            <a:xfrm>
              <a:off x="762000" y="1123950"/>
              <a:ext cx="10668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9" name="Google Shape;379;p23"/>
          <p:cNvGrpSpPr/>
          <p:nvPr/>
        </p:nvGrpSpPr>
        <p:grpSpPr>
          <a:xfrm>
            <a:off x="762000" y="1524000"/>
            <a:ext cx="5143500" cy="3857700"/>
            <a:chOff x="0" y="0"/>
            <a:chExt cx="5143500" cy="3857700"/>
          </a:xfrm>
        </p:grpSpPr>
        <p:sp>
          <p:nvSpPr>
            <p:cNvPr id="380" name="Google Shape;380;p23"/>
            <p:cNvSpPr/>
            <p:nvPr/>
          </p:nvSpPr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3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285750" y="238125"/>
              <a:ext cx="4572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Core Concept</a:t>
              </a:r>
              <a:endParaRPr b="1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Definition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An Object is an instance of a class.</a:t>
              </a:r>
              <a:endParaRPr b="0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Structure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Each object has its own values but follows the same structure.</a:t>
              </a:r>
              <a:endParaRPr b="0" sz="14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83" name="Google Shape;383;p23"/>
            <p:cNvGrpSpPr/>
            <p:nvPr/>
          </p:nvGrpSpPr>
          <p:grpSpPr>
            <a:xfrm>
              <a:off x="285750" y="2524125"/>
              <a:ext cx="4572000" cy="1047900"/>
              <a:chOff x="0" y="0"/>
              <a:chExt cx="4572000" cy="1047900"/>
            </a:xfrm>
          </p:grpSpPr>
          <p:sp>
            <p:nvSpPr>
              <p:cNvPr id="384" name="Google Shape;384;p23"/>
              <p:cNvSpPr/>
              <p:nvPr/>
            </p:nvSpPr>
            <p:spPr>
              <a:xfrm>
                <a:off x="0" y="0"/>
                <a:ext cx="4572000" cy="1047900"/>
              </a:xfrm>
              <a:prstGeom prst="roundRect">
                <a:avLst>
                  <a:gd fmla="val 7272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23"/>
              <p:cNvSpPr/>
              <p:nvPr/>
            </p:nvSpPr>
            <p:spPr>
              <a:xfrm>
                <a:off x="0" y="0"/>
                <a:ext cx="57300" cy="10479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23"/>
              <p:cNvSpPr txBox="1"/>
              <p:nvPr/>
            </p:nvSpPr>
            <p:spPr>
              <a:xfrm>
                <a:off x="238125" y="142875"/>
                <a:ext cx="4095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Example Relationship</a:t>
                </a:r>
                <a:endParaRPr b="1" sz="11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Class</a:t>
                </a:r>
                <a:r>
                  <a:rPr lang="en" sz="1300">
                    <a:solidFill>
                      <a:srgbClr val="1F2937"/>
                    </a:solidFill>
                    <a:latin typeface="Inter"/>
                    <a:ea typeface="Inter"/>
                    <a:cs typeface="Inter"/>
                    <a:sym typeface="Inter"/>
                  </a:rPr>
                  <a:t> Student</a:t>
                </a:r>
                <a:endParaRPr sz="13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Objects</a:t>
                </a:r>
                <a:r>
                  <a:rPr lang="en" sz="1300">
                    <a:solidFill>
                      <a:srgbClr val="1F2937"/>
                    </a:solidFill>
                    <a:latin typeface="Inter"/>
                    <a:ea typeface="Inter"/>
                    <a:cs typeface="Inter"/>
                    <a:sym typeface="Inter"/>
                  </a:rPr>
                  <a:t> Ali, Ahmed, Sara</a:t>
                </a:r>
                <a:endParaRPr sz="13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87" name="Google Shape;387;p23"/>
          <p:cNvGrpSpPr/>
          <p:nvPr/>
        </p:nvGrpSpPr>
        <p:grpSpPr>
          <a:xfrm>
            <a:off x="6286500" y="1524000"/>
            <a:ext cx="5143500" cy="3857700"/>
            <a:chOff x="0" y="0"/>
            <a:chExt cx="5143500" cy="3857700"/>
          </a:xfrm>
        </p:grpSpPr>
        <p:sp>
          <p:nvSpPr>
            <p:cNvPr id="388" name="Google Shape;388;p23"/>
            <p:cNvSpPr/>
            <p:nvPr/>
          </p:nvSpPr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9" name="Google Shape;389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5143500" cy="3857700"/>
            </a:xfrm>
            <a:prstGeom prst="roundRect">
              <a:avLst>
                <a:gd fmla="val 2962" name="adj"/>
              </a:avLst>
            </a:prstGeom>
            <a:noFill/>
            <a:ln>
              <a:noFill/>
            </a:ln>
          </p:spPr>
        </p:pic>
      </p:grpSp>
      <p:sp>
        <p:nvSpPr>
          <p:cNvPr id="390" name="Google Shape;390;p23"/>
          <p:cNvSpPr txBox="1"/>
          <p:nvPr/>
        </p:nvSpPr>
        <p:spPr>
          <a:xfrm>
            <a:off x="6286500" y="5476875"/>
            <a:ext cx="5143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Visual Metaphor: Class Blueprint to House Instances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23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Objects &amp; Classes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4"/>
          <p:cNvGrpSpPr/>
          <p:nvPr/>
        </p:nvGrpSpPr>
        <p:grpSpPr>
          <a:xfrm>
            <a:off x="762000" y="571500"/>
            <a:ext cx="10668000" cy="571650"/>
            <a:chOff x="762000" y="571500"/>
            <a:chExt cx="10668000" cy="571650"/>
          </a:xfrm>
        </p:grpSpPr>
        <p:sp>
          <p:nvSpPr>
            <p:cNvPr id="398" name="Google Shape;398;p24"/>
            <p:cNvSpPr txBox="1"/>
            <p:nvPr/>
          </p:nvSpPr>
          <p:spPr>
            <a:xfrm>
              <a:off x="762000" y="57150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Creating a Class in Python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762000" y="1123950"/>
              <a:ext cx="10668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24"/>
          <p:cNvGrpSpPr/>
          <p:nvPr/>
        </p:nvGrpSpPr>
        <p:grpSpPr>
          <a:xfrm>
            <a:off x="762000" y="1524000"/>
            <a:ext cx="10668000" cy="1619100"/>
            <a:chOff x="0" y="0"/>
            <a:chExt cx="10668000" cy="1619100"/>
          </a:xfrm>
        </p:grpSpPr>
        <p:sp>
          <p:nvSpPr>
            <p:cNvPr id="401" name="Google Shape;401;p24"/>
            <p:cNvSpPr/>
            <p:nvPr/>
          </p:nvSpPr>
          <p:spPr>
            <a:xfrm>
              <a:off x="0" y="0"/>
              <a:ext cx="10668000" cy="1619100"/>
            </a:xfrm>
            <a:prstGeom prst="roundRect">
              <a:avLst>
                <a:gd fmla="val 4705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0" y="0"/>
              <a:ext cx="76200" cy="16191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4"/>
            <p:cNvSpPr txBox="1"/>
            <p:nvPr/>
          </p:nvSpPr>
          <p:spPr>
            <a:xfrm>
              <a:off x="285750" y="190500"/>
              <a:ext cx="10096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PYTHON CODE EXAMPLE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04" name="Google Shape;404;p24"/>
            <p:cNvSpPr txBox="1"/>
            <p:nvPr/>
          </p:nvSpPr>
          <p:spPr>
            <a:xfrm>
              <a:off x="285750" y="571500"/>
              <a:ext cx="10096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B7A4B"/>
                  </a:solidFill>
                  <a:latin typeface="Consolas"/>
                  <a:ea typeface="Consolas"/>
                  <a:cs typeface="Consolas"/>
                  <a:sym typeface="Consolas"/>
                </a:rPr>
                <a:t>class</a:t>
              </a:r>
              <a:r>
                <a:rPr b="0" lang="en" sz="16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rPr>
                <a:t> Student:</a:t>
              </a:r>
              <a:endParaRPr b="0" sz="16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B7A4B"/>
                  </a:solidFill>
                  <a:latin typeface="Consolas"/>
                  <a:ea typeface="Consolas"/>
                  <a:cs typeface="Consolas"/>
                  <a:sym typeface="Consolas"/>
                </a:rPr>
                <a:t>pass</a:t>
              </a:r>
              <a:endParaRPr b="0" sz="1600">
                <a:solidFill>
                  <a:srgbClr val="1F2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05" name="Google Shape;405;p24"/>
          <p:cNvGrpSpPr/>
          <p:nvPr/>
        </p:nvGrpSpPr>
        <p:grpSpPr>
          <a:xfrm>
            <a:off x="762000" y="3429000"/>
            <a:ext cx="10649100" cy="2190900"/>
            <a:chOff x="762000" y="0"/>
            <a:chExt cx="10649100" cy="2190900"/>
          </a:xfrm>
        </p:grpSpPr>
        <p:grpSp>
          <p:nvGrpSpPr>
            <p:cNvPr id="406" name="Google Shape;406;p24"/>
            <p:cNvGrpSpPr/>
            <p:nvPr/>
          </p:nvGrpSpPr>
          <p:grpSpPr>
            <a:xfrm>
              <a:off x="762000" y="0"/>
              <a:ext cx="3295800" cy="2190900"/>
              <a:chOff x="0" y="0"/>
              <a:chExt cx="3295800" cy="2190900"/>
            </a:xfrm>
          </p:grpSpPr>
          <p:sp>
            <p:nvSpPr>
              <p:cNvPr id="407" name="Google Shape;407;p24"/>
              <p:cNvSpPr/>
              <p:nvPr/>
            </p:nvSpPr>
            <p:spPr>
              <a:xfrm>
                <a:off x="0" y="0"/>
                <a:ext cx="3295800" cy="2190900"/>
              </a:xfrm>
              <a:prstGeom prst="roundRect">
                <a:avLst>
                  <a:gd fmla="val 52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4"/>
              <p:cNvSpPr/>
              <p:nvPr/>
            </p:nvSpPr>
            <p:spPr>
              <a:xfrm>
                <a:off x="0" y="0"/>
                <a:ext cx="3295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4"/>
              <p:cNvSpPr txBox="1"/>
              <p:nvPr/>
            </p:nvSpPr>
            <p:spPr>
              <a:xfrm>
                <a:off x="238125" y="238125"/>
                <a:ext cx="2819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0B7A4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class</a:t>
                </a:r>
                <a:endParaRPr b="1" sz="16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10" name="Google Shape;410;p24"/>
              <p:cNvSpPr txBox="1"/>
              <p:nvPr/>
            </p:nvSpPr>
            <p:spPr>
              <a:xfrm>
                <a:off x="238125" y="762000"/>
                <a:ext cx="28194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keyword creates a class.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11" name="Google Shape;411;p24"/>
            <p:cNvGrpSpPr/>
            <p:nvPr/>
          </p:nvGrpSpPr>
          <p:grpSpPr>
            <a:xfrm>
              <a:off x="4438650" y="0"/>
              <a:ext cx="3295800" cy="2190900"/>
              <a:chOff x="0" y="0"/>
              <a:chExt cx="3295800" cy="2190900"/>
            </a:xfrm>
          </p:grpSpPr>
          <p:sp>
            <p:nvSpPr>
              <p:cNvPr id="412" name="Google Shape;412;p24"/>
              <p:cNvSpPr/>
              <p:nvPr/>
            </p:nvSpPr>
            <p:spPr>
              <a:xfrm>
                <a:off x="0" y="0"/>
                <a:ext cx="3295800" cy="2190900"/>
              </a:xfrm>
              <a:prstGeom prst="roundRect">
                <a:avLst>
                  <a:gd fmla="val 52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4"/>
              <p:cNvSpPr/>
              <p:nvPr/>
            </p:nvSpPr>
            <p:spPr>
              <a:xfrm>
                <a:off x="0" y="0"/>
                <a:ext cx="3295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4"/>
              <p:cNvSpPr txBox="1"/>
              <p:nvPr/>
            </p:nvSpPr>
            <p:spPr>
              <a:xfrm>
                <a:off x="238125" y="238125"/>
                <a:ext cx="2819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1F293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Student</a:t>
                </a:r>
                <a:endParaRPr b="1" sz="16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15" name="Google Shape;415;p24"/>
              <p:cNvSpPr txBox="1"/>
              <p:nvPr/>
            </p:nvSpPr>
            <p:spPr>
              <a:xfrm>
                <a:off x="238125" y="762000"/>
                <a:ext cx="28194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is the class name.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16" name="Google Shape;416;p24"/>
            <p:cNvGrpSpPr/>
            <p:nvPr/>
          </p:nvGrpSpPr>
          <p:grpSpPr>
            <a:xfrm>
              <a:off x="8115300" y="0"/>
              <a:ext cx="3295800" cy="2190900"/>
              <a:chOff x="0" y="0"/>
              <a:chExt cx="3295800" cy="2190900"/>
            </a:xfrm>
          </p:grpSpPr>
          <p:sp>
            <p:nvSpPr>
              <p:cNvPr id="417" name="Google Shape;417;p24"/>
              <p:cNvSpPr/>
              <p:nvPr/>
            </p:nvSpPr>
            <p:spPr>
              <a:xfrm>
                <a:off x="0" y="0"/>
                <a:ext cx="3295800" cy="2190900"/>
              </a:xfrm>
              <a:prstGeom prst="roundRect">
                <a:avLst>
                  <a:gd fmla="val 52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4"/>
              <p:cNvSpPr/>
              <p:nvPr/>
            </p:nvSpPr>
            <p:spPr>
              <a:xfrm>
                <a:off x="0" y="0"/>
                <a:ext cx="3295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4"/>
              <p:cNvSpPr txBox="1"/>
              <p:nvPr/>
            </p:nvSpPr>
            <p:spPr>
              <a:xfrm>
                <a:off x="238125" y="238125"/>
                <a:ext cx="2819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0B7A4B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pass</a:t>
                </a:r>
                <a:endParaRPr b="1" sz="16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20" name="Google Shape;420;p24"/>
              <p:cNvSpPr txBox="1"/>
              <p:nvPr/>
            </p:nvSpPr>
            <p:spPr>
              <a:xfrm>
                <a:off x="238125" y="762000"/>
                <a:ext cx="2819400" cy="123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means the class is currently empty.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421" name="Google Shape;421;p24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Creating Objects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0" name="Google Shape;430;p25"/>
          <p:cNvGrpSpPr/>
          <p:nvPr/>
        </p:nvGrpSpPr>
        <p:grpSpPr>
          <a:xfrm>
            <a:off x="762000" y="1524000"/>
            <a:ext cx="5143500" cy="4000500"/>
            <a:chOff x="0" y="0"/>
            <a:chExt cx="5143500" cy="4000500"/>
          </a:xfrm>
        </p:grpSpPr>
        <p:sp>
          <p:nvSpPr>
            <p:cNvPr id="431" name="Google Shape;431;p25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5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49999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5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CODE SNIPPET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4" name="Google Shape;434;p25"/>
            <p:cNvSpPr txBox="1"/>
            <p:nvPr/>
          </p:nvSpPr>
          <p:spPr>
            <a:xfrm>
              <a:off x="238125" y="714375"/>
              <a:ext cx="46674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class</a:t>
              </a:r>
              <a:r>
                <a:rPr b="0" lang="en" sz="15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 Student:</a:t>
              </a:r>
              <a:endParaRPr b="0" sz="150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B7A4B"/>
                  </a:solidFill>
                  <a:latin typeface="Courier"/>
                  <a:ea typeface="Courier"/>
                  <a:cs typeface="Courier"/>
                  <a:sym typeface="Courier"/>
                </a:rPr>
                <a:t>pass</a:t>
              </a:r>
              <a:endParaRPr b="0" sz="150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std1 = Student()</a:t>
              </a:r>
              <a:endParaRPr b="0" sz="150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Courier"/>
                  <a:ea typeface="Courier"/>
                  <a:cs typeface="Courier"/>
                  <a:sym typeface="Courier"/>
                </a:rPr>
                <a:t>std2 = Student()</a:t>
              </a:r>
              <a:endParaRPr b="0" sz="1500">
                <a:solidFill>
                  <a:srgbClr val="1F2937"/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grpSp>
        <p:nvGrpSpPr>
          <p:cNvPr id="435" name="Google Shape;435;p25"/>
          <p:cNvGrpSpPr/>
          <p:nvPr/>
        </p:nvGrpSpPr>
        <p:grpSpPr>
          <a:xfrm>
            <a:off x="6286500" y="1524000"/>
            <a:ext cx="5143500" cy="4000500"/>
            <a:chOff x="0" y="0"/>
            <a:chExt cx="5143500" cy="4000500"/>
          </a:xfrm>
        </p:grpSpPr>
        <p:sp>
          <p:nvSpPr>
            <p:cNvPr id="436" name="Google Shape;436;p25"/>
            <p:cNvSpPr/>
            <p:nvPr/>
          </p:nvSpPr>
          <p:spPr>
            <a:xfrm>
              <a:off x="0" y="0"/>
              <a:ext cx="51435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5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5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EXPLANATION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39" name="Google Shape;439;p25"/>
            <p:cNvSpPr txBox="1"/>
            <p:nvPr/>
          </p:nvSpPr>
          <p:spPr>
            <a:xfrm>
              <a:off x="238125" y="714375"/>
              <a:ext cx="4667400" cy="30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Instantiation in Memory</a:t>
              </a:r>
              <a:endParaRPr b="0" sz="16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Distinct Instances</a:t>
              </a:r>
              <a:endParaRPr b="0" sz="14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Two separate objects are created. Both belong to the </a:t>
              </a:r>
              <a:r>
                <a:rPr b="0" lang="en" sz="1250">
                  <a:solidFill>
                    <a:srgbClr val="374151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Student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class blueprint, but they exist independently in memory.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Independent States</a:t>
              </a:r>
              <a:endParaRPr b="0" sz="14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Modifying attributes or variables within </a:t>
              </a:r>
              <a:r>
                <a:rPr b="0" lang="en" sz="1250">
                  <a:solidFill>
                    <a:srgbClr val="374151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std1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does not affect the state of </a:t>
              </a:r>
              <a:r>
                <a:rPr b="0" lang="en" sz="1250">
                  <a:solidFill>
                    <a:srgbClr val="374151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std2</a:t>
              </a:r>
              <a:r>
                <a:rPr b="0" lang="en" sz="135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35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40" name="Google Shape;440;p25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Constructor (init)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8" name="Google Shape;448;p2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762000" y="1381125"/>
            <a:ext cx="10668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constructor initializes object data automatically.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50" name="Google Shape;450;p26"/>
          <p:cNvGrpSpPr/>
          <p:nvPr/>
        </p:nvGrpSpPr>
        <p:grpSpPr>
          <a:xfrm>
            <a:off x="762000" y="1905000"/>
            <a:ext cx="10668000" cy="2286000"/>
            <a:chOff x="0" y="0"/>
            <a:chExt cx="10668000" cy="2286000"/>
          </a:xfrm>
        </p:grpSpPr>
        <p:sp>
          <p:nvSpPr>
            <p:cNvPr id="451" name="Google Shape;451;p26"/>
            <p:cNvSpPr/>
            <p:nvPr/>
          </p:nvSpPr>
          <p:spPr>
            <a:xfrm>
              <a:off x="0" y="0"/>
              <a:ext cx="10668000" cy="2286000"/>
            </a:xfrm>
            <a:prstGeom prst="roundRect">
              <a:avLst>
                <a:gd fmla="val 3333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0" y="0"/>
              <a:ext cx="76200" cy="22860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6"/>
            <p:cNvSpPr txBox="1"/>
            <p:nvPr/>
          </p:nvSpPr>
          <p:spPr>
            <a:xfrm>
              <a:off x="381000" y="238125"/>
              <a:ext cx="9906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EXAMPLE CODE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4" name="Google Shape;454;p26"/>
            <p:cNvSpPr txBox="1"/>
            <p:nvPr/>
          </p:nvSpPr>
          <p:spPr>
            <a:xfrm>
              <a:off x="381000" y="666750"/>
              <a:ext cx="9906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class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Student: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def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__init__(self, name):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self.name = name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455" name="Google Shape;455;p26"/>
          <p:cNvGrpSpPr/>
          <p:nvPr/>
        </p:nvGrpSpPr>
        <p:grpSpPr>
          <a:xfrm>
            <a:off x="762000" y="4524375"/>
            <a:ext cx="10668000" cy="809700"/>
            <a:chOff x="0" y="0"/>
            <a:chExt cx="10668000" cy="809700"/>
          </a:xfrm>
        </p:grpSpPr>
        <p:sp>
          <p:nvSpPr>
            <p:cNvPr id="456" name="Google Shape;456;p26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6"/>
            <p:cNvSpPr txBox="1"/>
            <p:nvPr/>
          </p:nvSpPr>
          <p:spPr>
            <a:xfrm>
              <a:off x="190500" y="0"/>
              <a:ext cx="1047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KEY TAKEAWAY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58" name="Google Shape;458;p26"/>
            <p:cNvSpPr txBox="1"/>
            <p:nvPr/>
          </p:nvSpPr>
          <p:spPr>
            <a:xfrm>
              <a:off x="190500" y="285750"/>
              <a:ext cx="1047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Whenever an object is created, </a:t>
              </a:r>
              <a:r>
                <a:rPr b="0" lang="en" sz="1700">
                  <a:solidFill>
                    <a:srgbClr val="045A36"/>
                  </a:solidFill>
                  <a:latin typeface="Arial"/>
                  <a:ea typeface="Arial"/>
                  <a:cs typeface="Arial"/>
                  <a:sym typeface="Arial"/>
                </a:rPr>
                <a:t>__init__()</a:t>
              </a:r>
              <a:r>
                <a:rPr b="0" lang="en" sz="18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executes automatically.</a:t>
              </a:r>
              <a:endParaRPr b="0" sz="18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459" name="Google Shape;459;p26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Understanding `self`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67" name="Google Shape;467;p2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7"/>
          <p:cNvSpPr txBox="1"/>
          <p:nvPr/>
        </p:nvSpPr>
        <p:spPr>
          <a:xfrm>
            <a:off x="762000" y="1381125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Definition: </a:t>
            </a:r>
            <a:r>
              <a:rPr b="1" lang="en" sz="16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self</a:t>
            </a:r>
            <a:r>
              <a:rPr b="0" lang="en" sz="16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refers to the current object instance.</a:t>
            </a:r>
            <a:endParaRPr b="0" sz="16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469" name="Google Shape;469;p27"/>
          <p:cNvSpPr txBox="1"/>
          <p:nvPr/>
        </p:nvSpPr>
        <p:spPr>
          <a:xfrm>
            <a:off x="762000" y="2047875"/>
            <a:ext cx="5143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CONSTRUCTOR CODE EXAMPLE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70" name="Google Shape;470;p27"/>
          <p:cNvGrpSpPr/>
          <p:nvPr/>
        </p:nvGrpSpPr>
        <p:grpSpPr>
          <a:xfrm>
            <a:off x="762000" y="2381250"/>
            <a:ext cx="5143500" cy="1809600"/>
            <a:chOff x="0" y="0"/>
            <a:chExt cx="5143500" cy="1809600"/>
          </a:xfrm>
        </p:grpSpPr>
        <p:sp>
          <p:nvSpPr>
            <p:cNvPr id="471" name="Google Shape;471;p27"/>
            <p:cNvSpPr/>
            <p:nvPr/>
          </p:nvSpPr>
          <p:spPr>
            <a:xfrm>
              <a:off x="0" y="0"/>
              <a:ext cx="5143500" cy="1809600"/>
            </a:xfrm>
            <a:prstGeom prst="roundRect">
              <a:avLst>
                <a:gd fmla="val 421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7"/>
            <p:cNvSpPr/>
            <p:nvPr/>
          </p:nvSpPr>
          <p:spPr>
            <a:xfrm>
              <a:off x="0" y="0"/>
              <a:ext cx="57300" cy="18096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7"/>
            <p:cNvSpPr txBox="1"/>
            <p:nvPr/>
          </p:nvSpPr>
          <p:spPr>
            <a:xfrm>
              <a:off x="238125" y="238125"/>
              <a:ext cx="4667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class</a:t>
              </a:r>
              <a:r>
                <a:rPr b="0" lang="en" sz="13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Student:</a:t>
              </a:r>
              <a:endParaRPr b="0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def</a:t>
              </a:r>
              <a:r>
                <a:rPr b="0" lang="en" sz="13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__init__(self, name):</a:t>
              </a:r>
              <a:endParaRPr b="0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self</a:t>
              </a:r>
              <a:r>
                <a:rPr b="0" lang="en" sz="13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.name = name</a:t>
              </a:r>
              <a:endParaRPr b="0" sz="13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# self binds the name attribute to the active object</a:t>
              </a:r>
              <a:endParaRPr b="0" sz="1100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4" name="Google Shape;474;p27"/>
          <p:cNvGrpSpPr/>
          <p:nvPr/>
        </p:nvGrpSpPr>
        <p:grpSpPr>
          <a:xfrm>
            <a:off x="762000" y="4429125"/>
            <a:ext cx="5143500" cy="1333500"/>
            <a:chOff x="0" y="0"/>
            <a:chExt cx="5143500" cy="1333500"/>
          </a:xfrm>
        </p:grpSpPr>
        <p:sp>
          <p:nvSpPr>
            <p:cNvPr id="475" name="Google Shape;475;p27"/>
            <p:cNvSpPr/>
            <p:nvPr/>
          </p:nvSpPr>
          <p:spPr>
            <a:xfrm>
              <a:off x="0" y="0"/>
              <a:ext cx="38100" cy="13335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7"/>
            <p:cNvSpPr txBox="1"/>
            <p:nvPr/>
          </p:nvSpPr>
          <p:spPr>
            <a:xfrm>
              <a:off x="190500" y="0"/>
              <a:ext cx="495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INDIVIDUAL STATE OWNERSHIP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477" name="Google Shape;477;p27"/>
            <p:cNvSpPr txBox="1"/>
            <p:nvPr/>
          </p:nvSpPr>
          <p:spPr>
            <a:xfrm>
              <a:off x="190500" y="238125"/>
              <a:ext cx="4953000" cy="109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Here, </a:t>
              </a: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self.name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belongs to each object individually.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This guarantees that different Student objects can maintain their own independent name values simultaneously without collision.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78" name="Google Shape;478;p27"/>
          <p:cNvSpPr txBox="1"/>
          <p:nvPr/>
        </p:nvSpPr>
        <p:spPr>
          <a:xfrm>
            <a:off x="6286500" y="2047875"/>
            <a:ext cx="5143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ROLE OF THE SELF PARAMETER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479" name="Google Shape;479;p27"/>
          <p:cNvGrpSpPr/>
          <p:nvPr/>
        </p:nvGrpSpPr>
        <p:grpSpPr>
          <a:xfrm>
            <a:off x="6286500" y="2381250"/>
            <a:ext cx="5143425" cy="714300"/>
            <a:chOff x="0" y="0"/>
            <a:chExt cx="5143425" cy="714300"/>
          </a:xfrm>
        </p:grpSpPr>
        <p:sp>
          <p:nvSpPr>
            <p:cNvPr id="480" name="Google Shape;480;p27"/>
            <p:cNvSpPr/>
            <p:nvPr/>
          </p:nvSpPr>
          <p:spPr>
            <a:xfrm>
              <a:off x="0" y="5715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7"/>
            <p:cNvSpPr txBox="1"/>
            <p:nvPr/>
          </p:nvSpPr>
          <p:spPr>
            <a:xfrm>
              <a:off x="238125" y="0"/>
              <a:ext cx="4905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Active Instance Reference: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Points directly to the specific class instance currently being initialized or manipulated.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2" name="Google Shape;482;p27"/>
          <p:cNvGrpSpPr/>
          <p:nvPr/>
        </p:nvGrpSpPr>
        <p:grpSpPr>
          <a:xfrm>
            <a:off x="6286500" y="3190875"/>
            <a:ext cx="5143425" cy="714300"/>
            <a:chOff x="0" y="0"/>
            <a:chExt cx="5143425" cy="714300"/>
          </a:xfrm>
        </p:grpSpPr>
        <p:sp>
          <p:nvSpPr>
            <p:cNvPr id="483" name="Google Shape;483;p27"/>
            <p:cNvSpPr/>
            <p:nvPr/>
          </p:nvSpPr>
          <p:spPr>
            <a:xfrm>
              <a:off x="0" y="5715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7"/>
            <p:cNvSpPr txBox="1"/>
            <p:nvPr/>
          </p:nvSpPr>
          <p:spPr>
            <a:xfrm>
              <a:off x="238125" y="0"/>
              <a:ext cx="4905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State Isolation: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Binds variables to the class instance, ensuring that data does not bleed across different instances.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5" name="Google Shape;485;p27"/>
          <p:cNvGrpSpPr/>
          <p:nvPr/>
        </p:nvGrpSpPr>
        <p:grpSpPr>
          <a:xfrm>
            <a:off x="6286500" y="4000500"/>
            <a:ext cx="5143425" cy="714300"/>
            <a:chOff x="0" y="0"/>
            <a:chExt cx="5143425" cy="714300"/>
          </a:xfrm>
        </p:grpSpPr>
        <p:sp>
          <p:nvSpPr>
            <p:cNvPr id="486" name="Google Shape;486;p27"/>
            <p:cNvSpPr/>
            <p:nvPr/>
          </p:nvSpPr>
          <p:spPr>
            <a:xfrm>
              <a:off x="0" y="5715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7"/>
            <p:cNvSpPr txBox="1"/>
            <p:nvPr/>
          </p:nvSpPr>
          <p:spPr>
            <a:xfrm>
              <a:off x="238125" y="0"/>
              <a:ext cx="49053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Automatic Passing: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Passed implicitly by Python behind the scenes as the first argument whenever any instance method is called.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88" name="Google Shape;488;p27"/>
          <p:cNvGrpSpPr/>
          <p:nvPr/>
        </p:nvGrpSpPr>
        <p:grpSpPr>
          <a:xfrm>
            <a:off x="6286500" y="4810125"/>
            <a:ext cx="5143425" cy="857400"/>
            <a:chOff x="0" y="0"/>
            <a:chExt cx="5143425" cy="857400"/>
          </a:xfrm>
        </p:grpSpPr>
        <p:sp>
          <p:nvSpPr>
            <p:cNvPr id="489" name="Google Shape;489;p27"/>
            <p:cNvSpPr/>
            <p:nvPr/>
          </p:nvSpPr>
          <p:spPr>
            <a:xfrm>
              <a:off x="0" y="57150"/>
              <a:ext cx="114300" cy="1143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7"/>
            <p:cNvSpPr txBox="1"/>
            <p:nvPr/>
          </p:nvSpPr>
          <p:spPr>
            <a:xfrm>
              <a:off x="238125" y="0"/>
              <a:ext cx="4905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Explicit Syntax: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Required in method signatures but not when calling the methods from instantiated object scopes.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491" name="Google Shape;491;p27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Example of Class and Object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98" name="Google Shape;498;p2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8"/>
          <p:cNvSpPr txBox="1"/>
          <p:nvPr/>
        </p:nvSpPr>
        <p:spPr>
          <a:xfrm>
            <a:off x="762000" y="1381125"/>
            <a:ext cx="10668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Implementing a basic class, instantiating an object, and invoking its methods in Python.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500" name="Google Shape;500;p28"/>
          <p:cNvGrpSpPr/>
          <p:nvPr/>
        </p:nvGrpSpPr>
        <p:grpSpPr>
          <a:xfrm>
            <a:off x="762000" y="1857375"/>
            <a:ext cx="10668000" cy="2762400"/>
            <a:chOff x="0" y="0"/>
            <a:chExt cx="10668000" cy="2762400"/>
          </a:xfrm>
        </p:grpSpPr>
        <p:sp>
          <p:nvSpPr>
            <p:cNvPr id="501" name="Google Shape;501;p28"/>
            <p:cNvSpPr/>
            <p:nvPr/>
          </p:nvSpPr>
          <p:spPr>
            <a:xfrm>
              <a:off x="0" y="0"/>
              <a:ext cx="10668000" cy="2762400"/>
            </a:xfrm>
            <a:prstGeom prst="roundRect">
              <a:avLst>
                <a:gd fmla="val 2758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0" y="0"/>
              <a:ext cx="76200" cy="27624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8"/>
            <p:cNvSpPr txBox="1"/>
            <p:nvPr/>
          </p:nvSpPr>
          <p:spPr>
            <a:xfrm>
              <a:off x="381000" y="238125"/>
              <a:ext cx="9906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PYTHON CODE EXAMPLE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4" name="Google Shape;504;p28"/>
            <p:cNvSpPr txBox="1"/>
            <p:nvPr/>
          </p:nvSpPr>
          <p:spPr>
            <a:xfrm>
              <a:off x="381000" y="619125"/>
              <a:ext cx="9906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B7A4B"/>
                  </a:solidFill>
                  <a:latin typeface="Inter"/>
                  <a:ea typeface="Inter"/>
                  <a:cs typeface="Inter"/>
                  <a:sym typeface="Inter"/>
                </a:rPr>
                <a:t>class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Student: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B7A4B"/>
                  </a:solidFill>
                  <a:latin typeface="Inter"/>
                  <a:ea typeface="Inter"/>
                  <a:cs typeface="Inter"/>
                  <a:sym typeface="Inter"/>
                </a:rPr>
                <a:t>def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__init__(</a:t>
              </a:r>
              <a:r>
                <a:rPr b="1" lang="en" sz="1300">
                  <a:solidFill>
                    <a:srgbClr val="0B7A4B"/>
                  </a:solidFill>
                  <a:latin typeface="Inter"/>
                  <a:ea typeface="Inter"/>
                  <a:cs typeface="Inter"/>
                  <a:sym typeface="Inter"/>
                </a:rPr>
                <a:t>self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, name):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B7A4B"/>
                  </a:solidFill>
                  <a:latin typeface="Inter"/>
                  <a:ea typeface="Inter"/>
                  <a:cs typeface="Inter"/>
                  <a:sym typeface="Inter"/>
                </a:rPr>
                <a:t>self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.name = name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B7A4B"/>
                  </a:solidFill>
                  <a:latin typeface="Inter"/>
                  <a:ea typeface="Inter"/>
                  <a:cs typeface="Inter"/>
                  <a:sym typeface="Inter"/>
                </a:rPr>
                <a:t>def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display(</a:t>
              </a:r>
              <a:r>
                <a:rPr b="1" lang="en" sz="1300">
                  <a:solidFill>
                    <a:srgbClr val="0B7A4B"/>
                  </a:solidFill>
                  <a:latin typeface="Inter"/>
                  <a:ea typeface="Inter"/>
                  <a:cs typeface="Inter"/>
                  <a:sym typeface="Inter"/>
                </a:rPr>
                <a:t>self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):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B7A4B"/>
                  </a:solidFill>
                  <a:latin typeface="Inter"/>
                  <a:ea typeface="Inter"/>
                  <a:cs typeface="Inter"/>
                  <a:sym typeface="Inter"/>
                </a:rPr>
                <a:t>print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(</a:t>
              </a:r>
              <a:r>
                <a:rPr b="1" lang="en" sz="1300">
                  <a:solidFill>
                    <a:srgbClr val="0B7A4B"/>
                  </a:solidFill>
                  <a:latin typeface="Inter"/>
                  <a:ea typeface="Inter"/>
                  <a:cs typeface="Inter"/>
                  <a:sym typeface="Inter"/>
                </a:rPr>
                <a:t>self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.name)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s1 = Student(</a:t>
              </a: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"Ali"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s1.display()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505" name="Google Shape;505;p28"/>
          <p:cNvGrpSpPr/>
          <p:nvPr/>
        </p:nvGrpSpPr>
        <p:grpSpPr>
          <a:xfrm>
            <a:off x="762000" y="4810125"/>
            <a:ext cx="10668000" cy="1047900"/>
            <a:chOff x="0" y="0"/>
            <a:chExt cx="10668000" cy="1047900"/>
          </a:xfrm>
        </p:grpSpPr>
        <p:sp>
          <p:nvSpPr>
            <p:cNvPr id="506" name="Google Shape;506;p28"/>
            <p:cNvSpPr/>
            <p:nvPr/>
          </p:nvSpPr>
          <p:spPr>
            <a:xfrm>
              <a:off x="0" y="0"/>
              <a:ext cx="10668000" cy="1047900"/>
            </a:xfrm>
            <a:prstGeom prst="roundRect">
              <a:avLst>
                <a:gd fmla="val 7272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0" y="0"/>
              <a:ext cx="76200" cy="1047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8"/>
            <p:cNvSpPr txBox="1"/>
            <p:nvPr/>
          </p:nvSpPr>
          <p:spPr>
            <a:xfrm>
              <a:off x="381000" y="190500"/>
              <a:ext cx="9906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EXPECTED OUTPUT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09" name="Google Shape;509;p28"/>
            <p:cNvSpPr txBox="1"/>
            <p:nvPr/>
          </p:nvSpPr>
          <p:spPr>
            <a:xfrm>
              <a:off x="381000" y="523875"/>
              <a:ext cx="9906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rPr>
                <a:t>Ali</a:t>
              </a:r>
              <a:endParaRPr b="1" sz="13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10" name="Google Shape;510;p28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Classes and Objects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9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9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Four Pillars of OOP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8" name="Google Shape;518;p29"/>
          <p:cNvGrpSpPr/>
          <p:nvPr/>
        </p:nvGrpSpPr>
        <p:grpSpPr>
          <a:xfrm>
            <a:off x="762000" y="1524000"/>
            <a:ext cx="5715000" cy="1428900"/>
            <a:chOff x="0" y="0"/>
            <a:chExt cx="5715000" cy="1428900"/>
          </a:xfrm>
        </p:grpSpPr>
        <p:sp>
          <p:nvSpPr>
            <p:cNvPr id="519" name="Google Shape;519;p29"/>
            <p:cNvSpPr/>
            <p:nvPr/>
          </p:nvSpPr>
          <p:spPr>
            <a:xfrm>
              <a:off x="0" y="0"/>
              <a:ext cx="57150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0" y="0"/>
              <a:ext cx="57300" cy="14289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9"/>
            <p:cNvSpPr txBox="1"/>
            <p:nvPr/>
          </p:nvSpPr>
          <p:spPr>
            <a:xfrm>
              <a:off x="285750" y="0"/>
              <a:ext cx="5143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Primary Focus Today</a:t>
              </a:r>
              <a:endParaRPr b="1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22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01. Encapsulation</a:t>
              </a:r>
              <a:endParaRPr b="1" sz="22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522" name="Google Shape;522;p29"/>
          <p:cNvGrpSpPr/>
          <p:nvPr/>
        </p:nvGrpSpPr>
        <p:grpSpPr>
          <a:xfrm>
            <a:off x="762000" y="3238500"/>
            <a:ext cx="5715000" cy="571500"/>
            <a:chOff x="0" y="0"/>
            <a:chExt cx="5715000" cy="571500"/>
          </a:xfrm>
        </p:grpSpPr>
        <p:sp>
          <p:nvSpPr>
            <p:cNvPr id="523" name="Google Shape;523;p29"/>
            <p:cNvSpPr/>
            <p:nvPr/>
          </p:nvSpPr>
          <p:spPr>
            <a:xfrm>
              <a:off x="0" y="0"/>
              <a:ext cx="57150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9"/>
            <p:cNvSpPr txBox="1"/>
            <p:nvPr/>
          </p:nvSpPr>
          <p:spPr>
            <a:xfrm>
              <a:off x="228600" y="0"/>
              <a:ext cx="38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</a:t>
              </a:r>
              <a:endParaRPr b="1" sz="16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5" name="Google Shape;525;p29"/>
            <p:cNvSpPr txBox="1"/>
            <p:nvPr/>
          </p:nvSpPr>
          <p:spPr>
            <a:xfrm>
              <a:off x="704850" y="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Inheritance</a:t>
              </a:r>
              <a:endParaRPr b="0" sz="1500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526" name="Google Shape;526;p29"/>
          <p:cNvGrpSpPr/>
          <p:nvPr/>
        </p:nvGrpSpPr>
        <p:grpSpPr>
          <a:xfrm>
            <a:off x="762000" y="3952875"/>
            <a:ext cx="5715000" cy="571500"/>
            <a:chOff x="0" y="0"/>
            <a:chExt cx="5715000" cy="571500"/>
          </a:xfrm>
        </p:grpSpPr>
        <p:sp>
          <p:nvSpPr>
            <p:cNvPr id="527" name="Google Shape;527;p29"/>
            <p:cNvSpPr/>
            <p:nvPr/>
          </p:nvSpPr>
          <p:spPr>
            <a:xfrm>
              <a:off x="0" y="0"/>
              <a:ext cx="57150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 txBox="1"/>
            <p:nvPr/>
          </p:nvSpPr>
          <p:spPr>
            <a:xfrm>
              <a:off x="228600" y="0"/>
              <a:ext cx="38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</a:t>
              </a:r>
              <a:endParaRPr b="1" sz="16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9" name="Google Shape;529;p29"/>
            <p:cNvSpPr txBox="1"/>
            <p:nvPr/>
          </p:nvSpPr>
          <p:spPr>
            <a:xfrm>
              <a:off x="704850" y="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Polymorphism</a:t>
              </a:r>
              <a:endParaRPr b="0" sz="1500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530" name="Google Shape;530;p29"/>
          <p:cNvGrpSpPr/>
          <p:nvPr/>
        </p:nvGrpSpPr>
        <p:grpSpPr>
          <a:xfrm>
            <a:off x="762000" y="4667250"/>
            <a:ext cx="5715000" cy="571500"/>
            <a:chOff x="0" y="0"/>
            <a:chExt cx="5715000" cy="571500"/>
          </a:xfrm>
        </p:grpSpPr>
        <p:sp>
          <p:nvSpPr>
            <p:cNvPr id="531" name="Google Shape;531;p29"/>
            <p:cNvSpPr/>
            <p:nvPr/>
          </p:nvSpPr>
          <p:spPr>
            <a:xfrm>
              <a:off x="0" y="0"/>
              <a:ext cx="57150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 txBox="1"/>
            <p:nvPr/>
          </p:nvSpPr>
          <p:spPr>
            <a:xfrm>
              <a:off x="228600" y="0"/>
              <a:ext cx="38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</a:t>
              </a:r>
              <a:endParaRPr b="1" sz="1600">
                <a:solidFill>
                  <a:srgbClr val="6B728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3" name="Google Shape;533;p29"/>
            <p:cNvSpPr txBox="1"/>
            <p:nvPr/>
          </p:nvSpPr>
          <p:spPr>
            <a:xfrm>
              <a:off x="704850" y="0"/>
              <a:ext cx="4762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Abstraction</a:t>
              </a:r>
              <a:endParaRPr b="0" sz="1500">
                <a:solidFill>
                  <a:srgbClr val="374151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534" name="Google Shape;534;p29"/>
          <p:cNvGrpSpPr/>
          <p:nvPr/>
        </p:nvGrpSpPr>
        <p:grpSpPr>
          <a:xfrm>
            <a:off x="7239000" y="1524000"/>
            <a:ext cx="4191000" cy="4191000"/>
            <a:chOff x="0" y="0"/>
            <a:chExt cx="4191000" cy="4191000"/>
          </a:xfrm>
        </p:grpSpPr>
        <p:sp>
          <p:nvSpPr>
            <p:cNvPr id="535" name="Google Shape;535;p29"/>
            <p:cNvSpPr/>
            <p:nvPr/>
          </p:nvSpPr>
          <p:spPr>
            <a:xfrm>
              <a:off x="0" y="0"/>
              <a:ext cx="4191000" cy="4191000"/>
            </a:xfrm>
            <a:prstGeom prst="roundRect">
              <a:avLst>
                <a:gd fmla="val 272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36" name="Google Shape;53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191000" cy="4191000"/>
            </a:xfrm>
            <a:prstGeom prst="roundRect">
              <a:avLst>
                <a:gd fmla="val 2727" name="adj"/>
              </a:avLst>
            </a:prstGeom>
            <a:noFill/>
            <a:ln>
              <a:noFill/>
            </a:ln>
          </p:spPr>
        </p:pic>
      </p:grpSp>
      <p:sp>
        <p:nvSpPr>
          <p:cNvPr id="537" name="Google Shape;537;p29"/>
          <p:cNvSpPr txBox="1"/>
          <p:nvPr/>
        </p:nvSpPr>
        <p:spPr>
          <a:xfrm>
            <a:off x="762000" y="61341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0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4" name="Google Shape;544;p30"/>
          <p:cNvGrpSpPr/>
          <p:nvPr/>
        </p:nvGrpSpPr>
        <p:grpSpPr>
          <a:xfrm>
            <a:off x="762000" y="571500"/>
            <a:ext cx="10668000" cy="428700"/>
            <a:chOff x="0" y="0"/>
            <a:chExt cx="10668000" cy="428700"/>
          </a:xfrm>
        </p:grpSpPr>
        <p:sp>
          <p:nvSpPr>
            <p:cNvPr id="545" name="Google Shape;545;p30"/>
            <p:cNvSpPr/>
            <p:nvPr/>
          </p:nvSpPr>
          <p:spPr>
            <a:xfrm>
              <a:off x="0" y="0"/>
              <a:ext cx="106680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0"/>
            <p:cNvSpPr txBox="1"/>
            <p:nvPr/>
          </p:nvSpPr>
          <p:spPr>
            <a:xfrm>
              <a:off x="0" y="0"/>
              <a:ext cx="10668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What is Encapsulation?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547" name="Google Shape;547;p30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8" name="Google Shape;548;p30"/>
          <p:cNvGrpSpPr/>
          <p:nvPr/>
        </p:nvGrpSpPr>
        <p:grpSpPr>
          <a:xfrm>
            <a:off x="762000" y="1428750"/>
            <a:ext cx="5143500" cy="3000375"/>
            <a:chOff x="0" y="0"/>
            <a:chExt cx="5143500" cy="3000375"/>
          </a:xfrm>
        </p:grpSpPr>
        <p:grpSp>
          <p:nvGrpSpPr>
            <p:cNvPr id="549" name="Google Shape;549;p30"/>
            <p:cNvGrpSpPr/>
            <p:nvPr/>
          </p:nvGrpSpPr>
          <p:grpSpPr>
            <a:xfrm>
              <a:off x="0" y="0"/>
              <a:ext cx="5143500" cy="619200"/>
              <a:chOff x="0" y="0"/>
              <a:chExt cx="5143500" cy="619200"/>
            </a:xfrm>
          </p:grpSpPr>
          <p:sp>
            <p:nvSpPr>
              <p:cNvPr id="550" name="Google Shape;550;p30"/>
              <p:cNvSpPr/>
              <p:nvPr/>
            </p:nvSpPr>
            <p:spPr>
              <a:xfrm>
                <a:off x="0" y="0"/>
                <a:ext cx="5143500" cy="619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30"/>
              <p:cNvSpPr txBox="1"/>
              <p:nvPr/>
            </p:nvSpPr>
            <p:spPr>
              <a:xfrm>
                <a:off x="0" y="0"/>
                <a:ext cx="51435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275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Wrapping data and methods into a single unit (Class) and controlling direct access to that data.</a:t>
                </a:r>
                <a:endParaRPr b="0" i="0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52" name="Google Shape;552;p30"/>
            <p:cNvGrpSpPr/>
            <p:nvPr/>
          </p:nvGrpSpPr>
          <p:grpSpPr>
            <a:xfrm>
              <a:off x="0" y="762000"/>
              <a:ext cx="5143500" cy="857400"/>
              <a:chOff x="0" y="0"/>
              <a:chExt cx="5143500" cy="857400"/>
            </a:xfrm>
          </p:grpSpPr>
          <p:sp>
            <p:nvSpPr>
              <p:cNvPr id="553" name="Google Shape;553;p30"/>
              <p:cNvSpPr/>
              <p:nvPr/>
            </p:nvSpPr>
            <p:spPr>
              <a:xfrm>
                <a:off x="0" y="0"/>
                <a:ext cx="5143500" cy="857400"/>
              </a:xfrm>
              <a:prstGeom prst="roundRect">
                <a:avLst>
                  <a:gd fmla="val 8887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30"/>
              <p:cNvSpPr/>
              <p:nvPr/>
            </p:nvSpPr>
            <p:spPr>
              <a:xfrm>
                <a:off x="0" y="0"/>
                <a:ext cx="57300" cy="857400"/>
              </a:xfrm>
              <a:prstGeom prst="roundRect">
                <a:avLst>
                  <a:gd fmla="val 49999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55" name="Google Shape;555;p30"/>
              <p:cNvGrpSpPr/>
              <p:nvPr/>
            </p:nvGrpSpPr>
            <p:grpSpPr>
              <a:xfrm>
                <a:off x="190500" y="142875"/>
                <a:ext cx="4762500" cy="238200"/>
                <a:chOff x="0" y="0"/>
                <a:chExt cx="4762500" cy="238200"/>
              </a:xfrm>
            </p:grpSpPr>
            <p:sp>
              <p:nvSpPr>
                <p:cNvPr id="556" name="Google Shape;556;p30"/>
                <p:cNvSpPr/>
                <p:nvPr/>
              </p:nvSpPr>
              <p:spPr>
                <a:xfrm>
                  <a:off x="0" y="0"/>
                  <a:ext cx="4762500" cy="2382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7" name="Google Shape;557;p30"/>
                <p:cNvSpPr txBox="1"/>
                <p:nvPr/>
              </p:nvSpPr>
              <p:spPr>
                <a:xfrm>
                  <a:off x="0" y="0"/>
                  <a:ext cx="4762500" cy="2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D4A01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CONCEPT METAPHOR</a:t>
                  </a:r>
                  <a:endParaRPr b="1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558" name="Google Shape;558;p30"/>
              <p:cNvGrpSpPr/>
              <p:nvPr/>
            </p:nvGrpSpPr>
            <p:grpSpPr>
              <a:xfrm>
                <a:off x="190500" y="428625"/>
                <a:ext cx="4762500" cy="285900"/>
                <a:chOff x="0" y="0"/>
                <a:chExt cx="4762500" cy="285900"/>
              </a:xfrm>
            </p:grpSpPr>
            <p:sp>
              <p:nvSpPr>
                <p:cNvPr id="559" name="Google Shape;559;p30"/>
                <p:cNvSpPr/>
                <p:nvPr/>
              </p:nvSpPr>
              <p:spPr>
                <a:xfrm>
                  <a:off x="0" y="0"/>
                  <a:ext cx="4762500" cy="2859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" name="Google Shape;560;p30"/>
                <p:cNvSpPr txBox="1"/>
                <p:nvPr/>
              </p:nvSpPr>
              <p:spPr>
                <a:xfrm>
                  <a:off x="0" y="0"/>
                  <a:ext cx="47625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300">
                      <a:solidFill>
                        <a:srgbClr val="1F293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class </a:t>
                  </a:r>
                  <a:r>
                    <a:rPr b="1" lang="en" sz="1300">
                      <a:solidFill>
                        <a:srgbClr val="045A36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Capsule</a:t>
                  </a:r>
                  <a:r>
                    <a:rPr b="0" lang="en" sz="1300">
                      <a:solidFill>
                        <a:srgbClr val="1F293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(Variables + Methods)</a:t>
                  </a:r>
                  <a:endParaRPr b="0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</p:grpSp>
        <p:grpSp>
          <p:nvGrpSpPr>
            <p:cNvPr id="561" name="Google Shape;561;p30"/>
            <p:cNvGrpSpPr/>
            <p:nvPr/>
          </p:nvGrpSpPr>
          <p:grpSpPr>
            <a:xfrm>
              <a:off x="0" y="1905000"/>
              <a:ext cx="4762500" cy="1095375"/>
              <a:chOff x="0" y="0"/>
              <a:chExt cx="4762500" cy="1095375"/>
            </a:xfrm>
          </p:grpSpPr>
          <p:sp>
            <p:nvSpPr>
              <p:cNvPr id="562" name="Google Shape;562;p30"/>
              <p:cNvSpPr/>
              <p:nvPr/>
            </p:nvSpPr>
            <p:spPr>
              <a:xfrm>
                <a:off x="0" y="0"/>
                <a:ext cx="38100" cy="1047900"/>
              </a:xfrm>
              <a:prstGeom prst="rect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63" name="Google Shape;563;p30"/>
              <p:cNvGrpSpPr/>
              <p:nvPr/>
            </p:nvGrpSpPr>
            <p:grpSpPr>
              <a:xfrm>
                <a:off x="190500" y="0"/>
                <a:ext cx="4572000" cy="238200"/>
                <a:chOff x="0" y="0"/>
                <a:chExt cx="4572000" cy="238200"/>
              </a:xfrm>
            </p:grpSpPr>
            <p:sp>
              <p:nvSpPr>
                <p:cNvPr id="564" name="Google Shape;564;p30"/>
                <p:cNvSpPr/>
                <p:nvPr/>
              </p:nvSpPr>
              <p:spPr>
                <a:xfrm>
                  <a:off x="0" y="0"/>
                  <a:ext cx="4572000" cy="2382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5" name="Google Shape;565;p30"/>
                <p:cNvSpPr txBox="1"/>
                <p:nvPr/>
              </p:nvSpPr>
              <p:spPr>
                <a:xfrm>
                  <a:off x="0" y="0"/>
                  <a:ext cx="4572000" cy="238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200">
                      <a:solidFill>
                        <a:srgbClr val="D4A017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PURPOSE</a:t>
                  </a:r>
                  <a:endParaRPr b="1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566" name="Google Shape;566;p30"/>
              <p:cNvGrpSpPr/>
              <p:nvPr/>
            </p:nvGrpSpPr>
            <p:grpSpPr>
              <a:xfrm>
                <a:off x="190500" y="333375"/>
                <a:ext cx="4572000" cy="762000"/>
                <a:chOff x="0" y="0"/>
                <a:chExt cx="4572000" cy="762000"/>
              </a:xfrm>
            </p:grpSpPr>
            <p:sp>
              <p:nvSpPr>
                <p:cNvPr id="567" name="Google Shape;567;p30"/>
                <p:cNvSpPr/>
                <p:nvPr/>
              </p:nvSpPr>
              <p:spPr>
                <a:xfrm>
                  <a:off x="0" y="0"/>
                  <a:ext cx="4572000" cy="762000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30"/>
                <p:cNvSpPr txBox="1"/>
                <p:nvPr/>
              </p:nvSpPr>
              <p:spPr>
                <a:xfrm>
                  <a:off x="0" y="0"/>
                  <a:ext cx="457200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i="0" lang="en" sz="1500">
                      <a:solidFill>
                        <a:srgbClr val="1F2937"/>
                      </a:solidFill>
                      <a:latin typeface="Inter SemiBold"/>
                      <a:ea typeface="Inter SemiBold"/>
                      <a:cs typeface="Inter SemiBold"/>
                      <a:sym typeface="Inter SemiBold"/>
                    </a:rPr>
                    <a:t>Protects the internal state of an object by restricting direct external modification.</a:t>
                  </a:r>
                  <a:endParaRPr b="0" i="0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endParaRPr>
                </a:p>
              </p:txBody>
            </p:sp>
          </p:grpSp>
        </p:grpSp>
      </p:grpSp>
      <p:grpSp>
        <p:nvGrpSpPr>
          <p:cNvPr id="569" name="Google Shape;569;p30"/>
          <p:cNvGrpSpPr/>
          <p:nvPr/>
        </p:nvGrpSpPr>
        <p:grpSpPr>
          <a:xfrm>
            <a:off x="6286500" y="1428750"/>
            <a:ext cx="5143500" cy="3476625"/>
            <a:chOff x="0" y="0"/>
            <a:chExt cx="5143500" cy="3476625"/>
          </a:xfrm>
        </p:grpSpPr>
        <p:grpSp>
          <p:nvGrpSpPr>
            <p:cNvPr id="570" name="Google Shape;570;p30"/>
            <p:cNvGrpSpPr/>
            <p:nvPr/>
          </p:nvGrpSpPr>
          <p:grpSpPr>
            <a:xfrm>
              <a:off x="0" y="0"/>
              <a:ext cx="5143500" cy="2893200"/>
              <a:chOff x="0" y="0"/>
              <a:chExt cx="5143500" cy="2893200"/>
            </a:xfrm>
          </p:grpSpPr>
          <p:sp>
            <p:nvSpPr>
              <p:cNvPr id="571" name="Google Shape;571;p30"/>
              <p:cNvSpPr/>
              <p:nvPr/>
            </p:nvSpPr>
            <p:spPr>
              <a:xfrm>
                <a:off x="0" y="0"/>
                <a:ext cx="5143500" cy="2893200"/>
              </a:xfrm>
              <a:prstGeom prst="roundRect">
                <a:avLst>
                  <a:gd fmla="val 3949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72" name="Google Shape;572;p3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0" y="0"/>
                <a:ext cx="5143500" cy="2893200"/>
              </a:xfrm>
              <a:prstGeom prst="roundRect">
                <a:avLst>
                  <a:gd fmla="val 3949" name="adj"/>
                </a:avLst>
              </a:prstGeom>
              <a:noFill/>
              <a:ln>
                <a:noFill/>
              </a:ln>
            </p:spPr>
          </p:pic>
        </p:grpSp>
        <p:grpSp>
          <p:nvGrpSpPr>
            <p:cNvPr id="573" name="Google Shape;573;p30"/>
            <p:cNvGrpSpPr/>
            <p:nvPr/>
          </p:nvGrpSpPr>
          <p:grpSpPr>
            <a:xfrm>
              <a:off x="0" y="3095625"/>
              <a:ext cx="5143500" cy="381000"/>
              <a:chOff x="0" y="0"/>
              <a:chExt cx="5143500" cy="381000"/>
            </a:xfrm>
          </p:grpSpPr>
          <p:sp>
            <p:nvSpPr>
              <p:cNvPr id="574" name="Google Shape;574;p30"/>
              <p:cNvSpPr/>
              <p:nvPr/>
            </p:nvSpPr>
            <p:spPr>
              <a:xfrm>
                <a:off x="0" y="0"/>
                <a:ext cx="51435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30"/>
              <p:cNvSpPr txBox="1"/>
              <p:nvPr/>
            </p:nvSpPr>
            <p:spPr>
              <a:xfrm>
                <a:off x="0" y="0"/>
                <a:ext cx="5143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" sz="11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Conceptual representation of data and logic encapsulated within a class capsule.</a:t>
                </a:r>
                <a:endParaRPr b="0" i="1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76" name="Google Shape;576;p30"/>
          <p:cNvGrpSpPr/>
          <p:nvPr/>
        </p:nvGrpSpPr>
        <p:grpSpPr>
          <a:xfrm>
            <a:off x="762000" y="6134100"/>
            <a:ext cx="10668000" cy="190500"/>
            <a:chOff x="0" y="0"/>
            <a:chExt cx="10668000" cy="190500"/>
          </a:xfrm>
        </p:grpSpPr>
        <p:sp>
          <p:nvSpPr>
            <p:cNvPr id="577" name="Google Shape;577;p30"/>
            <p:cNvSpPr/>
            <p:nvPr/>
          </p:nvSpPr>
          <p:spPr>
            <a:xfrm>
              <a:off x="0" y="0"/>
              <a:ext cx="106680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0"/>
            <p:cNvSpPr txBox="1"/>
            <p:nvPr/>
          </p:nvSpPr>
          <p:spPr>
            <a:xfrm>
              <a:off x="0" y="0"/>
              <a:ext cx="10668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Object-Oriented Programming in Python | Encapsulation</a:t>
              </a:r>
              <a:endParaRPr b="0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1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1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Why Encapsulation?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5" name="Google Shape;585;p31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6" name="Google Shape;586;p31"/>
          <p:cNvGrpSpPr/>
          <p:nvPr/>
        </p:nvGrpSpPr>
        <p:grpSpPr>
          <a:xfrm>
            <a:off x="762000" y="1714500"/>
            <a:ext cx="5476875" cy="3857625"/>
            <a:chOff x="0" y="0"/>
            <a:chExt cx="5476875" cy="3857625"/>
          </a:xfrm>
        </p:grpSpPr>
        <p:sp>
          <p:nvSpPr>
            <p:cNvPr id="587" name="Google Shape;587;p31"/>
            <p:cNvSpPr txBox="1"/>
            <p:nvPr/>
          </p:nvSpPr>
          <p:spPr>
            <a:xfrm>
              <a:off x="0" y="0"/>
              <a:ext cx="5143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CORE BENEFITS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88" name="Google Shape;588;p31"/>
            <p:cNvGrpSpPr/>
            <p:nvPr/>
          </p:nvGrpSpPr>
          <p:grpSpPr>
            <a:xfrm>
              <a:off x="0" y="428625"/>
              <a:ext cx="5476875" cy="571500"/>
              <a:chOff x="0" y="0"/>
              <a:chExt cx="5476875" cy="571500"/>
            </a:xfrm>
          </p:grpSpPr>
          <p:grpSp>
            <p:nvGrpSpPr>
              <p:cNvPr id="589" name="Google Shape;589;p31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590" name="Google Shape;590;p3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31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92" name="Google Shape;592;p31"/>
              <p:cNvSpPr txBox="1"/>
              <p:nvPr/>
            </p:nvSpPr>
            <p:spPr>
              <a:xfrm>
                <a:off x="333375" y="0"/>
                <a:ext cx="5143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Protects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sensitive information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93" name="Google Shape;593;p31"/>
            <p:cNvGrpSpPr/>
            <p:nvPr/>
          </p:nvGrpSpPr>
          <p:grpSpPr>
            <a:xfrm>
              <a:off x="0" y="1143000"/>
              <a:ext cx="5476875" cy="571500"/>
              <a:chOff x="0" y="0"/>
              <a:chExt cx="5476875" cy="571500"/>
            </a:xfrm>
          </p:grpSpPr>
          <p:grpSp>
            <p:nvGrpSpPr>
              <p:cNvPr id="594" name="Google Shape;594;p31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595" name="Google Shape;595;p3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31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97" name="Google Shape;597;p31"/>
              <p:cNvSpPr txBox="1"/>
              <p:nvPr/>
            </p:nvSpPr>
            <p:spPr>
              <a:xfrm>
                <a:off x="333375" y="0"/>
                <a:ext cx="5143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Prevents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accidental changes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98" name="Google Shape;598;p31"/>
            <p:cNvGrpSpPr/>
            <p:nvPr/>
          </p:nvGrpSpPr>
          <p:grpSpPr>
            <a:xfrm>
              <a:off x="0" y="1857375"/>
              <a:ext cx="5476875" cy="571500"/>
              <a:chOff x="0" y="0"/>
              <a:chExt cx="5476875" cy="571500"/>
            </a:xfrm>
          </p:grpSpPr>
          <p:grpSp>
            <p:nvGrpSpPr>
              <p:cNvPr id="599" name="Google Shape;599;p31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600" name="Google Shape;600;p3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p31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02" name="Google Shape;602;p31"/>
              <p:cNvSpPr txBox="1"/>
              <p:nvPr/>
            </p:nvSpPr>
            <p:spPr>
              <a:xfrm>
                <a:off x="333375" y="0"/>
                <a:ext cx="5143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Improves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security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03" name="Google Shape;603;p31"/>
            <p:cNvGrpSpPr/>
            <p:nvPr/>
          </p:nvGrpSpPr>
          <p:grpSpPr>
            <a:xfrm>
              <a:off x="0" y="2571750"/>
              <a:ext cx="5476875" cy="571500"/>
              <a:chOff x="0" y="0"/>
              <a:chExt cx="5476875" cy="571500"/>
            </a:xfrm>
          </p:grpSpPr>
          <p:grpSp>
            <p:nvGrpSpPr>
              <p:cNvPr id="604" name="Google Shape;604;p31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605" name="Google Shape;605;p3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31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07" name="Google Shape;607;p31"/>
              <p:cNvSpPr txBox="1"/>
              <p:nvPr/>
            </p:nvSpPr>
            <p:spPr>
              <a:xfrm>
                <a:off x="333375" y="0"/>
                <a:ext cx="5143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Makes code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easier to maintain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08" name="Google Shape;608;p31"/>
            <p:cNvGrpSpPr/>
            <p:nvPr/>
          </p:nvGrpSpPr>
          <p:grpSpPr>
            <a:xfrm>
              <a:off x="0" y="3286125"/>
              <a:ext cx="5476875" cy="571500"/>
              <a:chOff x="0" y="0"/>
              <a:chExt cx="5476875" cy="571500"/>
            </a:xfrm>
          </p:grpSpPr>
          <p:grpSp>
            <p:nvGrpSpPr>
              <p:cNvPr id="609" name="Google Shape;609;p31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610" name="Google Shape;610;p31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31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12" name="Google Shape;612;p31"/>
              <p:cNvSpPr txBox="1"/>
              <p:nvPr/>
            </p:nvSpPr>
            <p:spPr>
              <a:xfrm>
                <a:off x="333375" y="0"/>
                <a:ext cx="5143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Provides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controlled access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13" name="Google Shape;613;p31"/>
          <p:cNvGrpSpPr/>
          <p:nvPr/>
        </p:nvGrpSpPr>
        <p:grpSpPr>
          <a:xfrm>
            <a:off x="6667500" y="1714500"/>
            <a:ext cx="4762500" cy="3810000"/>
            <a:chOff x="0" y="0"/>
            <a:chExt cx="4762500" cy="3810000"/>
          </a:xfrm>
        </p:grpSpPr>
        <p:sp>
          <p:nvSpPr>
            <p:cNvPr id="614" name="Google Shape;614;p31"/>
            <p:cNvSpPr/>
            <p:nvPr/>
          </p:nvSpPr>
          <p:spPr>
            <a:xfrm>
              <a:off x="0" y="0"/>
              <a:ext cx="4762500" cy="3810000"/>
            </a:xfrm>
            <a:prstGeom prst="roundRect">
              <a:avLst>
                <a:gd fmla="val 3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1"/>
            <p:cNvSpPr/>
            <p:nvPr/>
          </p:nvSpPr>
          <p:spPr>
            <a:xfrm>
              <a:off x="0" y="0"/>
              <a:ext cx="4762500" cy="47700"/>
            </a:xfrm>
            <a:prstGeom prst="roundRect">
              <a:avLst>
                <a:gd fmla="val 4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1"/>
            <p:cNvSpPr txBox="1"/>
            <p:nvPr/>
          </p:nvSpPr>
          <p:spPr>
            <a:xfrm>
              <a:off x="285750" y="238125"/>
              <a:ext cx="4191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CONCEPT VISUALIZATION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17" name="Google Shape;617;p31"/>
            <p:cNvGrpSpPr/>
            <p:nvPr/>
          </p:nvGrpSpPr>
          <p:grpSpPr>
            <a:xfrm>
              <a:off x="238125" y="800100"/>
              <a:ext cx="4286250" cy="2400300"/>
              <a:chOff x="238125" y="800100"/>
              <a:chExt cx="4286250" cy="2400300"/>
            </a:xfrm>
          </p:grpSpPr>
          <p:pic>
            <p:nvPicPr>
              <p:cNvPr id="618" name="Google Shape;618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181100" y="800100"/>
                <a:ext cx="2400300" cy="2400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" name="Google Shape;619;p31"/>
              <p:cNvSpPr/>
              <p:nvPr/>
            </p:nvSpPr>
            <p:spPr>
              <a:xfrm>
                <a:off x="1476375" y="1095375"/>
                <a:ext cx="1809600" cy="1809600"/>
              </a:xfrm>
              <a:prstGeom prst="ellipse">
                <a:avLst/>
              </a:prstGeom>
              <a:solidFill>
                <a:srgbClr val="FFFDF5"/>
              </a:solidFill>
              <a:ln cap="flat" cmpd="sng" w="28575">
                <a:solidFill>
                  <a:srgbClr val="D4A0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31"/>
              <p:cNvSpPr/>
              <p:nvPr/>
            </p:nvSpPr>
            <p:spPr>
              <a:xfrm>
                <a:off x="1828800" y="1447800"/>
                <a:ext cx="1104900" cy="1104900"/>
              </a:xfrm>
              <a:prstGeom prst="ellipse">
                <a:avLst/>
              </a:prstGeom>
              <a:solidFill>
                <a:srgbClr val="045A36"/>
              </a:solidFill>
              <a:ln cap="flat" cmpd="sng" w="19050">
                <a:solidFill>
                  <a:srgbClr val="023E2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1"/>
              <p:cNvSpPr/>
              <p:nvPr/>
            </p:nvSpPr>
            <p:spPr>
              <a:xfrm>
                <a:off x="2266950" y="1657350"/>
                <a:ext cx="228600" cy="2286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lnTo>
                      <a:pt x="0" y="60000"/>
                    </a:lnTo>
                    <a:cubicBezTo>
                      <a:pt x="0" y="26863"/>
                      <a:pt x="26863" y="0"/>
                      <a:pt x="60000" y="0"/>
                    </a:cubicBezTo>
                    <a:cubicBezTo>
                      <a:pt x="93137" y="0"/>
                      <a:pt x="120000" y="26863"/>
                      <a:pt x="120000" y="60000"/>
                    </a:cubicBez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38100">
                <a:solidFill>
                  <a:srgbClr val="D4A01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31"/>
              <p:cNvSpPr/>
              <p:nvPr/>
            </p:nvSpPr>
            <p:spPr>
              <a:xfrm>
                <a:off x="2209800" y="1866900"/>
                <a:ext cx="342900" cy="266700"/>
              </a:xfrm>
              <a:prstGeom prst="roundRect">
                <a:avLst>
                  <a:gd fmla="val 14285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31"/>
              <p:cNvSpPr/>
              <p:nvPr/>
            </p:nvSpPr>
            <p:spPr>
              <a:xfrm>
                <a:off x="2352675" y="1933575"/>
                <a:ext cx="57300" cy="57300"/>
              </a:xfrm>
              <a:prstGeom prst="ellipse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31"/>
              <p:cNvSpPr/>
              <p:nvPr/>
            </p:nvSpPr>
            <p:spPr>
              <a:xfrm>
                <a:off x="2381250" y="1990725"/>
                <a:ext cx="0" cy="66600"/>
              </a:xfrm>
              <a:custGeom>
                <a:rect b="b" l="l" r="r" t="t"/>
                <a:pathLst>
                  <a:path extrusionOk="0" fill="none" h="120000" w="120000">
                    <a:moveTo>
                      <a:pt x="0" y="0"/>
                    </a:moveTo>
                    <a:lnTo>
                      <a:pt x="0" y="120000"/>
                    </a:lnTo>
                  </a:path>
                </a:pathLst>
              </a:custGeom>
              <a:solidFill>
                <a:srgbClr val="FFFFFF"/>
              </a:solidFill>
              <a:ln cap="rnd" cmpd="sng" w="19050">
                <a:solidFill>
                  <a:srgbClr val="045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25" name="Google Shape;625;p31"/>
              <p:cNvGrpSpPr/>
              <p:nvPr/>
            </p:nvGrpSpPr>
            <p:grpSpPr>
              <a:xfrm>
                <a:off x="3171825" y="1885950"/>
                <a:ext cx="228600" cy="228600"/>
                <a:chOff x="-114300" y="-114300"/>
                <a:chExt cx="228600" cy="228600"/>
              </a:xfrm>
            </p:grpSpPr>
            <p:sp>
              <p:nvSpPr>
                <p:cNvPr id="626" name="Google Shape;626;p31"/>
                <p:cNvSpPr/>
                <p:nvPr/>
              </p:nvSpPr>
              <p:spPr>
                <a:xfrm>
                  <a:off x="-114300" y="-114300"/>
                  <a:ext cx="228600" cy="2286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23825">
                  <a:solidFill>
                    <a:srgbClr val="045A3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7" name="Google Shape;627;p31"/>
                <p:cNvSpPr/>
                <p:nvPr/>
              </p:nvSpPr>
              <p:spPr>
                <a:xfrm>
                  <a:off x="-38100" y="-28575"/>
                  <a:ext cx="76200" cy="573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0000"/>
                      </a:moveTo>
                      <a:lnTo>
                        <a:pt x="120000" y="60000"/>
                      </a:lnTo>
                      <a:moveTo>
                        <a:pt x="75000" y="0"/>
                      </a:moveTo>
                      <a:lnTo>
                        <a:pt x="120000" y="60000"/>
                      </a:lnTo>
                      <a:lnTo>
                        <a:pt x="75000" y="12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45A3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28" name="Google Shape;628;p31"/>
              <p:cNvGrpSpPr/>
              <p:nvPr/>
            </p:nvGrpSpPr>
            <p:grpSpPr>
              <a:xfrm>
                <a:off x="1809750" y="1095375"/>
                <a:ext cx="228600" cy="228600"/>
                <a:chOff x="-114300" y="-114300"/>
                <a:chExt cx="228600" cy="228600"/>
              </a:xfrm>
            </p:grpSpPr>
            <p:sp>
              <p:nvSpPr>
                <p:cNvPr id="629" name="Google Shape;629;p31"/>
                <p:cNvSpPr/>
                <p:nvPr/>
              </p:nvSpPr>
              <p:spPr>
                <a:xfrm>
                  <a:off x="-114300" y="-114300"/>
                  <a:ext cx="228600" cy="2286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23825">
                  <a:solidFill>
                    <a:srgbClr val="045A3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0" name="Google Shape;630;p31"/>
                <p:cNvSpPr/>
                <p:nvPr/>
              </p:nvSpPr>
              <p:spPr>
                <a:xfrm>
                  <a:off x="-28575" y="-28575"/>
                  <a:ext cx="57300" cy="57300"/>
                </a:xfrm>
                <a:custGeom>
                  <a:rect b="b" l="l" r="r" t="t"/>
                  <a:pathLst>
                    <a:path extrusionOk="0" h="120000" w="120000">
                      <a:moveTo>
                        <a:pt x="120000" y="120000"/>
                      </a:moveTo>
                      <a:lnTo>
                        <a:pt x="0" y="0"/>
                      </a:lnTo>
                      <a:moveTo>
                        <a:pt x="80000" y="0"/>
                      </a:moveTo>
                      <a:lnTo>
                        <a:pt x="0" y="0"/>
                      </a:lnTo>
                      <a:lnTo>
                        <a:pt x="0" y="8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45A3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31" name="Google Shape;631;p31"/>
              <p:cNvGrpSpPr/>
              <p:nvPr/>
            </p:nvGrpSpPr>
            <p:grpSpPr>
              <a:xfrm>
                <a:off x="1809750" y="2676525"/>
                <a:ext cx="228600" cy="228600"/>
                <a:chOff x="-114300" y="-114300"/>
                <a:chExt cx="228600" cy="228600"/>
              </a:xfrm>
            </p:grpSpPr>
            <p:sp>
              <p:nvSpPr>
                <p:cNvPr id="632" name="Google Shape;632;p31"/>
                <p:cNvSpPr/>
                <p:nvPr/>
              </p:nvSpPr>
              <p:spPr>
                <a:xfrm>
                  <a:off x="-114300" y="-114300"/>
                  <a:ext cx="228600" cy="2286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23825">
                  <a:solidFill>
                    <a:srgbClr val="045A3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3" name="Google Shape;633;p31"/>
                <p:cNvSpPr/>
                <p:nvPr/>
              </p:nvSpPr>
              <p:spPr>
                <a:xfrm>
                  <a:off x="-28575" y="-28575"/>
                  <a:ext cx="57300" cy="57300"/>
                </a:xfrm>
                <a:custGeom>
                  <a:rect b="b" l="l" r="r" t="t"/>
                  <a:pathLst>
                    <a:path extrusionOk="0" h="120000" w="120000">
                      <a:moveTo>
                        <a:pt x="120000" y="0"/>
                      </a:moveTo>
                      <a:lnTo>
                        <a:pt x="0" y="120000"/>
                      </a:lnTo>
                      <a:moveTo>
                        <a:pt x="80000" y="120000"/>
                      </a:moveTo>
                      <a:lnTo>
                        <a:pt x="0" y="120000"/>
                      </a:lnTo>
                      <a:lnTo>
                        <a:pt x="0" y="4000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045A36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34" name="Google Shape;634;p31"/>
              <p:cNvSpPr txBox="1"/>
              <p:nvPr/>
            </p:nvSpPr>
            <p:spPr>
              <a:xfrm>
                <a:off x="3000375" y="1000125"/>
                <a:ext cx="1524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D4A01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Public Interface</a:t>
                </a:r>
                <a:endParaRPr b="0" sz="1100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Controlled Access</a:t>
                </a:r>
                <a:endParaRPr b="0" sz="9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635" name="Google Shape;635;p3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2876550" y="1347788"/>
                <a:ext cx="223800" cy="162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6" name="Google Shape;636;p31"/>
              <p:cNvSpPr txBox="1"/>
              <p:nvPr/>
            </p:nvSpPr>
            <p:spPr>
              <a:xfrm>
                <a:off x="238125" y="2647950"/>
                <a:ext cx="1524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Private State</a:t>
                </a:r>
                <a:endParaRPr b="0" sz="11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  <a:p>
                <a:pPr indent="0" lvl="0" marL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Hidden &amp; Secured</a:t>
                </a:r>
                <a:endParaRPr b="0" sz="9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pic>
            <p:nvPicPr>
              <p:cNvPr id="637" name="Google Shape;637;p31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662113" y="2343150"/>
                <a:ext cx="285900" cy="442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638" name="Google Shape;638;p31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2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5" name="Google Shape;645;p32"/>
          <p:cNvGrpSpPr/>
          <p:nvPr/>
        </p:nvGrpSpPr>
        <p:grpSpPr>
          <a:xfrm>
            <a:off x="762000" y="571500"/>
            <a:ext cx="10668000" cy="571650"/>
            <a:chOff x="762000" y="571500"/>
            <a:chExt cx="10668000" cy="571650"/>
          </a:xfrm>
        </p:grpSpPr>
        <p:sp>
          <p:nvSpPr>
            <p:cNvPr id="646" name="Google Shape;646;p32"/>
            <p:cNvSpPr txBox="1"/>
            <p:nvPr/>
          </p:nvSpPr>
          <p:spPr>
            <a:xfrm>
              <a:off x="762000" y="57150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Access Modifiers in Python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647" name="Google Shape;647;p32"/>
            <p:cNvSpPr/>
            <p:nvPr/>
          </p:nvSpPr>
          <p:spPr>
            <a:xfrm>
              <a:off x="762000" y="1123950"/>
              <a:ext cx="10668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32"/>
          <p:cNvSpPr txBox="1"/>
          <p:nvPr/>
        </p:nvSpPr>
        <p:spPr>
          <a:xfrm>
            <a:off x="762000" y="1381125"/>
            <a:ext cx="10668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Convention: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Python relies on explicit naming conventions to signal member visibility and access levels.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49" name="Google Shape;649;p32"/>
          <p:cNvGrpSpPr/>
          <p:nvPr/>
        </p:nvGrpSpPr>
        <p:grpSpPr>
          <a:xfrm>
            <a:off x="762000" y="1885950"/>
            <a:ext cx="10649100" cy="2190900"/>
            <a:chOff x="762000" y="1885950"/>
            <a:chExt cx="10649100" cy="2190900"/>
          </a:xfrm>
        </p:grpSpPr>
        <p:grpSp>
          <p:nvGrpSpPr>
            <p:cNvPr id="650" name="Google Shape;650;p32"/>
            <p:cNvGrpSpPr/>
            <p:nvPr/>
          </p:nvGrpSpPr>
          <p:grpSpPr>
            <a:xfrm>
              <a:off x="762000" y="1885950"/>
              <a:ext cx="3295800" cy="2190900"/>
              <a:chOff x="0" y="0"/>
              <a:chExt cx="3295800" cy="2190900"/>
            </a:xfrm>
          </p:grpSpPr>
          <p:sp>
            <p:nvSpPr>
              <p:cNvPr id="651" name="Google Shape;651;p32"/>
              <p:cNvSpPr/>
              <p:nvPr/>
            </p:nvSpPr>
            <p:spPr>
              <a:xfrm>
                <a:off x="0" y="0"/>
                <a:ext cx="3295800" cy="2190900"/>
              </a:xfrm>
              <a:prstGeom prst="roundRect">
                <a:avLst>
                  <a:gd fmla="val 52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32"/>
              <p:cNvSpPr/>
              <p:nvPr/>
            </p:nvSpPr>
            <p:spPr>
              <a:xfrm>
                <a:off x="0" y="0"/>
                <a:ext cx="3295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32"/>
              <p:cNvSpPr txBox="1"/>
              <p:nvPr/>
            </p:nvSpPr>
            <p:spPr>
              <a:xfrm>
                <a:off x="190500" y="190500"/>
                <a:ext cx="29148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PUBLIC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4" name="Google Shape;654;p32"/>
              <p:cNvSpPr txBox="1"/>
              <p:nvPr/>
            </p:nvSpPr>
            <p:spPr>
              <a:xfrm>
                <a:off x="190500" y="523875"/>
                <a:ext cx="29148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Accessible from anywhere, both inside and outside the class.</a:t>
                </a:r>
                <a:endParaRPr b="0" sz="13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No prefix notation.</a:t>
                </a:r>
                <a:endParaRPr b="0" sz="12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5" name="Google Shape;655;p32"/>
              <p:cNvSpPr/>
              <p:nvPr/>
            </p:nvSpPr>
            <p:spPr>
              <a:xfrm>
                <a:off x="190500" y="1571625"/>
                <a:ext cx="2914800" cy="428700"/>
              </a:xfrm>
              <a:prstGeom prst="roundRect">
                <a:avLst>
                  <a:gd fmla="val 13333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32"/>
              <p:cNvSpPr/>
              <p:nvPr/>
            </p:nvSpPr>
            <p:spPr>
              <a:xfrm>
                <a:off x="190500" y="1571625"/>
                <a:ext cx="38100" cy="4287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32"/>
              <p:cNvSpPr txBox="1"/>
              <p:nvPr/>
            </p:nvSpPr>
            <p:spPr>
              <a:xfrm>
                <a:off x="333375" y="1685925"/>
                <a:ext cx="2667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self.</a:t>
                </a:r>
                <a:r>
                  <a:rPr b="1" lang="en" sz="12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variable</a:t>
                </a:r>
                <a:endParaRPr b="0" sz="12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658" name="Google Shape;658;p32"/>
            <p:cNvGrpSpPr/>
            <p:nvPr/>
          </p:nvGrpSpPr>
          <p:grpSpPr>
            <a:xfrm>
              <a:off x="4438650" y="1885950"/>
              <a:ext cx="3295800" cy="2190900"/>
              <a:chOff x="0" y="0"/>
              <a:chExt cx="3295800" cy="2190900"/>
            </a:xfrm>
          </p:grpSpPr>
          <p:sp>
            <p:nvSpPr>
              <p:cNvPr id="659" name="Google Shape;659;p32"/>
              <p:cNvSpPr/>
              <p:nvPr/>
            </p:nvSpPr>
            <p:spPr>
              <a:xfrm>
                <a:off x="0" y="0"/>
                <a:ext cx="3295800" cy="2190900"/>
              </a:xfrm>
              <a:prstGeom prst="roundRect">
                <a:avLst>
                  <a:gd fmla="val 52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32"/>
              <p:cNvSpPr/>
              <p:nvPr/>
            </p:nvSpPr>
            <p:spPr>
              <a:xfrm>
                <a:off x="0" y="0"/>
                <a:ext cx="3295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32"/>
              <p:cNvSpPr txBox="1"/>
              <p:nvPr/>
            </p:nvSpPr>
            <p:spPr>
              <a:xfrm>
                <a:off x="190500" y="190500"/>
                <a:ext cx="29148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PROTECTED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2" name="Google Shape;662;p32"/>
              <p:cNvSpPr txBox="1"/>
              <p:nvPr/>
            </p:nvSpPr>
            <p:spPr>
              <a:xfrm>
                <a:off x="190500" y="523875"/>
                <a:ext cx="29148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Accessible within the class and its subclasses.</a:t>
                </a:r>
                <a:endParaRPr b="0" sz="13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Single underscore prefix.</a:t>
                </a:r>
                <a:endParaRPr b="0" sz="12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3" name="Google Shape;663;p32"/>
              <p:cNvSpPr/>
              <p:nvPr/>
            </p:nvSpPr>
            <p:spPr>
              <a:xfrm>
                <a:off x="190500" y="1571625"/>
                <a:ext cx="2914800" cy="428700"/>
              </a:xfrm>
              <a:prstGeom prst="roundRect">
                <a:avLst>
                  <a:gd fmla="val 13333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32"/>
              <p:cNvSpPr/>
              <p:nvPr/>
            </p:nvSpPr>
            <p:spPr>
              <a:xfrm>
                <a:off x="190500" y="1571625"/>
                <a:ext cx="38100" cy="4287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32"/>
              <p:cNvSpPr txBox="1"/>
              <p:nvPr/>
            </p:nvSpPr>
            <p:spPr>
              <a:xfrm>
                <a:off x="333375" y="1685925"/>
                <a:ext cx="2667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self.</a:t>
                </a:r>
                <a:r>
                  <a:rPr b="1" lang="en" sz="12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_variable</a:t>
                </a:r>
                <a:endParaRPr b="0" sz="12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  <p:grpSp>
          <p:nvGrpSpPr>
            <p:cNvPr id="666" name="Google Shape;666;p32"/>
            <p:cNvGrpSpPr/>
            <p:nvPr/>
          </p:nvGrpSpPr>
          <p:grpSpPr>
            <a:xfrm>
              <a:off x="8115300" y="1885950"/>
              <a:ext cx="3295800" cy="2190900"/>
              <a:chOff x="0" y="0"/>
              <a:chExt cx="3295800" cy="2190900"/>
            </a:xfrm>
          </p:grpSpPr>
          <p:sp>
            <p:nvSpPr>
              <p:cNvPr id="667" name="Google Shape;667;p32"/>
              <p:cNvSpPr/>
              <p:nvPr/>
            </p:nvSpPr>
            <p:spPr>
              <a:xfrm>
                <a:off x="0" y="0"/>
                <a:ext cx="3295800" cy="2190900"/>
              </a:xfrm>
              <a:prstGeom prst="roundRect">
                <a:avLst>
                  <a:gd fmla="val 52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32"/>
              <p:cNvSpPr/>
              <p:nvPr/>
            </p:nvSpPr>
            <p:spPr>
              <a:xfrm>
                <a:off x="0" y="0"/>
                <a:ext cx="32958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32"/>
              <p:cNvSpPr txBox="1"/>
              <p:nvPr/>
            </p:nvSpPr>
            <p:spPr>
              <a:xfrm>
                <a:off x="190500" y="190500"/>
                <a:ext cx="29148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PRIVATE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0" name="Google Shape;670;p32"/>
              <p:cNvSpPr txBox="1"/>
              <p:nvPr/>
            </p:nvSpPr>
            <p:spPr>
              <a:xfrm>
                <a:off x="190500" y="523875"/>
                <a:ext cx="29148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Accessible only within the defining class.</a:t>
                </a:r>
                <a:endParaRPr b="0" sz="13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Double underscore prefix.</a:t>
                </a:r>
                <a:endParaRPr b="0" sz="12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1" name="Google Shape;671;p32"/>
              <p:cNvSpPr/>
              <p:nvPr/>
            </p:nvSpPr>
            <p:spPr>
              <a:xfrm>
                <a:off x="190500" y="1571625"/>
                <a:ext cx="2914800" cy="428700"/>
              </a:xfrm>
              <a:prstGeom prst="roundRect">
                <a:avLst>
                  <a:gd fmla="val 13333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32"/>
              <p:cNvSpPr/>
              <p:nvPr/>
            </p:nvSpPr>
            <p:spPr>
              <a:xfrm>
                <a:off x="190500" y="1571625"/>
                <a:ext cx="38100" cy="4287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32"/>
              <p:cNvSpPr txBox="1"/>
              <p:nvPr/>
            </p:nvSpPr>
            <p:spPr>
              <a:xfrm>
                <a:off x="333375" y="1685925"/>
                <a:ext cx="2667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self.</a:t>
                </a:r>
                <a:r>
                  <a:rPr b="1" lang="en" sz="12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__variable</a:t>
                </a:r>
                <a:endParaRPr b="0" sz="12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grpSp>
        <p:nvGrpSpPr>
          <p:cNvPr id="674" name="Google Shape;674;p32"/>
          <p:cNvGrpSpPr/>
          <p:nvPr/>
        </p:nvGrpSpPr>
        <p:grpSpPr>
          <a:xfrm>
            <a:off x="762000" y="4333875"/>
            <a:ext cx="10668000" cy="1333500"/>
            <a:chOff x="0" y="0"/>
            <a:chExt cx="10668000" cy="1333500"/>
          </a:xfrm>
        </p:grpSpPr>
        <p:sp>
          <p:nvSpPr>
            <p:cNvPr id="675" name="Google Shape;675;p32"/>
            <p:cNvSpPr/>
            <p:nvPr/>
          </p:nvSpPr>
          <p:spPr>
            <a:xfrm>
              <a:off x="0" y="0"/>
              <a:ext cx="10668000" cy="1333500"/>
            </a:xfrm>
            <a:prstGeom prst="roundRect">
              <a:avLst>
                <a:gd fmla="val 5714" name="adj"/>
              </a:avLst>
            </a:prstGeom>
            <a:solidFill>
              <a:srgbClr val="FEE2E2"/>
            </a:solidFill>
            <a:ln cap="flat" cmpd="sng" w="9525">
              <a:solidFill>
                <a:srgbClr val="F8717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2"/>
            <p:cNvSpPr/>
            <p:nvPr/>
          </p:nvSpPr>
          <p:spPr>
            <a:xfrm>
              <a:off x="0" y="0"/>
              <a:ext cx="76200" cy="1333500"/>
            </a:xfrm>
            <a:prstGeom prst="roundRect">
              <a:avLst>
                <a:gd fmla="val 50000" name="adj"/>
              </a:avLst>
            </a:prstGeom>
            <a:solidFill>
              <a:srgbClr val="B9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2"/>
            <p:cNvSpPr txBox="1"/>
            <p:nvPr/>
          </p:nvSpPr>
          <p:spPr>
            <a:xfrm>
              <a:off x="333375" y="190500"/>
              <a:ext cx="10001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Crucial Note</a:t>
              </a:r>
              <a:endParaRPr b="1" sz="12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Python </a:t>
              </a:r>
              <a:r>
                <a:rPr b="1" lang="en" sz="140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does not enforce strict access modifiers</a:t>
              </a:r>
              <a:r>
                <a:rPr b="0" lang="en" sz="1400">
                  <a:solidFill>
                    <a:srgbClr val="991B1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like Java or C++. All attributes remain technically public; naming conventions serve as a strong visual contract and developer guideline to respect encapsulation.</a:t>
              </a:r>
              <a:endParaRPr b="0" sz="1400">
                <a:solidFill>
                  <a:srgbClr val="991B1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678" name="Google Shape;678;p32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Object-Oriented Programming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3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3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Public Members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86" name="Google Shape;686;p33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7" name="Google Shape;687;p33"/>
          <p:cNvGrpSpPr/>
          <p:nvPr/>
        </p:nvGrpSpPr>
        <p:grpSpPr>
          <a:xfrm>
            <a:off x="762000" y="1524000"/>
            <a:ext cx="5143500" cy="2381400"/>
            <a:chOff x="0" y="0"/>
            <a:chExt cx="5143500" cy="2381400"/>
          </a:xfrm>
        </p:grpSpPr>
        <p:sp>
          <p:nvSpPr>
            <p:cNvPr id="688" name="Google Shape;688;p33"/>
            <p:cNvSpPr/>
            <p:nvPr/>
          </p:nvSpPr>
          <p:spPr>
            <a:xfrm>
              <a:off x="0" y="0"/>
              <a:ext cx="5143500" cy="2381400"/>
            </a:xfrm>
            <a:prstGeom prst="roundRect">
              <a:avLst>
                <a:gd fmla="val 32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3"/>
            <p:cNvSpPr/>
            <p:nvPr/>
          </p:nvSpPr>
          <p:spPr>
            <a:xfrm>
              <a:off x="0" y="0"/>
              <a:ext cx="57300" cy="23814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3"/>
            <p:cNvSpPr txBox="1"/>
            <p:nvPr/>
          </p:nvSpPr>
          <p:spPr>
            <a:xfrm>
              <a:off x="238125" y="190500"/>
              <a:ext cx="4667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PYTHON CODE</a:t>
              </a:r>
              <a:endParaRPr b="1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1" name="Google Shape;691;p33"/>
            <p:cNvSpPr txBox="1"/>
            <p:nvPr/>
          </p:nvSpPr>
          <p:spPr>
            <a:xfrm>
              <a:off x="238125" y="571500"/>
              <a:ext cx="46674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class</a:t>
              </a:r>
              <a:r>
                <a:rPr b="0" lang="en" sz="12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" sz="1250">
                  <a:solidFill>
                    <a:srgbClr val="045A36"/>
                  </a:solidFill>
                  <a:latin typeface="Arial"/>
                  <a:ea typeface="Arial"/>
                  <a:cs typeface="Arial"/>
                  <a:sym typeface="Arial"/>
                </a:rPr>
                <a:t>Student</a:t>
              </a:r>
              <a:r>
                <a:rPr b="0" lang="en" sz="12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0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def</a:t>
              </a:r>
              <a:r>
                <a:rPr b="0" lang="en" sz="12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" sz="12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__init__</a:t>
              </a:r>
              <a:r>
                <a:rPr b="0" lang="en" sz="12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(self):</a:t>
              </a:r>
              <a:endParaRPr b="0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self.name = </a:t>
              </a:r>
              <a:r>
                <a:rPr b="0" lang="en" sz="125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"Ali"</a:t>
              </a:r>
              <a:endParaRPr b="0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s = Student()</a:t>
              </a:r>
              <a:endParaRPr b="0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5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print</a:t>
              </a:r>
              <a:r>
                <a:rPr b="0" lang="en" sz="125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(s.name)</a:t>
              </a:r>
              <a:endParaRPr b="0" sz="125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2" name="Google Shape;692;p33"/>
          <p:cNvGrpSpPr/>
          <p:nvPr/>
        </p:nvGrpSpPr>
        <p:grpSpPr>
          <a:xfrm>
            <a:off x="762000" y="4095750"/>
            <a:ext cx="5143500" cy="952500"/>
            <a:chOff x="0" y="0"/>
            <a:chExt cx="5143500" cy="952500"/>
          </a:xfrm>
        </p:grpSpPr>
        <p:sp>
          <p:nvSpPr>
            <p:cNvPr id="693" name="Google Shape;693;p33"/>
            <p:cNvSpPr/>
            <p:nvPr/>
          </p:nvSpPr>
          <p:spPr>
            <a:xfrm>
              <a:off x="0" y="0"/>
              <a:ext cx="5143500" cy="952500"/>
            </a:xfrm>
            <a:prstGeom prst="roundRect">
              <a:avLst>
                <a:gd fmla="val 8000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3"/>
            <p:cNvSpPr/>
            <p:nvPr/>
          </p:nvSpPr>
          <p:spPr>
            <a:xfrm>
              <a:off x="0" y="0"/>
              <a:ext cx="57300" cy="9525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3"/>
            <p:cNvSpPr txBox="1"/>
            <p:nvPr/>
          </p:nvSpPr>
          <p:spPr>
            <a:xfrm>
              <a:off x="238125" y="142875"/>
              <a:ext cx="46674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CONSOLE OUTPUT</a:t>
              </a:r>
              <a:endParaRPr b="1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96" name="Google Shape;696;p33"/>
            <p:cNvSpPr txBox="1"/>
            <p:nvPr/>
          </p:nvSpPr>
          <p:spPr>
            <a:xfrm>
              <a:off x="238125" y="428625"/>
              <a:ext cx="4667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Arial"/>
                  <a:ea typeface="Arial"/>
                  <a:cs typeface="Arial"/>
                  <a:sym typeface="Arial"/>
                </a:rPr>
                <a:t>Ali</a:t>
              </a:r>
              <a:endParaRPr b="0" sz="1400">
                <a:solidFill>
                  <a:srgbClr val="045A3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7" name="Google Shape;697;p33"/>
          <p:cNvGrpSpPr/>
          <p:nvPr/>
        </p:nvGrpSpPr>
        <p:grpSpPr>
          <a:xfrm>
            <a:off x="6286500" y="1524000"/>
            <a:ext cx="5143500" cy="3524400"/>
            <a:chOff x="0" y="0"/>
            <a:chExt cx="5143500" cy="3524400"/>
          </a:xfrm>
        </p:grpSpPr>
        <p:sp>
          <p:nvSpPr>
            <p:cNvPr id="698" name="Google Shape;698;p33"/>
            <p:cNvSpPr/>
            <p:nvPr/>
          </p:nvSpPr>
          <p:spPr>
            <a:xfrm>
              <a:off x="0" y="0"/>
              <a:ext cx="51435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3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3"/>
            <p:cNvSpPr txBox="1"/>
            <p:nvPr/>
          </p:nvSpPr>
          <p:spPr>
            <a:xfrm>
              <a:off x="238125" y="238125"/>
              <a:ext cx="4667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CONCEPT DEFINITION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1" name="Google Shape;701;p33"/>
            <p:cNvSpPr txBox="1"/>
            <p:nvPr/>
          </p:nvSpPr>
          <p:spPr>
            <a:xfrm>
              <a:off x="238125" y="619125"/>
              <a:ext cx="4667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Public variables are accessible from anywhere.</a:t>
              </a:r>
              <a:endParaRPr b="0" sz="16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sp>
          <p:nvSpPr>
            <p:cNvPr id="702" name="Google Shape;702;p33"/>
            <p:cNvSpPr/>
            <p:nvPr/>
          </p:nvSpPr>
          <p:spPr>
            <a:xfrm>
              <a:off x="238125" y="1381125"/>
              <a:ext cx="114300" cy="114300"/>
            </a:xfrm>
            <a:prstGeom prst="roundRect">
              <a:avLst>
                <a:gd fmla="val 16666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3"/>
            <p:cNvSpPr txBox="1"/>
            <p:nvPr/>
          </p:nvSpPr>
          <p:spPr>
            <a:xfrm>
              <a:off x="476250" y="1304925"/>
              <a:ext cx="44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Unrestricted Access:</a:t>
              </a:r>
              <a:r>
                <a:rPr b="0" lang="en" sz="1163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Public attributes can be accessed directly from both inside the class methods and outside of the class.</a:t>
              </a:r>
              <a:endParaRPr b="0" sz="1163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4" name="Google Shape;704;p33"/>
            <p:cNvSpPr/>
            <p:nvPr/>
          </p:nvSpPr>
          <p:spPr>
            <a:xfrm>
              <a:off x="238125" y="2047875"/>
              <a:ext cx="114300" cy="114300"/>
            </a:xfrm>
            <a:prstGeom prst="roundRect">
              <a:avLst>
                <a:gd fmla="val 16666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3"/>
            <p:cNvSpPr txBox="1"/>
            <p:nvPr/>
          </p:nvSpPr>
          <p:spPr>
            <a:xfrm>
              <a:off x="476250" y="1971675"/>
              <a:ext cx="44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Dot Notation:</a:t>
              </a:r>
              <a:r>
                <a:rPr b="0" lang="en" sz="1163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External scopes can read and write the values of public variables directly using the instance name dot attribute operator.</a:t>
              </a:r>
              <a:endParaRPr b="0" sz="1163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6" name="Google Shape;706;p33"/>
            <p:cNvSpPr/>
            <p:nvPr/>
          </p:nvSpPr>
          <p:spPr>
            <a:xfrm>
              <a:off x="238125" y="2714625"/>
              <a:ext cx="114300" cy="114300"/>
            </a:xfrm>
            <a:prstGeom prst="roundRect">
              <a:avLst>
                <a:gd fmla="val 16666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3"/>
            <p:cNvSpPr txBox="1"/>
            <p:nvPr/>
          </p:nvSpPr>
          <p:spPr>
            <a:xfrm>
              <a:off x="476250" y="2638425"/>
              <a:ext cx="4429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Default Behavior:</a:t>
              </a:r>
              <a:r>
                <a:rPr b="0" lang="en" sz="1163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In Python, all class members and attributes are public by default unless explicitly configured otherwise.</a:t>
              </a:r>
              <a:endParaRPr b="0" sz="1163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08" name="Google Shape;708;p33"/>
          <p:cNvGrpSpPr/>
          <p:nvPr/>
        </p:nvGrpSpPr>
        <p:grpSpPr>
          <a:xfrm>
            <a:off x="762000" y="5238750"/>
            <a:ext cx="10668000" cy="638250"/>
            <a:chOff x="0" y="0"/>
            <a:chExt cx="10668000" cy="638250"/>
          </a:xfrm>
        </p:grpSpPr>
        <p:sp>
          <p:nvSpPr>
            <p:cNvPr id="709" name="Google Shape;709;p33"/>
            <p:cNvSpPr/>
            <p:nvPr/>
          </p:nvSpPr>
          <p:spPr>
            <a:xfrm>
              <a:off x="0" y="0"/>
              <a:ext cx="38100" cy="6192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3"/>
            <p:cNvSpPr txBox="1"/>
            <p:nvPr/>
          </p:nvSpPr>
          <p:spPr>
            <a:xfrm>
              <a:off x="190500" y="0"/>
              <a:ext cx="10477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KEY TAKEAWAY</a:t>
              </a:r>
              <a:endParaRPr b="1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11" name="Google Shape;711;p33"/>
            <p:cNvSpPr txBox="1"/>
            <p:nvPr/>
          </p:nvSpPr>
          <p:spPr>
            <a:xfrm>
              <a:off x="190500" y="209550"/>
              <a:ext cx="10477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Public attributes allow simple, direct access which is useful for basic data storage, but they do not provide built-in data validation or protection mechanisms.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712" name="Google Shape;712;p33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4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4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Protected Members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20" name="Google Shape;720;p34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4"/>
          <p:cNvSpPr txBox="1"/>
          <p:nvPr/>
        </p:nvSpPr>
        <p:spPr>
          <a:xfrm>
            <a:off x="762000" y="1381125"/>
            <a:ext cx="10668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rPr>
              <a:t>Definition:</a:t>
            </a: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Protected members start with a single underscore.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722" name="Google Shape;722;p34"/>
          <p:cNvGrpSpPr/>
          <p:nvPr/>
        </p:nvGrpSpPr>
        <p:grpSpPr>
          <a:xfrm>
            <a:off x="762000" y="1905000"/>
            <a:ext cx="5143500" cy="3619500"/>
            <a:chOff x="762000" y="1905000"/>
            <a:chExt cx="5143500" cy="3619500"/>
          </a:xfrm>
        </p:grpSpPr>
        <p:sp>
          <p:nvSpPr>
            <p:cNvPr id="723" name="Google Shape;723;p34"/>
            <p:cNvSpPr/>
            <p:nvPr/>
          </p:nvSpPr>
          <p:spPr>
            <a:xfrm>
              <a:off x="762000" y="1905000"/>
              <a:ext cx="5143500" cy="3619500"/>
            </a:xfrm>
            <a:prstGeom prst="roundRect">
              <a:avLst>
                <a:gd fmla="val 2105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762000" y="1905000"/>
              <a:ext cx="57300" cy="3619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4"/>
            <p:cNvSpPr txBox="1"/>
            <p:nvPr/>
          </p:nvSpPr>
          <p:spPr>
            <a:xfrm>
              <a:off x="1047750" y="2190750"/>
              <a:ext cx="4572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class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b="0" lang="en" sz="13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Student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: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def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b="0" lang="en" sz="1300">
                  <a:solidFill>
                    <a:srgbClr val="045A3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__init__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(self):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self.</a:t>
              </a:r>
              <a:r>
                <a:rPr b="0" lang="en" sz="1300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_name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= </a:t>
              </a: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"Ali"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# Accessing protected attribute</a:t>
              </a:r>
              <a:endParaRPr b="0" sz="1100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 = Student()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print(s.</a:t>
              </a:r>
              <a:r>
                <a:rPr b="0" lang="en" sz="1300">
                  <a:solidFill>
                    <a:srgbClr val="D4A01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_name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) </a:t>
              </a:r>
              <a:r>
                <a:rPr b="0" lang="en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# Prints: Ali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26" name="Google Shape;726;p34"/>
          <p:cNvGrpSpPr/>
          <p:nvPr/>
        </p:nvGrpSpPr>
        <p:grpSpPr>
          <a:xfrm>
            <a:off x="6286500" y="1905000"/>
            <a:ext cx="5143500" cy="1714500"/>
            <a:chOff x="6286500" y="1905000"/>
            <a:chExt cx="5143500" cy="1714500"/>
          </a:xfrm>
        </p:grpSpPr>
        <p:sp>
          <p:nvSpPr>
            <p:cNvPr id="727" name="Google Shape;727;p34"/>
            <p:cNvSpPr/>
            <p:nvPr/>
          </p:nvSpPr>
          <p:spPr>
            <a:xfrm>
              <a:off x="6286500" y="1905000"/>
              <a:ext cx="5143500" cy="17145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4"/>
            <p:cNvSpPr/>
            <p:nvPr/>
          </p:nvSpPr>
          <p:spPr>
            <a:xfrm>
              <a:off x="6286500" y="190500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4"/>
            <p:cNvSpPr txBox="1"/>
            <p:nvPr/>
          </p:nvSpPr>
          <p:spPr>
            <a:xfrm>
              <a:off x="6524625" y="2095500"/>
              <a:ext cx="4667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INTENDED USE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0" name="Google Shape;730;p34"/>
            <p:cNvSpPr txBox="1"/>
            <p:nvPr/>
          </p:nvSpPr>
          <p:spPr>
            <a:xfrm>
              <a:off x="6524625" y="2428875"/>
              <a:ext cx="4667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Protected members are primarily intended for </a:t>
              </a:r>
              <a:r>
                <a:rPr b="0" lang="en" sz="1275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internal class operations</a:t>
              </a: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and access within </a:t>
              </a:r>
              <a:r>
                <a:rPr b="0" lang="en" sz="1275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subclasses</a:t>
              </a: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.</a:t>
              </a:r>
              <a:endParaRPr b="0" sz="127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While technically accessible from outside, doing so violates OOP design principles and encapsulation guidelines.</a:t>
              </a:r>
              <a:endParaRPr b="0" sz="127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31" name="Google Shape;731;p34"/>
          <p:cNvGrpSpPr/>
          <p:nvPr/>
        </p:nvGrpSpPr>
        <p:grpSpPr>
          <a:xfrm>
            <a:off x="6286500" y="3810000"/>
            <a:ext cx="5143500" cy="1714500"/>
            <a:chOff x="6286500" y="3810000"/>
            <a:chExt cx="5143500" cy="1714500"/>
          </a:xfrm>
        </p:grpSpPr>
        <p:sp>
          <p:nvSpPr>
            <p:cNvPr id="732" name="Google Shape;732;p34"/>
            <p:cNvSpPr/>
            <p:nvPr/>
          </p:nvSpPr>
          <p:spPr>
            <a:xfrm>
              <a:off x="6286500" y="3810000"/>
              <a:ext cx="5143500" cy="1714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4"/>
            <p:cNvSpPr/>
            <p:nvPr/>
          </p:nvSpPr>
          <p:spPr>
            <a:xfrm>
              <a:off x="6286500" y="3810000"/>
              <a:ext cx="57300" cy="1714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4"/>
            <p:cNvSpPr txBox="1"/>
            <p:nvPr/>
          </p:nvSpPr>
          <p:spPr>
            <a:xfrm>
              <a:off x="6524625" y="4000500"/>
              <a:ext cx="46674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BEHAVIOR &amp; SAFETY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35" name="Google Shape;735;p34"/>
            <p:cNvSpPr txBox="1"/>
            <p:nvPr/>
          </p:nvSpPr>
          <p:spPr>
            <a:xfrm>
              <a:off x="6524625" y="4333875"/>
              <a:ext cx="4667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single underscore acts as a </a:t>
              </a:r>
              <a:r>
                <a:rPr b="0" lang="en" sz="1275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visual warning</a:t>
              </a: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to other developers, requesting them not to modify or access the member.</a:t>
              </a:r>
              <a:endParaRPr b="0" sz="127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It signals </a:t>
              </a:r>
              <a:r>
                <a:rPr b="0" lang="en" sz="1275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developer restraint</a:t>
              </a:r>
              <a:r>
                <a:rPr b="0" lang="en" sz="1275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rather than enforcing physical safety; Python will not raise an error if accessed directly.</a:t>
              </a:r>
              <a:endParaRPr b="0" sz="127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36" name="Google Shape;736;p34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5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Private Members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44" name="Google Shape;744;p3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5"/>
          <p:cNvSpPr txBox="1"/>
          <p:nvPr/>
        </p:nvSpPr>
        <p:spPr>
          <a:xfrm>
            <a:off x="762000" y="1285875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Private members start with double underscores to restrict direct external access.</a:t>
            </a:r>
            <a:endParaRPr b="0" sz="160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746" name="Google Shape;746;p35"/>
          <p:cNvGrpSpPr/>
          <p:nvPr/>
        </p:nvGrpSpPr>
        <p:grpSpPr>
          <a:xfrm>
            <a:off x="762000" y="1809750"/>
            <a:ext cx="5143500" cy="3762375"/>
            <a:chOff x="0" y="0"/>
            <a:chExt cx="5143500" cy="3762375"/>
          </a:xfrm>
        </p:grpSpPr>
        <p:sp>
          <p:nvSpPr>
            <p:cNvPr id="747" name="Google Shape;747;p35"/>
            <p:cNvSpPr txBox="1"/>
            <p:nvPr/>
          </p:nvSpPr>
          <p:spPr>
            <a:xfrm>
              <a:off x="0" y="0"/>
              <a:ext cx="5143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PYTHON CODE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48" name="Google Shape;748;p35"/>
            <p:cNvGrpSpPr/>
            <p:nvPr/>
          </p:nvGrpSpPr>
          <p:grpSpPr>
            <a:xfrm>
              <a:off x="0" y="333375"/>
              <a:ext cx="5143500" cy="3429000"/>
              <a:chOff x="0" y="0"/>
              <a:chExt cx="5143500" cy="3429000"/>
            </a:xfrm>
          </p:grpSpPr>
          <p:sp>
            <p:nvSpPr>
              <p:cNvPr id="749" name="Google Shape;749;p35"/>
              <p:cNvSpPr/>
              <p:nvPr/>
            </p:nvSpPr>
            <p:spPr>
              <a:xfrm>
                <a:off x="0" y="0"/>
                <a:ext cx="5143500" cy="3429000"/>
              </a:xfrm>
              <a:prstGeom prst="roundRect">
                <a:avLst>
                  <a:gd fmla="val 2222" name="adj"/>
                </a:avLst>
              </a:prstGeom>
              <a:solidFill>
                <a:srgbClr val="F1F5F9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35"/>
              <p:cNvSpPr/>
              <p:nvPr/>
            </p:nvSpPr>
            <p:spPr>
              <a:xfrm>
                <a:off x="0" y="0"/>
                <a:ext cx="57300" cy="3429000"/>
              </a:xfrm>
              <a:prstGeom prst="roundRect">
                <a:avLst>
                  <a:gd fmla="val 49999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35"/>
              <p:cNvSpPr txBox="1"/>
              <p:nvPr/>
            </p:nvSpPr>
            <p:spPr>
              <a:xfrm>
                <a:off x="238125" y="238125"/>
                <a:ext cx="4667400" cy="295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class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 Student: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def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 __init__(self):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self.__name = </a:t>
                </a:r>
                <a:r>
                  <a:rPr b="0" lang="en" sz="1300">
                    <a:solidFill>
                      <a:srgbClr val="045A36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"Ali"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 </a:t>
                </a:r>
                <a:r>
                  <a:rPr b="0" lang="en" sz="1100">
                    <a:solidFill>
                      <a:srgbClr val="6B728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# Private attribute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s = Student()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750"/>
                  </a:spcAft>
                  <a:buNone/>
                </a:pPr>
                <a:r>
                  <a:rPr b="0" lang="en" sz="1300">
                    <a:solidFill>
                      <a:srgbClr val="0B7A4B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print</a:t>
                </a:r>
                <a:r>
                  <a:rPr b="0" lang="en" sz="13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(s.__name) </a:t>
                </a:r>
                <a:r>
                  <a:rPr b="0" lang="en" sz="1100">
                    <a:solidFill>
                      <a:srgbClr val="6B7280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# Direct access attempt</a:t>
                </a:r>
                <a:endParaRPr b="0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</p:grpSp>
      </p:grpSp>
      <p:sp>
        <p:nvSpPr>
          <p:cNvPr id="752" name="Google Shape;752;p35"/>
          <p:cNvSpPr/>
          <p:nvPr/>
        </p:nvSpPr>
        <p:spPr>
          <a:xfrm>
            <a:off x="6086475" y="1809750"/>
            <a:ext cx="19200" cy="40005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3" name="Google Shape;753;p35"/>
          <p:cNvGrpSpPr/>
          <p:nvPr/>
        </p:nvGrpSpPr>
        <p:grpSpPr>
          <a:xfrm>
            <a:off x="6477000" y="1809750"/>
            <a:ext cx="5143500" cy="3762225"/>
            <a:chOff x="0" y="0"/>
            <a:chExt cx="5143500" cy="3762225"/>
          </a:xfrm>
        </p:grpSpPr>
        <p:sp>
          <p:nvSpPr>
            <p:cNvPr id="754" name="Google Shape;754;p35"/>
            <p:cNvSpPr txBox="1"/>
            <p:nvPr/>
          </p:nvSpPr>
          <p:spPr>
            <a:xfrm>
              <a:off x="0" y="0"/>
              <a:ext cx="5143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rPr>
                <a:t>ACCESS RESTRICTION</a:t>
              </a:r>
              <a:endParaRPr b="1" sz="1200">
                <a:solidFill>
                  <a:srgbClr val="B91C1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5" name="Google Shape;755;p35"/>
            <p:cNvSpPr txBox="1"/>
            <p:nvPr/>
          </p:nvSpPr>
          <p:spPr>
            <a:xfrm>
              <a:off x="0" y="333375"/>
              <a:ext cx="4953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Direct Access Prohibited:</a:t>
              </a:r>
              <a:r>
                <a:rPr b="0" lang="en" sz="1163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Attempting to reference a private attribute from outside class methods triggers an immediate error.</a:t>
              </a:r>
              <a:endParaRPr b="0" sz="1163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163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Name Mangling:</a:t>
              </a:r>
              <a:r>
                <a:rPr b="0" lang="en" sz="1163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Python internally alters private variable identifiers to prevent accidental modification or namespace pollution.</a:t>
              </a:r>
              <a:endParaRPr b="0" sz="1163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56" name="Google Shape;756;p35"/>
            <p:cNvGrpSpPr/>
            <p:nvPr/>
          </p:nvGrpSpPr>
          <p:grpSpPr>
            <a:xfrm>
              <a:off x="0" y="1762125"/>
              <a:ext cx="4953000" cy="2000100"/>
              <a:chOff x="0" y="0"/>
              <a:chExt cx="4953000" cy="2000100"/>
            </a:xfrm>
          </p:grpSpPr>
          <p:sp>
            <p:nvSpPr>
              <p:cNvPr id="757" name="Google Shape;757;p35"/>
              <p:cNvSpPr/>
              <p:nvPr/>
            </p:nvSpPr>
            <p:spPr>
              <a:xfrm>
                <a:off x="0" y="0"/>
                <a:ext cx="4953000" cy="2000100"/>
              </a:xfrm>
              <a:prstGeom prst="roundRect">
                <a:avLst>
                  <a:gd fmla="val 3809" name="adj"/>
                </a:avLst>
              </a:prstGeom>
              <a:solidFill>
                <a:srgbClr val="FEE2E2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35"/>
              <p:cNvSpPr/>
              <p:nvPr/>
            </p:nvSpPr>
            <p:spPr>
              <a:xfrm>
                <a:off x="0" y="0"/>
                <a:ext cx="57300" cy="2000100"/>
              </a:xfrm>
              <a:prstGeom prst="roundRect">
                <a:avLst>
                  <a:gd fmla="val 49999" name="adj"/>
                </a:avLst>
              </a:prstGeom>
              <a:solidFill>
                <a:srgbClr val="B91C1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35"/>
              <p:cNvSpPr txBox="1"/>
              <p:nvPr/>
            </p:nvSpPr>
            <p:spPr>
              <a:xfrm>
                <a:off x="238125" y="190500"/>
                <a:ext cx="44769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B91C1C"/>
                    </a:solidFill>
                    <a:latin typeface="Inter"/>
                    <a:ea typeface="Inter"/>
                    <a:cs typeface="Inter"/>
                    <a:sym typeface="Inter"/>
                  </a:rPr>
                  <a:t>Console Output (Execution Error)</a:t>
                </a:r>
                <a:endParaRPr b="1" sz="1100">
                  <a:solidFill>
                    <a:srgbClr val="B91C1C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7F1D1D"/>
                    </a:solidFill>
                    <a:highlight>
                      <a:srgbClr val="FFF1F1"/>
                    </a:highlight>
                    <a:latin typeface="Arial"/>
                    <a:ea typeface="Arial"/>
                    <a:cs typeface="Arial"/>
                    <a:sym typeface="Arial"/>
                  </a:rPr>
                  <a:t>AttributeError: 'Student' object has no attribute '__name'</a:t>
                </a:r>
                <a:endParaRPr b="0" sz="1200">
                  <a:solidFill>
                    <a:srgbClr val="7F1D1D"/>
                  </a:solidFill>
                  <a:highlight>
                    <a:srgbClr val="FFF1F1"/>
                  </a:highlight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Result:</a:t>
                </a:r>
                <a:r>
                  <a:rPr b="0" lang="en" sz="12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The program safely terminates to prevent direct private variable exposure.</a:t>
                </a:r>
                <a:endParaRPr b="0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760" name="Google Shape;760;p35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 &amp; Private Members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6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Accessing Private Variables using Methods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68" name="Google Shape;768;p3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6"/>
          <p:cNvSpPr txBox="1"/>
          <p:nvPr/>
        </p:nvSpPr>
        <p:spPr>
          <a:xfrm>
            <a:off x="762000" y="1428750"/>
            <a:ext cx="5143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CODE IMPLEMENTATION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0" name="Google Shape;770;p36"/>
          <p:cNvGrpSpPr/>
          <p:nvPr/>
        </p:nvGrpSpPr>
        <p:grpSpPr>
          <a:xfrm>
            <a:off x="762000" y="1762125"/>
            <a:ext cx="5143500" cy="2857500"/>
            <a:chOff x="0" y="0"/>
            <a:chExt cx="5143500" cy="2857500"/>
          </a:xfrm>
        </p:grpSpPr>
        <p:sp>
          <p:nvSpPr>
            <p:cNvPr id="771" name="Google Shape;771;p36"/>
            <p:cNvSpPr/>
            <p:nvPr/>
          </p:nvSpPr>
          <p:spPr>
            <a:xfrm>
              <a:off x="0" y="0"/>
              <a:ext cx="5143500" cy="2857500"/>
            </a:xfrm>
            <a:prstGeom prst="roundRect">
              <a:avLst>
                <a:gd fmla="val 2666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6"/>
            <p:cNvSpPr/>
            <p:nvPr/>
          </p:nvSpPr>
          <p:spPr>
            <a:xfrm>
              <a:off x="0" y="0"/>
              <a:ext cx="57300" cy="28575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6"/>
            <p:cNvSpPr txBox="1"/>
            <p:nvPr/>
          </p:nvSpPr>
          <p:spPr>
            <a:xfrm>
              <a:off x="238125" y="190500"/>
              <a:ext cx="4667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class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Student: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__init__(self):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self.</a:t>
              </a:r>
              <a:r>
                <a:rPr b="0" lang="en" sz="1300">
                  <a:solidFill>
                    <a:srgbClr val="B91C1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__name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= </a:t>
              </a:r>
              <a:r>
                <a:rPr b="0" lang="en" sz="1300">
                  <a:solidFill>
                    <a:srgbClr val="0B7A4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"Ali"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b="0" lang="en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# Private variable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def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get_name(self):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return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self.</a:t>
              </a:r>
              <a:r>
                <a:rPr b="0" lang="en" sz="1300">
                  <a:solidFill>
                    <a:srgbClr val="B91C1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__name</a:t>
              </a: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b="0" lang="en" sz="1100">
                  <a:solidFill>
                    <a:srgbClr val="6B728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# Getter method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 = Student()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print(s.get_name())</a:t>
              </a:r>
              <a:endParaRPr b="0" sz="1300">
                <a:solidFill>
                  <a:srgbClr val="1F2937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74" name="Google Shape;774;p36"/>
          <p:cNvGrpSpPr/>
          <p:nvPr/>
        </p:nvGrpSpPr>
        <p:grpSpPr>
          <a:xfrm>
            <a:off x="762000" y="4810125"/>
            <a:ext cx="5143500" cy="857400"/>
            <a:chOff x="0" y="0"/>
            <a:chExt cx="5143500" cy="857400"/>
          </a:xfrm>
        </p:grpSpPr>
        <p:sp>
          <p:nvSpPr>
            <p:cNvPr id="775" name="Google Shape;775;p36"/>
            <p:cNvSpPr/>
            <p:nvPr/>
          </p:nvSpPr>
          <p:spPr>
            <a:xfrm>
              <a:off x="0" y="0"/>
              <a:ext cx="51435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6"/>
            <p:cNvSpPr/>
            <p:nvPr/>
          </p:nvSpPr>
          <p:spPr>
            <a:xfrm>
              <a:off x="0" y="0"/>
              <a:ext cx="57300" cy="8574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6"/>
            <p:cNvSpPr txBox="1"/>
            <p:nvPr/>
          </p:nvSpPr>
          <p:spPr>
            <a:xfrm>
              <a:off x="238125" y="142875"/>
              <a:ext cx="4667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CONSOLE OUTPUT</a:t>
              </a:r>
              <a:endParaRPr b="1" sz="11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Ali</a:t>
              </a:r>
              <a:endParaRPr b="0" sz="14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778" name="Google Shape;778;p36"/>
          <p:cNvSpPr txBox="1"/>
          <p:nvPr/>
        </p:nvSpPr>
        <p:spPr>
          <a:xfrm>
            <a:off x="6286500" y="1428750"/>
            <a:ext cx="5143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rPr>
              <a:t>CONTROLLED ACCESS CONCEPT</a:t>
            </a:r>
            <a:endParaRPr b="1" sz="1200">
              <a:solidFill>
                <a:srgbClr val="D4A0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779" name="Google Shape;779;p36"/>
          <p:cNvGrpSpPr/>
          <p:nvPr/>
        </p:nvGrpSpPr>
        <p:grpSpPr>
          <a:xfrm>
            <a:off x="6286500" y="1762125"/>
            <a:ext cx="5143500" cy="3905400"/>
            <a:chOff x="0" y="0"/>
            <a:chExt cx="5143500" cy="3905400"/>
          </a:xfrm>
        </p:grpSpPr>
        <p:sp>
          <p:nvSpPr>
            <p:cNvPr id="780" name="Google Shape;780;p36"/>
            <p:cNvSpPr/>
            <p:nvPr/>
          </p:nvSpPr>
          <p:spPr>
            <a:xfrm>
              <a:off x="0" y="0"/>
              <a:ext cx="5143500" cy="3905400"/>
            </a:xfrm>
            <a:prstGeom prst="roundRect">
              <a:avLst>
                <a:gd fmla="val 292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6"/>
            <p:cNvSpPr/>
            <p:nvPr/>
          </p:nvSpPr>
          <p:spPr>
            <a:xfrm>
              <a:off x="0" y="0"/>
              <a:ext cx="51435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6"/>
            <p:cNvSpPr txBox="1"/>
            <p:nvPr/>
          </p:nvSpPr>
          <p:spPr>
            <a:xfrm>
              <a:off x="238125" y="238125"/>
              <a:ext cx="46674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REGULATING VISIBILITY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83" name="Google Shape;783;p36"/>
            <p:cNvSpPr txBox="1"/>
            <p:nvPr/>
          </p:nvSpPr>
          <p:spPr>
            <a:xfrm>
              <a:off x="238125" y="619125"/>
              <a:ext cx="4667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Getter and Setter methods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act as secure, structured pathways to interact with private class attributes.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84" name="Google Shape;784;p36"/>
            <p:cNvGrpSpPr/>
            <p:nvPr/>
          </p:nvGrpSpPr>
          <p:grpSpPr>
            <a:xfrm>
              <a:off x="238125" y="1476375"/>
              <a:ext cx="4667325" cy="666900"/>
              <a:chOff x="0" y="0"/>
              <a:chExt cx="4667325" cy="666900"/>
            </a:xfrm>
          </p:grpSpPr>
          <p:sp>
            <p:nvSpPr>
              <p:cNvPr id="785" name="Google Shape;785;p36"/>
              <p:cNvSpPr/>
              <p:nvPr/>
            </p:nvSpPr>
            <p:spPr>
              <a:xfrm>
                <a:off x="0" y="57150"/>
                <a:ext cx="95400" cy="95400"/>
              </a:xfrm>
              <a:prstGeom prst="roundRect">
                <a:avLst>
                  <a:gd fmla="val 2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36"/>
              <p:cNvSpPr txBox="1"/>
              <p:nvPr/>
            </p:nvSpPr>
            <p:spPr>
              <a:xfrm>
                <a:off x="238125" y="0"/>
                <a:ext cx="4429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No Direct Access: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Direct external reads (like </a:t>
                </a:r>
                <a:r>
                  <a:rPr b="0" lang="en" sz="1400">
                    <a:solidFill>
                      <a:srgbClr val="B91C1C"/>
                    </a:solidFill>
                    <a:latin typeface="Arial"/>
                    <a:ea typeface="Arial"/>
                    <a:cs typeface="Arial"/>
                    <a:sym typeface="Arial"/>
                  </a:rPr>
                  <a:t>s.__name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) are restricted and will raise an </a:t>
                </a:r>
                <a:r>
                  <a:rPr b="0" lang="en" sz="1400">
                    <a:solidFill>
                      <a:srgbClr val="B91C1C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AttributeError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87" name="Google Shape;787;p36"/>
            <p:cNvGrpSpPr/>
            <p:nvPr/>
          </p:nvGrpSpPr>
          <p:grpSpPr>
            <a:xfrm>
              <a:off x="238125" y="2238375"/>
              <a:ext cx="4667325" cy="666900"/>
              <a:chOff x="0" y="0"/>
              <a:chExt cx="4667325" cy="666900"/>
            </a:xfrm>
          </p:grpSpPr>
          <p:sp>
            <p:nvSpPr>
              <p:cNvPr id="788" name="Google Shape;788;p36"/>
              <p:cNvSpPr/>
              <p:nvPr/>
            </p:nvSpPr>
            <p:spPr>
              <a:xfrm>
                <a:off x="0" y="57150"/>
                <a:ext cx="95400" cy="95400"/>
              </a:xfrm>
              <a:prstGeom prst="roundRect">
                <a:avLst>
                  <a:gd fmla="val 2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36"/>
              <p:cNvSpPr txBox="1"/>
              <p:nvPr/>
            </p:nvSpPr>
            <p:spPr>
              <a:xfrm>
                <a:off x="238125" y="0"/>
                <a:ext cx="4429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Read-Only Safety: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The helper method </a:t>
                </a:r>
                <a:r>
                  <a:rPr b="0" lang="en" sz="1400">
                    <a:solidFill>
                      <a:srgbClr val="045A36"/>
                    </a:solidFill>
                    <a:latin typeface="Arial"/>
                    <a:ea typeface="Arial"/>
                    <a:cs typeface="Arial"/>
                    <a:sym typeface="Arial"/>
                  </a:rPr>
                  <a:t>get_name()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provides safe read-only retrieval without exposing internal code design.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90" name="Google Shape;790;p36"/>
            <p:cNvGrpSpPr/>
            <p:nvPr/>
          </p:nvGrpSpPr>
          <p:grpSpPr>
            <a:xfrm>
              <a:off x="238125" y="3000375"/>
              <a:ext cx="4667325" cy="666900"/>
              <a:chOff x="0" y="0"/>
              <a:chExt cx="4667325" cy="666900"/>
            </a:xfrm>
          </p:grpSpPr>
          <p:sp>
            <p:nvSpPr>
              <p:cNvPr id="791" name="Google Shape;791;p36"/>
              <p:cNvSpPr/>
              <p:nvPr/>
            </p:nvSpPr>
            <p:spPr>
              <a:xfrm>
                <a:off x="0" y="57150"/>
                <a:ext cx="95400" cy="95400"/>
              </a:xfrm>
              <a:prstGeom prst="roundRect">
                <a:avLst>
                  <a:gd fmla="val 2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36"/>
              <p:cNvSpPr txBox="1"/>
              <p:nvPr/>
            </p:nvSpPr>
            <p:spPr>
              <a:xfrm>
                <a:off x="238125" y="0"/>
                <a:ext cx="44292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Encapsulation:</a:t>
                </a:r>
                <a:r>
                  <a:rPr b="0" lang="en" sz="14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Shielding private properties simplifies API debugging and maintains clean object boundaries.</a:t>
                </a:r>
                <a:endParaRPr b="0" sz="14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793" name="Google Shape;793;p36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7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Advantages of Encapsulation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01" name="Google Shape;801;p3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2" name="Google Shape;802;p37"/>
          <p:cNvGrpSpPr/>
          <p:nvPr/>
        </p:nvGrpSpPr>
        <p:grpSpPr>
          <a:xfrm>
            <a:off x="762000" y="1524000"/>
            <a:ext cx="3295800" cy="2476500"/>
            <a:chOff x="0" y="0"/>
            <a:chExt cx="3295800" cy="2476500"/>
          </a:xfrm>
        </p:grpSpPr>
        <p:sp>
          <p:nvSpPr>
            <p:cNvPr id="803" name="Google Shape;803;p37"/>
            <p:cNvSpPr/>
            <p:nvPr/>
          </p:nvSpPr>
          <p:spPr>
            <a:xfrm>
              <a:off x="0" y="0"/>
              <a:ext cx="32958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7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DATA SECURITY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6" name="Google Shape;806;p37"/>
            <p:cNvSpPr txBox="1"/>
            <p:nvPr/>
          </p:nvSpPr>
          <p:spPr>
            <a:xfrm>
              <a:off x="190500" y="619125"/>
              <a:ext cx="2914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Data Hiding: 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Ensures crucial information remains protected through restricted direct access and better security.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07" name="Google Shape;807;p37"/>
          <p:cNvGrpSpPr/>
          <p:nvPr/>
        </p:nvGrpSpPr>
        <p:grpSpPr>
          <a:xfrm>
            <a:off x="4448175" y="1524000"/>
            <a:ext cx="3295800" cy="2476500"/>
            <a:chOff x="0" y="0"/>
            <a:chExt cx="3295800" cy="2476500"/>
          </a:xfrm>
        </p:grpSpPr>
        <p:sp>
          <p:nvSpPr>
            <p:cNvPr id="808" name="Google Shape;808;p37"/>
            <p:cNvSpPr/>
            <p:nvPr/>
          </p:nvSpPr>
          <p:spPr>
            <a:xfrm>
              <a:off x="0" y="0"/>
              <a:ext cx="32958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7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7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MODULARITY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1" name="Google Shape;811;p37"/>
            <p:cNvSpPr txBox="1"/>
            <p:nvPr/>
          </p:nvSpPr>
          <p:spPr>
            <a:xfrm>
              <a:off x="190500" y="619125"/>
              <a:ext cx="2914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Controlled Access: 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Exposes only safe, authorized interfaces to external classes for improved modularity.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12" name="Google Shape;812;p37"/>
          <p:cNvGrpSpPr/>
          <p:nvPr/>
        </p:nvGrpSpPr>
        <p:grpSpPr>
          <a:xfrm>
            <a:off x="8134350" y="1524000"/>
            <a:ext cx="3295800" cy="2476500"/>
            <a:chOff x="0" y="0"/>
            <a:chExt cx="3295800" cy="2476500"/>
          </a:xfrm>
        </p:grpSpPr>
        <p:sp>
          <p:nvSpPr>
            <p:cNvPr id="813" name="Google Shape;813;p37"/>
            <p:cNvSpPr/>
            <p:nvPr/>
          </p:nvSpPr>
          <p:spPr>
            <a:xfrm>
              <a:off x="0" y="0"/>
              <a:ext cx="32958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7"/>
            <p:cNvSpPr/>
            <p:nvPr/>
          </p:nvSpPr>
          <p:spPr>
            <a:xfrm>
              <a:off x="0" y="0"/>
              <a:ext cx="3295800" cy="381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7"/>
            <p:cNvSpPr txBox="1"/>
            <p:nvPr/>
          </p:nvSpPr>
          <p:spPr>
            <a:xfrm>
              <a:off x="190500" y="238125"/>
              <a:ext cx="2914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SYSTEM STABILITY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6" name="Google Shape;816;p37"/>
            <p:cNvSpPr txBox="1"/>
            <p:nvPr/>
          </p:nvSpPr>
          <p:spPr>
            <a:xfrm>
              <a:off x="190500" y="619125"/>
              <a:ext cx="29148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b="0" lang="en" sz="15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Easier Debugging: </a:t>
              </a: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Guarantees better code maintenance, isolated system faults, and increased reliability.</a:t>
              </a:r>
              <a:endParaRPr b="0" sz="15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817" name="Google Shape;817;p37"/>
          <p:cNvGrpSpPr/>
          <p:nvPr/>
        </p:nvGrpSpPr>
        <p:grpSpPr>
          <a:xfrm>
            <a:off x="762000" y="4476750"/>
            <a:ext cx="10668000" cy="809700"/>
            <a:chOff x="0" y="0"/>
            <a:chExt cx="10668000" cy="809700"/>
          </a:xfrm>
        </p:grpSpPr>
        <p:sp>
          <p:nvSpPr>
            <p:cNvPr id="818" name="Google Shape;818;p37"/>
            <p:cNvSpPr/>
            <p:nvPr/>
          </p:nvSpPr>
          <p:spPr>
            <a:xfrm>
              <a:off x="0" y="0"/>
              <a:ext cx="38100" cy="8097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7"/>
            <p:cNvSpPr txBox="1"/>
            <p:nvPr/>
          </p:nvSpPr>
          <p:spPr>
            <a:xfrm>
              <a:off x="190500" y="0"/>
              <a:ext cx="10477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KEY TAKEAWAY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20" name="Google Shape;820;p37"/>
            <p:cNvSpPr txBox="1"/>
            <p:nvPr/>
          </p:nvSpPr>
          <p:spPr>
            <a:xfrm>
              <a:off x="190500" y="285750"/>
              <a:ext cx="10477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65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Encapsulation enables secure data hiding and controlled access, resulting in easier debugging, better code maintenance, and increased reliability.</a:t>
              </a:r>
              <a:endParaRPr b="0" sz="1665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821" name="Google Shape;821;p37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Object-Oriented Programming in Python | Encapsulation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8"/>
          <p:cNvSpPr/>
          <p:nvPr/>
        </p:nvSpPr>
        <p:spPr>
          <a:xfrm>
            <a:off x="0" y="0"/>
            <a:ext cx="12192000" cy="57300"/>
          </a:xfrm>
          <a:prstGeom prst="rect">
            <a:avLst/>
          </a:prstGeom>
          <a:solidFill>
            <a:srgbClr val="045A3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3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Summary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9" name="Google Shape;829;p3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0" name="Google Shape;830;p38"/>
          <p:cNvGrpSpPr/>
          <p:nvPr/>
        </p:nvGrpSpPr>
        <p:grpSpPr>
          <a:xfrm>
            <a:off x="762000" y="1428750"/>
            <a:ext cx="5143575" cy="3162300"/>
            <a:chOff x="0" y="0"/>
            <a:chExt cx="5143575" cy="3162300"/>
          </a:xfrm>
        </p:grpSpPr>
        <p:grpSp>
          <p:nvGrpSpPr>
            <p:cNvPr id="831" name="Google Shape;831;p38"/>
            <p:cNvGrpSpPr/>
            <p:nvPr/>
          </p:nvGrpSpPr>
          <p:grpSpPr>
            <a:xfrm>
              <a:off x="0" y="0"/>
              <a:ext cx="5143575" cy="571500"/>
              <a:chOff x="0" y="0"/>
              <a:chExt cx="5143575" cy="571500"/>
            </a:xfrm>
          </p:grpSpPr>
          <p:grpSp>
            <p:nvGrpSpPr>
              <p:cNvPr id="832" name="Google Shape;832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33" name="Google Shape;833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4" name="Google Shape;834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35" name="Google Shape;835;p38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Programming Paradigms: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Shifted from procedural execution to structured object-oriented models.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36" name="Google Shape;836;p38"/>
            <p:cNvGrpSpPr/>
            <p:nvPr/>
          </p:nvGrpSpPr>
          <p:grpSpPr>
            <a:xfrm>
              <a:off x="0" y="647700"/>
              <a:ext cx="5143575" cy="571500"/>
              <a:chOff x="0" y="0"/>
              <a:chExt cx="5143575" cy="571500"/>
            </a:xfrm>
          </p:grpSpPr>
          <p:grpSp>
            <p:nvGrpSpPr>
              <p:cNvPr id="837" name="Google Shape;837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38" name="Google Shape;838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39" name="Google Shape;839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40" name="Google Shape;840;p38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Classes &amp; Objects: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Defined blueprints via classes and instantiated active objects.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41" name="Google Shape;841;p38"/>
            <p:cNvGrpSpPr/>
            <p:nvPr/>
          </p:nvGrpSpPr>
          <p:grpSpPr>
            <a:xfrm>
              <a:off x="0" y="1295400"/>
              <a:ext cx="5143575" cy="571500"/>
              <a:chOff x="0" y="0"/>
              <a:chExt cx="5143575" cy="571500"/>
            </a:xfrm>
          </p:grpSpPr>
          <p:grpSp>
            <p:nvGrpSpPr>
              <p:cNvPr id="842" name="Google Shape;842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43" name="Google Shape;843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4" name="Google Shape;844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45" name="Google Shape;845;p38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Constructors &amp; self: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Managed object initialization with </a:t>
                </a:r>
                <a:r>
                  <a:rPr b="0" lang="en" sz="1500">
                    <a:solidFill>
                      <a:srgbClr val="374151"/>
                    </a:solidFill>
                    <a:latin typeface="Arial"/>
                    <a:ea typeface="Arial"/>
                    <a:cs typeface="Arial"/>
                    <a:sym typeface="Arial"/>
                  </a:rPr>
                  <a:t>__init__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and referenced instances using </a:t>
                </a:r>
                <a:r>
                  <a:rPr b="0" lang="en" sz="1500">
                    <a:solidFill>
                      <a:srgbClr val="374151"/>
                    </a:solidFill>
                    <a:latin typeface="Arial"/>
                    <a:ea typeface="Arial"/>
                    <a:cs typeface="Arial"/>
                    <a:sym typeface="Arial"/>
                  </a:rPr>
                  <a:t>self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46" name="Google Shape;846;p38"/>
            <p:cNvGrpSpPr/>
            <p:nvPr/>
          </p:nvGrpSpPr>
          <p:grpSpPr>
            <a:xfrm>
              <a:off x="0" y="1943100"/>
              <a:ext cx="5143575" cy="571500"/>
              <a:chOff x="0" y="0"/>
              <a:chExt cx="5143575" cy="571500"/>
            </a:xfrm>
          </p:grpSpPr>
          <p:grpSp>
            <p:nvGrpSpPr>
              <p:cNvPr id="847" name="Google Shape;847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48" name="Google Shape;848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9" name="Google Shape;849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50" name="Google Shape;850;p38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Four Pillars of OOP: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Explored foundational principles that structure complex programs.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51" name="Google Shape;851;p38"/>
            <p:cNvGrpSpPr/>
            <p:nvPr/>
          </p:nvGrpSpPr>
          <p:grpSpPr>
            <a:xfrm>
              <a:off x="0" y="2590800"/>
              <a:ext cx="5143575" cy="571500"/>
              <a:chOff x="0" y="0"/>
              <a:chExt cx="5143575" cy="571500"/>
            </a:xfrm>
          </p:grpSpPr>
          <p:grpSp>
            <p:nvGrpSpPr>
              <p:cNvPr id="852" name="Google Shape;852;p38"/>
              <p:cNvGrpSpPr/>
              <p:nvPr/>
            </p:nvGrpSpPr>
            <p:grpSpPr>
              <a:xfrm>
                <a:off x="0" y="38100"/>
                <a:ext cx="190500" cy="190500"/>
                <a:chOff x="0" y="0"/>
                <a:chExt cx="190500" cy="190500"/>
              </a:xfrm>
            </p:grpSpPr>
            <p:sp>
              <p:nvSpPr>
                <p:cNvPr id="853" name="Google Shape;853;p38"/>
                <p:cNvSpPr/>
                <p:nvPr/>
              </p:nvSpPr>
              <p:spPr>
                <a:xfrm>
                  <a:off x="0" y="0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4" name="Google Shape;854;p38"/>
                <p:cNvSpPr/>
                <p:nvPr/>
              </p:nvSpPr>
              <p:spPr>
                <a:xfrm>
                  <a:off x="57150" y="57150"/>
                  <a:ext cx="76200" cy="666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FFFFF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55" name="Google Shape;855;p38"/>
              <p:cNvSpPr txBox="1"/>
              <p:nvPr/>
            </p:nvSpPr>
            <p:spPr>
              <a:xfrm>
                <a:off x="333375" y="0"/>
                <a:ext cx="48102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1F2937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Encapsulation &amp; Access: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Restriced direct access to private members using double underscores.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56" name="Google Shape;856;p38"/>
          <p:cNvGrpSpPr/>
          <p:nvPr/>
        </p:nvGrpSpPr>
        <p:grpSpPr>
          <a:xfrm>
            <a:off x="6286500" y="1428750"/>
            <a:ext cx="5143500" cy="3143400"/>
            <a:chOff x="0" y="0"/>
            <a:chExt cx="5143500" cy="3143400"/>
          </a:xfrm>
        </p:grpSpPr>
        <p:sp>
          <p:nvSpPr>
            <p:cNvPr id="857" name="Google Shape;857;p38"/>
            <p:cNvSpPr/>
            <p:nvPr/>
          </p:nvSpPr>
          <p:spPr>
            <a:xfrm>
              <a:off x="0" y="0"/>
              <a:ext cx="5143500" cy="3143400"/>
            </a:xfrm>
            <a:prstGeom prst="roundRect">
              <a:avLst>
                <a:gd fmla="val 3636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8"/>
            <p:cNvSpPr/>
            <p:nvPr/>
          </p:nvSpPr>
          <p:spPr>
            <a:xfrm>
              <a:off x="0" y="0"/>
              <a:ext cx="76200" cy="31434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8"/>
            <p:cNvSpPr txBox="1"/>
            <p:nvPr/>
          </p:nvSpPr>
          <p:spPr>
            <a:xfrm>
              <a:off x="285750" y="190500"/>
              <a:ext cx="45720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OOP MODEL RECAP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60" name="Google Shape;860;p38"/>
            <p:cNvSpPr txBox="1"/>
            <p:nvPr/>
          </p:nvSpPr>
          <p:spPr>
            <a:xfrm>
              <a:off x="285750" y="523875"/>
              <a:ext cx="4572000" cy="24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class</a:t>
              </a: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Account</a:t>
              </a: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:</a:t>
              </a:r>
              <a:endParaRPr b="0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def</a:t>
              </a: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__init__</a:t>
              </a: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(self, owner, balance):</a:t>
              </a:r>
              <a:endParaRPr b="0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self.owner = owner </a:t>
              </a:r>
              <a:r>
                <a:rPr b="0" lang="en" sz="11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# Public attribute</a:t>
              </a:r>
              <a:endParaRPr b="0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self.__balance = balance </a:t>
              </a:r>
              <a:r>
                <a:rPr b="0" lang="en" sz="1100">
                  <a:solidFill>
                    <a:srgbClr val="6B7280"/>
                  </a:solidFill>
                  <a:latin typeface="Arial"/>
                  <a:ea typeface="Arial"/>
                  <a:cs typeface="Arial"/>
                  <a:sym typeface="Arial"/>
                </a:rPr>
                <a:t># Private attribute</a:t>
              </a:r>
              <a:endParaRPr b="0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def</a:t>
              </a: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get_balance</a:t>
              </a: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(self):</a:t>
              </a:r>
              <a:endParaRPr b="0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B7A4B"/>
                  </a:solidFill>
                  <a:latin typeface="Arial"/>
                  <a:ea typeface="Arial"/>
                  <a:cs typeface="Arial"/>
                  <a:sym typeface="Arial"/>
                </a:rPr>
                <a:t>return</a:t>
              </a:r>
              <a:r>
                <a:rPr b="0" lang="en" sz="1300">
                  <a:solidFill>
                    <a:srgbClr val="1F2937"/>
                  </a:solidFill>
                  <a:latin typeface="Arial"/>
                  <a:ea typeface="Arial"/>
                  <a:cs typeface="Arial"/>
                  <a:sym typeface="Arial"/>
                </a:rPr>
                <a:t> self.__balance</a:t>
              </a:r>
              <a:endParaRPr b="0" sz="1300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1" name="Google Shape;861;p38"/>
          <p:cNvGrpSpPr/>
          <p:nvPr/>
        </p:nvGrpSpPr>
        <p:grpSpPr>
          <a:xfrm>
            <a:off x="762000" y="4762500"/>
            <a:ext cx="10668000" cy="1047900"/>
            <a:chOff x="0" y="0"/>
            <a:chExt cx="10668000" cy="1047900"/>
          </a:xfrm>
        </p:grpSpPr>
        <p:sp>
          <p:nvSpPr>
            <p:cNvPr id="862" name="Google Shape;862;p38"/>
            <p:cNvSpPr/>
            <p:nvPr/>
          </p:nvSpPr>
          <p:spPr>
            <a:xfrm>
              <a:off x="0" y="0"/>
              <a:ext cx="10668000" cy="1047900"/>
            </a:xfrm>
            <a:prstGeom prst="roundRect">
              <a:avLst>
                <a:gd fmla="val 10909" name="adj"/>
              </a:avLst>
            </a:prstGeom>
            <a:solidFill>
              <a:srgbClr val="EAF2EE"/>
            </a:solidFill>
            <a:ln cap="flat" cmpd="sng" w="9525">
              <a:solidFill>
                <a:srgbClr val="C3DF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8"/>
            <p:cNvSpPr/>
            <p:nvPr/>
          </p:nvSpPr>
          <p:spPr>
            <a:xfrm>
              <a:off x="0" y="0"/>
              <a:ext cx="76200" cy="10479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8"/>
            <p:cNvSpPr txBox="1"/>
            <p:nvPr/>
          </p:nvSpPr>
          <p:spPr>
            <a:xfrm>
              <a:off x="285750" y="190500"/>
              <a:ext cx="100965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NEXT LECTURE PREVIEW</a:t>
              </a:r>
              <a:endParaRPr b="1" sz="12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65" name="Google Shape;865;p38"/>
            <p:cNvSpPr txBox="1"/>
            <p:nvPr/>
          </p:nvSpPr>
          <p:spPr>
            <a:xfrm>
              <a:off x="285750" y="476250"/>
              <a:ext cx="10096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6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Next Topic: </a:t>
              </a:r>
              <a:r>
                <a:rPr b="0" lang="en" sz="136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Inheritance in Python</a:t>
              </a:r>
              <a:r>
                <a:rPr b="0" lang="en" sz="136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— Learn how to extend classes to build highly reusable, scalable, and hierarchical code structures.</a:t>
              </a:r>
              <a:endParaRPr b="0" sz="136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866" name="Google Shape;866;p38"/>
          <p:cNvSpPr txBox="1"/>
          <p:nvPr/>
        </p:nvSpPr>
        <p:spPr>
          <a:xfrm>
            <a:off x="762000" y="6134100"/>
            <a:ext cx="762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Python Development Essentials | Object-Oriented Programming</a:t>
            </a:r>
            <a:endParaRPr b="0" sz="1000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