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  <p:embeddedFont>
      <p:font typeface="Montserrat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352165e82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352165e82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52165e82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352165e8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52165e82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352165e8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52165e82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352165e8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52165e82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352165e8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352165e82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352165e8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52165e82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352165e82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352165e82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352165e82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352165e82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352165e8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352165e82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352165e82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352165e82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352165e8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352165e82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352165e8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52165e82_7_0)">
  <p:cSld name="Generated (g3f352165e82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762000" y="571500"/>
            <a:ext cx="25338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5317" l="0" r="0" t="5317"/>
          <a:stretch/>
        </p:blipFill>
        <p:spPr>
          <a:xfrm>
            <a:off x="10144125" y="428625"/>
            <a:ext cx="1143000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4"/>
          <p:cNvGrpSpPr/>
          <p:nvPr/>
        </p:nvGrpSpPr>
        <p:grpSpPr>
          <a:xfrm>
            <a:off x="2514600" y="2190750"/>
            <a:ext cx="7162800" cy="381000"/>
            <a:chOff x="0" y="0"/>
            <a:chExt cx="7162800" cy="381000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7162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0"/>
              <a:ext cx="716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</a:t>
              </a:r>
              <a:endParaRPr b="1" i="0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2333625" y="2619375"/>
            <a:ext cx="7524900" cy="1143000"/>
            <a:chOff x="0" y="0"/>
            <a:chExt cx="7524900" cy="11430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752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752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Inheritance &amp; Polymorphism</a:t>
              </a:r>
              <a:endParaRPr b="1" i="0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0" lang="en" sz="3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Python</a:t>
              </a:r>
              <a:endParaRPr b="1" i="0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4" name="Google Shape;64;p14"/>
          <p:cNvSpPr/>
          <p:nvPr/>
        </p:nvSpPr>
        <p:spPr>
          <a:xfrm>
            <a:off x="5381625" y="3905250"/>
            <a:ext cx="1428900" cy="38100"/>
          </a:xfrm>
          <a:prstGeom prst="roundRect">
            <a:avLst>
              <a:gd fmla="val 5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14"/>
          <p:cNvGrpSpPr/>
          <p:nvPr/>
        </p:nvGrpSpPr>
        <p:grpSpPr>
          <a:xfrm>
            <a:off x="762000" y="5829300"/>
            <a:ext cx="3105300" cy="523800"/>
            <a:chOff x="0" y="0"/>
            <a:chExt cx="3105300" cy="523800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0" y="0"/>
              <a:ext cx="310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0" i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0" y="190500"/>
              <a:ext cx="3105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Muhammd Yousif Memon</a:t>
              </a:r>
              <a:endParaRPr b="0" i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8382000" y="5829300"/>
            <a:ext cx="3048000" cy="523800"/>
            <a:chOff x="0" y="0"/>
            <a:chExt cx="3048000" cy="523800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0" y="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DATE OF SESSION</a:t>
              </a:r>
              <a:endParaRPr b="0" i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0" y="190500"/>
              <a:ext cx="3048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July 2026</a:t>
              </a:r>
              <a:endParaRPr b="0" i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" name="Google Shape;76;p15"/>
          <p:cNvGrpSpPr/>
          <p:nvPr/>
        </p:nvGrpSpPr>
        <p:grpSpPr>
          <a:xfrm>
            <a:off x="762000" y="523875"/>
            <a:ext cx="9525000" cy="523800"/>
            <a:chOff x="0" y="0"/>
            <a:chExt cx="9525000" cy="5238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9525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0" y="0"/>
              <a:ext cx="9525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Mastering Code Reusability and Flexibility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79" name="Google Shape;79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762000" y="1333500"/>
            <a:ext cx="5715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the end of this session, you will be able to:</a:t>
            </a:r>
            <a:endParaRPr b="0" sz="1500">
              <a:solidFill>
                <a:srgbClr val="1F29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762000" y="1857375"/>
            <a:ext cx="5857875" cy="523800"/>
            <a:chOff x="0" y="0"/>
            <a:chExt cx="5857875" cy="523800"/>
          </a:xfrm>
        </p:grpSpPr>
        <p:grpSp>
          <p:nvGrpSpPr>
            <p:cNvPr id="82" name="Google Shape;82;p1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" name="Google Shape;85;p15"/>
            <p:cNvSpPr txBox="1"/>
            <p:nvPr/>
          </p:nvSpPr>
          <p:spPr>
            <a:xfrm>
              <a:off x="333375" y="0"/>
              <a:ext cx="552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Understand the concept of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Inheritance in Python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762000" y="2571750"/>
            <a:ext cx="5857875" cy="523800"/>
            <a:chOff x="0" y="0"/>
            <a:chExt cx="5857875" cy="52380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5"/>
            <p:cNvSpPr txBox="1"/>
            <p:nvPr/>
          </p:nvSpPr>
          <p:spPr>
            <a:xfrm>
              <a:off x="333375" y="0"/>
              <a:ext cx="552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Implement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Single and Multiple Inheritance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762000" y="3286125"/>
            <a:ext cx="5857875" cy="523800"/>
            <a:chOff x="0" y="0"/>
            <a:chExt cx="5857875" cy="523800"/>
          </a:xfrm>
        </p:grpSpPr>
        <p:grpSp>
          <p:nvGrpSpPr>
            <p:cNvPr id="92" name="Google Shape;92;p1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" name="Google Shape;95;p15"/>
            <p:cNvSpPr txBox="1"/>
            <p:nvPr/>
          </p:nvSpPr>
          <p:spPr>
            <a:xfrm>
              <a:off x="333375" y="0"/>
              <a:ext cx="552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Grasp the concept of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Polymorphism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762000" y="4000500"/>
            <a:ext cx="5857875" cy="523800"/>
            <a:chOff x="0" y="0"/>
            <a:chExt cx="5857875" cy="523800"/>
          </a:xfrm>
        </p:grpSpPr>
        <p:grpSp>
          <p:nvGrpSpPr>
            <p:cNvPr id="97" name="Google Shape;97;p1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" name="Google Shape;100;p15"/>
            <p:cNvSpPr txBox="1"/>
            <p:nvPr/>
          </p:nvSpPr>
          <p:spPr>
            <a:xfrm>
              <a:off x="333375" y="0"/>
              <a:ext cx="552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Apply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 Overriding and Duck Typing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762000" y="4714875"/>
            <a:ext cx="5857875" cy="523800"/>
            <a:chOff x="0" y="0"/>
            <a:chExt cx="5857875" cy="523800"/>
          </a:xfrm>
        </p:grpSpPr>
        <p:grpSp>
          <p:nvGrpSpPr>
            <p:cNvPr id="102" name="Google Shape;102;p1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" name="Google Shape;105;p15"/>
            <p:cNvSpPr txBox="1"/>
            <p:nvPr/>
          </p:nvSpPr>
          <p:spPr>
            <a:xfrm>
              <a:off x="333375" y="0"/>
              <a:ext cx="552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Recognize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real-world applications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in robotics and automation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6858000" y="1428750"/>
            <a:ext cx="4572000" cy="4286400"/>
            <a:chOff x="0" y="0"/>
            <a:chExt cx="4572000" cy="42864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4572000" cy="42864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190500"/>
              <a:ext cx="3905400" cy="3905400"/>
            </a:xfrm>
            <a:prstGeom prst="roundRect">
              <a:avLst>
                <a:gd fmla="val 2926" name="adj"/>
              </a:avLst>
            </a:prstGeom>
            <a:noFill/>
            <a:ln>
              <a:noFill/>
            </a:ln>
          </p:spPr>
        </p:pic>
      </p:grpSp>
      <p:grpSp>
        <p:nvGrpSpPr>
          <p:cNvPr id="109" name="Google Shape;109;p15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Parent-Child Relationships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20" name="Google Shape;120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762000" y="1524000"/>
            <a:ext cx="5143500" cy="1190700"/>
            <a:chOff x="0" y="0"/>
            <a:chExt cx="5143500" cy="11907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51435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0"/>
              <a:ext cx="57300" cy="11907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38125" y="190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THE BLUEPRINT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38125" y="476250"/>
              <a:ext cx="4667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General Concept: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Imagine a general blueprint for a vehicle. It defines core characteristics like wheels, an engine, and doors that all standard vehicles share.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762000" y="2905125"/>
            <a:ext cx="5143500" cy="1190700"/>
            <a:chOff x="0" y="0"/>
            <a:chExt cx="5143500" cy="11907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51435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0" y="0"/>
              <a:ext cx="57300" cy="11907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238125" y="190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THE SPECIALIZED VERSION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238125" y="476250"/>
              <a:ext cx="4667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Inherited Context: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 sports car inherits these basic vehicle features but adds unique, specialized elements like an aerodynamic spoiler or a high-performance engine.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762000" y="4286250"/>
            <a:ext cx="5143500" cy="1381200"/>
            <a:chOff x="0" y="0"/>
            <a:chExt cx="5143500" cy="13812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5143500" cy="1381200"/>
            </a:xfrm>
            <a:prstGeom prst="roundRect">
              <a:avLst>
                <a:gd fmla="val 5517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0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238125" y="190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CODE APPLICATION (OOP)</a:t>
              </a:r>
              <a:endParaRPr b="1" sz="11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238125" y="476250"/>
              <a:ext cx="4667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Parent &amp; Child Classes: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In OOP, the general blueprint is the </a:t>
              </a:r>
              <a:r>
                <a:rPr b="1" lang="en" sz="11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Parent (Base)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class, and the specialized version is the </a:t>
              </a:r>
              <a:r>
                <a:rPr b="1" lang="en" sz="11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Child (Derived)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class. The child automatically inherits common code to maximize reuse.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6286500" y="1524000"/>
            <a:ext cx="5143500" cy="3857700"/>
            <a:chOff x="0" y="0"/>
            <a:chExt cx="5143500" cy="3857700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8" name="Google Shape;13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</p:grpSp>
      <p:grpSp>
        <p:nvGrpSpPr>
          <p:cNvPr id="139" name="Google Shape;139;p16"/>
          <p:cNvGrpSpPr/>
          <p:nvPr/>
        </p:nvGrpSpPr>
        <p:grpSpPr>
          <a:xfrm>
            <a:off x="6286500" y="5476875"/>
            <a:ext cx="5143500" cy="190500"/>
            <a:chOff x="0" y="0"/>
            <a:chExt cx="5143500" cy="1905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5143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0" y="0"/>
              <a:ext cx="514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Vehicle Architecture &amp; Inheritance Concept Diagram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 in Python | Parent-Child Relationships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7"/>
          <p:cNvGrpSpPr/>
          <p:nvPr/>
        </p:nvGrpSpPr>
        <p:grpSpPr>
          <a:xfrm>
            <a:off x="0" y="0"/>
            <a:ext cx="7620000" cy="190500"/>
            <a:chOff x="0" y="0"/>
            <a:chExt cx="7620000" cy="190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5" name="Google Shape;155;p1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Syntax and Mechanics of Base &amp; Derived Classes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56" name="Google Shape;156;p17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CODE SNIPPET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Animal: 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Base Class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</a:t>
              </a: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speak(self):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    print(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"Animal sound"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)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Dog(Animal): 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Derived Class inheriting from Animal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</a:t>
              </a: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bark(self):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    print(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"Woof!"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)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my_dog = Dog()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my_dog.speak() 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Inherited method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my_dog.bark()  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Specific method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EXPLANATION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 Hierarchies</a:t>
              </a:r>
              <a:endParaRPr b="0" sz="16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 Class (Parent)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38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class whose properties and methods are inherited.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Derived Class (Child)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38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class that inherits from the base class.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Creating Specialized Child Classes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762000" y="1524000"/>
            <a:ext cx="5143500" cy="4095900"/>
            <a:chOff x="0" y="0"/>
            <a:chExt cx="5143500" cy="4095900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5143500" cy="4095900"/>
            </a:xfrm>
            <a:prstGeom prst="roundRect">
              <a:avLst>
                <a:gd fmla="val 186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0"/>
              <a:ext cx="57300" cy="4095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238125" y="666750"/>
              <a:ext cx="4667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0" lang="en" sz="13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Sensor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__init__(self, name):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self.name = name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read_data(self):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pass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0" lang="en" sz="13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TemperatureSensor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(Sensor):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read_data(self):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return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0" lang="en" sz="1350">
                  <a:solidFill>
                    <a:srgbClr val="D4A017"/>
                  </a:solidFill>
                  <a:latin typeface="Courier"/>
                  <a:ea typeface="Courier"/>
                  <a:cs typeface="Courier"/>
                  <a:sym typeface="Courier"/>
                </a:rPr>
                <a:t>25.5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Simulated reading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6286500" y="1524000"/>
            <a:ext cx="5143500" cy="4095900"/>
            <a:chOff x="0" y="0"/>
            <a:chExt cx="5143500" cy="4095900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51435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0" y="0"/>
              <a:ext cx="57300" cy="4095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SINGLE INHERITANCE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238125" y="666750"/>
              <a:ext cx="4667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Single inheritance involves one child class inheriting from exactly one parent class.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89" name="Google Shape;189;p18"/>
            <p:cNvGrpSpPr/>
            <p:nvPr/>
          </p:nvGrpSpPr>
          <p:grpSpPr>
            <a:xfrm>
              <a:off x="238125" y="1428750"/>
              <a:ext cx="4667175" cy="666900"/>
              <a:chOff x="0" y="0"/>
              <a:chExt cx="4667175" cy="666900"/>
            </a:xfrm>
          </p:grpSpPr>
          <p:grpSp>
            <p:nvGrpSpPr>
              <p:cNvPr id="190" name="Google Shape;190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91" name="Google Shape;191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3" name="Google Shape;193;p18"/>
              <p:cNvSpPr txBox="1"/>
              <p:nvPr/>
            </p:nvSpPr>
            <p:spPr>
              <a:xfrm>
                <a:off x="333375" y="0"/>
                <a:ext cx="43338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Simplicity: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It's the most straightforward form of inheritance.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4" name="Google Shape;194;p18"/>
            <p:cNvGrpSpPr/>
            <p:nvPr/>
          </p:nvGrpSpPr>
          <p:grpSpPr>
            <a:xfrm>
              <a:off x="238125" y="2190750"/>
              <a:ext cx="4667175" cy="666900"/>
              <a:chOff x="0" y="0"/>
              <a:chExt cx="4667175" cy="666900"/>
            </a:xfrm>
          </p:grpSpPr>
          <p:grpSp>
            <p:nvGrpSpPr>
              <p:cNvPr id="195" name="Google Shape;195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96" name="Google Shape;196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8" name="Google Shape;198;p18"/>
              <p:cNvSpPr txBox="1"/>
              <p:nvPr/>
            </p:nvSpPr>
            <p:spPr>
              <a:xfrm>
                <a:off x="333375" y="0"/>
                <a:ext cx="43338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Clear Hierarchy: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Creates a direct, linear relationship.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9" name="Google Shape;199;p18"/>
            <p:cNvGrpSpPr/>
            <p:nvPr/>
          </p:nvGrpSpPr>
          <p:grpSpPr>
            <a:xfrm>
              <a:off x="238125" y="2952750"/>
              <a:ext cx="4667175" cy="666900"/>
              <a:chOff x="0" y="0"/>
              <a:chExt cx="4667175" cy="666900"/>
            </a:xfrm>
          </p:grpSpPr>
          <p:grpSp>
            <p:nvGrpSpPr>
              <p:cNvPr id="200" name="Google Shape;200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01" name="Google Shape;201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3" name="Google Shape;203;p18"/>
              <p:cNvSpPr txBox="1"/>
              <p:nvPr/>
            </p:nvSpPr>
            <p:spPr>
              <a:xfrm>
                <a:off x="333375" y="0"/>
                <a:ext cx="43338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Code Reusability: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Promotes reusing the parent's logic without duplication.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Multiple Inheritance &amp; MRO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218" name="Google Shape;218;p1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1904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MULTIPLE INHERITANCE SYNTAX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238125" y="714375"/>
              <a:ext cx="4667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Camera: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take_picture(self): 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pass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Lidar: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scan(self): 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pass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AdvancedRover(Camera, Lidar):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pass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AdvancedRover inherits both take_picture and scan</a:t>
              </a:r>
              <a:endParaRPr b="0" sz="11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222" name="Google Shape;222;p19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223" name="Google Shape;223;p1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METHOD RESOLUTION ORDER (MRO)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238125" y="714375"/>
              <a:ext cx="4667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Single vs. Multiple: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Single inheritance maps one child to one parent class. Multiple inheritance allows a subclass to derive from multiple parent classes simultaneously.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Conflict Management: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If multiple parent classes declare a method with the exact same name, Python must decide which base implementation to execute.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Search Order: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Python relies on the </a:t>
              </a:r>
              <a:r>
                <a:rPr b="0" lang="en" sz="15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 Resolution Order (MRO)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scanning classes from </a:t>
              </a:r>
              <a:r>
                <a:rPr b="0" lang="en" sz="15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left-to-right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as specified in the class definition.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20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235" name="Google Shape;235;p20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238" name="Google Shape;238;p20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The Concept of Multiple Forms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762000" y="1714500"/>
            <a:ext cx="5143575" cy="3905400"/>
            <a:chOff x="0" y="0"/>
            <a:chExt cx="5143575" cy="3905400"/>
          </a:xfrm>
        </p:grpSpPr>
        <p:grpSp>
          <p:nvGrpSpPr>
            <p:cNvPr id="241" name="Google Shape;241;p20"/>
            <p:cNvGrpSpPr/>
            <p:nvPr/>
          </p:nvGrpSpPr>
          <p:grpSpPr>
            <a:xfrm>
              <a:off x="0" y="0"/>
              <a:ext cx="5143500" cy="238200"/>
              <a:chOff x="0" y="0"/>
              <a:chExt cx="5143500" cy="238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0"/>
              <p:cNvSpPr txBox="1"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KEY CONCEPTS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4" name="Google Shape;244;p20"/>
            <p:cNvGrpSpPr/>
            <p:nvPr/>
          </p:nvGrpSpPr>
          <p:grpSpPr>
            <a:xfrm>
              <a:off x="0" y="381000"/>
              <a:ext cx="5143575" cy="1047900"/>
              <a:chOff x="0" y="0"/>
              <a:chExt cx="5143575" cy="1047900"/>
            </a:xfrm>
          </p:grpSpPr>
          <p:grpSp>
            <p:nvGrpSpPr>
              <p:cNvPr id="245" name="Google Shape;245;p20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46" name="Google Shape;246;p20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20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8" name="Google Shape;248;p20"/>
              <p:cNvSpPr txBox="1"/>
              <p:nvPr/>
            </p:nvSpPr>
            <p:spPr>
              <a:xfrm>
                <a:off x="333375" y="0"/>
                <a:ext cx="481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Definition: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Polymorphism means "many forms." In programming, it refers to the ability of different objects to respond to the same method call in their own specific way.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9" name="Google Shape;249;p20"/>
            <p:cNvGrpSpPr/>
            <p:nvPr/>
          </p:nvGrpSpPr>
          <p:grpSpPr>
            <a:xfrm>
              <a:off x="0" y="1619250"/>
              <a:ext cx="5143575" cy="1047900"/>
              <a:chOff x="0" y="0"/>
              <a:chExt cx="5143575" cy="1047900"/>
            </a:xfrm>
          </p:grpSpPr>
          <p:grpSp>
            <p:nvGrpSpPr>
              <p:cNvPr id="250" name="Google Shape;250;p20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51" name="Google Shape;251;p20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" name="Google Shape;252;p20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3" name="Google Shape;253;p20"/>
              <p:cNvSpPr txBox="1"/>
              <p:nvPr/>
            </p:nvSpPr>
            <p:spPr>
              <a:xfrm>
                <a:off x="333375" y="0"/>
                <a:ext cx="481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Flexibility: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It allows us to write more generic code that can handle different types of objects without needing to know their exact class.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>
              <a:off x="0" y="2857500"/>
              <a:ext cx="5143575" cy="1047900"/>
              <a:chOff x="0" y="0"/>
              <a:chExt cx="5143575" cy="1047900"/>
            </a:xfrm>
          </p:grpSpPr>
          <p:grpSp>
            <p:nvGrpSpPr>
              <p:cNvPr id="255" name="Google Shape;255;p20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56" name="Google Shape;256;p20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20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8" name="Google Shape;258;p20"/>
              <p:cNvSpPr txBox="1"/>
              <p:nvPr/>
            </p:nvSpPr>
            <p:spPr>
              <a:xfrm>
                <a:off x="333375" y="0"/>
                <a:ext cx="481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Idea: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 single interface can represent different underlying forms (data types or classes).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9" name="Google Shape;259;p20"/>
          <p:cNvGrpSpPr/>
          <p:nvPr/>
        </p:nvGrpSpPr>
        <p:grpSpPr>
          <a:xfrm>
            <a:off x="6667500" y="1714500"/>
            <a:ext cx="4762500" cy="3810000"/>
            <a:chOff x="0" y="0"/>
            <a:chExt cx="4762500" cy="3810000"/>
          </a:xfrm>
        </p:grpSpPr>
        <p:sp>
          <p:nvSpPr>
            <p:cNvPr id="260" name="Google Shape;260;p20"/>
            <p:cNvSpPr/>
            <p:nvPr/>
          </p:nvSpPr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0" y="0"/>
              <a:ext cx="4762500" cy="47700"/>
            </a:xfrm>
            <a:prstGeom prst="roundRect">
              <a:avLst>
                <a:gd fmla="val 4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285750" y="238125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CONCEPT VISUALIZATION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63" name="Google Shape;26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0125" y="714375"/>
              <a:ext cx="2762400" cy="2762400"/>
            </a:xfrm>
            <a:prstGeom prst="roundRect">
              <a:avLst>
                <a:gd fmla="val 4137" name="adj"/>
              </a:avLst>
            </a:prstGeom>
            <a:noFill/>
            <a:ln>
              <a:noFill/>
            </a:ln>
          </p:spPr>
        </p:pic>
        <p:sp>
          <p:nvSpPr>
            <p:cNvPr id="264" name="Google Shape;264;p20"/>
            <p:cNvSpPr/>
            <p:nvPr/>
          </p:nvSpPr>
          <p:spPr>
            <a:xfrm>
              <a:off x="1000125" y="714375"/>
              <a:ext cx="2762400" cy="2762400"/>
            </a:xfrm>
            <a:prstGeom prst="roundRect">
              <a:avLst>
                <a:gd fmla="val 413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21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273" name="Google Shape;273;p21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5" name="Google Shape;275;p21"/>
          <p:cNvGrpSpPr/>
          <p:nvPr/>
        </p:nvGrpSpPr>
        <p:grpSpPr>
          <a:xfrm>
            <a:off x="762000" y="571500"/>
            <a:ext cx="10668000" cy="428700"/>
            <a:chOff x="0" y="0"/>
            <a:chExt cx="10668000" cy="428700"/>
          </a:xfrm>
        </p:grpSpPr>
        <p:sp>
          <p:nvSpPr>
            <p:cNvPr id="276" name="Google Shape;276;p21"/>
            <p:cNvSpPr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98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Polymorphism in Practice: Method Overriding and Duck Typing</a:t>
              </a:r>
              <a:endParaRPr b="0" sz="2498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278" name="Google Shape;278;p21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279" name="Google Shape;279;p21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 SNIPPETS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2" name="Google Shape;282;p21"/>
            <p:cNvSpPr txBox="1"/>
            <p:nvPr/>
          </p:nvSpPr>
          <p:spPr>
            <a:xfrm>
              <a:off x="238125" y="666750"/>
              <a:ext cx="4667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Method Overriding Example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Bird: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fly(self): print(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"Flying"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)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Penguin(Bird):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fly(self): print(</a:t>
              </a: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"Cannot fly"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)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Duck Typing Example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make_it_fly(entity):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    entity.fly() </a:t>
              </a:r>
              <a:r>
                <a:rPr b="0" lang="en" sz="13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Works as long as fly() exists</a:t>
              </a:r>
              <a:endParaRPr b="0" sz="13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284" name="Google Shape;284;p21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CONCEPTUAL EXPLANATION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7" name="Google Shape;287;p21"/>
            <p:cNvSpPr txBox="1"/>
            <p:nvPr/>
          </p:nvSpPr>
          <p:spPr>
            <a:xfrm>
              <a:off x="238125" y="714375"/>
              <a:ext cx="4667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 Overriding</a:t>
              </a:r>
              <a:endParaRPr b="0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49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 child class provides a specific implementation for a method that is already defined in its parent class. This redefines inheritance behavior on-demand.</a:t>
              </a:r>
              <a:endParaRPr b="0" sz="124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Duck Typing</a:t>
              </a:r>
              <a:endParaRPr b="0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49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"If it walks like a duck and quacks like a duck, it must be a duck." Python prioritizes whether an object exhibits a specific capability over its literal class type.</a:t>
              </a:r>
              <a:endParaRPr b="0" sz="124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Developer Takeaway</a:t>
              </a:r>
              <a:endParaRPr b="0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49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Focus on object interface capability over concrete class types. Coding to interfaces rather than explicit types decouples codebase architecture and enhances scalability.</a:t>
              </a:r>
              <a:endParaRPr b="0" sz="124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22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299" name="Google Shape;299;p22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Inheritance in Robotic Arm Controllers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01" name="Google Shape;301;p22"/>
          <p:cNvGrpSpPr/>
          <p:nvPr/>
        </p:nvGrpSpPr>
        <p:grpSpPr>
          <a:xfrm>
            <a:off x="762000" y="1524000"/>
            <a:ext cx="3295800" cy="2381400"/>
            <a:chOff x="0" y="0"/>
            <a:chExt cx="3295800" cy="238140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32958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RoboticJoint (Base)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PROPERTIES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id, current_angle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move_to_angle(angle)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2"/>
          <p:cNvGrpSpPr/>
          <p:nvPr/>
        </p:nvGrpSpPr>
        <p:grpSpPr>
          <a:xfrm>
            <a:off x="4438650" y="1524000"/>
            <a:ext cx="3295800" cy="2381400"/>
            <a:chOff x="0" y="0"/>
            <a:chExt cx="3295800" cy="2381400"/>
          </a:xfrm>
        </p:grpSpPr>
        <p:sp>
          <p:nvSpPr>
            <p:cNvPr id="307" name="Google Shape;307;p22"/>
            <p:cNvSpPr/>
            <p:nvPr/>
          </p:nvSpPr>
          <p:spPr>
            <a:xfrm>
              <a:off x="0" y="0"/>
              <a:ext cx="32958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ElbowJoint (Derived)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Movement logic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SPECIFIC CONSTRAINTS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Elbow range of motion limits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1" name="Google Shape;311;p22"/>
          <p:cNvGrpSpPr/>
          <p:nvPr/>
        </p:nvGrpSpPr>
        <p:grpSpPr>
          <a:xfrm>
            <a:off x="8124825" y="1524000"/>
            <a:ext cx="3295800" cy="2381400"/>
            <a:chOff x="0" y="0"/>
            <a:chExt cx="3295800" cy="23814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32958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WristJoint (Derived)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Movement logic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SPECIFIC CONSTRAINTS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45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Wrist rotation range limits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762000" y="4191000"/>
            <a:ext cx="10668000" cy="1285800"/>
            <a:chOff x="0" y="0"/>
            <a:chExt cx="10668000" cy="12858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10668000" cy="1285800"/>
            </a:xfrm>
            <a:prstGeom prst="roundRect">
              <a:avLst>
                <a:gd fmla="val 8888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0" y="0"/>
              <a:ext cx="76200" cy="12858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85750" y="190500"/>
              <a:ext cx="10096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ENGINEERING BENEFITS OF INHERITANCE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285750" y="523875"/>
              <a:ext cx="10096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6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Common movement logic is written once in </a:t>
              </a:r>
              <a:r>
                <a:rPr b="1" lang="en" sz="1500">
                  <a:solidFill>
                    <a:srgbClr val="045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RoboticJoint</a:t>
              </a:r>
              <a:r>
                <a:rPr b="0" lang="en" sz="136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, while specific joint constraints (range limits and degrees of freedom) are handled gracefully within the derived subclasses.</a:t>
              </a:r>
              <a:endParaRPr b="0" sz="136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23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329" name="Google Shape;329;p23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 | Inheritance &amp; Polymorphism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3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332" name="Google Shape;332;p23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Polymorphism in Automated Sensor Systems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34" name="Google Shape;334;p23"/>
          <p:cNvGrpSpPr/>
          <p:nvPr/>
        </p:nvGrpSpPr>
        <p:grpSpPr>
          <a:xfrm>
            <a:off x="762000" y="1524000"/>
            <a:ext cx="5143500" cy="4286250"/>
            <a:chOff x="762000" y="1524000"/>
            <a:chExt cx="5143500" cy="4286250"/>
          </a:xfrm>
        </p:grpSpPr>
        <p:grpSp>
          <p:nvGrpSpPr>
            <p:cNvPr id="335" name="Google Shape;335;p23"/>
            <p:cNvGrpSpPr/>
            <p:nvPr/>
          </p:nvGrpSpPr>
          <p:grpSpPr>
            <a:xfrm>
              <a:off x="762000" y="1524000"/>
              <a:ext cx="5143500" cy="1047900"/>
              <a:chOff x="0" y="0"/>
              <a:chExt cx="5143500" cy="1047900"/>
            </a:xfrm>
          </p:grpSpPr>
          <p:sp>
            <p:nvSpPr>
              <p:cNvPr id="336" name="Google Shape;336;p23"/>
              <p:cNvSpPr/>
              <p:nvPr/>
            </p:nvSpPr>
            <p:spPr>
              <a:xfrm>
                <a:off x="0" y="0"/>
                <a:ext cx="5143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3"/>
              <p:cNvSpPr/>
              <p:nvPr/>
            </p:nvSpPr>
            <p:spPr>
              <a:xfrm>
                <a:off x="0" y="0"/>
                <a:ext cx="5143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3"/>
              <p:cNvSpPr txBox="1"/>
              <p:nvPr/>
            </p:nvSpPr>
            <p:spPr>
              <a:xfrm>
                <a:off x="190500" y="190500"/>
                <a:ext cx="476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SYSTEM SCENARIO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9" name="Google Shape;339;p23"/>
              <p:cNvSpPr txBox="1"/>
              <p:nvPr/>
            </p:nvSpPr>
            <p:spPr>
              <a:xfrm>
                <a:off x="190500" y="523875"/>
                <a:ext cx="4762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Scenario: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An autonomous rover reading data from multiple, different sensors.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0" name="Google Shape;340;p23"/>
            <p:cNvGrpSpPr/>
            <p:nvPr/>
          </p:nvGrpSpPr>
          <p:grpSpPr>
            <a:xfrm>
              <a:off x="762000" y="2714625"/>
              <a:ext cx="5143500" cy="1809600"/>
              <a:chOff x="0" y="0"/>
              <a:chExt cx="5143500" cy="1809600"/>
            </a:xfrm>
          </p:grpSpPr>
          <p:sp>
            <p:nvSpPr>
              <p:cNvPr id="341" name="Google Shape;341;p23"/>
              <p:cNvSpPr/>
              <p:nvPr/>
            </p:nvSpPr>
            <p:spPr>
              <a:xfrm>
                <a:off x="0" y="0"/>
                <a:ext cx="51435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0" y="0"/>
                <a:ext cx="5143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3"/>
              <p:cNvSpPr txBox="1"/>
              <p:nvPr/>
            </p:nvSpPr>
            <p:spPr>
              <a:xfrm>
                <a:off x="190500" y="190500"/>
                <a:ext cx="476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POLYMORPHIC INTERFACE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23"/>
              <p:cNvSpPr txBox="1"/>
              <p:nvPr/>
            </p:nvSpPr>
            <p:spPr>
              <a:xfrm>
                <a:off x="190500" y="523875"/>
                <a:ext cx="4762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Unified Method: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All sensor classes implement a common </a:t>
                </a:r>
                <a:r>
                  <a:rPr b="0" lang="en" sz="1250">
                    <a:solidFill>
                      <a:srgbClr val="045A36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get_reading()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method.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B7A4B"/>
                    </a:solidFill>
                    <a:highlight>
                      <a:srgbClr val="F1F5F9"/>
                    </a:highlight>
                    <a:latin typeface="Courier"/>
                    <a:ea typeface="Courier"/>
                    <a:cs typeface="Courier"/>
                    <a:sym typeface="Courier"/>
                  </a:rPr>
                  <a:t>LidarSensor</a:t>
                </a:r>
                <a:r>
                  <a:rPr b="0" lang="en" sz="1100">
                    <a:solidFill>
                      <a:srgbClr val="1F2937"/>
                    </a:solidFill>
                    <a:highlight>
                      <a:srgbClr val="F1F5F9"/>
                    </a:highlight>
                    <a:latin typeface="Courier"/>
                    <a:ea typeface="Courier"/>
                    <a:cs typeface="Courier"/>
                    <a:sym typeface="Courier"/>
                  </a:rPr>
                  <a:t>.get_reading() </a:t>
                </a:r>
                <a:r>
                  <a:rPr b="0" lang="en" sz="1100">
                    <a:solidFill>
                      <a:srgbClr val="6B728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→ Returns a point cloud array.</a:t>
                </a:r>
                <a:endParaRPr b="0" sz="11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B7A4B"/>
                    </a:solidFill>
                    <a:highlight>
                      <a:srgbClr val="F1F5F9"/>
                    </a:highlight>
                    <a:latin typeface="Courier"/>
                    <a:ea typeface="Courier"/>
                    <a:cs typeface="Courier"/>
                    <a:sym typeface="Courier"/>
                  </a:rPr>
                  <a:t>TemperatureSensor</a:t>
                </a:r>
                <a:r>
                  <a:rPr b="0" lang="en" sz="1100">
                    <a:solidFill>
                      <a:srgbClr val="1F2937"/>
                    </a:solidFill>
                    <a:highlight>
                      <a:srgbClr val="F1F5F9"/>
                    </a:highlight>
                    <a:latin typeface="Courier"/>
                    <a:ea typeface="Courier"/>
                    <a:cs typeface="Courier"/>
                    <a:sym typeface="Courier"/>
                  </a:rPr>
                  <a:t>.get_reading() </a:t>
                </a:r>
                <a:r>
                  <a:rPr b="0" lang="en" sz="1100">
                    <a:solidFill>
                      <a:srgbClr val="6B728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→ Returns a float value.</a:t>
                </a:r>
                <a:endParaRPr b="0" sz="11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</p:grpSp>
        <p:grpSp>
          <p:nvGrpSpPr>
            <p:cNvPr id="345" name="Google Shape;345;p23"/>
            <p:cNvGrpSpPr/>
            <p:nvPr/>
          </p:nvGrpSpPr>
          <p:grpSpPr>
            <a:xfrm>
              <a:off x="762000" y="4667250"/>
              <a:ext cx="5143500" cy="1143000"/>
              <a:chOff x="0" y="0"/>
              <a:chExt cx="5143500" cy="1143000"/>
            </a:xfrm>
          </p:grpSpPr>
          <p:sp>
            <p:nvSpPr>
              <p:cNvPr id="346" name="Google Shape;346;p23"/>
              <p:cNvSpPr/>
              <p:nvPr/>
            </p:nvSpPr>
            <p:spPr>
              <a:xfrm>
                <a:off x="0" y="0"/>
                <a:ext cx="51435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3"/>
              <p:cNvSpPr/>
              <p:nvPr/>
            </p:nvSpPr>
            <p:spPr>
              <a:xfrm>
                <a:off x="0" y="0"/>
                <a:ext cx="5143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3"/>
              <p:cNvSpPr txBox="1"/>
              <p:nvPr/>
            </p:nvSpPr>
            <p:spPr>
              <a:xfrm>
                <a:off x="190500" y="190500"/>
                <a:ext cx="476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SYSTEM EXECUTION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23"/>
              <p:cNvSpPr txBox="1"/>
              <p:nvPr/>
            </p:nvSpPr>
            <p:spPr>
              <a:xfrm>
                <a:off x="190500" y="523875"/>
                <a:ext cx="47625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46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Execution:</a:t>
                </a:r>
                <a:r>
                  <a:rPr b="0" lang="en" sz="1046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The main control loop can iterate through a list of generic sensor objects and call </a:t>
                </a:r>
                <a:r>
                  <a:rPr b="0" lang="en" sz="969">
                    <a:solidFill>
                      <a:srgbClr val="045A36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get_reading()</a:t>
                </a:r>
                <a:r>
                  <a:rPr b="0" lang="en" sz="1046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on each, regardless of their specific type.</a:t>
                </a:r>
                <a:endParaRPr b="0" sz="1046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0" name="Google Shape;350;p23"/>
          <p:cNvGrpSpPr/>
          <p:nvPr/>
        </p:nvGrpSpPr>
        <p:grpSpPr>
          <a:xfrm>
            <a:off x="6286500" y="1524000"/>
            <a:ext cx="5143500" cy="4286400"/>
            <a:chOff x="0" y="0"/>
            <a:chExt cx="5143500" cy="4286400"/>
          </a:xfrm>
        </p:grpSpPr>
        <p:sp>
          <p:nvSpPr>
            <p:cNvPr id="351" name="Google Shape;351;p23"/>
            <p:cNvSpPr/>
            <p:nvPr/>
          </p:nvSpPr>
          <p:spPr>
            <a:xfrm>
              <a:off x="0" y="0"/>
              <a:ext cx="5143500" cy="42864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3"/>
            <p:cNvSpPr txBox="1"/>
            <p:nvPr/>
          </p:nvSpPr>
          <p:spPr>
            <a:xfrm>
              <a:off x="190500" y="19050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ROVER SENSOR SUITE SCAN PATTERN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4" name="Google Shape;354;p23"/>
            <p:cNvGrpSpPr/>
            <p:nvPr/>
          </p:nvGrpSpPr>
          <p:grpSpPr>
            <a:xfrm>
              <a:off x="190500" y="523875"/>
              <a:ext cx="4762500" cy="3571800"/>
              <a:chOff x="0" y="0"/>
              <a:chExt cx="4762500" cy="3571800"/>
            </a:xfrm>
          </p:grpSpPr>
          <p:pic>
            <p:nvPicPr>
              <p:cNvPr id="355" name="Google Shape;355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4762500" cy="3571800"/>
              </a:xfrm>
              <a:prstGeom prst="roundRect">
                <a:avLst>
                  <a:gd fmla="val 2133" name="adj"/>
                </a:avLst>
              </a:prstGeom>
              <a:noFill/>
              <a:ln>
                <a:noFill/>
              </a:ln>
            </p:spPr>
          </p:pic>
          <p:sp>
            <p:nvSpPr>
              <p:cNvPr id="356" name="Google Shape;356;p23"/>
              <p:cNvSpPr/>
              <p:nvPr/>
            </p:nvSpPr>
            <p:spPr>
              <a:xfrm>
                <a:off x="0" y="0"/>
                <a:ext cx="4762500" cy="3571800"/>
              </a:xfrm>
              <a:prstGeom prst="roundRect">
                <a:avLst>
                  <a:gd fmla="val 2133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24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364" name="Google Shape;364;p24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4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Safe Object-Oriented Design in Python</a:t>
              </a:r>
              <a:endParaRPr b="0" i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66" name="Google Shape;366;p2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24"/>
          <p:cNvGrpSpPr/>
          <p:nvPr/>
        </p:nvGrpSpPr>
        <p:grpSpPr>
          <a:xfrm>
            <a:off x="762000" y="1381125"/>
            <a:ext cx="5143500" cy="2286000"/>
            <a:chOff x="0" y="0"/>
            <a:chExt cx="5143500" cy="2286000"/>
          </a:xfrm>
        </p:grpSpPr>
        <p:sp>
          <p:nvSpPr>
            <p:cNvPr id="368" name="Google Shape;368;p24"/>
            <p:cNvSpPr/>
            <p:nvPr/>
          </p:nvSpPr>
          <p:spPr>
            <a:xfrm>
              <a:off x="0" y="0"/>
              <a:ext cx="51435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DESIGN PRINCIPLE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1" name="Google Shape;371;p24"/>
            <p:cNvSpPr txBox="1"/>
            <p:nvPr/>
          </p:nvSpPr>
          <p:spPr>
            <a:xfrm>
              <a:off x="238125" y="619125"/>
              <a:ext cx="4667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Favor Composition Over Inheritance</a:t>
              </a:r>
              <a:endParaRPr b="1" sz="14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If a relationship is </a:t>
              </a:r>
              <a:r>
                <a:rPr b="0" lang="en" sz="1400">
                  <a:solidFill>
                    <a:srgbClr val="37415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"has-a"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rather than </a:t>
              </a:r>
              <a:r>
                <a:rPr b="0" lang="en" sz="1400">
                  <a:solidFill>
                    <a:srgbClr val="37415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"is-a"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use composition (including objects as attributes) instead of inheritance.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2" name="Google Shape;372;p24"/>
          <p:cNvGrpSpPr/>
          <p:nvPr/>
        </p:nvGrpSpPr>
        <p:grpSpPr>
          <a:xfrm>
            <a:off x="6286500" y="1381125"/>
            <a:ext cx="5143500" cy="2286000"/>
            <a:chOff x="0" y="0"/>
            <a:chExt cx="5143500" cy="2286000"/>
          </a:xfrm>
        </p:grpSpPr>
        <p:sp>
          <p:nvSpPr>
            <p:cNvPr id="373" name="Google Shape;373;p24"/>
            <p:cNvSpPr/>
            <p:nvPr/>
          </p:nvSpPr>
          <p:spPr>
            <a:xfrm>
              <a:off x="0" y="0"/>
              <a:ext cx="51435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INITIALIZATION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24"/>
            <p:cNvSpPr txBox="1"/>
            <p:nvPr/>
          </p:nvSpPr>
          <p:spPr>
            <a:xfrm>
              <a:off x="238125" y="619125"/>
              <a:ext cx="4667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Use super() Correctly</a:t>
              </a:r>
              <a:endParaRPr b="1" sz="14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Always use </a:t>
              </a:r>
              <a:r>
                <a:rPr b="1" lang="en" sz="1400">
                  <a:solidFill>
                    <a:srgbClr val="045A36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super()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to call parent class methods to ensure proper initialization and method resolution.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24"/>
          <p:cNvGrpSpPr/>
          <p:nvPr/>
        </p:nvGrpSpPr>
        <p:grpSpPr>
          <a:xfrm>
            <a:off x="762000" y="3952875"/>
            <a:ext cx="10668000" cy="1762200"/>
            <a:chOff x="0" y="0"/>
            <a:chExt cx="10668000" cy="1762200"/>
          </a:xfrm>
        </p:grpSpPr>
        <p:sp>
          <p:nvSpPr>
            <p:cNvPr id="378" name="Google Shape;378;p24"/>
            <p:cNvSpPr/>
            <p:nvPr/>
          </p:nvSpPr>
          <p:spPr>
            <a:xfrm>
              <a:off x="0" y="0"/>
              <a:ext cx="10668000" cy="1762200"/>
            </a:xfrm>
            <a:prstGeom prst="roundRect">
              <a:avLst>
                <a:gd fmla="val 4324" name="adj"/>
              </a:avLst>
            </a:prstGeom>
            <a:solidFill>
              <a:srgbClr val="FEE2E2"/>
            </a:solidFill>
            <a:ln cap="flat" cmpd="sng" w="9525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0" y="0"/>
              <a:ext cx="76200" cy="1762200"/>
            </a:xfrm>
            <a:prstGeom prst="roundRect">
              <a:avLst>
                <a:gd fmla="val 50000" name="adj"/>
              </a:avLst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4"/>
            <p:cNvSpPr txBox="1"/>
            <p:nvPr/>
          </p:nvSpPr>
          <p:spPr>
            <a:xfrm>
              <a:off x="333375" y="190500"/>
              <a:ext cx="10001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INHERITANCE WARNINGS &amp; ANTI-PATTERNS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Keep Inheritance Trees Shallow:</a:t>
              </a:r>
              <a:r>
                <a:rPr lang="en" sz="13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 Deep inheritance hierarchies become extremely difficult to manage, reason about, and understand.</a:t>
              </a:r>
              <a:endParaRPr sz="135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Beware of Multiple Inheritance:</a:t>
              </a:r>
              <a:r>
                <a:rPr lang="en" sz="13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 It can lead to complex method resolution order (MRO) issues, specifically the Diamond Problem. Use it sparingly and prefer Mixins if necessary.</a:t>
              </a:r>
              <a:endParaRPr sz="135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1" name="Google Shape;381;p24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382" name="Google Shape;382;p24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4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Development Essentials | Object-Oriented Programming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Summary, Questions, and What's Next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p25"/>
          <p:cNvGrpSpPr/>
          <p:nvPr/>
        </p:nvGrpSpPr>
        <p:grpSpPr>
          <a:xfrm>
            <a:off x="762000" y="1619250"/>
            <a:ext cx="5143575" cy="1714500"/>
            <a:chOff x="0" y="190500"/>
            <a:chExt cx="5143575" cy="1714500"/>
          </a:xfrm>
        </p:grpSpPr>
        <p:grpSp>
          <p:nvGrpSpPr>
            <p:cNvPr id="393" name="Google Shape;393;p25"/>
            <p:cNvGrpSpPr/>
            <p:nvPr/>
          </p:nvGrpSpPr>
          <p:grpSpPr>
            <a:xfrm>
              <a:off x="0" y="190500"/>
              <a:ext cx="5143575" cy="762000"/>
              <a:chOff x="0" y="0"/>
              <a:chExt cx="5143575" cy="762000"/>
            </a:xfrm>
          </p:grpSpPr>
          <p:grpSp>
            <p:nvGrpSpPr>
              <p:cNvPr id="394" name="Google Shape;394;p2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395" name="Google Shape;395;p2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2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97" name="Google Shape;397;p25"/>
              <p:cNvSpPr txBox="1"/>
              <p:nvPr/>
            </p:nvSpPr>
            <p:spPr>
              <a:xfrm>
                <a:off x="333375" y="0"/>
                <a:ext cx="4810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Inheritance: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We covered reusing code via parent/child relationships to structure our applications efficiently.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8" name="Google Shape;398;p25"/>
            <p:cNvGrpSpPr/>
            <p:nvPr/>
          </p:nvGrpSpPr>
          <p:grpSpPr>
            <a:xfrm>
              <a:off x="0" y="1143000"/>
              <a:ext cx="5143575" cy="762000"/>
              <a:chOff x="0" y="0"/>
              <a:chExt cx="5143575" cy="762000"/>
            </a:xfrm>
          </p:grpSpPr>
          <p:grpSp>
            <p:nvGrpSpPr>
              <p:cNvPr id="399" name="Google Shape;399;p2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400" name="Google Shape;400;p2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2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02" name="Google Shape;402;p25"/>
              <p:cNvSpPr txBox="1"/>
              <p:nvPr/>
            </p:nvSpPr>
            <p:spPr>
              <a:xfrm>
                <a:off x="333375" y="0"/>
                <a:ext cx="4810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Polymorphism: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We explored dynamic flexibility achieved through implementing multiple forms and duck typing.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03" name="Google Shape;403;p25"/>
          <p:cNvGrpSpPr/>
          <p:nvPr/>
        </p:nvGrpSpPr>
        <p:grpSpPr>
          <a:xfrm>
            <a:off x="6286500" y="1428750"/>
            <a:ext cx="5143500" cy="3143400"/>
            <a:chOff x="0" y="0"/>
            <a:chExt cx="5143500" cy="3143400"/>
          </a:xfrm>
        </p:grpSpPr>
        <p:sp>
          <p:nvSpPr>
            <p:cNvPr id="404" name="Google Shape;404;p25"/>
            <p:cNvSpPr/>
            <p:nvPr/>
          </p:nvSpPr>
          <p:spPr>
            <a:xfrm>
              <a:off x="0" y="0"/>
              <a:ext cx="51435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5"/>
            <p:cNvSpPr/>
            <p:nvPr/>
          </p:nvSpPr>
          <p:spPr>
            <a:xfrm>
              <a:off x="0" y="0"/>
              <a:ext cx="76200" cy="3143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5"/>
            <p:cNvSpPr txBox="1"/>
            <p:nvPr/>
          </p:nvSpPr>
          <p:spPr>
            <a:xfrm>
              <a:off x="285750" y="238125"/>
              <a:ext cx="457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Classroom Q&amp;A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7" name="Google Shape;407;p25"/>
            <p:cNvSpPr txBox="1"/>
            <p:nvPr/>
          </p:nvSpPr>
          <p:spPr>
            <a:xfrm>
              <a:off x="285750" y="714375"/>
              <a:ext cx="45720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Thank You.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classroom is now open for your questions, feedback, and discussion.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8" name="Google Shape;408;p25"/>
          <p:cNvGrpSpPr/>
          <p:nvPr/>
        </p:nvGrpSpPr>
        <p:grpSpPr>
          <a:xfrm>
            <a:off x="762000" y="4762500"/>
            <a:ext cx="10668000" cy="1047900"/>
            <a:chOff x="0" y="0"/>
            <a:chExt cx="10668000" cy="1047900"/>
          </a:xfrm>
        </p:grpSpPr>
        <p:sp>
          <p:nvSpPr>
            <p:cNvPr id="409" name="Google Shape;409;p25"/>
            <p:cNvSpPr/>
            <p:nvPr/>
          </p:nvSpPr>
          <p:spPr>
            <a:xfrm>
              <a:off x="0" y="0"/>
              <a:ext cx="10668000" cy="1047900"/>
            </a:xfrm>
            <a:prstGeom prst="roundRect">
              <a:avLst>
                <a:gd fmla="val 10909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5"/>
            <p:cNvSpPr txBox="1"/>
            <p:nvPr/>
          </p:nvSpPr>
          <p:spPr>
            <a:xfrm>
              <a:off x="285750" y="190500"/>
              <a:ext cx="10096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Next Steps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5"/>
            <p:cNvSpPr txBox="1"/>
            <p:nvPr/>
          </p:nvSpPr>
          <p:spPr>
            <a:xfrm>
              <a:off x="285750" y="476250"/>
              <a:ext cx="10096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6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Applying these concepts to build robust hardware control interfaces.</a:t>
              </a:r>
              <a:endParaRPr b="0" sz="136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13" name="Google Shape;413;p25"/>
          <p:cNvSpPr txBox="1"/>
          <p:nvPr/>
        </p:nvSpPr>
        <p:spPr>
          <a:xfrm>
            <a:off x="762000" y="61341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Programming Course | Inheritance &amp; Polymorphism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