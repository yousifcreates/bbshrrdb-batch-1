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Montserrat SemiBold"/>
      <p:regular r:id="rId31"/>
      <p:bold r:id="rId32"/>
      <p:italic r:id="rId33"/>
      <p:boldItalic r:id="rId34"/>
    </p:embeddedFont>
    <p:embeddedFont>
      <p:font typeface="Inter SemiBold"/>
      <p:regular r:id="rId35"/>
      <p:bold r:id="rId36"/>
      <p:italic r:id="rId37"/>
      <p:boldItalic r:id="rId38"/>
    </p:embeddedFont>
    <p:embeddedFont>
      <p:font typeface="Inter"/>
      <p:bold r:id="rId39"/>
      <p:boldItalic r:id="rId40"/>
    </p:embeddedFont>
    <p:embeddedFont>
      <p:font typeface="Montserrat"/>
      <p:bold r:id="rId41"/>
      <p:boldItalic r:id="rId42"/>
    </p:embeddedFont>
    <p:embeddedFont>
      <p:font typeface="Inter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bold.fntdata"/><Relationship Id="rId22" Type="http://schemas.openxmlformats.org/officeDocument/2006/relationships/slide" Target="slides/slide17.xml"/><Relationship Id="rId44" Type="http://schemas.openxmlformats.org/officeDocument/2006/relationships/font" Target="fonts/InterMedium-bold.fntdata"/><Relationship Id="rId21" Type="http://schemas.openxmlformats.org/officeDocument/2006/relationships/slide" Target="slides/slide16.xml"/><Relationship Id="rId43" Type="http://schemas.openxmlformats.org/officeDocument/2006/relationships/font" Target="fonts/InterMedium-regular.fntdata"/><Relationship Id="rId24" Type="http://schemas.openxmlformats.org/officeDocument/2006/relationships/slide" Target="slides/slide19.xml"/><Relationship Id="rId46" Type="http://schemas.openxmlformats.org/officeDocument/2006/relationships/font" Target="fonts/InterMedium-boldItalic.fntdata"/><Relationship Id="rId23" Type="http://schemas.openxmlformats.org/officeDocument/2006/relationships/slide" Target="slides/slide18.xml"/><Relationship Id="rId45" Type="http://schemas.openxmlformats.org/officeDocument/2006/relationships/font" Target="fonts/Inter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SemiBold-italic.fntdata"/><Relationship Id="rId10" Type="http://schemas.openxmlformats.org/officeDocument/2006/relationships/slide" Target="slides/slide5.xml"/><Relationship Id="rId32" Type="http://schemas.openxmlformats.org/officeDocument/2006/relationships/font" Target="fonts/MontserratSemiBold-bold.fntdata"/><Relationship Id="rId13" Type="http://schemas.openxmlformats.org/officeDocument/2006/relationships/slide" Target="slides/slide8.xml"/><Relationship Id="rId35" Type="http://schemas.openxmlformats.org/officeDocument/2006/relationships/font" Target="fonts/InterSemiBold-regular.fntdata"/><Relationship Id="rId12" Type="http://schemas.openxmlformats.org/officeDocument/2006/relationships/slide" Target="slides/slide7.xml"/><Relationship Id="rId34" Type="http://schemas.openxmlformats.org/officeDocument/2006/relationships/font" Target="fonts/MontserratSemiBold-boldItalic.fntdata"/><Relationship Id="rId15" Type="http://schemas.openxmlformats.org/officeDocument/2006/relationships/slide" Target="slides/slide10.xml"/><Relationship Id="rId37" Type="http://schemas.openxmlformats.org/officeDocument/2006/relationships/font" Target="fonts/InterSemiBold-italic.fntdata"/><Relationship Id="rId14" Type="http://schemas.openxmlformats.org/officeDocument/2006/relationships/slide" Target="slides/slide9.xml"/><Relationship Id="rId36" Type="http://schemas.openxmlformats.org/officeDocument/2006/relationships/font" Target="fonts/InterSemiBold-bold.fntdata"/><Relationship Id="rId17" Type="http://schemas.openxmlformats.org/officeDocument/2006/relationships/slide" Target="slides/slide12.xml"/><Relationship Id="rId39" Type="http://schemas.openxmlformats.org/officeDocument/2006/relationships/font" Target="fonts/Inter-bold.fntdata"/><Relationship Id="rId16" Type="http://schemas.openxmlformats.org/officeDocument/2006/relationships/slide" Target="slides/slide11.xml"/><Relationship Id="rId38" Type="http://schemas.openxmlformats.org/officeDocument/2006/relationships/font" Target="fonts/InterSemi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350f72f62_3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350f72f62_3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350f72f62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350f72f62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350f72f62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350f72f62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350f72f62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350f72f62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350f72f62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350f72f62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f350f72f62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f350f72f62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350f72f62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f350f72f62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f350f72f62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f350f72f62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350f72f62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350f72f62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350f72f62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350f72f62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350f72f62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350f72f62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350f72f62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350f72f62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350f72f62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f350f72f62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350f72f62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f350f72f62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350f72f62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f350f72f62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f350f72f62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f350f72f62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350f72f62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f350f72f62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f350f72f62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f350f72f62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f350f72f62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f350f72f62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f350f72f62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f350f72f62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350f72f62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f350f72f62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f350f72f62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f350f72f62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f350f72f62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f350f72f62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f350f72f62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f350f72f62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3f350f72f62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3f350f72f62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350f72f62_7_0)">
  <p:cSld name="Generated (g3f350f72f62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415611" y="992767"/>
            <a:ext cx="11360800" cy="27368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2" name="Google Shape;12;p3"/>
          <p:cNvSpPr txBox="1"/>
          <p:nvPr>
            <p:ph idx="1" type="subTitle"/>
          </p:nvPr>
        </p:nvSpPr>
        <p:spPr>
          <a:xfrm>
            <a:off x="415600" y="3778833"/>
            <a:ext cx="11360800" cy="105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3" name="Google Shape;13;p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15600" y="2867800"/>
            <a:ext cx="11360800" cy="11224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4"/>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9" name="Google Shape;19;p5"/>
          <p:cNvSpPr txBox="1"/>
          <p:nvPr>
            <p:ph idx="1" type="body"/>
          </p:nvPr>
        </p:nvSpPr>
        <p:spPr>
          <a:xfrm>
            <a:off x="415600" y="1536633"/>
            <a:ext cx="113608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0" name="Google Shape;20;p5"/>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 name="Google Shape;23;p6"/>
          <p:cNvSpPr txBox="1"/>
          <p:nvPr>
            <p:ph idx="1" type="body"/>
          </p:nvPr>
        </p:nvSpPr>
        <p:spPr>
          <a:xfrm>
            <a:off x="4156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6"/>
          <p:cNvSpPr txBox="1"/>
          <p:nvPr>
            <p:ph idx="2" type="body"/>
          </p:nvPr>
        </p:nvSpPr>
        <p:spPr>
          <a:xfrm>
            <a:off x="64432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 name="Google Shape;25;p6"/>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7"/>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415600" y="740800"/>
            <a:ext cx="3744000" cy="10076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1" name="Google Shape;31;p8"/>
          <p:cNvSpPr txBox="1"/>
          <p:nvPr>
            <p:ph idx="1" type="body"/>
          </p:nvPr>
        </p:nvSpPr>
        <p:spPr>
          <a:xfrm>
            <a:off x="415600" y="1852800"/>
            <a:ext cx="3744000" cy="42392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p8"/>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653667" y="600200"/>
            <a:ext cx="8490400" cy="54544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5" name="Google Shape;35;p9"/>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354000" y="1644233"/>
            <a:ext cx="53936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9" name="Google Shape;39;p10"/>
          <p:cNvSpPr txBox="1"/>
          <p:nvPr>
            <p:ph idx="1" type="subTitle"/>
          </p:nvPr>
        </p:nvSpPr>
        <p:spPr>
          <a:xfrm>
            <a:off x="354000" y="3737433"/>
            <a:ext cx="5393600" cy="164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0"/>
          <p:cNvSpPr txBox="1"/>
          <p:nvPr>
            <p:ph idx="2" type="body"/>
          </p:nvPr>
        </p:nvSpPr>
        <p:spPr>
          <a:xfrm>
            <a:off x="6586000" y="965433"/>
            <a:ext cx="5116000" cy="49268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10"/>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415600" y="5640767"/>
            <a:ext cx="7998400" cy="8068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4" name="Google Shape;44;p11"/>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415600" y="1474833"/>
            <a:ext cx="11360800" cy="26180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p:nvPr>
            <p:ph idx="1" type="body"/>
          </p:nvPr>
        </p:nvSpPr>
        <p:spPr>
          <a:xfrm>
            <a:off x="415600" y="4202967"/>
            <a:ext cx="11360800" cy="1734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8" name="Google Shape;48;p12"/>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600" cy="5248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14"/>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7" name="Google Shape;57;p14"/>
          <p:cNvPicPr preferRelativeResize="0"/>
          <p:nvPr/>
        </p:nvPicPr>
        <p:blipFill rotWithShape="1">
          <a:blip r:embed="rId3">
            <a:alphaModFix/>
          </a:blip>
          <a:srcRect b="0" l="0" r="0" t="0"/>
          <a:stretch/>
        </p:blipFill>
        <p:spPr>
          <a:xfrm>
            <a:off x="762000" y="571500"/>
            <a:ext cx="2533800" cy="857700"/>
          </a:xfrm>
          <a:prstGeom prst="rect">
            <a:avLst/>
          </a:prstGeom>
          <a:noFill/>
          <a:ln>
            <a:noFill/>
          </a:ln>
        </p:spPr>
      </p:pic>
      <p:pic>
        <p:nvPicPr>
          <p:cNvPr id="58" name="Google Shape;58;p14"/>
          <p:cNvPicPr preferRelativeResize="0"/>
          <p:nvPr/>
        </p:nvPicPr>
        <p:blipFill rotWithShape="1">
          <a:blip r:embed="rId4">
            <a:alphaModFix/>
          </a:blip>
          <a:srcRect b="0" l="0" r="0" t="0"/>
          <a:stretch/>
        </p:blipFill>
        <p:spPr>
          <a:xfrm>
            <a:off x="10144125" y="428625"/>
            <a:ext cx="1143000" cy="1278900"/>
          </a:xfrm>
          <a:prstGeom prst="rect">
            <a:avLst/>
          </a:prstGeom>
          <a:noFill/>
          <a:ln>
            <a:noFill/>
          </a:ln>
        </p:spPr>
      </p:pic>
      <p:sp>
        <p:nvSpPr>
          <p:cNvPr id="59" name="Google Shape;59;p14"/>
          <p:cNvSpPr txBox="1"/>
          <p:nvPr/>
        </p:nvSpPr>
        <p:spPr>
          <a:xfrm>
            <a:off x="762000" y="1714500"/>
            <a:ext cx="10668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1200">
                <a:solidFill>
                  <a:srgbClr val="D4A017"/>
                </a:solidFill>
                <a:latin typeface="Inter"/>
                <a:ea typeface="Inter"/>
                <a:cs typeface="Inter"/>
                <a:sym typeface="Inter"/>
              </a:rPr>
              <a:t>PYTHON PROGRAMMING COURSE</a:t>
            </a:r>
            <a:endParaRPr b="1" i="0" sz="1200">
              <a:solidFill>
                <a:srgbClr val="D4A017"/>
              </a:solidFill>
              <a:latin typeface="Inter"/>
              <a:ea typeface="Inter"/>
              <a:cs typeface="Inter"/>
              <a:sym typeface="Inter"/>
            </a:endParaRPr>
          </a:p>
        </p:txBody>
      </p:sp>
      <p:sp>
        <p:nvSpPr>
          <p:cNvPr id="60" name="Google Shape;60;p14"/>
          <p:cNvSpPr txBox="1"/>
          <p:nvPr/>
        </p:nvSpPr>
        <p:spPr>
          <a:xfrm>
            <a:off x="762000" y="2143125"/>
            <a:ext cx="10668000" cy="1238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400">
                <a:solidFill>
                  <a:srgbClr val="045A36"/>
                </a:solidFill>
                <a:latin typeface="Montserrat"/>
                <a:ea typeface="Montserrat"/>
                <a:cs typeface="Montserrat"/>
                <a:sym typeface="Montserrat"/>
              </a:rPr>
              <a:t>Python os Module for Automation</a:t>
            </a:r>
            <a:endParaRPr b="1" i="0" sz="3400">
              <a:solidFill>
                <a:srgbClr val="045A36"/>
              </a:solidFill>
              <a:latin typeface="Montserrat"/>
              <a:ea typeface="Montserrat"/>
              <a:cs typeface="Montserrat"/>
              <a:sym typeface="Montserrat"/>
            </a:endParaRPr>
          </a:p>
          <a:p>
            <a:pPr indent="0" lvl="0" marL="0" rtl="0" algn="ctr">
              <a:spcBef>
                <a:spcPts val="375"/>
              </a:spcBef>
              <a:spcAft>
                <a:spcPts val="0"/>
              </a:spcAft>
              <a:buNone/>
            </a:pPr>
            <a:r>
              <a:rPr b="0" i="0" lang="en" sz="2600">
                <a:solidFill>
                  <a:srgbClr val="D4A017"/>
                </a:solidFill>
                <a:latin typeface="Montserrat SemiBold"/>
                <a:ea typeface="Montserrat SemiBold"/>
                <a:cs typeface="Montserrat SemiBold"/>
                <a:sym typeface="Montserrat SemiBold"/>
              </a:rPr>
              <a:t>Robotics &amp; Automation Systems</a:t>
            </a:r>
            <a:endParaRPr b="1" i="0" sz="2600">
              <a:solidFill>
                <a:srgbClr val="045A36"/>
              </a:solidFill>
              <a:latin typeface="Montserrat"/>
              <a:ea typeface="Montserrat"/>
              <a:cs typeface="Montserrat"/>
              <a:sym typeface="Montserrat"/>
            </a:endParaRPr>
          </a:p>
        </p:txBody>
      </p:sp>
      <p:sp>
        <p:nvSpPr>
          <p:cNvPr id="61" name="Google Shape;61;p14"/>
          <p:cNvSpPr/>
          <p:nvPr/>
        </p:nvSpPr>
        <p:spPr>
          <a:xfrm>
            <a:off x="5381625" y="3476625"/>
            <a:ext cx="14289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2" name="Google Shape;62;p14"/>
          <p:cNvGrpSpPr/>
          <p:nvPr/>
        </p:nvGrpSpPr>
        <p:grpSpPr>
          <a:xfrm>
            <a:off x="762000" y="5829300"/>
            <a:ext cx="3105300" cy="523800"/>
            <a:chOff x="0" y="0"/>
            <a:chExt cx="3105300" cy="523800"/>
          </a:xfrm>
        </p:grpSpPr>
        <p:sp>
          <p:nvSpPr>
            <p:cNvPr id="63" name="Google Shape;63;p14"/>
            <p:cNvSpPr txBox="1"/>
            <p:nvPr/>
          </p:nvSpPr>
          <p:spPr>
            <a:xfrm>
              <a:off x="0" y="0"/>
              <a:ext cx="31053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0" lang="en" sz="1000">
                  <a:solidFill>
                    <a:srgbClr val="9CA3AF"/>
                  </a:solidFill>
                  <a:latin typeface="Inter"/>
                  <a:ea typeface="Inter"/>
                  <a:cs typeface="Inter"/>
                  <a:sym typeface="Inter"/>
                </a:rPr>
                <a:t>Presented By:</a:t>
              </a:r>
              <a:endParaRPr b="0" i="0" sz="1000">
                <a:solidFill>
                  <a:srgbClr val="9CA3AF"/>
                </a:solidFill>
                <a:latin typeface="Inter"/>
                <a:ea typeface="Inter"/>
                <a:cs typeface="Inter"/>
                <a:sym typeface="Inter"/>
              </a:endParaRPr>
            </a:p>
          </p:txBody>
        </p:sp>
        <p:sp>
          <p:nvSpPr>
            <p:cNvPr id="64" name="Google Shape;64;p14"/>
            <p:cNvSpPr txBox="1"/>
            <p:nvPr/>
          </p:nvSpPr>
          <p:spPr>
            <a:xfrm>
              <a:off x="0" y="190500"/>
              <a:ext cx="31053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0" lang="en" sz="1500">
                  <a:solidFill>
                    <a:srgbClr val="1F2937"/>
                  </a:solidFill>
                  <a:latin typeface="Inter SemiBold"/>
                  <a:ea typeface="Inter SemiBold"/>
                  <a:cs typeface="Inter SemiBold"/>
                  <a:sym typeface="Inter SemiBold"/>
                </a:rPr>
                <a:t>Muhammd Yousif Memon</a:t>
              </a:r>
              <a:endParaRPr b="0" i="0" sz="1500">
                <a:solidFill>
                  <a:srgbClr val="1F2937"/>
                </a:solidFill>
                <a:latin typeface="Inter SemiBold"/>
                <a:ea typeface="Inter SemiBold"/>
                <a:cs typeface="Inter SemiBold"/>
                <a:sym typeface="Inter SemiBold"/>
              </a:endParaRPr>
            </a:p>
          </p:txBody>
        </p:sp>
      </p:grpSp>
      <p:grpSp>
        <p:nvGrpSpPr>
          <p:cNvPr id="65" name="Google Shape;65;p14"/>
          <p:cNvGrpSpPr/>
          <p:nvPr/>
        </p:nvGrpSpPr>
        <p:grpSpPr>
          <a:xfrm>
            <a:off x="8382000" y="5829300"/>
            <a:ext cx="3048000" cy="523800"/>
            <a:chOff x="0" y="0"/>
            <a:chExt cx="3048000" cy="523800"/>
          </a:xfrm>
        </p:grpSpPr>
        <p:sp>
          <p:nvSpPr>
            <p:cNvPr id="66" name="Google Shape;66;p14"/>
            <p:cNvSpPr txBox="1"/>
            <p:nvPr/>
          </p:nvSpPr>
          <p:spPr>
            <a:xfrm>
              <a:off x="0" y="0"/>
              <a:ext cx="3048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i="0" lang="en" sz="1000">
                  <a:solidFill>
                    <a:srgbClr val="9CA3AF"/>
                  </a:solidFill>
                  <a:latin typeface="Inter"/>
                  <a:ea typeface="Inter"/>
                  <a:cs typeface="Inter"/>
                  <a:sym typeface="Inter"/>
                </a:rPr>
                <a:t>TOPIC</a:t>
              </a:r>
              <a:endParaRPr b="0" i="0" sz="1000">
                <a:solidFill>
                  <a:srgbClr val="9CA3AF"/>
                </a:solidFill>
                <a:latin typeface="Inter"/>
                <a:ea typeface="Inter"/>
                <a:cs typeface="Inter"/>
                <a:sym typeface="Inter"/>
              </a:endParaRPr>
            </a:p>
          </p:txBody>
        </p:sp>
        <p:sp>
          <p:nvSpPr>
            <p:cNvPr id="67" name="Google Shape;67;p14"/>
            <p:cNvSpPr txBox="1"/>
            <p:nvPr/>
          </p:nvSpPr>
          <p:spPr>
            <a:xfrm>
              <a:off x="0" y="190500"/>
              <a:ext cx="3048000" cy="3333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i="0" lang="en" sz="1388">
                  <a:solidFill>
                    <a:srgbClr val="1F2937"/>
                  </a:solidFill>
                  <a:latin typeface="Inter SemiBold"/>
                  <a:ea typeface="Inter SemiBold"/>
                  <a:cs typeface="Inter SemiBold"/>
                  <a:sym typeface="Inter SemiBold"/>
                </a:rPr>
                <a:t>Python os Module for Automation</a:t>
              </a:r>
              <a:endParaRPr b="0" i="0" sz="1388">
                <a:solidFill>
                  <a:srgbClr val="1F2937"/>
                </a:solidFill>
                <a:latin typeface="Inter SemiBold"/>
                <a:ea typeface="Inter SemiBold"/>
                <a:cs typeface="Inter SemiBold"/>
                <a:sym typeface="Inter Semi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1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5"/>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Transitioning from OOP to Hardware Systems</a:t>
            </a:r>
            <a:endParaRPr b="0" sz="1000">
              <a:solidFill>
                <a:srgbClr val="6B7280"/>
              </a:solidFill>
              <a:latin typeface="Inter"/>
              <a:ea typeface="Inter"/>
              <a:cs typeface="Inter"/>
              <a:sym typeface="Inter"/>
            </a:endParaRPr>
          </a:p>
        </p:txBody>
      </p:sp>
      <p:grpSp>
        <p:nvGrpSpPr>
          <p:cNvPr id="76" name="Google Shape;76;p15"/>
          <p:cNvGrpSpPr/>
          <p:nvPr/>
        </p:nvGrpSpPr>
        <p:grpSpPr>
          <a:xfrm>
            <a:off x="762000" y="523875"/>
            <a:ext cx="10668000" cy="1114425"/>
            <a:chOff x="762000" y="523875"/>
            <a:chExt cx="10668000" cy="1114425"/>
          </a:xfrm>
        </p:grpSpPr>
        <p:sp>
          <p:nvSpPr>
            <p:cNvPr id="77" name="Google Shape;77;p15"/>
            <p:cNvSpPr txBox="1"/>
            <p:nvPr/>
          </p:nvSpPr>
          <p:spPr>
            <a:xfrm>
              <a:off x="762000" y="523875"/>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Transitioning from OOP to Hardware Systems</a:t>
              </a:r>
              <a:endParaRPr b="0" sz="2700">
                <a:solidFill>
                  <a:srgbClr val="045A36"/>
                </a:solidFill>
                <a:latin typeface="Montserrat SemiBold"/>
                <a:ea typeface="Montserrat SemiBold"/>
                <a:cs typeface="Montserrat SemiBold"/>
                <a:sym typeface="Montserrat SemiBold"/>
              </a:endParaRPr>
            </a:p>
          </p:txBody>
        </p:sp>
        <p:sp>
          <p:nvSpPr>
            <p:cNvPr id="78" name="Google Shape;78;p15"/>
            <p:cNvSpPr txBox="1"/>
            <p:nvPr/>
          </p:nvSpPr>
          <p:spPr>
            <a:xfrm>
              <a:off x="762000" y="1257300"/>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Understanding the system environment to establish reliable physical hardware interfaces.</a:t>
              </a:r>
              <a:endParaRPr b="0" sz="1600">
                <a:solidFill>
                  <a:srgbClr val="4B5563"/>
                </a:solidFill>
                <a:latin typeface="Inter SemiBold"/>
                <a:ea typeface="Inter SemiBold"/>
                <a:cs typeface="Inter SemiBold"/>
                <a:sym typeface="Inter SemiBold"/>
              </a:endParaRPr>
            </a:p>
          </p:txBody>
        </p:sp>
      </p:grpSp>
      <p:grpSp>
        <p:nvGrpSpPr>
          <p:cNvPr id="79" name="Google Shape;79;p15"/>
          <p:cNvGrpSpPr/>
          <p:nvPr/>
        </p:nvGrpSpPr>
        <p:grpSpPr>
          <a:xfrm>
            <a:off x="762000" y="1762125"/>
            <a:ext cx="5143575" cy="1000200"/>
            <a:chOff x="0" y="0"/>
            <a:chExt cx="5143575" cy="1000200"/>
          </a:xfrm>
        </p:grpSpPr>
        <p:grpSp>
          <p:nvGrpSpPr>
            <p:cNvPr id="80" name="Google Shape;80;p15"/>
            <p:cNvGrpSpPr/>
            <p:nvPr/>
          </p:nvGrpSpPr>
          <p:grpSpPr>
            <a:xfrm>
              <a:off x="0" y="38100"/>
              <a:ext cx="190500" cy="190500"/>
              <a:chOff x="0" y="0"/>
              <a:chExt cx="190500" cy="190500"/>
            </a:xfrm>
          </p:grpSpPr>
          <p:sp>
            <p:nvSpPr>
              <p:cNvPr id="81" name="Google Shape;81;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 name="Google Shape;83;p15"/>
            <p:cNvSpPr txBox="1"/>
            <p:nvPr/>
          </p:nvSpPr>
          <p:spPr>
            <a:xfrm>
              <a:off x="333375" y="0"/>
              <a:ext cx="48102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The OOP Foundation</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We have established a strong logical foundation in Object-Oriented Programming (OOP) to cleanly organize and structure our application code.</a:t>
              </a:r>
              <a:endParaRPr b="0" sz="1400">
                <a:solidFill>
                  <a:srgbClr val="374151"/>
                </a:solidFill>
                <a:latin typeface="Inter"/>
                <a:ea typeface="Inter"/>
                <a:cs typeface="Inter"/>
                <a:sym typeface="Inter"/>
              </a:endParaRPr>
            </a:p>
          </p:txBody>
        </p:sp>
      </p:grpSp>
      <p:grpSp>
        <p:nvGrpSpPr>
          <p:cNvPr id="84" name="Google Shape;84;p15"/>
          <p:cNvGrpSpPr/>
          <p:nvPr/>
        </p:nvGrpSpPr>
        <p:grpSpPr>
          <a:xfrm>
            <a:off x="762000" y="2952750"/>
            <a:ext cx="5143575" cy="1095300"/>
            <a:chOff x="0" y="0"/>
            <a:chExt cx="5143575" cy="1095300"/>
          </a:xfrm>
        </p:grpSpPr>
        <p:grpSp>
          <p:nvGrpSpPr>
            <p:cNvPr id="85" name="Google Shape;85;p15"/>
            <p:cNvGrpSpPr/>
            <p:nvPr/>
          </p:nvGrpSpPr>
          <p:grpSpPr>
            <a:xfrm>
              <a:off x="0" y="38100"/>
              <a:ext cx="190500" cy="190500"/>
              <a:chOff x="0" y="0"/>
              <a:chExt cx="190500" cy="190500"/>
            </a:xfrm>
          </p:grpSpPr>
          <p:sp>
            <p:nvSpPr>
              <p:cNvPr id="86" name="Google Shape;86;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8" name="Google Shape;88;p15"/>
            <p:cNvSpPr txBox="1"/>
            <p:nvPr/>
          </p:nvSpPr>
          <p:spPr>
            <a:xfrm>
              <a:off x="333375" y="0"/>
              <a:ext cx="48102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The Missing Link</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Before we can communicate with physical devices (like sensors or motors via PySerial), we must understand the system environment where our program executes.</a:t>
              </a:r>
              <a:endParaRPr b="0" sz="1400">
                <a:solidFill>
                  <a:srgbClr val="374151"/>
                </a:solidFill>
                <a:latin typeface="Inter"/>
                <a:ea typeface="Inter"/>
                <a:cs typeface="Inter"/>
                <a:sym typeface="Inter"/>
              </a:endParaRPr>
            </a:p>
          </p:txBody>
        </p:sp>
      </p:grpSp>
      <p:grpSp>
        <p:nvGrpSpPr>
          <p:cNvPr id="89" name="Google Shape;89;p15"/>
          <p:cNvGrpSpPr/>
          <p:nvPr/>
        </p:nvGrpSpPr>
        <p:grpSpPr>
          <a:xfrm>
            <a:off x="762000" y="4238625"/>
            <a:ext cx="5143575" cy="1095300"/>
            <a:chOff x="0" y="0"/>
            <a:chExt cx="5143575" cy="1095300"/>
          </a:xfrm>
        </p:grpSpPr>
        <p:grpSp>
          <p:nvGrpSpPr>
            <p:cNvPr id="90" name="Google Shape;90;p15"/>
            <p:cNvGrpSpPr/>
            <p:nvPr/>
          </p:nvGrpSpPr>
          <p:grpSpPr>
            <a:xfrm>
              <a:off x="0" y="38100"/>
              <a:ext cx="190500" cy="190500"/>
              <a:chOff x="0" y="0"/>
              <a:chExt cx="190500" cy="190500"/>
            </a:xfrm>
          </p:grpSpPr>
          <p:sp>
            <p:nvSpPr>
              <p:cNvPr id="91" name="Google Shape;91;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3" name="Google Shape;93;p15"/>
            <p:cNvSpPr txBox="1"/>
            <p:nvPr/>
          </p:nvSpPr>
          <p:spPr>
            <a:xfrm>
              <a:off x="333375" y="0"/>
              <a:ext cx="4810200" cy="1095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1F2937"/>
                  </a:solidFill>
                  <a:latin typeface="Inter SemiBold"/>
                  <a:ea typeface="Inter SemiBold"/>
                  <a:cs typeface="Inter SemiBold"/>
                  <a:sym typeface="Inter SemiBold"/>
                </a:rPr>
                <a:t>The OS Bridge</a:t>
              </a:r>
              <a:endParaRPr b="0" sz="1388">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295">
                  <a:solidFill>
                    <a:srgbClr val="374151"/>
                  </a:solidFill>
                  <a:latin typeface="Inter"/>
                  <a:ea typeface="Inter"/>
                  <a:cs typeface="Inter"/>
                  <a:sym typeface="Inter"/>
                </a:rPr>
                <a:t>The Python </a:t>
              </a:r>
              <a:r>
                <a:rPr b="1" lang="en" sz="1295">
                  <a:solidFill>
                    <a:srgbClr val="045A36"/>
                  </a:solidFill>
                  <a:latin typeface="Courier"/>
                  <a:ea typeface="Courier"/>
                  <a:cs typeface="Courier"/>
                  <a:sym typeface="Courier"/>
                </a:rPr>
                <a:t>os</a:t>
              </a:r>
              <a:r>
                <a:rPr b="0" lang="en" sz="1295">
                  <a:solidFill>
                    <a:srgbClr val="374151"/>
                  </a:solidFill>
                  <a:latin typeface="Inter"/>
                  <a:ea typeface="Inter"/>
                  <a:cs typeface="Inter"/>
                  <a:sym typeface="Inter"/>
                </a:rPr>
                <a:t> module acts as our gateway, bridging high-level programming logic and the underlying OS to manage system files, paths, and active hardware processes.</a:t>
              </a:r>
              <a:endParaRPr b="0" sz="1295">
                <a:solidFill>
                  <a:srgbClr val="374151"/>
                </a:solidFill>
                <a:latin typeface="Inter"/>
                <a:ea typeface="Inter"/>
                <a:cs typeface="Inter"/>
                <a:sym typeface="Inter"/>
              </a:endParaRPr>
            </a:p>
          </p:txBody>
        </p:sp>
      </p:grpSp>
      <p:grpSp>
        <p:nvGrpSpPr>
          <p:cNvPr id="94" name="Google Shape;94;p15"/>
          <p:cNvGrpSpPr/>
          <p:nvPr/>
        </p:nvGrpSpPr>
        <p:grpSpPr>
          <a:xfrm>
            <a:off x="6286500" y="1714500"/>
            <a:ext cx="5143500" cy="4143300"/>
            <a:chOff x="0" y="0"/>
            <a:chExt cx="5143500" cy="4143300"/>
          </a:xfrm>
        </p:grpSpPr>
        <p:sp>
          <p:nvSpPr>
            <p:cNvPr id="95" name="Google Shape;95;p15"/>
            <p:cNvSpPr/>
            <p:nvPr/>
          </p:nvSpPr>
          <p:spPr>
            <a:xfrm>
              <a:off x="0" y="0"/>
              <a:ext cx="5143500" cy="4143300"/>
            </a:xfrm>
            <a:prstGeom prst="roundRect">
              <a:avLst>
                <a:gd fmla="val 275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381000" y="2381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System Integration Stack</a:t>
              </a:r>
              <a:endParaRPr b="1" sz="1200">
                <a:solidFill>
                  <a:srgbClr val="D4A017"/>
                </a:solidFill>
                <a:latin typeface="Inter"/>
                <a:ea typeface="Inter"/>
                <a:cs typeface="Inter"/>
                <a:sym typeface="Inter"/>
              </a:endParaRPr>
            </a:p>
          </p:txBody>
        </p:sp>
        <p:grpSp>
          <p:nvGrpSpPr>
            <p:cNvPr id="98" name="Google Shape;98;p15"/>
            <p:cNvGrpSpPr/>
            <p:nvPr/>
          </p:nvGrpSpPr>
          <p:grpSpPr>
            <a:xfrm>
              <a:off x="381000" y="619125"/>
              <a:ext cx="4381500" cy="619200"/>
              <a:chOff x="0" y="0"/>
              <a:chExt cx="4381500" cy="619200"/>
            </a:xfrm>
          </p:grpSpPr>
          <p:sp>
            <p:nvSpPr>
              <p:cNvPr id="99" name="Google Shape;99;p15"/>
              <p:cNvSpPr/>
              <p:nvPr/>
            </p:nvSpPr>
            <p:spPr>
              <a:xfrm>
                <a:off x="0" y="0"/>
                <a:ext cx="4381500" cy="619200"/>
              </a:xfrm>
              <a:prstGeom prst="roundRect">
                <a:avLst>
                  <a:gd fmla="val 12307"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0" y="0"/>
                <a:ext cx="47700" cy="619200"/>
              </a:xfrm>
              <a:prstGeom prst="roundRect">
                <a:avLst>
                  <a:gd fmla="val 4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190500" y="95250"/>
                <a:ext cx="4000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1F2937"/>
                    </a:solidFill>
                    <a:latin typeface="Inter"/>
                    <a:ea typeface="Inter"/>
                    <a:cs typeface="Inter"/>
                    <a:sym typeface="Inter"/>
                  </a:rPr>
                  <a:t>High-Level Python OOP Logic</a:t>
                </a:r>
                <a:endParaRPr b="1" sz="1100">
                  <a:solidFill>
                    <a:srgbClr val="1F2937"/>
                  </a:solidFill>
                  <a:latin typeface="Inter"/>
                  <a:ea typeface="Inter"/>
                  <a:cs typeface="Inter"/>
                  <a:sym typeface="Inter"/>
                </a:endParaRPr>
              </a:p>
              <a:p>
                <a:pPr indent="0" lvl="0" marL="0" rtl="0" algn="l">
                  <a:spcBef>
                    <a:spcPts val="150"/>
                  </a:spcBef>
                  <a:spcAft>
                    <a:spcPts val="0"/>
                  </a:spcAft>
                  <a:buNone/>
                </a:pPr>
                <a:r>
                  <a:rPr b="0" lang="en" sz="1000">
                    <a:solidFill>
                      <a:srgbClr val="4B5563"/>
                    </a:solidFill>
                    <a:latin typeface="Inter"/>
                    <a:ea typeface="Inter"/>
                    <a:cs typeface="Inter"/>
                    <a:sym typeface="Inter"/>
                  </a:rPr>
                  <a:t>Logical code structure, class structures, and object management.</a:t>
                </a:r>
                <a:endParaRPr b="0" sz="1000">
                  <a:solidFill>
                    <a:srgbClr val="4B5563"/>
                  </a:solidFill>
                  <a:latin typeface="Inter"/>
                  <a:ea typeface="Inter"/>
                  <a:cs typeface="Inter"/>
                  <a:sym typeface="Inter"/>
                </a:endParaRPr>
              </a:p>
            </p:txBody>
          </p:sp>
        </p:grpSp>
        <p:pic>
          <p:nvPicPr>
            <p:cNvPr id="102" name="Google Shape;102;p15"/>
            <p:cNvPicPr preferRelativeResize="0"/>
            <p:nvPr/>
          </p:nvPicPr>
          <p:blipFill rotWithShape="1">
            <a:blip r:embed="rId3">
              <a:alphaModFix/>
            </a:blip>
            <a:srcRect b="0" l="0" r="0" t="0"/>
            <a:stretch/>
          </p:blipFill>
          <p:spPr>
            <a:xfrm>
              <a:off x="2514600" y="1238250"/>
              <a:ext cx="114300" cy="533400"/>
            </a:xfrm>
            <a:prstGeom prst="rect">
              <a:avLst/>
            </a:prstGeom>
            <a:noFill/>
            <a:ln>
              <a:noFill/>
            </a:ln>
          </p:spPr>
        </p:pic>
        <p:grpSp>
          <p:nvGrpSpPr>
            <p:cNvPr id="103" name="Google Shape;103;p15"/>
            <p:cNvGrpSpPr/>
            <p:nvPr/>
          </p:nvGrpSpPr>
          <p:grpSpPr>
            <a:xfrm>
              <a:off x="381000" y="1762125"/>
              <a:ext cx="4381500" cy="619200"/>
              <a:chOff x="0" y="0"/>
              <a:chExt cx="4381500" cy="619200"/>
            </a:xfrm>
          </p:grpSpPr>
          <p:sp>
            <p:nvSpPr>
              <p:cNvPr id="104" name="Google Shape;104;p15"/>
              <p:cNvSpPr/>
              <p:nvPr/>
            </p:nvSpPr>
            <p:spPr>
              <a:xfrm>
                <a:off x="0" y="0"/>
                <a:ext cx="4381500" cy="619200"/>
              </a:xfrm>
              <a:prstGeom prst="roundRect">
                <a:avLst>
                  <a:gd fmla="val 12307" name="adj"/>
                </a:avLst>
              </a:prstGeom>
              <a:solidFill>
                <a:srgbClr val="EAF2EE"/>
              </a:solidFill>
              <a:ln cap="flat" cmpd="sng" w="14300">
                <a:solidFill>
                  <a:srgbClr val="045A3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p:nvPr/>
            </p:nvSpPr>
            <p:spPr>
              <a:xfrm>
                <a:off x="0" y="0"/>
                <a:ext cx="47700" cy="6192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190500" y="95250"/>
                <a:ext cx="4000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The Bridge: Host Operating System (via os Module)</a:t>
                </a:r>
                <a:endParaRPr b="1" sz="1100">
                  <a:solidFill>
                    <a:srgbClr val="045A36"/>
                  </a:solidFill>
                  <a:latin typeface="Inter"/>
                  <a:ea typeface="Inter"/>
                  <a:cs typeface="Inter"/>
                  <a:sym typeface="Inter"/>
                </a:endParaRPr>
              </a:p>
              <a:p>
                <a:pPr indent="0" lvl="0" marL="0" rtl="0" algn="l">
                  <a:spcBef>
                    <a:spcPts val="150"/>
                  </a:spcBef>
                  <a:spcAft>
                    <a:spcPts val="0"/>
                  </a:spcAft>
                  <a:buNone/>
                </a:pPr>
                <a:r>
                  <a:rPr b="0" lang="en" sz="1000">
                    <a:solidFill>
                      <a:srgbClr val="4B5563"/>
                    </a:solidFill>
                    <a:latin typeface="Inter"/>
                    <a:ea typeface="Inter"/>
                    <a:cs typeface="Inter"/>
                    <a:sym typeface="Inter"/>
                  </a:rPr>
                  <a:t>Manages files, environment variables, directories, and processes.</a:t>
                </a:r>
                <a:endParaRPr b="0" sz="1000">
                  <a:solidFill>
                    <a:srgbClr val="4B5563"/>
                  </a:solidFill>
                  <a:latin typeface="Inter"/>
                  <a:ea typeface="Inter"/>
                  <a:cs typeface="Inter"/>
                  <a:sym typeface="Inter"/>
                </a:endParaRPr>
              </a:p>
            </p:txBody>
          </p:sp>
        </p:grpSp>
        <p:pic>
          <p:nvPicPr>
            <p:cNvPr id="107" name="Google Shape;107;p15"/>
            <p:cNvPicPr preferRelativeResize="0"/>
            <p:nvPr/>
          </p:nvPicPr>
          <p:blipFill rotWithShape="1">
            <a:blip r:embed="rId3">
              <a:alphaModFix/>
            </a:blip>
            <a:srcRect b="0" l="0" r="0" t="0"/>
            <a:stretch/>
          </p:blipFill>
          <p:spPr>
            <a:xfrm>
              <a:off x="2514600" y="2381250"/>
              <a:ext cx="114300" cy="533400"/>
            </a:xfrm>
            <a:prstGeom prst="rect">
              <a:avLst/>
            </a:prstGeom>
            <a:noFill/>
            <a:ln>
              <a:noFill/>
            </a:ln>
          </p:spPr>
        </p:pic>
        <p:grpSp>
          <p:nvGrpSpPr>
            <p:cNvPr id="108" name="Google Shape;108;p15"/>
            <p:cNvGrpSpPr/>
            <p:nvPr/>
          </p:nvGrpSpPr>
          <p:grpSpPr>
            <a:xfrm>
              <a:off x="381000" y="2905125"/>
              <a:ext cx="4381500" cy="619200"/>
              <a:chOff x="0" y="0"/>
              <a:chExt cx="4381500" cy="619200"/>
            </a:xfrm>
          </p:grpSpPr>
          <p:sp>
            <p:nvSpPr>
              <p:cNvPr id="109" name="Google Shape;109;p15"/>
              <p:cNvSpPr/>
              <p:nvPr/>
            </p:nvSpPr>
            <p:spPr>
              <a:xfrm>
                <a:off x="0" y="0"/>
                <a:ext cx="4381500" cy="619200"/>
              </a:xfrm>
              <a:prstGeom prst="roundRect">
                <a:avLst>
                  <a:gd fmla="val 12307"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p:nvPr/>
            </p:nvSpPr>
            <p:spPr>
              <a:xfrm>
                <a:off x="0" y="0"/>
                <a:ext cx="47700" cy="619200"/>
              </a:xfrm>
              <a:prstGeom prst="roundRect">
                <a:avLst>
                  <a:gd fmla="val 4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90500" y="95250"/>
                <a:ext cx="40005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Inter"/>
                    <a:ea typeface="Inter"/>
                    <a:cs typeface="Inter"/>
                    <a:sym typeface="Inter"/>
                  </a:rPr>
                  <a:t>Physical Hardware Systems (Sensors / Motors)</a:t>
                </a:r>
                <a:endParaRPr b="1" sz="1100">
                  <a:solidFill>
                    <a:srgbClr val="FFFFFF"/>
                  </a:solidFill>
                  <a:latin typeface="Inter"/>
                  <a:ea typeface="Inter"/>
                  <a:cs typeface="Inter"/>
                  <a:sym typeface="Inter"/>
                </a:endParaRPr>
              </a:p>
              <a:p>
                <a:pPr indent="0" lvl="0" marL="0" rtl="0" algn="l">
                  <a:spcBef>
                    <a:spcPts val="150"/>
                  </a:spcBef>
                  <a:spcAft>
                    <a:spcPts val="0"/>
                  </a:spcAft>
                  <a:buNone/>
                </a:pPr>
                <a:r>
                  <a:rPr b="0" lang="en" sz="1000">
                    <a:solidFill>
                      <a:srgbClr val="E2E8F0"/>
                    </a:solidFill>
                    <a:latin typeface="Inter"/>
                    <a:ea typeface="Inter"/>
                    <a:cs typeface="Inter"/>
                    <a:sym typeface="Inter"/>
                  </a:rPr>
                  <a:t>Direct interaction via PySerial, PyArduino, or GPIO pins.</a:t>
                </a:r>
                <a:endParaRPr b="0" sz="1000">
                  <a:solidFill>
                    <a:srgbClr val="E2E8F0"/>
                  </a:solidFill>
                  <a:latin typeface="Inter"/>
                  <a:ea typeface="Inter"/>
                  <a:cs typeface="Inter"/>
                  <a:sym typeface="Inter"/>
                </a:endParaRPr>
              </a:p>
            </p:txBody>
          </p:sp>
        </p:grpSp>
        <p:sp>
          <p:nvSpPr>
            <p:cNvPr id="112" name="Google Shape;112;p15"/>
            <p:cNvSpPr txBox="1"/>
            <p:nvPr/>
          </p:nvSpPr>
          <p:spPr>
            <a:xfrm>
              <a:off x="381000" y="3695700"/>
              <a:ext cx="43815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900">
                  <a:solidFill>
                    <a:srgbClr val="9CA3AF"/>
                  </a:solidFill>
                  <a:latin typeface="Inter"/>
                  <a:ea typeface="Inter"/>
                  <a:cs typeface="Inter"/>
                  <a:sym typeface="Inter"/>
                </a:rPr>
                <a:t>System Stack Flow: Top-Down Logical to Physical Control</a:t>
              </a:r>
              <a:endParaRPr b="0" sz="900">
                <a:solidFill>
                  <a:srgbClr val="9CA3AF"/>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6"/>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The Role of OS in Robotic Control</a:t>
            </a:r>
            <a:endParaRPr b="0" sz="1000">
              <a:solidFill>
                <a:srgbClr val="6B7280"/>
              </a:solidFill>
              <a:latin typeface="Inter"/>
              <a:ea typeface="Inter"/>
              <a:cs typeface="Inter"/>
              <a:sym typeface="Inter"/>
            </a:endParaRPr>
          </a:p>
        </p:txBody>
      </p:sp>
      <p:sp>
        <p:nvSpPr>
          <p:cNvPr id="121" name="Google Shape;121;p1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Role of OS in Robotic Control</a:t>
            </a:r>
            <a:endParaRPr b="0" sz="2700">
              <a:solidFill>
                <a:srgbClr val="045A36"/>
              </a:solidFill>
              <a:latin typeface="Montserrat SemiBold"/>
              <a:ea typeface="Montserrat SemiBold"/>
              <a:cs typeface="Montserrat SemiBold"/>
              <a:sym typeface="Montserrat SemiBold"/>
            </a:endParaRPr>
          </a:p>
        </p:txBody>
      </p:sp>
      <p:sp>
        <p:nvSpPr>
          <p:cNvPr id="122" name="Google Shape;122;p16"/>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Exploring how operating system integrations manage configuration, logs, and real-time data pipelines.</a:t>
            </a:r>
            <a:endParaRPr b="0" sz="1600">
              <a:solidFill>
                <a:srgbClr val="4B5563"/>
              </a:solidFill>
              <a:latin typeface="Inter SemiBold"/>
              <a:ea typeface="Inter SemiBold"/>
              <a:cs typeface="Inter SemiBold"/>
              <a:sym typeface="Inter SemiBold"/>
            </a:endParaRPr>
          </a:p>
        </p:txBody>
      </p:sp>
      <p:grpSp>
        <p:nvGrpSpPr>
          <p:cNvPr id="123" name="Google Shape;123;p16"/>
          <p:cNvGrpSpPr/>
          <p:nvPr/>
        </p:nvGrpSpPr>
        <p:grpSpPr>
          <a:xfrm>
            <a:off x="762000" y="1809750"/>
            <a:ext cx="5143575" cy="714300"/>
            <a:chOff x="0" y="0"/>
            <a:chExt cx="5143575" cy="714300"/>
          </a:xfrm>
        </p:grpSpPr>
        <p:grpSp>
          <p:nvGrpSpPr>
            <p:cNvPr id="124" name="Google Shape;124;p16"/>
            <p:cNvGrpSpPr/>
            <p:nvPr/>
          </p:nvGrpSpPr>
          <p:grpSpPr>
            <a:xfrm>
              <a:off x="0" y="38100"/>
              <a:ext cx="190500" cy="190500"/>
              <a:chOff x="0" y="0"/>
              <a:chExt cx="190500" cy="190500"/>
            </a:xfrm>
          </p:grpSpPr>
          <p:sp>
            <p:nvSpPr>
              <p:cNvPr id="125" name="Google Shape;125;p16"/>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7" name="Google Shape;127;p16"/>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Automation</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50">
                  <a:solidFill>
                    <a:srgbClr val="374151"/>
                  </a:solidFill>
                  <a:latin typeface="Inter"/>
                  <a:ea typeface="Inter"/>
                  <a:cs typeface="Inter"/>
                  <a:sym typeface="Inter"/>
                </a:rPr>
                <a:t>Automating repetitive tasks like starting scripts or managing data pipelines.</a:t>
              </a:r>
              <a:endParaRPr b="0" sz="1350">
                <a:solidFill>
                  <a:srgbClr val="374151"/>
                </a:solidFill>
                <a:latin typeface="Inter"/>
                <a:ea typeface="Inter"/>
                <a:cs typeface="Inter"/>
                <a:sym typeface="Inter"/>
              </a:endParaRPr>
            </a:p>
          </p:txBody>
        </p:sp>
      </p:grpSp>
      <p:grpSp>
        <p:nvGrpSpPr>
          <p:cNvPr id="128" name="Google Shape;128;p16"/>
          <p:cNvGrpSpPr/>
          <p:nvPr/>
        </p:nvGrpSpPr>
        <p:grpSpPr>
          <a:xfrm>
            <a:off x="762000" y="2619375"/>
            <a:ext cx="5143575" cy="714300"/>
            <a:chOff x="0" y="0"/>
            <a:chExt cx="5143575" cy="714300"/>
          </a:xfrm>
        </p:grpSpPr>
        <p:grpSp>
          <p:nvGrpSpPr>
            <p:cNvPr id="129" name="Google Shape;129;p16"/>
            <p:cNvGrpSpPr/>
            <p:nvPr/>
          </p:nvGrpSpPr>
          <p:grpSpPr>
            <a:xfrm>
              <a:off x="0" y="38100"/>
              <a:ext cx="190500" cy="190500"/>
              <a:chOff x="0" y="0"/>
              <a:chExt cx="190500" cy="190500"/>
            </a:xfrm>
          </p:grpSpPr>
          <p:sp>
            <p:nvSpPr>
              <p:cNvPr id="130" name="Google Shape;130;p16"/>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2" name="Google Shape;132;p16"/>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File Management</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50">
                  <a:solidFill>
                    <a:srgbClr val="374151"/>
                  </a:solidFill>
                  <a:latin typeface="Inter"/>
                  <a:ea typeface="Inter"/>
                  <a:cs typeface="Inter"/>
                  <a:sym typeface="Inter"/>
                </a:rPr>
                <a:t>Organizing complex project structures and creating directories for specific experiments.</a:t>
              </a:r>
              <a:endParaRPr b="0" sz="1350">
                <a:solidFill>
                  <a:srgbClr val="374151"/>
                </a:solidFill>
                <a:latin typeface="Inter"/>
                <a:ea typeface="Inter"/>
                <a:cs typeface="Inter"/>
                <a:sym typeface="Inter"/>
              </a:endParaRPr>
            </a:p>
          </p:txBody>
        </p:sp>
      </p:grpSp>
      <p:grpSp>
        <p:nvGrpSpPr>
          <p:cNvPr id="133" name="Google Shape;133;p16"/>
          <p:cNvGrpSpPr/>
          <p:nvPr/>
        </p:nvGrpSpPr>
        <p:grpSpPr>
          <a:xfrm>
            <a:off x="762000" y="3429000"/>
            <a:ext cx="5143575" cy="714300"/>
            <a:chOff x="0" y="0"/>
            <a:chExt cx="5143575" cy="714300"/>
          </a:xfrm>
        </p:grpSpPr>
        <p:grpSp>
          <p:nvGrpSpPr>
            <p:cNvPr id="134" name="Google Shape;134;p16"/>
            <p:cNvGrpSpPr/>
            <p:nvPr/>
          </p:nvGrpSpPr>
          <p:grpSpPr>
            <a:xfrm>
              <a:off x="0" y="38100"/>
              <a:ext cx="190500" cy="190500"/>
              <a:chOff x="0" y="0"/>
              <a:chExt cx="190500" cy="190500"/>
            </a:xfrm>
          </p:grpSpPr>
          <p:sp>
            <p:nvSpPr>
              <p:cNvPr id="135" name="Google Shape;135;p16"/>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7" name="Google Shape;137;p16"/>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Robot Logs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50">
                  <a:solidFill>
                    <a:srgbClr val="374151"/>
                  </a:solidFill>
                  <a:latin typeface="Inter"/>
                  <a:ea typeface="Inter"/>
                  <a:cs typeface="Inter"/>
                  <a:sym typeface="Inter"/>
                </a:rPr>
                <a:t>Automatically generating and storing log files to track system health and errors.</a:t>
              </a:r>
              <a:endParaRPr b="0" sz="1350">
                <a:solidFill>
                  <a:srgbClr val="374151"/>
                </a:solidFill>
                <a:latin typeface="Inter"/>
                <a:ea typeface="Inter"/>
                <a:cs typeface="Inter"/>
                <a:sym typeface="Inter"/>
              </a:endParaRPr>
            </a:p>
          </p:txBody>
        </p:sp>
      </p:grpSp>
      <p:grpSp>
        <p:nvGrpSpPr>
          <p:cNvPr id="138" name="Google Shape;138;p16"/>
          <p:cNvGrpSpPr/>
          <p:nvPr/>
        </p:nvGrpSpPr>
        <p:grpSpPr>
          <a:xfrm>
            <a:off x="762000" y="4238625"/>
            <a:ext cx="5143575" cy="714300"/>
            <a:chOff x="0" y="0"/>
            <a:chExt cx="5143575" cy="714300"/>
          </a:xfrm>
        </p:grpSpPr>
        <p:grpSp>
          <p:nvGrpSpPr>
            <p:cNvPr id="139" name="Google Shape;139;p16"/>
            <p:cNvGrpSpPr/>
            <p:nvPr/>
          </p:nvGrpSpPr>
          <p:grpSpPr>
            <a:xfrm>
              <a:off x="0" y="38100"/>
              <a:ext cx="190500" cy="190500"/>
              <a:chOff x="0" y="0"/>
              <a:chExt cx="190500" cy="190500"/>
            </a:xfrm>
          </p:grpSpPr>
          <p:sp>
            <p:nvSpPr>
              <p:cNvPr id="140" name="Google Shape;140;p16"/>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2" name="Google Shape;142;p16"/>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Sensor Data</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50">
                  <a:solidFill>
                    <a:srgbClr val="374151"/>
                  </a:solidFill>
                  <a:latin typeface="Inter"/>
                  <a:ea typeface="Inter"/>
                  <a:cs typeface="Inter"/>
                  <a:sym typeface="Inter"/>
                </a:rPr>
                <a:t>Storing massive amounts of sensor readings (CSV, JSON) systematically for analysis.</a:t>
              </a:r>
              <a:endParaRPr b="0" sz="1350">
                <a:solidFill>
                  <a:srgbClr val="374151"/>
                </a:solidFill>
                <a:latin typeface="Inter"/>
                <a:ea typeface="Inter"/>
                <a:cs typeface="Inter"/>
                <a:sym typeface="Inter"/>
              </a:endParaRPr>
            </a:p>
          </p:txBody>
        </p:sp>
      </p:grpSp>
      <p:grpSp>
        <p:nvGrpSpPr>
          <p:cNvPr id="143" name="Google Shape;143;p16"/>
          <p:cNvGrpSpPr/>
          <p:nvPr/>
        </p:nvGrpSpPr>
        <p:grpSpPr>
          <a:xfrm>
            <a:off x="762000" y="5048250"/>
            <a:ext cx="5143575" cy="714300"/>
            <a:chOff x="0" y="0"/>
            <a:chExt cx="5143575" cy="714300"/>
          </a:xfrm>
        </p:grpSpPr>
        <p:grpSp>
          <p:nvGrpSpPr>
            <p:cNvPr id="144" name="Google Shape;144;p16"/>
            <p:cNvGrpSpPr/>
            <p:nvPr/>
          </p:nvGrpSpPr>
          <p:grpSpPr>
            <a:xfrm>
              <a:off x="0" y="38100"/>
              <a:ext cx="190500" cy="190500"/>
              <a:chOff x="0" y="0"/>
              <a:chExt cx="190500" cy="190500"/>
            </a:xfrm>
          </p:grpSpPr>
          <p:sp>
            <p:nvSpPr>
              <p:cNvPr id="145" name="Google Shape;145;p16"/>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7" name="Google Shape;147;p16"/>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Configuration Files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50">
                  <a:solidFill>
                    <a:srgbClr val="374151"/>
                  </a:solidFill>
                  <a:latin typeface="Inter"/>
                  <a:ea typeface="Inter"/>
                  <a:cs typeface="Inter"/>
                  <a:sym typeface="Inter"/>
                </a:rPr>
                <a:t>Reading and writing configuration settings to adapt robot behavior without altering code.</a:t>
              </a:r>
              <a:endParaRPr b="0" sz="1350">
                <a:solidFill>
                  <a:srgbClr val="374151"/>
                </a:solidFill>
                <a:latin typeface="Inter"/>
                <a:ea typeface="Inter"/>
                <a:cs typeface="Inter"/>
                <a:sym typeface="Inter"/>
              </a:endParaRPr>
            </a:p>
          </p:txBody>
        </p:sp>
      </p:grpSp>
      <p:grpSp>
        <p:nvGrpSpPr>
          <p:cNvPr id="148" name="Google Shape;148;p16"/>
          <p:cNvGrpSpPr/>
          <p:nvPr/>
        </p:nvGrpSpPr>
        <p:grpSpPr>
          <a:xfrm>
            <a:off x="6286500" y="1809750"/>
            <a:ext cx="5143500" cy="4000500"/>
            <a:chOff x="0" y="0"/>
            <a:chExt cx="5143500" cy="4000500"/>
          </a:xfrm>
        </p:grpSpPr>
        <p:sp>
          <p:nvSpPr>
            <p:cNvPr id="149" name="Google Shape;149;p16"/>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6"/>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6"/>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Real-World Examples</a:t>
              </a:r>
              <a:endParaRPr b="1" sz="1200">
                <a:solidFill>
                  <a:srgbClr val="045A36"/>
                </a:solidFill>
                <a:latin typeface="Inter"/>
                <a:ea typeface="Inter"/>
                <a:cs typeface="Inter"/>
                <a:sym typeface="Inter"/>
              </a:endParaRPr>
            </a:p>
          </p:txBody>
        </p:sp>
        <p:sp>
          <p:nvSpPr>
            <p:cNvPr id="152" name="Google Shape;152;p16"/>
            <p:cNvSpPr txBox="1"/>
            <p:nvPr/>
          </p:nvSpPr>
          <p:spPr>
            <a:xfrm>
              <a:off x="238125" y="714375"/>
              <a:ext cx="46674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Autonomous Vehicles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350">
                  <a:solidFill>
                    <a:srgbClr val="374151"/>
                  </a:solidFill>
                  <a:latin typeface="Inter"/>
                  <a:ea typeface="Inter"/>
                  <a:cs typeface="Inter"/>
                  <a:sym typeface="Inter"/>
                </a:rPr>
                <a:t>Writing massive data streams from LiDAR and cameras persistently to high-speed solid-state drives.</a:t>
              </a:r>
              <a:endParaRPr b="0" sz="1350">
                <a:solidFill>
                  <a:srgbClr val="374151"/>
                </a:solidFill>
                <a:latin typeface="Inter"/>
                <a:ea typeface="Inter"/>
                <a:cs typeface="Inter"/>
                <a:sym typeface="Inter"/>
              </a:endParaRPr>
            </a:p>
            <a:p>
              <a:pPr indent="0" lvl="0" marL="0" rtl="0" algn="l">
                <a:spcBef>
                  <a:spcPts val="900"/>
                </a:spcBef>
                <a:spcAft>
                  <a:spcPts val="0"/>
                </a:spcAft>
                <a:buNone/>
              </a:pPr>
              <a:r>
                <a:rPr b="0" lang="en" sz="1500">
                  <a:solidFill>
                    <a:srgbClr val="1F2937"/>
                  </a:solidFill>
                  <a:latin typeface="Inter SemiBold"/>
                  <a:ea typeface="Inter SemiBold"/>
                  <a:cs typeface="Inter SemiBold"/>
                  <a:sym typeface="Inter SemiBold"/>
                </a:rPr>
                <a:t>Industrial Robotic Arms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350">
                  <a:solidFill>
                    <a:srgbClr val="374151"/>
                  </a:solidFill>
                  <a:latin typeface="Inter"/>
                  <a:ea typeface="Inter"/>
                  <a:cs typeface="Inter"/>
                  <a:sym typeface="Inter"/>
                </a:rPr>
                <a:t>Logging high-frequency joint temperature, pressure metrics, and trajectory errors to optimize cycle times.</a:t>
              </a:r>
              <a:endParaRPr b="0" sz="1350">
                <a:solidFill>
                  <a:srgbClr val="374151"/>
                </a:solidFill>
                <a:latin typeface="Inter"/>
                <a:ea typeface="Inter"/>
                <a:cs typeface="Inter"/>
                <a:sym typeface="Inter"/>
              </a:endParaRPr>
            </a:p>
            <a:p>
              <a:pPr indent="0" lvl="0" marL="0" rtl="0" algn="l">
                <a:spcBef>
                  <a:spcPts val="900"/>
                </a:spcBef>
                <a:spcAft>
                  <a:spcPts val="0"/>
                </a:spcAft>
                <a:buNone/>
              </a:pPr>
              <a:r>
                <a:rPr b="0" lang="en" sz="1500">
                  <a:solidFill>
                    <a:srgbClr val="1F2937"/>
                  </a:solidFill>
                  <a:latin typeface="Inter SemiBold"/>
                  <a:ea typeface="Inter SemiBold"/>
                  <a:cs typeface="Inter SemiBold"/>
                  <a:sym typeface="Inter SemiBold"/>
                </a:rPr>
                <a:t>AI Training Datasets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350">
                  <a:solidFill>
                    <a:srgbClr val="374151"/>
                  </a:solidFill>
                  <a:latin typeface="Inter"/>
                  <a:ea typeface="Inter"/>
                  <a:cs typeface="Inter"/>
                  <a:sym typeface="Inter"/>
                </a:rPr>
                <a:t>Generating training logs and managing multi-gigabyte testing datasets dynamically across local file-systems.</a:t>
              </a:r>
              <a:endParaRPr b="0" sz="1350">
                <a:solidFill>
                  <a:srgbClr val="374151"/>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1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762000" y="57150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Practical Systems Skills for Undergraduate Engineers</a:t>
            </a:r>
            <a:endParaRPr b="0" sz="2700">
              <a:solidFill>
                <a:srgbClr val="045A36"/>
              </a:solidFill>
              <a:latin typeface="Montserrat SemiBold"/>
              <a:ea typeface="Montserrat SemiBold"/>
              <a:cs typeface="Montserrat SemiBold"/>
              <a:sym typeface="Montserrat SemiBold"/>
            </a:endParaRPr>
          </a:p>
        </p:txBody>
      </p:sp>
      <p:sp>
        <p:nvSpPr>
          <p:cNvPr id="160" name="Google Shape;160;p17"/>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By the end of this session, you will be able to:</a:t>
            </a:r>
            <a:endParaRPr b="0" sz="1600">
              <a:solidFill>
                <a:srgbClr val="4B5563"/>
              </a:solidFill>
              <a:latin typeface="Inter SemiBold"/>
              <a:ea typeface="Inter SemiBold"/>
              <a:cs typeface="Inter SemiBold"/>
              <a:sym typeface="Inter SemiBold"/>
            </a:endParaRPr>
          </a:p>
        </p:txBody>
      </p:sp>
      <p:grpSp>
        <p:nvGrpSpPr>
          <p:cNvPr id="161" name="Google Shape;161;p17"/>
          <p:cNvGrpSpPr/>
          <p:nvPr/>
        </p:nvGrpSpPr>
        <p:grpSpPr>
          <a:xfrm>
            <a:off x="762000" y="1809750"/>
            <a:ext cx="5143575" cy="714300"/>
            <a:chOff x="0" y="0"/>
            <a:chExt cx="5143575" cy="714300"/>
          </a:xfrm>
        </p:grpSpPr>
        <p:grpSp>
          <p:nvGrpSpPr>
            <p:cNvPr id="162" name="Google Shape;162;p17"/>
            <p:cNvGrpSpPr/>
            <p:nvPr/>
          </p:nvGrpSpPr>
          <p:grpSpPr>
            <a:xfrm>
              <a:off x="0" y="38100"/>
              <a:ext cx="190500" cy="190500"/>
              <a:chOff x="0" y="0"/>
              <a:chExt cx="190500" cy="190500"/>
            </a:xfrm>
          </p:grpSpPr>
          <p:sp>
            <p:nvSpPr>
              <p:cNvPr id="163" name="Google Shape;163;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5" name="Google Shape;165;p1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SemiBold"/>
                  <a:ea typeface="Inter SemiBold"/>
                  <a:cs typeface="Inter SemiBold"/>
                  <a:sym typeface="Inter SemiBold"/>
                </a:rPr>
                <a:t>Hardware Automation</a:t>
              </a:r>
              <a:endParaRPr b="0" sz="13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50">
                  <a:solidFill>
                    <a:srgbClr val="374151"/>
                  </a:solidFill>
                  <a:latin typeface="Inter"/>
                  <a:ea typeface="Inter"/>
                  <a:cs typeface="Inter"/>
                  <a:sym typeface="Inter"/>
                </a:rPr>
                <a:t>Understand the role of the operating system in hardware automation.</a:t>
              </a:r>
              <a:endParaRPr b="0" sz="1150">
                <a:solidFill>
                  <a:srgbClr val="374151"/>
                </a:solidFill>
                <a:latin typeface="Inter"/>
                <a:ea typeface="Inter"/>
                <a:cs typeface="Inter"/>
                <a:sym typeface="Inter"/>
              </a:endParaRPr>
            </a:p>
          </p:txBody>
        </p:sp>
      </p:grpSp>
      <p:grpSp>
        <p:nvGrpSpPr>
          <p:cNvPr id="166" name="Google Shape;166;p17"/>
          <p:cNvGrpSpPr/>
          <p:nvPr/>
        </p:nvGrpSpPr>
        <p:grpSpPr>
          <a:xfrm>
            <a:off x="762000" y="2619375"/>
            <a:ext cx="5143575" cy="714300"/>
            <a:chOff x="0" y="0"/>
            <a:chExt cx="5143575" cy="714300"/>
          </a:xfrm>
        </p:grpSpPr>
        <p:grpSp>
          <p:nvGrpSpPr>
            <p:cNvPr id="167" name="Google Shape;167;p17"/>
            <p:cNvGrpSpPr/>
            <p:nvPr/>
          </p:nvGrpSpPr>
          <p:grpSpPr>
            <a:xfrm>
              <a:off x="0" y="38100"/>
              <a:ext cx="190500" cy="190500"/>
              <a:chOff x="0" y="0"/>
              <a:chExt cx="190500" cy="190500"/>
            </a:xfrm>
          </p:grpSpPr>
          <p:sp>
            <p:nvSpPr>
              <p:cNvPr id="168" name="Google Shape;168;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0" name="Google Shape;170;p1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SemiBold"/>
                  <a:ea typeface="Inter SemiBold"/>
                  <a:cs typeface="Inter SemiBold"/>
                  <a:sym typeface="Inter SemiBold"/>
                </a:rPr>
                <a:t>Directory Navigation</a:t>
              </a:r>
              <a:endParaRPr b="0" sz="13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50">
                  <a:solidFill>
                    <a:srgbClr val="374151"/>
                  </a:solidFill>
                  <a:latin typeface="Inter"/>
                  <a:ea typeface="Inter"/>
                  <a:cs typeface="Inter"/>
                  <a:sym typeface="Inter"/>
                </a:rPr>
                <a:t>Navigate and inspect file system directories using Python.</a:t>
              </a:r>
              <a:endParaRPr b="0" sz="1150">
                <a:solidFill>
                  <a:srgbClr val="374151"/>
                </a:solidFill>
                <a:latin typeface="Inter"/>
                <a:ea typeface="Inter"/>
                <a:cs typeface="Inter"/>
                <a:sym typeface="Inter"/>
              </a:endParaRPr>
            </a:p>
          </p:txBody>
        </p:sp>
      </p:grpSp>
      <p:grpSp>
        <p:nvGrpSpPr>
          <p:cNvPr id="171" name="Google Shape;171;p17"/>
          <p:cNvGrpSpPr/>
          <p:nvPr/>
        </p:nvGrpSpPr>
        <p:grpSpPr>
          <a:xfrm>
            <a:off x="762000" y="3429000"/>
            <a:ext cx="5143575" cy="714300"/>
            <a:chOff x="0" y="0"/>
            <a:chExt cx="5143575" cy="714300"/>
          </a:xfrm>
        </p:grpSpPr>
        <p:grpSp>
          <p:nvGrpSpPr>
            <p:cNvPr id="172" name="Google Shape;172;p17"/>
            <p:cNvGrpSpPr/>
            <p:nvPr/>
          </p:nvGrpSpPr>
          <p:grpSpPr>
            <a:xfrm>
              <a:off x="0" y="38100"/>
              <a:ext cx="190500" cy="190500"/>
              <a:chOff x="0" y="0"/>
              <a:chExt cx="190500" cy="190500"/>
            </a:xfrm>
          </p:grpSpPr>
          <p:sp>
            <p:nvSpPr>
              <p:cNvPr id="173" name="Google Shape;173;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5" name="Google Shape;175;p1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SemiBold"/>
                  <a:ea typeface="Inter SemiBold"/>
                  <a:cs typeface="Inter SemiBold"/>
                  <a:sym typeface="Inter SemiBold"/>
                </a:rPr>
                <a:t>File Operations</a:t>
              </a:r>
              <a:endParaRPr b="0" sz="13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50">
                  <a:solidFill>
                    <a:srgbClr val="374151"/>
                  </a:solidFill>
                  <a:latin typeface="Inter"/>
                  <a:ea typeface="Inter"/>
                  <a:cs typeface="Inter"/>
                  <a:sym typeface="Inter"/>
                </a:rPr>
                <a:t>Create, rename, and delete files and folders programmatically.</a:t>
              </a:r>
              <a:endParaRPr b="0" sz="1150">
                <a:solidFill>
                  <a:srgbClr val="374151"/>
                </a:solidFill>
                <a:latin typeface="Inter"/>
                <a:ea typeface="Inter"/>
                <a:cs typeface="Inter"/>
                <a:sym typeface="Inter"/>
              </a:endParaRPr>
            </a:p>
          </p:txBody>
        </p:sp>
      </p:grpSp>
      <p:grpSp>
        <p:nvGrpSpPr>
          <p:cNvPr id="176" name="Google Shape;176;p17"/>
          <p:cNvGrpSpPr/>
          <p:nvPr/>
        </p:nvGrpSpPr>
        <p:grpSpPr>
          <a:xfrm>
            <a:off x="762000" y="4238625"/>
            <a:ext cx="5143575" cy="714300"/>
            <a:chOff x="0" y="0"/>
            <a:chExt cx="5143575" cy="714300"/>
          </a:xfrm>
        </p:grpSpPr>
        <p:grpSp>
          <p:nvGrpSpPr>
            <p:cNvPr id="177" name="Google Shape;177;p17"/>
            <p:cNvGrpSpPr/>
            <p:nvPr/>
          </p:nvGrpSpPr>
          <p:grpSpPr>
            <a:xfrm>
              <a:off x="0" y="38100"/>
              <a:ext cx="190500" cy="190500"/>
              <a:chOff x="0" y="0"/>
              <a:chExt cx="190500" cy="190500"/>
            </a:xfrm>
          </p:grpSpPr>
          <p:sp>
            <p:nvSpPr>
              <p:cNvPr id="178" name="Google Shape;178;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0" name="Google Shape;180;p1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SemiBold"/>
                  <a:ea typeface="Inter SemiBold"/>
                  <a:cs typeface="Inter SemiBold"/>
                  <a:sym typeface="Inter SemiBold"/>
                </a:rPr>
                <a:t>Path &amp; Metadata Analysis</a:t>
              </a:r>
              <a:endParaRPr b="0" sz="13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50">
                  <a:solidFill>
                    <a:srgbClr val="374151"/>
                  </a:solidFill>
                  <a:latin typeface="Inter"/>
                  <a:ea typeface="Inter"/>
                  <a:cs typeface="Inter"/>
                  <a:sym typeface="Inter"/>
                </a:rPr>
                <a:t>Analyze file paths and extract metadata.</a:t>
              </a:r>
              <a:endParaRPr b="0" sz="1150">
                <a:solidFill>
                  <a:srgbClr val="374151"/>
                </a:solidFill>
                <a:latin typeface="Inter"/>
                <a:ea typeface="Inter"/>
                <a:cs typeface="Inter"/>
                <a:sym typeface="Inter"/>
              </a:endParaRPr>
            </a:p>
          </p:txBody>
        </p:sp>
      </p:grpSp>
      <p:grpSp>
        <p:nvGrpSpPr>
          <p:cNvPr id="181" name="Google Shape;181;p17"/>
          <p:cNvGrpSpPr/>
          <p:nvPr/>
        </p:nvGrpSpPr>
        <p:grpSpPr>
          <a:xfrm>
            <a:off x="762000" y="5048250"/>
            <a:ext cx="5143575" cy="714300"/>
            <a:chOff x="0" y="0"/>
            <a:chExt cx="5143575" cy="714300"/>
          </a:xfrm>
        </p:grpSpPr>
        <p:grpSp>
          <p:nvGrpSpPr>
            <p:cNvPr id="182" name="Google Shape;182;p17"/>
            <p:cNvGrpSpPr/>
            <p:nvPr/>
          </p:nvGrpSpPr>
          <p:grpSpPr>
            <a:xfrm>
              <a:off x="0" y="38100"/>
              <a:ext cx="190500" cy="190500"/>
              <a:chOff x="0" y="0"/>
              <a:chExt cx="190500" cy="190500"/>
            </a:xfrm>
          </p:grpSpPr>
          <p:sp>
            <p:nvSpPr>
              <p:cNvPr id="183" name="Google Shape;183;p1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5" name="Google Shape;185;p1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SemiBold"/>
                  <a:ea typeface="Inter SemiBold"/>
                  <a:cs typeface="Inter SemiBold"/>
                  <a:sym typeface="Inter SemiBold"/>
                </a:rPr>
                <a:t>Robotics Log Automation</a:t>
              </a:r>
              <a:endParaRPr b="0" sz="13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50">
                  <a:solidFill>
                    <a:srgbClr val="374151"/>
                  </a:solidFill>
                  <a:latin typeface="Inter"/>
                  <a:ea typeface="Inter"/>
                  <a:cs typeface="Inter"/>
                  <a:sym typeface="Inter"/>
                </a:rPr>
                <a:t>Develop automated scripts for organizing robotics project files and logs.</a:t>
              </a:r>
              <a:endParaRPr b="0" sz="1150">
                <a:solidFill>
                  <a:srgbClr val="374151"/>
                </a:solidFill>
                <a:latin typeface="Inter"/>
                <a:ea typeface="Inter"/>
                <a:cs typeface="Inter"/>
                <a:sym typeface="Inter"/>
              </a:endParaRPr>
            </a:p>
          </p:txBody>
        </p:sp>
      </p:grpSp>
      <p:grpSp>
        <p:nvGrpSpPr>
          <p:cNvPr id="186" name="Google Shape;186;p17"/>
          <p:cNvGrpSpPr/>
          <p:nvPr/>
        </p:nvGrpSpPr>
        <p:grpSpPr>
          <a:xfrm>
            <a:off x="6286500" y="1809750"/>
            <a:ext cx="5143500" cy="4000500"/>
            <a:chOff x="0" y="0"/>
            <a:chExt cx="5143500" cy="4000500"/>
          </a:xfrm>
        </p:grpSpPr>
        <p:sp>
          <p:nvSpPr>
            <p:cNvPr id="187" name="Google Shape;187;p17"/>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7"/>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7"/>
            <p:cNvSpPr txBox="1"/>
            <p:nvPr/>
          </p:nvSpPr>
          <p:spPr>
            <a:xfrm>
              <a:off x="381000" y="2381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LEARNING GOALS &amp; OBJECTIVES</a:t>
              </a:r>
              <a:endParaRPr b="1" sz="1200">
                <a:solidFill>
                  <a:srgbClr val="D4A017"/>
                </a:solidFill>
                <a:latin typeface="Inter"/>
                <a:ea typeface="Inter"/>
                <a:cs typeface="Inter"/>
                <a:sym typeface="Inter"/>
              </a:endParaRPr>
            </a:p>
          </p:txBody>
        </p:sp>
        <p:grpSp>
          <p:nvGrpSpPr>
            <p:cNvPr id="190" name="Google Shape;190;p17"/>
            <p:cNvGrpSpPr/>
            <p:nvPr/>
          </p:nvGrpSpPr>
          <p:grpSpPr>
            <a:xfrm>
              <a:off x="381000" y="571500"/>
              <a:ext cx="4381500" cy="3286200"/>
              <a:chOff x="0" y="0"/>
              <a:chExt cx="4381500" cy="3286200"/>
            </a:xfrm>
          </p:grpSpPr>
          <p:sp>
            <p:nvSpPr>
              <p:cNvPr id="191" name="Google Shape;191;p17"/>
              <p:cNvSpPr/>
              <p:nvPr/>
            </p:nvSpPr>
            <p:spPr>
              <a:xfrm>
                <a:off x="0" y="0"/>
                <a:ext cx="4381500" cy="3286200"/>
              </a:xfrm>
              <a:prstGeom prst="roundRect">
                <a:avLst>
                  <a:gd fmla="val 1158"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2" name="Google Shape;192;p17"/>
              <p:cNvPicPr preferRelativeResize="0"/>
              <p:nvPr/>
            </p:nvPicPr>
            <p:blipFill rotWithShape="1">
              <a:blip r:embed="rId4">
                <a:alphaModFix/>
              </a:blip>
              <a:srcRect b="0" l="219" r="229" t="0"/>
              <a:stretch/>
            </p:blipFill>
            <p:spPr>
              <a:xfrm>
                <a:off x="0" y="0"/>
                <a:ext cx="4381500" cy="3286200"/>
              </a:xfrm>
              <a:prstGeom prst="roundRect">
                <a:avLst>
                  <a:gd fmla="val 1158" name="adj"/>
                </a:avLst>
              </a:prstGeom>
              <a:noFill/>
              <a:ln>
                <a:noFill/>
              </a:ln>
            </p:spPr>
          </p:pic>
        </p:grpSp>
      </p:grpSp>
      <p:sp>
        <p:nvSpPr>
          <p:cNvPr id="193" name="Google Shape;193;p17"/>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Practical Systems Skills for Undergraduate Engineers</a:t>
            </a:r>
            <a:endParaRPr b="0" sz="1000">
              <a:solidFill>
                <a:srgbClr val="6B728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01" name="Google Shape;201;p18"/>
          <p:cNvGrpSpPr/>
          <p:nvPr/>
        </p:nvGrpSpPr>
        <p:grpSpPr>
          <a:xfrm>
            <a:off x="762000" y="571500"/>
            <a:ext cx="9525000" cy="428700"/>
            <a:chOff x="0" y="0"/>
            <a:chExt cx="9525000" cy="428700"/>
          </a:xfrm>
        </p:grpSpPr>
        <p:sp>
          <p:nvSpPr>
            <p:cNvPr id="202" name="Google Shape;202;p18"/>
            <p:cNvSpPr/>
            <p:nvPr/>
          </p:nvSpPr>
          <p:spPr>
            <a:xfrm>
              <a:off x="0" y="0"/>
              <a:ext cx="95250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8"/>
            <p:cNvSpPr txBox="1"/>
            <p:nvPr/>
          </p:nvSpPr>
          <p:spPr>
            <a:xfrm>
              <a:off x="0" y="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Core Resource Managers</a:t>
              </a:r>
              <a:endParaRPr b="0" sz="2700">
                <a:solidFill>
                  <a:srgbClr val="045A36"/>
                </a:solidFill>
                <a:latin typeface="Montserrat SemiBold"/>
                <a:ea typeface="Montserrat SemiBold"/>
                <a:cs typeface="Montserrat SemiBold"/>
                <a:sym typeface="Montserrat SemiBold"/>
              </a:endParaRPr>
            </a:p>
          </p:txBody>
        </p:sp>
      </p:grpSp>
      <p:grpSp>
        <p:nvGrpSpPr>
          <p:cNvPr id="204" name="Google Shape;204;p18"/>
          <p:cNvGrpSpPr/>
          <p:nvPr/>
        </p:nvGrpSpPr>
        <p:grpSpPr>
          <a:xfrm>
            <a:off x="762000" y="1714500"/>
            <a:ext cx="5143575" cy="1143000"/>
            <a:chOff x="0" y="0"/>
            <a:chExt cx="5143575" cy="1143000"/>
          </a:xfrm>
        </p:grpSpPr>
        <p:grpSp>
          <p:nvGrpSpPr>
            <p:cNvPr id="205" name="Google Shape;205;p18"/>
            <p:cNvGrpSpPr/>
            <p:nvPr/>
          </p:nvGrpSpPr>
          <p:grpSpPr>
            <a:xfrm>
              <a:off x="0" y="38100"/>
              <a:ext cx="190500" cy="190500"/>
              <a:chOff x="0" y="0"/>
              <a:chExt cx="190500" cy="190500"/>
            </a:xfrm>
          </p:grpSpPr>
          <p:sp>
            <p:nvSpPr>
              <p:cNvPr id="206" name="Google Shape;206;p1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18"/>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8" name="Google Shape;208;p18"/>
            <p:cNvSpPr txBox="1"/>
            <p:nvPr/>
          </p:nvSpPr>
          <p:spPr>
            <a:xfrm>
              <a:off x="333375" y="0"/>
              <a:ext cx="48102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What is an OS?</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The software that supports a computer's basic functions, such as scheduling tasks, executing applications, and controlling peripherals.</a:t>
              </a:r>
              <a:endParaRPr b="0" sz="1400">
                <a:solidFill>
                  <a:srgbClr val="374151"/>
                </a:solidFill>
                <a:latin typeface="Inter"/>
                <a:ea typeface="Inter"/>
                <a:cs typeface="Inter"/>
                <a:sym typeface="Inter"/>
              </a:endParaRPr>
            </a:p>
          </p:txBody>
        </p:sp>
      </p:grpSp>
      <p:grpSp>
        <p:nvGrpSpPr>
          <p:cNvPr id="209" name="Google Shape;209;p18"/>
          <p:cNvGrpSpPr/>
          <p:nvPr/>
        </p:nvGrpSpPr>
        <p:grpSpPr>
          <a:xfrm>
            <a:off x="762000" y="3048000"/>
            <a:ext cx="5143575" cy="952500"/>
            <a:chOff x="0" y="0"/>
            <a:chExt cx="5143575" cy="952500"/>
          </a:xfrm>
        </p:grpSpPr>
        <p:grpSp>
          <p:nvGrpSpPr>
            <p:cNvPr id="210" name="Google Shape;210;p18"/>
            <p:cNvGrpSpPr/>
            <p:nvPr/>
          </p:nvGrpSpPr>
          <p:grpSpPr>
            <a:xfrm>
              <a:off x="0" y="38100"/>
              <a:ext cx="190500" cy="190500"/>
              <a:chOff x="0" y="0"/>
              <a:chExt cx="190500" cy="190500"/>
            </a:xfrm>
          </p:grpSpPr>
          <p:sp>
            <p:nvSpPr>
              <p:cNvPr id="211" name="Google Shape;211;p18"/>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8"/>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3" name="Google Shape;213;p18"/>
            <p:cNvSpPr txBox="1"/>
            <p:nvPr/>
          </p:nvSpPr>
          <p:spPr>
            <a:xfrm>
              <a:off x="333375" y="0"/>
              <a:ext cx="48102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Common Systems</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Windows, Linux (highly prevalent in robotics, e.g., ROS), macOS.</a:t>
              </a:r>
              <a:endParaRPr b="0" sz="1400">
                <a:solidFill>
                  <a:srgbClr val="374151"/>
                </a:solidFill>
                <a:latin typeface="Inter"/>
                <a:ea typeface="Inter"/>
                <a:cs typeface="Inter"/>
                <a:sym typeface="Inter"/>
              </a:endParaRPr>
            </a:p>
          </p:txBody>
        </p:sp>
      </p:grpSp>
      <p:grpSp>
        <p:nvGrpSpPr>
          <p:cNvPr id="214" name="Google Shape;214;p18"/>
          <p:cNvGrpSpPr/>
          <p:nvPr/>
        </p:nvGrpSpPr>
        <p:grpSpPr>
          <a:xfrm>
            <a:off x="6286500" y="1714500"/>
            <a:ext cx="5143500" cy="4000500"/>
            <a:chOff x="0" y="0"/>
            <a:chExt cx="5143500" cy="4000500"/>
          </a:xfrm>
        </p:grpSpPr>
        <p:sp>
          <p:nvSpPr>
            <p:cNvPr id="215" name="Google Shape;215;p18"/>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8"/>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RESOURCE MANAGEMENT</a:t>
              </a:r>
              <a:endParaRPr b="1" sz="1200">
                <a:solidFill>
                  <a:srgbClr val="045A36"/>
                </a:solidFill>
                <a:latin typeface="Inter"/>
                <a:ea typeface="Inter"/>
                <a:cs typeface="Inter"/>
                <a:sym typeface="Inter"/>
              </a:endParaRPr>
            </a:p>
          </p:txBody>
        </p:sp>
        <p:sp>
          <p:nvSpPr>
            <p:cNvPr id="218" name="Google Shape;218;p18"/>
            <p:cNvSpPr txBox="1"/>
            <p:nvPr/>
          </p:nvSpPr>
          <p:spPr>
            <a:xfrm>
              <a:off x="238125" y="714375"/>
              <a:ext cx="46674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Files</a:t>
              </a:r>
              <a:endParaRPr b="0" sz="1500">
                <a:solidFill>
                  <a:srgbClr val="045A36"/>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Organizing data on storage drives.</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Processes</a:t>
              </a:r>
              <a:endParaRPr b="0" sz="1500">
                <a:solidFill>
                  <a:srgbClr val="045A36"/>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Managing running programs and allocating CPU time.</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Devices</a:t>
              </a:r>
              <a:endParaRPr b="0" sz="1500">
                <a:solidFill>
                  <a:srgbClr val="045A36"/>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Handling communication with hardware peripherals (sensors, actuators).</a:t>
              </a:r>
              <a:endParaRPr b="0" sz="1400">
                <a:solidFill>
                  <a:srgbClr val="374151"/>
                </a:solidFill>
                <a:latin typeface="Inter"/>
                <a:ea typeface="Inter"/>
                <a:cs typeface="Inter"/>
                <a:sym typeface="Inter"/>
              </a:endParaRPr>
            </a:p>
          </p:txBody>
        </p:sp>
      </p:grpSp>
      <p:sp>
        <p:nvSpPr>
          <p:cNvPr id="219" name="Google Shape;219;p18"/>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9"/>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9"/>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grpSp>
        <p:nvGrpSpPr>
          <p:cNvPr id="228" name="Google Shape;228;p19"/>
          <p:cNvGrpSpPr/>
          <p:nvPr/>
        </p:nvGrpSpPr>
        <p:grpSpPr>
          <a:xfrm>
            <a:off x="762000" y="571500"/>
            <a:ext cx="10668000" cy="1095375"/>
            <a:chOff x="762000" y="571500"/>
            <a:chExt cx="10668000" cy="1095375"/>
          </a:xfrm>
        </p:grpSpPr>
        <p:sp>
          <p:nvSpPr>
            <p:cNvPr id="229" name="Google Shape;229;p19"/>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Python System-Level Interface</a:t>
              </a:r>
              <a:endParaRPr b="0" sz="2700">
                <a:solidFill>
                  <a:srgbClr val="045A36"/>
                </a:solidFill>
                <a:latin typeface="Montserrat SemiBold"/>
                <a:ea typeface="Montserrat SemiBold"/>
                <a:cs typeface="Montserrat SemiBold"/>
                <a:sym typeface="Montserrat SemiBold"/>
              </a:endParaRPr>
            </a:p>
          </p:txBody>
        </p:sp>
        <p:sp>
          <p:nvSpPr>
            <p:cNvPr id="230" name="Google Shape;230;p19"/>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execution path bridging high-level scripts with physical hardware layers.</a:t>
              </a:r>
              <a:endParaRPr b="0" sz="1600">
                <a:solidFill>
                  <a:srgbClr val="4B5563"/>
                </a:solidFill>
                <a:latin typeface="Inter SemiBold"/>
                <a:ea typeface="Inter SemiBold"/>
                <a:cs typeface="Inter SemiBold"/>
                <a:sym typeface="Inter SemiBold"/>
              </a:endParaRPr>
            </a:p>
          </p:txBody>
        </p:sp>
      </p:grpSp>
      <p:grpSp>
        <p:nvGrpSpPr>
          <p:cNvPr id="231" name="Google Shape;231;p19"/>
          <p:cNvGrpSpPr/>
          <p:nvPr/>
        </p:nvGrpSpPr>
        <p:grpSpPr>
          <a:xfrm>
            <a:off x="762000" y="1762125"/>
            <a:ext cx="5143575" cy="3952800"/>
            <a:chOff x="762000" y="1762125"/>
            <a:chExt cx="5143575" cy="3952800"/>
          </a:xfrm>
        </p:grpSpPr>
        <p:grpSp>
          <p:nvGrpSpPr>
            <p:cNvPr id="232" name="Google Shape;232;p19"/>
            <p:cNvGrpSpPr/>
            <p:nvPr/>
          </p:nvGrpSpPr>
          <p:grpSpPr>
            <a:xfrm>
              <a:off x="762000" y="1762125"/>
              <a:ext cx="5143575" cy="714300"/>
              <a:chOff x="0" y="0"/>
              <a:chExt cx="5143575" cy="714300"/>
            </a:xfrm>
          </p:grpSpPr>
          <p:grpSp>
            <p:nvGrpSpPr>
              <p:cNvPr id="233" name="Google Shape;233;p19"/>
              <p:cNvGrpSpPr/>
              <p:nvPr/>
            </p:nvGrpSpPr>
            <p:grpSpPr>
              <a:xfrm>
                <a:off x="0" y="38100"/>
                <a:ext cx="190500" cy="190500"/>
                <a:chOff x="0" y="0"/>
                <a:chExt cx="190500" cy="190500"/>
              </a:xfrm>
            </p:grpSpPr>
            <p:sp>
              <p:nvSpPr>
                <p:cNvPr id="234" name="Google Shape;234;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9"/>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6" name="Google Shape;236;p19"/>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High-Level Python Script</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Your robotics control logic.</a:t>
                </a:r>
                <a:endParaRPr b="0" sz="1400">
                  <a:solidFill>
                    <a:srgbClr val="374151"/>
                  </a:solidFill>
                  <a:latin typeface="Inter"/>
                  <a:ea typeface="Inter"/>
                  <a:cs typeface="Inter"/>
                  <a:sym typeface="Inter"/>
                </a:endParaRPr>
              </a:p>
            </p:txBody>
          </p:sp>
        </p:grpSp>
        <p:grpSp>
          <p:nvGrpSpPr>
            <p:cNvPr id="237" name="Google Shape;237;p19"/>
            <p:cNvGrpSpPr/>
            <p:nvPr/>
          </p:nvGrpSpPr>
          <p:grpSpPr>
            <a:xfrm>
              <a:off x="762000" y="2571750"/>
              <a:ext cx="5143575" cy="714300"/>
              <a:chOff x="0" y="0"/>
              <a:chExt cx="5143575" cy="714300"/>
            </a:xfrm>
          </p:grpSpPr>
          <p:grpSp>
            <p:nvGrpSpPr>
              <p:cNvPr id="238" name="Google Shape;238;p19"/>
              <p:cNvGrpSpPr/>
              <p:nvPr/>
            </p:nvGrpSpPr>
            <p:grpSpPr>
              <a:xfrm>
                <a:off x="0" y="38100"/>
                <a:ext cx="190500" cy="190500"/>
                <a:chOff x="0" y="0"/>
                <a:chExt cx="190500" cy="190500"/>
              </a:xfrm>
            </p:grpSpPr>
            <p:sp>
              <p:nvSpPr>
                <p:cNvPr id="239" name="Google Shape;239;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9"/>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1" name="Google Shape;241;p19"/>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Python Interpreter</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Translates your script into system calls.</a:t>
                </a:r>
                <a:endParaRPr b="0" sz="1400">
                  <a:solidFill>
                    <a:srgbClr val="374151"/>
                  </a:solidFill>
                  <a:latin typeface="Inter"/>
                  <a:ea typeface="Inter"/>
                  <a:cs typeface="Inter"/>
                  <a:sym typeface="Inter"/>
                </a:endParaRPr>
              </a:p>
            </p:txBody>
          </p:sp>
        </p:grpSp>
        <p:grpSp>
          <p:nvGrpSpPr>
            <p:cNvPr id="242" name="Google Shape;242;p19"/>
            <p:cNvGrpSpPr/>
            <p:nvPr/>
          </p:nvGrpSpPr>
          <p:grpSpPr>
            <a:xfrm>
              <a:off x="762000" y="3381375"/>
              <a:ext cx="5143575" cy="714300"/>
              <a:chOff x="0" y="0"/>
              <a:chExt cx="5143575" cy="714300"/>
            </a:xfrm>
          </p:grpSpPr>
          <p:grpSp>
            <p:nvGrpSpPr>
              <p:cNvPr id="243" name="Google Shape;243;p19"/>
              <p:cNvGrpSpPr/>
              <p:nvPr/>
            </p:nvGrpSpPr>
            <p:grpSpPr>
              <a:xfrm>
                <a:off x="0" y="38100"/>
                <a:ext cx="190500" cy="190500"/>
                <a:chOff x="0" y="0"/>
                <a:chExt cx="190500" cy="190500"/>
              </a:xfrm>
            </p:grpSpPr>
            <p:sp>
              <p:nvSpPr>
                <p:cNvPr id="244" name="Google Shape;244;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9"/>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6" name="Google Shape;246;p19"/>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1F2937"/>
                    </a:solidFill>
                    <a:latin typeface="Courier"/>
                    <a:ea typeface="Courier"/>
                    <a:cs typeface="Courier"/>
                    <a:sym typeface="Courier"/>
                  </a:rPr>
                  <a:t>os</a:t>
                </a:r>
                <a:r>
                  <a:rPr b="0" lang="en" sz="1500">
                    <a:solidFill>
                      <a:srgbClr val="1F2937"/>
                    </a:solidFill>
                    <a:latin typeface="Inter SemiBold"/>
                    <a:ea typeface="Inter SemiBold"/>
                    <a:cs typeface="Inter SemiBold"/>
                    <a:sym typeface="Inter SemiBold"/>
                  </a:rPr>
                  <a:t> Module</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The standard library providing a portable way of using operating system dependent functionality.</a:t>
                </a:r>
                <a:endParaRPr b="0" sz="1400">
                  <a:solidFill>
                    <a:srgbClr val="374151"/>
                  </a:solidFill>
                  <a:latin typeface="Inter"/>
                  <a:ea typeface="Inter"/>
                  <a:cs typeface="Inter"/>
                  <a:sym typeface="Inter"/>
                </a:endParaRPr>
              </a:p>
            </p:txBody>
          </p:sp>
        </p:grpSp>
        <p:grpSp>
          <p:nvGrpSpPr>
            <p:cNvPr id="247" name="Google Shape;247;p19"/>
            <p:cNvGrpSpPr/>
            <p:nvPr/>
          </p:nvGrpSpPr>
          <p:grpSpPr>
            <a:xfrm>
              <a:off x="762000" y="4191000"/>
              <a:ext cx="5143575" cy="714300"/>
              <a:chOff x="0" y="0"/>
              <a:chExt cx="5143575" cy="714300"/>
            </a:xfrm>
          </p:grpSpPr>
          <p:grpSp>
            <p:nvGrpSpPr>
              <p:cNvPr id="248" name="Google Shape;248;p19"/>
              <p:cNvGrpSpPr/>
              <p:nvPr/>
            </p:nvGrpSpPr>
            <p:grpSpPr>
              <a:xfrm>
                <a:off x="0" y="38100"/>
                <a:ext cx="190500" cy="190500"/>
                <a:chOff x="0" y="0"/>
                <a:chExt cx="190500" cy="190500"/>
              </a:xfrm>
            </p:grpSpPr>
            <p:sp>
              <p:nvSpPr>
                <p:cNvPr id="249" name="Google Shape;249;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9"/>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1" name="Google Shape;251;p19"/>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Operating System (Windows/Linux/macOS)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Executes the system calls (e.g., creating a file, reading a sensor port).</a:t>
                </a:r>
                <a:endParaRPr b="0" sz="1400">
                  <a:solidFill>
                    <a:srgbClr val="374151"/>
                  </a:solidFill>
                  <a:latin typeface="Inter"/>
                  <a:ea typeface="Inter"/>
                  <a:cs typeface="Inter"/>
                  <a:sym typeface="Inter"/>
                </a:endParaRPr>
              </a:p>
            </p:txBody>
          </p:sp>
        </p:grpSp>
        <p:grpSp>
          <p:nvGrpSpPr>
            <p:cNvPr id="252" name="Google Shape;252;p19"/>
            <p:cNvGrpSpPr/>
            <p:nvPr/>
          </p:nvGrpSpPr>
          <p:grpSpPr>
            <a:xfrm>
              <a:off x="762000" y="5000625"/>
              <a:ext cx="5143575" cy="714300"/>
              <a:chOff x="0" y="0"/>
              <a:chExt cx="5143575" cy="714300"/>
            </a:xfrm>
          </p:grpSpPr>
          <p:grpSp>
            <p:nvGrpSpPr>
              <p:cNvPr id="253" name="Google Shape;253;p19"/>
              <p:cNvGrpSpPr/>
              <p:nvPr/>
            </p:nvGrpSpPr>
            <p:grpSpPr>
              <a:xfrm>
                <a:off x="0" y="38100"/>
                <a:ext cx="190500" cy="190500"/>
                <a:chOff x="0" y="0"/>
                <a:chExt cx="190500" cy="190500"/>
              </a:xfrm>
            </p:grpSpPr>
            <p:sp>
              <p:nvSpPr>
                <p:cNvPr id="254" name="Google Shape;254;p19"/>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9"/>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6" name="Google Shape;256;p19"/>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Hardware</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The physical storage or devices interacting with the OS.</a:t>
                </a:r>
                <a:endParaRPr b="0" sz="1400">
                  <a:solidFill>
                    <a:srgbClr val="374151"/>
                  </a:solidFill>
                  <a:latin typeface="Inter"/>
                  <a:ea typeface="Inter"/>
                  <a:cs typeface="Inter"/>
                  <a:sym typeface="Inter"/>
                </a:endParaRPr>
              </a:p>
            </p:txBody>
          </p:sp>
        </p:grpSp>
      </p:grpSp>
      <p:grpSp>
        <p:nvGrpSpPr>
          <p:cNvPr id="257" name="Google Shape;257;p19"/>
          <p:cNvGrpSpPr/>
          <p:nvPr/>
        </p:nvGrpSpPr>
        <p:grpSpPr>
          <a:xfrm>
            <a:off x="6286500" y="1714500"/>
            <a:ext cx="5143500" cy="4000500"/>
            <a:chOff x="0" y="0"/>
            <a:chExt cx="5143500" cy="4000500"/>
          </a:xfrm>
        </p:grpSpPr>
        <p:grpSp>
          <p:nvGrpSpPr>
            <p:cNvPr id="258" name="Google Shape;258;p19"/>
            <p:cNvGrpSpPr/>
            <p:nvPr/>
          </p:nvGrpSpPr>
          <p:grpSpPr>
            <a:xfrm>
              <a:off x="0" y="0"/>
              <a:ext cx="5143500" cy="4000500"/>
              <a:chOff x="0" y="0"/>
              <a:chExt cx="5143500" cy="4000500"/>
            </a:xfrm>
          </p:grpSpPr>
          <p:sp>
            <p:nvSpPr>
              <p:cNvPr id="259" name="Google Shape;259;p19"/>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9"/>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61" name="Google Shape;261;p19"/>
            <p:cNvSpPr txBox="1"/>
            <p:nvPr/>
          </p:nvSpPr>
          <p:spPr>
            <a:xfrm>
              <a:off x="381000" y="2381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PYTHON-TO-HARDWARE STACK</a:t>
              </a:r>
              <a:endParaRPr b="1" sz="1200">
                <a:solidFill>
                  <a:srgbClr val="D4A017"/>
                </a:solidFill>
                <a:latin typeface="Inter"/>
                <a:ea typeface="Inter"/>
                <a:cs typeface="Inter"/>
                <a:sym typeface="Inter"/>
              </a:endParaRPr>
            </a:p>
          </p:txBody>
        </p:sp>
        <p:sp>
          <p:nvSpPr>
            <p:cNvPr id="262" name="Google Shape;262;p19"/>
            <p:cNvSpPr/>
            <p:nvPr/>
          </p:nvSpPr>
          <p:spPr>
            <a:xfrm>
              <a:off x="381000" y="952500"/>
              <a:ext cx="4381500" cy="2457600"/>
            </a:xfrm>
            <a:prstGeom prst="roundRect">
              <a:avLst>
                <a:gd fmla="val 1550" name="adj"/>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3" name="Google Shape;263;p19"/>
            <p:cNvPicPr preferRelativeResize="0"/>
            <p:nvPr/>
          </p:nvPicPr>
          <p:blipFill rotWithShape="1">
            <a:blip r:embed="rId3">
              <a:alphaModFix/>
            </a:blip>
            <a:srcRect b="289" l="0" r="0" t="0"/>
            <a:stretch/>
          </p:blipFill>
          <p:spPr>
            <a:xfrm>
              <a:off x="381000" y="952500"/>
              <a:ext cx="4381500" cy="2457600"/>
            </a:xfrm>
            <a:prstGeom prst="roundRect">
              <a:avLst>
                <a:gd fmla="val 1550" name="adj"/>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2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0"/>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grpSp>
        <p:nvGrpSpPr>
          <p:cNvPr id="272" name="Google Shape;272;p20"/>
          <p:cNvGrpSpPr/>
          <p:nvPr/>
        </p:nvGrpSpPr>
        <p:grpSpPr>
          <a:xfrm>
            <a:off x="762000" y="571500"/>
            <a:ext cx="10668000" cy="1095375"/>
            <a:chOff x="762000" y="571500"/>
            <a:chExt cx="10668000" cy="1095375"/>
          </a:xfrm>
        </p:grpSpPr>
        <p:sp>
          <p:nvSpPr>
            <p:cNvPr id="273" name="Google Shape;273;p20"/>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Syntax and Core Imports</a:t>
              </a:r>
              <a:endParaRPr b="0" sz="2700">
                <a:solidFill>
                  <a:srgbClr val="045A36"/>
                </a:solidFill>
                <a:latin typeface="Montserrat SemiBold"/>
                <a:ea typeface="Montserrat SemiBold"/>
                <a:cs typeface="Montserrat SemiBold"/>
                <a:sym typeface="Montserrat SemiBold"/>
              </a:endParaRPr>
            </a:p>
          </p:txBody>
        </p:sp>
        <p:sp>
          <p:nvSpPr>
            <p:cNvPr id="274" name="Google Shape;274;p20"/>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os module provides dozens of functions for interacting with the operating system.</a:t>
              </a:r>
              <a:endParaRPr b="0" sz="1600">
                <a:solidFill>
                  <a:srgbClr val="4B5563"/>
                </a:solidFill>
                <a:latin typeface="Inter SemiBold"/>
                <a:ea typeface="Inter SemiBold"/>
                <a:cs typeface="Inter SemiBold"/>
                <a:sym typeface="Inter SemiBold"/>
              </a:endParaRPr>
            </a:p>
          </p:txBody>
        </p:sp>
      </p:grpSp>
      <p:grpSp>
        <p:nvGrpSpPr>
          <p:cNvPr id="275" name="Google Shape;275;p20"/>
          <p:cNvGrpSpPr/>
          <p:nvPr/>
        </p:nvGrpSpPr>
        <p:grpSpPr>
          <a:xfrm>
            <a:off x="762000" y="1809750"/>
            <a:ext cx="5143500" cy="2952900"/>
            <a:chOff x="0" y="0"/>
            <a:chExt cx="5143500" cy="2952900"/>
          </a:xfrm>
        </p:grpSpPr>
        <p:sp>
          <p:nvSpPr>
            <p:cNvPr id="276" name="Google Shape;276;p20"/>
            <p:cNvSpPr/>
            <p:nvPr/>
          </p:nvSpPr>
          <p:spPr>
            <a:xfrm>
              <a:off x="0" y="0"/>
              <a:ext cx="5143500" cy="2952900"/>
            </a:xfrm>
            <a:prstGeom prst="roundRect">
              <a:avLst>
                <a:gd fmla="val 258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0"/>
            <p:cNvSpPr/>
            <p:nvPr/>
          </p:nvSpPr>
          <p:spPr>
            <a:xfrm>
              <a:off x="0" y="0"/>
              <a:ext cx="57300" cy="29529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0"/>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OS IMPORT SYNTAX</a:t>
              </a:r>
              <a:endParaRPr b="1" sz="1200">
                <a:solidFill>
                  <a:srgbClr val="D4A017"/>
                </a:solidFill>
                <a:latin typeface="Inter"/>
                <a:ea typeface="Inter"/>
                <a:cs typeface="Inter"/>
                <a:sym typeface="Inter"/>
              </a:endParaRPr>
            </a:p>
          </p:txBody>
        </p:sp>
        <p:sp>
          <p:nvSpPr>
            <p:cNvPr id="279" name="Google Shape;279;p20"/>
            <p:cNvSpPr txBox="1"/>
            <p:nvPr/>
          </p:nvSpPr>
          <p:spPr>
            <a:xfrm>
              <a:off x="238125" y="666750"/>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Import the standard os utility library</a:t>
              </a:r>
              <a:endParaRPr b="0" i="1" sz="1100">
                <a:solidFill>
                  <a:srgbClr val="6B7280"/>
                </a:solidFill>
                <a:latin typeface="Courier"/>
                <a:ea typeface="Courier"/>
                <a:cs typeface="Courier"/>
                <a:sym typeface="Courier"/>
              </a:endParaRPr>
            </a:p>
            <a:p>
              <a:pPr indent="0" lvl="0" marL="0" rtl="0" algn="l">
                <a:spcBef>
                  <a:spcPts val="750"/>
                </a:spcBef>
                <a:spcAft>
                  <a:spcPts val="0"/>
                </a:spcAft>
                <a:buNone/>
              </a:pPr>
              <a:r>
                <a:rPr b="1" lang="en" sz="1300">
                  <a:solidFill>
                    <a:srgbClr val="045A36"/>
                  </a:solidFill>
                  <a:latin typeface="Courier"/>
                  <a:ea typeface="Courier"/>
                  <a:cs typeface="Courier"/>
                  <a:sym typeface="Courier"/>
                </a:rPr>
                <a:t>import</a:t>
              </a:r>
              <a:r>
                <a:rPr b="0" lang="en" sz="1400">
                  <a:solidFill>
                    <a:srgbClr val="1F2937"/>
                  </a:solidFill>
                  <a:latin typeface="Courier"/>
                  <a:ea typeface="Courier"/>
                  <a:cs typeface="Courier"/>
                  <a:sym typeface="Courier"/>
                </a:rPr>
                <a:t> os</a:t>
              </a:r>
              <a:endParaRPr b="0" sz="1400">
                <a:solidFill>
                  <a:srgbClr val="1F2937"/>
                </a:solidFill>
                <a:latin typeface="Courier"/>
                <a:ea typeface="Courier"/>
                <a:cs typeface="Courier"/>
                <a:sym typeface="Courier"/>
              </a:endParaRPr>
            </a:p>
            <a:p>
              <a:pPr indent="0" lvl="0" marL="0" rtl="0" algn="l">
                <a:spcBef>
                  <a:spcPts val="2250"/>
                </a:spcBef>
                <a:spcAft>
                  <a:spcPts val="0"/>
                </a:spcAft>
                <a:buNone/>
              </a:pPr>
              <a:r>
                <a:rPr b="0" i="1" lang="en" sz="1100">
                  <a:solidFill>
                    <a:srgbClr val="6B7280"/>
                  </a:solidFill>
                  <a:latin typeface="Courier"/>
                  <a:ea typeface="Courier"/>
                  <a:cs typeface="Courier"/>
                  <a:sym typeface="Courier"/>
                </a:rPr>
                <a:t># Initiating the module enables direct,</a:t>
              </a:r>
              <a:endParaRPr b="0" i="1" sz="1100">
                <a:solidFill>
                  <a:srgbClr val="6B7280"/>
                </a:solidFill>
                <a:latin typeface="Courier"/>
                <a:ea typeface="Courier"/>
                <a:cs typeface="Courier"/>
                <a:sym typeface="Courier"/>
              </a:endParaRPr>
            </a:p>
            <a:p>
              <a:pPr indent="0" lvl="0" marL="0" rtl="0" algn="l">
                <a:spcBef>
                  <a:spcPts val="450"/>
                </a:spcBef>
                <a:spcAft>
                  <a:spcPts val="0"/>
                </a:spcAft>
                <a:buNone/>
              </a:pPr>
              <a:r>
                <a:rPr b="0" i="1" lang="en" sz="1100">
                  <a:solidFill>
                    <a:srgbClr val="6B7280"/>
                  </a:solidFill>
                  <a:latin typeface="Courier"/>
                  <a:ea typeface="Courier"/>
                  <a:cs typeface="Courier"/>
                  <a:sym typeface="Courier"/>
                </a:rPr>
                <a:t># program-level access to process environments,</a:t>
              </a:r>
              <a:endParaRPr b="0" i="1" sz="1100">
                <a:solidFill>
                  <a:srgbClr val="6B7280"/>
                </a:solidFill>
                <a:latin typeface="Courier"/>
                <a:ea typeface="Courier"/>
                <a:cs typeface="Courier"/>
                <a:sym typeface="Courier"/>
              </a:endParaRPr>
            </a:p>
            <a:p>
              <a:pPr indent="0" lvl="0" marL="0" rtl="0" algn="l">
                <a:spcBef>
                  <a:spcPts val="450"/>
                </a:spcBef>
                <a:spcAft>
                  <a:spcPts val="450"/>
                </a:spcAft>
                <a:buNone/>
              </a:pPr>
              <a:r>
                <a:rPr b="0" i="1" lang="en" sz="1100">
                  <a:solidFill>
                    <a:srgbClr val="6B7280"/>
                  </a:solidFill>
                  <a:latin typeface="Courier"/>
                  <a:ea typeface="Courier"/>
                  <a:cs typeface="Courier"/>
                  <a:sym typeface="Courier"/>
                </a:rPr>
                <a:t># native configurations, and system endpoints.</a:t>
              </a:r>
              <a:endParaRPr b="0" i="1" sz="1100">
                <a:solidFill>
                  <a:srgbClr val="6B7280"/>
                </a:solidFill>
                <a:latin typeface="Courier"/>
                <a:ea typeface="Courier"/>
                <a:cs typeface="Courier"/>
                <a:sym typeface="Courier"/>
              </a:endParaRPr>
            </a:p>
          </p:txBody>
        </p:sp>
      </p:grpSp>
      <p:grpSp>
        <p:nvGrpSpPr>
          <p:cNvPr id="280" name="Google Shape;280;p20"/>
          <p:cNvGrpSpPr/>
          <p:nvPr/>
        </p:nvGrpSpPr>
        <p:grpSpPr>
          <a:xfrm>
            <a:off x="6286500" y="1809750"/>
            <a:ext cx="5143500" cy="2952900"/>
            <a:chOff x="0" y="0"/>
            <a:chExt cx="5143500" cy="2952900"/>
          </a:xfrm>
        </p:grpSpPr>
        <p:sp>
          <p:nvSpPr>
            <p:cNvPr id="281" name="Google Shape;281;p20"/>
            <p:cNvSpPr/>
            <p:nvPr/>
          </p:nvSpPr>
          <p:spPr>
            <a:xfrm>
              <a:off x="0" y="0"/>
              <a:ext cx="51435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0"/>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0"/>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COMMON APPLICATIONS</a:t>
              </a:r>
              <a:endParaRPr b="1" sz="1200">
                <a:solidFill>
                  <a:srgbClr val="045A36"/>
                </a:solidFill>
                <a:latin typeface="Inter"/>
                <a:ea typeface="Inter"/>
                <a:cs typeface="Inter"/>
                <a:sym typeface="Inter"/>
              </a:endParaRPr>
            </a:p>
          </p:txBody>
        </p:sp>
        <p:sp>
          <p:nvSpPr>
            <p:cNvPr id="284" name="Google Shape;284;p20"/>
            <p:cNvSpPr txBox="1"/>
            <p:nvPr/>
          </p:nvSpPr>
          <p:spPr>
            <a:xfrm>
              <a:off x="238125" y="666750"/>
              <a:ext cx="4667400" cy="2095500"/>
            </a:xfrm>
            <a:prstGeom prst="rect">
              <a:avLst/>
            </a:prstGeom>
            <a:noFill/>
            <a:ln>
              <a:noFill/>
            </a:ln>
          </p:spPr>
          <p:txBody>
            <a:bodyPr anchorCtr="0" anchor="t" bIns="0" lIns="0" spcFirstLastPara="1" rIns="0" wrap="square" tIns="0">
              <a:noAutofit/>
            </a:bodyPr>
            <a:lstStyle/>
            <a:p>
              <a:pPr indent="-311150" lvl="0" marL="457200" rtl="0" algn="l">
                <a:spcBef>
                  <a:spcPts val="0"/>
                </a:spcBef>
                <a:spcAft>
                  <a:spcPts val="0"/>
                </a:spcAft>
                <a:buClr>
                  <a:srgbClr val="374151"/>
                </a:buClr>
                <a:buSzPts val="1300"/>
                <a:buFont typeface="Inter"/>
                <a:buChar char="●"/>
              </a:pPr>
              <a:r>
                <a:rPr b="0" lang="en" sz="1300">
                  <a:solidFill>
                    <a:srgbClr val="1F2937"/>
                  </a:solidFill>
                  <a:latin typeface="Inter SemiBold"/>
                  <a:ea typeface="Inter SemiBold"/>
                  <a:cs typeface="Inter SemiBold"/>
                  <a:sym typeface="Inter SemiBold"/>
                </a:rPr>
                <a:t>Path Navigation:</a:t>
              </a:r>
              <a:r>
                <a:rPr lang="en" sz="1300">
                  <a:solidFill>
                    <a:srgbClr val="374151"/>
                  </a:solidFill>
                  <a:latin typeface="Inter"/>
                  <a:ea typeface="Inter"/>
                  <a:cs typeface="Inter"/>
                  <a:sym typeface="Inter"/>
                </a:rPr>
                <a:t> Traverse directory paths programmatically on hosting hardware systems.</a:t>
              </a:r>
              <a:endParaRPr sz="1300">
                <a:solidFill>
                  <a:srgbClr val="374151"/>
                </a:solidFill>
                <a:latin typeface="Inter"/>
                <a:ea typeface="Inter"/>
                <a:cs typeface="Inter"/>
                <a:sym typeface="Inter"/>
              </a:endParaRPr>
            </a:p>
            <a:p>
              <a:pPr indent="-311150" lvl="0" marL="457200" rtl="0" algn="l">
                <a:spcBef>
                  <a:spcPts val="900"/>
                </a:spcBef>
                <a:spcAft>
                  <a:spcPts val="0"/>
                </a:spcAft>
                <a:buClr>
                  <a:srgbClr val="374151"/>
                </a:buClr>
                <a:buSzPts val="1300"/>
                <a:buFont typeface="Inter"/>
                <a:buChar char="●"/>
              </a:pPr>
              <a:r>
                <a:rPr b="0" lang="en" sz="1300">
                  <a:solidFill>
                    <a:srgbClr val="1F2937"/>
                  </a:solidFill>
                  <a:latin typeface="Inter SemiBold"/>
                  <a:ea typeface="Inter SemiBold"/>
                  <a:cs typeface="Inter SemiBold"/>
                  <a:sym typeface="Inter SemiBold"/>
                </a:rPr>
                <a:t>File &amp; Directory Control:</a:t>
              </a:r>
              <a:r>
                <a:rPr lang="en" sz="1300">
                  <a:solidFill>
                    <a:srgbClr val="374151"/>
                  </a:solidFill>
                  <a:latin typeface="Inter"/>
                  <a:ea typeface="Inter"/>
                  <a:cs typeface="Inter"/>
                  <a:sym typeface="Inter"/>
                </a:rPr>
                <a:t> Seamlessly create, delete, and iterate files and folders.</a:t>
              </a:r>
              <a:endParaRPr sz="1300">
                <a:solidFill>
                  <a:srgbClr val="374151"/>
                </a:solidFill>
                <a:latin typeface="Inter"/>
                <a:ea typeface="Inter"/>
                <a:cs typeface="Inter"/>
                <a:sym typeface="Inter"/>
              </a:endParaRPr>
            </a:p>
            <a:p>
              <a:pPr indent="-311150" lvl="0" marL="457200" rtl="0" algn="l">
                <a:spcBef>
                  <a:spcPts val="900"/>
                </a:spcBef>
                <a:spcAft>
                  <a:spcPts val="0"/>
                </a:spcAft>
                <a:buClr>
                  <a:srgbClr val="374151"/>
                </a:buClr>
                <a:buSzPts val="1300"/>
                <a:buFont typeface="Inter"/>
                <a:buChar char="●"/>
              </a:pPr>
              <a:r>
                <a:rPr b="0" lang="en" sz="1300">
                  <a:solidFill>
                    <a:srgbClr val="1F2937"/>
                  </a:solidFill>
                  <a:latin typeface="Inter SemiBold"/>
                  <a:ea typeface="Inter SemiBold"/>
                  <a:cs typeface="Inter SemiBold"/>
                  <a:sym typeface="Inter SemiBold"/>
                </a:rPr>
                <a:t>Environment Access:</a:t>
              </a:r>
              <a:r>
                <a:rPr lang="en" sz="1300">
                  <a:solidFill>
                    <a:srgbClr val="374151"/>
                  </a:solidFill>
                  <a:latin typeface="Inter"/>
                  <a:ea typeface="Inter"/>
                  <a:cs typeface="Inter"/>
                  <a:sym typeface="Inter"/>
                </a:rPr>
                <a:t> Securely read and modify host machine configuration variables.</a:t>
              </a:r>
              <a:endParaRPr sz="1300">
                <a:solidFill>
                  <a:srgbClr val="374151"/>
                </a:solidFill>
                <a:latin typeface="Inter"/>
                <a:ea typeface="Inter"/>
                <a:cs typeface="Inter"/>
                <a:sym typeface="Inter"/>
              </a:endParaRPr>
            </a:p>
            <a:p>
              <a:pPr indent="-311150" lvl="0" marL="457200" rtl="0" algn="l">
                <a:spcBef>
                  <a:spcPts val="900"/>
                </a:spcBef>
                <a:spcAft>
                  <a:spcPts val="0"/>
                </a:spcAft>
                <a:buClr>
                  <a:srgbClr val="374151"/>
                </a:buClr>
                <a:buSzPts val="1300"/>
                <a:buFont typeface="Inter"/>
                <a:buChar char="●"/>
              </a:pPr>
              <a:r>
                <a:rPr b="0" lang="en" sz="1300">
                  <a:solidFill>
                    <a:srgbClr val="1F2937"/>
                  </a:solidFill>
                  <a:latin typeface="Inter SemiBold"/>
                  <a:ea typeface="Inter SemiBold"/>
                  <a:cs typeface="Inter SemiBold"/>
                  <a:sym typeface="Inter SemiBold"/>
                </a:rPr>
                <a:t>System Operations:</a:t>
              </a:r>
              <a:r>
                <a:rPr lang="en" sz="1300">
                  <a:solidFill>
                    <a:srgbClr val="374151"/>
                  </a:solidFill>
                  <a:latin typeface="Inter"/>
                  <a:ea typeface="Inter"/>
                  <a:cs typeface="Inter"/>
                  <a:sym typeface="Inter"/>
                </a:rPr>
                <a:t> Invoke command line prompts directly from executable script contexts.</a:t>
              </a:r>
              <a:endParaRPr sz="1300">
                <a:solidFill>
                  <a:srgbClr val="374151"/>
                </a:solidFill>
                <a:latin typeface="Inter"/>
                <a:ea typeface="Inter"/>
                <a:cs typeface="Inter"/>
                <a:sym typeface="Inter"/>
              </a:endParaRPr>
            </a:p>
          </p:txBody>
        </p:sp>
      </p:grpSp>
      <p:grpSp>
        <p:nvGrpSpPr>
          <p:cNvPr id="285" name="Google Shape;285;p20"/>
          <p:cNvGrpSpPr/>
          <p:nvPr/>
        </p:nvGrpSpPr>
        <p:grpSpPr>
          <a:xfrm>
            <a:off x="762000" y="4953000"/>
            <a:ext cx="10668000" cy="904800"/>
            <a:chOff x="0" y="0"/>
            <a:chExt cx="10668000" cy="904800"/>
          </a:xfrm>
        </p:grpSpPr>
        <p:sp>
          <p:nvSpPr>
            <p:cNvPr id="286" name="Google Shape;286;p20"/>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0"/>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0"/>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CROSS-PLATFORM ADVANTAGE</a:t>
              </a:r>
              <a:endParaRPr b="1" sz="1200">
                <a:solidFill>
                  <a:srgbClr val="045A36"/>
                </a:solidFill>
                <a:latin typeface="Inter"/>
                <a:ea typeface="Inter"/>
                <a:cs typeface="Inter"/>
                <a:sym typeface="Inter"/>
              </a:endParaRPr>
            </a:p>
          </p:txBody>
        </p:sp>
        <p:sp>
          <p:nvSpPr>
            <p:cNvPr id="289" name="Google Shape;289;p20"/>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1F2937"/>
                  </a:solidFill>
                  <a:latin typeface="Inter"/>
                  <a:ea typeface="Inter"/>
                  <a:cs typeface="Inter"/>
                  <a:sym typeface="Inter"/>
                </a:rPr>
                <a:t>The </a:t>
              </a:r>
              <a:r>
                <a:rPr b="0" lang="en" sz="1203">
                  <a:solidFill>
                    <a:srgbClr val="045A36"/>
                  </a:solidFill>
                  <a:latin typeface="Inter SemiBold"/>
                  <a:ea typeface="Inter SemiBold"/>
                  <a:cs typeface="Inter SemiBold"/>
                  <a:sym typeface="Inter SemiBold"/>
                </a:rPr>
                <a:t>os</a:t>
              </a:r>
              <a:r>
                <a:rPr b="0" lang="en" sz="1203">
                  <a:solidFill>
                    <a:srgbClr val="1F2937"/>
                  </a:solidFill>
                  <a:latin typeface="Inter"/>
                  <a:ea typeface="Inter"/>
                  <a:cs typeface="Inter"/>
                  <a:sym typeface="Inter"/>
                </a:rPr>
                <a:t> module acts as a robust platform abstraction, enabling developers to write pathing logic that works natively across Windows, macOS, and Linux servers without manual file string modifications.</a:t>
              </a:r>
              <a:endParaRPr b="0" sz="1203">
                <a:solidFill>
                  <a:srgbClr val="1F2937"/>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21"/>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6" name="Google Shape;296;p21"/>
          <p:cNvGrpSpPr/>
          <p:nvPr/>
        </p:nvGrpSpPr>
        <p:grpSpPr>
          <a:xfrm>
            <a:off x="762000" y="571500"/>
            <a:ext cx="10668000" cy="1095375"/>
            <a:chOff x="762000" y="571500"/>
            <a:chExt cx="10668000" cy="1095375"/>
          </a:xfrm>
        </p:grpSpPr>
        <p:sp>
          <p:nvSpPr>
            <p:cNvPr id="297" name="Google Shape;297;p21"/>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Retrieving Paths via os.getcwd()</a:t>
              </a:r>
              <a:endParaRPr b="0" sz="2700">
                <a:solidFill>
                  <a:srgbClr val="045A36"/>
                </a:solidFill>
                <a:latin typeface="Montserrat SemiBold"/>
                <a:ea typeface="Montserrat SemiBold"/>
                <a:cs typeface="Montserrat SemiBold"/>
                <a:sym typeface="Montserrat SemiBold"/>
              </a:endParaRPr>
            </a:p>
          </p:txBody>
        </p:sp>
        <p:sp>
          <p:nvSpPr>
            <p:cNvPr id="298" name="Google Shape;298;p21"/>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os.getcwd() function returns a string representing the current working directory of the process.</a:t>
              </a:r>
              <a:endParaRPr b="0" sz="1600">
                <a:solidFill>
                  <a:srgbClr val="4B5563"/>
                </a:solidFill>
                <a:latin typeface="Inter SemiBold"/>
                <a:ea typeface="Inter SemiBold"/>
                <a:cs typeface="Inter SemiBold"/>
                <a:sym typeface="Inter SemiBold"/>
              </a:endParaRPr>
            </a:p>
          </p:txBody>
        </p:sp>
      </p:grpSp>
      <p:grpSp>
        <p:nvGrpSpPr>
          <p:cNvPr id="299" name="Google Shape;299;p21"/>
          <p:cNvGrpSpPr/>
          <p:nvPr/>
        </p:nvGrpSpPr>
        <p:grpSpPr>
          <a:xfrm>
            <a:off x="762000" y="1762125"/>
            <a:ext cx="5143500" cy="3000300"/>
            <a:chOff x="0" y="0"/>
            <a:chExt cx="5143500" cy="3000300"/>
          </a:xfrm>
        </p:grpSpPr>
        <p:sp>
          <p:nvSpPr>
            <p:cNvPr id="300" name="Google Shape;300;p21"/>
            <p:cNvSpPr/>
            <p:nvPr/>
          </p:nvSpPr>
          <p:spPr>
            <a:xfrm>
              <a:off x="0" y="0"/>
              <a:ext cx="5143500" cy="3000300"/>
            </a:xfrm>
            <a:prstGeom prst="roundRect">
              <a:avLst>
                <a:gd fmla="val 2539"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21"/>
            <p:cNvSpPr/>
            <p:nvPr/>
          </p:nvSpPr>
          <p:spPr>
            <a:xfrm>
              <a:off x="0" y="0"/>
              <a:ext cx="57300" cy="30003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1"/>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SCRIPT IMPLEMENTATION</a:t>
              </a:r>
              <a:endParaRPr b="1" sz="1200">
                <a:solidFill>
                  <a:srgbClr val="D4A017"/>
                </a:solidFill>
                <a:latin typeface="Inter"/>
                <a:ea typeface="Inter"/>
                <a:cs typeface="Inter"/>
                <a:sym typeface="Inter"/>
              </a:endParaRPr>
            </a:p>
          </p:txBody>
        </p:sp>
        <p:sp>
          <p:nvSpPr>
            <p:cNvPr id="303" name="Google Shape;303;p21"/>
            <p:cNvSpPr txBox="1"/>
            <p:nvPr/>
          </p:nvSpPr>
          <p:spPr>
            <a:xfrm>
              <a:off x="238125" y="619125"/>
              <a:ext cx="4667400" cy="22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Import the built-in os module</a:t>
              </a:r>
              <a:endParaRPr b="0" i="1" sz="1100">
                <a:solidFill>
                  <a:srgbClr val="6B7280"/>
                </a:solidFill>
                <a:latin typeface="Courier"/>
                <a:ea typeface="Courier"/>
                <a:cs typeface="Courier"/>
                <a:sym typeface="Courier"/>
              </a:endParaRPr>
            </a:p>
            <a:p>
              <a:pPr indent="0" lvl="0" marL="0" rtl="0" algn="l">
                <a:spcBef>
                  <a:spcPts val="30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os</a:t>
              </a:r>
              <a:endParaRPr b="0" sz="1300">
                <a:solidFill>
                  <a:srgbClr val="1F2937"/>
                </a:solidFill>
                <a:latin typeface="Courier"/>
                <a:ea typeface="Courier"/>
                <a:cs typeface="Courier"/>
                <a:sym typeface="Courier"/>
              </a:endParaRPr>
            </a:p>
            <a:p>
              <a:pPr indent="0" lvl="0" marL="0" rtl="0" algn="l">
                <a:spcBef>
                  <a:spcPts val="900"/>
                </a:spcBef>
                <a:spcAft>
                  <a:spcPts val="0"/>
                </a:spcAft>
                <a:buNone/>
              </a:pPr>
              <a:r>
                <a:rPr b="0" i="1" lang="en" sz="1100">
                  <a:solidFill>
                    <a:srgbClr val="6B7280"/>
                  </a:solidFill>
                  <a:latin typeface="Courier"/>
                  <a:ea typeface="Courier"/>
                  <a:cs typeface="Courier"/>
                  <a:sym typeface="Courier"/>
                </a:rPr>
                <a:t># Retrieve the current working directory</a:t>
              </a:r>
              <a:endParaRPr b="0" i="1" sz="1100">
                <a:solidFill>
                  <a:srgbClr val="6B7280"/>
                </a:solidFill>
                <a:latin typeface="Courier"/>
                <a:ea typeface="Courier"/>
                <a:cs typeface="Courier"/>
                <a:sym typeface="Courier"/>
              </a:endParaRPr>
            </a:p>
            <a:p>
              <a:pPr indent="0" lvl="0" marL="0" rtl="0" algn="l">
                <a:spcBef>
                  <a:spcPts val="300"/>
                </a:spcBef>
                <a:spcAft>
                  <a:spcPts val="0"/>
                </a:spcAft>
                <a:buNone/>
              </a:pPr>
              <a:r>
                <a:rPr b="0" lang="en" sz="1300">
                  <a:solidFill>
                    <a:srgbClr val="1F2937"/>
                  </a:solidFill>
                  <a:latin typeface="Courier"/>
                  <a:ea typeface="Courier"/>
                  <a:cs typeface="Courier"/>
                  <a:sym typeface="Courier"/>
                </a:rPr>
                <a:t>cwd = os.</a:t>
              </a:r>
              <a:r>
                <a:rPr b="0" lang="en" sz="1300">
                  <a:solidFill>
                    <a:srgbClr val="0B7A4B"/>
                  </a:solidFill>
                  <a:latin typeface="Courier"/>
                  <a:ea typeface="Courier"/>
                  <a:cs typeface="Courier"/>
                  <a:sym typeface="Courier"/>
                </a:rPr>
                <a:t>getcwd</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90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(f</a:t>
              </a:r>
              <a:r>
                <a:rPr b="0" lang="en" sz="1300">
                  <a:solidFill>
                    <a:srgbClr val="B91C1C"/>
                  </a:solidFill>
                  <a:latin typeface="Courier"/>
                  <a:ea typeface="Courier"/>
                  <a:cs typeface="Courier"/>
                  <a:sym typeface="Courier"/>
                </a:rPr>
                <a:t>"Current Directory: {cwd}"</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900"/>
                </a:spcBef>
                <a:spcAft>
                  <a:spcPts val="0"/>
                </a:spcAft>
                <a:buNone/>
              </a:pPr>
              <a:r>
                <a:rPr b="0" i="1" lang="en" sz="1100">
                  <a:solidFill>
                    <a:srgbClr val="6B7280"/>
                  </a:solidFill>
                  <a:latin typeface="Courier"/>
                  <a:ea typeface="Courier"/>
                  <a:cs typeface="Courier"/>
                  <a:sym typeface="Courier"/>
                </a:rPr>
                <a:t># Expected Console Output:</a:t>
              </a:r>
              <a:endParaRPr b="0" i="1" sz="1100">
                <a:solidFill>
                  <a:srgbClr val="6B7280"/>
                </a:solidFill>
                <a:latin typeface="Courier"/>
                <a:ea typeface="Courier"/>
                <a:cs typeface="Courier"/>
                <a:sym typeface="Courier"/>
              </a:endParaRPr>
            </a:p>
            <a:p>
              <a:pPr indent="0" lvl="0" marL="0" rtl="0" algn="l">
                <a:spcBef>
                  <a:spcPts val="300"/>
                </a:spcBef>
                <a:spcAft>
                  <a:spcPts val="0"/>
                </a:spcAft>
                <a:buNone/>
              </a:pPr>
              <a:r>
                <a:rPr b="1" lang="en" sz="1300">
                  <a:solidFill>
                    <a:srgbClr val="4B5563"/>
                  </a:solidFill>
                  <a:latin typeface="Courier"/>
                  <a:ea typeface="Courier"/>
                  <a:cs typeface="Courier"/>
                  <a:sym typeface="Courier"/>
                </a:rPr>
                <a:t>Current Directory: /home/user/robotics_project</a:t>
              </a:r>
              <a:endParaRPr b="1" sz="1300">
                <a:solidFill>
                  <a:srgbClr val="4B5563"/>
                </a:solidFill>
                <a:latin typeface="Courier"/>
                <a:ea typeface="Courier"/>
                <a:cs typeface="Courier"/>
                <a:sym typeface="Courier"/>
              </a:endParaRPr>
            </a:p>
          </p:txBody>
        </p:sp>
      </p:grpSp>
      <p:grpSp>
        <p:nvGrpSpPr>
          <p:cNvPr id="304" name="Google Shape;304;p21"/>
          <p:cNvGrpSpPr/>
          <p:nvPr/>
        </p:nvGrpSpPr>
        <p:grpSpPr>
          <a:xfrm>
            <a:off x="6286500" y="1762125"/>
            <a:ext cx="5143500" cy="3000300"/>
            <a:chOff x="0" y="0"/>
            <a:chExt cx="5143500" cy="3000300"/>
          </a:xfrm>
        </p:grpSpPr>
        <p:sp>
          <p:nvSpPr>
            <p:cNvPr id="305" name="Google Shape;305;p21"/>
            <p:cNvSpPr/>
            <p:nvPr/>
          </p:nvSpPr>
          <p:spPr>
            <a:xfrm>
              <a:off x="0" y="0"/>
              <a:ext cx="5143500" cy="30003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1"/>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1"/>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ABSOLUTE PATH RESOLUTION</a:t>
              </a:r>
              <a:endParaRPr b="1" sz="1200">
                <a:solidFill>
                  <a:srgbClr val="045A36"/>
                </a:solidFill>
                <a:latin typeface="Inter"/>
                <a:ea typeface="Inter"/>
                <a:cs typeface="Inter"/>
                <a:sym typeface="Inter"/>
              </a:endParaRPr>
            </a:p>
          </p:txBody>
        </p:sp>
        <p:sp>
          <p:nvSpPr>
            <p:cNvPr id="308" name="Google Shape;308;p21"/>
            <p:cNvSpPr txBox="1"/>
            <p:nvPr/>
          </p:nvSpPr>
          <p:spPr>
            <a:xfrm>
              <a:off x="238125" y="619125"/>
              <a:ext cx="4667400" cy="22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Process Initiation Origin</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The </a:t>
              </a:r>
              <a:r>
                <a:rPr b="1" lang="en" sz="1400">
                  <a:solidFill>
                    <a:srgbClr val="045A36"/>
                  </a:solidFill>
                  <a:latin typeface="Courier"/>
                  <a:ea typeface="Courier"/>
                  <a:cs typeface="Courier"/>
                  <a:sym typeface="Courier"/>
                </a:rPr>
                <a:t>os.getcwd()</a:t>
              </a:r>
              <a:r>
                <a:rPr b="0" lang="en" sz="1400">
                  <a:solidFill>
                    <a:srgbClr val="374151"/>
                  </a:solidFill>
                  <a:latin typeface="Inter"/>
                  <a:ea typeface="Inter"/>
                  <a:cs typeface="Inter"/>
                  <a:sym typeface="Inter"/>
                </a:rPr>
                <a:t> function represents the absolute starting folder where your terminal, system shell, or process was originally executed.</a:t>
              </a:r>
              <a:endParaRPr b="0" sz="1400">
                <a:solidFill>
                  <a:srgbClr val="374151"/>
                </a:solidFill>
                <a:latin typeface="Inter"/>
                <a:ea typeface="Inter"/>
                <a:cs typeface="Inter"/>
                <a:sym typeface="Inter"/>
              </a:endParaRPr>
            </a:p>
            <a:p>
              <a:pPr indent="0" lvl="0" marL="0" rtl="0" algn="l">
                <a:spcBef>
                  <a:spcPts val="1200"/>
                </a:spcBef>
                <a:spcAft>
                  <a:spcPts val="0"/>
                </a:spcAft>
                <a:buNone/>
              </a:pPr>
              <a:r>
                <a:rPr b="0" lang="en" sz="1500">
                  <a:solidFill>
                    <a:srgbClr val="1F2937"/>
                  </a:solidFill>
                  <a:latin typeface="Inter SemiBold"/>
                  <a:ea typeface="Inter SemiBold"/>
                  <a:cs typeface="Inter SemiBold"/>
                  <a:sym typeface="Inter SemiBold"/>
                </a:rPr>
                <a:t>Dynamic Environment Query</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Instead of referencing static, hardcoded file positions, Python dynamically queries the host operating system to adapt and resolve paths safely at execution runtime.</a:t>
              </a:r>
              <a:endParaRPr b="0" sz="1400">
                <a:solidFill>
                  <a:srgbClr val="374151"/>
                </a:solidFill>
                <a:latin typeface="Inter"/>
                <a:ea typeface="Inter"/>
                <a:cs typeface="Inter"/>
                <a:sym typeface="Inter"/>
              </a:endParaRPr>
            </a:p>
          </p:txBody>
        </p:sp>
      </p:grpSp>
      <p:grpSp>
        <p:nvGrpSpPr>
          <p:cNvPr id="309" name="Google Shape;309;p21"/>
          <p:cNvGrpSpPr/>
          <p:nvPr/>
        </p:nvGrpSpPr>
        <p:grpSpPr>
          <a:xfrm>
            <a:off x="762000" y="4953000"/>
            <a:ext cx="10668000" cy="904800"/>
            <a:chOff x="0" y="0"/>
            <a:chExt cx="10668000" cy="904800"/>
          </a:xfrm>
        </p:grpSpPr>
        <p:sp>
          <p:nvSpPr>
            <p:cNvPr id="310" name="Google Shape;310;p21"/>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1"/>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21"/>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BEST PRACTICE: ELIMINATE STATIC PATH STRINGS</a:t>
              </a:r>
              <a:endParaRPr b="1" sz="1200">
                <a:solidFill>
                  <a:srgbClr val="045A36"/>
                </a:solidFill>
                <a:latin typeface="Inter"/>
                <a:ea typeface="Inter"/>
                <a:cs typeface="Inter"/>
                <a:sym typeface="Inter"/>
              </a:endParaRPr>
            </a:p>
          </p:txBody>
        </p:sp>
        <p:sp>
          <p:nvSpPr>
            <p:cNvPr id="313" name="Google Shape;313;p21"/>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1F2937"/>
                  </a:solidFill>
                  <a:latin typeface="Inter SemiBold"/>
                  <a:ea typeface="Inter SemiBold"/>
                  <a:cs typeface="Inter SemiBold"/>
                  <a:sym typeface="Inter SemiBold"/>
                </a:rPr>
                <a:t>Always leverage dynamic methods like os.getcwd() over static absolute strings. Hardcoded paths instantly fail when files are moved to automated servers, different host systems, or alternative user directories.</a:t>
              </a:r>
              <a:endParaRPr b="0" sz="1203">
                <a:solidFill>
                  <a:srgbClr val="1F2937"/>
                </a:solidFill>
                <a:latin typeface="Inter SemiBold"/>
                <a:ea typeface="Inter SemiBold"/>
                <a:cs typeface="Inter SemiBold"/>
                <a:sym typeface="Inter SemiBold"/>
              </a:endParaRPr>
            </a:p>
          </p:txBody>
        </p:sp>
      </p:grpSp>
      <p:sp>
        <p:nvSpPr>
          <p:cNvPr id="314" name="Google Shape;314;p21"/>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2"/>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2"/>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2" name="Google Shape;322;p22"/>
          <p:cNvGrpSpPr/>
          <p:nvPr/>
        </p:nvGrpSpPr>
        <p:grpSpPr>
          <a:xfrm>
            <a:off x="762000" y="571500"/>
            <a:ext cx="10668000" cy="1095375"/>
            <a:chOff x="762000" y="571500"/>
            <a:chExt cx="10668000" cy="1095375"/>
          </a:xfrm>
        </p:grpSpPr>
        <p:sp>
          <p:nvSpPr>
            <p:cNvPr id="323" name="Google Shape;323;p22"/>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Changing Paths with os.chdir()</a:t>
              </a:r>
              <a:endParaRPr b="0" sz="2700">
                <a:solidFill>
                  <a:srgbClr val="045A36"/>
                </a:solidFill>
                <a:latin typeface="Montserrat SemiBold"/>
                <a:ea typeface="Montserrat SemiBold"/>
                <a:cs typeface="Montserrat SemiBold"/>
                <a:sym typeface="Montserrat SemiBold"/>
              </a:endParaRPr>
            </a:p>
          </p:txBody>
        </p:sp>
        <p:sp>
          <p:nvSpPr>
            <p:cNvPr id="324" name="Google Shape;324;p22"/>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os.chdir() function modifies the current working directory, redirecting subsequent relative path lookups.</a:t>
              </a:r>
              <a:endParaRPr b="0" sz="1600">
                <a:solidFill>
                  <a:srgbClr val="4B5563"/>
                </a:solidFill>
                <a:latin typeface="Inter SemiBold"/>
                <a:ea typeface="Inter SemiBold"/>
                <a:cs typeface="Inter SemiBold"/>
                <a:sym typeface="Inter SemiBold"/>
              </a:endParaRPr>
            </a:p>
          </p:txBody>
        </p:sp>
      </p:grpSp>
      <p:grpSp>
        <p:nvGrpSpPr>
          <p:cNvPr id="325" name="Google Shape;325;p22"/>
          <p:cNvGrpSpPr/>
          <p:nvPr/>
        </p:nvGrpSpPr>
        <p:grpSpPr>
          <a:xfrm>
            <a:off x="762000" y="1714500"/>
            <a:ext cx="5143500" cy="3048000"/>
            <a:chOff x="0" y="0"/>
            <a:chExt cx="5143500" cy="3048000"/>
          </a:xfrm>
        </p:grpSpPr>
        <p:sp>
          <p:nvSpPr>
            <p:cNvPr id="326" name="Google Shape;326;p22"/>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7" name="Google Shape;327;p22"/>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2"/>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CODE EXECUTION</a:t>
              </a:r>
              <a:endParaRPr b="1" sz="1200">
                <a:solidFill>
                  <a:srgbClr val="D4A017"/>
                </a:solidFill>
                <a:latin typeface="Inter"/>
                <a:ea typeface="Inter"/>
                <a:cs typeface="Inter"/>
                <a:sym typeface="Inter"/>
              </a:endParaRPr>
            </a:p>
          </p:txBody>
        </p:sp>
        <p:sp>
          <p:nvSpPr>
            <p:cNvPr id="329" name="Google Shape;329;p22"/>
            <p:cNvSpPr txBox="1"/>
            <p:nvPr/>
          </p:nvSpPr>
          <p:spPr>
            <a:xfrm>
              <a:off x="238125" y="666750"/>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935">
                  <a:solidFill>
                    <a:srgbClr val="6B7280"/>
                  </a:solidFill>
                  <a:latin typeface="Courier"/>
                  <a:ea typeface="Courier"/>
                  <a:cs typeface="Courier"/>
                  <a:sym typeface="Courier"/>
                </a:rPr>
                <a:t># Import OS module and query current path</a:t>
              </a:r>
              <a:endParaRPr b="0" i="1" sz="935">
                <a:solidFill>
                  <a:srgbClr val="6B7280"/>
                </a:solidFill>
                <a:latin typeface="Courier"/>
                <a:ea typeface="Courier"/>
                <a:cs typeface="Courier"/>
                <a:sym typeface="Courier"/>
              </a:endParaRPr>
            </a:p>
            <a:p>
              <a:pPr indent="0" lvl="0" marL="0" rtl="0" algn="l">
                <a:spcBef>
                  <a:spcPts val="300"/>
                </a:spcBef>
                <a:spcAft>
                  <a:spcPts val="0"/>
                </a:spcAft>
                <a:buNone/>
              </a:pPr>
              <a:r>
                <a:rPr b="1" lang="en" sz="1105">
                  <a:solidFill>
                    <a:srgbClr val="045A36"/>
                  </a:solidFill>
                  <a:latin typeface="Courier"/>
                  <a:ea typeface="Courier"/>
                  <a:cs typeface="Courier"/>
                  <a:sym typeface="Courier"/>
                </a:rPr>
                <a:t>import</a:t>
              </a:r>
              <a:r>
                <a:rPr b="0" lang="en" sz="1105">
                  <a:solidFill>
                    <a:srgbClr val="1F2937"/>
                  </a:solidFill>
                  <a:latin typeface="Courier"/>
                  <a:ea typeface="Courier"/>
                  <a:cs typeface="Courier"/>
                  <a:sym typeface="Courier"/>
                </a:rPr>
                <a:t> </a:t>
              </a:r>
              <a:r>
                <a:rPr b="0" lang="en" sz="1105">
                  <a:solidFill>
                    <a:srgbClr val="0B7A4B"/>
                  </a:solidFill>
                  <a:latin typeface="Courier"/>
                  <a:ea typeface="Courier"/>
                  <a:cs typeface="Courier"/>
                  <a:sym typeface="Courier"/>
                </a:rPr>
                <a:t>os</a:t>
              </a:r>
              <a:endParaRPr b="0" sz="1105">
                <a:solidFill>
                  <a:srgbClr val="1F2937"/>
                </a:solidFill>
                <a:latin typeface="Courier"/>
                <a:ea typeface="Courier"/>
                <a:cs typeface="Courier"/>
                <a:sym typeface="Courier"/>
              </a:endParaRPr>
            </a:p>
            <a:p>
              <a:pPr indent="0" lvl="0" marL="0" rtl="0" algn="l">
                <a:spcBef>
                  <a:spcPts val="300"/>
                </a:spcBef>
                <a:spcAft>
                  <a:spcPts val="0"/>
                </a:spcAft>
                <a:buNone/>
              </a:pPr>
              <a:r>
                <a:rPr b="0" lang="en" sz="1105">
                  <a:solidFill>
                    <a:srgbClr val="0B7A4B"/>
                  </a:solidFill>
                  <a:latin typeface="Courier"/>
                  <a:ea typeface="Courier"/>
                  <a:cs typeface="Courier"/>
                  <a:sym typeface="Courier"/>
                </a:rPr>
                <a:t>print</a:t>
              </a:r>
              <a:r>
                <a:rPr b="0" lang="en" sz="1105">
                  <a:solidFill>
                    <a:srgbClr val="1F2937"/>
                  </a:solidFill>
                  <a:latin typeface="Courier"/>
                  <a:ea typeface="Courier"/>
                  <a:cs typeface="Courier"/>
                  <a:sym typeface="Courier"/>
                </a:rPr>
                <a:t>(</a:t>
              </a:r>
              <a:r>
                <a:rPr b="0" lang="en" sz="1105">
                  <a:solidFill>
                    <a:srgbClr val="B91C1C"/>
                  </a:solidFill>
                  <a:latin typeface="Courier"/>
                  <a:ea typeface="Courier"/>
                  <a:cs typeface="Courier"/>
                  <a:sym typeface="Courier"/>
                </a:rPr>
                <a:t>f"Starting in: {os.getcwd()}"</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900"/>
                </a:spcBef>
                <a:spcAft>
                  <a:spcPts val="0"/>
                </a:spcAft>
                <a:buNone/>
              </a:pPr>
              <a:r>
                <a:rPr b="0" i="1" lang="en" sz="935">
                  <a:solidFill>
                    <a:srgbClr val="6B7280"/>
                  </a:solidFill>
                  <a:latin typeface="Courier"/>
                  <a:ea typeface="Courier"/>
                  <a:cs typeface="Courier"/>
                  <a:sym typeface="Courier"/>
                </a:rPr>
                <a:t># Change directory to a 'data' folder</a:t>
              </a:r>
              <a:endParaRPr b="0" i="1" sz="935">
                <a:solidFill>
                  <a:srgbClr val="6B7280"/>
                </a:solidFill>
                <a:latin typeface="Courier"/>
                <a:ea typeface="Courier"/>
                <a:cs typeface="Courier"/>
                <a:sym typeface="Courier"/>
              </a:endParaRPr>
            </a:p>
            <a:p>
              <a:pPr indent="0" lvl="0" marL="0" rtl="0" algn="l">
                <a:spcBef>
                  <a:spcPts val="300"/>
                </a:spcBef>
                <a:spcAft>
                  <a:spcPts val="0"/>
                </a:spcAft>
                <a:buNone/>
              </a:pPr>
              <a:r>
                <a:rPr b="0" lang="en" sz="1105">
                  <a:solidFill>
                    <a:srgbClr val="0B7A4B"/>
                  </a:solidFill>
                  <a:latin typeface="Courier"/>
                  <a:ea typeface="Courier"/>
                  <a:cs typeface="Courier"/>
                  <a:sym typeface="Courier"/>
                </a:rPr>
                <a:t>os.chdir</a:t>
              </a:r>
              <a:r>
                <a:rPr b="0" lang="en" sz="1105">
                  <a:solidFill>
                    <a:srgbClr val="1F2937"/>
                  </a:solidFill>
                  <a:latin typeface="Courier"/>
                  <a:ea typeface="Courier"/>
                  <a:cs typeface="Courier"/>
                  <a:sym typeface="Courier"/>
                </a:rPr>
                <a:t>(</a:t>
              </a:r>
              <a:r>
                <a:rPr b="0" lang="en" sz="1105">
                  <a:solidFill>
                    <a:srgbClr val="B91C1C"/>
                  </a:solidFill>
                  <a:latin typeface="Courier"/>
                  <a:ea typeface="Courier"/>
                  <a:cs typeface="Courier"/>
                  <a:sym typeface="Courier"/>
                </a:rPr>
                <a:t>'data'</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900"/>
                </a:spcBef>
                <a:spcAft>
                  <a:spcPts val="0"/>
                </a:spcAft>
                <a:buNone/>
              </a:pPr>
              <a:r>
                <a:rPr b="0" i="1" lang="en" sz="935">
                  <a:solidFill>
                    <a:srgbClr val="6B7280"/>
                  </a:solidFill>
                  <a:latin typeface="Courier"/>
                  <a:ea typeface="Courier"/>
                  <a:cs typeface="Courier"/>
                  <a:sym typeface="Courier"/>
                </a:rPr>
                <a:t># Verify directory change</a:t>
              </a:r>
              <a:endParaRPr b="0" i="1" sz="935">
                <a:solidFill>
                  <a:srgbClr val="6B7280"/>
                </a:solidFill>
                <a:latin typeface="Courier"/>
                <a:ea typeface="Courier"/>
                <a:cs typeface="Courier"/>
                <a:sym typeface="Courier"/>
              </a:endParaRPr>
            </a:p>
            <a:p>
              <a:pPr indent="0" lvl="0" marL="0" rtl="0" algn="l">
                <a:spcBef>
                  <a:spcPts val="300"/>
                </a:spcBef>
                <a:spcAft>
                  <a:spcPts val="0"/>
                </a:spcAft>
                <a:buNone/>
              </a:pPr>
              <a:r>
                <a:rPr b="0" lang="en" sz="1105">
                  <a:solidFill>
                    <a:srgbClr val="0B7A4B"/>
                  </a:solidFill>
                  <a:latin typeface="Courier"/>
                  <a:ea typeface="Courier"/>
                  <a:cs typeface="Courier"/>
                  <a:sym typeface="Courier"/>
                </a:rPr>
                <a:t>print</a:t>
              </a:r>
              <a:r>
                <a:rPr b="0" lang="en" sz="1105">
                  <a:solidFill>
                    <a:srgbClr val="1F2937"/>
                  </a:solidFill>
                  <a:latin typeface="Courier"/>
                  <a:ea typeface="Courier"/>
                  <a:cs typeface="Courier"/>
                  <a:sym typeface="Courier"/>
                </a:rPr>
                <a:t>(</a:t>
              </a:r>
              <a:r>
                <a:rPr b="0" lang="en" sz="1105">
                  <a:solidFill>
                    <a:srgbClr val="B91C1C"/>
                  </a:solidFill>
                  <a:latin typeface="Courier"/>
                  <a:ea typeface="Courier"/>
                  <a:cs typeface="Courier"/>
                  <a:sym typeface="Courier"/>
                </a:rPr>
                <a:t>f"Now in: {os.getcwd()}"</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1200"/>
                </a:spcBef>
                <a:spcAft>
                  <a:spcPts val="0"/>
                </a:spcAft>
                <a:buNone/>
              </a:pPr>
              <a:r>
                <a:rPr b="1" i="1" lang="en" sz="935">
                  <a:solidFill>
                    <a:srgbClr val="4B5563"/>
                  </a:solidFill>
                  <a:latin typeface="Courier"/>
                  <a:ea typeface="Courier"/>
                  <a:cs typeface="Courier"/>
                  <a:sym typeface="Courier"/>
                </a:rPr>
                <a:t># Expected Output Console:</a:t>
              </a:r>
              <a:endParaRPr b="1" i="1" sz="935">
                <a:solidFill>
                  <a:srgbClr val="4B5563"/>
                </a:solidFill>
                <a:latin typeface="Courier"/>
                <a:ea typeface="Courier"/>
                <a:cs typeface="Courier"/>
                <a:sym typeface="Courier"/>
              </a:endParaRPr>
            </a:p>
            <a:p>
              <a:pPr indent="0" lvl="0" marL="0" rtl="0" algn="l">
                <a:spcBef>
                  <a:spcPts val="300"/>
                </a:spcBef>
                <a:spcAft>
                  <a:spcPts val="0"/>
                </a:spcAft>
                <a:buNone/>
              </a:pPr>
              <a:r>
                <a:rPr b="0" lang="en" sz="935">
                  <a:solidFill>
                    <a:srgbClr val="475569"/>
                  </a:solidFill>
                  <a:latin typeface="Courier"/>
                  <a:ea typeface="Courier"/>
                  <a:cs typeface="Courier"/>
                  <a:sym typeface="Courier"/>
                </a:rPr>
                <a:t>Starting in: /home/user/project</a:t>
              </a:r>
              <a:endParaRPr b="0" sz="935">
                <a:solidFill>
                  <a:srgbClr val="475569"/>
                </a:solidFill>
                <a:latin typeface="Courier"/>
                <a:ea typeface="Courier"/>
                <a:cs typeface="Courier"/>
                <a:sym typeface="Courier"/>
              </a:endParaRPr>
            </a:p>
            <a:p>
              <a:pPr indent="0" lvl="0" marL="0" rtl="0" algn="l">
                <a:spcBef>
                  <a:spcPts val="150"/>
                </a:spcBef>
                <a:spcAft>
                  <a:spcPts val="0"/>
                </a:spcAft>
                <a:buNone/>
              </a:pPr>
              <a:r>
                <a:rPr b="0" lang="en" sz="935">
                  <a:solidFill>
                    <a:srgbClr val="475569"/>
                  </a:solidFill>
                  <a:latin typeface="Courier"/>
                  <a:ea typeface="Courier"/>
                  <a:cs typeface="Courier"/>
                  <a:sym typeface="Courier"/>
                </a:rPr>
                <a:t>Now in: /home/user/project/data</a:t>
              </a:r>
              <a:endParaRPr b="0" sz="935">
                <a:solidFill>
                  <a:srgbClr val="475569"/>
                </a:solidFill>
                <a:latin typeface="Courier"/>
                <a:ea typeface="Courier"/>
                <a:cs typeface="Courier"/>
                <a:sym typeface="Courier"/>
              </a:endParaRPr>
            </a:p>
          </p:txBody>
        </p:sp>
      </p:grpSp>
      <p:grpSp>
        <p:nvGrpSpPr>
          <p:cNvPr id="330" name="Google Shape;330;p22"/>
          <p:cNvGrpSpPr/>
          <p:nvPr/>
        </p:nvGrpSpPr>
        <p:grpSpPr>
          <a:xfrm>
            <a:off x="6286500" y="1714500"/>
            <a:ext cx="5143500" cy="3048000"/>
            <a:chOff x="0" y="0"/>
            <a:chExt cx="5143500" cy="3048000"/>
          </a:xfrm>
        </p:grpSpPr>
        <p:sp>
          <p:nvSpPr>
            <p:cNvPr id="331" name="Google Shape;331;p22"/>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22"/>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2"/>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PATH TRANSITION &amp; NAVIGATION</a:t>
              </a:r>
              <a:endParaRPr b="1" sz="1200">
                <a:solidFill>
                  <a:srgbClr val="045A36"/>
                </a:solidFill>
                <a:latin typeface="Inter"/>
                <a:ea typeface="Inter"/>
                <a:cs typeface="Inter"/>
                <a:sym typeface="Inter"/>
              </a:endParaRPr>
            </a:p>
          </p:txBody>
        </p:sp>
        <p:sp>
          <p:nvSpPr>
            <p:cNvPr id="334" name="Google Shape;334;p22"/>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Semantic Path Transition</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Changing the working directory alters where relative path operations occur. Subdirectories are resolved relative to this new current directory.</a:t>
              </a:r>
              <a:endParaRPr b="0" sz="1400">
                <a:solidFill>
                  <a:srgbClr val="374151"/>
                </a:solidFill>
                <a:latin typeface="Inter"/>
                <a:ea typeface="Inter"/>
                <a:cs typeface="Inter"/>
                <a:sym typeface="Inter"/>
              </a:endParaRPr>
            </a:p>
            <a:p>
              <a:pPr indent="0" lvl="0" marL="0" rtl="0" algn="l">
                <a:spcBef>
                  <a:spcPts val="1200"/>
                </a:spcBef>
                <a:spcAft>
                  <a:spcPts val="0"/>
                </a:spcAft>
                <a:buNone/>
              </a:pPr>
              <a:r>
                <a:rPr b="0" lang="en" sz="1500">
                  <a:solidFill>
                    <a:srgbClr val="1F2937"/>
                  </a:solidFill>
                  <a:latin typeface="Inter SemiBold"/>
                  <a:ea typeface="Inter SemiBold"/>
                  <a:cs typeface="Inter SemiBold"/>
                  <a:sym typeface="Inter SemiBold"/>
                </a:rPr>
                <a:t>Safe Folder Navigation</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Always verify directory existence before using </a:t>
              </a:r>
              <a:r>
                <a:rPr b="1" lang="en" sz="1400">
                  <a:solidFill>
                    <a:srgbClr val="045A36"/>
                  </a:solidFill>
                  <a:latin typeface="Courier"/>
                  <a:ea typeface="Courier"/>
                  <a:cs typeface="Courier"/>
                  <a:sym typeface="Courier"/>
                </a:rPr>
                <a:t>os.chdir()</a:t>
              </a:r>
              <a:r>
                <a:rPr b="0" lang="en" sz="1400">
                  <a:solidFill>
                    <a:srgbClr val="374151"/>
                  </a:solidFill>
                  <a:latin typeface="Inter"/>
                  <a:ea typeface="Inter"/>
                  <a:cs typeface="Inter"/>
                  <a:sym typeface="Inter"/>
                </a:rPr>
                <a:t> to prevent runtime failures and maintain program state stability.</a:t>
              </a:r>
              <a:endParaRPr b="0" sz="1400">
                <a:solidFill>
                  <a:srgbClr val="374151"/>
                </a:solidFill>
                <a:latin typeface="Inter"/>
                <a:ea typeface="Inter"/>
                <a:cs typeface="Inter"/>
                <a:sym typeface="Inter"/>
              </a:endParaRPr>
            </a:p>
          </p:txBody>
        </p:sp>
      </p:grpSp>
      <p:grpSp>
        <p:nvGrpSpPr>
          <p:cNvPr id="335" name="Google Shape;335;p22"/>
          <p:cNvGrpSpPr/>
          <p:nvPr/>
        </p:nvGrpSpPr>
        <p:grpSpPr>
          <a:xfrm>
            <a:off x="762000" y="4953000"/>
            <a:ext cx="10668000" cy="904800"/>
            <a:chOff x="0" y="0"/>
            <a:chExt cx="10668000" cy="904800"/>
          </a:xfrm>
        </p:grpSpPr>
        <p:sp>
          <p:nvSpPr>
            <p:cNvPr id="336" name="Google Shape;336;p22"/>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2"/>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2"/>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BEST PRACTICE: RELATIVE VS. ABSOLUTE PATHWAYS</a:t>
              </a:r>
              <a:endParaRPr b="1" sz="1200">
                <a:solidFill>
                  <a:srgbClr val="045A36"/>
                </a:solidFill>
                <a:latin typeface="Inter"/>
                <a:ea typeface="Inter"/>
                <a:cs typeface="Inter"/>
                <a:sym typeface="Inter"/>
              </a:endParaRPr>
            </a:p>
          </p:txBody>
        </p:sp>
        <p:sp>
          <p:nvSpPr>
            <p:cNvPr id="339" name="Google Shape;339;p22"/>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374151"/>
                  </a:solidFill>
                  <a:latin typeface="Inter Medium"/>
                  <a:ea typeface="Inter Medium"/>
                  <a:cs typeface="Inter Medium"/>
                  <a:sym typeface="Inter Medium"/>
                </a:rPr>
                <a:t>Prefer using </a:t>
              </a:r>
              <a:r>
                <a:rPr b="1" lang="en" sz="1203">
                  <a:solidFill>
                    <a:srgbClr val="045A36"/>
                  </a:solidFill>
                  <a:latin typeface="Inter"/>
                  <a:ea typeface="Inter"/>
                  <a:cs typeface="Inter"/>
                  <a:sym typeface="Inter"/>
                </a:rPr>
                <a:t>relative pathways</a:t>
              </a:r>
              <a:r>
                <a:rPr b="0" lang="en" sz="1203">
                  <a:solidFill>
                    <a:srgbClr val="374151"/>
                  </a:solidFill>
                  <a:latin typeface="Inter Medium"/>
                  <a:ea typeface="Inter Medium"/>
                  <a:cs typeface="Inter Medium"/>
                  <a:sym typeface="Inter Medium"/>
                </a:rPr>
                <a:t> for project-internal folders to ensure cross-platform portability. Absolute paths should be reserved strictly for system-specific environment configurations.</a:t>
              </a:r>
              <a:endParaRPr b="0" sz="1203">
                <a:solidFill>
                  <a:srgbClr val="374151"/>
                </a:solidFill>
                <a:latin typeface="Inter Medium"/>
                <a:ea typeface="Inter Medium"/>
                <a:cs typeface="Inter Medium"/>
                <a:sym typeface="Inter Medium"/>
              </a:endParaRPr>
            </a:p>
          </p:txBody>
        </p:sp>
      </p:grpSp>
      <p:sp>
        <p:nvSpPr>
          <p:cNvPr id="340" name="Google Shape;340;p22"/>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3"/>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3"/>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8" name="Google Shape;348;p23"/>
          <p:cNvGrpSpPr/>
          <p:nvPr/>
        </p:nvGrpSpPr>
        <p:grpSpPr>
          <a:xfrm>
            <a:off x="762000" y="571500"/>
            <a:ext cx="10668000" cy="1095375"/>
            <a:chOff x="762000" y="571500"/>
            <a:chExt cx="10668000" cy="1095375"/>
          </a:xfrm>
        </p:grpSpPr>
        <p:sp>
          <p:nvSpPr>
            <p:cNvPr id="349" name="Google Shape;349;p23"/>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Listing Items via os.listdir()</a:t>
              </a:r>
              <a:endParaRPr b="0" sz="2700">
                <a:solidFill>
                  <a:srgbClr val="045A36"/>
                </a:solidFill>
                <a:latin typeface="Montserrat SemiBold"/>
                <a:ea typeface="Montserrat SemiBold"/>
                <a:cs typeface="Montserrat SemiBold"/>
                <a:sym typeface="Montserrat SemiBold"/>
              </a:endParaRPr>
            </a:p>
          </p:txBody>
        </p:sp>
        <p:sp>
          <p:nvSpPr>
            <p:cNvPr id="350" name="Google Shape;350;p23"/>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Leveraging the os module to dynamically query and iterate over directory contents.</a:t>
              </a:r>
              <a:endParaRPr b="0" sz="1600">
                <a:solidFill>
                  <a:srgbClr val="4B5563"/>
                </a:solidFill>
                <a:latin typeface="Inter SemiBold"/>
                <a:ea typeface="Inter SemiBold"/>
                <a:cs typeface="Inter SemiBold"/>
                <a:sym typeface="Inter SemiBold"/>
              </a:endParaRPr>
            </a:p>
          </p:txBody>
        </p:sp>
      </p:grpSp>
      <p:grpSp>
        <p:nvGrpSpPr>
          <p:cNvPr id="351" name="Google Shape;351;p23"/>
          <p:cNvGrpSpPr/>
          <p:nvPr/>
        </p:nvGrpSpPr>
        <p:grpSpPr>
          <a:xfrm>
            <a:off x="762000" y="1714500"/>
            <a:ext cx="5143500" cy="3048000"/>
            <a:chOff x="0" y="0"/>
            <a:chExt cx="5143500" cy="3048000"/>
          </a:xfrm>
        </p:grpSpPr>
        <p:sp>
          <p:nvSpPr>
            <p:cNvPr id="352" name="Google Shape;352;p23"/>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23"/>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3"/>
            <p:cNvSpPr txBox="1"/>
            <p:nvPr/>
          </p:nvSpPr>
          <p:spPr>
            <a:xfrm>
              <a:off x="238125" y="209550"/>
              <a:ext cx="46674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IMPLEMENTATION &amp; SYNTAX</a:t>
              </a:r>
              <a:endParaRPr b="1" sz="1200">
                <a:solidFill>
                  <a:srgbClr val="D4A017"/>
                </a:solidFill>
                <a:latin typeface="Inter"/>
                <a:ea typeface="Inter"/>
                <a:cs typeface="Inter"/>
                <a:sym typeface="Inter"/>
              </a:endParaRPr>
            </a:p>
          </p:txBody>
        </p:sp>
        <p:sp>
          <p:nvSpPr>
            <p:cNvPr id="355" name="Google Shape;355;p23"/>
            <p:cNvSpPr txBox="1"/>
            <p:nvPr/>
          </p:nvSpPr>
          <p:spPr>
            <a:xfrm>
              <a:off x="238125" y="590550"/>
              <a:ext cx="46674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853">
                  <a:solidFill>
                    <a:srgbClr val="6B7280"/>
                  </a:solidFill>
                  <a:latin typeface="Courier"/>
                  <a:ea typeface="Courier"/>
                  <a:cs typeface="Courier"/>
                  <a:sym typeface="Courier"/>
                </a:rPr>
                <a:t># Syntax: contents = os.listdir('path')</a:t>
              </a:r>
              <a:endParaRPr b="0" i="1" sz="853">
                <a:solidFill>
                  <a:srgbClr val="6B7280"/>
                </a:solidFill>
                <a:latin typeface="Courier"/>
                <a:ea typeface="Courier"/>
                <a:cs typeface="Courier"/>
                <a:sym typeface="Courier"/>
              </a:endParaRPr>
            </a:p>
            <a:p>
              <a:pPr indent="0" lvl="0" marL="0" rtl="0" algn="l">
                <a:spcBef>
                  <a:spcPts val="300"/>
                </a:spcBef>
                <a:spcAft>
                  <a:spcPts val="0"/>
                </a:spcAft>
                <a:buNone/>
              </a:pPr>
              <a:r>
                <a:rPr b="1" lang="en" sz="1008">
                  <a:solidFill>
                    <a:srgbClr val="045A36"/>
                  </a:solidFill>
                  <a:latin typeface="Courier"/>
                  <a:ea typeface="Courier"/>
                  <a:cs typeface="Courier"/>
                  <a:sym typeface="Courier"/>
                </a:rPr>
                <a:t>import</a:t>
              </a:r>
              <a:r>
                <a:rPr b="0" lang="en" sz="1008">
                  <a:solidFill>
                    <a:srgbClr val="1F2937"/>
                  </a:solidFill>
                  <a:latin typeface="Courier"/>
                  <a:ea typeface="Courier"/>
                  <a:cs typeface="Courier"/>
                  <a:sym typeface="Courier"/>
                </a:rPr>
                <a:t> os</a:t>
              </a:r>
              <a:endParaRPr b="0" sz="1008">
                <a:solidFill>
                  <a:srgbClr val="1F2937"/>
                </a:solidFill>
                <a:latin typeface="Courier"/>
                <a:ea typeface="Courier"/>
                <a:cs typeface="Courier"/>
                <a:sym typeface="Courier"/>
              </a:endParaRPr>
            </a:p>
            <a:p>
              <a:pPr indent="0" lvl="0" marL="0" rtl="0" algn="l">
                <a:spcBef>
                  <a:spcPts val="450"/>
                </a:spcBef>
                <a:spcAft>
                  <a:spcPts val="0"/>
                </a:spcAft>
                <a:buNone/>
              </a:pPr>
              <a:r>
                <a:rPr b="0" i="1" lang="en" sz="853">
                  <a:solidFill>
                    <a:srgbClr val="6B7280"/>
                  </a:solidFill>
                  <a:latin typeface="Courier"/>
                  <a:ea typeface="Courier"/>
                  <a:cs typeface="Courier"/>
                  <a:sym typeface="Courier"/>
                </a:rPr>
                <a:t># List contents of the current directory</a:t>
              </a:r>
              <a:endParaRPr b="0" i="1" sz="853">
                <a:solidFill>
                  <a:srgbClr val="6B7280"/>
                </a:solidFill>
                <a:latin typeface="Courier"/>
                <a:ea typeface="Courier"/>
                <a:cs typeface="Courier"/>
                <a:sym typeface="Courier"/>
              </a:endParaRPr>
            </a:p>
            <a:p>
              <a:pPr indent="0" lvl="0" marL="0" rtl="0" algn="l">
                <a:spcBef>
                  <a:spcPts val="300"/>
                </a:spcBef>
                <a:spcAft>
                  <a:spcPts val="0"/>
                </a:spcAft>
                <a:buNone/>
              </a:pPr>
              <a:r>
                <a:rPr b="0" lang="en" sz="1008">
                  <a:solidFill>
                    <a:srgbClr val="1F2937"/>
                  </a:solidFill>
                  <a:latin typeface="Courier"/>
                  <a:ea typeface="Courier"/>
                  <a:cs typeface="Courier"/>
                  <a:sym typeface="Courier"/>
                </a:rPr>
                <a:t>items = os.</a:t>
              </a:r>
              <a:r>
                <a:rPr b="0" lang="en" sz="1008">
                  <a:solidFill>
                    <a:srgbClr val="0B7A4B"/>
                  </a:solidFill>
                  <a:latin typeface="Courier"/>
                  <a:ea typeface="Courier"/>
                  <a:cs typeface="Courier"/>
                  <a:sym typeface="Courier"/>
                </a:rPr>
                <a:t>listdir</a:t>
              </a:r>
              <a:r>
                <a:rPr b="0" lang="en" sz="1008">
                  <a:solidFill>
                    <a:srgbClr val="1F2937"/>
                  </a:solidFill>
                  <a:latin typeface="Courier"/>
                  <a:ea typeface="Courier"/>
                  <a:cs typeface="Courier"/>
                  <a:sym typeface="Courier"/>
                </a:rPr>
                <a:t>(</a:t>
              </a:r>
              <a:r>
                <a:rPr b="0" lang="en" sz="1008">
                  <a:solidFill>
                    <a:srgbClr val="B91C1C"/>
                  </a:solidFill>
                  <a:latin typeface="Courier"/>
                  <a:ea typeface="Courier"/>
                  <a:cs typeface="Courier"/>
                  <a:sym typeface="Courier"/>
                </a:rPr>
                <a:t>'.'</a:t>
              </a:r>
              <a:r>
                <a:rPr b="0" lang="en" sz="1008">
                  <a:solidFill>
                    <a:srgbClr val="1F2937"/>
                  </a:solidFill>
                  <a:latin typeface="Courier"/>
                  <a:ea typeface="Courier"/>
                  <a:cs typeface="Courier"/>
                  <a:sym typeface="Courier"/>
                </a:rPr>
                <a:t>)</a:t>
              </a:r>
              <a:endParaRPr b="0" sz="1008">
                <a:solidFill>
                  <a:srgbClr val="1F2937"/>
                </a:solidFill>
                <a:latin typeface="Courier"/>
                <a:ea typeface="Courier"/>
                <a:cs typeface="Courier"/>
                <a:sym typeface="Courier"/>
              </a:endParaRPr>
            </a:p>
            <a:p>
              <a:pPr indent="0" lvl="0" marL="0" rtl="0" algn="l">
                <a:spcBef>
                  <a:spcPts val="300"/>
                </a:spcBef>
                <a:spcAft>
                  <a:spcPts val="0"/>
                </a:spcAft>
                <a:buNone/>
              </a:pPr>
              <a:r>
                <a:rPr b="0" lang="en" sz="1008">
                  <a:solidFill>
                    <a:srgbClr val="0B7A4B"/>
                  </a:solidFill>
                  <a:latin typeface="Courier"/>
                  <a:ea typeface="Courier"/>
                  <a:cs typeface="Courier"/>
                  <a:sym typeface="Courier"/>
                </a:rPr>
                <a:t>print</a:t>
              </a:r>
              <a:r>
                <a:rPr b="0" lang="en" sz="1008">
                  <a:solidFill>
                    <a:srgbClr val="1F2937"/>
                  </a:solidFill>
                  <a:latin typeface="Courier"/>
                  <a:ea typeface="Courier"/>
                  <a:cs typeface="Courier"/>
                  <a:sym typeface="Courier"/>
                </a:rPr>
                <a:t>(</a:t>
              </a:r>
              <a:r>
                <a:rPr b="0" lang="en" sz="1008">
                  <a:solidFill>
                    <a:srgbClr val="B91C1C"/>
                  </a:solidFill>
                  <a:latin typeface="Courier"/>
                  <a:ea typeface="Courier"/>
                  <a:cs typeface="Courier"/>
                  <a:sym typeface="Courier"/>
                </a:rPr>
                <a:t>"Directory contents:"</a:t>
              </a:r>
              <a:r>
                <a:rPr b="0" lang="en" sz="1008">
                  <a:solidFill>
                    <a:srgbClr val="1F2937"/>
                  </a:solidFill>
                  <a:latin typeface="Courier"/>
                  <a:ea typeface="Courier"/>
                  <a:cs typeface="Courier"/>
                  <a:sym typeface="Courier"/>
                </a:rPr>
                <a:t>)</a:t>
              </a:r>
              <a:endParaRPr b="0" sz="1008">
                <a:solidFill>
                  <a:srgbClr val="1F2937"/>
                </a:solidFill>
                <a:latin typeface="Courier"/>
                <a:ea typeface="Courier"/>
                <a:cs typeface="Courier"/>
                <a:sym typeface="Courier"/>
              </a:endParaRPr>
            </a:p>
            <a:p>
              <a:pPr indent="0" lvl="0" marL="0" rtl="0" algn="l">
                <a:spcBef>
                  <a:spcPts val="300"/>
                </a:spcBef>
                <a:spcAft>
                  <a:spcPts val="0"/>
                </a:spcAft>
                <a:buNone/>
              </a:pPr>
              <a:r>
                <a:rPr b="1" lang="en" sz="1008">
                  <a:solidFill>
                    <a:srgbClr val="045A36"/>
                  </a:solidFill>
                  <a:latin typeface="Courier"/>
                  <a:ea typeface="Courier"/>
                  <a:cs typeface="Courier"/>
                  <a:sym typeface="Courier"/>
                </a:rPr>
                <a:t>for</a:t>
              </a:r>
              <a:r>
                <a:rPr b="0" lang="en" sz="1008">
                  <a:solidFill>
                    <a:srgbClr val="1F2937"/>
                  </a:solidFill>
                  <a:latin typeface="Courier"/>
                  <a:ea typeface="Courier"/>
                  <a:cs typeface="Courier"/>
                  <a:sym typeface="Courier"/>
                </a:rPr>
                <a:t> item </a:t>
              </a:r>
              <a:r>
                <a:rPr b="1" lang="en" sz="1008">
                  <a:solidFill>
                    <a:srgbClr val="045A36"/>
                  </a:solidFill>
                  <a:latin typeface="Courier"/>
                  <a:ea typeface="Courier"/>
                  <a:cs typeface="Courier"/>
                  <a:sym typeface="Courier"/>
                </a:rPr>
                <a:t>in</a:t>
              </a:r>
              <a:r>
                <a:rPr b="0" lang="en" sz="1008">
                  <a:solidFill>
                    <a:srgbClr val="1F2937"/>
                  </a:solidFill>
                  <a:latin typeface="Courier"/>
                  <a:ea typeface="Courier"/>
                  <a:cs typeface="Courier"/>
                  <a:sym typeface="Courier"/>
                </a:rPr>
                <a:t> items:</a:t>
              </a:r>
              <a:endParaRPr b="0" sz="1008">
                <a:solidFill>
                  <a:srgbClr val="1F2937"/>
                </a:solidFill>
                <a:latin typeface="Courier"/>
                <a:ea typeface="Courier"/>
                <a:cs typeface="Courier"/>
                <a:sym typeface="Courier"/>
              </a:endParaRPr>
            </a:p>
            <a:p>
              <a:pPr indent="0" lvl="0" marL="0" rtl="0" algn="l">
                <a:spcBef>
                  <a:spcPts val="300"/>
                </a:spcBef>
                <a:spcAft>
                  <a:spcPts val="0"/>
                </a:spcAft>
                <a:buNone/>
              </a:pPr>
              <a:r>
                <a:rPr b="0" lang="en" sz="1008">
                  <a:solidFill>
                    <a:srgbClr val="0B7A4B"/>
                  </a:solidFill>
                  <a:latin typeface="Courier"/>
                  <a:ea typeface="Courier"/>
                  <a:cs typeface="Courier"/>
                  <a:sym typeface="Courier"/>
                </a:rPr>
                <a:t>print</a:t>
              </a:r>
              <a:r>
                <a:rPr b="0" lang="en" sz="1008">
                  <a:solidFill>
                    <a:srgbClr val="1F2937"/>
                  </a:solidFill>
                  <a:latin typeface="Courier"/>
                  <a:ea typeface="Courier"/>
                  <a:cs typeface="Courier"/>
                  <a:sym typeface="Courier"/>
                </a:rPr>
                <a:t>(</a:t>
              </a:r>
              <a:r>
                <a:rPr b="0" lang="en" sz="1008">
                  <a:solidFill>
                    <a:srgbClr val="B91C1C"/>
                  </a:solidFill>
                  <a:latin typeface="Courier"/>
                  <a:ea typeface="Courier"/>
                  <a:cs typeface="Courier"/>
                  <a:sym typeface="Courier"/>
                </a:rPr>
                <a:t>f" - {item}"</a:t>
              </a:r>
              <a:r>
                <a:rPr b="0" lang="en" sz="1008">
                  <a:solidFill>
                    <a:srgbClr val="1F2937"/>
                  </a:solidFill>
                  <a:latin typeface="Courier"/>
                  <a:ea typeface="Courier"/>
                  <a:cs typeface="Courier"/>
                  <a:sym typeface="Courier"/>
                </a:rPr>
                <a:t>)</a:t>
              </a:r>
              <a:endParaRPr b="0" sz="1008">
                <a:solidFill>
                  <a:srgbClr val="1F2937"/>
                </a:solidFill>
                <a:latin typeface="Courier"/>
                <a:ea typeface="Courier"/>
                <a:cs typeface="Courier"/>
                <a:sym typeface="Courier"/>
              </a:endParaRPr>
            </a:p>
          </p:txBody>
        </p:sp>
        <p:sp>
          <p:nvSpPr>
            <p:cNvPr id="356" name="Google Shape;356;p23"/>
            <p:cNvSpPr/>
            <p:nvPr/>
          </p:nvSpPr>
          <p:spPr>
            <a:xfrm>
              <a:off x="238125" y="2000250"/>
              <a:ext cx="4667400" cy="8574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3"/>
            <p:cNvSpPr txBox="1"/>
            <p:nvPr/>
          </p:nvSpPr>
          <p:spPr>
            <a:xfrm>
              <a:off x="333375" y="2076450"/>
              <a:ext cx="44769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59">
                  <a:solidFill>
                    <a:srgbClr val="6B7280"/>
                  </a:solidFill>
                  <a:latin typeface="Inter"/>
                  <a:ea typeface="Inter"/>
                  <a:cs typeface="Inter"/>
                  <a:sym typeface="Inter"/>
                </a:rPr>
                <a:t>Expected Console Output:</a:t>
              </a:r>
              <a:endParaRPr b="1" sz="659">
                <a:solidFill>
                  <a:srgbClr val="6B7280"/>
                </a:solidFill>
                <a:latin typeface="Inter"/>
                <a:ea typeface="Inter"/>
                <a:cs typeface="Inter"/>
                <a:sym typeface="Inter"/>
              </a:endParaRPr>
            </a:p>
            <a:p>
              <a:pPr indent="0" lvl="0" marL="0" rtl="0" algn="l">
                <a:spcBef>
                  <a:spcPts val="300"/>
                </a:spcBef>
                <a:spcAft>
                  <a:spcPts val="0"/>
                </a:spcAft>
                <a:buNone/>
              </a:pPr>
              <a:r>
                <a:rPr lang="en" sz="853">
                  <a:solidFill>
                    <a:srgbClr val="1F2937"/>
                  </a:solidFill>
                  <a:latin typeface="Courier"/>
                  <a:ea typeface="Courier"/>
                  <a:cs typeface="Courier"/>
                  <a:sym typeface="Courier"/>
                </a:rPr>
                <a:t>Directory contents:</a:t>
              </a:r>
              <a:endParaRPr sz="853">
                <a:solidFill>
                  <a:srgbClr val="1F2937"/>
                </a:solidFill>
                <a:latin typeface="Courier"/>
                <a:ea typeface="Courier"/>
                <a:cs typeface="Courier"/>
                <a:sym typeface="Courier"/>
              </a:endParaRPr>
            </a:p>
            <a:p>
              <a:pPr indent="0" lvl="0" marL="0" rtl="0" algn="l">
                <a:spcBef>
                  <a:spcPts val="0"/>
                </a:spcBef>
                <a:spcAft>
                  <a:spcPts val="0"/>
                </a:spcAft>
                <a:buNone/>
              </a:pPr>
              <a:r>
                <a:rPr lang="en" sz="853">
                  <a:solidFill>
                    <a:srgbClr val="1F2937"/>
                  </a:solidFill>
                  <a:latin typeface="Courier"/>
                  <a:ea typeface="Courier"/>
                  <a:cs typeface="Courier"/>
                  <a:sym typeface="Courier"/>
                </a:rPr>
                <a:t>- main.py</a:t>
              </a:r>
              <a:endParaRPr sz="853">
                <a:solidFill>
                  <a:srgbClr val="1F2937"/>
                </a:solidFill>
                <a:latin typeface="Courier"/>
                <a:ea typeface="Courier"/>
                <a:cs typeface="Courier"/>
                <a:sym typeface="Courier"/>
              </a:endParaRPr>
            </a:p>
            <a:p>
              <a:pPr indent="0" lvl="0" marL="0" rtl="0" algn="l">
                <a:spcBef>
                  <a:spcPts val="0"/>
                </a:spcBef>
                <a:spcAft>
                  <a:spcPts val="0"/>
                </a:spcAft>
                <a:buNone/>
              </a:pPr>
              <a:r>
                <a:rPr lang="en" sz="853">
                  <a:solidFill>
                    <a:srgbClr val="1F2937"/>
                  </a:solidFill>
                  <a:latin typeface="Courier"/>
                  <a:ea typeface="Courier"/>
                  <a:cs typeface="Courier"/>
                  <a:sym typeface="Courier"/>
                </a:rPr>
                <a:t>- sensor_data.csv</a:t>
              </a:r>
              <a:endParaRPr sz="853">
                <a:solidFill>
                  <a:srgbClr val="1F2937"/>
                </a:solidFill>
                <a:latin typeface="Courier"/>
                <a:ea typeface="Courier"/>
                <a:cs typeface="Courier"/>
                <a:sym typeface="Courier"/>
              </a:endParaRPr>
            </a:p>
            <a:p>
              <a:pPr indent="0" lvl="0" marL="0" rtl="0" algn="l">
                <a:spcBef>
                  <a:spcPts val="0"/>
                </a:spcBef>
                <a:spcAft>
                  <a:spcPts val="0"/>
                </a:spcAft>
                <a:buNone/>
              </a:pPr>
              <a:r>
                <a:rPr lang="en" sz="853">
                  <a:solidFill>
                    <a:srgbClr val="1F2937"/>
                  </a:solidFill>
                  <a:latin typeface="Courier"/>
                  <a:ea typeface="Courier"/>
                  <a:cs typeface="Courier"/>
                  <a:sym typeface="Courier"/>
                </a:rPr>
                <a:t>- logs/</a:t>
              </a:r>
              <a:endParaRPr sz="853">
                <a:solidFill>
                  <a:srgbClr val="1F2937"/>
                </a:solidFill>
                <a:latin typeface="Courier"/>
                <a:ea typeface="Courier"/>
                <a:cs typeface="Courier"/>
                <a:sym typeface="Courier"/>
              </a:endParaRPr>
            </a:p>
          </p:txBody>
        </p:sp>
      </p:grpSp>
      <p:grpSp>
        <p:nvGrpSpPr>
          <p:cNvPr id="358" name="Google Shape;358;p23"/>
          <p:cNvGrpSpPr/>
          <p:nvPr/>
        </p:nvGrpSpPr>
        <p:grpSpPr>
          <a:xfrm>
            <a:off x="6286500" y="1714500"/>
            <a:ext cx="5143500" cy="3048000"/>
            <a:chOff x="0" y="0"/>
            <a:chExt cx="5143500" cy="3048000"/>
          </a:xfrm>
        </p:grpSpPr>
        <p:sp>
          <p:nvSpPr>
            <p:cNvPr id="359" name="Google Shape;359;p23"/>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3"/>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3"/>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CONCEPT WALKTHROUGH</a:t>
              </a:r>
              <a:endParaRPr b="1" sz="1200">
                <a:solidFill>
                  <a:srgbClr val="045A36"/>
                </a:solidFill>
                <a:latin typeface="Inter"/>
                <a:ea typeface="Inter"/>
                <a:cs typeface="Inter"/>
                <a:sym typeface="Inter"/>
              </a:endParaRPr>
            </a:p>
          </p:txBody>
        </p:sp>
        <p:sp>
          <p:nvSpPr>
            <p:cNvPr id="362" name="Google Shape;362;p23"/>
            <p:cNvSpPr txBox="1"/>
            <p:nvPr/>
          </p:nvSpPr>
          <p:spPr>
            <a:xfrm>
              <a:off x="238125" y="714375"/>
              <a:ext cx="46674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Querying Directory Paths</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05">
                  <a:solidFill>
                    <a:srgbClr val="374151"/>
                  </a:solidFill>
                  <a:latin typeface="Inter"/>
                  <a:ea typeface="Inter"/>
                  <a:cs typeface="Inter"/>
                  <a:sym typeface="Inter"/>
                </a:rPr>
                <a:t>The </a:t>
              </a:r>
              <a:r>
                <a:rPr b="1" lang="en" sz="1105">
                  <a:solidFill>
                    <a:srgbClr val="045A36"/>
                  </a:solidFill>
                  <a:latin typeface="Courier"/>
                  <a:ea typeface="Courier"/>
                  <a:cs typeface="Courier"/>
                  <a:sym typeface="Courier"/>
                </a:rPr>
                <a:t>os.listdir(path='.')</a:t>
              </a:r>
              <a:r>
                <a:rPr b="0" lang="en" sz="1105">
                  <a:solidFill>
                    <a:srgbClr val="374151"/>
                  </a:solidFill>
                  <a:latin typeface="Inter"/>
                  <a:ea typeface="Inter"/>
                  <a:cs typeface="Inter"/>
                  <a:sym typeface="Inter"/>
                </a:rPr>
                <a:t> function returns a list containing the names of the entries in the directory given by </a:t>
              </a:r>
              <a:r>
                <a:rPr b="0" lang="en" sz="1105">
                  <a:solidFill>
                    <a:srgbClr val="374151"/>
                  </a:solidFill>
                  <a:latin typeface="Courier"/>
                  <a:ea typeface="Courier"/>
                  <a:cs typeface="Courier"/>
                  <a:sym typeface="Courier"/>
                </a:rPr>
                <a:t>path</a:t>
              </a:r>
              <a:r>
                <a:rPr b="0" lang="en" sz="1105">
                  <a:solidFill>
                    <a:srgbClr val="374151"/>
                  </a:solidFill>
                  <a:latin typeface="Inter"/>
                  <a:ea typeface="Inter"/>
                  <a:cs typeface="Inter"/>
                  <a:sym typeface="Inter"/>
                </a:rPr>
                <a:t>.</a:t>
              </a:r>
              <a:endParaRPr b="0" sz="1105">
                <a:solidFill>
                  <a:srgbClr val="374151"/>
                </a:solidFill>
                <a:latin typeface="Inter"/>
                <a:ea typeface="Inter"/>
                <a:cs typeface="Inter"/>
                <a:sym typeface="Inter"/>
              </a:endParaRPr>
            </a:p>
            <a:p>
              <a:pPr indent="0" lvl="0" marL="0" rtl="0" algn="l">
                <a:spcBef>
                  <a:spcPts val="900"/>
                </a:spcBef>
                <a:spcAft>
                  <a:spcPts val="0"/>
                </a:spcAft>
                <a:buNone/>
              </a:pPr>
              <a:r>
                <a:rPr b="0" lang="en" sz="1275">
                  <a:solidFill>
                    <a:srgbClr val="1F2937"/>
                  </a:solidFill>
                  <a:latin typeface="Inter SemiBold"/>
                  <a:ea typeface="Inter SemiBold"/>
                  <a:cs typeface="Inter SemiBold"/>
                  <a:sym typeface="Inter SemiBold"/>
                </a:rPr>
                <a:t>Array-Like Return Value</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05">
                  <a:solidFill>
                    <a:srgbClr val="374151"/>
                  </a:solidFill>
                  <a:latin typeface="Inter"/>
                  <a:ea typeface="Inter"/>
                  <a:cs typeface="Inter"/>
                  <a:sym typeface="Inter"/>
                </a:rPr>
                <a:t>The return value is a standard Python </a:t>
              </a:r>
              <a:r>
                <a:rPr b="0" lang="en" sz="1105">
                  <a:solidFill>
                    <a:srgbClr val="045A36"/>
                  </a:solidFill>
                  <a:latin typeface="Inter SemiBold"/>
                  <a:ea typeface="Inter SemiBold"/>
                  <a:cs typeface="Inter SemiBold"/>
                  <a:sym typeface="Inter SemiBold"/>
                </a:rPr>
                <a:t>list of strings</a:t>
              </a:r>
              <a:r>
                <a:rPr b="0" lang="en" sz="1105">
                  <a:solidFill>
                    <a:srgbClr val="374151"/>
                  </a:solidFill>
                  <a:latin typeface="Inter"/>
                  <a:ea typeface="Inter"/>
                  <a:cs typeface="Inter"/>
                  <a:sym typeface="Inter"/>
                </a:rPr>
                <a:t>. This allows developers to query directory counts, sort alphabetically, or filter with list comprehensions.</a:t>
              </a:r>
              <a:endParaRPr b="0" sz="1105">
                <a:solidFill>
                  <a:srgbClr val="374151"/>
                </a:solidFill>
                <a:latin typeface="Inter"/>
                <a:ea typeface="Inter"/>
                <a:cs typeface="Inter"/>
                <a:sym typeface="Inter"/>
              </a:endParaRPr>
            </a:p>
            <a:p>
              <a:pPr indent="0" lvl="0" marL="0" rtl="0" algn="l">
                <a:spcBef>
                  <a:spcPts val="900"/>
                </a:spcBef>
                <a:spcAft>
                  <a:spcPts val="0"/>
                </a:spcAft>
                <a:buNone/>
              </a:pPr>
              <a:r>
                <a:rPr b="0" lang="en" sz="1275">
                  <a:solidFill>
                    <a:srgbClr val="1F2937"/>
                  </a:solidFill>
                  <a:latin typeface="Inter SemiBold"/>
                  <a:ea typeface="Inter SemiBold"/>
                  <a:cs typeface="Inter SemiBold"/>
                  <a:sym typeface="Inter SemiBold"/>
                </a:rPr>
                <a:t>Seamless Looping and Iteration</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05">
                  <a:solidFill>
                    <a:srgbClr val="374151"/>
                  </a:solidFill>
                  <a:latin typeface="Inter"/>
                  <a:ea typeface="Inter"/>
                  <a:cs typeface="Inter"/>
                  <a:sym typeface="Inter"/>
                </a:rPr>
                <a:t>Because it yields a collection, the output seamlessly integrates with standard </a:t>
              </a:r>
              <a:r>
                <a:rPr b="1" lang="en" sz="1105">
                  <a:solidFill>
                    <a:srgbClr val="045A36"/>
                  </a:solidFill>
                  <a:latin typeface="Courier"/>
                  <a:ea typeface="Courier"/>
                  <a:cs typeface="Courier"/>
                  <a:sym typeface="Courier"/>
                </a:rPr>
                <a:t>for</a:t>
              </a:r>
              <a:r>
                <a:rPr b="0" lang="en" sz="1105">
                  <a:solidFill>
                    <a:srgbClr val="374151"/>
                  </a:solidFill>
                  <a:latin typeface="Inter"/>
                  <a:ea typeface="Inter"/>
                  <a:cs typeface="Inter"/>
                  <a:sym typeface="Inter"/>
                </a:rPr>
                <a:t> loops to process files one-by-one.</a:t>
              </a:r>
              <a:endParaRPr b="0" sz="1105">
                <a:solidFill>
                  <a:srgbClr val="374151"/>
                </a:solidFill>
                <a:latin typeface="Inter"/>
                <a:ea typeface="Inter"/>
                <a:cs typeface="Inter"/>
                <a:sym typeface="Inter"/>
              </a:endParaRPr>
            </a:p>
          </p:txBody>
        </p:sp>
      </p:grpSp>
      <p:grpSp>
        <p:nvGrpSpPr>
          <p:cNvPr id="363" name="Google Shape;363;p23"/>
          <p:cNvGrpSpPr/>
          <p:nvPr/>
        </p:nvGrpSpPr>
        <p:grpSpPr>
          <a:xfrm>
            <a:off x="762000" y="4953000"/>
            <a:ext cx="10668000" cy="904800"/>
            <a:chOff x="0" y="0"/>
            <a:chExt cx="10668000" cy="904800"/>
          </a:xfrm>
        </p:grpSpPr>
        <p:sp>
          <p:nvSpPr>
            <p:cNvPr id="364" name="Google Shape;364;p23"/>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3"/>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3"/>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STUDENT REMINDER: SUBDIRECTORIES INCLUDED</a:t>
              </a:r>
              <a:endParaRPr b="1" sz="1200">
                <a:solidFill>
                  <a:srgbClr val="045A36"/>
                </a:solidFill>
                <a:latin typeface="Inter"/>
                <a:ea typeface="Inter"/>
                <a:cs typeface="Inter"/>
                <a:sym typeface="Inter"/>
              </a:endParaRPr>
            </a:p>
          </p:txBody>
        </p:sp>
        <p:sp>
          <p:nvSpPr>
            <p:cNvPr id="367" name="Google Shape;367;p23"/>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1F2937"/>
                  </a:solidFill>
                  <a:latin typeface="Inter"/>
                  <a:ea typeface="Inter"/>
                  <a:cs typeface="Inter"/>
                  <a:sym typeface="Inter"/>
                </a:rPr>
                <a:t>The </a:t>
              </a:r>
              <a:r>
                <a:rPr b="1" lang="en" sz="1203">
                  <a:solidFill>
                    <a:srgbClr val="045A36"/>
                  </a:solidFill>
                  <a:latin typeface="Courier"/>
                  <a:ea typeface="Courier"/>
                  <a:cs typeface="Courier"/>
                  <a:sym typeface="Courier"/>
                </a:rPr>
                <a:t>listdir()</a:t>
              </a:r>
              <a:r>
                <a:rPr b="0" lang="en" sz="1203">
                  <a:solidFill>
                    <a:srgbClr val="1F2937"/>
                  </a:solidFill>
                  <a:latin typeface="Inter"/>
                  <a:ea typeface="Inter"/>
                  <a:cs typeface="Inter"/>
                  <a:sym typeface="Inter"/>
                </a:rPr>
                <a:t> method retrieves </a:t>
              </a:r>
              <a:r>
                <a:rPr b="0" lang="en" sz="1203">
                  <a:solidFill>
                    <a:srgbClr val="045A36"/>
                  </a:solidFill>
                  <a:latin typeface="Inter SemiBold"/>
                  <a:ea typeface="Inter SemiBold"/>
                  <a:cs typeface="Inter SemiBold"/>
                  <a:sym typeface="Inter SemiBold"/>
                </a:rPr>
                <a:t>both files and subdirectories</a:t>
              </a:r>
              <a:r>
                <a:rPr b="0" lang="en" sz="1203">
                  <a:solidFill>
                    <a:srgbClr val="1F2937"/>
                  </a:solidFill>
                  <a:latin typeface="Inter"/>
                  <a:ea typeface="Inter"/>
                  <a:cs typeface="Inter"/>
                  <a:sym typeface="Inter"/>
                </a:rPr>
                <a:t>. It does not perform recursive searching, and it does not distinguish between files and folder paths without additional verification like </a:t>
              </a:r>
              <a:r>
                <a:rPr b="1" lang="en" sz="1203">
                  <a:solidFill>
                    <a:srgbClr val="045A36"/>
                  </a:solidFill>
                  <a:latin typeface="Courier"/>
                  <a:ea typeface="Courier"/>
                  <a:cs typeface="Courier"/>
                  <a:sym typeface="Courier"/>
                </a:rPr>
                <a:t>os.path.isdir()</a:t>
              </a:r>
              <a:r>
                <a:rPr b="0" lang="en" sz="1203">
                  <a:solidFill>
                    <a:srgbClr val="1F2937"/>
                  </a:solidFill>
                  <a:latin typeface="Inter"/>
                  <a:ea typeface="Inter"/>
                  <a:cs typeface="Inter"/>
                  <a:sym typeface="Inter"/>
                </a:rPr>
                <a:t> or </a:t>
              </a:r>
              <a:r>
                <a:rPr b="1" lang="en" sz="1203">
                  <a:solidFill>
                    <a:srgbClr val="045A36"/>
                  </a:solidFill>
                  <a:latin typeface="Courier"/>
                  <a:ea typeface="Courier"/>
                  <a:cs typeface="Courier"/>
                  <a:sym typeface="Courier"/>
                </a:rPr>
                <a:t>os.path.isfile()</a:t>
              </a:r>
              <a:r>
                <a:rPr b="0" lang="en" sz="1203">
                  <a:solidFill>
                    <a:srgbClr val="1F2937"/>
                  </a:solidFill>
                  <a:latin typeface="Inter"/>
                  <a:ea typeface="Inter"/>
                  <a:cs typeface="Inter"/>
                  <a:sym typeface="Inter"/>
                </a:rPr>
                <a:t>.</a:t>
              </a:r>
              <a:endParaRPr b="0" sz="1203">
                <a:solidFill>
                  <a:srgbClr val="1F2937"/>
                </a:solidFill>
                <a:latin typeface="Inter"/>
                <a:ea typeface="Inter"/>
                <a:cs typeface="Inter"/>
                <a:sym typeface="Inter"/>
              </a:endParaRPr>
            </a:p>
          </p:txBody>
        </p:sp>
      </p:grpSp>
      <p:sp>
        <p:nvSpPr>
          <p:cNvPr id="368" name="Google Shape;368;p23"/>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4"/>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24"/>
          <p:cNvGrpSpPr/>
          <p:nvPr/>
        </p:nvGrpSpPr>
        <p:grpSpPr>
          <a:xfrm>
            <a:off x="762000" y="571500"/>
            <a:ext cx="10668000" cy="1095375"/>
            <a:chOff x="762000" y="571500"/>
            <a:chExt cx="10668000" cy="1095375"/>
          </a:xfrm>
        </p:grpSpPr>
        <p:sp>
          <p:nvSpPr>
            <p:cNvPr id="377" name="Google Shape;377;p24"/>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Utilizing os.mkdir() and os.makedirs()</a:t>
              </a:r>
              <a:endParaRPr b="0" sz="2700">
                <a:solidFill>
                  <a:srgbClr val="045A36"/>
                </a:solidFill>
                <a:latin typeface="Montserrat SemiBold"/>
                <a:ea typeface="Montserrat SemiBold"/>
                <a:cs typeface="Montserrat SemiBold"/>
                <a:sym typeface="Montserrat SemiBold"/>
              </a:endParaRPr>
            </a:p>
          </p:txBody>
        </p:sp>
        <p:sp>
          <p:nvSpPr>
            <p:cNvPr id="378" name="Google Shape;378;p24"/>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Establish single folders or construct entire multi-level nested directory trees cleanly.</a:t>
              </a:r>
              <a:endParaRPr b="0" sz="1600">
                <a:solidFill>
                  <a:srgbClr val="4B5563"/>
                </a:solidFill>
                <a:latin typeface="Inter SemiBold"/>
                <a:ea typeface="Inter SemiBold"/>
                <a:cs typeface="Inter SemiBold"/>
                <a:sym typeface="Inter SemiBold"/>
              </a:endParaRPr>
            </a:p>
          </p:txBody>
        </p:sp>
      </p:grpSp>
      <p:grpSp>
        <p:nvGrpSpPr>
          <p:cNvPr id="379" name="Google Shape;379;p24"/>
          <p:cNvGrpSpPr/>
          <p:nvPr/>
        </p:nvGrpSpPr>
        <p:grpSpPr>
          <a:xfrm>
            <a:off x="762000" y="1762125"/>
            <a:ext cx="5143500" cy="3000300"/>
            <a:chOff x="762000" y="1762125"/>
            <a:chExt cx="5143500" cy="3000300"/>
          </a:xfrm>
        </p:grpSpPr>
        <p:sp>
          <p:nvSpPr>
            <p:cNvPr id="380" name="Google Shape;380;p24"/>
            <p:cNvSpPr/>
            <p:nvPr/>
          </p:nvSpPr>
          <p:spPr>
            <a:xfrm>
              <a:off x="762000" y="1762125"/>
              <a:ext cx="5143500" cy="30003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4"/>
            <p:cNvSpPr/>
            <p:nvPr/>
          </p:nvSpPr>
          <p:spPr>
            <a:xfrm>
              <a:off x="762000" y="1762125"/>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4"/>
            <p:cNvSpPr txBox="1"/>
            <p:nvPr/>
          </p:nvSpPr>
          <p:spPr>
            <a:xfrm>
              <a:off x="1000125" y="1952625"/>
              <a:ext cx="4667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SINGLE-LEVEL CREATION</a:t>
              </a:r>
              <a:endParaRPr b="1" sz="1200">
                <a:solidFill>
                  <a:srgbClr val="D4A017"/>
                </a:solidFill>
                <a:latin typeface="Inter"/>
                <a:ea typeface="Inter"/>
                <a:cs typeface="Inter"/>
                <a:sym typeface="Inter"/>
              </a:endParaRPr>
            </a:p>
          </p:txBody>
        </p:sp>
        <p:sp>
          <p:nvSpPr>
            <p:cNvPr id="383" name="Google Shape;383;p24"/>
            <p:cNvSpPr/>
            <p:nvPr/>
          </p:nvSpPr>
          <p:spPr>
            <a:xfrm>
              <a:off x="1000125" y="2266950"/>
              <a:ext cx="4667400" cy="876300"/>
            </a:xfrm>
            <a:prstGeom prst="roundRect">
              <a:avLst>
                <a:gd fmla="val 6521"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4"/>
            <p:cNvSpPr txBox="1"/>
            <p:nvPr/>
          </p:nvSpPr>
          <p:spPr>
            <a:xfrm>
              <a:off x="1095375" y="2343150"/>
              <a:ext cx="4476900" cy="72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Create a single folder</a:t>
              </a:r>
              <a:endParaRPr b="0" i="1" sz="1100">
                <a:solidFill>
                  <a:srgbClr val="6B7280"/>
                </a:solidFill>
                <a:latin typeface="Courier"/>
                <a:ea typeface="Courier"/>
                <a:cs typeface="Courier"/>
                <a:sym typeface="Courier"/>
              </a:endParaRPr>
            </a:p>
            <a:p>
              <a:pPr indent="0" lvl="0" marL="0" rtl="0" algn="l">
                <a:spcBef>
                  <a:spcPts val="30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os</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0" lang="en" sz="1300">
                  <a:solidFill>
                    <a:srgbClr val="0B7A4B"/>
                  </a:solidFill>
                  <a:latin typeface="Courier"/>
                  <a:ea typeface="Courier"/>
                  <a:cs typeface="Courier"/>
                  <a:sym typeface="Courier"/>
                </a:rPr>
                <a:t>os.mkdir</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'new_folder'</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p:txBody>
        </p:sp>
        <p:sp>
          <p:nvSpPr>
            <p:cNvPr id="385" name="Google Shape;385;p24"/>
            <p:cNvSpPr txBox="1"/>
            <p:nvPr/>
          </p:nvSpPr>
          <p:spPr>
            <a:xfrm>
              <a:off x="1000125" y="3286125"/>
              <a:ext cx="4667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os.mkdir(path)</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Creates a single directory at the target location. Fails with a FileNotFoundError if any intermediate parent directories do not already exist.</a:t>
              </a:r>
              <a:endParaRPr b="0" sz="1400">
                <a:solidFill>
                  <a:srgbClr val="374151"/>
                </a:solidFill>
                <a:latin typeface="Inter"/>
                <a:ea typeface="Inter"/>
                <a:cs typeface="Inter"/>
                <a:sym typeface="Inter"/>
              </a:endParaRPr>
            </a:p>
          </p:txBody>
        </p:sp>
      </p:grpSp>
      <p:grpSp>
        <p:nvGrpSpPr>
          <p:cNvPr id="386" name="Google Shape;386;p24"/>
          <p:cNvGrpSpPr/>
          <p:nvPr/>
        </p:nvGrpSpPr>
        <p:grpSpPr>
          <a:xfrm>
            <a:off x="6286500" y="1762125"/>
            <a:ext cx="5143500" cy="3000300"/>
            <a:chOff x="6286500" y="1762125"/>
            <a:chExt cx="5143500" cy="3000300"/>
          </a:xfrm>
        </p:grpSpPr>
        <p:sp>
          <p:nvSpPr>
            <p:cNvPr id="387" name="Google Shape;387;p24"/>
            <p:cNvSpPr/>
            <p:nvPr/>
          </p:nvSpPr>
          <p:spPr>
            <a:xfrm>
              <a:off x="6286500" y="1762125"/>
              <a:ext cx="5143500" cy="30003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4"/>
            <p:cNvSpPr/>
            <p:nvPr/>
          </p:nvSpPr>
          <p:spPr>
            <a:xfrm>
              <a:off x="6286500" y="1762125"/>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4"/>
            <p:cNvSpPr txBox="1"/>
            <p:nvPr/>
          </p:nvSpPr>
          <p:spPr>
            <a:xfrm>
              <a:off x="6524625" y="1952625"/>
              <a:ext cx="46674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RECURSIVE MULTI-LEVEL STRUCTURES</a:t>
              </a:r>
              <a:endParaRPr b="1" sz="1200">
                <a:solidFill>
                  <a:srgbClr val="D4A017"/>
                </a:solidFill>
                <a:latin typeface="Inter"/>
                <a:ea typeface="Inter"/>
                <a:cs typeface="Inter"/>
                <a:sym typeface="Inter"/>
              </a:endParaRPr>
            </a:p>
          </p:txBody>
        </p:sp>
        <p:sp>
          <p:nvSpPr>
            <p:cNvPr id="390" name="Google Shape;390;p24"/>
            <p:cNvSpPr/>
            <p:nvPr/>
          </p:nvSpPr>
          <p:spPr>
            <a:xfrm>
              <a:off x="6524625" y="2266950"/>
              <a:ext cx="4667400" cy="876300"/>
            </a:xfrm>
            <a:prstGeom prst="roundRect">
              <a:avLst>
                <a:gd fmla="val 6521"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4"/>
            <p:cNvSpPr txBox="1"/>
            <p:nvPr/>
          </p:nvSpPr>
          <p:spPr>
            <a:xfrm>
              <a:off x="6619875" y="2343150"/>
              <a:ext cx="4476900" cy="72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935">
                  <a:solidFill>
                    <a:srgbClr val="6B7280"/>
                  </a:solidFill>
                  <a:latin typeface="Courier"/>
                  <a:ea typeface="Courier"/>
                  <a:cs typeface="Courier"/>
                  <a:sym typeface="Courier"/>
                </a:rPr>
                <a:t># Create nested folders recursively</a:t>
              </a:r>
              <a:endParaRPr b="0" i="1" sz="935">
                <a:solidFill>
                  <a:srgbClr val="6B7280"/>
                </a:solidFill>
                <a:latin typeface="Courier"/>
                <a:ea typeface="Courier"/>
                <a:cs typeface="Courier"/>
                <a:sym typeface="Courier"/>
              </a:endParaRPr>
            </a:p>
            <a:p>
              <a:pPr indent="0" lvl="0" marL="0" rtl="0" algn="l">
                <a:spcBef>
                  <a:spcPts val="300"/>
                </a:spcBef>
                <a:spcAft>
                  <a:spcPts val="0"/>
                </a:spcAft>
                <a:buNone/>
              </a:pPr>
              <a:r>
                <a:rPr b="1" lang="en" sz="1105">
                  <a:solidFill>
                    <a:srgbClr val="045A36"/>
                  </a:solidFill>
                  <a:latin typeface="Courier"/>
                  <a:ea typeface="Courier"/>
                  <a:cs typeface="Courier"/>
                  <a:sym typeface="Courier"/>
                </a:rPr>
                <a:t>import</a:t>
              </a:r>
              <a:r>
                <a:rPr b="0" lang="en" sz="1105">
                  <a:solidFill>
                    <a:srgbClr val="1F2937"/>
                  </a:solidFill>
                  <a:latin typeface="Courier"/>
                  <a:ea typeface="Courier"/>
                  <a:cs typeface="Courier"/>
                  <a:sym typeface="Courier"/>
                </a:rPr>
                <a:t> os</a:t>
              </a:r>
              <a:endParaRPr b="0" sz="1105">
                <a:solidFill>
                  <a:srgbClr val="1F2937"/>
                </a:solidFill>
                <a:latin typeface="Courier"/>
                <a:ea typeface="Courier"/>
                <a:cs typeface="Courier"/>
                <a:sym typeface="Courier"/>
              </a:endParaRPr>
            </a:p>
            <a:p>
              <a:pPr indent="0" lvl="0" marL="0" rtl="0" algn="l">
                <a:spcBef>
                  <a:spcPts val="300"/>
                </a:spcBef>
                <a:spcAft>
                  <a:spcPts val="0"/>
                </a:spcAft>
                <a:buNone/>
              </a:pPr>
              <a:r>
                <a:rPr b="0" lang="en" sz="1105">
                  <a:solidFill>
                    <a:srgbClr val="0B7A4B"/>
                  </a:solidFill>
                  <a:latin typeface="Courier"/>
                  <a:ea typeface="Courier"/>
                  <a:cs typeface="Courier"/>
                  <a:sym typeface="Courier"/>
                </a:rPr>
                <a:t>os.makedirs</a:t>
              </a:r>
              <a:r>
                <a:rPr b="0" lang="en" sz="1105">
                  <a:solidFill>
                    <a:srgbClr val="1F2937"/>
                  </a:solidFill>
                  <a:latin typeface="Courier"/>
                  <a:ea typeface="Courier"/>
                  <a:cs typeface="Courier"/>
                  <a:sym typeface="Courier"/>
                </a:rPr>
                <a:t>(</a:t>
              </a:r>
              <a:r>
                <a:rPr b="0" lang="en" sz="1105">
                  <a:solidFill>
                    <a:srgbClr val="B91C1C"/>
                  </a:solidFill>
                  <a:latin typeface="Courier"/>
                  <a:ea typeface="Courier"/>
                  <a:cs typeface="Courier"/>
                  <a:sym typeface="Courier"/>
                </a:rPr>
                <a:t>'project/data/raw_sensors'</a:t>
              </a:r>
              <a:r>
                <a:rPr b="0" lang="en" sz="1105">
                  <a:solidFill>
                    <a:srgbClr val="1F2937"/>
                  </a:solidFill>
                  <a:latin typeface="Courier"/>
                  <a:ea typeface="Courier"/>
                  <a:cs typeface="Courier"/>
                  <a:sym typeface="Courier"/>
                </a:rPr>
                <a:t>, exist_ok=</a:t>
              </a:r>
              <a:r>
                <a:rPr b="1" lang="en" sz="1105">
                  <a:solidFill>
                    <a:srgbClr val="045A36"/>
                  </a:solidFill>
                  <a:latin typeface="Courier"/>
                  <a:ea typeface="Courier"/>
                  <a:cs typeface="Courier"/>
                  <a:sym typeface="Courier"/>
                </a:rPr>
                <a:t>True</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p:txBody>
        </p:sp>
        <p:sp>
          <p:nvSpPr>
            <p:cNvPr id="392" name="Google Shape;392;p24"/>
            <p:cNvSpPr txBox="1"/>
            <p:nvPr/>
          </p:nvSpPr>
          <p:spPr>
            <a:xfrm>
              <a:off x="6524625" y="3286125"/>
              <a:ext cx="4667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os.makedirs(path)</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Creates the target folder along with all necessary intermediate directories recursively. Highly efficient for setting up entire project file systems at once.</a:t>
              </a:r>
              <a:endParaRPr b="0" sz="1400">
                <a:solidFill>
                  <a:srgbClr val="374151"/>
                </a:solidFill>
                <a:latin typeface="Inter"/>
                <a:ea typeface="Inter"/>
                <a:cs typeface="Inter"/>
                <a:sym typeface="Inter"/>
              </a:endParaRPr>
            </a:p>
          </p:txBody>
        </p:sp>
      </p:grpSp>
      <p:grpSp>
        <p:nvGrpSpPr>
          <p:cNvPr id="393" name="Google Shape;393;p24"/>
          <p:cNvGrpSpPr/>
          <p:nvPr/>
        </p:nvGrpSpPr>
        <p:grpSpPr>
          <a:xfrm>
            <a:off x="762000" y="4905375"/>
            <a:ext cx="10668000" cy="904800"/>
            <a:chOff x="762000" y="4905375"/>
            <a:chExt cx="10668000" cy="904800"/>
          </a:xfrm>
        </p:grpSpPr>
        <p:sp>
          <p:nvSpPr>
            <p:cNvPr id="394" name="Google Shape;394;p24"/>
            <p:cNvSpPr/>
            <p:nvPr/>
          </p:nvSpPr>
          <p:spPr>
            <a:xfrm>
              <a:off x="762000" y="4905375"/>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4"/>
            <p:cNvSpPr/>
            <p:nvPr/>
          </p:nvSpPr>
          <p:spPr>
            <a:xfrm>
              <a:off x="762000" y="4905375"/>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4"/>
            <p:cNvSpPr txBox="1"/>
            <p:nvPr/>
          </p:nvSpPr>
          <p:spPr>
            <a:xfrm>
              <a:off x="1000125" y="500062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SAFE DEPLOYMENT NOTE: STABLE SYSTEM AUTOMATION</a:t>
              </a:r>
              <a:endParaRPr b="1" sz="1200">
                <a:solidFill>
                  <a:srgbClr val="045A36"/>
                </a:solidFill>
                <a:latin typeface="Inter"/>
                <a:ea typeface="Inter"/>
                <a:cs typeface="Inter"/>
                <a:sym typeface="Inter"/>
              </a:endParaRPr>
            </a:p>
          </p:txBody>
        </p:sp>
        <p:sp>
          <p:nvSpPr>
            <p:cNvPr id="397" name="Google Shape;397;p24"/>
            <p:cNvSpPr txBox="1"/>
            <p:nvPr/>
          </p:nvSpPr>
          <p:spPr>
            <a:xfrm>
              <a:off x="1000125" y="5257800"/>
              <a:ext cx="101919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374151"/>
                  </a:solidFill>
                  <a:latin typeface="Inter Medium"/>
                  <a:ea typeface="Inter Medium"/>
                  <a:cs typeface="Inter Medium"/>
                  <a:sym typeface="Inter Medium"/>
                </a:rPr>
                <a:t>Using the parameter </a:t>
              </a:r>
              <a:r>
                <a:rPr b="1" lang="en" sz="1350">
                  <a:solidFill>
                    <a:srgbClr val="045A36"/>
                  </a:solidFill>
                  <a:latin typeface="Courier"/>
                  <a:ea typeface="Courier"/>
                  <a:cs typeface="Courier"/>
                  <a:sym typeface="Courier"/>
                </a:rPr>
                <a:t>exist_ok=True</a:t>
              </a:r>
              <a:r>
                <a:rPr b="0" lang="en" sz="1350">
                  <a:solidFill>
                    <a:srgbClr val="374151"/>
                  </a:solidFill>
                  <a:latin typeface="Inter Medium"/>
                  <a:ea typeface="Inter Medium"/>
                  <a:cs typeface="Inter Medium"/>
                  <a:sym typeface="Inter Medium"/>
                </a:rPr>
                <a:t> prevents Python from raising a </a:t>
              </a:r>
              <a:r>
                <a:rPr b="1" lang="en" sz="1350">
                  <a:solidFill>
                    <a:srgbClr val="B91C1C"/>
                  </a:solidFill>
                  <a:latin typeface="Courier"/>
                  <a:ea typeface="Courier"/>
                  <a:cs typeface="Courier"/>
                  <a:sym typeface="Courier"/>
                </a:rPr>
                <a:t>FileExistsError</a:t>
              </a:r>
              <a:r>
                <a:rPr b="0" lang="en" sz="1350">
                  <a:solidFill>
                    <a:srgbClr val="374151"/>
                  </a:solidFill>
                  <a:latin typeface="Inter Medium"/>
                  <a:ea typeface="Inter Medium"/>
                  <a:cs typeface="Inter Medium"/>
                  <a:sym typeface="Inter Medium"/>
                </a:rPr>
                <a:t> if the target folders already exist. Expected Output: </a:t>
              </a:r>
              <a:r>
                <a:rPr b="1" lang="en" sz="1350">
                  <a:solidFill>
                    <a:srgbClr val="045A36"/>
                  </a:solidFill>
                  <a:latin typeface="Courier"/>
                  <a:ea typeface="Courier"/>
                  <a:cs typeface="Courier"/>
                  <a:sym typeface="Courier"/>
                </a:rPr>
                <a:t>Directories created.</a:t>
              </a:r>
              <a:r>
                <a:rPr b="0" lang="en" sz="1350">
                  <a:solidFill>
                    <a:srgbClr val="374151"/>
                  </a:solidFill>
                  <a:latin typeface="Inter Medium"/>
                  <a:ea typeface="Inter Medium"/>
                  <a:cs typeface="Inter Medium"/>
                  <a:sym typeface="Inter Medium"/>
                </a:rPr>
                <a:t> (Folders appear in file system)</a:t>
              </a:r>
              <a:endParaRPr b="0" sz="1350">
                <a:solidFill>
                  <a:srgbClr val="374151"/>
                </a:solidFill>
                <a:latin typeface="Inter Medium"/>
                <a:ea typeface="Inter Medium"/>
                <a:cs typeface="Inter Medium"/>
                <a:sym typeface="Inter Medium"/>
              </a:endParaRPr>
            </a:p>
          </p:txBody>
        </p:sp>
      </p:grpSp>
      <p:sp>
        <p:nvSpPr>
          <p:cNvPr id="398" name="Google Shape;398;p24"/>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6" name="Google Shape;406;p25"/>
          <p:cNvGrpSpPr/>
          <p:nvPr/>
        </p:nvGrpSpPr>
        <p:grpSpPr>
          <a:xfrm>
            <a:off x="762000" y="571500"/>
            <a:ext cx="10668000" cy="1095375"/>
            <a:chOff x="762000" y="571500"/>
            <a:chExt cx="10668000" cy="1095375"/>
          </a:xfrm>
        </p:grpSpPr>
        <p:sp>
          <p:nvSpPr>
            <p:cNvPr id="407" name="Google Shape;407;p2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Using os.rmdir() and os.removedirs()</a:t>
              </a:r>
              <a:endParaRPr b="0" sz="2700">
                <a:solidFill>
                  <a:srgbClr val="045A36"/>
                </a:solidFill>
                <a:latin typeface="Montserrat SemiBold"/>
                <a:ea typeface="Montserrat SemiBold"/>
                <a:cs typeface="Montserrat SemiBold"/>
                <a:sym typeface="Montserrat SemiBold"/>
              </a:endParaRPr>
            </a:p>
          </p:txBody>
        </p:sp>
        <p:sp>
          <p:nvSpPr>
            <p:cNvPr id="408" name="Google Shape;408;p25"/>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Safely manage and remove empty folders within your python automated workflows.</a:t>
              </a:r>
              <a:endParaRPr b="0" sz="1600">
                <a:solidFill>
                  <a:srgbClr val="4B5563"/>
                </a:solidFill>
                <a:latin typeface="Inter SemiBold"/>
                <a:ea typeface="Inter SemiBold"/>
                <a:cs typeface="Inter SemiBold"/>
                <a:sym typeface="Inter SemiBold"/>
              </a:endParaRPr>
            </a:p>
          </p:txBody>
        </p:sp>
      </p:grpSp>
      <p:grpSp>
        <p:nvGrpSpPr>
          <p:cNvPr id="409" name="Google Shape;409;p25"/>
          <p:cNvGrpSpPr/>
          <p:nvPr/>
        </p:nvGrpSpPr>
        <p:grpSpPr>
          <a:xfrm>
            <a:off x="762000" y="1714500"/>
            <a:ext cx="5143500" cy="3048000"/>
            <a:chOff x="0" y="0"/>
            <a:chExt cx="5143500" cy="3048000"/>
          </a:xfrm>
        </p:grpSpPr>
        <p:sp>
          <p:nvSpPr>
            <p:cNvPr id="410" name="Google Shape;410;p25"/>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5"/>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5"/>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Implementation</a:t>
              </a:r>
              <a:endParaRPr b="1" sz="1200">
                <a:solidFill>
                  <a:srgbClr val="D4A017"/>
                </a:solidFill>
                <a:latin typeface="Inter"/>
                <a:ea typeface="Inter"/>
                <a:cs typeface="Inter"/>
                <a:sym typeface="Inter"/>
              </a:endParaRPr>
            </a:p>
          </p:txBody>
        </p:sp>
        <p:sp>
          <p:nvSpPr>
            <p:cNvPr id="413" name="Google Shape;413;p25"/>
            <p:cNvSpPr txBox="1"/>
            <p:nvPr/>
          </p:nvSpPr>
          <p:spPr>
            <a:xfrm>
              <a:off x="238125" y="666750"/>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Required import</a:t>
              </a:r>
              <a:endParaRPr b="0" i="1" sz="1100">
                <a:solidFill>
                  <a:srgbClr val="6B7280"/>
                </a:solidFill>
                <a:latin typeface="Courier"/>
                <a:ea typeface="Courier"/>
                <a:cs typeface="Courier"/>
                <a:sym typeface="Courier"/>
              </a:endParaRPr>
            </a:p>
            <a:p>
              <a:pPr indent="0" lvl="0" marL="0" rtl="0" algn="l">
                <a:spcBef>
                  <a:spcPts val="45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a:t>
              </a:r>
              <a:r>
                <a:rPr b="0" lang="en" sz="1300">
                  <a:solidFill>
                    <a:srgbClr val="0B7A4B"/>
                  </a:solidFill>
                  <a:latin typeface="Courier"/>
                  <a:ea typeface="Courier"/>
                  <a:cs typeface="Courier"/>
                  <a:sym typeface="Courier"/>
                </a:rPr>
                <a:t>os</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i="1" lang="en" sz="1100">
                  <a:solidFill>
                    <a:srgbClr val="6B7280"/>
                  </a:solidFill>
                  <a:latin typeface="Courier"/>
                  <a:ea typeface="Courier"/>
                  <a:cs typeface="Courier"/>
                  <a:sym typeface="Courier"/>
                </a:rPr>
                <a:t># Remove a single empty folder</a:t>
              </a:r>
              <a:endParaRPr b="0" i="1" sz="1100">
                <a:solidFill>
                  <a:srgbClr val="6B7280"/>
                </a:solidFill>
                <a:latin typeface="Courier"/>
                <a:ea typeface="Courier"/>
                <a:cs typeface="Courier"/>
                <a:sym typeface="Courier"/>
              </a:endParaRPr>
            </a:p>
            <a:p>
              <a:pPr indent="0" lvl="0" marL="0" rtl="0" algn="l">
                <a:spcBef>
                  <a:spcPts val="450"/>
                </a:spcBef>
                <a:spcAft>
                  <a:spcPts val="0"/>
                </a:spcAft>
                <a:buNone/>
              </a:pPr>
              <a:r>
                <a:rPr b="0" lang="en" sz="1300">
                  <a:solidFill>
                    <a:srgbClr val="0B7A4B"/>
                  </a:solidFill>
                  <a:latin typeface="Courier"/>
                  <a:ea typeface="Courier"/>
                  <a:cs typeface="Courier"/>
                  <a:sym typeface="Courier"/>
                </a:rPr>
                <a:t>os.rmdir</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'empty_folder'</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i="1" lang="en" sz="1100">
                  <a:solidFill>
                    <a:srgbClr val="6B7280"/>
                  </a:solidFill>
                  <a:latin typeface="Courier"/>
                  <a:ea typeface="Courier"/>
                  <a:cs typeface="Courier"/>
                  <a:sym typeface="Courier"/>
                </a:rPr>
                <a:t># Remove nested empty folders recursively</a:t>
              </a:r>
              <a:endParaRPr b="0" i="1" sz="1100">
                <a:solidFill>
                  <a:srgbClr val="6B7280"/>
                </a:solidFill>
                <a:latin typeface="Courier"/>
                <a:ea typeface="Courier"/>
                <a:cs typeface="Courier"/>
                <a:sym typeface="Courier"/>
              </a:endParaRPr>
            </a:p>
            <a:p>
              <a:pPr indent="0" lvl="0" marL="0" rtl="0" algn="l">
                <a:spcBef>
                  <a:spcPts val="450"/>
                </a:spcBef>
                <a:spcAft>
                  <a:spcPts val="0"/>
                </a:spcAft>
                <a:buNone/>
              </a:pPr>
              <a:r>
                <a:rPr b="0" lang="en" sz="1300">
                  <a:solidFill>
                    <a:srgbClr val="0B7A4B"/>
                  </a:solidFill>
                  <a:latin typeface="Courier"/>
                  <a:ea typeface="Courier"/>
                  <a:cs typeface="Courier"/>
                  <a:sym typeface="Courier"/>
                </a:rPr>
                <a:t>os.removedirs</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'project/data/raw_sensors'</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"Directories removed."</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450"/>
                </a:spcBef>
                <a:spcAft>
                  <a:spcPts val="450"/>
                </a:spcAft>
                <a:buNone/>
              </a:pPr>
              <a:r>
                <a:rPr b="0" i="1" lang="en" sz="1100">
                  <a:solidFill>
                    <a:srgbClr val="6B7280"/>
                  </a:solidFill>
                  <a:latin typeface="Courier"/>
                  <a:ea typeface="Courier"/>
                  <a:cs typeface="Courier"/>
                  <a:sym typeface="Courier"/>
                </a:rPr>
                <a:t># Expected Output: Directories removed.</a:t>
              </a:r>
              <a:endParaRPr b="0" i="1" sz="1100">
                <a:solidFill>
                  <a:srgbClr val="6B7280"/>
                </a:solidFill>
                <a:latin typeface="Courier"/>
                <a:ea typeface="Courier"/>
                <a:cs typeface="Courier"/>
                <a:sym typeface="Courier"/>
              </a:endParaRPr>
            </a:p>
          </p:txBody>
        </p:sp>
      </p:grpSp>
      <p:grpSp>
        <p:nvGrpSpPr>
          <p:cNvPr id="414" name="Google Shape;414;p25"/>
          <p:cNvGrpSpPr/>
          <p:nvPr/>
        </p:nvGrpSpPr>
        <p:grpSpPr>
          <a:xfrm>
            <a:off x="6286500" y="1714500"/>
            <a:ext cx="5143500" cy="3048000"/>
            <a:chOff x="0" y="0"/>
            <a:chExt cx="5143500" cy="3048000"/>
          </a:xfrm>
        </p:grpSpPr>
        <p:sp>
          <p:nvSpPr>
            <p:cNvPr id="415" name="Google Shape;415;p25"/>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6" name="Google Shape;416;p25"/>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25"/>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Directory Deletion Logic</a:t>
              </a:r>
              <a:endParaRPr b="1" sz="1200">
                <a:solidFill>
                  <a:srgbClr val="045A36"/>
                </a:solidFill>
                <a:latin typeface="Inter"/>
                <a:ea typeface="Inter"/>
                <a:cs typeface="Inter"/>
                <a:sym typeface="Inter"/>
              </a:endParaRPr>
            </a:p>
          </p:txBody>
        </p:sp>
        <p:sp>
          <p:nvSpPr>
            <p:cNvPr id="418" name="Google Shape;418;p25"/>
            <p:cNvSpPr txBox="1"/>
            <p:nvPr/>
          </p:nvSpPr>
          <p:spPr>
            <a:xfrm>
              <a:off x="238125" y="666750"/>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os.rmdir(path)</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Removes a single leaf directory. The directory must be completely empty, otherwise Python raises an OSError.</a:t>
              </a:r>
              <a:endParaRPr b="0" sz="1400">
                <a:solidFill>
                  <a:srgbClr val="374151"/>
                </a:solidFill>
                <a:latin typeface="Inter"/>
                <a:ea typeface="Inter"/>
                <a:cs typeface="Inter"/>
                <a:sym typeface="Inter"/>
              </a:endParaRPr>
            </a:p>
            <a:p>
              <a:pPr indent="0" lvl="0" marL="0" rtl="0" algn="l">
                <a:spcBef>
                  <a:spcPts val="900"/>
                </a:spcBef>
                <a:spcAft>
                  <a:spcPts val="0"/>
                </a:spcAft>
                <a:buNone/>
              </a:pPr>
              <a:r>
                <a:rPr b="0" lang="en" sz="1500">
                  <a:solidFill>
                    <a:srgbClr val="1F2937"/>
                  </a:solidFill>
                  <a:latin typeface="Inter SemiBold"/>
                  <a:ea typeface="Inter SemiBold"/>
                  <a:cs typeface="Inter SemiBold"/>
                  <a:sym typeface="Inter SemiBold"/>
                </a:rPr>
                <a:t>os.removedirs(path)</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Removes directories recursively. It deletes the leaf folder, then travels up the path structure, deleting empty parents and stopping immediately when a parent is not empty.</a:t>
              </a:r>
              <a:endParaRPr b="0" sz="1400">
                <a:solidFill>
                  <a:srgbClr val="374151"/>
                </a:solidFill>
                <a:latin typeface="Inter"/>
                <a:ea typeface="Inter"/>
                <a:cs typeface="Inter"/>
                <a:sym typeface="Inter"/>
              </a:endParaRPr>
            </a:p>
          </p:txBody>
        </p:sp>
      </p:grpSp>
      <p:grpSp>
        <p:nvGrpSpPr>
          <p:cNvPr id="419" name="Google Shape;419;p25"/>
          <p:cNvGrpSpPr/>
          <p:nvPr/>
        </p:nvGrpSpPr>
        <p:grpSpPr>
          <a:xfrm>
            <a:off x="762000" y="4953000"/>
            <a:ext cx="10668000" cy="933600"/>
            <a:chOff x="0" y="0"/>
            <a:chExt cx="10668000" cy="933600"/>
          </a:xfrm>
        </p:grpSpPr>
        <p:sp>
          <p:nvSpPr>
            <p:cNvPr id="420" name="Google Shape;420;p25"/>
            <p:cNvSpPr/>
            <p:nvPr/>
          </p:nvSpPr>
          <p:spPr>
            <a:xfrm>
              <a:off x="0" y="0"/>
              <a:ext cx="10668000" cy="933600"/>
            </a:xfrm>
            <a:prstGeom prst="roundRect">
              <a:avLst>
                <a:gd fmla="val 8163" name="adj"/>
              </a:avLst>
            </a:prstGeom>
            <a:solidFill>
              <a:srgbClr val="FEE2E2"/>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5"/>
            <p:cNvSpPr/>
            <p:nvPr/>
          </p:nvSpPr>
          <p:spPr>
            <a:xfrm>
              <a:off x="0" y="0"/>
              <a:ext cx="57300" cy="933600"/>
            </a:xfrm>
            <a:prstGeom prst="roundRect">
              <a:avLst>
                <a:gd fmla="val 50000" name="adj"/>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5"/>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B91C1C"/>
                  </a:solidFill>
                  <a:latin typeface="Inter"/>
                  <a:ea typeface="Inter"/>
                  <a:cs typeface="Inter"/>
                  <a:sym typeface="Inter"/>
                </a:rPr>
                <a:t>CRITICAL WARNING: DIRECTORY NOT EMPTY &amp; SYSTEM LOCKS</a:t>
              </a:r>
              <a:endParaRPr b="1" sz="1200">
                <a:solidFill>
                  <a:srgbClr val="B91C1C"/>
                </a:solidFill>
                <a:latin typeface="Inter"/>
                <a:ea typeface="Inter"/>
                <a:cs typeface="Inter"/>
                <a:sym typeface="Inter"/>
              </a:endParaRPr>
            </a:p>
          </p:txBody>
        </p:sp>
        <p:sp>
          <p:nvSpPr>
            <p:cNvPr id="423" name="Google Shape;423;p25"/>
            <p:cNvSpPr txBox="1"/>
            <p:nvPr/>
          </p:nvSpPr>
          <p:spPr>
            <a:xfrm>
              <a:off x="238125" y="428625"/>
              <a:ext cx="10191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9">
                  <a:solidFill>
                    <a:srgbClr val="7F1D1D"/>
                  </a:solidFill>
                  <a:latin typeface="Inter"/>
                  <a:ea typeface="Inter"/>
                  <a:cs typeface="Inter"/>
                  <a:sym typeface="Inter"/>
                </a:rPr>
                <a:t>Both functions work exclusively on empty directories to prevent accidental data loss. Attempting to delete folders with contents raises an OSError (Directory not empty). Ensure no active programs or operating system windows hold locks on these target paths.</a:t>
              </a:r>
              <a:endParaRPr b="0" sz="1249">
                <a:solidFill>
                  <a:srgbClr val="7F1D1D"/>
                </a:solidFill>
                <a:latin typeface="Inter"/>
                <a:ea typeface="Inter"/>
                <a:cs typeface="Inter"/>
                <a:sym typeface="Inter"/>
              </a:endParaRPr>
            </a:p>
          </p:txBody>
        </p:sp>
      </p:grpSp>
      <p:sp>
        <p:nvSpPr>
          <p:cNvPr id="424" name="Google Shape;424;p25"/>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6"/>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32" name="Google Shape;432;p26"/>
          <p:cNvGrpSpPr/>
          <p:nvPr/>
        </p:nvGrpSpPr>
        <p:grpSpPr>
          <a:xfrm>
            <a:off x="762000" y="571500"/>
            <a:ext cx="10668000" cy="1095375"/>
            <a:chOff x="762000" y="571500"/>
            <a:chExt cx="10668000" cy="1095375"/>
          </a:xfrm>
        </p:grpSpPr>
        <p:sp>
          <p:nvSpPr>
            <p:cNvPr id="433" name="Google Shape;433;p2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Renaming Targets with os.rename()</a:t>
              </a:r>
              <a:endParaRPr b="0" sz="2700">
                <a:solidFill>
                  <a:srgbClr val="045A36"/>
                </a:solidFill>
                <a:latin typeface="Montserrat SemiBold"/>
                <a:ea typeface="Montserrat SemiBold"/>
                <a:cs typeface="Montserrat SemiBold"/>
                <a:sym typeface="Montserrat SemiBold"/>
              </a:endParaRPr>
            </a:p>
          </p:txBody>
        </p:sp>
        <p:sp>
          <p:nvSpPr>
            <p:cNvPr id="434" name="Google Shape;434;p26"/>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os.rename(src, dst) function renames the file or directory 'src' to 'dst' persistently.</a:t>
              </a:r>
              <a:endParaRPr b="0" sz="1600">
                <a:solidFill>
                  <a:srgbClr val="4B5563"/>
                </a:solidFill>
                <a:latin typeface="Inter SemiBold"/>
                <a:ea typeface="Inter SemiBold"/>
                <a:cs typeface="Inter SemiBold"/>
                <a:sym typeface="Inter SemiBold"/>
              </a:endParaRPr>
            </a:p>
          </p:txBody>
        </p:sp>
      </p:grpSp>
      <p:grpSp>
        <p:nvGrpSpPr>
          <p:cNvPr id="435" name="Google Shape;435;p26"/>
          <p:cNvGrpSpPr/>
          <p:nvPr/>
        </p:nvGrpSpPr>
        <p:grpSpPr>
          <a:xfrm>
            <a:off x="762000" y="1714500"/>
            <a:ext cx="5143500" cy="3048000"/>
            <a:chOff x="0" y="0"/>
            <a:chExt cx="5143500" cy="3048000"/>
          </a:xfrm>
        </p:grpSpPr>
        <p:sp>
          <p:nvSpPr>
            <p:cNvPr id="436" name="Google Shape;436;p26"/>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26"/>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6"/>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CODE IMPLEMENTATION</a:t>
              </a:r>
              <a:endParaRPr b="1" sz="1200">
                <a:solidFill>
                  <a:srgbClr val="D4A017"/>
                </a:solidFill>
                <a:latin typeface="Inter"/>
                <a:ea typeface="Inter"/>
                <a:cs typeface="Inter"/>
                <a:sym typeface="Inter"/>
              </a:endParaRPr>
            </a:p>
          </p:txBody>
        </p:sp>
        <p:sp>
          <p:nvSpPr>
            <p:cNvPr id="439" name="Google Shape;439;p26"/>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Syntax: os.rename('old_name.txt', 'new_name.txt')</a:t>
              </a:r>
              <a:endParaRPr b="0" i="1" sz="1100">
                <a:solidFill>
                  <a:srgbClr val="6B7280"/>
                </a:solidFill>
                <a:latin typeface="Courier"/>
                <a:ea typeface="Courier"/>
                <a:cs typeface="Courier"/>
                <a:sym typeface="Courier"/>
              </a:endParaRPr>
            </a:p>
            <a:p>
              <a:pPr indent="0" lvl="0" marL="0" rtl="0" algn="l">
                <a:spcBef>
                  <a:spcPts val="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a:t>
              </a:r>
              <a:r>
                <a:rPr b="0" lang="en" sz="1300">
                  <a:solidFill>
                    <a:srgbClr val="0B7A4B"/>
                  </a:solidFill>
                  <a:latin typeface="Courier"/>
                  <a:ea typeface="Courier"/>
                  <a:cs typeface="Courier"/>
                  <a:sym typeface="Courier"/>
                </a:rPr>
                <a:t>os</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0" lang="en" sz="1300">
                  <a:solidFill>
                    <a:srgbClr val="1F2937"/>
                  </a:solidFill>
                  <a:latin typeface="Courier"/>
                  <a:ea typeface="Courier"/>
                  <a:cs typeface="Courier"/>
                  <a:sym typeface="Courier"/>
                </a:rPr>
                <a:t>old_name = </a:t>
              </a:r>
              <a:r>
                <a:rPr b="0" lang="en" sz="1300">
                  <a:solidFill>
                    <a:srgbClr val="B91C1C"/>
                  </a:solidFill>
                  <a:latin typeface="Courier"/>
                  <a:ea typeface="Courier"/>
                  <a:cs typeface="Courier"/>
                  <a:sym typeface="Courier"/>
                </a:rPr>
                <a:t>'temp_log.txt'</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0" lang="en" sz="1300">
                  <a:solidFill>
                    <a:srgbClr val="1F2937"/>
                  </a:solidFill>
                  <a:latin typeface="Courier"/>
                  <a:ea typeface="Courier"/>
                  <a:cs typeface="Courier"/>
                  <a:sym typeface="Courier"/>
                </a:rPr>
                <a:t>new_name = </a:t>
              </a:r>
              <a:r>
                <a:rPr b="0" lang="en" sz="1300">
                  <a:solidFill>
                    <a:srgbClr val="B91C1C"/>
                  </a:solidFill>
                  <a:latin typeface="Courier"/>
                  <a:ea typeface="Courier"/>
                  <a:cs typeface="Courier"/>
                  <a:sym typeface="Courier"/>
                </a:rPr>
                <a:t>'final_log_run1.txt'</a:t>
              </a:r>
              <a:endParaRPr b="0" sz="1300">
                <a:solidFill>
                  <a:srgbClr val="1F2937"/>
                </a:solidFill>
                <a:latin typeface="Courier"/>
                <a:ea typeface="Courier"/>
                <a:cs typeface="Courier"/>
                <a:sym typeface="Courier"/>
              </a:endParaRPr>
            </a:p>
            <a:p>
              <a:pPr indent="0" lvl="0" marL="0" rtl="0" algn="l">
                <a:spcBef>
                  <a:spcPts val="750"/>
                </a:spcBef>
                <a:spcAft>
                  <a:spcPts val="0"/>
                </a:spcAft>
                <a:buNone/>
              </a:pPr>
              <a:r>
                <a:rPr b="1" lang="en" sz="1300">
                  <a:solidFill>
                    <a:srgbClr val="045A36"/>
                  </a:solidFill>
                  <a:latin typeface="Courier"/>
                  <a:ea typeface="Courier"/>
                  <a:cs typeface="Courier"/>
                  <a:sym typeface="Courier"/>
                </a:rPr>
                <a:t>if</a:t>
              </a:r>
              <a:r>
                <a:rPr b="0" lang="en" sz="1300">
                  <a:solidFill>
                    <a:srgbClr val="1F2937"/>
                  </a:solidFill>
                  <a:latin typeface="Courier"/>
                  <a:ea typeface="Courier"/>
                  <a:cs typeface="Courier"/>
                  <a:sym typeface="Courier"/>
                </a:rPr>
                <a:t> </a:t>
              </a:r>
              <a:r>
                <a:rPr b="0" lang="en" sz="1300">
                  <a:solidFill>
                    <a:srgbClr val="0B7A4B"/>
                  </a:solidFill>
                  <a:latin typeface="Courier"/>
                  <a:ea typeface="Courier"/>
                  <a:cs typeface="Courier"/>
                  <a:sym typeface="Courier"/>
                </a:rPr>
                <a:t>os.path.exists</a:t>
              </a:r>
              <a:r>
                <a:rPr b="0" lang="en" sz="1300">
                  <a:solidFill>
                    <a:srgbClr val="1F2937"/>
                  </a:solidFill>
                  <a:latin typeface="Courier"/>
                  <a:ea typeface="Courier"/>
                  <a:cs typeface="Courier"/>
                  <a:sym typeface="Courier"/>
                </a:rPr>
                <a:t>(old_name):</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0" lang="en" sz="1300">
                  <a:solidFill>
                    <a:srgbClr val="0B7A4B"/>
                  </a:solidFill>
                  <a:latin typeface="Courier"/>
                  <a:ea typeface="Courier"/>
                  <a:cs typeface="Courier"/>
                  <a:sym typeface="Courier"/>
                </a:rPr>
                <a:t>os.rename</a:t>
              </a:r>
              <a:r>
                <a:rPr b="0" lang="en" sz="1300">
                  <a:solidFill>
                    <a:srgbClr val="1F2937"/>
                  </a:solidFill>
                  <a:latin typeface="Courier"/>
                  <a:ea typeface="Courier"/>
                  <a:cs typeface="Courier"/>
                  <a:sym typeface="Courier"/>
                </a:rPr>
                <a:t>(old_name, new_name)</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f"Renamed {old_name} to {new_name}"</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p:txBody>
        </p:sp>
      </p:grpSp>
      <p:grpSp>
        <p:nvGrpSpPr>
          <p:cNvPr id="440" name="Google Shape;440;p26"/>
          <p:cNvGrpSpPr/>
          <p:nvPr/>
        </p:nvGrpSpPr>
        <p:grpSpPr>
          <a:xfrm>
            <a:off x="6286500" y="1714500"/>
            <a:ext cx="5143500" cy="3048000"/>
            <a:chOff x="0" y="0"/>
            <a:chExt cx="5143500" cy="3048000"/>
          </a:xfrm>
        </p:grpSpPr>
        <p:sp>
          <p:nvSpPr>
            <p:cNvPr id="441" name="Google Shape;441;p26"/>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6"/>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26"/>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DESCRIPTIVE BEHAVIOR MAPPING</a:t>
              </a:r>
              <a:endParaRPr b="1" sz="1200">
                <a:solidFill>
                  <a:srgbClr val="045A36"/>
                </a:solidFill>
                <a:latin typeface="Inter"/>
                <a:ea typeface="Inter"/>
                <a:cs typeface="Inter"/>
                <a:sym typeface="Inter"/>
              </a:endParaRPr>
            </a:p>
          </p:txBody>
        </p:sp>
        <p:sp>
          <p:nvSpPr>
            <p:cNvPr id="444" name="Google Shape;444;p26"/>
            <p:cNvSpPr txBox="1"/>
            <p:nvPr/>
          </p:nvSpPr>
          <p:spPr>
            <a:xfrm>
              <a:off x="238125" y="714375"/>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1F2937"/>
                  </a:solidFill>
                  <a:latin typeface="Inter SemiBold"/>
                  <a:ea typeface="Inter SemiBold"/>
                  <a:cs typeface="Inter SemiBold"/>
                  <a:sym typeface="Inter SemiBold"/>
                </a:rPr>
                <a:t>Expected Console Output</a:t>
              </a:r>
              <a:endParaRPr b="0" sz="125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00">
                  <a:solidFill>
                    <a:srgbClr val="1F2937"/>
                  </a:solidFill>
                  <a:highlight>
                    <a:srgbClr val="F1F5F9"/>
                  </a:highlight>
                  <a:latin typeface="Courier"/>
                  <a:ea typeface="Courier"/>
                  <a:cs typeface="Courier"/>
                  <a:sym typeface="Courier"/>
                </a:rPr>
                <a:t>Renamed temp_log.txt to final_log_run1.txt</a:t>
              </a:r>
              <a:endParaRPr b="0" sz="1100">
                <a:solidFill>
                  <a:srgbClr val="1F2937"/>
                </a:solidFill>
                <a:highlight>
                  <a:srgbClr val="F1F5F9"/>
                </a:highlight>
                <a:latin typeface="Courier"/>
                <a:ea typeface="Courier"/>
                <a:cs typeface="Courier"/>
                <a:sym typeface="Courier"/>
              </a:endParaRPr>
            </a:p>
            <a:p>
              <a:pPr indent="0" lvl="0" marL="0" rtl="0" algn="l">
                <a:spcBef>
                  <a:spcPts val="0"/>
                </a:spcBef>
                <a:spcAft>
                  <a:spcPts val="0"/>
                </a:spcAft>
                <a:buNone/>
              </a:pPr>
              <a:r>
                <a:rPr b="0" lang="en" sz="1250">
                  <a:solidFill>
                    <a:srgbClr val="1F2937"/>
                  </a:solidFill>
                  <a:latin typeface="Inter SemiBold"/>
                  <a:ea typeface="Inter SemiBold"/>
                  <a:cs typeface="Inter SemiBold"/>
                  <a:sym typeface="Inter SemiBold"/>
                </a:rPr>
                <a:t>Safe Practice Execution</a:t>
              </a:r>
              <a:endParaRPr b="0" sz="125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150">
                  <a:solidFill>
                    <a:srgbClr val="374151"/>
                  </a:solidFill>
                  <a:latin typeface="Inter"/>
                  <a:ea typeface="Inter"/>
                  <a:cs typeface="Inter"/>
                  <a:sym typeface="Inter"/>
                </a:rPr>
                <a:t>We verify if the source target exists before renaming. This preventive constraint guards against potential </a:t>
              </a:r>
              <a:r>
                <a:rPr b="1" lang="en" sz="1150">
                  <a:solidFill>
                    <a:srgbClr val="B91C1C"/>
                  </a:solidFill>
                  <a:latin typeface="Courier"/>
                  <a:ea typeface="Courier"/>
                  <a:cs typeface="Courier"/>
                  <a:sym typeface="Courier"/>
                </a:rPr>
                <a:t>FileNotFoundError</a:t>
              </a:r>
              <a:r>
                <a:rPr b="0" lang="en" sz="1150">
                  <a:solidFill>
                    <a:srgbClr val="374151"/>
                  </a:solidFill>
                  <a:latin typeface="Inter"/>
                  <a:ea typeface="Inter"/>
                  <a:cs typeface="Inter"/>
                  <a:sym typeface="Inter"/>
                </a:rPr>
                <a:t> exceptions during runtime automation.</a:t>
              </a:r>
              <a:endParaRPr b="0" sz="1150">
                <a:solidFill>
                  <a:srgbClr val="374151"/>
                </a:solidFill>
                <a:latin typeface="Inter"/>
                <a:ea typeface="Inter"/>
                <a:cs typeface="Inter"/>
                <a:sym typeface="Inter"/>
              </a:endParaRPr>
            </a:p>
            <a:p>
              <a:pPr indent="0" lvl="0" marL="0" rtl="0" algn="l">
                <a:spcBef>
                  <a:spcPts val="0"/>
                </a:spcBef>
                <a:spcAft>
                  <a:spcPts val="0"/>
                </a:spcAft>
                <a:buNone/>
              </a:pPr>
              <a:r>
                <a:rPr b="0" lang="en" sz="1250">
                  <a:solidFill>
                    <a:srgbClr val="1F2937"/>
                  </a:solidFill>
                  <a:latin typeface="Inter SemiBold"/>
                  <a:ea typeface="Inter SemiBold"/>
                  <a:cs typeface="Inter SemiBold"/>
                  <a:sym typeface="Inter SemiBold"/>
                </a:rPr>
                <a:t>Multi-Path Directory Migration</a:t>
              </a:r>
              <a:endParaRPr b="0" sz="125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150">
                  <a:solidFill>
                    <a:srgbClr val="374151"/>
                  </a:solidFill>
                  <a:latin typeface="Inter"/>
                  <a:ea typeface="Inter"/>
                  <a:cs typeface="Inter"/>
                  <a:sym typeface="Inter"/>
                </a:rPr>
                <a:t>When renaming paths across separate directories located on the same physical volume, this utility functions natively as a rapid 'move' operation.</a:t>
              </a:r>
              <a:endParaRPr b="0" sz="1150">
                <a:solidFill>
                  <a:srgbClr val="374151"/>
                </a:solidFill>
                <a:latin typeface="Inter"/>
                <a:ea typeface="Inter"/>
                <a:cs typeface="Inter"/>
                <a:sym typeface="Inter"/>
              </a:endParaRPr>
            </a:p>
          </p:txBody>
        </p:sp>
      </p:grpSp>
      <p:grpSp>
        <p:nvGrpSpPr>
          <p:cNvPr id="445" name="Google Shape;445;p26"/>
          <p:cNvGrpSpPr/>
          <p:nvPr/>
        </p:nvGrpSpPr>
        <p:grpSpPr>
          <a:xfrm>
            <a:off x="762000" y="4953000"/>
            <a:ext cx="10668000" cy="904800"/>
            <a:chOff x="0" y="0"/>
            <a:chExt cx="10668000" cy="904800"/>
          </a:xfrm>
        </p:grpSpPr>
        <p:sp>
          <p:nvSpPr>
            <p:cNvPr id="446" name="Google Shape;446;p26"/>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7" name="Google Shape;447;p26"/>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26"/>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BEST PRACTICE TAKEAWAY: FILE SYSTEM RELIABILITY</a:t>
              </a:r>
              <a:endParaRPr b="1" sz="1200">
                <a:solidFill>
                  <a:srgbClr val="045A36"/>
                </a:solidFill>
                <a:latin typeface="Inter"/>
                <a:ea typeface="Inter"/>
                <a:cs typeface="Inter"/>
                <a:sym typeface="Inter"/>
              </a:endParaRPr>
            </a:p>
          </p:txBody>
        </p:sp>
        <p:sp>
          <p:nvSpPr>
            <p:cNvPr id="449" name="Google Shape;449;p26"/>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50">
                  <a:solidFill>
                    <a:srgbClr val="1F2937"/>
                  </a:solidFill>
                  <a:latin typeface="Inter Medium"/>
                  <a:ea typeface="Inter Medium"/>
                  <a:cs typeface="Inter Medium"/>
                  <a:sym typeface="Inter Medium"/>
                </a:rPr>
                <a:t>Checking file availability prior to executing changes remains critical. Dynamic renaming streamlines automated workflows, making it highly valuable for organizing runtime records, processed database assets, and localized storage paths.</a:t>
              </a:r>
              <a:endParaRPr b="0" sz="1250">
                <a:solidFill>
                  <a:srgbClr val="1F2937"/>
                </a:solidFill>
                <a:latin typeface="Inter Medium"/>
                <a:ea typeface="Inter Medium"/>
                <a:cs typeface="Inter Medium"/>
                <a:sym typeface="Inter Medium"/>
              </a:endParaRPr>
            </a:p>
          </p:txBody>
        </p:sp>
      </p:grpSp>
      <p:sp>
        <p:nvSpPr>
          <p:cNvPr id="450" name="Google Shape;450;p26"/>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7"/>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58" name="Google Shape;458;p27"/>
          <p:cNvGrpSpPr/>
          <p:nvPr/>
        </p:nvGrpSpPr>
        <p:grpSpPr>
          <a:xfrm>
            <a:off x="762000" y="571500"/>
            <a:ext cx="10668000" cy="1095375"/>
            <a:chOff x="762000" y="571500"/>
            <a:chExt cx="10668000" cy="1095375"/>
          </a:xfrm>
        </p:grpSpPr>
        <p:sp>
          <p:nvSpPr>
            <p:cNvPr id="459" name="Google Shape;459;p2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Deleting Files using os.remove()</a:t>
              </a:r>
              <a:endParaRPr b="0" sz="2700">
                <a:solidFill>
                  <a:srgbClr val="045A36"/>
                </a:solidFill>
                <a:latin typeface="Montserrat SemiBold"/>
                <a:ea typeface="Montserrat SemiBold"/>
                <a:cs typeface="Montserrat SemiBold"/>
                <a:sym typeface="Montserrat SemiBold"/>
              </a:endParaRPr>
            </a:p>
          </p:txBody>
        </p:sp>
        <p:sp>
          <p:nvSpPr>
            <p:cNvPr id="460" name="Google Shape;460;p27"/>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The os.remove(path) function programmatically deletes files from storage.</a:t>
              </a:r>
              <a:endParaRPr b="0" sz="1600">
                <a:solidFill>
                  <a:srgbClr val="4B5563"/>
                </a:solidFill>
                <a:latin typeface="Inter SemiBold"/>
                <a:ea typeface="Inter SemiBold"/>
                <a:cs typeface="Inter SemiBold"/>
                <a:sym typeface="Inter SemiBold"/>
              </a:endParaRPr>
            </a:p>
          </p:txBody>
        </p:sp>
      </p:grpSp>
      <p:grpSp>
        <p:nvGrpSpPr>
          <p:cNvPr id="461" name="Google Shape;461;p27"/>
          <p:cNvGrpSpPr/>
          <p:nvPr/>
        </p:nvGrpSpPr>
        <p:grpSpPr>
          <a:xfrm>
            <a:off x="762000" y="1714500"/>
            <a:ext cx="5143500" cy="3048000"/>
            <a:chOff x="0" y="0"/>
            <a:chExt cx="5143500" cy="3048000"/>
          </a:xfrm>
        </p:grpSpPr>
        <p:sp>
          <p:nvSpPr>
            <p:cNvPr id="462" name="Google Shape;462;p27"/>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7"/>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7"/>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SYNTAX IMPLEMENTATION</a:t>
              </a:r>
              <a:endParaRPr b="1" sz="1200">
                <a:solidFill>
                  <a:srgbClr val="D4A017"/>
                </a:solidFill>
                <a:latin typeface="Inter"/>
                <a:ea typeface="Inter"/>
                <a:cs typeface="Inter"/>
                <a:sym typeface="Inter"/>
              </a:endParaRPr>
            </a:p>
          </p:txBody>
        </p:sp>
        <p:sp>
          <p:nvSpPr>
            <p:cNvPr id="465" name="Google Shape;465;p27"/>
            <p:cNvSpPr txBox="1"/>
            <p:nvPr/>
          </p:nvSpPr>
          <p:spPr>
            <a:xfrm>
              <a:off x="238125" y="666750"/>
              <a:ext cx="4667400" cy="2238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Import the OS module</a:t>
              </a:r>
              <a:endParaRPr b="0" i="1" sz="1100">
                <a:solidFill>
                  <a:srgbClr val="6B7280"/>
                </a:solidFill>
                <a:latin typeface="Courier"/>
                <a:ea typeface="Courier"/>
                <a:cs typeface="Courier"/>
                <a:sym typeface="Courier"/>
              </a:endParaRPr>
            </a:p>
            <a:p>
              <a:pPr indent="0" lvl="0" marL="0" rtl="0" algn="l">
                <a:spcBef>
                  <a:spcPts val="45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os</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0B7A4B"/>
                  </a:solidFill>
                  <a:latin typeface="Courier"/>
                  <a:ea typeface="Courier"/>
                  <a:cs typeface="Courier"/>
                  <a:sym typeface="Courier"/>
                </a:rPr>
                <a:t>file_path</a:t>
              </a:r>
              <a:r>
                <a:rPr b="0" lang="en" sz="1300">
                  <a:solidFill>
                    <a:srgbClr val="1F2937"/>
                  </a:solidFill>
                  <a:latin typeface="Courier"/>
                  <a:ea typeface="Courier"/>
                  <a:cs typeface="Courier"/>
                  <a:sym typeface="Courier"/>
                </a:rPr>
                <a:t> = </a:t>
              </a:r>
              <a:r>
                <a:rPr b="0" lang="en" sz="1300">
                  <a:solidFill>
                    <a:srgbClr val="B91C1C"/>
                  </a:solidFill>
                  <a:latin typeface="Courier"/>
                  <a:ea typeface="Courier"/>
                  <a:cs typeface="Courier"/>
                  <a:sym typeface="Courier"/>
                </a:rPr>
                <a:t>'obsolete_data.csv'</a:t>
              </a:r>
              <a:endParaRPr b="0" sz="1300">
                <a:solidFill>
                  <a:srgbClr val="1F2937"/>
                </a:solidFill>
                <a:latin typeface="Courier"/>
                <a:ea typeface="Courier"/>
                <a:cs typeface="Courier"/>
                <a:sym typeface="Courier"/>
              </a:endParaRPr>
            </a:p>
            <a:p>
              <a:pPr indent="0" lvl="0" marL="0" rtl="0" algn="l">
                <a:spcBef>
                  <a:spcPts val="600"/>
                </a:spcBef>
                <a:spcAft>
                  <a:spcPts val="0"/>
                </a:spcAft>
                <a:buNone/>
              </a:pPr>
              <a:r>
                <a:rPr b="0" i="1" lang="en" sz="1100">
                  <a:solidFill>
                    <a:srgbClr val="6B7280"/>
                  </a:solidFill>
                  <a:latin typeface="Courier"/>
                  <a:ea typeface="Courier"/>
                  <a:cs typeface="Courier"/>
                  <a:sym typeface="Courier"/>
                </a:rPr>
                <a:t># Check if file exists before removing</a:t>
              </a:r>
              <a:endParaRPr b="0" i="1" sz="1100">
                <a:solidFill>
                  <a:srgbClr val="6B7280"/>
                </a:solidFill>
                <a:latin typeface="Courier"/>
                <a:ea typeface="Courier"/>
                <a:cs typeface="Courier"/>
                <a:sym typeface="Courier"/>
              </a:endParaRPr>
            </a:p>
            <a:p>
              <a:pPr indent="0" lvl="0" marL="0" rtl="0" algn="l">
                <a:spcBef>
                  <a:spcPts val="0"/>
                </a:spcBef>
                <a:spcAft>
                  <a:spcPts val="0"/>
                </a:spcAft>
                <a:buNone/>
              </a:pPr>
              <a:r>
                <a:rPr b="1" lang="en" sz="1300">
                  <a:solidFill>
                    <a:srgbClr val="045A36"/>
                  </a:solidFill>
                  <a:latin typeface="Courier"/>
                  <a:ea typeface="Courier"/>
                  <a:cs typeface="Courier"/>
                  <a:sym typeface="Courier"/>
                </a:rPr>
                <a:t>if</a:t>
              </a:r>
              <a:r>
                <a:rPr b="0" lang="en" sz="1300">
                  <a:solidFill>
                    <a:srgbClr val="1F2937"/>
                  </a:solidFill>
                  <a:latin typeface="Courier"/>
                  <a:ea typeface="Courier"/>
                  <a:cs typeface="Courier"/>
                  <a:sym typeface="Courier"/>
                </a:rPr>
                <a:t> os.path.exists(file_path):</a:t>
              </a:r>
              <a:endParaRPr b="0" sz="1300">
                <a:solidFill>
                  <a:srgbClr val="1F2937"/>
                </a:solidFill>
                <a:latin typeface="Courier"/>
                <a:ea typeface="Courier"/>
                <a:cs typeface="Courier"/>
                <a:sym typeface="Courier"/>
              </a:endParaRPr>
            </a:p>
            <a:p>
              <a:pPr indent="0" lvl="0" marL="190500" marR="0" rtl="0" algn="l">
                <a:spcBef>
                  <a:spcPts val="300"/>
                </a:spcBef>
                <a:spcAft>
                  <a:spcPts val="0"/>
                </a:spcAft>
                <a:buNone/>
              </a:pPr>
              <a:r>
                <a:rPr b="0" lang="en" sz="1300">
                  <a:solidFill>
                    <a:srgbClr val="1F2937"/>
                  </a:solidFill>
                  <a:latin typeface="Courier"/>
                  <a:ea typeface="Courier"/>
                  <a:cs typeface="Courier"/>
                  <a:sym typeface="Courier"/>
                </a:rPr>
                <a:t>os.</a:t>
              </a:r>
              <a:r>
                <a:rPr b="0" lang="en" sz="1300">
                  <a:solidFill>
                    <a:srgbClr val="0B7A4B"/>
                  </a:solidFill>
                  <a:latin typeface="Courier"/>
                  <a:ea typeface="Courier"/>
                  <a:cs typeface="Courier"/>
                  <a:sym typeface="Courier"/>
                </a:rPr>
                <a:t>remove</a:t>
              </a:r>
              <a:r>
                <a:rPr b="0" lang="en" sz="1300">
                  <a:solidFill>
                    <a:srgbClr val="1F2937"/>
                  </a:solidFill>
                  <a:latin typeface="Courier"/>
                  <a:ea typeface="Courier"/>
                  <a:cs typeface="Courier"/>
                  <a:sym typeface="Courier"/>
                </a:rPr>
                <a:t>(file_path)</a:t>
              </a:r>
              <a:endParaRPr b="0" sz="1300">
                <a:solidFill>
                  <a:srgbClr val="1F2937"/>
                </a:solidFill>
                <a:latin typeface="Courier"/>
                <a:ea typeface="Courier"/>
                <a:cs typeface="Courier"/>
                <a:sym typeface="Courier"/>
              </a:endParaRPr>
            </a:p>
            <a:p>
              <a:pPr indent="0" lvl="0" marL="190500" marR="0" rtl="0" algn="l">
                <a:spcBef>
                  <a:spcPts val="30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f"Deleted: {file_path}"</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300"/>
                </a:spcBef>
                <a:spcAft>
                  <a:spcPts val="0"/>
                </a:spcAft>
                <a:buNone/>
              </a:pPr>
              <a:r>
                <a:rPr b="1" lang="en" sz="1300">
                  <a:solidFill>
                    <a:srgbClr val="045A36"/>
                  </a:solidFill>
                  <a:latin typeface="Courier"/>
                  <a:ea typeface="Courier"/>
                  <a:cs typeface="Courier"/>
                  <a:sym typeface="Courier"/>
                </a:rPr>
                <a:t>else</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190500" marR="0" rtl="0" algn="l">
                <a:spcBef>
                  <a:spcPts val="30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"File not found."</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p:txBody>
        </p:sp>
      </p:grpSp>
      <p:grpSp>
        <p:nvGrpSpPr>
          <p:cNvPr id="466" name="Google Shape;466;p27"/>
          <p:cNvGrpSpPr/>
          <p:nvPr/>
        </p:nvGrpSpPr>
        <p:grpSpPr>
          <a:xfrm>
            <a:off x="6286500" y="1714500"/>
            <a:ext cx="5143500" cy="3048000"/>
            <a:chOff x="0" y="0"/>
            <a:chExt cx="5143500" cy="3048000"/>
          </a:xfrm>
        </p:grpSpPr>
        <p:sp>
          <p:nvSpPr>
            <p:cNvPr id="467" name="Google Shape;467;p27"/>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7"/>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7"/>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FILE DELETION PROCESS</a:t>
              </a:r>
              <a:endParaRPr b="1" sz="1200">
                <a:solidFill>
                  <a:srgbClr val="045A36"/>
                </a:solidFill>
                <a:latin typeface="Inter"/>
                <a:ea typeface="Inter"/>
                <a:cs typeface="Inter"/>
                <a:sym typeface="Inter"/>
              </a:endParaRPr>
            </a:p>
          </p:txBody>
        </p:sp>
        <p:sp>
          <p:nvSpPr>
            <p:cNvPr id="470" name="Google Shape;470;p27"/>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Safe File Cleanup</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Calling </a:t>
              </a:r>
              <a:r>
                <a:rPr b="1" lang="en" sz="1100">
                  <a:solidFill>
                    <a:srgbClr val="045A36"/>
                  </a:solidFill>
                  <a:latin typeface="Courier"/>
                  <a:ea typeface="Courier"/>
                  <a:cs typeface="Courier"/>
                  <a:sym typeface="Courier"/>
                </a:rPr>
                <a:t>os.remove(path)</a:t>
              </a:r>
              <a:r>
                <a:rPr b="0" lang="en" sz="1400">
                  <a:solidFill>
                    <a:srgbClr val="374151"/>
                  </a:solidFill>
                  <a:latin typeface="Inter"/>
                  <a:ea typeface="Inter"/>
                  <a:cs typeface="Inter"/>
                  <a:sym typeface="Inter"/>
                </a:rPr>
                <a:t> deletes the file instantly. Verifying existence with </a:t>
              </a:r>
              <a:r>
                <a:rPr b="1" lang="en" sz="1100">
                  <a:solidFill>
                    <a:srgbClr val="045A36"/>
                  </a:solidFill>
                  <a:latin typeface="Courier"/>
                  <a:ea typeface="Courier"/>
                  <a:cs typeface="Courier"/>
                  <a:sym typeface="Courier"/>
                </a:rPr>
                <a:t>os.path.exists()</a:t>
              </a:r>
              <a:r>
                <a:rPr b="0" lang="en" sz="1400">
                  <a:solidFill>
                    <a:srgbClr val="374151"/>
                  </a:solidFill>
                  <a:latin typeface="Inter"/>
                  <a:ea typeface="Inter"/>
                  <a:cs typeface="Inter"/>
                  <a:sym typeface="Inter"/>
                </a:rPr>
                <a:t> keeps applications crash-safe.</a:t>
              </a:r>
              <a:endParaRPr b="0" sz="1400">
                <a:solidFill>
                  <a:srgbClr val="374151"/>
                </a:solidFill>
                <a:latin typeface="Inter"/>
                <a:ea typeface="Inter"/>
                <a:cs typeface="Inter"/>
                <a:sym typeface="Inter"/>
              </a:endParaRPr>
            </a:p>
            <a:p>
              <a:pPr indent="0" lvl="0" marL="0" rtl="0" algn="l">
                <a:spcBef>
                  <a:spcPts val="300"/>
                </a:spcBef>
                <a:spcAft>
                  <a:spcPts val="0"/>
                </a:spcAft>
                <a:buNone/>
              </a:pPr>
              <a:r>
                <a:rPr b="0" lang="en" sz="1500">
                  <a:solidFill>
                    <a:srgbClr val="1F2937"/>
                  </a:solidFill>
                  <a:latin typeface="Inter SemiBold"/>
                  <a:ea typeface="Inter SemiBold"/>
                  <a:cs typeface="Inter SemiBold"/>
                  <a:sym typeface="Inter SemiBold"/>
                </a:rPr>
                <a:t>Expected Execution Output</a:t>
              </a:r>
              <a:endParaRPr b="0" sz="1500">
                <a:solidFill>
                  <a:srgbClr val="1F2937"/>
                </a:solidFill>
                <a:latin typeface="Inter SemiBold"/>
                <a:ea typeface="Inter SemiBold"/>
                <a:cs typeface="Inter SemiBold"/>
                <a:sym typeface="Inter SemiBold"/>
              </a:endParaRPr>
            </a:p>
            <a:p>
              <a:pPr indent="0" lvl="0" marL="0" rtl="0" algn="l">
                <a:spcBef>
                  <a:spcPts val="450"/>
                </a:spcBef>
                <a:spcAft>
                  <a:spcPts val="0"/>
                </a:spcAft>
                <a:buNone/>
              </a:pPr>
              <a:r>
                <a:rPr b="0" lang="en" sz="1150">
                  <a:solidFill>
                    <a:srgbClr val="1F2937"/>
                  </a:solidFill>
                  <a:highlight>
                    <a:srgbClr val="F1F5F9"/>
                  </a:highlight>
                  <a:latin typeface="Courier"/>
                  <a:ea typeface="Courier"/>
                  <a:cs typeface="Courier"/>
                  <a:sym typeface="Courier"/>
                </a:rPr>
                <a:t>Deleted: obsolete_data.csv</a:t>
              </a:r>
              <a:endParaRPr b="0" sz="1150">
                <a:solidFill>
                  <a:srgbClr val="1F2937"/>
                </a:solidFill>
                <a:highlight>
                  <a:srgbClr val="F1F5F9"/>
                </a:highlight>
                <a:latin typeface="Courier"/>
                <a:ea typeface="Courier"/>
                <a:cs typeface="Courier"/>
                <a:sym typeface="Courier"/>
              </a:endParaRPr>
            </a:p>
          </p:txBody>
        </p:sp>
      </p:grpSp>
      <p:grpSp>
        <p:nvGrpSpPr>
          <p:cNvPr id="471" name="Google Shape;471;p27"/>
          <p:cNvGrpSpPr/>
          <p:nvPr/>
        </p:nvGrpSpPr>
        <p:grpSpPr>
          <a:xfrm>
            <a:off x="762000" y="4953000"/>
            <a:ext cx="10668000" cy="933600"/>
            <a:chOff x="0" y="0"/>
            <a:chExt cx="10668000" cy="933600"/>
          </a:xfrm>
        </p:grpSpPr>
        <p:sp>
          <p:nvSpPr>
            <p:cNvPr id="472" name="Google Shape;472;p27"/>
            <p:cNvSpPr/>
            <p:nvPr/>
          </p:nvSpPr>
          <p:spPr>
            <a:xfrm>
              <a:off x="0" y="0"/>
              <a:ext cx="10668000" cy="933600"/>
            </a:xfrm>
            <a:prstGeom prst="roundRect">
              <a:avLst>
                <a:gd fmla="val 8163" name="adj"/>
              </a:avLst>
            </a:prstGeom>
            <a:solidFill>
              <a:srgbClr val="FEE2E2"/>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7"/>
            <p:cNvSpPr/>
            <p:nvPr/>
          </p:nvSpPr>
          <p:spPr>
            <a:xfrm>
              <a:off x="0" y="0"/>
              <a:ext cx="57300" cy="933600"/>
            </a:xfrm>
            <a:prstGeom prst="roundRect">
              <a:avLst>
                <a:gd fmla="val 50000" name="adj"/>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27"/>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B91C1C"/>
                  </a:solidFill>
                  <a:latin typeface="Inter"/>
                  <a:ea typeface="Inter"/>
                  <a:cs typeface="Inter"/>
                  <a:sym typeface="Inter"/>
                </a:rPr>
                <a:t>CRITICAL WARNING: PERMANENT ACTION</a:t>
              </a:r>
              <a:endParaRPr b="1" sz="1200">
                <a:solidFill>
                  <a:srgbClr val="B91C1C"/>
                </a:solidFill>
                <a:latin typeface="Inter"/>
                <a:ea typeface="Inter"/>
                <a:cs typeface="Inter"/>
                <a:sym typeface="Inter"/>
              </a:endParaRPr>
            </a:p>
          </p:txBody>
        </p:sp>
        <p:sp>
          <p:nvSpPr>
            <p:cNvPr id="475" name="Google Shape;475;p27"/>
            <p:cNvSpPr txBox="1"/>
            <p:nvPr/>
          </p:nvSpPr>
          <p:spPr>
            <a:xfrm>
              <a:off x="238125" y="428625"/>
              <a:ext cx="101919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7F1D1D"/>
                  </a:solidFill>
                  <a:latin typeface="Inter"/>
                  <a:ea typeface="Inter"/>
                  <a:cs typeface="Inter"/>
                  <a:sym typeface="Inter"/>
                </a:rPr>
                <a:t>This operation deletes the file permanently, bypassing the system Trash or Recycle Bin. Additionally, </a:t>
              </a:r>
              <a:r>
                <a:rPr b="1" lang="en" sz="1150">
                  <a:solidFill>
                    <a:srgbClr val="B91C1C"/>
                  </a:solidFill>
                  <a:latin typeface="Courier"/>
                  <a:ea typeface="Courier"/>
                  <a:cs typeface="Courier"/>
                  <a:sym typeface="Courier"/>
                </a:rPr>
                <a:t>os.remove()</a:t>
              </a:r>
              <a:r>
                <a:rPr b="0" lang="en" sz="1350">
                  <a:solidFill>
                    <a:srgbClr val="7F1D1D"/>
                  </a:solidFill>
                  <a:latin typeface="Inter"/>
                  <a:ea typeface="Inter"/>
                  <a:cs typeface="Inter"/>
                  <a:sym typeface="Inter"/>
                </a:rPr>
                <a:t> is strictly for files and cannot be used to delete directories.</a:t>
              </a:r>
              <a:endParaRPr b="0" sz="1350">
                <a:solidFill>
                  <a:srgbClr val="7F1D1D"/>
                </a:solidFill>
                <a:latin typeface="Inter"/>
                <a:ea typeface="Inter"/>
                <a:cs typeface="Inter"/>
                <a:sym typeface="Inter"/>
              </a:endParaRPr>
            </a:p>
          </p:txBody>
        </p:sp>
      </p:grpSp>
      <p:sp>
        <p:nvSpPr>
          <p:cNvPr id="476" name="Google Shape;476;p27"/>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File Handling in Python</a:t>
            </a:r>
            <a:endParaRPr b="0" sz="1000">
              <a:solidFill>
                <a:srgbClr val="6B7280"/>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4" name="Google Shape;484;p28"/>
          <p:cNvGrpSpPr/>
          <p:nvPr/>
        </p:nvGrpSpPr>
        <p:grpSpPr>
          <a:xfrm>
            <a:off x="762000" y="571500"/>
            <a:ext cx="10668000" cy="1095375"/>
            <a:chOff x="762000" y="571500"/>
            <a:chExt cx="10668000" cy="1095375"/>
          </a:xfrm>
        </p:grpSpPr>
        <p:sp>
          <p:nvSpPr>
            <p:cNvPr id="485" name="Google Shape;485;p2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Verifying Existence with os.path.exists()</a:t>
              </a:r>
              <a:endParaRPr b="0" sz="2700">
                <a:solidFill>
                  <a:srgbClr val="045A36"/>
                </a:solidFill>
                <a:latin typeface="Montserrat SemiBold"/>
                <a:ea typeface="Montserrat SemiBold"/>
                <a:cs typeface="Montserrat SemiBold"/>
                <a:sym typeface="Montserrat SemiBold"/>
              </a:endParaRPr>
            </a:p>
          </p:txBody>
        </p:sp>
        <p:sp>
          <p:nvSpPr>
            <p:cNvPr id="486" name="Google Shape;486;p28"/>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Validate target paths dynamically before performing active file modifications or reading operations.</a:t>
              </a:r>
              <a:endParaRPr b="0" sz="1600">
                <a:solidFill>
                  <a:srgbClr val="4B5563"/>
                </a:solidFill>
                <a:latin typeface="Inter SemiBold"/>
                <a:ea typeface="Inter SemiBold"/>
                <a:cs typeface="Inter SemiBold"/>
                <a:sym typeface="Inter SemiBold"/>
              </a:endParaRPr>
            </a:p>
          </p:txBody>
        </p:sp>
      </p:grpSp>
      <p:grpSp>
        <p:nvGrpSpPr>
          <p:cNvPr id="487" name="Google Shape;487;p28"/>
          <p:cNvGrpSpPr/>
          <p:nvPr/>
        </p:nvGrpSpPr>
        <p:grpSpPr>
          <a:xfrm>
            <a:off x="762000" y="1714500"/>
            <a:ext cx="5143500" cy="3048000"/>
            <a:chOff x="0" y="0"/>
            <a:chExt cx="5143500" cy="3048000"/>
          </a:xfrm>
        </p:grpSpPr>
        <p:sp>
          <p:nvSpPr>
            <p:cNvPr id="488" name="Google Shape;488;p28"/>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8"/>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8"/>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IMPLEMENTATION EXAMPLE</a:t>
              </a:r>
              <a:endParaRPr b="1" sz="1200">
                <a:solidFill>
                  <a:srgbClr val="D4A017"/>
                </a:solidFill>
                <a:latin typeface="Inter"/>
                <a:ea typeface="Inter"/>
                <a:cs typeface="Inter"/>
                <a:sym typeface="Inter"/>
              </a:endParaRPr>
            </a:p>
          </p:txBody>
        </p:sp>
        <p:sp>
          <p:nvSpPr>
            <p:cNvPr id="491" name="Google Shape;491;p28"/>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018">
                  <a:solidFill>
                    <a:srgbClr val="6B7280"/>
                  </a:solidFill>
                  <a:latin typeface="Courier"/>
                  <a:ea typeface="Courier"/>
                  <a:cs typeface="Courier"/>
                  <a:sym typeface="Courier"/>
                </a:rPr>
                <a:t># Syntax check for file/directory state</a:t>
              </a:r>
              <a:endParaRPr b="0" i="1" sz="1018">
                <a:solidFill>
                  <a:srgbClr val="6B7280"/>
                </a:solidFill>
                <a:latin typeface="Courier"/>
                <a:ea typeface="Courier"/>
                <a:cs typeface="Courier"/>
                <a:sym typeface="Courier"/>
              </a:endParaRPr>
            </a:p>
            <a:p>
              <a:pPr indent="0" lvl="0" marL="0" rtl="0" algn="l">
                <a:spcBef>
                  <a:spcPts val="450"/>
                </a:spcBef>
                <a:spcAft>
                  <a:spcPts val="0"/>
                </a:spcAft>
                <a:buNone/>
              </a:pPr>
              <a:r>
                <a:rPr b="0" lang="en" sz="1203">
                  <a:solidFill>
                    <a:srgbClr val="1F2937"/>
                  </a:solidFill>
                  <a:latin typeface="Courier"/>
                  <a:ea typeface="Courier"/>
                  <a:cs typeface="Courier"/>
                  <a:sym typeface="Courier"/>
                </a:rPr>
                <a:t>exists = </a:t>
              </a:r>
              <a:r>
                <a:rPr b="0" lang="en" sz="1203">
                  <a:solidFill>
                    <a:srgbClr val="0B7A4B"/>
                  </a:solidFill>
                  <a:latin typeface="Courier"/>
                  <a:ea typeface="Courier"/>
                  <a:cs typeface="Courier"/>
                  <a:sym typeface="Courier"/>
                </a:rPr>
                <a:t>os.path.exists</a:t>
              </a:r>
              <a:r>
                <a:rPr b="0" lang="en" sz="1203">
                  <a:solidFill>
                    <a:srgbClr val="1F2937"/>
                  </a:solidFill>
                  <a:latin typeface="Courier"/>
                  <a:ea typeface="Courier"/>
                  <a:cs typeface="Courier"/>
                  <a:sym typeface="Courier"/>
                </a:rPr>
                <a:t>(</a:t>
              </a:r>
              <a:r>
                <a:rPr b="0" lang="en" sz="1203">
                  <a:solidFill>
                    <a:srgbClr val="B91C1C"/>
                  </a:solidFill>
                  <a:latin typeface="Courier"/>
                  <a:ea typeface="Courier"/>
                  <a:cs typeface="Courier"/>
                  <a:sym typeface="Courier"/>
                </a:rPr>
                <a:t>'path/to/check'</a:t>
              </a:r>
              <a:r>
                <a:rPr b="0" lang="en" sz="1203">
                  <a:solidFill>
                    <a:srgbClr val="1F2937"/>
                  </a:solidFill>
                  <a:latin typeface="Courier"/>
                  <a:ea typeface="Courier"/>
                  <a:cs typeface="Courier"/>
                  <a:sym typeface="Courier"/>
                </a:rPr>
                <a:t>)</a:t>
              </a:r>
              <a:endParaRPr b="0" sz="1203">
                <a:solidFill>
                  <a:srgbClr val="1F2937"/>
                </a:solidFill>
                <a:latin typeface="Courier"/>
                <a:ea typeface="Courier"/>
                <a:cs typeface="Courier"/>
                <a:sym typeface="Courier"/>
              </a:endParaRPr>
            </a:p>
            <a:p>
              <a:pPr indent="0" lvl="0" marL="0" rtl="0" algn="l">
                <a:spcBef>
                  <a:spcPts val="900"/>
                </a:spcBef>
                <a:spcAft>
                  <a:spcPts val="0"/>
                </a:spcAft>
                <a:buNone/>
              </a:pPr>
              <a:r>
                <a:rPr b="0" i="1" lang="en" sz="1018">
                  <a:solidFill>
                    <a:srgbClr val="6B7280"/>
                  </a:solidFill>
                  <a:latin typeface="Courier"/>
                  <a:ea typeface="Courier"/>
                  <a:cs typeface="Courier"/>
                  <a:sym typeface="Courier"/>
                </a:rPr>
                <a:t># Practical defensive check wrapper</a:t>
              </a:r>
              <a:endParaRPr b="0" i="1" sz="1018">
                <a:solidFill>
                  <a:srgbClr val="6B7280"/>
                </a:solidFill>
                <a:latin typeface="Courier"/>
                <a:ea typeface="Courier"/>
                <a:cs typeface="Courier"/>
                <a:sym typeface="Courier"/>
              </a:endParaRPr>
            </a:p>
            <a:p>
              <a:pPr indent="0" lvl="0" marL="0" rtl="0" algn="l">
                <a:spcBef>
                  <a:spcPts val="450"/>
                </a:spcBef>
                <a:spcAft>
                  <a:spcPts val="0"/>
                </a:spcAft>
                <a:buNone/>
              </a:pPr>
              <a:r>
                <a:rPr b="1" lang="en" sz="1203">
                  <a:solidFill>
                    <a:srgbClr val="045A36"/>
                  </a:solidFill>
                  <a:latin typeface="Courier"/>
                  <a:ea typeface="Courier"/>
                  <a:cs typeface="Courier"/>
                  <a:sym typeface="Courier"/>
                </a:rPr>
                <a:t>import</a:t>
              </a:r>
              <a:r>
                <a:rPr b="0" lang="en" sz="1203">
                  <a:solidFill>
                    <a:srgbClr val="1F2937"/>
                  </a:solidFill>
                  <a:latin typeface="Courier"/>
                  <a:ea typeface="Courier"/>
                  <a:cs typeface="Courier"/>
                  <a:sym typeface="Courier"/>
                </a:rPr>
                <a:t> </a:t>
              </a:r>
              <a:r>
                <a:rPr b="0" lang="en" sz="1203">
                  <a:solidFill>
                    <a:srgbClr val="0B7A4B"/>
                  </a:solidFill>
                  <a:latin typeface="Courier"/>
                  <a:ea typeface="Courier"/>
                  <a:cs typeface="Courier"/>
                  <a:sym typeface="Courier"/>
                </a:rPr>
                <a:t>os</a:t>
              </a:r>
              <a:endParaRPr b="0" sz="1203">
                <a:solidFill>
                  <a:srgbClr val="1F2937"/>
                </a:solidFill>
                <a:latin typeface="Courier"/>
                <a:ea typeface="Courier"/>
                <a:cs typeface="Courier"/>
                <a:sym typeface="Courier"/>
              </a:endParaRPr>
            </a:p>
            <a:p>
              <a:pPr indent="0" lvl="0" marL="0" rtl="0" algn="l">
                <a:spcBef>
                  <a:spcPts val="300"/>
                </a:spcBef>
                <a:spcAft>
                  <a:spcPts val="0"/>
                </a:spcAft>
                <a:buNone/>
              </a:pPr>
              <a:r>
                <a:rPr b="0" lang="en" sz="1203">
                  <a:solidFill>
                    <a:srgbClr val="1F2937"/>
                  </a:solidFill>
                  <a:latin typeface="Courier"/>
                  <a:ea typeface="Courier"/>
                  <a:cs typeface="Courier"/>
                  <a:sym typeface="Courier"/>
                </a:rPr>
                <a:t>config_file = </a:t>
              </a:r>
              <a:r>
                <a:rPr b="0" lang="en" sz="1203">
                  <a:solidFill>
                    <a:srgbClr val="B91C1C"/>
                  </a:solidFill>
                  <a:latin typeface="Courier"/>
                  <a:ea typeface="Courier"/>
                  <a:cs typeface="Courier"/>
                  <a:sym typeface="Courier"/>
                </a:rPr>
                <a:t>'robot_config.json'</a:t>
              </a:r>
              <a:endParaRPr b="0" sz="1203">
                <a:solidFill>
                  <a:srgbClr val="1F2937"/>
                </a:solidFill>
                <a:latin typeface="Courier"/>
                <a:ea typeface="Courier"/>
                <a:cs typeface="Courier"/>
                <a:sym typeface="Courier"/>
              </a:endParaRPr>
            </a:p>
            <a:p>
              <a:pPr indent="0" lvl="0" marL="0" rtl="0" algn="l">
                <a:spcBef>
                  <a:spcPts val="300"/>
                </a:spcBef>
                <a:spcAft>
                  <a:spcPts val="0"/>
                </a:spcAft>
                <a:buNone/>
              </a:pPr>
              <a:r>
                <a:rPr b="1" lang="en" sz="1203">
                  <a:solidFill>
                    <a:srgbClr val="045A36"/>
                  </a:solidFill>
                  <a:latin typeface="Courier"/>
                  <a:ea typeface="Courier"/>
                  <a:cs typeface="Courier"/>
                  <a:sym typeface="Courier"/>
                </a:rPr>
                <a:t>if</a:t>
              </a:r>
              <a:r>
                <a:rPr b="0" lang="en" sz="1203">
                  <a:solidFill>
                    <a:srgbClr val="1F2937"/>
                  </a:solidFill>
                  <a:latin typeface="Courier"/>
                  <a:ea typeface="Courier"/>
                  <a:cs typeface="Courier"/>
                  <a:sym typeface="Courier"/>
                </a:rPr>
                <a:t> </a:t>
              </a:r>
              <a:r>
                <a:rPr b="0" lang="en" sz="1203">
                  <a:solidFill>
                    <a:srgbClr val="0B7A4B"/>
                  </a:solidFill>
                  <a:latin typeface="Courier"/>
                  <a:ea typeface="Courier"/>
                  <a:cs typeface="Courier"/>
                  <a:sym typeface="Courier"/>
                </a:rPr>
                <a:t>os.path.exists</a:t>
              </a:r>
              <a:r>
                <a:rPr b="0" lang="en" sz="1203">
                  <a:solidFill>
                    <a:srgbClr val="1F2937"/>
                  </a:solidFill>
                  <a:latin typeface="Courier"/>
                  <a:ea typeface="Courier"/>
                  <a:cs typeface="Courier"/>
                  <a:sym typeface="Courier"/>
                </a:rPr>
                <a:t>(config_file):</a:t>
              </a:r>
              <a:endParaRPr b="0" sz="1203">
                <a:solidFill>
                  <a:srgbClr val="1F2937"/>
                </a:solidFill>
                <a:latin typeface="Courier"/>
                <a:ea typeface="Courier"/>
                <a:cs typeface="Courier"/>
                <a:sym typeface="Courier"/>
              </a:endParaRPr>
            </a:p>
            <a:p>
              <a:pPr indent="0" lvl="0" marL="0" rtl="0" algn="l">
                <a:spcBef>
                  <a:spcPts val="300"/>
                </a:spcBef>
                <a:spcAft>
                  <a:spcPts val="0"/>
                </a:spcAft>
                <a:buNone/>
              </a:pPr>
              <a:r>
                <a:rPr b="0" lang="en" sz="1203">
                  <a:solidFill>
                    <a:srgbClr val="0B7A4B"/>
                  </a:solidFill>
                  <a:latin typeface="Courier"/>
                  <a:ea typeface="Courier"/>
                  <a:cs typeface="Courier"/>
                  <a:sym typeface="Courier"/>
                </a:rPr>
                <a:t>print</a:t>
              </a:r>
              <a:r>
                <a:rPr b="0" lang="en" sz="1203">
                  <a:solidFill>
                    <a:srgbClr val="1F2937"/>
                  </a:solidFill>
                  <a:latin typeface="Courier"/>
                  <a:ea typeface="Courier"/>
                  <a:cs typeface="Courier"/>
                  <a:sym typeface="Courier"/>
                </a:rPr>
                <a:t>(</a:t>
              </a:r>
              <a:r>
                <a:rPr b="0" lang="en" sz="1203">
                  <a:solidFill>
                    <a:srgbClr val="B91C1C"/>
                  </a:solidFill>
                  <a:latin typeface="Courier"/>
                  <a:ea typeface="Courier"/>
                  <a:cs typeface="Courier"/>
                  <a:sym typeface="Courier"/>
                </a:rPr>
                <a:t>"Configuration found. Loading..."</a:t>
              </a:r>
              <a:r>
                <a:rPr b="0" lang="en" sz="1203">
                  <a:solidFill>
                    <a:srgbClr val="1F2937"/>
                  </a:solidFill>
                  <a:latin typeface="Courier"/>
                  <a:ea typeface="Courier"/>
                  <a:cs typeface="Courier"/>
                  <a:sym typeface="Courier"/>
                </a:rPr>
                <a:t>)</a:t>
              </a:r>
              <a:endParaRPr b="0" sz="1203">
                <a:solidFill>
                  <a:srgbClr val="1F2937"/>
                </a:solidFill>
                <a:latin typeface="Courier"/>
                <a:ea typeface="Courier"/>
                <a:cs typeface="Courier"/>
                <a:sym typeface="Courier"/>
              </a:endParaRPr>
            </a:p>
            <a:p>
              <a:pPr indent="0" lvl="0" marL="0" rtl="0" algn="l">
                <a:spcBef>
                  <a:spcPts val="300"/>
                </a:spcBef>
                <a:spcAft>
                  <a:spcPts val="0"/>
                </a:spcAft>
                <a:buNone/>
              </a:pPr>
              <a:r>
                <a:rPr b="1" lang="en" sz="1203">
                  <a:solidFill>
                    <a:srgbClr val="045A36"/>
                  </a:solidFill>
                  <a:latin typeface="Courier"/>
                  <a:ea typeface="Courier"/>
                  <a:cs typeface="Courier"/>
                  <a:sym typeface="Courier"/>
                </a:rPr>
                <a:t>else</a:t>
              </a:r>
              <a:r>
                <a:rPr b="0" lang="en" sz="1203">
                  <a:solidFill>
                    <a:srgbClr val="1F2937"/>
                  </a:solidFill>
                  <a:latin typeface="Courier"/>
                  <a:ea typeface="Courier"/>
                  <a:cs typeface="Courier"/>
                  <a:sym typeface="Courier"/>
                </a:rPr>
                <a:t>:</a:t>
              </a:r>
              <a:endParaRPr b="0" sz="1203">
                <a:solidFill>
                  <a:srgbClr val="1F2937"/>
                </a:solidFill>
                <a:latin typeface="Courier"/>
                <a:ea typeface="Courier"/>
                <a:cs typeface="Courier"/>
                <a:sym typeface="Courier"/>
              </a:endParaRPr>
            </a:p>
            <a:p>
              <a:pPr indent="0" lvl="0" marL="0" rtl="0" algn="l">
                <a:spcBef>
                  <a:spcPts val="300"/>
                </a:spcBef>
                <a:spcAft>
                  <a:spcPts val="300"/>
                </a:spcAft>
                <a:buNone/>
              </a:pPr>
              <a:r>
                <a:rPr b="0" lang="en" sz="1203">
                  <a:solidFill>
                    <a:srgbClr val="0B7A4B"/>
                  </a:solidFill>
                  <a:latin typeface="Courier"/>
                  <a:ea typeface="Courier"/>
                  <a:cs typeface="Courier"/>
                  <a:sym typeface="Courier"/>
                </a:rPr>
                <a:t>print</a:t>
              </a:r>
              <a:r>
                <a:rPr b="0" lang="en" sz="1203">
                  <a:solidFill>
                    <a:srgbClr val="1F2937"/>
                  </a:solidFill>
                  <a:latin typeface="Courier"/>
                  <a:ea typeface="Courier"/>
                  <a:cs typeface="Courier"/>
                  <a:sym typeface="Courier"/>
                </a:rPr>
                <a:t>(</a:t>
              </a:r>
              <a:r>
                <a:rPr b="0" lang="en" sz="1203">
                  <a:solidFill>
                    <a:srgbClr val="B91C1C"/>
                  </a:solidFill>
                  <a:latin typeface="Courier"/>
                  <a:ea typeface="Courier"/>
                  <a:cs typeface="Courier"/>
                  <a:sym typeface="Courier"/>
                </a:rPr>
                <a:t>"Configuration missing. Using defaults."</a:t>
              </a:r>
              <a:r>
                <a:rPr b="0" lang="en" sz="1203">
                  <a:solidFill>
                    <a:srgbClr val="1F2937"/>
                  </a:solidFill>
                  <a:latin typeface="Courier"/>
                  <a:ea typeface="Courier"/>
                  <a:cs typeface="Courier"/>
                  <a:sym typeface="Courier"/>
                </a:rPr>
                <a:t>)</a:t>
              </a:r>
              <a:endParaRPr b="0" sz="1203">
                <a:solidFill>
                  <a:srgbClr val="1F2937"/>
                </a:solidFill>
                <a:latin typeface="Courier"/>
                <a:ea typeface="Courier"/>
                <a:cs typeface="Courier"/>
                <a:sym typeface="Courier"/>
              </a:endParaRPr>
            </a:p>
          </p:txBody>
        </p:sp>
      </p:grpSp>
      <p:grpSp>
        <p:nvGrpSpPr>
          <p:cNvPr id="492" name="Google Shape;492;p28"/>
          <p:cNvGrpSpPr/>
          <p:nvPr/>
        </p:nvGrpSpPr>
        <p:grpSpPr>
          <a:xfrm>
            <a:off x="6286500" y="1714500"/>
            <a:ext cx="5143500" cy="3048000"/>
            <a:chOff x="0" y="0"/>
            <a:chExt cx="5143500" cy="3048000"/>
          </a:xfrm>
        </p:grpSpPr>
        <p:sp>
          <p:nvSpPr>
            <p:cNvPr id="493" name="Google Shape;493;p28"/>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4" name="Google Shape;494;p28"/>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8"/>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DEFENSIVE ENGINEERING PATTERNS</a:t>
              </a:r>
              <a:endParaRPr b="1" sz="1200">
                <a:solidFill>
                  <a:srgbClr val="045A36"/>
                </a:solidFill>
                <a:latin typeface="Inter"/>
                <a:ea typeface="Inter"/>
                <a:cs typeface="Inter"/>
                <a:sym typeface="Inter"/>
              </a:endParaRPr>
            </a:p>
          </p:txBody>
        </p:sp>
        <p:sp>
          <p:nvSpPr>
            <p:cNvPr id="496" name="Google Shape;496;p28"/>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Preventing Runtime Failures</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Checking if a resource exists represents a crucial safety constraint prior to executing read, rename, or delete processes.</a:t>
              </a:r>
              <a:endParaRPr b="0" sz="1190">
                <a:solidFill>
                  <a:srgbClr val="374151"/>
                </a:solidFill>
                <a:latin typeface="Inter"/>
                <a:ea typeface="Inter"/>
                <a:cs typeface="Inter"/>
                <a:sym typeface="Inter"/>
              </a:endParaRPr>
            </a:p>
            <a:p>
              <a:pPr indent="0" lvl="0" marL="0" rtl="0" algn="l">
                <a:spcBef>
                  <a:spcPts val="900"/>
                </a:spcBef>
                <a:spcAft>
                  <a:spcPts val="0"/>
                </a:spcAft>
                <a:buNone/>
              </a:pPr>
              <a:r>
                <a:rPr b="0" lang="en" sz="1275">
                  <a:solidFill>
                    <a:srgbClr val="1F2937"/>
                  </a:solidFill>
                  <a:latin typeface="Inter SemiBold"/>
                  <a:ea typeface="Inter SemiBold"/>
                  <a:cs typeface="Inter SemiBold"/>
                  <a:sym typeface="Inter SemiBold"/>
                </a:rPr>
                <a:t>Verification Behaviour</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The function </a:t>
              </a:r>
              <a:r>
                <a:rPr b="0" lang="en" sz="1105">
                  <a:solidFill>
                    <a:srgbClr val="0B7A4B"/>
                  </a:solidFill>
                  <a:latin typeface="Courier"/>
                  <a:ea typeface="Courier"/>
                  <a:cs typeface="Courier"/>
                  <a:sym typeface="Courier"/>
                </a:rPr>
                <a:t>os.path.exists()</a:t>
              </a:r>
              <a:r>
                <a:rPr b="0" lang="en" sz="1190">
                  <a:solidFill>
                    <a:srgbClr val="374151"/>
                  </a:solidFill>
                  <a:latin typeface="Inter"/>
                  <a:ea typeface="Inter"/>
                  <a:cs typeface="Inter"/>
                  <a:sym typeface="Inter"/>
                </a:rPr>
                <a:t> evaluates file descriptors and directories, returning </a:t>
              </a:r>
              <a:r>
                <a:rPr b="1" lang="en" sz="1105">
                  <a:solidFill>
                    <a:srgbClr val="045A36"/>
                  </a:solidFill>
                  <a:latin typeface="Courier"/>
                  <a:ea typeface="Courier"/>
                  <a:cs typeface="Courier"/>
                  <a:sym typeface="Courier"/>
                </a:rPr>
                <a:t>True</a:t>
              </a:r>
              <a:r>
                <a:rPr b="0" lang="en" sz="1190">
                  <a:solidFill>
                    <a:srgbClr val="374151"/>
                  </a:solidFill>
                  <a:latin typeface="Inter"/>
                  <a:ea typeface="Inter"/>
                  <a:cs typeface="Inter"/>
                  <a:sym typeface="Inter"/>
                </a:rPr>
                <a:t> if accessible, and </a:t>
              </a:r>
              <a:r>
                <a:rPr b="1" lang="en" sz="1105">
                  <a:solidFill>
                    <a:srgbClr val="045A36"/>
                  </a:solidFill>
                  <a:latin typeface="Courier"/>
                  <a:ea typeface="Courier"/>
                  <a:cs typeface="Courier"/>
                  <a:sym typeface="Courier"/>
                </a:rPr>
                <a:t>False</a:t>
              </a:r>
              <a:r>
                <a:rPr b="0" lang="en" sz="1190">
                  <a:solidFill>
                    <a:srgbClr val="374151"/>
                  </a:solidFill>
                  <a:latin typeface="Inter"/>
                  <a:ea typeface="Inter"/>
                  <a:cs typeface="Inter"/>
                  <a:sym typeface="Inter"/>
                </a:rPr>
                <a:t> otherwise.</a:t>
              </a:r>
              <a:endParaRPr b="0" sz="1190">
                <a:solidFill>
                  <a:srgbClr val="374151"/>
                </a:solidFill>
                <a:latin typeface="Inter"/>
                <a:ea typeface="Inter"/>
                <a:cs typeface="Inter"/>
                <a:sym typeface="Inter"/>
              </a:endParaRPr>
            </a:p>
            <a:p>
              <a:pPr indent="0" lvl="0" marL="0" rtl="0" algn="l">
                <a:spcBef>
                  <a:spcPts val="900"/>
                </a:spcBef>
                <a:spcAft>
                  <a:spcPts val="0"/>
                </a:spcAft>
                <a:buNone/>
              </a:pPr>
              <a:r>
                <a:rPr b="0" lang="en" sz="1275">
                  <a:solidFill>
                    <a:srgbClr val="1F2937"/>
                  </a:solidFill>
                  <a:latin typeface="Inter SemiBold"/>
                  <a:ea typeface="Inter SemiBold"/>
                  <a:cs typeface="Inter SemiBold"/>
                  <a:sym typeface="Inter SemiBold"/>
                </a:rPr>
                <a:t>Expected Script Output</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978">
                  <a:solidFill>
                    <a:srgbClr val="1F2937"/>
                  </a:solidFill>
                  <a:highlight>
                    <a:srgbClr val="F1F5F9"/>
                  </a:highlight>
                  <a:latin typeface="Courier"/>
                  <a:ea typeface="Courier"/>
                  <a:cs typeface="Courier"/>
                  <a:sym typeface="Courier"/>
                </a:rPr>
                <a:t>Configuration found. Loading... </a:t>
              </a:r>
              <a:r>
                <a:rPr b="0" lang="en" sz="893">
                  <a:solidFill>
                    <a:srgbClr val="6B7280"/>
                  </a:solidFill>
                  <a:latin typeface="Inter"/>
                  <a:ea typeface="Inter"/>
                  <a:cs typeface="Inter"/>
                  <a:sym typeface="Inter"/>
                </a:rPr>
                <a:t>(or missing fallback)</a:t>
              </a:r>
              <a:endParaRPr b="0" sz="978">
                <a:solidFill>
                  <a:srgbClr val="1F2937"/>
                </a:solidFill>
                <a:highlight>
                  <a:srgbClr val="F1F5F9"/>
                </a:highlight>
                <a:latin typeface="Courier"/>
                <a:ea typeface="Courier"/>
                <a:cs typeface="Courier"/>
                <a:sym typeface="Courier"/>
              </a:endParaRPr>
            </a:p>
          </p:txBody>
        </p:sp>
      </p:grpSp>
      <p:grpSp>
        <p:nvGrpSpPr>
          <p:cNvPr id="497" name="Google Shape;497;p28"/>
          <p:cNvGrpSpPr/>
          <p:nvPr/>
        </p:nvGrpSpPr>
        <p:grpSpPr>
          <a:xfrm>
            <a:off x="762000" y="4953000"/>
            <a:ext cx="10668000" cy="904800"/>
            <a:chOff x="0" y="0"/>
            <a:chExt cx="10668000" cy="904800"/>
          </a:xfrm>
        </p:grpSpPr>
        <p:sp>
          <p:nvSpPr>
            <p:cNvPr id="498" name="Google Shape;498;p28"/>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8"/>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8"/>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SYSTEM DESIGN RECOMMENDATION</a:t>
              </a:r>
              <a:endParaRPr b="1" sz="1200">
                <a:solidFill>
                  <a:srgbClr val="045A36"/>
                </a:solidFill>
                <a:latin typeface="Inter"/>
                <a:ea typeface="Inter"/>
                <a:cs typeface="Inter"/>
                <a:sym typeface="Inter"/>
              </a:endParaRPr>
            </a:p>
          </p:txBody>
        </p:sp>
        <p:sp>
          <p:nvSpPr>
            <p:cNvPr id="501" name="Google Shape;501;p28"/>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1F2937"/>
                  </a:solidFill>
                  <a:latin typeface="Inter SemiBold"/>
                  <a:ea typeface="Inter SemiBold"/>
                  <a:cs typeface="Inter SemiBold"/>
                  <a:sym typeface="Inter SemiBold"/>
                </a:rPr>
                <a:t>By implementing defensive existence checks, engineers shield automated robotic systems and long-term background servers from crashing when state changes or unexpected missing parameters occur.</a:t>
              </a:r>
              <a:endParaRPr b="0" sz="1203">
                <a:solidFill>
                  <a:srgbClr val="1F2937"/>
                </a:solidFill>
                <a:latin typeface="Inter SemiBold"/>
                <a:ea typeface="Inter SemiBold"/>
                <a:cs typeface="Inter SemiBold"/>
                <a:sym typeface="Inter SemiBold"/>
              </a:endParaRPr>
            </a:p>
          </p:txBody>
        </p:sp>
      </p:grpSp>
      <p:sp>
        <p:nvSpPr>
          <p:cNvPr id="502" name="Google Shape;502;p28"/>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9"/>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9"/>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2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10" name="Google Shape;510;p29"/>
          <p:cNvGrpSpPr/>
          <p:nvPr/>
        </p:nvGrpSpPr>
        <p:grpSpPr>
          <a:xfrm>
            <a:off x="762000" y="571500"/>
            <a:ext cx="10668000" cy="1095375"/>
            <a:chOff x="762000" y="571500"/>
            <a:chExt cx="10668000" cy="1095375"/>
          </a:xfrm>
        </p:grpSpPr>
        <p:sp>
          <p:nvSpPr>
            <p:cNvPr id="511" name="Google Shape;511;p29"/>
            <p:cNvSpPr txBox="1"/>
            <p:nvPr/>
          </p:nvSpPr>
          <p:spPr>
            <a:xfrm>
              <a:off x="762000" y="57150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Classifying Targets with os.path.isfile() and os.path.isdir()</a:t>
              </a:r>
              <a:endParaRPr b="0" sz="2700">
                <a:solidFill>
                  <a:srgbClr val="045A36"/>
                </a:solidFill>
                <a:latin typeface="Montserrat SemiBold"/>
                <a:ea typeface="Montserrat SemiBold"/>
                <a:cs typeface="Montserrat SemiBold"/>
                <a:sym typeface="Montserrat SemiBold"/>
              </a:endParaRPr>
            </a:p>
          </p:txBody>
        </p:sp>
        <p:sp>
          <p:nvSpPr>
            <p:cNvPr id="512" name="Google Shape;512;p29"/>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80">
                  <a:solidFill>
                    <a:srgbClr val="4B5563"/>
                  </a:solidFill>
                  <a:latin typeface="Inter SemiBold"/>
                  <a:ea typeface="Inter SemiBold"/>
                  <a:cs typeface="Inter SemiBold"/>
                  <a:sym typeface="Inter SemiBold"/>
                </a:rPr>
                <a:t>Use the Python os.path module to programmatically distinguish between directory branches and individual files.</a:t>
              </a:r>
              <a:endParaRPr b="0" sz="1480">
                <a:solidFill>
                  <a:srgbClr val="4B5563"/>
                </a:solidFill>
                <a:latin typeface="Inter SemiBold"/>
                <a:ea typeface="Inter SemiBold"/>
                <a:cs typeface="Inter SemiBold"/>
                <a:sym typeface="Inter SemiBold"/>
              </a:endParaRPr>
            </a:p>
          </p:txBody>
        </p:sp>
      </p:grpSp>
      <p:grpSp>
        <p:nvGrpSpPr>
          <p:cNvPr id="513" name="Google Shape;513;p29"/>
          <p:cNvGrpSpPr/>
          <p:nvPr/>
        </p:nvGrpSpPr>
        <p:grpSpPr>
          <a:xfrm>
            <a:off x="762000" y="1809750"/>
            <a:ext cx="5143500" cy="3000300"/>
            <a:chOff x="0" y="0"/>
            <a:chExt cx="5143500" cy="3000300"/>
          </a:xfrm>
        </p:grpSpPr>
        <p:sp>
          <p:nvSpPr>
            <p:cNvPr id="514" name="Google Shape;514;p29"/>
            <p:cNvSpPr/>
            <p:nvPr/>
          </p:nvSpPr>
          <p:spPr>
            <a:xfrm>
              <a:off x="0" y="0"/>
              <a:ext cx="5143500" cy="3000300"/>
            </a:xfrm>
            <a:prstGeom prst="roundRect">
              <a:avLst>
                <a:gd fmla="val 2539"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29"/>
            <p:cNvSpPr/>
            <p:nvPr/>
          </p:nvSpPr>
          <p:spPr>
            <a:xfrm>
              <a:off x="0" y="0"/>
              <a:ext cx="57300" cy="30003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29"/>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Code Verification &amp; Syntax</a:t>
              </a:r>
              <a:endParaRPr b="1" sz="1200">
                <a:solidFill>
                  <a:srgbClr val="D4A017"/>
                </a:solidFill>
                <a:latin typeface="Inter"/>
                <a:ea typeface="Inter"/>
                <a:cs typeface="Inter"/>
                <a:sym typeface="Inter"/>
              </a:endParaRPr>
            </a:p>
          </p:txBody>
        </p:sp>
        <p:sp>
          <p:nvSpPr>
            <p:cNvPr id="517" name="Google Shape;517;p29"/>
            <p:cNvSpPr txBox="1"/>
            <p:nvPr/>
          </p:nvSpPr>
          <p:spPr>
            <a:xfrm>
              <a:off x="238125" y="571500"/>
              <a:ext cx="46674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935">
                  <a:solidFill>
                    <a:srgbClr val="6B7280"/>
                  </a:solidFill>
                  <a:latin typeface="Courier"/>
                  <a:ea typeface="Courier"/>
                  <a:cs typeface="Courier"/>
                  <a:sym typeface="Courier"/>
                </a:rPr>
                <a:t># Verify path classifications safely</a:t>
              </a:r>
              <a:endParaRPr b="0" i="1" sz="935">
                <a:solidFill>
                  <a:srgbClr val="6B7280"/>
                </a:solidFill>
                <a:latin typeface="Courier"/>
                <a:ea typeface="Courier"/>
                <a:cs typeface="Courier"/>
                <a:sym typeface="Courier"/>
              </a:endParaRPr>
            </a:p>
            <a:p>
              <a:pPr indent="0" lvl="0" marL="0" rtl="0" algn="l">
                <a:spcBef>
                  <a:spcPts val="0"/>
                </a:spcBef>
                <a:spcAft>
                  <a:spcPts val="0"/>
                </a:spcAft>
                <a:buNone/>
              </a:pPr>
              <a:r>
                <a:rPr b="1" lang="en" sz="1105">
                  <a:solidFill>
                    <a:srgbClr val="045A36"/>
                  </a:solidFill>
                  <a:latin typeface="Courier"/>
                  <a:ea typeface="Courier"/>
                  <a:cs typeface="Courier"/>
                  <a:sym typeface="Courier"/>
                </a:rPr>
                <a:t>import</a:t>
              </a:r>
              <a:r>
                <a:rPr b="0" lang="en" sz="1105">
                  <a:solidFill>
                    <a:srgbClr val="1F2937"/>
                  </a:solidFill>
                  <a:latin typeface="Courier"/>
                  <a:ea typeface="Courier"/>
                  <a:cs typeface="Courier"/>
                  <a:sym typeface="Courier"/>
                </a:rPr>
                <a:t> </a:t>
              </a:r>
              <a:r>
                <a:rPr b="0" lang="en" sz="1105">
                  <a:solidFill>
                    <a:srgbClr val="0B7A4B"/>
                  </a:solidFill>
                  <a:latin typeface="Courier"/>
                  <a:ea typeface="Courier"/>
                  <a:cs typeface="Courier"/>
                  <a:sym typeface="Courier"/>
                </a:rPr>
                <a:t>os</a:t>
              </a:r>
              <a:endParaRPr b="0" sz="1105">
                <a:solidFill>
                  <a:srgbClr val="1F2937"/>
                </a:solidFill>
                <a:latin typeface="Courier"/>
                <a:ea typeface="Courier"/>
                <a:cs typeface="Courier"/>
                <a:sym typeface="Courier"/>
              </a:endParaRPr>
            </a:p>
            <a:p>
              <a:pPr indent="0" lvl="0" marL="0" rtl="0" algn="l">
                <a:spcBef>
                  <a:spcPts val="300"/>
                </a:spcBef>
                <a:spcAft>
                  <a:spcPts val="0"/>
                </a:spcAft>
                <a:buNone/>
              </a:pPr>
              <a:r>
                <a:rPr b="0" lang="en" sz="1105">
                  <a:solidFill>
                    <a:srgbClr val="1F2937"/>
                  </a:solidFill>
                  <a:latin typeface="Courier"/>
                  <a:ea typeface="Courier"/>
                  <a:cs typeface="Courier"/>
                  <a:sym typeface="Courier"/>
                </a:rPr>
                <a:t>target = </a:t>
              </a:r>
              <a:r>
                <a:rPr b="0" lang="en" sz="1105">
                  <a:solidFill>
                    <a:srgbClr val="B91C1C"/>
                  </a:solidFill>
                  <a:latin typeface="Courier"/>
                  <a:ea typeface="Courier"/>
                  <a:cs typeface="Courier"/>
                  <a:sym typeface="Courier"/>
                </a:rPr>
                <a:t>'sensor_data'</a:t>
              </a:r>
              <a:endParaRPr b="0" sz="1105">
                <a:solidFill>
                  <a:srgbClr val="1F2937"/>
                </a:solidFill>
                <a:latin typeface="Courier"/>
                <a:ea typeface="Courier"/>
                <a:cs typeface="Courier"/>
                <a:sym typeface="Courier"/>
              </a:endParaRPr>
            </a:p>
            <a:p>
              <a:pPr indent="0" lvl="0" marL="0" rtl="0" algn="l">
                <a:spcBef>
                  <a:spcPts val="750"/>
                </a:spcBef>
                <a:spcAft>
                  <a:spcPts val="0"/>
                </a:spcAft>
                <a:buNone/>
              </a:pPr>
              <a:r>
                <a:rPr b="1" lang="en" sz="1105">
                  <a:solidFill>
                    <a:srgbClr val="045A36"/>
                  </a:solidFill>
                  <a:latin typeface="Courier"/>
                  <a:ea typeface="Courier"/>
                  <a:cs typeface="Courier"/>
                  <a:sym typeface="Courier"/>
                </a:rPr>
                <a:t>if</a:t>
              </a:r>
              <a:r>
                <a:rPr b="0" lang="en" sz="1105">
                  <a:solidFill>
                    <a:srgbClr val="1F2937"/>
                  </a:solidFill>
                  <a:latin typeface="Courier"/>
                  <a:ea typeface="Courier"/>
                  <a:cs typeface="Courier"/>
                  <a:sym typeface="Courier"/>
                </a:rPr>
                <a:t> </a:t>
              </a:r>
              <a:r>
                <a:rPr b="0" lang="en" sz="1105">
                  <a:solidFill>
                    <a:srgbClr val="0B7A4B"/>
                  </a:solidFill>
                  <a:latin typeface="Courier"/>
                  <a:ea typeface="Courier"/>
                  <a:cs typeface="Courier"/>
                  <a:sym typeface="Courier"/>
                </a:rPr>
                <a:t>os.path.isdir</a:t>
              </a:r>
              <a:r>
                <a:rPr b="0" lang="en" sz="1105">
                  <a:solidFill>
                    <a:srgbClr val="1F2937"/>
                  </a:solidFill>
                  <a:latin typeface="Courier"/>
                  <a:ea typeface="Courier"/>
                  <a:cs typeface="Courier"/>
                  <a:sym typeface="Courier"/>
                </a:rPr>
                <a:t>(target):</a:t>
              </a:r>
              <a:endParaRPr b="0" sz="1105">
                <a:solidFill>
                  <a:srgbClr val="1F2937"/>
                </a:solidFill>
                <a:latin typeface="Courier"/>
                <a:ea typeface="Courier"/>
                <a:cs typeface="Courier"/>
                <a:sym typeface="Courier"/>
              </a:endParaRPr>
            </a:p>
            <a:p>
              <a:pPr indent="0" lvl="0" marL="0" rtl="0" algn="l">
                <a:spcBef>
                  <a:spcPts val="0"/>
                </a:spcBef>
                <a:spcAft>
                  <a:spcPts val="0"/>
                </a:spcAft>
                <a:buNone/>
              </a:pPr>
              <a:r>
                <a:rPr b="0" lang="en" sz="1105">
                  <a:solidFill>
                    <a:srgbClr val="0B7A4B"/>
                  </a:solidFill>
                  <a:latin typeface="Courier"/>
                  <a:ea typeface="Courier"/>
                  <a:cs typeface="Courier"/>
                  <a:sym typeface="Courier"/>
                </a:rPr>
                <a:t>print</a:t>
              </a:r>
              <a:r>
                <a:rPr b="0" lang="en" sz="1105">
                  <a:solidFill>
                    <a:srgbClr val="1F2937"/>
                  </a:solidFill>
                  <a:latin typeface="Courier"/>
                  <a:ea typeface="Courier"/>
                  <a:cs typeface="Courier"/>
                  <a:sym typeface="Courier"/>
                </a:rPr>
                <a:t>(f</a:t>
              </a:r>
              <a:r>
                <a:rPr b="0" lang="en" sz="1105">
                  <a:solidFill>
                    <a:srgbClr val="B91C1C"/>
                  </a:solidFill>
                  <a:latin typeface="Courier"/>
                  <a:ea typeface="Courier"/>
                  <a:cs typeface="Courier"/>
                  <a:sym typeface="Courier"/>
                </a:rPr>
                <a:t>"{target} is a directory."</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300"/>
                </a:spcBef>
                <a:spcAft>
                  <a:spcPts val="0"/>
                </a:spcAft>
                <a:buNone/>
              </a:pPr>
              <a:r>
                <a:rPr b="1" lang="en" sz="1105">
                  <a:solidFill>
                    <a:srgbClr val="045A36"/>
                  </a:solidFill>
                  <a:latin typeface="Courier"/>
                  <a:ea typeface="Courier"/>
                  <a:cs typeface="Courier"/>
                  <a:sym typeface="Courier"/>
                </a:rPr>
                <a:t>elif</a:t>
              </a:r>
              <a:r>
                <a:rPr b="0" lang="en" sz="1105">
                  <a:solidFill>
                    <a:srgbClr val="1F2937"/>
                  </a:solidFill>
                  <a:latin typeface="Courier"/>
                  <a:ea typeface="Courier"/>
                  <a:cs typeface="Courier"/>
                  <a:sym typeface="Courier"/>
                </a:rPr>
                <a:t> </a:t>
              </a:r>
              <a:r>
                <a:rPr b="0" lang="en" sz="1105">
                  <a:solidFill>
                    <a:srgbClr val="0B7A4B"/>
                  </a:solidFill>
                  <a:latin typeface="Courier"/>
                  <a:ea typeface="Courier"/>
                  <a:cs typeface="Courier"/>
                  <a:sym typeface="Courier"/>
                </a:rPr>
                <a:t>os.path.isfile</a:t>
              </a:r>
              <a:r>
                <a:rPr b="0" lang="en" sz="1105">
                  <a:solidFill>
                    <a:srgbClr val="1F2937"/>
                  </a:solidFill>
                  <a:latin typeface="Courier"/>
                  <a:ea typeface="Courier"/>
                  <a:cs typeface="Courier"/>
                  <a:sym typeface="Courier"/>
                </a:rPr>
                <a:t>(target):</a:t>
              </a:r>
              <a:endParaRPr b="0" sz="1105">
                <a:solidFill>
                  <a:srgbClr val="1F2937"/>
                </a:solidFill>
                <a:latin typeface="Courier"/>
                <a:ea typeface="Courier"/>
                <a:cs typeface="Courier"/>
                <a:sym typeface="Courier"/>
              </a:endParaRPr>
            </a:p>
            <a:p>
              <a:pPr indent="0" lvl="0" marL="0" rtl="0" algn="l">
                <a:spcBef>
                  <a:spcPts val="0"/>
                </a:spcBef>
                <a:spcAft>
                  <a:spcPts val="0"/>
                </a:spcAft>
                <a:buNone/>
              </a:pPr>
              <a:r>
                <a:rPr b="0" lang="en" sz="1105">
                  <a:solidFill>
                    <a:srgbClr val="0B7A4B"/>
                  </a:solidFill>
                  <a:latin typeface="Courier"/>
                  <a:ea typeface="Courier"/>
                  <a:cs typeface="Courier"/>
                  <a:sym typeface="Courier"/>
                </a:rPr>
                <a:t>print</a:t>
              </a:r>
              <a:r>
                <a:rPr b="0" lang="en" sz="1105">
                  <a:solidFill>
                    <a:srgbClr val="1F2937"/>
                  </a:solidFill>
                  <a:latin typeface="Courier"/>
                  <a:ea typeface="Courier"/>
                  <a:cs typeface="Courier"/>
                  <a:sym typeface="Courier"/>
                </a:rPr>
                <a:t>(f</a:t>
              </a:r>
              <a:r>
                <a:rPr b="0" lang="en" sz="1105">
                  <a:solidFill>
                    <a:srgbClr val="B91C1C"/>
                  </a:solidFill>
                  <a:latin typeface="Courier"/>
                  <a:ea typeface="Courier"/>
                  <a:cs typeface="Courier"/>
                  <a:sym typeface="Courier"/>
                </a:rPr>
                <a:t>"{target} is a file."</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300"/>
                </a:spcBef>
                <a:spcAft>
                  <a:spcPts val="0"/>
                </a:spcAft>
                <a:buNone/>
              </a:pPr>
              <a:r>
                <a:rPr b="1" lang="en" sz="1105">
                  <a:solidFill>
                    <a:srgbClr val="045A36"/>
                  </a:solidFill>
                  <a:latin typeface="Courier"/>
                  <a:ea typeface="Courier"/>
                  <a:cs typeface="Courier"/>
                  <a:sym typeface="Courier"/>
                </a:rPr>
                <a:t>else</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0"/>
                </a:spcBef>
                <a:spcAft>
                  <a:spcPts val="0"/>
                </a:spcAft>
                <a:buNone/>
              </a:pPr>
              <a:r>
                <a:rPr b="0" lang="en" sz="1105">
                  <a:solidFill>
                    <a:srgbClr val="0B7A4B"/>
                  </a:solidFill>
                  <a:latin typeface="Courier"/>
                  <a:ea typeface="Courier"/>
                  <a:cs typeface="Courier"/>
                  <a:sym typeface="Courier"/>
                </a:rPr>
                <a:t>print</a:t>
              </a:r>
              <a:r>
                <a:rPr b="0" lang="en" sz="1105">
                  <a:solidFill>
                    <a:srgbClr val="1F2937"/>
                  </a:solidFill>
                  <a:latin typeface="Courier"/>
                  <a:ea typeface="Courier"/>
                  <a:cs typeface="Courier"/>
                  <a:sym typeface="Courier"/>
                </a:rPr>
                <a:t>(f</a:t>
              </a:r>
              <a:r>
                <a:rPr b="0" lang="en" sz="1105">
                  <a:solidFill>
                    <a:srgbClr val="B91C1C"/>
                  </a:solidFill>
                  <a:latin typeface="Courier"/>
                  <a:ea typeface="Courier"/>
                  <a:cs typeface="Courier"/>
                  <a:sym typeface="Courier"/>
                </a:rPr>
                <a:t>"{target} does not exist."</a:t>
              </a:r>
              <a:r>
                <a:rPr b="0" lang="en" sz="1105">
                  <a:solidFill>
                    <a:srgbClr val="1F2937"/>
                  </a:solidFill>
                  <a:latin typeface="Courier"/>
                  <a:ea typeface="Courier"/>
                  <a:cs typeface="Courier"/>
                  <a:sym typeface="Courier"/>
                </a:rPr>
                <a:t>)</a:t>
              </a:r>
              <a:endParaRPr b="0" sz="1105">
                <a:solidFill>
                  <a:srgbClr val="1F2937"/>
                </a:solidFill>
                <a:latin typeface="Courier"/>
                <a:ea typeface="Courier"/>
                <a:cs typeface="Courier"/>
                <a:sym typeface="Courier"/>
              </a:endParaRPr>
            </a:p>
            <a:p>
              <a:pPr indent="0" lvl="0" marL="0" rtl="0" algn="l">
                <a:spcBef>
                  <a:spcPts val="1125"/>
                </a:spcBef>
                <a:spcAft>
                  <a:spcPts val="0"/>
                </a:spcAft>
                <a:buNone/>
              </a:pPr>
              <a:r>
                <a:rPr b="0" i="1" lang="en" sz="935">
                  <a:solidFill>
                    <a:srgbClr val="6B7280"/>
                  </a:solidFill>
                  <a:latin typeface="Courier"/>
                  <a:ea typeface="Courier"/>
                  <a:cs typeface="Courier"/>
                  <a:sym typeface="Courier"/>
                </a:rPr>
                <a:t># Expected Output:</a:t>
              </a:r>
              <a:endParaRPr b="0" i="1" sz="935">
                <a:solidFill>
                  <a:srgbClr val="6B7280"/>
                </a:solidFill>
                <a:latin typeface="Courier"/>
                <a:ea typeface="Courier"/>
                <a:cs typeface="Courier"/>
                <a:sym typeface="Courier"/>
              </a:endParaRPr>
            </a:p>
            <a:p>
              <a:pPr indent="0" lvl="0" marL="0" rtl="0" algn="l">
                <a:spcBef>
                  <a:spcPts val="0"/>
                </a:spcBef>
                <a:spcAft>
                  <a:spcPts val="0"/>
                </a:spcAft>
                <a:buNone/>
              </a:pPr>
              <a:r>
                <a:rPr b="1" lang="en" sz="1105">
                  <a:solidFill>
                    <a:srgbClr val="045A36"/>
                  </a:solidFill>
                  <a:latin typeface="Courier"/>
                  <a:ea typeface="Courier"/>
                  <a:cs typeface="Courier"/>
                  <a:sym typeface="Courier"/>
                </a:rPr>
                <a:t>sensor_data is a directory.</a:t>
              </a:r>
              <a:endParaRPr b="1" sz="1105">
                <a:solidFill>
                  <a:srgbClr val="045A36"/>
                </a:solidFill>
                <a:latin typeface="Courier"/>
                <a:ea typeface="Courier"/>
                <a:cs typeface="Courier"/>
                <a:sym typeface="Courier"/>
              </a:endParaRPr>
            </a:p>
          </p:txBody>
        </p:sp>
      </p:grpSp>
      <p:grpSp>
        <p:nvGrpSpPr>
          <p:cNvPr id="518" name="Google Shape;518;p29"/>
          <p:cNvGrpSpPr/>
          <p:nvPr/>
        </p:nvGrpSpPr>
        <p:grpSpPr>
          <a:xfrm>
            <a:off x="6286500" y="1809750"/>
            <a:ext cx="5143500" cy="3000300"/>
            <a:chOff x="0" y="0"/>
            <a:chExt cx="5143500" cy="3000300"/>
          </a:xfrm>
        </p:grpSpPr>
        <p:sp>
          <p:nvSpPr>
            <p:cNvPr id="519" name="Google Shape;519;p29"/>
            <p:cNvSpPr/>
            <p:nvPr/>
          </p:nvSpPr>
          <p:spPr>
            <a:xfrm>
              <a:off x="0" y="0"/>
              <a:ext cx="5143500" cy="3000300"/>
            </a:xfrm>
            <a:prstGeom prst="roundRect">
              <a:avLst>
                <a:gd fmla="val 38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29"/>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1" name="Google Shape;521;p29"/>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Target Validation Toolset</a:t>
              </a:r>
              <a:endParaRPr b="1" sz="1200">
                <a:solidFill>
                  <a:srgbClr val="045A36"/>
                </a:solidFill>
                <a:latin typeface="Inter"/>
                <a:ea typeface="Inter"/>
                <a:cs typeface="Inter"/>
                <a:sym typeface="Inter"/>
              </a:endParaRPr>
            </a:p>
          </p:txBody>
        </p:sp>
        <p:sp>
          <p:nvSpPr>
            <p:cNvPr id="522" name="Google Shape;522;p29"/>
            <p:cNvSpPr txBox="1"/>
            <p:nvPr/>
          </p:nvSpPr>
          <p:spPr>
            <a:xfrm>
              <a:off x="238125" y="571500"/>
              <a:ext cx="46674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os.path.isfile(path)</a:t>
              </a:r>
              <a:endParaRPr b="0" sz="1500">
                <a:solidFill>
                  <a:srgbClr val="045A36"/>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Validates if the target points directly to an existing, standard regular file (containing byte sequences). Returns </a:t>
              </a:r>
              <a:r>
                <a:rPr b="1" lang="en" sz="1100">
                  <a:solidFill>
                    <a:srgbClr val="045A36"/>
                  </a:solidFill>
                  <a:latin typeface="Courier"/>
                  <a:ea typeface="Courier"/>
                  <a:cs typeface="Courier"/>
                  <a:sym typeface="Courier"/>
                </a:rPr>
                <a:t>True</a:t>
              </a:r>
              <a:r>
                <a:rPr b="0" lang="en" sz="1400">
                  <a:solidFill>
                    <a:srgbClr val="374151"/>
                  </a:solidFill>
                  <a:latin typeface="Inter"/>
                  <a:ea typeface="Inter"/>
                  <a:cs typeface="Inter"/>
                  <a:sym typeface="Inter"/>
                </a:rPr>
                <a:t> if valid, and </a:t>
              </a:r>
              <a:r>
                <a:rPr b="1" lang="en" sz="1100">
                  <a:solidFill>
                    <a:srgbClr val="045A36"/>
                  </a:solidFill>
                  <a:latin typeface="Courier"/>
                  <a:ea typeface="Courier"/>
                  <a:cs typeface="Courier"/>
                  <a:sym typeface="Courier"/>
                </a:rPr>
                <a:t>False</a:t>
              </a:r>
              <a:r>
                <a:rPr b="0" lang="en" sz="1400">
                  <a:solidFill>
                    <a:srgbClr val="374151"/>
                  </a:solidFill>
                  <a:latin typeface="Inter"/>
                  <a:ea typeface="Inter"/>
                  <a:cs typeface="Inter"/>
                  <a:sym typeface="Inter"/>
                </a:rPr>
                <a:t> otherwise.</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os.path.isdir(path)</a:t>
              </a:r>
              <a:endParaRPr b="0" sz="1500">
                <a:solidFill>
                  <a:srgbClr val="045A36"/>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Validates if the target points to an existing directory branch (folder structure tree containing other nodes). Returns </a:t>
              </a:r>
              <a:r>
                <a:rPr b="1" lang="en" sz="1100">
                  <a:solidFill>
                    <a:srgbClr val="045A36"/>
                  </a:solidFill>
                  <a:latin typeface="Courier"/>
                  <a:ea typeface="Courier"/>
                  <a:cs typeface="Courier"/>
                  <a:sym typeface="Courier"/>
                </a:rPr>
                <a:t>True</a:t>
              </a:r>
              <a:r>
                <a:rPr b="0" lang="en" sz="1400">
                  <a:solidFill>
                    <a:srgbClr val="374151"/>
                  </a:solidFill>
                  <a:latin typeface="Inter"/>
                  <a:ea typeface="Inter"/>
                  <a:cs typeface="Inter"/>
                  <a:sym typeface="Inter"/>
                </a:rPr>
                <a:t> if valid, and </a:t>
              </a:r>
              <a:r>
                <a:rPr b="1" lang="en" sz="1100">
                  <a:solidFill>
                    <a:srgbClr val="045A36"/>
                  </a:solidFill>
                  <a:latin typeface="Courier"/>
                  <a:ea typeface="Courier"/>
                  <a:cs typeface="Courier"/>
                  <a:sym typeface="Courier"/>
                </a:rPr>
                <a:t>False</a:t>
              </a:r>
              <a:r>
                <a:rPr b="0" lang="en" sz="1400">
                  <a:solidFill>
                    <a:srgbClr val="374151"/>
                  </a:solidFill>
                  <a:latin typeface="Inter"/>
                  <a:ea typeface="Inter"/>
                  <a:cs typeface="Inter"/>
                  <a:sym typeface="Inter"/>
                </a:rPr>
                <a:t> otherwise.</a:t>
              </a:r>
              <a:endParaRPr b="0" sz="1400">
                <a:solidFill>
                  <a:srgbClr val="374151"/>
                </a:solidFill>
                <a:latin typeface="Inter"/>
                <a:ea typeface="Inter"/>
                <a:cs typeface="Inter"/>
                <a:sym typeface="Inter"/>
              </a:endParaRPr>
            </a:p>
          </p:txBody>
        </p:sp>
      </p:grpSp>
      <p:grpSp>
        <p:nvGrpSpPr>
          <p:cNvPr id="523" name="Google Shape;523;p29"/>
          <p:cNvGrpSpPr/>
          <p:nvPr/>
        </p:nvGrpSpPr>
        <p:grpSpPr>
          <a:xfrm>
            <a:off x="762000" y="4953000"/>
            <a:ext cx="10668000" cy="904800"/>
            <a:chOff x="0" y="0"/>
            <a:chExt cx="10668000" cy="904800"/>
          </a:xfrm>
        </p:grpSpPr>
        <p:sp>
          <p:nvSpPr>
            <p:cNvPr id="524" name="Google Shape;524;p29"/>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29"/>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29"/>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PRACTICAL ARCHITECTURE APPLICATION</a:t>
              </a:r>
              <a:endParaRPr b="1" sz="1200">
                <a:solidFill>
                  <a:srgbClr val="045A36"/>
                </a:solidFill>
                <a:latin typeface="Inter"/>
                <a:ea typeface="Inter"/>
                <a:cs typeface="Inter"/>
                <a:sym typeface="Inter"/>
              </a:endParaRPr>
            </a:p>
          </p:txBody>
        </p:sp>
        <p:sp>
          <p:nvSpPr>
            <p:cNvPr id="527" name="Google Shape;527;p29"/>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9">
                  <a:solidFill>
                    <a:srgbClr val="1F2937"/>
                  </a:solidFill>
                  <a:latin typeface="Inter SemiBold"/>
                  <a:ea typeface="Inter SemiBold"/>
                  <a:cs typeface="Inter SemiBold"/>
                  <a:sym typeface="Inter SemiBold"/>
                </a:rPr>
                <a:t>Extremely useful when iterating through </a:t>
              </a:r>
              <a:r>
                <a:rPr b="1" lang="en" sz="1249">
                  <a:solidFill>
                    <a:srgbClr val="045A36"/>
                  </a:solidFill>
                  <a:latin typeface="Courier"/>
                  <a:ea typeface="Courier"/>
                  <a:cs typeface="Courier"/>
                  <a:sym typeface="Courier"/>
                </a:rPr>
                <a:t>os.listdir()</a:t>
              </a:r>
              <a:r>
                <a:rPr b="0" lang="en" sz="1249">
                  <a:solidFill>
                    <a:srgbClr val="1F2937"/>
                  </a:solidFill>
                  <a:latin typeface="Inter SemiBold"/>
                  <a:ea typeface="Inter SemiBold"/>
                  <a:cs typeface="Inter SemiBold"/>
                  <a:sym typeface="Inter SemiBold"/>
                </a:rPr>
                <a:t> to separate system files from directories, preventing program crashes during batch processing.</a:t>
              </a:r>
              <a:endParaRPr b="0" sz="1249">
                <a:solidFill>
                  <a:srgbClr val="1F2937"/>
                </a:solidFill>
                <a:latin typeface="Inter SemiBold"/>
                <a:ea typeface="Inter SemiBold"/>
                <a:cs typeface="Inter SemiBold"/>
                <a:sym typeface="Inter SemiBold"/>
              </a:endParaRPr>
            </a:p>
          </p:txBody>
        </p:sp>
      </p:grpSp>
      <p:sp>
        <p:nvSpPr>
          <p:cNvPr id="528" name="Google Shape;528;p29"/>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0"/>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4" name="Google Shape;534;p3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3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36" name="Google Shape;536;p30"/>
          <p:cNvGrpSpPr/>
          <p:nvPr/>
        </p:nvGrpSpPr>
        <p:grpSpPr>
          <a:xfrm>
            <a:off x="762000" y="571500"/>
            <a:ext cx="10668000" cy="1095375"/>
            <a:chOff x="762000" y="571500"/>
            <a:chExt cx="10668000" cy="1095375"/>
          </a:xfrm>
        </p:grpSpPr>
        <p:sp>
          <p:nvSpPr>
            <p:cNvPr id="537" name="Google Shape;537;p30"/>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Fetching File Size with os.path.getsize()</a:t>
              </a:r>
              <a:endParaRPr b="0" sz="2700">
                <a:solidFill>
                  <a:srgbClr val="045A36"/>
                </a:solidFill>
                <a:latin typeface="Montserrat SemiBold"/>
                <a:ea typeface="Montserrat SemiBold"/>
                <a:cs typeface="Montserrat SemiBold"/>
                <a:sym typeface="Montserrat SemiBold"/>
              </a:endParaRPr>
            </a:p>
          </p:txBody>
        </p:sp>
        <p:sp>
          <p:nvSpPr>
            <p:cNvPr id="538" name="Google Shape;538;p30"/>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Learn how to retrieve file dimensions in bytes and safely handle storage limits using Python.</a:t>
              </a:r>
              <a:endParaRPr b="0" sz="1600">
                <a:solidFill>
                  <a:srgbClr val="4B5563"/>
                </a:solidFill>
                <a:latin typeface="Inter SemiBold"/>
                <a:ea typeface="Inter SemiBold"/>
                <a:cs typeface="Inter SemiBold"/>
                <a:sym typeface="Inter SemiBold"/>
              </a:endParaRPr>
            </a:p>
          </p:txBody>
        </p:sp>
      </p:grpSp>
      <p:grpSp>
        <p:nvGrpSpPr>
          <p:cNvPr id="539" name="Google Shape;539;p30"/>
          <p:cNvGrpSpPr/>
          <p:nvPr/>
        </p:nvGrpSpPr>
        <p:grpSpPr>
          <a:xfrm>
            <a:off x="762000" y="1714500"/>
            <a:ext cx="5143500" cy="3048000"/>
            <a:chOff x="0" y="0"/>
            <a:chExt cx="5143500" cy="3048000"/>
          </a:xfrm>
        </p:grpSpPr>
        <p:sp>
          <p:nvSpPr>
            <p:cNvPr id="540" name="Google Shape;540;p30"/>
            <p:cNvSpPr/>
            <p:nvPr/>
          </p:nvSpPr>
          <p:spPr>
            <a:xfrm>
              <a:off x="0" y="0"/>
              <a:ext cx="5143500" cy="3048000"/>
            </a:xfrm>
            <a:prstGeom prst="roundRect">
              <a:avLst>
                <a:gd fmla="val 25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30"/>
            <p:cNvSpPr/>
            <p:nvPr/>
          </p:nvSpPr>
          <p:spPr>
            <a:xfrm>
              <a:off x="0" y="0"/>
              <a:ext cx="57300" cy="30480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30"/>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IMPLEMENTATION</a:t>
              </a:r>
              <a:endParaRPr b="1" sz="1200">
                <a:solidFill>
                  <a:srgbClr val="D4A017"/>
                </a:solidFill>
                <a:latin typeface="Inter"/>
                <a:ea typeface="Inter"/>
                <a:cs typeface="Inter"/>
                <a:sym typeface="Inter"/>
              </a:endParaRPr>
            </a:p>
          </p:txBody>
        </p:sp>
        <p:sp>
          <p:nvSpPr>
            <p:cNvPr id="543" name="Google Shape;543;p30"/>
            <p:cNvSpPr txBox="1"/>
            <p:nvPr/>
          </p:nvSpPr>
          <p:spPr>
            <a:xfrm>
              <a:off x="238125" y="714375"/>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100">
                  <a:solidFill>
                    <a:srgbClr val="6B7280"/>
                  </a:solidFill>
                  <a:latin typeface="Courier"/>
                  <a:ea typeface="Courier"/>
                  <a:cs typeface="Courier"/>
                  <a:sym typeface="Courier"/>
                </a:rPr>
                <a:t># Query size of a specific file</a:t>
              </a:r>
              <a:endParaRPr b="0" i="1" sz="1100">
                <a:solidFill>
                  <a:srgbClr val="6B7280"/>
                </a:solidFill>
                <a:latin typeface="Courier"/>
                <a:ea typeface="Courier"/>
                <a:cs typeface="Courier"/>
                <a:sym typeface="Courier"/>
              </a:endParaRPr>
            </a:p>
            <a:p>
              <a:pPr indent="0" lvl="0" marL="0" rtl="0" algn="l">
                <a:spcBef>
                  <a:spcPts val="0"/>
                </a:spcBef>
                <a:spcAft>
                  <a:spcPts val="0"/>
                </a:spcAft>
                <a:buNone/>
              </a:pPr>
              <a:r>
                <a:rPr b="1" lang="en" sz="1300">
                  <a:solidFill>
                    <a:srgbClr val="045A36"/>
                  </a:solidFill>
                  <a:latin typeface="Courier"/>
                  <a:ea typeface="Courier"/>
                  <a:cs typeface="Courier"/>
                  <a:sym typeface="Courier"/>
                </a:rPr>
                <a:t>import</a:t>
              </a:r>
              <a:r>
                <a:rPr b="0" lang="en" sz="1300">
                  <a:solidFill>
                    <a:srgbClr val="1F2937"/>
                  </a:solidFill>
                  <a:latin typeface="Courier"/>
                  <a:ea typeface="Courier"/>
                  <a:cs typeface="Courier"/>
                  <a:sym typeface="Courier"/>
                </a:rPr>
                <a:t> os</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1F2937"/>
                  </a:solidFill>
                  <a:latin typeface="Courier"/>
                  <a:ea typeface="Courier"/>
                  <a:cs typeface="Courier"/>
                  <a:sym typeface="Courier"/>
                </a:rPr>
                <a:t>file_path = </a:t>
              </a:r>
              <a:r>
                <a:rPr b="0" lang="en" sz="1300">
                  <a:solidFill>
                    <a:srgbClr val="B91C1C"/>
                  </a:solidFill>
                  <a:latin typeface="Courier"/>
                  <a:ea typeface="Courier"/>
                  <a:cs typeface="Courier"/>
                  <a:sym typeface="Courier"/>
                </a:rPr>
                <a:t>"large_sensor_log.csv"</a:t>
              </a:r>
              <a:endParaRPr b="0" sz="1300">
                <a:solidFill>
                  <a:srgbClr val="1F2937"/>
                </a:solidFill>
                <a:latin typeface="Courier"/>
                <a:ea typeface="Courier"/>
                <a:cs typeface="Courier"/>
                <a:sym typeface="Courier"/>
              </a:endParaRPr>
            </a:p>
            <a:p>
              <a:pPr indent="0" lvl="0" marL="0" rtl="0" algn="l">
                <a:spcBef>
                  <a:spcPts val="900"/>
                </a:spcBef>
                <a:spcAft>
                  <a:spcPts val="0"/>
                </a:spcAft>
                <a:buNone/>
              </a:pPr>
              <a:r>
                <a:rPr b="1" lang="en" sz="1300">
                  <a:solidFill>
                    <a:srgbClr val="045A36"/>
                  </a:solidFill>
                  <a:latin typeface="Courier"/>
                  <a:ea typeface="Courier"/>
                  <a:cs typeface="Courier"/>
                  <a:sym typeface="Courier"/>
                </a:rPr>
                <a:t>if</a:t>
              </a:r>
              <a:r>
                <a:rPr b="0" lang="en" sz="1300">
                  <a:solidFill>
                    <a:srgbClr val="1F2937"/>
                  </a:solidFill>
                  <a:latin typeface="Courier"/>
                  <a:ea typeface="Courier"/>
                  <a:cs typeface="Courier"/>
                  <a:sym typeface="Courier"/>
                </a:rPr>
                <a:t> os.path.exists(file_path):</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1F2937"/>
                  </a:solidFill>
                  <a:latin typeface="Courier"/>
                  <a:ea typeface="Courier"/>
                  <a:cs typeface="Courier"/>
                  <a:sym typeface="Courier"/>
                </a:rPr>
                <a:t>size_bytes = os.path.getsize(file_path)</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1F2937"/>
                  </a:solidFill>
                  <a:latin typeface="Courier"/>
                  <a:ea typeface="Courier"/>
                  <a:cs typeface="Courier"/>
                  <a:sym typeface="Courier"/>
                </a:rPr>
                <a:t>size_mb = size_bytes / (</a:t>
              </a:r>
              <a:r>
                <a:rPr b="0" lang="en" sz="1300">
                  <a:solidFill>
                    <a:srgbClr val="B91C1C"/>
                  </a:solidFill>
                  <a:latin typeface="Courier"/>
                  <a:ea typeface="Courier"/>
                  <a:cs typeface="Courier"/>
                  <a:sym typeface="Courier"/>
                </a:rPr>
                <a:t>1024</a:t>
              </a:r>
              <a:r>
                <a:rPr b="0" lang="en" sz="1300">
                  <a:solidFill>
                    <a:srgbClr val="1F2937"/>
                  </a:solidFill>
                  <a:latin typeface="Courier"/>
                  <a:ea typeface="Courier"/>
                  <a:cs typeface="Courier"/>
                  <a:sym typeface="Courier"/>
                </a:rPr>
                <a:t> * </a:t>
              </a:r>
              <a:r>
                <a:rPr b="0" lang="en" sz="1300">
                  <a:solidFill>
                    <a:srgbClr val="B91C1C"/>
                  </a:solidFill>
                  <a:latin typeface="Courier"/>
                  <a:ea typeface="Courier"/>
                  <a:cs typeface="Courier"/>
                  <a:sym typeface="Courier"/>
                </a:rPr>
                <a:t>1024</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450"/>
                </a:spcBef>
                <a:spcAft>
                  <a:spcPts val="0"/>
                </a:spcAft>
                <a:buNone/>
              </a:pPr>
              <a:r>
                <a:rPr b="0" lang="en" sz="1300">
                  <a:solidFill>
                    <a:srgbClr val="0B7A4B"/>
                  </a:solidFill>
                  <a:latin typeface="Courier"/>
                  <a:ea typeface="Courier"/>
                  <a:cs typeface="Courier"/>
                  <a:sym typeface="Courier"/>
                </a:rPr>
                <a:t>print</a:t>
              </a:r>
              <a:r>
                <a:rPr b="0" lang="en" sz="1300">
                  <a:solidFill>
                    <a:srgbClr val="1F2937"/>
                  </a:solidFill>
                  <a:latin typeface="Courier"/>
                  <a:ea typeface="Courier"/>
                  <a:cs typeface="Courier"/>
                  <a:sym typeface="Courier"/>
                </a:rPr>
                <a:t>(</a:t>
              </a:r>
              <a:r>
                <a:rPr b="0" lang="en" sz="1300">
                  <a:solidFill>
                    <a:srgbClr val="B91C1C"/>
                  </a:solidFill>
                  <a:latin typeface="Courier"/>
                  <a:ea typeface="Courier"/>
                  <a:cs typeface="Courier"/>
                  <a:sym typeface="Courier"/>
                </a:rPr>
                <a:t>f"File size: {size_mb:.2f} MB"</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a:p>
              <a:pPr indent="0" lvl="0" marL="0" rtl="0" algn="l">
                <a:spcBef>
                  <a:spcPts val="900"/>
                </a:spcBef>
                <a:spcAft>
                  <a:spcPts val="450"/>
                </a:spcAft>
                <a:buNone/>
              </a:pPr>
              <a:r>
                <a:rPr b="0" i="1" lang="en" sz="1100">
                  <a:solidFill>
                    <a:srgbClr val="6B7280"/>
                  </a:solidFill>
                  <a:latin typeface="Courier"/>
                  <a:ea typeface="Courier"/>
                  <a:cs typeface="Courier"/>
                  <a:sym typeface="Courier"/>
                </a:rPr>
                <a:t># Expected Output: File size: 14.50 MB</a:t>
              </a:r>
              <a:endParaRPr b="0" i="1" sz="1100">
                <a:solidFill>
                  <a:srgbClr val="6B7280"/>
                </a:solidFill>
                <a:latin typeface="Courier"/>
                <a:ea typeface="Courier"/>
                <a:cs typeface="Courier"/>
                <a:sym typeface="Courier"/>
              </a:endParaRPr>
            </a:p>
          </p:txBody>
        </p:sp>
      </p:grpSp>
      <p:grpSp>
        <p:nvGrpSpPr>
          <p:cNvPr id="544" name="Google Shape;544;p30"/>
          <p:cNvGrpSpPr/>
          <p:nvPr/>
        </p:nvGrpSpPr>
        <p:grpSpPr>
          <a:xfrm>
            <a:off x="6286500" y="1714500"/>
            <a:ext cx="5143500" cy="3048000"/>
            <a:chOff x="0" y="0"/>
            <a:chExt cx="5143500" cy="3048000"/>
          </a:xfrm>
        </p:grpSpPr>
        <p:sp>
          <p:nvSpPr>
            <p:cNvPr id="545" name="Google Shape;545;p30"/>
            <p:cNvSpPr/>
            <p:nvPr/>
          </p:nvSpPr>
          <p:spPr>
            <a:xfrm>
              <a:off x="0" y="0"/>
              <a:ext cx="5143500" cy="3048000"/>
            </a:xfrm>
            <a:prstGeom prst="roundRect">
              <a:avLst>
                <a:gd fmla="val 375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30"/>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7" name="Google Shape;547;p30"/>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METADATA &amp; STORAGE ANALYSIS</a:t>
              </a:r>
              <a:endParaRPr b="1" sz="1200">
                <a:solidFill>
                  <a:srgbClr val="045A36"/>
                </a:solidFill>
                <a:latin typeface="Inter"/>
                <a:ea typeface="Inter"/>
                <a:cs typeface="Inter"/>
                <a:sym typeface="Inter"/>
              </a:endParaRPr>
            </a:p>
          </p:txBody>
        </p:sp>
        <p:sp>
          <p:nvSpPr>
            <p:cNvPr id="548" name="Google Shape;548;p30"/>
            <p:cNvSpPr txBox="1"/>
            <p:nvPr/>
          </p:nvSpPr>
          <p:spPr>
            <a:xfrm>
              <a:off x="238125" y="714375"/>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Retrieving File Dimensions</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The </a:t>
              </a:r>
              <a:r>
                <a:rPr b="1" lang="en" sz="1190">
                  <a:solidFill>
                    <a:srgbClr val="045A36"/>
                  </a:solidFill>
                  <a:latin typeface="Courier"/>
                  <a:ea typeface="Courier"/>
                  <a:cs typeface="Courier"/>
                  <a:sym typeface="Courier"/>
                </a:rPr>
                <a:t>os.path.getsize(path)</a:t>
              </a:r>
              <a:r>
                <a:rPr b="0" lang="en" sz="1190">
                  <a:solidFill>
                    <a:srgbClr val="374151"/>
                  </a:solidFill>
                  <a:latin typeface="Inter"/>
                  <a:ea typeface="Inter"/>
                  <a:cs typeface="Inter"/>
                  <a:sym typeface="Inter"/>
                </a:rPr>
                <a:t> function returns the total file size in bytes as an integer, which is essential for validation.</a:t>
              </a:r>
              <a:endParaRPr b="0" sz="1190">
                <a:solidFill>
                  <a:srgbClr val="374151"/>
                </a:solidFill>
                <a:latin typeface="Inter"/>
                <a:ea typeface="Inter"/>
                <a:cs typeface="Inter"/>
                <a:sym typeface="Inter"/>
              </a:endParaRPr>
            </a:p>
            <a:p>
              <a:pPr indent="0" lvl="0" marL="0" rtl="0" algn="l">
                <a:spcBef>
                  <a:spcPts val="1050"/>
                </a:spcBef>
                <a:spcAft>
                  <a:spcPts val="0"/>
                </a:spcAft>
                <a:buNone/>
              </a:pPr>
              <a:r>
                <a:rPr b="0" lang="en" sz="1275">
                  <a:solidFill>
                    <a:srgbClr val="1F2937"/>
                  </a:solidFill>
                  <a:latin typeface="Inter SemiBold"/>
                  <a:ea typeface="Inter SemiBold"/>
                  <a:cs typeface="Inter SemiBold"/>
                  <a:sym typeface="Inter SemiBold"/>
                </a:rPr>
                <a:t>Human-Readable Conversion</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To convert raw bytes into readable Megabytes (MB), divide the byte count twice by 1024 (e.g., divide by 1024 * 1024).</a:t>
              </a:r>
              <a:endParaRPr b="0" sz="1190">
                <a:solidFill>
                  <a:srgbClr val="374151"/>
                </a:solidFill>
                <a:latin typeface="Inter"/>
                <a:ea typeface="Inter"/>
                <a:cs typeface="Inter"/>
                <a:sym typeface="Inter"/>
              </a:endParaRPr>
            </a:p>
            <a:p>
              <a:pPr indent="0" lvl="0" marL="0" rtl="0" algn="l">
                <a:spcBef>
                  <a:spcPts val="1050"/>
                </a:spcBef>
                <a:spcAft>
                  <a:spcPts val="0"/>
                </a:spcAft>
                <a:buNone/>
              </a:pPr>
              <a:r>
                <a:rPr b="0" lang="en" sz="1275">
                  <a:solidFill>
                    <a:srgbClr val="1F2937"/>
                  </a:solidFill>
                  <a:latin typeface="Inter SemiBold"/>
                  <a:ea typeface="Inter SemiBold"/>
                  <a:cs typeface="Inter SemiBold"/>
                  <a:sym typeface="Inter SemiBold"/>
                </a:rPr>
                <a:t>Complementary OS Methods</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Use </a:t>
              </a:r>
              <a:r>
                <a:rPr b="1" lang="en" sz="1190">
                  <a:solidFill>
                    <a:srgbClr val="045A36"/>
                  </a:solidFill>
                  <a:latin typeface="Courier"/>
                  <a:ea typeface="Courier"/>
                  <a:cs typeface="Courier"/>
                  <a:sym typeface="Courier"/>
                </a:rPr>
                <a:t>os.path.getmtime()</a:t>
              </a:r>
              <a:r>
                <a:rPr b="0" lang="en" sz="1190">
                  <a:solidFill>
                    <a:srgbClr val="374151"/>
                  </a:solidFill>
                  <a:latin typeface="Inter"/>
                  <a:ea typeface="Inter"/>
                  <a:cs typeface="Inter"/>
                  <a:sym typeface="Inter"/>
                </a:rPr>
                <a:t> to extract the last modification epoch timestamp for file synchronization.</a:t>
              </a:r>
              <a:endParaRPr b="0" sz="1190">
                <a:solidFill>
                  <a:srgbClr val="374151"/>
                </a:solidFill>
                <a:latin typeface="Inter"/>
                <a:ea typeface="Inter"/>
                <a:cs typeface="Inter"/>
                <a:sym typeface="Inter"/>
              </a:endParaRPr>
            </a:p>
          </p:txBody>
        </p:sp>
      </p:grpSp>
      <p:grpSp>
        <p:nvGrpSpPr>
          <p:cNvPr id="549" name="Google Shape;549;p30"/>
          <p:cNvGrpSpPr/>
          <p:nvPr/>
        </p:nvGrpSpPr>
        <p:grpSpPr>
          <a:xfrm>
            <a:off x="762000" y="4953000"/>
            <a:ext cx="10668000" cy="904800"/>
            <a:chOff x="0" y="0"/>
            <a:chExt cx="10668000" cy="904800"/>
          </a:xfrm>
        </p:grpSpPr>
        <p:sp>
          <p:nvSpPr>
            <p:cNvPr id="550" name="Google Shape;550;p30"/>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1" name="Google Shape;551;p30"/>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0"/>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BEST PRACTICE: FILE VALIDATION BEFORE SIZE CHECK</a:t>
              </a:r>
              <a:endParaRPr b="1" sz="1200">
                <a:solidFill>
                  <a:srgbClr val="045A36"/>
                </a:solidFill>
                <a:latin typeface="Inter"/>
                <a:ea typeface="Inter"/>
                <a:cs typeface="Inter"/>
                <a:sym typeface="Inter"/>
              </a:endParaRPr>
            </a:p>
          </p:txBody>
        </p:sp>
        <p:sp>
          <p:nvSpPr>
            <p:cNvPr id="553" name="Google Shape;553;p30"/>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1F2937"/>
                  </a:solidFill>
                  <a:latin typeface="Inter SemiBold"/>
                  <a:ea typeface="Inter SemiBold"/>
                  <a:cs typeface="Inter SemiBold"/>
                  <a:sym typeface="Inter SemiBold"/>
                </a:rPr>
                <a:t>Always verify that a file exists using </a:t>
              </a:r>
              <a:r>
                <a:rPr b="1" lang="en" sz="1203">
                  <a:solidFill>
                    <a:srgbClr val="045A36"/>
                  </a:solidFill>
                  <a:latin typeface="Courier"/>
                  <a:ea typeface="Courier"/>
                  <a:cs typeface="Courier"/>
                  <a:sym typeface="Courier"/>
                </a:rPr>
                <a:t>os.path.exists()</a:t>
              </a:r>
              <a:r>
                <a:rPr b="0" lang="en" sz="1203">
                  <a:solidFill>
                    <a:srgbClr val="1F2937"/>
                  </a:solidFill>
                  <a:latin typeface="Inter SemiBold"/>
                  <a:ea typeface="Inter SemiBold"/>
                  <a:cs typeface="Inter SemiBold"/>
                  <a:sym typeface="Inter SemiBold"/>
                </a:rPr>
                <a:t> prior to querying its size. This proactive path validation prevents runtime exceptions and guarantees application stability.</a:t>
              </a:r>
              <a:endParaRPr b="0" sz="1203">
                <a:solidFill>
                  <a:srgbClr val="1F2937"/>
                </a:solidFill>
                <a:latin typeface="Inter SemiBold"/>
                <a:ea typeface="Inter SemiBold"/>
                <a:cs typeface="Inter SemiBold"/>
                <a:sym typeface="Inter SemiBold"/>
              </a:endParaRPr>
            </a:p>
          </p:txBody>
        </p:sp>
      </p:grpSp>
      <p:sp>
        <p:nvSpPr>
          <p:cNvPr id="554" name="Google Shape;554;p30"/>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File Handling in Python</a:t>
            </a:r>
            <a:endParaRPr b="0" sz="1000">
              <a:solidFill>
                <a:srgbClr val="6B7280"/>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1"/>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0" name="Google Shape;560;p31"/>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1" name="Google Shape;561;p3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62" name="Google Shape;562;p31"/>
          <p:cNvGrpSpPr/>
          <p:nvPr/>
        </p:nvGrpSpPr>
        <p:grpSpPr>
          <a:xfrm>
            <a:off x="762000" y="571500"/>
            <a:ext cx="10668000" cy="1095375"/>
            <a:chOff x="762000" y="571500"/>
            <a:chExt cx="10668000" cy="1095375"/>
          </a:xfrm>
        </p:grpSpPr>
        <p:sp>
          <p:nvSpPr>
            <p:cNvPr id="563" name="Google Shape;563;p31"/>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Automation, Sensor Logs, and File Storage</a:t>
              </a:r>
              <a:endParaRPr b="0" sz="2700">
                <a:solidFill>
                  <a:srgbClr val="045A36"/>
                </a:solidFill>
                <a:latin typeface="Montserrat SemiBold"/>
                <a:ea typeface="Montserrat SemiBold"/>
                <a:cs typeface="Montserrat SemiBold"/>
                <a:sym typeface="Montserrat SemiBold"/>
              </a:endParaRPr>
            </a:p>
          </p:txBody>
        </p:sp>
        <p:sp>
          <p:nvSpPr>
            <p:cNvPr id="564" name="Google Shape;564;p31"/>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An autonomous rover collects continuous lidar and temperature data, requiring automated file management.</a:t>
              </a:r>
              <a:endParaRPr b="0" sz="1600">
                <a:solidFill>
                  <a:srgbClr val="4B5563"/>
                </a:solidFill>
                <a:latin typeface="Inter SemiBold"/>
                <a:ea typeface="Inter SemiBold"/>
                <a:cs typeface="Inter SemiBold"/>
                <a:sym typeface="Inter SemiBold"/>
              </a:endParaRPr>
            </a:p>
          </p:txBody>
        </p:sp>
      </p:grpSp>
      <p:grpSp>
        <p:nvGrpSpPr>
          <p:cNvPr id="565" name="Google Shape;565;p31"/>
          <p:cNvGrpSpPr/>
          <p:nvPr/>
        </p:nvGrpSpPr>
        <p:grpSpPr>
          <a:xfrm>
            <a:off x="762000" y="1809750"/>
            <a:ext cx="5143575" cy="809700"/>
            <a:chOff x="0" y="0"/>
            <a:chExt cx="5143575" cy="809700"/>
          </a:xfrm>
        </p:grpSpPr>
        <p:grpSp>
          <p:nvGrpSpPr>
            <p:cNvPr id="566" name="Google Shape;566;p31"/>
            <p:cNvGrpSpPr/>
            <p:nvPr/>
          </p:nvGrpSpPr>
          <p:grpSpPr>
            <a:xfrm>
              <a:off x="0" y="38100"/>
              <a:ext cx="190500" cy="190500"/>
              <a:chOff x="0" y="0"/>
              <a:chExt cx="190500" cy="190500"/>
            </a:xfrm>
          </p:grpSpPr>
          <p:sp>
            <p:nvSpPr>
              <p:cNvPr id="567" name="Google Shape;567;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31"/>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69" name="Google Shape;569;p31"/>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1. Dataset Initialization</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The script executes </a:t>
              </a:r>
              <a:r>
                <a:rPr b="1" lang="en" sz="1020">
                  <a:solidFill>
                    <a:srgbClr val="045A36"/>
                  </a:solidFill>
                  <a:latin typeface="Courier"/>
                  <a:ea typeface="Courier"/>
                  <a:cs typeface="Courier"/>
                  <a:sym typeface="Courier"/>
                </a:rPr>
                <a:t>os.makedirs()</a:t>
              </a:r>
              <a:r>
                <a:rPr b="0" lang="en" sz="1190">
                  <a:solidFill>
                    <a:srgbClr val="374151"/>
                  </a:solidFill>
                  <a:latin typeface="Inter"/>
                  <a:ea typeface="Inter"/>
                  <a:cs typeface="Inter"/>
                  <a:sym typeface="Inter"/>
                </a:rPr>
                <a:t> to dynamically create a new session folder named with the current timestamp (e.g., </a:t>
              </a:r>
              <a:r>
                <a:rPr b="0" lang="en" sz="1020">
                  <a:solidFill>
                    <a:srgbClr val="B91C1C"/>
                  </a:solidFill>
                  <a:latin typeface="Courier"/>
                  <a:ea typeface="Courier"/>
                  <a:cs typeface="Courier"/>
                  <a:sym typeface="Courier"/>
                </a:rPr>
                <a:t>run_20261027_1000</a:t>
              </a:r>
              <a:r>
                <a:rPr b="0" lang="en" sz="1190">
                  <a:solidFill>
                    <a:srgbClr val="374151"/>
                  </a:solidFill>
                  <a:latin typeface="Inter"/>
                  <a:ea typeface="Inter"/>
                  <a:cs typeface="Inter"/>
                  <a:sym typeface="Inter"/>
                </a:rPr>
                <a:t>).</a:t>
              </a:r>
              <a:endParaRPr b="0" sz="1190">
                <a:solidFill>
                  <a:srgbClr val="374151"/>
                </a:solidFill>
                <a:latin typeface="Inter"/>
                <a:ea typeface="Inter"/>
                <a:cs typeface="Inter"/>
                <a:sym typeface="Inter"/>
              </a:endParaRPr>
            </a:p>
          </p:txBody>
        </p:sp>
      </p:grpSp>
      <p:grpSp>
        <p:nvGrpSpPr>
          <p:cNvPr id="570" name="Google Shape;570;p31"/>
          <p:cNvGrpSpPr/>
          <p:nvPr/>
        </p:nvGrpSpPr>
        <p:grpSpPr>
          <a:xfrm>
            <a:off x="762000" y="2809875"/>
            <a:ext cx="5143575" cy="809700"/>
            <a:chOff x="0" y="0"/>
            <a:chExt cx="5143575" cy="809700"/>
          </a:xfrm>
        </p:grpSpPr>
        <p:grpSp>
          <p:nvGrpSpPr>
            <p:cNvPr id="571" name="Google Shape;571;p31"/>
            <p:cNvGrpSpPr/>
            <p:nvPr/>
          </p:nvGrpSpPr>
          <p:grpSpPr>
            <a:xfrm>
              <a:off x="0" y="38100"/>
              <a:ext cx="190500" cy="190500"/>
              <a:chOff x="0" y="0"/>
              <a:chExt cx="190500" cy="190500"/>
            </a:xfrm>
          </p:grpSpPr>
          <p:sp>
            <p:nvSpPr>
              <p:cNvPr id="572" name="Google Shape;572;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31"/>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4" name="Google Shape;574;p31"/>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2. Continuous Logging</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Telemetry, lidar scans, and temperature readings are systematically structured and appended directly into CSV files within the active session folder.</a:t>
              </a:r>
              <a:endParaRPr b="0" sz="1190">
                <a:solidFill>
                  <a:srgbClr val="374151"/>
                </a:solidFill>
                <a:latin typeface="Inter"/>
                <a:ea typeface="Inter"/>
                <a:cs typeface="Inter"/>
                <a:sym typeface="Inter"/>
              </a:endParaRPr>
            </a:p>
          </p:txBody>
        </p:sp>
      </p:grpSp>
      <p:grpSp>
        <p:nvGrpSpPr>
          <p:cNvPr id="575" name="Google Shape;575;p31"/>
          <p:cNvGrpSpPr/>
          <p:nvPr/>
        </p:nvGrpSpPr>
        <p:grpSpPr>
          <a:xfrm>
            <a:off x="762000" y="3810000"/>
            <a:ext cx="5143575" cy="809700"/>
            <a:chOff x="0" y="0"/>
            <a:chExt cx="5143575" cy="809700"/>
          </a:xfrm>
        </p:grpSpPr>
        <p:grpSp>
          <p:nvGrpSpPr>
            <p:cNvPr id="576" name="Google Shape;576;p31"/>
            <p:cNvGrpSpPr/>
            <p:nvPr/>
          </p:nvGrpSpPr>
          <p:grpSpPr>
            <a:xfrm>
              <a:off x="0" y="38100"/>
              <a:ext cx="190500" cy="190500"/>
              <a:chOff x="0" y="0"/>
              <a:chExt cx="190500" cy="190500"/>
            </a:xfrm>
          </p:grpSpPr>
          <p:sp>
            <p:nvSpPr>
              <p:cNvPr id="577" name="Google Shape;577;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31"/>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79" name="Google Shape;579;p31"/>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3. Storage Monitoring</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The script periodically calls </a:t>
              </a:r>
              <a:r>
                <a:rPr b="1" lang="en" sz="1020">
                  <a:solidFill>
                    <a:srgbClr val="045A36"/>
                  </a:solidFill>
                  <a:latin typeface="Courier"/>
                  <a:ea typeface="Courier"/>
                  <a:cs typeface="Courier"/>
                  <a:sym typeface="Courier"/>
                </a:rPr>
                <a:t>os.path.getsize()</a:t>
              </a:r>
              <a:r>
                <a:rPr b="0" lang="en" sz="1190">
                  <a:solidFill>
                    <a:srgbClr val="374151"/>
                  </a:solidFill>
                  <a:latin typeface="Inter"/>
                  <a:ea typeface="Inter"/>
                  <a:cs typeface="Inter"/>
                  <a:sym typeface="Inter"/>
                </a:rPr>
                <a:t> to track active log sizes, automatically spawning a new file if the threshold of 50MB is breached.</a:t>
              </a:r>
              <a:endParaRPr b="0" sz="1190">
                <a:solidFill>
                  <a:srgbClr val="374151"/>
                </a:solidFill>
                <a:latin typeface="Inter"/>
                <a:ea typeface="Inter"/>
                <a:cs typeface="Inter"/>
                <a:sym typeface="Inter"/>
              </a:endParaRPr>
            </a:p>
          </p:txBody>
        </p:sp>
      </p:grpSp>
      <p:grpSp>
        <p:nvGrpSpPr>
          <p:cNvPr id="580" name="Google Shape;580;p31"/>
          <p:cNvGrpSpPr/>
          <p:nvPr/>
        </p:nvGrpSpPr>
        <p:grpSpPr>
          <a:xfrm>
            <a:off x="762000" y="4810125"/>
            <a:ext cx="5143575" cy="809700"/>
            <a:chOff x="0" y="0"/>
            <a:chExt cx="5143575" cy="809700"/>
          </a:xfrm>
        </p:grpSpPr>
        <p:grpSp>
          <p:nvGrpSpPr>
            <p:cNvPr id="581" name="Google Shape;581;p31"/>
            <p:cNvGrpSpPr/>
            <p:nvPr/>
          </p:nvGrpSpPr>
          <p:grpSpPr>
            <a:xfrm>
              <a:off x="0" y="38100"/>
              <a:ext cx="190500" cy="190500"/>
              <a:chOff x="0" y="0"/>
              <a:chExt cx="190500" cy="190500"/>
            </a:xfrm>
          </p:grpSpPr>
          <p:sp>
            <p:nvSpPr>
              <p:cNvPr id="582" name="Google Shape;582;p31"/>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31"/>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4" name="Google Shape;584;p31"/>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75">
                  <a:solidFill>
                    <a:srgbClr val="1F2937"/>
                  </a:solidFill>
                  <a:latin typeface="Inter SemiBold"/>
                  <a:ea typeface="Inter SemiBold"/>
                  <a:cs typeface="Inter SemiBold"/>
                  <a:sym typeface="Inter SemiBold"/>
                </a:rPr>
                <a:t>4. Automated Cleanup</a:t>
              </a:r>
              <a:endParaRPr b="0" sz="1275">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190">
                  <a:solidFill>
                    <a:srgbClr val="374151"/>
                  </a:solidFill>
                  <a:latin typeface="Inter"/>
                  <a:ea typeface="Inter"/>
                  <a:cs typeface="Inter"/>
                  <a:sym typeface="Inter"/>
                </a:rPr>
                <a:t>To preserve memory, a scheduled routine uses </a:t>
              </a:r>
              <a:r>
                <a:rPr b="1" lang="en" sz="1020">
                  <a:solidFill>
                    <a:srgbClr val="045A36"/>
                  </a:solidFill>
                  <a:latin typeface="Courier"/>
                  <a:ea typeface="Courier"/>
                  <a:cs typeface="Courier"/>
                  <a:sym typeface="Courier"/>
                </a:rPr>
                <a:t>os.listdir()</a:t>
              </a:r>
              <a:r>
                <a:rPr b="0" lang="en" sz="1190">
                  <a:solidFill>
                    <a:srgbClr val="374151"/>
                  </a:solidFill>
                  <a:latin typeface="Inter"/>
                  <a:ea typeface="Inter"/>
                  <a:cs typeface="Inter"/>
                  <a:sym typeface="Inter"/>
                </a:rPr>
                <a:t> and </a:t>
              </a:r>
              <a:r>
                <a:rPr b="1" lang="en" sz="1020">
                  <a:solidFill>
                    <a:srgbClr val="045A36"/>
                  </a:solidFill>
                  <a:latin typeface="Courier"/>
                  <a:ea typeface="Courier"/>
                  <a:cs typeface="Courier"/>
                  <a:sym typeface="Courier"/>
                </a:rPr>
                <a:t>os.remove()</a:t>
              </a:r>
              <a:r>
                <a:rPr b="0" lang="en" sz="1190">
                  <a:solidFill>
                    <a:srgbClr val="374151"/>
                  </a:solidFill>
                  <a:latin typeface="Inter"/>
                  <a:ea typeface="Inter"/>
                  <a:cs typeface="Inter"/>
                  <a:sym typeface="Inter"/>
                </a:rPr>
                <a:t> to discover and delete telemetry runs older than 30 days.</a:t>
              </a:r>
              <a:endParaRPr b="0" sz="1190">
                <a:solidFill>
                  <a:srgbClr val="374151"/>
                </a:solidFill>
                <a:latin typeface="Inter"/>
                <a:ea typeface="Inter"/>
                <a:cs typeface="Inter"/>
                <a:sym typeface="Inter"/>
              </a:endParaRPr>
            </a:p>
          </p:txBody>
        </p:sp>
      </p:grpSp>
      <p:grpSp>
        <p:nvGrpSpPr>
          <p:cNvPr id="585" name="Google Shape;585;p31"/>
          <p:cNvGrpSpPr/>
          <p:nvPr/>
        </p:nvGrpSpPr>
        <p:grpSpPr>
          <a:xfrm>
            <a:off x="6286500" y="1809750"/>
            <a:ext cx="5143500" cy="4000500"/>
            <a:chOff x="0" y="0"/>
            <a:chExt cx="5143500" cy="4000500"/>
          </a:xfrm>
        </p:grpSpPr>
        <p:grpSp>
          <p:nvGrpSpPr>
            <p:cNvPr id="586" name="Google Shape;586;p31"/>
            <p:cNvGrpSpPr/>
            <p:nvPr/>
          </p:nvGrpSpPr>
          <p:grpSpPr>
            <a:xfrm>
              <a:off x="0" y="0"/>
              <a:ext cx="5143500" cy="4000500"/>
              <a:chOff x="0" y="0"/>
              <a:chExt cx="5143500" cy="4000500"/>
            </a:xfrm>
          </p:grpSpPr>
          <p:sp>
            <p:nvSpPr>
              <p:cNvPr id="587" name="Google Shape;587;p31"/>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31"/>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89" name="Google Shape;589;p31"/>
            <p:cNvSpPr txBox="1"/>
            <p:nvPr/>
          </p:nvSpPr>
          <p:spPr>
            <a:xfrm>
              <a:off x="381000" y="2381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ROVER DATASET RECORDING</a:t>
              </a:r>
              <a:endParaRPr b="1" sz="1200">
                <a:solidFill>
                  <a:srgbClr val="D4A017"/>
                </a:solidFill>
                <a:latin typeface="Inter"/>
                <a:ea typeface="Inter"/>
                <a:cs typeface="Inter"/>
                <a:sym typeface="Inter"/>
              </a:endParaRPr>
            </a:p>
          </p:txBody>
        </p:sp>
        <p:pic>
          <p:nvPicPr>
            <p:cNvPr id="590" name="Google Shape;590;p31"/>
            <p:cNvPicPr preferRelativeResize="0"/>
            <p:nvPr/>
          </p:nvPicPr>
          <p:blipFill rotWithShape="1">
            <a:blip r:embed="rId3">
              <a:alphaModFix/>
            </a:blip>
            <a:srcRect b="0" l="0" r="0" t="0"/>
            <a:stretch/>
          </p:blipFill>
          <p:spPr>
            <a:xfrm>
              <a:off x="381000" y="571500"/>
              <a:ext cx="4381500" cy="3286200"/>
            </a:xfrm>
            <a:prstGeom prst="roundRect">
              <a:avLst>
                <a:gd fmla="val 1159" name="adj"/>
              </a:avLst>
            </a:prstGeom>
            <a:noFill/>
            <a:ln>
              <a:noFill/>
            </a:ln>
          </p:spPr>
        </p:pic>
      </p:grpSp>
      <p:sp>
        <p:nvSpPr>
          <p:cNvPr id="591" name="Google Shape;591;p31"/>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32"/>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3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9" name="Google Shape;599;p32"/>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Automatic Robotics Project Folder Creator</a:t>
            </a:r>
            <a:endParaRPr b="0" sz="2700">
              <a:solidFill>
                <a:srgbClr val="045A36"/>
              </a:solidFill>
              <a:latin typeface="Montserrat SemiBold"/>
              <a:ea typeface="Montserrat SemiBold"/>
              <a:cs typeface="Montserrat SemiBold"/>
              <a:sym typeface="Montserrat SemiBold"/>
            </a:endParaRPr>
          </a:p>
        </p:txBody>
      </p:sp>
      <p:sp>
        <p:nvSpPr>
          <p:cNvPr id="600" name="Google Shape;600;p32"/>
          <p:cNvSpPr txBox="1"/>
          <p:nvPr/>
        </p:nvSpPr>
        <p:spPr>
          <a:xfrm>
            <a:off x="762000" y="1238250"/>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Automating standardized directory tree generation for reliable, multi-system robot deployments.</a:t>
            </a:r>
            <a:endParaRPr b="0" sz="1600">
              <a:solidFill>
                <a:srgbClr val="4B5563"/>
              </a:solidFill>
              <a:latin typeface="Inter SemiBold"/>
              <a:ea typeface="Inter SemiBold"/>
              <a:cs typeface="Inter SemiBold"/>
              <a:sym typeface="Inter SemiBold"/>
            </a:endParaRPr>
          </a:p>
        </p:txBody>
      </p:sp>
      <p:grpSp>
        <p:nvGrpSpPr>
          <p:cNvPr id="601" name="Google Shape;601;p32"/>
          <p:cNvGrpSpPr/>
          <p:nvPr/>
        </p:nvGrpSpPr>
        <p:grpSpPr>
          <a:xfrm>
            <a:off x="762000" y="1762125"/>
            <a:ext cx="5143500" cy="4048200"/>
            <a:chOff x="0" y="0"/>
            <a:chExt cx="5143500" cy="4048200"/>
          </a:xfrm>
        </p:grpSpPr>
        <p:sp>
          <p:nvSpPr>
            <p:cNvPr id="602" name="Google Shape;602;p32"/>
            <p:cNvSpPr/>
            <p:nvPr/>
          </p:nvSpPr>
          <p:spPr>
            <a:xfrm>
              <a:off x="0" y="0"/>
              <a:ext cx="5143500" cy="4048200"/>
            </a:xfrm>
            <a:prstGeom prst="roundRect">
              <a:avLst>
                <a:gd fmla="val 188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3" name="Google Shape;603;p32"/>
            <p:cNvSpPr/>
            <p:nvPr/>
          </p:nvSpPr>
          <p:spPr>
            <a:xfrm>
              <a:off x="0" y="0"/>
              <a:ext cx="57300" cy="40482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32"/>
            <p:cNvSpPr txBox="1"/>
            <p:nvPr/>
          </p:nvSpPr>
          <p:spPr>
            <a:xfrm>
              <a:off x="238125" y="238125"/>
              <a:ext cx="4667400" cy="35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10">
                  <a:solidFill>
                    <a:srgbClr val="D4A017"/>
                  </a:solidFill>
                  <a:latin typeface="Inter"/>
                  <a:ea typeface="Inter"/>
                  <a:cs typeface="Inter"/>
                  <a:sym typeface="Inter"/>
                </a:rPr>
                <a:t>Project Creator Implementation</a:t>
              </a:r>
              <a:endParaRPr b="1" sz="1110">
                <a:solidFill>
                  <a:srgbClr val="D4A017"/>
                </a:solidFill>
                <a:latin typeface="Inter"/>
                <a:ea typeface="Inter"/>
                <a:cs typeface="Inter"/>
                <a:sym typeface="Inter"/>
              </a:endParaRPr>
            </a:p>
            <a:p>
              <a:pPr indent="0" lvl="0" marL="0" rtl="0" algn="l">
                <a:spcBef>
                  <a:spcPts val="1125"/>
                </a:spcBef>
                <a:spcAft>
                  <a:spcPts val="0"/>
                </a:spcAft>
                <a:buNone/>
              </a:pPr>
              <a:r>
                <a:rPr b="1" lang="en" sz="1064">
                  <a:solidFill>
                    <a:srgbClr val="045A36"/>
                  </a:solidFill>
                  <a:latin typeface="Courier"/>
                  <a:ea typeface="Courier"/>
                  <a:cs typeface="Courier"/>
                  <a:sym typeface="Courier"/>
                </a:rPr>
                <a:t>import</a:t>
              </a:r>
              <a:r>
                <a:rPr lang="en" sz="1064">
                  <a:solidFill>
                    <a:srgbClr val="1F2937"/>
                  </a:solidFill>
                  <a:latin typeface="Courier"/>
                  <a:ea typeface="Courier"/>
                  <a:cs typeface="Courier"/>
                  <a:sym typeface="Courier"/>
                </a:rPr>
                <a:t> os</a:t>
              </a:r>
              <a:endParaRPr sz="1064">
                <a:solidFill>
                  <a:srgbClr val="1F2937"/>
                </a:solidFill>
                <a:latin typeface="Courier"/>
                <a:ea typeface="Courier"/>
                <a:cs typeface="Courier"/>
                <a:sym typeface="Courier"/>
              </a:endParaRPr>
            </a:p>
            <a:p>
              <a:pPr indent="0" lvl="0" marL="0" rtl="0" algn="l">
                <a:spcBef>
                  <a:spcPts val="0"/>
                </a:spcBef>
                <a:spcAft>
                  <a:spcPts val="0"/>
                </a:spcAft>
                <a:buNone/>
              </a:pPr>
              <a:r>
                <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b="1" lang="en" sz="1064">
                  <a:solidFill>
                    <a:srgbClr val="045A36"/>
                  </a:solidFill>
                  <a:latin typeface="Courier"/>
                  <a:ea typeface="Courier"/>
                  <a:cs typeface="Courier"/>
                  <a:sym typeface="Courier"/>
                </a:rPr>
                <a:t>def</a:t>
              </a:r>
              <a:r>
                <a:rPr lang="en" sz="1064">
                  <a:solidFill>
                    <a:srgbClr val="1F2937"/>
                  </a:solidFill>
                  <a:latin typeface="Courier"/>
                  <a:ea typeface="Courier"/>
                  <a:cs typeface="Courier"/>
                  <a:sym typeface="Courier"/>
                </a:rPr>
                <a:t> </a:t>
              </a:r>
              <a:r>
                <a:rPr b="0" lang="en" sz="1064">
                  <a:solidFill>
                    <a:srgbClr val="0B7A4B"/>
                  </a:solidFill>
                  <a:latin typeface="Courier"/>
                  <a:ea typeface="Courier"/>
                  <a:cs typeface="Courier"/>
                  <a:sym typeface="Courier"/>
                </a:rPr>
                <a:t>create_project_structure</a:t>
              </a:r>
              <a:r>
                <a:rPr lang="en" sz="1064">
                  <a:solidFill>
                    <a:srgbClr val="1F2937"/>
                  </a:solidFill>
                  <a:latin typeface="Courier"/>
                  <a:ea typeface="Courier"/>
                  <a:cs typeface="Courier"/>
                  <a:sym typeface="Courier"/>
                </a:rPr>
                <a:t>(project_name):</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base_path = os.path.join(os.getcwd(), project_name)</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folders = [</a:t>
              </a:r>
              <a:r>
                <a:rPr b="0" lang="en" sz="1064">
                  <a:solidFill>
                    <a:srgbClr val="B91C1C"/>
                  </a:solidFill>
                  <a:latin typeface="Courier"/>
                  <a:ea typeface="Courier"/>
                  <a:cs typeface="Courier"/>
                  <a:sym typeface="Courier"/>
                </a:rPr>
                <a:t>'Code'</a:t>
              </a:r>
              <a:r>
                <a:rPr lang="en" sz="1064">
                  <a:solidFill>
                    <a:srgbClr val="1F2937"/>
                  </a:solidFill>
                  <a:latin typeface="Courier"/>
                  <a:ea typeface="Courier"/>
                  <a:cs typeface="Courier"/>
                  <a:sym typeface="Courier"/>
                </a:rPr>
                <a:t>, </a:t>
              </a:r>
              <a:r>
                <a:rPr b="0" lang="en" sz="1064">
                  <a:solidFill>
                    <a:srgbClr val="B91C1C"/>
                  </a:solidFill>
                  <a:latin typeface="Courier"/>
                  <a:ea typeface="Courier"/>
                  <a:cs typeface="Courier"/>
                  <a:sym typeface="Courier"/>
                </a:rPr>
                <a:t>'Data'</a:t>
              </a:r>
              <a:r>
                <a:rPr lang="en" sz="1064">
                  <a:solidFill>
                    <a:srgbClr val="1F2937"/>
                  </a:solidFill>
                  <a:latin typeface="Courier"/>
                  <a:ea typeface="Courier"/>
                  <a:cs typeface="Courier"/>
                  <a:sym typeface="Courier"/>
                </a:rPr>
                <a:t>, </a:t>
              </a:r>
              <a:r>
                <a:rPr b="0" lang="en" sz="1064">
                  <a:solidFill>
                    <a:srgbClr val="B91C1C"/>
                  </a:solidFill>
                  <a:latin typeface="Courier"/>
                  <a:ea typeface="Courier"/>
                  <a:cs typeface="Courier"/>
                  <a:sym typeface="Courier"/>
                </a:rPr>
                <a:t>'Images'</a:t>
              </a:r>
              <a:r>
                <a:rPr lang="en" sz="1064">
                  <a:solidFill>
                    <a:srgbClr val="1F2937"/>
                  </a:solidFill>
                  <a:latin typeface="Courier"/>
                  <a:ea typeface="Courier"/>
                  <a:cs typeface="Courier"/>
                  <a:sym typeface="Courier"/>
                </a:rPr>
                <a:t>, </a:t>
              </a:r>
              <a:r>
                <a:rPr b="0" lang="en" sz="1064">
                  <a:solidFill>
                    <a:srgbClr val="B91C1C"/>
                  </a:solidFill>
                  <a:latin typeface="Courier"/>
                  <a:ea typeface="Courier"/>
                  <a:cs typeface="Courier"/>
                  <a:sym typeface="Courier"/>
                </a:rPr>
                <a:t>'Videos'</a:t>
              </a:r>
              <a:r>
                <a:rPr lang="en" sz="1064">
                  <a:solidFill>
                    <a:srgbClr val="1F2937"/>
                  </a:solidFill>
                  <a:latin typeface="Courier"/>
                  <a:ea typeface="Courier"/>
                  <a:cs typeface="Courier"/>
                  <a:sym typeface="Courier"/>
                </a:rPr>
                <a:t>, </a:t>
              </a:r>
              <a:r>
                <a:rPr b="0" lang="en" sz="1064">
                  <a:solidFill>
                    <a:srgbClr val="B91C1C"/>
                  </a:solidFill>
                  <a:latin typeface="Courier"/>
                  <a:ea typeface="Courier"/>
                  <a:cs typeface="Courier"/>
                  <a:sym typeface="Courier"/>
                </a:rPr>
                <a:t>'Logs'</a:t>
              </a:r>
              <a:r>
                <a:rPr lang="en" sz="1064">
                  <a:solidFill>
                    <a:srgbClr val="1F2937"/>
                  </a:solidFill>
                  <a:latin typeface="Courier"/>
                  <a:ea typeface="Courier"/>
                  <a:cs typeface="Courier"/>
                  <a:sym typeface="Courier"/>
                </a:rPr>
                <a:t>, </a:t>
              </a:r>
              <a:r>
                <a:rPr b="0" lang="en" sz="1064">
                  <a:solidFill>
                    <a:srgbClr val="B91C1C"/>
                  </a:solidFill>
                  <a:latin typeface="Courier"/>
                  <a:ea typeface="Courier"/>
                  <a:cs typeface="Courier"/>
                  <a:sym typeface="Courier"/>
                </a:rPr>
                <a:t>'Reports'</a:t>
              </a:r>
              <a:r>
                <a:rPr lang="en" sz="1064">
                  <a:solidFill>
                    <a:srgbClr val="1F2937"/>
                  </a:solidFill>
                  <a:latin typeface="Courier"/>
                  <a:ea typeface="Courier"/>
                  <a:cs typeface="Courier"/>
                  <a:sym typeface="Courier"/>
                </a:rPr>
                <a:t>]</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r>
                <a:rPr b="1" lang="en" sz="1064">
                  <a:solidFill>
                    <a:srgbClr val="045A36"/>
                  </a:solidFill>
                  <a:latin typeface="Courier"/>
                  <a:ea typeface="Courier"/>
                  <a:cs typeface="Courier"/>
                  <a:sym typeface="Courier"/>
                </a:rPr>
                <a:t>if not</a:t>
              </a:r>
              <a:r>
                <a:rPr lang="en" sz="1064">
                  <a:solidFill>
                    <a:srgbClr val="1F2937"/>
                  </a:solidFill>
                  <a:latin typeface="Courier"/>
                  <a:ea typeface="Courier"/>
                  <a:cs typeface="Courier"/>
                  <a:sym typeface="Courier"/>
                </a:rPr>
                <a:t> os.path.exists(base_path):</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os.mkdir(base_path)</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r>
                <a:rPr b="0" lang="en" sz="1064">
                  <a:solidFill>
                    <a:srgbClr val="0B7A4B"/>
                  </a:solidFill>
                  <a:latin typeface="Courier"/>
                  <a:ea typeface="Courier"/>
                  <a:cs typeface="Courier"/>
                  <a:sym typeface="Courier"/>
                </a:rPr>
                <a:t>print</a:t>
              </a:r>
              <a:r>
                <a:rPr lang="en" sz="1064">
                  <a:solidFill>
                    <a:srgbClr val="1F2937"/>
                  </a:solidFill>
                  <a:latin typeface="Courier"/>
                  <a:ea typeface="Courier"/>
                  <a:cs typeface="Courier"/>
                  <a:sym typeface="Courier"/>
                </a:rPr>
                <a:t>(f</a:t>
              </a:r>
              <a:r>
                <a:rPr b="0" lang="en" sz="1064">
                  <a:solidFill>
                    <a:srgbClr val="B91C1C"/>
                  </a:solidFill>
                  <a:latin typeface="Courier"/>
                  <a:ea typeface="Courier"/>
                  <a:cs typeface="Courier"/>
                  <a:sym typeface="Courier"/>
                </a:rPr>
                <a:t>"Created base folder: {project_name}"</a:t>
              </a:r>
              <a:r>
                <a:rPr lang="en" sz="1064">
                  <a:solidFill>
                    <a:srgbClr val="1F2937"/>
                  </a:solidFill>
                  <a:latin typeface="Courier"/>
                  <a:ea typeface="Courier"/>
                  <a:cs typeface="Courier"/>
                  <a:sym typeface="Courier"/>
                </a:rPr>
                <a:t>)</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r>
                <a:rPr b="1" lang="en" sz="1064">
                  <a:solidFill>
                    <a:srgbClr val="045A36"/>
                  </a:solidFill>
                  <a:latin typeface="Courier"/>
                  <a:ea typeface="Courier"/>
                  <a:cs typeface="Courier"/>
                  <a:sym typeface="Courier"/>
                </a:rPr>
                <a:t>for</a:t>
              </a:r>
              <a:r>
                <a:rPr lang="en" sz="1064">
                  <a:solidFill>
                    <a:srgbClr val="1F2937"/>
                  </a:solidFill>
                  <a:latin typeface="Courier"/>
                  <a:ea typeface="Courier"/>
                  <a:cs typeface="Courier"/>
                  <a:sym typeface="Courier"/>
                </a:rPr>
                <a:t> folder </a:t>
              </a:r>
              <a:r>
                <a:rPr b="1" lang="en" sz="1064">
                  <a:solidFill>
                    <a:srgbClr val="045A36"/>
                  </a:solidFill>
                  <a:latin typeface="Courier"/>
                  <a:ea typeface="Courier"/>
                  <a:cs typeface="Courier"/>
                  <a:sym typeface="Courier"/>
                </a:rPr>
                <a:t>in</a:t>
              </a:r>
              <a:r>
                <a:rPr lang="en" sz="1064">
                  <a:solidFill>
                    <a:srgbClr val="1F2937"/>
                  </a:solidFill>
                  <a:latin typeface="Courier"/>
                  <a:ea typeface="Courier"/>
                  <a:cs typeface="Courier"/>
                  <a:sym typeface="Courier"/>
                </a:rPr>
                <a:t> folders:</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f_path = os.path.join(base_path, folder)</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os.mkdir(f_path)</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r>
                <a:rPr b="1" lang="en" sz="1064">
                  <a:solidFill>
                    <a:srgbClr val="045A36"/>
                  </a:solidFill>
                  <a:latin typeface="Courier"/>
                  <a:ea typeface="Courier"/>
                  <a:cs typeface="Courier"/>
                  <a:sym typeface="Courier"/>
                </a:rPr>
                <a:t>else</a:t>
              </a:r>
              <a:r>
                <a:rPr lang="en" sz="1064">
                  <a:solidFill>
                    <a:srgbClr val="1F2937"/>
                  </a:solidFill>
                  <a:latin typeface="Courier"/>
                  <a:ea typeface="Courier"/>
                  <a:cs typeface="Courier"/>
                  <a:sym typeface="Courier"/>
                </a:rPr>
                <a:t>:</a:t>
              </a:r>
              <a:endParaRPr sz="1064">
                <a:solidFill>
                  <a:srgbClr val="1F2937"/>
                </a:solidFill>
                <a:latin typeface="Courier"/>
                <a:ea typeface="Courier"/>
                <a:cs typeface="Courier"/>
                <a:sym typeface="Courier"/>
              </a:endParaRPr>
            </a:p>
            <a:p>
              <a:pPr indent="0" lvl="0" marL="0" rtl="0" algn="l">
                <a:spcBef>
                  <a:spcPts val="0"/>
                </a:spcBef>
                <a:spcAft>
                  <a:spcPts val="0"/>
                </a:spcAft>
                <a:buNone/>
              </a:pPr>
              <a:r>
                <a:rPr lang="en" sz="1064">
                  <a:solidFill>
                    <a:srgbClr val="1F2937"/>
                  </a:solidFill>
                  <a:latin typeface="Courier"/>
                  <a:ea typeface="Courier"/>
                  <a:cs typeface="Courier"/>
                  <a:sym typeface="Courier"/>
                </a:rPr>
                <a:t>        </a:t>
              </a:r>
              <a:r>
                <a:rPr b="0" lang="en" sz="1064">
                  <a:solidFill>
                    <a:srgbClr val="0B7A4B"/>
                  </a:solidFill>
                  <a:latin typeface="Courier"/>
                  <a:ea typeface="Courier"/>
                  <a:cs typeface="Courier"/>
                  <a:sym typeface="Courier"/>
                </a:rPr>
                <a:t>print</a:t>
              </a:r>
              <a:r>
                <a:rPr lang="en" sz="1064">
                  <a:solidFill>
                    <a:srgbClr val="1F2937"/>
                  </a:solidFill>
                  <a:latin typeface="Courier"/>
                  <a:ea typeface="Courier"/>
                  <a:cs typeface="Courier"/>
                  <a:sym typeface="Courier"/>
                </a:rPr>
                <a:t>(</a:t>
              </a:r>
              <a:r>
                <a:rPr b="0" lang="en" sz="1064">
                  <a:solidFill>
                    <a:srgbClr val="B91C1C"/>
                  </a:solidFill>
                  <a:latin typeface="Courier"/>
                  <a:ea typeface="Courier"/>
                  <a:cs typeface="Courier"/>
                  <a:sym typeface="Courier"/>
                </a:rPr>
                <a:t>"Project folder already exists!"</a:t>
              </a:r>
              <a:r>
                <a:rPr lang="en" sz="1064">
                  <a:solidFill>
                    <a:srgbClr val="1F2937"/>
                  </a:solidFill>
                  <a:latin typeface="Courier"/>
                  <a:ea typeface="Courier"/>
                  <a:cs typeface="Courier"/>
                  <a:sym typeface="Courier"/>
                </a:rPr>
                <a:t>)</a:t>
              </a:r>
              <a:endParaRPr sz="1064">
                <a:solidFill>
                  <a:srgbClr val="1F2937"/>
                </a:solidFill>
                <a:latin typeface="Courier"/>
                <a:ea typeface="Courier"/>
                <a:cs typeface="Courier"/>
                <a:sym typeface="Courier"/>
              </a:endParaRPr>
            </a:p>
            <a:p>
              <a:pPr indent="0" lvl="0" marL="0" rtl="0" algn="l">
                <a:spcBef>
                  <a:spcPts val="750"/>
                </a:spcBef>
                <a:spcAft>
                  <a:spcPts val="0"/>
                </a:spcAft>
                <a:buNone/>
              </a:pPr>
              <a:r>
                <a:rPr lang="en" sz="1064">
                  <a:solidFill>
                    <a:srgbClr val="1F2937"/>
                  </a:solidFill>
                  <a:latin typeface="Courier"/>
                  <a:ea typeface="Courier"/>
                  <a:cs typeface="Courier"/>
                  <a:sym typeface="Courier"/>
                </a:rPr>
                <a:t>create_project_structure(</a:t>
              </a:r>
              <a:r>
                <a:rPr b="0" lang="en" sz="1064">
                  <a:solidFill>
                    <a:srgbClr val="B91C1C"/>
                  </a:solidFill>
                  <a:latin typeface="Courier"/>
                  <a:ea typeface="Courier"/>
                  <a:cs typeface="Courier"/>
                  <a:sym typeface="Courier"/>
                </a:rPr>
                <a:t>"Rover_Navigation_V1"</a:t>
              </a:r>
              <a:r>
                <a:rPr lang="en" sz="1064">
                  <a:solidFill>
                    <a:srgbClr val="1F2937"/>
                  </a:solidFill>
                  <a:latin typeface="Courier"/>
                  <a:ea typeface="Courier"/>
                  <a:cs typeface="Courier"/>
                  <a:sym typeface="Courier"/>
                </a:rPr>
                <a:t>)</a:t>
              </a:r>
              <a:endParaRPr sz="1064">
                <a:solidFill>
                  <a:srgbClr val="1F2937"/>
                </a:solidFill>
                <a:latin typeface="Courier"/>
                <a:ea typeface="Courier"/>
                <a:cs typeface="Courier"/>
                <a:sym typeface="Courier"/>
              </a:endParaRPr>
            </a:p>
          </p:txBody>
        </p:sp>
      </p:grpSp>
      <p:grpSp>
        <p:nvGrpSpPr>
          <p:cNvPr id="605" name="Google Shape;605;p32"/>
          <p:cNvGrpSpPr/>
          <p:nvPr/>
        </p:nvGrpSpPr>
        <p:grpSpPr>
          <a:xfrm>
            <a:off x="6286500" y="1762125"/>
            <a:ext cx="5143500" cy="4048200"/>
            <a:chOff x="0" y="0"/>
            <a:chExt cx="5143500" cy="4048200"/>
          </a:xfrm>
        </p:grpSpPr>
        <p:sp>
          <p:nvSpPr>
            <p:cNvPr id="606" name="Google Shape;606;p32"/>
            <p:cNvSpPr/>
            <p:nvPr/>
          </p:nvSpPr>
          <p:spPr>
            <a:xfrm>
              <a:off x="0" y="0"/>
              <a:ext cx="5143500" cy="4048200"/>
            </a:xfrm>
            <a:prstGeom prst="roundRect">
              <a:avLst>
                <a:gd fmla="val 282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32"/>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32"/>
            <p:cNvSpPr txBox="1"/>
            <p:nvPr/>
          </p:nvSpPr>
          <p:spPr>
            <a:xfrm>
              <a:off x="238125" y="238125"/>
              <a:ext cx="4667400" cy="357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System &amp; Folder Management</a:t>
              </a:r>
              <a:endParaRPr b="1" sz="1200">
                <a:solidFill>
                  <a:srgbClr val="045A36"/>
                </a:solidFill>
                <a:latin typeface="Inter"/>
                <a:ea typeface="Inter"/>
                <a:cs typeface="Inter"/>
                <a:sym typeface="Inter"/>
              </a:endParaRPr>
            </a:p>
            <a:p>
              <a:pPr indent="0" lvl="0" marL="0" rtl="0" algn="l">
                <a:spcBef>
                  <a:spcPts val="1125"/>
                </a:spcBef>
                <a:spcAft>
                  <a:spcPts val="0"/>
                </a:spcAft>
                <a:buNone/>
              </a:pPr>
              <a:r>
                <a:rPr b="0" lang="en" sz="1500">
                  <a:solidFill>
                    <a:srgbClr val="1F2937"/>
                  </a:solidFill>
                  <a:latin typeface="Inter SemiBold"/>
                  <a:ea typeface="Inter SemiBold"/>
                  <a:cs typeface="Inter SemiBold"/>
                  <a:sym typeface="Inter SemiBold"/>
                </a:rPr>
                <a:t>Cross-Platform Path Safety</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300">
                  <a:solidFill>
                    <a:srgbClr val="374151"/>
                  </a:solidFill>
                  <a:latin typeface="Inter"/>
                  <a:ea typeface="Inter"/>
                  <a:cs typeface="Inter"/>
                  <a:sym typeface="Inter"/>
                </a:rPr>
                <a:t>The </a:t>
              </a:r>
              <a:r>
                <a:rPr b="1" lang="en" sz="1200">
                  <a:solidFill>
                    <a:srgbClr val="045A36"/>
                  </a:solidFill>
                  <a:latin typeface="Courier"/>
                  <a:ea typeface="Courier"/>
                  <a:cs typeface="Courier"/>
                  <a:sym typeface="Courier"/>
                </a:rPr>
                <a:t>os.path.join()</a:t>
              </a:r>
              <a:r>
                <a:rPr b="0" lang="en" sz="1300">
                  <a:solidFill>
                    <a:srgbClr val="374151"/>
                  </a:solidFill>
                  <a:latin typeface="Inter"/>
                  <a:ea typeface="Inter"/>
                  <a:cs typeface="Inter"/>
                  <a:sym typeface="Inter"/>
                </a:rPr>
                <a:t> method combines directory tokens dynamically. This guarantees the script runs flawlessly on Windows, macOS, and Linux without separator formatting failures.</a:t>
              </a:r>
              <a:endParaRPr b="0" sz="1300">
                <a:solidFill>
                  <a:srgbClr val="374151"/>
                </a:solidFill>
                <a:latin typeface="Inter"/>
                <a:ea typeface="Inter"/>
                <a:cs typeface="Inter"/>
                <a:sym typeface="Inter"/>
              </a:endParaRPr>
            </a:p>
            <a:p>
              <a:pPr indent="0" lvl="0" marL="0" rtl="0" algn="l">
                <a:spcBef>
                  <a:spcPts val="900"/>
                </a:spcBef>
                <a:spcAft>
                  <a:spcPts val="0"/>
                </a:spcAft>
                <a:buNone/>
              </a:pPr>
              <a:r>
                <a:rPr b="0" lang="en" sz="1500">
                  <a:solidFill>
                    <a:srgbClr val="1F2937"/>
                  </a:solidFill>
                  <a:latin typeface="Inter SemiBold"/>
                  <a:ea typeface="Inter SemiBold"/>
                  <a:cs typeface="Inter SemiBold"/>
                  <a:sym typeface="Inter SemiBold"/>
                </a:rPr>
                <a:t>Automated Standard Tree</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300">
                  <a:solidFill>
                    <a:srgbClr val="374151"/>
                  </a:solidFill>
                  <a:latin typeface="Inter"/>
                  <a:ea typeface="Inter"/>
                  <a:cs typeface="Inter"/>
                  <a:sym typeface="Inter"/>
                </a:rPr>
                <a:t>By iterating through a predefined list, the creator consistently constructs identical subdirectory branches, standardizing output targets for log parsers.</a:t>
              </a:r>
              <a:endParaRPr b="0" sz="1300">
                <a:solidFill>
                  <a:srgbClr val="374151"/>
                </a:solidFill>
                <a:latin typeface="Inter"/>
                <a:ea typeface="Inter"/>
                <a:cs typeface="Inter"/>
                <a:sym typeface="Inter"/>
              </a:endParaRPr>
            </a:p>
            <a:p>
              <a:pPr indent="0" lvl="0" marL="0" rtl="0" algn="l">
                <a:spcBef>
                  <a:spcPts val="900"/>
                </a:spcBef>
                <a:spcAft>
                  <a:spcPts val="0"/>
                </a:spcAft>
                <a:buNone/>
              </a:pPr>
              <a:r>
                <a:rPr b="0" lang="en" sz="1500">
                  <a:solidFill>
                    <a:srgbClr val="1F2937"/>
                  </a:solidFill>
                  <a:latin typeface="Inter SemiBold"/>
                  <a:ea typeface="Inter SemiBold"/>
                  <a:cs typeface="Inter SemiBold"/>
                  <a:sym typeface="Inter SemiBold"/>
                </a:rPr>
                <a:t>Existence Verification Safeguard</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300">
                  <a:solidFill>
                    <a:srgbClr val="374151"/>
                  </a:solidFill>
                  <a:latin typeface="Inter"/>
                  <a:ea typeface="Inter"/>
                  <a:cs typeface="Inter"/>
                  <a:sym typeface="Inter"/>
                </a:rPr>
                <a:t>Calling </a:t>
              </a:r>
              <a:r>
                <a:rPr b="1" lang="en" sz="1200">
                  <a:solidFill>
                    <a:srgbClr val="045A36"/>
                  </a:solidFill>
                  <a:latin typeface="Courier"/>
                  <a:ea typeface="Courier"/>
                  <a:cs typeface="Courier"/>
                  <a:sym typeface="Courier"/>
                </a:rPr>
                <a:t>os.path.exists()</a:t>
              </a:r>
              <a:r>
                <a:rPr b="0" lang="en" sz="1300">
                  <a:solidFill>
                    <a:srgbClr val="374151"/>
                  </a:solidFill>
                  <a:latin typeface="Inter"/>
                  <a:ea typeface="Inter"/>
                  <a:cs typeface="Inter"/>
                  <a:sym typeface="Inter"/>
                </a:rPr>
                <a:t> checks if target folders are already present in memory, avoiding program crashes on subsequent execution runs.</a:t>
              </a:r>
              <a:endParaRPr b="0" sz="1300">
                <a:solidFill>
                  <a:srgbClr val="374151"/>
                </a:solidFill>
                <a:latin typeface="Inter"/>
                <a:ea typeface="Inter"/>
                <a:cs typeface="Inter"/>
                <a:sym typeface="Inter"/>
              </a:endParaRPr>
            </a:p>
          </p:txBody>
        </p:sp>
      </p:grpSp>
      <p:sp>
        <p:nvSpPr>
          <p:cNvPr id="609" name="Google Shape;609;p32"/>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3"/>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33"/>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3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7" name="Google Shape;617;p33"/>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grpSp>
        <p:nvGrpSpPr>
          <p:cNvPr id="618" name="Google Shape;618;p33"/>
          <p:cNvGrpSpPr/>
          <p:nvPr/>
        </p:nvGrpSpPr>
        <p:grpSpPr>
          <a:xfrm>
            <a:off x="762000" y="571500"/>
            <a:ext cx="10668000" cy="1095375"/>
            <a:chOff x="762000" y="571500"/>
            <a:chExt cx="10668000" cy="1095375"/>
          </a:xfrm>
        </p:grpSpPr>
        <p:sp>
          <p:nvSpPr>
            <p:cNvPr id="619" name="Google Shape;619;p33"/>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Automated Robot Log File Organizer</a:t>
              </a:r>
              <a:endParaRPr b="0" sz="2700">
                <a:solidFill>
                  <a:srgbClr val="045A36"/>
                </a:solidFill>
                <a:latin typeface="Montserrat SemiBold"/>
                <a:ea typeface="Montserrat SemiBold"/>
                <a:cs typeface="Montserrat SemiBold"/>
                <a:sym typeface="Montserrat SemiBold"/>
              </a:endParaRPr>
            </a:p>
          </p:txBody>
        </p:sp>
        <p:sp>
          <p:nvSpPr>
            <p:cNvPr id="620" name="Google Shape;620;p33"/>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Combining string checking and cross-folder movement to automatically organize messy working directories.</a:t>
              </a:r>
              <a:endParaRPr b="0" sz="1600">
                <a:solidFill>
                  <a:srgbClr val="4B5563"/>
                </a:solidFill>
                <a:latin typeface="Inter SemiBold"/>
                <a:ea typeface="Inter SemiBold"/>
                <a:cs typeface="Inter SemiBold"/>
                <a:sym typeface="Inter SemiBold"/>
              </a:endParaRPr>
            </a:p>
          </p:txBody>
        </p:sp>
      </p:grpSp>
      <p:grpSp>
        <p:nvGrpSpPr>
          <p:cNvPr id="621" name="Google Shape;621;p33"/>
          <p:cNvGrpSpPr/>
          <p:nvPr/>
        </p:nvGrpSpPr>
        <p:grpSpPr>
          <a:xfrm>
            <a:off x="762000" y="1809750"/>
            <a:ext cx="5143500" cy="4000500"/>
            <a:chOff x="0" y="0"/>
            <a:chExt cx="5143500" cy="4000500"/>
          </a:xfrm>
        </p:grpSpPr>
        <p:sp>
          <p:nvSpPr>
            <p:cNvPr id="622" name="Google Shape;622;p33"/>
            <p:cNvSpPr/>
            <p:nvPr/>
          </p:nvSpPr>
          <p:spPr>
            <a:xfrm>
              <a:off x="0" y="0"/>
              <a:ext cx="5143500" cy="4000500"/>
            </a:xfrm>
            <a:prstGeom prst="roundRect">
              <a:avLst>
                <a:gd fmla="val 2857"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33"/>
            <p:cNvSpPr/>
            <p:nvPr/>
          </p:nvSpPr>
          <p:spPr>
            <a:xfrm>
              <a:off x="0" y="0"/>
              <a:ext cx="57300" cy="4000500"/>
            </a:xfrm>
            <a:prstGeom prst="roundRect">
              <a:avLst>
                <a:gd fmla="val 49999"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33"/>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SCRIPT IMPLEMENTATION</a:t>
              </a:r>
              <a:endParaRPr b="1" sz="1200">
                <a:solidFill>
                  <a:srgbClr val="D4A017"/>
                </a:solidFill>
                <a:latin typeface="Inter"/>
                <a:ea typeface="Inter"/>
                <a:cs typeface="Inter"/>
                <a:sym typeface="Inter"/>
              </a:endParaRPr>
            </a:p>
          </p:txBody>
        </p:sp>
        <p:sp>
          <p:nvSpPr>
            <p:cNvPr id="625" name="Google Shape;625;p33"/>
            <p:cNvSpPr txBox="1"/>
            <p:nvPr/>
          </p:nvSpPr>
          <p:spPr>
            <a:xfrm>
              <a:off x="0" y="619125"/>
              <a:ext cx="5143500" cy="3238500"/>
            </a:xfrm>
            <a:prstGeom prst="rect">
              <a:avLst/>
            </a:prstGeom>
            <a:noFill/>
            <a:ln>
              <a:noFill/>
            </a:ln>
          </p:spPr>
          <p:txBody>
            <a:bodyPr anchorCtr="0" anchor="t" bIns="0" lIns="238125" spcFirstLastPara="1" rIns="238125" wrap="square" tIns="0">
              <a:noAutofit/>
            </a:bodyPr>
            <a:lstStyle/>
            <a:p>
              <a:pPr indent="0" lvl="0" marL="0" rtl="0" algn="l">
                <a:spcBef>
                  <a:spcPts val="0"/>
                </a:spcBef>
                <a:spcAft>
                  <a:spcPts val="0"/>
                </a:spcAft>
                <a:buNone/>
              </a:pPr>
              <a:r>
                <a:rPr b="1" lang="en" sz="1150">
                  <a:solidFill>
                    <a:srgbClr val="045A36"/>
                  </a:solidFill>
                  <a:latin typeface="Courier"/>
                  <a:ea typeface="Courier"/>
                  <a:cs typeface="Courier"/>
                  <a:sym typeface="Courier"/>
                </a:rPr>
                <a:t>import</a:t>
              </a:r>
              <a:r>
                <a:rPr b="0" lang="en" sz="1150">
                  <a:solidFill>
                    <a:srgbClr val="1F2937"/>
                  </a:solidFill>
                  <a:latin typeface="Courier"/>
                  <a:ea typeface="Courier"/>
                  <a:cs typeface="Courier"/>
                  <a:sym typeface="Courier"/>
                </a:rPr>
                <a:t> os</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1" lang="en" sz="1150">
                  <a:solidFill>
                    <a:srgbClr val="045A36"/>
                  </a:solidFill>
                  <a:latin typeface="Courier"/>
                  <a:ea typeface="Courier"/>
                  <a:cs typeface="Courier"/>
                  <a:sym typeface="Courier"/>
                </a:rPr>
                <a:t>import</a:t>
              </a:r>
              <a:r>
                <a:rPr b="0" lang="en" sz="1150">
                  <a:solidFill>
                    <a:srgbClr val="1F2937"/>
                  </a:solidFill>
                  <a:latin typeface="Courier"/>
                  <a:ea typeface="Courier"/>
                  <a:cs typeface="Courier"/>
                  <a:sym typeface="Courier"/>
                </a:rPr>
                <a:t> shutil </a:t>
              </a:r>
              <a:r>
                <a:rPr b="0" i="1" lang="en" sz="1100">
                  <a:solidFill>
                    <a:srgbClr val="6B7280"/>
                  </a:solidFill>
                  <a:latin typeface="Courier"/>
                  <a:ea typeface="Courier"/>
                  <a:cs typeface="Courier"/>
                  <a:sym typeface="Courier"/>
                </a:rPr>
                <a:t># Used to move files</a:t>
              </a:r>
              <a:endParaRPr b="0" sz="1150">
                <a:solidFill>
                  <a:srgbClr val="1F2937"/>
                </a:solidFill>
                <a:latin typeface="Courier"/>
                <a:ea typeface="Courier"/>
                <a:cs typeface="Courier"/>
                <a:sym typeface="Courier"/>
              </a:endParaRPr>
            </a:p>
            <a:p>
              <a:pPr indent="0" lvl="0" marL="0" rtl="0" algn="l">
                <a:spcBef>
                  <a:spcPts val="600"/>
                </a:spcBef>
                <a:spcAft>
                  <a:spcPts val="0"/>
                </a:spcAft>
                <a:buNone/>
              </a:pPr>
              <a:r>
                <a:rPr b="1" lang="en" sz="1150">
                  <a:solidFill>
                    <a:srgbClr val="045A36"/>
                  </a:solidFill>
                  <a:latin typeface="Courier"/>
                  <a:ea typeface="Courier"/>
                  <a:cs typeface="Courier"/>
                  <a:sym typeface="Courier"/>
                </a:rPr>
                <a:t>def</a:t>
              </a:r>
              <a:r>
                <a:rPr b="0" lang="en" sz="1150">
                  <a:solidFill>
                    <a:srgbClr val="1F2937"/>
                  </a:solidFill>
                  <a:latin typeface="Courier"/>
                  <a:ea typeface="Courier"/>
                  <a:cs typeface="Courier"/>
                  <a:sym typeface="Courier"/>
                </a:rPr>
                <a:t> </a:t>
              </a:r>
              <a:r>
                <a:rPr b="0" lang="en" sz="1150">
                  <a:solidFill>
                    <a:srgbClr val="0B7A4B"/>
                  </a:solidFill>
                  <a:latin typeface="Courier"/>
                  <a:ea typeface="Courier"/>
                  <a:cs typeface="Courier"/>
                  <a:sym typeface="Courier"/>
                </a:rPr>
                <a:t>organize_logs</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1F2937"/>
                  </a:solidFill>
                  <a:latin typeface="Courier"/>
                  <a:ea typeface="Courier"/>
                  <a:cs typeface="Courier"/>
                  <a:sym typeface="Courier"/>
                </a:rPr>
                <a:t>log_dir = </a:t>
              </a:r>
              <a:r>
                <a:rPr b="0" lang="en" sz="1150">
                  <a:solidFill>
                    <a:srgbClr val="B91C1C"/>
                  </a:solidFill>
                  <a:latin typeface="Courier"/>
                  <a:ea typeface="Courier"/>
                  <a:cs typeface="Courier"/>
                  <a:sym typeface="Courier"/>
                </a:rPr>
                <a:t>"Logs"</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1F2937"/>
                  </a:solidFill>
                  <a:latin typeface="Courier"/>
                  <a:ea typeface="Courier"/>
                  <a:cs typeface="Courier"/>
                  <a:sym typeface="Courier"/>
                </a:rPr>
                <a:t>os.makedirs(log_dir, exist_ok=</a:t>
              </a:r>
              <a:r>
                <a:rPr b="1" lang="en" sz="1150">
                  <a:solidFill>
                    <a:srgbClr val="045A36"/>
                  </a:solidFill>
                  <a:latin typeface="Courier"/>
                  <a:ea typeface="Courier"/>
                  <a:cs typeface="Courier"/>
                  <a:sym typeface="Courier"/>
                </a:rPr>
                <a:t>True</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1" lang="en" sz="1150">
                  <a:solidFill>
                    <a:srgbClr val="045A36"/>
                  </a:solidFill>
                  <a:latin typeface="Courier"/>
                  <a:ea typeface="Courier"/>
                  <a:cs typeface="Courier"/>
                  <a:sym typeface="Courier"/>
                </a:rPr>
                <a:t>for</a:t>
              </a:r>
              <a:r>
                <a:rPr b="0" lang="en" sz="1150">
                  <a:solidFill>
                    <a:srgbClr val="1F2937"/>
                  </a:solidFill>
                  <a:latin typeface="Courier"/>
                  <a:ea typeface="Courier"/>
                  <a:cs typeface="Courier"/>
                  <a:sym typeface="Courier"/>
                </a:rPr>
                <a:t> item </a:t>
              </a:r>
              <a:r>
                <a:rPr b="1" lang="en" sz="1150">
                  <a:solidFill>
                    <a:srgbClr val="045A36"/>
                  </a:solidFill>
                  <a:latin typeface="Courier"/>
                  <a:ea typeface="Courier"/>
                  <a:cs typeface="Courier"/>
                  <a:sym typeface="Courier"/>
                </a:rPr>
                <a:t>in</a:t>
              </a:r>
              <a:r>
                <a:rPr b="0" lang="en" sz="1150">
                  <a:solidFill>
                    <a:srgbClr val="1F2937"/>
                  </a:solidFill>
                  <a:latin typeface="Courier"/>
                  <a:ea typeface="Courier"/>
                  <a:cs typeface="Courier"/>
                  <a:sym typeface="Courier"/>
                </a:rPr>
                <a:t> os.listdir(</a:t>
              </a:r>
              <a:r>
                <a:rPr b="0" lang="en" sz="1150">
                  <a:solidFill>
                    <a:srgbClr val="B91C1C"/>
                  </a:solidFill>
                  <a:latin typeface="Courier"/>
                  <a:ea typeface="Courier"/>
                  <a:cs typeface="Courier"/>
                  <a:sym typeface="Courier"/>
                </a:rPr>
                <a:t>"."</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1" lang="en" sz="1150">
                  <a:solidFill>
                    <a:srgbClr val="045A36"/>
                  </a:solidFill>
                  <a:latin typeface="Courier"/>
                  <a:ea typeface="Courier"/>
                  <a:cs typeface="Courier"/>
                  <a:sym typeface="Courier"/>
                </a:rPr>
                <a:t>if</a:t>
              </a:r>
              <a:r>
                <a:rPr b="0" lang="en" sz="1150">
                  <a:solidFill>
                    <a:srgbClr val="1F2937"/>
                  </a:solidFill>
                  <a:latin typeface="Courier"/>
                  <a:ea typeface="Courier"/>
                  <a:cs typeface="Courier"/>
                  <a:sym typeface="Courier"/>
                </a:rPr>
                <a:t> os.path.isfile(item) </a:t>
              </a:r>
              <a:r>
                <a:rPr b="1" lang="en" sz="1150">
                  <a:solidFill>
                    <a:srgbClr val="045A36"/>
                  </a:solidFill>
                  <a:latin typeface="Courier"/>
                  <a:ea typeface="Courier"/>
                  <a:cs typeface="Courier"/>
                  <a:sym typeface="Courier"/>
                </a:rPr>
                <a:t>and</a:t>
              </a:r>
              <a:r>
                <a:rPr b="0" lang="en" sz="1150">
                  <a:solidFill>
                    <a:srgbClr val="1F2937"/>
                  </a:solidFill>
                  <a:latin typeface="Courier"/>
                  <a:ea typeface="Courier"/>
                  <a:cs typeface="Courier"/>
                  <a:sym typeface="Courier"/>
                </a:rPr>
                <a:t> (item.endswith(</a:t>
              </a:r>
              <a:r>
                <a:rPr b="0" lang="en" sz="1150">
                  <a:solidFill>
                    <a:srgbClr val="B91C1C"/>
                  </a:solidFill>
                  <a:latin typeface="Courier"/>
                  <a:ea typeface="Courier"/>
                  <a:cs typeface="Courier"/>
                  <a:sym typeface="Courier"/>
                </a:rPr>
                <a:t>".txt"</a:t>
              </a:r>
              <a:r>
                <a:rPr b="0" lang="en" sz="1150">
                  <a:solidFill>
                    <a:srgbClr val="1F2937"/>
                  </a:solidFill>
                  <a:latin typeface="Courier"/>
                  <a:ea typeface="Courier"/>
                  <a:cs typeface="Courier"/>
                  <a:sym typeface="Courier"/>
                </a:rPr>
                <a:t>) </a:t>
              </a:r>
              <a:r>
                <a:rPr b="1" lang="en" sz="1150">
                  <a:solidFill>
                    <a:srgbClr val="045A36"/>
                  </a:solidFill>
                  <a:latin typeface="Courier"/>
                  <a:ea typeface="Courier"/>
                  <a:cs typeface="Courier"/>
                  <a:sym typeface="Courier"/>
                </a:rPr>
                <a:t>or</a:t>
              </a:r>
              <a:r>
                <a:rPr b="0" lang="en" sz="1150">
                  <a:solidFill>
                    <a:srgbClr val="1F2937"/>
                  </a:solidFill>
                  <a:latin typeface="Courier"/>
                  <a:ea typeface="Courier"/>
                  <a:cs typeface="Courier"/>
                  <a:sym typeface="Courier"/>
                </a:rPr>
                <a:t> item.endswith(</a:t>
              </a:r>
              <a:r>
                <a:rPr b="0" lang="en" sz="1150">
                  <a:solidFill>
                    <a:srgbClr val="B91C1C"/>
                  </a:solidFill>
                  <a:latin typeface="Courier"/>
                  <a:ea typeface="Courier"/>
                  <a:cs typeface="Courier"/>
                  <a:sym typeface="Courier"/>
                </a:rPr>
                <a:t>".csv"</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1F2937"/>
                  </a:solidFill>
                  <a:latin typeface="Courier"/>
                  <a:ea typeface="Courier"/>
                  <a:cs typeface="Courier"/>
                  <a:sym typeface="Courier"/>
                </a:rPr>
                <a:t>src_path = item</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1F2937"/>
                  </a:solidFill>
                  <a:latin typeface="Courier"/>
                  <a:ea typeface="Courier"/>
                  <a:cs typeface="Courier"/>
                  <a:sym typeface="Courier"/>
                </a:rPr>
                <a:t>dst_path = os.path.join(log_dir, item)</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1F2937"/>
                  </a:solidFill>
                  <a:latin typeface="Courier"/>
                  <a:ea typeface="Courier"/>
                  <a:cs typeface="Courier"/>
                  <a:sym typeface="Courier"/>
                </a:rPr>
                <a:t>os.rename(src_path, dst_path) </a:t>
              </a:r>
              <a:r>
                <a:rPr b="0" i="1" lang="en" sz="1100">
                  <a:solidFill>
                    <a:srgbClr val="6B7280"/>
                  </a:solidFill>
                  <a:latin typeface="Courier"/>
                  <a:ea typeface="Courier"/>
                  <a:cs typeface="Courier"/>
                  <a:sym typeface="Courier"/>
                </a:rPr>
                <a:t># Moving file</a:t>
              </a:r>
              <a:endParaRPr b="0" sz="1150">
                <a:solidFill>
                  <a:srgbClr val="1F2937"/>
                </a:solidFill>
                <a:latin typeface="Courier"/>
                <a:ea typeface="Courier"/>
                <a:cs typeface="Courier"/>
                <a:sym typeface="Courier"/>
              </a:endParaRPr>
            </a:p>
            <a:p>
              <a:pPr indent="0" lvl="0" marL="0" rtl="0" algn="l">
                <a:spcBef>
                  <a:spcPts val="0"/>
                </a:spcBef>
                <a:spcAft>
                  <a:spcPts val="0"/>
                </a:spcAft>
                <a:buNone/>
              </a:pPr>
              <a:r>
                <a:rPr b="0" lang="en" sz="1150">
                  <a:solidFill>
                    <a:srgbClr val="0B7A4B"/>
                  </a:solidFill>
                  <a:latin typeface="Courier"/>
                  <a:ea typeface="Courier"/>
                  <a:cs typeface="Courier"/>
                  <a:sym typeface="Courier"/>
                </a:rPr>
                <a:t>print</a:t>
              </a:r>
              <a:r>
                <a:rPr b="0" lang="en" sz="1150">
                  <a:solidFill>
                    <a:srgbClr val="1F2937"/>
                  </a:solidFill>
                  <a:latin typeface="Courier"/>
                  <a:ea typeface="Courier"/>
                  <a:cs typeface="Courier"/>
                  <a:sym typeface="Courier"/>
                </a:rPr>
                <a:t>(f</a:t>
              </a:r>
              <a:r>
                <a:rPr b="0" lang="en" sz="1150">
                  <a:solidFill>
                    <a:srgbClr val="B91C1C"/>
                  </a:solidFill>
                  <a:latin typeface="Courier"/>
                  <a:ea typeface="Courier"/>
                  <a:cs typeface="Courier"/>
                  <a:sym typeface="Courier"/>
                </a:rPr>
                <a:t>"Moved {item} to {log_dir}/"</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a:p>
              <a:pPr indent="0" lvl="0" marL="0" rtl="0" algn="l">
                <a:spcBef>
                  <a:spcPts val="900"/>
                </a:spcBef>
                <a:spcAft>
                  <a:spcPts val="0"/>
                </a:spcAft>
                <a:buNone/>
              </a:pPr>
              <a:r>
                <a:rPr b="0" lang="en" sz="1150">
                  <a:solidFill>
                    <a:srgbClr val="0B7A4B"/>
                  </a:solidFill>
                  <a:latin typeface="Courier"/>
                  <a:ea typeface="Courier"/>
                  <a:cs typeface="Courier"/>
                  <a:sym typeface="Courier"/>
                </a:rPr>
                <a:t>organize_logs</a:t>
              </a:r>
              <a:r>
                <a:rPr b="0" lang="en" sz="1150">
                  <a:solidFill>
                    <a:srgbClr val="1F2937"/>
                  </a:solidFill>
                  <a:latin typeface="Courier"/>
                  <a:ea typeface="Courier"/>
                  <a:cs typeface="Courier"/>
                  <a:sym typeface="Courier"/>
                </a:rPr>
                <a:t>()</a:t>
              </a:r>
              <a:endParaRPr b="0" sz="1150">
                <a:solidFill>
                  <a:srgbClr val="1F2937"/>
                </a:solidFill>
                <a:latin typeface="Courier"/>
                <a:ea typeface="Courier"/>
                <a:cs typeface="Courier"/>
                <a:sym typeface="Courier"/>
              </a:endParaRPr>
            </a:p>
          </p:txBody>
        </p:sp>
      </p:grpSp>
      <p:grpSp>
        <p:nvGrpSpPr>
          <p:cNvPr id="626" name="Google Shape;626;p33"/>
          <p:cNvGrpSpPr/>
          <p:nvPr/>
        </p:nvGrpSpPr>
        <p:grpSpPr>
          <a:xfrm>
            <a:off x="6286500" y="1809750"/>
            <a:ext cx="5143500" cy="4000500"/>
            <a:chOff x="0" y="0"/>
            <a:chExt cx="5143500" cy="4000500"/>
          </a:xfrm>
        </p:grpSpPr>
        <p:sp>
          <p:nvSpPr>
            <p:cNvPr id="627" name="Google Shape;627;p33"/>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33"/>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9" name="Google Shape;629;p33"/>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LOGIC &amp; BEHAVIOR BREAKDOWN</a:t>
              </a:r>
              <a:endParaRPr b="1" sz="1200">
                <a:solidFill>
                  <a:srgbClr val="045A36"/>
                </a:solidFill>
                <a:latin typeface="Inter"/>
                <a:ea typeface="Inter"/>
                <a:cs typeface="Inter"/>
                <a:sym typeface="Inter"/>
              </a:endParaRPr>
            </a:p>
          </p:txBody>
        </p:sp>
        <p:sp>
          <p:nvSpPr>
            <p:cNvPr id="630" name="Google Shape;630;p33"/>
            <p:cNvSpPr txBox="1"/>
            <p:nvPr/>
          </p:nvSpPr>
          <p:spPr>
            <a:xfrm>
              <a:off x="0" y="619125"/>
              <a:ext cx="5143500" cy="3238500"/>
            </a:xfrm>
            <a:prstGeom prst="rect">
              <a:avLst/>
            </a:prstGeom>
            <a:noFill/>
            <a:ln>
              <a:noFill/>
            </a:ln>
          </p:spPr>
          <p:txBody>
            <a:bodyPr anchorCtr="0" anchor="t" bIns="0" lIns="238125" spcFirstLastPara="1" rIns="238125"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1. Directory Scanning</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1" lang="en" sz="1400">
                  <a:solidFill>
                    <a:srgbClr val="045A36"/>
                  </a:solidFill>
                  <a:latin typeface="Courier"/>
                  <a:ea typeface="Courier"/>
                  <a:cs typeface="Courier"/>
                  <a:sym typeface="Courier"/>
                </a:rPr>
                <a:t>os.listdir('.')</a:t>
              </a:r>
              <a:r>
                <a:rPr b="0" lang="en" sz="1400">
                  <a:solidFill>
                    <a:srgbClr val="374151"/>
                  </a:solidFill>
                  <a:latin typeface="Inter"/>
                  <a:ea typeface="Inter"/>
                  <a:cs typeface="Inter"/>
                  <a:sym typeface="Inter"/>
                </a:rPr>
                <a:t> retrieves all items in the active working directory, establishing the search space.</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2. Targeted Filtering</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400">
                  <a:solidFill>
                    <a:srgbClr val="374151"/>
                  </a:solidFill>
                  <a:latin typeface="Inter"/>
                  <a:ea typeface="Inter"/>
                  <a:cs typeface="Inter"/>
                  <a:sym typeface="Inter"/>
                </a:rPr>
                <a:t>Filters files by validating extensions with </a:t>
              </a:r>
              <a:r>
                <a:rPr b="1" lang="en" sz="1400">
                  <a:solidFill>
                    <a:srgbClr val="045A36"/>
                  </a:solidFill>
                  <a:latin typeface="Courier"/>
                  <a:ea typeface="Courier"/>
                  <a:cs typeface="Courier"/>
                  <a:sym typeface="Courier"/>
                </a:rPr>
                <a:t>item.endswith()</a:t>
              </a:r>
              <a:r>
                <a:rPr b="0" lang="en" sz="1400">
                  <a:solidFill>
                    <a:srgbClr val="374151"/>
                  </a:solidFill>
                  <a:latin typeface="Inter"/>
                  <a:ea typeface="Inter"/>
                  <a:cs typeface="Inter"/>
                  <a:sym typeface="Inter"/>
                </a:rPr>
                <a:t> to target only robot log files (.txt and .csv).</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3. Safe Directory Creation</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1" lang="en" sz="1400">
                  <a:solidFill>
                    <a:srgbClr val="045A36"/>
                  </a:solidFill>
                  <a:latin typeface="Courier"/>
                  <a:ea typeface="Courier"/>
                  <a:cs typeface="Courier"/>
                  <a:sym typeface="Courier"/>
                </a:rPr>
                <a:t>os.makedirs(..., exist_ok=True)</a:t>
              </a:r>
              <a:r>
                <a:rPr b="0" lang="en" sz="1400">
                  <a:solidFill>
                    <a:srgbClr val="374151"/>
                  </a:solidFill>
                  <a:latin typeface="Inter"/>
                  <a:ea typeface="Inter"/>
                  <a:cs typeface="Inter"/>
                  <a:sym typeface="Inter"/>
                </a:rPr>
                <a:t> verifies the target 'Logs' folder exists, generating it cleanly if missing.</a:t>
              </a:r>
              <a:endParaRPr b="0" sz="1400">
                <a:solidFill>
                  <a:srgbClr val="374151"/>
                </a:solidFill>
                <a:latin typeface="Inter"/>
                <a:ea typeface="Inter"/>
                <a:cs typeface="Inter"/>
                <a:sym typeface="Inter"/>
              </a:endParaRPr>
            </a:p>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4. File Relocation</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1" lang="en" sz="1400">
                  <a:solidFill>
                    <a:srgbClr val="045A36"/>
                  </a:solidFill>
                  <a:latin typeface="Courier"/>
                  <a:ea typeface="Courier"/>
                  <a:cs typeface="Courier"/>
                  <a:sym typeface="Courier"/>
                </a:rPr>
                <a:t>os.rename()</a:t>
              </a:r>
              <a:r>
                <a:rPr b="0" lang="en" sz="1400">
                  <a:solidFill>
                    <a:srgbClr val="374151"/>
                  </a:solidFill>
                  <a:latin typeface="Inter"/>
                  <a:ea typeface="Inter"/>
                  <a:cs typeface="Inter"/>
                  <a:sym typeface="Inter"/>
                </a:rPr>
                <a:t> handles cross-folder execution, cleanly pushing files out of the root into persistent sub-folders.</a:t>
              </a:r>
              <a:endParaRPr b="0" sz="1400">
                <a:solidFill>
                  <a:srgbClr val="374151"/>
                </a:solidFill>
                <a:latin typeface="Inter"/>
                <a:ea typeface="Inter"/>
                <a:cs typeface="Inter"/>
                <a:sym typeface="Inte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3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34"/>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3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8" name="Google Shape;638;p34"/>
          <p:cNvGrpSpPr/>
          <p:nvPr/>
        </p:nvGrpSpPr>
        <p:grpSpPr>
          <a:xfrm>
            <a:off x="762000" y="571500"/>
            <a:ext cx="10668000" cy="1095375"/>
            <a:chOff x="762000" y="571500"/>
            <a:chExt cx="10668000" cy="1095375"/>
          </a:xfrm>
        </p:grpSpPr>
        <p:sp>
          <p:nvSpPr>
            <p:cNvPr id="639" name="Google Shape;639;p34"/>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Robust OS Automation Principles</a:t>
              </a:r>
              <a:endParaRPr b="0" sz="2700">
                <a:solidFill>
                  <a:srgbClr val="045A36"/>
                </a:solidFill>
                <a:latin typeface="Montserrat SemiBold"/>
                <a:ea typeface="Montserrat SemiBold"/>
                <a:cs typeface="Montserrat SemiBold"/>
                <a:sym typeface="Montserrat SemiBold"/>
              </a:endParaRPr>
            </a:p>
          </p:txBody>
        </p:sp>
        <p:sp>
          <p:nvSpPr>
            <p:cNvPr id="640" name="Google Shape;640;p34"/>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80">
                  <a:solidFill>
                    <a:srgbClr val="4B5563"/>
                  </a:solidFill>
                  <a:latin typeface="Inter SemiBold"/>
                  <a:ea typeface="Inter SemiBold"/>
                  <a:cs typeface="Inter SemiBold"/>
                  <a:sym typeface="Inter SemiBold"/>
                </a:rPr>
                <a:t>Essential software engineering guidelines for developing highly resilient operating system automation scripts.</a:t>
              </a:r>
              <a:endParaRPr b="0" sz="1480">
                <a:solidFill>
                  <a:srgbClr val="4B5563"/>
                </a:solidFill>
                <a:latin typeface="Inter SemiBold"/>
                <a:ea typeface="Inter SemiBold"/>
                <a:cs typeface="Inter SemiBold"/>
                <a:sym typeface="Inter SemiBold"/>
              </a:endParaRPr>
            </a:p>
          </p:txBody>
        </p:sp>
      </p:grpSp>
      <p:grpSp>
        <p:nvGrpSpPr>
          <p:cNvPr id="641" name="Google Shape;641;p34"/>
          <p:cNvGrpSpPr/>
          <p:nvPr/>
        </p:nvGrpSpPr>
        <p:grpSpPr>
          <a:xfrm>
            <a:off x="762000" y="1809750"/>
            <a:ext cx="5143575" cy="3952800"/>
            <a:chOff x="762000" y="1809750"/>
            <a:chExt cx="5143575" cy="3952800"/>
          </a:xfrm>
        </p:grpSpPr>
        <p:grpSp>
          <p:nvGrpSpPr>
            <p:cNvPr id="642" name="Google Shape;642;p34"/>
            <p:cNvGrpSpPr/>
            <p:nvPr/>
          </p:nvGrpSpPr>
          <p:grpSpPr>
            <a:xfrm>
              <a:off x="762000" y="1809750"/>
              <a:ext cx="5143575" cy="714300"/>
              <a:chOff x="0" y="0"/>
              <a:chExt cx="5143575" cy="714300"/>
            </a:xfrm>
          </p:grpSpPr>
          <p:grpSp>
            <p:nvGrpSpPr>
              <p:cNvPr id="643" name="Google Shape;643;p34"/>
              <p:cNvGrpSpPr/>
              <p:nvPr/>
            </p:nvGrpSpPr>
            <p:grpSpPr>
              <a:xfrm>
                <a:off x="0" y="38100"/>
                <a:ext cx="190500" cy="190500"/>
                <a:chOff x="0" y="0"/>
                <a:chExt cx="190500" cy="190500"/>
              </a:xfrm>
            </p:grpSpPr>
            <p:sp>
              <p:nvSpPr>
                <p:cNvPr id="644" name="Google Shape;644;p3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34"/>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46" name="Google Shape;646;p34"/>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Always Check Existence</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350">
                    <a:solidFill>
                      <a:srgbClr val="374151"/>
                    </a:solidFill>
                    <a:latin typeface="Inter"/>
                    <a:ea typeface="Inter"/>
                    <a:cs typeface="Inter"/>
                    <a:sym typeface="Inter"/>
                  </a:rPr>
                  <a:t>Never assume a file or folder exists. Use </a:t>
                </a:r>
                <a:r>
                  <a:rPr b="1" lang="en" sz="1150">
                    <a:solidFill>
                      <a:srgbClr val="045A36"/>
                    </a:solidFill>
                    <a:latin typeface="Courier"/>
                    <a:ea typeface="Courier"/>
                    <a:cs typeface="Courier"/>
                    <a:sym typeface="Courier"/>
                  </a:rPr>
                  <a:t>os.path.exists()</a:t>
                </a:r>
                <a:r>
                  <a:rPr b="0" lang="en" sz="1350">
                    <a:solidFill>
                      <a:srgbClr val="374151"/>
                    </a:solidFill>
                    <a:latin typeface="Inter"/>
                    <a:ea typeface="Inter"/>
                    <a:cs typeface="Inter"/>
                    <a:sym typeface="Inter"/>
                  </a:rPr>
                  <a:t> before operating on it.</a:t>
                </a:r>
                <a:endParaRPr b="0" sz="1350">
                  <a:solidFill>
                    <a:srgbClr val="374151"/>
                  </a:solidFill>
                  <a:latin typeface="Inter"/>
                  <a:ea typeface="Inter"/>
                  <a:cs typeface="Inter"/>
                  <a:sym typeface="Inter"/>
                </a:endParaRPr>
              </a:p>
            </p:txBody>
          </p:sp>
        </p:grpSp>
        <p:grpSp>
          <p:nvGrpSpPr>
            <p:cNvPr id="647" name="Google Shape;647;p34"/>
            <p:cNvGrpSpPr/>
            <p:nvPr/>
          </p:nvGrpSpPr>
          <p:grpSpPr>
            <a:xfrm>
              <a:off x="762000" y="2619375"/>
              <a:ext cx="5143575" cy="714300"/>
              <a:chOff x="0" y="0"/>
              <a:chExt cx="5143575" cy="714300"/>
            </a:xfrm>
          </p:grpSpPr>
          <p:grpSp>
            <p:nvGrpSpPr>
              <p:cNvPr id="648" name="Google Shape;648;p34"/>
              <p:cNvGrpSpPr/>
              <p:nvPr/>
            </p:nvGrpSpPr>
            <p:grpSpPr>
              <a:xfrm>
                <a:off x="0" y="38100"/>
                <a:ext cx="190500" cy="190500"/>
                <a:chOff x="0" y="0"/>
                <a:chExt cx="190500" cy="190500"/>
              </a:xfrm>
            </p:grpSpPr>
            <p:sp>
              <p:nvSpPr>
                <p:cNvPr id="649" name="Google Shape;649;p3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34"/>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1" name="Google Shape;651;p34"/>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Avoid Hardcoding Paths</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350">
                    <a:solidFill>
                      <a:srgbClr val="374151"/>
                    </a:solidFill>
                    <a:latin typeface="Inter"/>
                    <a:ea typeface="Inter"/>
                    <a:cs typeface="Inter"/>
                    <a:sym typeface="Inter"/>
                  </a:rPr>
                  <a:t>Use </a:t>
                </a:r>
                <a:r>
                  <a:rPr b="1" lang="en" sz="1150">
                    <a:solidFill>
                      <a:srgbClr val="045A36"/>
                    </a:solidFill>
                    <a:latin typeface="Courier"/>
                    <a:ea typeface="Courier"/>
                    <a:cs typeface="Courier"/>
                    <a:sym typeface="Courier"/>
                  </a:rPr>
                  <a:t>os.getcwd()</a:t>
                </a:r>
                <a:r>
                  <a:rPr b="0" lang="en" sz="1350">
                    <a:solidFill>
                      <a:srgbClr val="374151"/>
                    </a:solidFill>
                    <a:latin typeface="Inter"/>
                    <a:ea typeface="Inter"/>
                    <a:cs typeface="Inter"/>
                    <a:sym typeface="Inter"/>
                  </a:rPr>
                  <a:t> and relative paths instead of absolute system locations to ensure code portability.</a:t>
                </a:r>
                <a:endParaRPr b="0" sz="1350">
                  <a:solidFill>
                    <a:srgbClr val="374151"/>
                  </a:solidFill>
                  <a:latin typeface="Inter"/>
                  <a:ea typeface="Inter"/>
                  <a:cs typeface="Inter"/>
                  <a:sym typeface="Inter"/>
                </a:endParaRPr>
              </a:p>
            </p:txBody>
          </p:sp>
        </p:grpSp>
        <p:grpSp>
          <p:nvGrpSpPr>
            <p:cNvPr id="652" name="Google Shape;652;p34"/>
            <p:cNvGrpSpPr/>
            <p:nvPr/>
          </p:nvGrpSpPr>
          <p:grpSpPr>
            <a:xfrm>
              <a:off x="762000" y="3429000"/>
              <a:ext cx="5143575" cy="714300"/>
              <a:chOff x="0" y="0"/>
              <a:chExt cx="5143575" cy="714300"/>
            </a:xfrm>
          </p:grpSpPr>
          <p:grpSp>
            <p:nvGrpSpPr>
              <p:cNvPr id="653" name="Google Shape;653;p34"/>
              <p:cNvGrpSpPr/>
              <p:nvPr/>
            </p:nvGrpSpPr>
            <p:grpSpPr>
              <a:xfrm>
                <a:off x="0" y="38100"/>
                <a:ext cx="190500" cy="190500"/>
                <a:chOff x="0" y="0"/>
                <a:chExt cx="190500" cy="190500"/>
              </a:xfrm>
            </p:grpSpPr>
            <p:sp>
              <p:nvSpPr>
                <p:cNvPr id="654" name="Google Shape;654;p3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34"/>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6" name="Google Shape;656;p34"/>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1F2937"/>
                    </a:solidFill>
                    <a:latin typeface="Inter SemiBold"/>
                    <a:ea typeface="Inter SemiBold"/>
                    <a:cs typeface="Inter SemiBold"/>
                    <a:sym typeface="Inter SemiBold"/>
                  </a:rPr>
                  <a:t>Use os.path.join()</a:t>
                </a:r>
                <a:endParaRPr b="0" sz="1388">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249">
                    <a:solidFill>
                      <a:srgbClr val="374151"/>
                    </a:solidFill>
                    <a:latin typeface="Inter"/>
                    <a:ea typeface="Inter"/>
                    <a:cs typeface="Inter"/>
                    <a:sym typeface="Inter"/>
                  </a:rPr>
                  <a:t>Always construct paths using </a:t>
                </a:r>
                <a:r>
                  <a:rPr b="1" lang="en" sz="1064">
                    <a:solidFill>
                      <a:srgbClr val="045A36"/>
                    </a:solidFill>
                    <a:latin typeface="Courier"/>
                    <a:ea typeface="Courier"/>
                    <a:cs typeface="Courier"/>
                    <a:sym typeface="Courier"/>
                  </a:rPr>
                  <a:t>os.path.join()</a:t>
                </a:r>
                <a:r>
                  <a:rPr b="0" lang="en" sz="1249">
                    <a:solidFill>
                      <a:srgbClr val="374151"/>
                    </a:solidFill>
                    <a:latin typeface="Inter"/>
                    <a:ea typeface="Inter"/>
                    <a:cs typeface="Inter"/>
                    <a:sym typeface="Inter"/>
                  </a:rPr>
                  <a:t> to automatically handle Windows (</a:t>
                </a:r>
                <a:r>
                  <a:rPr b="0" lang="en" sz="1064">
                    <a:solidFill>
                      <a:srgbClr val="B91C1C"/>
                    </a:solidFill>
                    <a:latin typeface="Courier"/>
                    <a:ea typeface="Courier"/>
                    <a:cs typeface="Courier"/>
                    <a:sym typeface="Courier"/>
                  </a:rPr>
                  <a:t>\\</a:t>
                </a:r>
                <a:r>
                  <a:rPr b="0" lang="en" sz="1249">
                    <a:solidFill>
                      <a:srgbClr val="374151"/>
                    </a:solidFill>
                    <a:latin typeface="Inter"/>
                    <a:ea typeface="Inter"/>
                    <a:cs typeface="Inter"/>
                    <a:sym typeface="Inter"/>
                  </a:rPr>
                  <a:t>) and Unix (</a:t>
                </a:r>
                <a:r>
                  <a:rPr b="0" lang="en" sz="1064">
                    <a:solidFill>
                      <a:srgbClr val="B91C1C"/>
                    </a:solidFill>
                    <a:latin typeface="Courier"/>
                    <a:ea typeface="Courier"/>
                    <a:cs typeface="Courier"/>
                    <a:sym typeface="Courier"/>
                  </a:rPr>
                  <a:t>/</a:t>
                </a:r>
                <a:r>
                  <a:rPr b="0" lang="en" sz="1249">
                    <a:solidFill>
                      <a:srgbClr val="374151"/>
                    </a:solidFill>
                    <a:latin typeface="Inter"/>
                    <a:ea typeface="Inter"/>
                    <a:cs typeface="Inter"/>
                    <a:sym typeface="Inter"/>
                  </a:rPr>
                  <a:t>) path separators.</a:t>
                </a:r>
                <a:endParaRPr b="0" sz="1249">
                  <a:solidFill>
                    <a:srgbClr val="374151"/>
                  </a:solidFill>
                  <a:latin typeface="Inter"/>
                  <a:ea typeface="Inter"/>
                  <a:cs typeface="Inter"/>
                  <a:sym typeface="Inter"/>
                </a:endParaRPr>
              </a:p>
            </p:txBody>
          </p:sp>
        </p:grpSp>
        <p:grpSp>
          <p:nvGrpSpPr>
            <p:cNvPr id="657" name="Google Shape;657;p34"/>
            <p:cNvGrpSpPr/>
            <p:nvPr/>
          </p:nvGrpSpPr>
          <p:grpSpPr>
            <a:xfrm>
              <a:off x="762000" y="4238625"/>
              <a:ext cx="5143575" cy="714300"/>
              <a:chOff x="0" y="0"/>
              <a:chExt cx="5143575" cy="714300"/>
            </a:xfrm>
          </p:grpSpPr>
          <p:grpSp>
            <p:nvGrpSpPr>
              <p:cNvPr id="658" name="Google Shape;658;p34"/>
              <p:cNvGrpSpPr/>
              <p:nvPr/>
            </p:nvGrpSpPr>
            <p:grpSpPr>
              <a:xfrm>
                <a:off x="0" y="38100"/>
                <a:ext cx="190500" cy="190500"/>
                <a:chOff x="0" y="0"/>
                <a:chExt cx="190500" cy="190500"/>
              </a:xfrm>
            </p:grpSpPr>
            <p:sp>
              <p:nvSpPr>
                <p:cNvPr id="659" name="Google Shape;659;p3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34"/>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61" name="Google Shape;661;p34"/>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Handle Exceptions Gracefully</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350">
                    <a:solidFill>
                      <a:srgbClr val="374151"/>
                    </a:solidFill>
                    <a:latin typeface="Inter"/>
                    <a:ea typeface="Inter"/>
                    <a:cs typeface="Inter"/>
                    <a:sym typeface="Inter"/>
                  </a:rPr>
                  <a:t>Wrap OS system calls in </a:t>
                </a:r>
                <a:r>
                  <a:rPr b="1" lang="en" sz="1150">
                    <a:solidFill>
                      <a:srgbClr val="045A36"/>
                    </a:solidFill>
                    <a:latin typeface="Courier"/>
                    <a:ea typeface="Courier"/>
                    <a:cs typeface="Courier"/>
                    <a:sym typeface="Courier"/>
                  </a:rPr>
                  <a:t>try...except</a:t>
                </a:r>
                <a:r>
                  <a:rPr b="0" lang="en" sz="1350">
                    <a:solidFill>
                      <a:srgbClr val="374151"/>
                    </a:solidFill>
                    <a:latin typeface="Inter"/>
                    <a:ea typeface="Inter"/>
                    <a:cs typeface="Inter"/>
                    <a:sym typeface="Inter"/>
                  </a:rPr>
                  <a:t> blocks to catch and recover from permission or access errors safely.</a:t>
                </a:r>
                <a:endParaRPr b="0" sz="1350">
                  <a:solidFill>
                    <a:srgbClr val="374151"/>
                  </a:solidFill>
                  <a:latin typeface="Inter"/>
                  <a:ea typeface="Inter"/>
                  <a:cs typeface="Inter"/>
                  <a:sym typeface="Inter"/>
                </a:endParaRPr>
              </a:p>
            </p:txBody>
          </p:sp>
        </p:grpSp>
        <p:grpSp>
          <p:nvGrpSpPr>
            <p:cNvPr id="662" name="Google Shape;662;p34"/>
            <p:cNvGrpSpPr/>
            <p:nvPr/>
          </p:nvGrpSpPr>
          <p:grpSpPr>
            <a:xfrm>
              <a:off x="762000" y="5048250"/>
              <a:ext cx="5143575" cy="714300"/>
              <a:chOff x="0" y="0"/>
              <a:chExt cx="5143575" cy="714300"/>
            </a:xfrm>
          </p:grpSpPr>
          <p:grpSp>
            <p:nvGrpSpPr>
              <p:cNvPr id="663" name="Google Shape;663;p34"/>
              <p:cNvGrpSpPr/>
              <p:nvPr/>
            </p:nvGrpSpPr>
            <p:grpSpPr>
              <a:xfrm>
                <a:off x="0" y="38100"/>
                <a:ext cx="190500" cy="190500"/>
                <a:chOff x="0" y="0"/>
                <a:chExt cx="190500" cy="190500"/>
              </a:xfrm>
            </p:grpSpPr>
            <p:sp>
              <p:nvSpPr>
                <p:cNvPr id="664" name="Google Shape;664;p34"/>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34"/>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66" name="Google Shape;666;p34"/>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Descriptive Naming</a:t>
                </a:r>
                <a:endParaRPr b="0" sz="1500">
                  <a:solidFill>
                    <a:srgbClr val="1F2937"/>
                  </a:solidFill>
                  <a:latin typeface="Inter SemiBold"/>
                  <a:ea typeface="Inter SemiBold"/>
                  <a:cs typeface="Inter SemiBold"/>
                  <a:sym typeface="Inter SemiBold"/>
                </a:endParaRPr>
              </a:p>
              <a:p>
                <a:pPr indent="0" lvl="0" marL="0" rtl="0" algn="l">
                  <a:spcBef>
                    <a:spcPts val="0"/>
                  </a:spcBef>
                  <a:spcAft>
                    <a:spcPts val="0"/>
                  </a:spcAft>
                  <a:buNone/>
                </a:pPr>
                <a:r>
                  <a:rPr b="0" lang="en" sz="1350">
                    <a:solidFill>
                      <a:srgbClr val="374151"/>
                    </a:solidFill>
                    <a:latin typeface="Inter"/>
                    <a:ea typeface="Inter"/>
                    <a:cs typeface="Inter"/>
                    <a:sym typeface="Inter"/>
                  </a:rPr>
                  <a:t>Automate file naming conventions with precise execution timestamps or sequential run IDs.</a:t>
                </a:r>
                <a:endParaRPr b="0" sz="1350">
                  <a:solidFill>
                    <a:srgbClr val="374151"/>
                  </a:solidFill>
                  <a:latin typeface="Inter"/>
                  <a:ea typeface="Inter"/>
                  <a:cs typeface="Inter"/>
                  <a:sym typeface="Inter"/>
                </a:endParaRPr>
              </a:p>
            </p:txBody>
          </p:sp>
        </p:grpSp>
      </p:grpSp>
      <p:grpSp>
        <p:nvGrpSpPr>
          <p:cNvPr id="667" name="Google Shape;667;p34"/>
          <p:cNvGrpSpPr/>
          <p:nvPr/>
        </p:nvGrpSpPr>
        <p:grpSpPr>
          <a:xfrm>
            <a:off x="6286500" y="1809750"/>
            <a:ext cx="5143500" cy="4000500"/>
            <a:chOff x="0" y="0"/>
            <a:chExt cx="5143500" cy="4000500"/>
          </a:xfrm>
        </p:grpSpPr>
        <p:grpSp>
          <p:nvGrpSpPr>
            <p:cNvPr id="668" name="Google Shape;668;p34"/>
            <p:cNvGrpSpPr/>
            <p:nvPr/>
          </p:nvGrpSpPr>
          <p:grpSpPr>
            <a:xfrm>
              <a:off x="0" y="0"/>
              <a:ext cx="5143500" cy="4000500"/>
              <a:chOff x="0" y="0"/>
              <a:chExt cx="5143500" cy="4000500"/>
            </a:xfrm>
          </p:grpSpPr>
          <p:sp>
            <p:nvSpPr>
              <p:cNvPr id="669" name="Google Shape;669;p34"/>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34"/>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71" name="Google Shape;671;p34"/>
            <p:cNvSpPr txBox="1"/>
            <p:nvPr/>
          </p:nvSpPr>
          <p:spPr>
            <a:xfrm>
              <a:off x="381000" y="238125"/>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Cross-Platform Path Resolution</a:t>
              </a:r>
              <a:endParaRPr b="1" sz="1200">
                <a:solidFill>
                  <a:srgbClr val="D4A017"/>
                </a:solidFill>
                <a:latin typeface="Inter"/>
                <a:ea typeface="Inter"/>
                <a:cs typeface="Inter"/>
                <a:sym typeface="Inter"/>
              </a:endParaRPr>
            </a:p>
          </p:txBody>
        </p:sp>
        <p:grpSp>
          <p:nvGrpSpPr>
            <p:cNvPr id="672" name="Google Shape;672;p34"/>
            <p:cNvGrpSpPr/>
            <p:nvPr/>
          </p:nvGrpSpPr>
          <p:grpSpPr>
            <a:xfrm>
              <a:off x="381000" y="666750"/>
              <a:ext cx="4381500" cy="1047900"/>
              <a:chOff x="381000" y="666750"/>
              <a:chExt cx="4381500" cy="1047900"/>
            </a:xfrm>
          </p:grpSpPr>
          <p:sp>
            <p:nvSpPr>
              <p:cNvPr id="673" name="Google Shape;673;p34"/>
              <p:cNvSpPr/>
              <p:nvPr/>
            </p:nvSpPr>
            <p:spPr>
              <a:xfrm>
                <a:off x="381000" y="666750"/>
                <a:ext cx="4381500" cy="1047900"/>
              </a:xfrm>
              <a:prstGeom prst="roundRect">
                <a:avLst>
                  <a:gd fmla="val 7272" name="adj"/>
                </a:avLst>
              </a:prstGeom>
              <a:solidFill>
                <a:srgbClr val="FEE2E2"/>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34"/>
              <p:cNvSpPr/>
              <p:nvPr/>
            </p:nvSpPr>
            <p:spPr>
              <a:xfrm>
                <a:off x="381000" y="666750"/>
                <a:ext cx="57300" cy="1047900"/>
              </a:xfrm>
              <a:prstGeom prst="roundRect">
                <a:avLst>
                  <a:gd fmla="val 50000" name="adj"/>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34"/>
              <p:cNvSpPr txBox="1"/>
              <p:nvPr/>
            </p:nvSpPr>
            <p:spPr>
              <a:xfrm>
                <a:off x="571500" y="762000"/>
                <a:ext cx="4000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18">
                    <a:solidFill>
                      <a:srgbClr val="B91C1C"/>
                    </a:solidFill>
                    <a:latin typeface="Inter"/>
                    <a:ea typeface="Inter"/>
                    <a:cs typeface="Inter"/>
                    <a:sym typeface="Inter"/>
                  </a:rPr>
                  <a:t>HARDCODED ABSOLUTE PATH (RISKY)</a:t>
                </a:r>
                <a:endParaRPr b="1" sz="1018">
                  <a:solidFill>
                    <a:srgbClr val="B91C1C"/>
                  </a:solidFill>
                  <a:latin typeface="Inter"/>
                  <a:ea typeface="Inter"/>
                  <a:cs typeface="Inter"/>
                  <a:sym typeface="Inter"/>
                </a:endParaRPr>
              </a:p>
              <a:p>
                <a:pPr indent="0" lvl="0" marL="0" rtl="0" algn="l">
                  <a:spcBef>
                    <a:spcPts val="300"/>
                  </a:spcBef>
                  <a:spcAft>
                    <a:spcPts val="0"/>
                  </a:spcAft>
                  <a:buNone/>
                </a:pPr>
                <a:r>
                  <a:rPr b="0" i="1" lang="en" sz="925">
                    <a:solidFill>
                      <a:srgbClr val="6B7280"/>
                    </a:solidFill>
                    <a:latin typeface="Courier"/>
                    <a:ea typeface="Courier"/>
                    <a:cs typeface="Courier"/>
                    <a:sym typeface="Courier"/>
                  </a:rPr>
                  <a:t># Fails instantly when running on macOS, Linux, or other users' systems</a:t>
                </a:r>
                <a:endParaRPr b="0" i="1" sz="925">
                  <a:solidFill>
                    <a:srgbClr val="6B7280"/>
                  </a:solidFill>
                  <a:latin typeface="Courier"/>
                  <a:ea typeface="Courier"/>
                  <a:cs typeface="Courier"/>
                  <a:sym typeface="Courier"/>
                </a:endParaRPr>
              </a:p>
              <a:p>
                <a:pPr indent="0" lvl="0" marL="0" rtl="0" algn="l">
                  <a:spcBef>
                    <a:spcPts val="300"/>
                  </a:spcBef>
                  <a:spcAft>
                    <a:spcPts val="0"/>
                  </a:spcAft>
                  <a:buNone/>
                </a:pPr>
                <a:r>
                  <a:rPr b="0" lang="en" sz="1064">
                    <a:solidFill>
                      <a:srgbClr val="7F1D1D"/>
                    </a:solidFill>
                    <a:latin typeface="Courier"/>
                    <a:ea typeface="Courier"/>
                    <a:cs typeface="Courier"/>
                    <a:sym typeface="Courier"/>
                  </a:rPr>
                  <a:t>path = </a:t>
                </a:r>
                <a:r>
                  <a:rPr b="0" lang="en" sz="1203">
                    <a:solidFill>
                      <a:srgbClr val="B91C1C"/>
                    </a:solidFill>
                    <a:latin typeface="Courier"/>
                    <a:ea typeface="Courier"/>
                    <a:cs typeface="Courier"/>
                    <a:sym typeface="Courier"/>
                  </a:rPr>
                  <a:t>"C:\\Users\\name\\data\\report.csv"</a:t>
                </a:r>
                <a:endParaRPr b="0" sz="1064">
                  <a:solidFill>
                    <a:srgbClr val="7F1D1D"/>
                  </a:solidFill>
                  <a:latin typeface="Courier"/>
                  <a:ea typeface="Courier"/>
                  <a:cs typeface="Courier"/>
                  <a:sym typeface="Courier"/>
                </a:endParaRPr>
              </a:p>
            </p:txBody>
          </p:sp>
        </p:grpSp>
        <p:grpSp>
          <p:nvGrpSpPr>
            <p:cNvPr id="676" name="Google Shape;676;p34"/>
            <p:cNvGrpSpPr/>
            <p:nvPr/>
          </p:nvGrpSpPr>
          <p:grpSpPr>
            <a:xfrm>
              <a:off x="381000" y="1857375"/>
              <a:ext cx="4381500" cy="1857300"/>
              <a:chOff x="381000" y="1857375"/>
              <a:chExt cx="4381500" cy="1857300"/>
            </a:xfrm>
          </p:grpSpPr>
          <p:sp>
            <p:nvSpPr>
              <p:cNvPr id="677" name="Google Shape;677;p34"/>
              <p:cNvSpPr/>
              <p:nvPr/>
            </p:nvSpPr>
            <p:spPr>
              <a:xfrm>
                <a:off x="381000" y="1857375"/>
                <a:ext cx="4381500" cy="1857300"/>
              </a:xfrm>
              <a:prstGeom prst="roundRect">
                <a:avLst>
                  <a:gd fmla="val 4102"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34"/>
              <p:cNvSpPr/>
              <p:nvPr/>
            </p:nvSpPr>
            <p:spPr>
              <a:xfrm>
                <a:off x="381000" y="1857375"/>
                <a:ext cx="57300" cy="18573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34"/>
              <p:cNvSpPr txBox="1"/>
              <p:nvPr/>
            </p:nvSpPr>
            <p:spPr>
              <a:xfrm>
                <a:off x="571500" y="1952625"/>
                <a:ext cx="4000500" cy="16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18">
                    <a:solidFill>
                      <a:srgbClr val="045A36"/>
                    </a:solidFill>
                    <a:latin typeface="Inter"/>
                    <a:ea typeface="Inter"/>
                    <a:cs typeface="Inter"/>
                    <a:sym typeface="Inter"/>
                  </a:rPr>
                  <a:t>ROBUST PATH RESOLUTION (SAFE)</a:t>
                </a:r>
                <a:endParaRPr b="1" sz="1018">
                  <a:solidFill>
                    <a:srgbClr val="045A36"/>
                  </a:solidFill>
                  <a:latin typeface="Inter"/>
                  <a:ea typeface="Inter"/>
                  <a:cs typeface="Inter"/>
                  <a:sym typeface="Inter"/>
                </a:endParaRPr>
              </a:p>
              <a:p>
                <a:pPr indent="0" lvl="0" marL="0" rtl="0" algn="l">
                  <a:spcBef>
                    <a:spcPts val="450"/>
                  </a:spcBef>
                  <a:spcAft>
                    <a:spcPts val="0"/>
                  </a:spcAft>
                  <a:buNone/>
                </a:pPr>
                <a:r>
                  <a:rPr b="1" lang="en" sz="1203">
                    <a:solidFill>
                      <a:srgbClr val="045A36"/>
                    </a:solidFill>
                    <a:latin typeface="Courier"/>
                    <a:ea typeface="Courier"/>
                    <a:cs typeface="Courier"/>
                    <a:sym typeface="Courier"/>
                  </a:rPr>
                  <a:t>import</a:t>
                </a:r>
                <a:r>
                  <a:rPr b="0" lang="en" sz="1064">
                    <a:solidFill>
                      <a:srgbClr val="1F2937"/>
                    </a:solidFill>
                    <a:latin typeface="Courier"/>
                    <a:ea typeface="Courier"/>
                    <a:cs typeface="Courier"/>
                    <a:sym typeface="Courier"/>
                  </a:rPr>
                  <a:t> </a:t>
                </a:r>
                <a:r>
                  <a:rPr b="0" lang="en" sz="1203">
                    <a:solidFill>
                      <a:srgbClr val="0B7A4B"/>
                    </a:solidFill>
                    <a:latin typeface="Courier"/>
                    <a:ea typeface="Courier"/>
                    <a:cs typeface="Courier"/>
                    <a:sym typeface="Courier"/>
                  </a:rPr>
                  <a:t>os</a:t>
                </a:r>
                <a:br>
                  <a:rPr b="0" lang="en" sz="1064">
                    <a:solidFill>
                      <a:srgbClr val="1F2937"/>
                    </a:solidFill>
                    <a:latin typeface="Courier"/>
                    <a:ea typeface="Courier"/>
                    <a:cs typeface="Courier"/>
                    <a:sym typeface="Courier"/>
                  </a:rPr>
                </a:br>
                <a:br>
                  <a:rPr b="0" lang="en" sz="1064">
                    <a:solidFill>
                      <a:srgbClr val="1F2937"/>
                    </a:solidFill>
                    <a:latin typeface="Courier"/>
                    <a:ea typeface="Courier"/>
                    <a:cs typeface="Courier"/>
                    <a:sym typeface="Courier"/>
                  </a:rPr>
                </a:br>
                <a:r>
                  <a:rPr b="0" i="1" lang="en" sz="1018">
                    <a:solidFill>
                      <a:srgbClr val="6B7280"/>
                    </a:solidFill>
                    <a:latin typeface="Courier"/>
                    <a:ea typeface="Courier"/>
                    <a:cs typeface="Courier"/>
                    <a:sym typeface="Courier"/>
                  </a:rPr>
                  <a:t># Resolve standard project root dynamically</a:t>
                </a:r>
                <a:br>
                  <a:rPr b="0" lang="en" sz="1064">
                    <a:solidFill>
                      <a:srgbClr val="1F2937"/>
                    </a:solidFill>
                    <a:latin typeface="Courier"/>
                    <a:ea typeface="Courier"/>
                    <a:cs typeface="Courier"/>
                    <a:sym typeface="Courier"/>
                  </a:rPr>
                </a:br>
                <a:r>
                  <a:rPr b="0" lang="en" sz="1064">
                    <a:solidFill>
                      <a:srgbClr val="1F2937"/>
                    </a:solidFill>
                    <a:latin typeface="Courier"/>
                    <a:ea typeface="Courier"/>
                    <a:cs typeface="Courier"/>
                    <a:sym typeface="Courier"/>
                  </a:rPr>
                  <a:t>base_dir = </a:t>
                </a:r>
                <a:r>
                  <a:rPr b="0" lang="en" sz="1203">
                    <a:solidFill>
                      <a:srgbClr val="0B7A4B"/>
                    </a:solidFill>
                    <a:latin typeface="Courier"/>
                    <a:ea typeface="Courier"/>
                    <a:cs typeface="Courier"/>
                    <a:sym typeface="Courier"/>
                  </a:rPr>
                  <a:t>os.getcwd</a:t>
                </a:r>
                <a:r>
                  <a:rPr b="0" lang="en" sz="1064">
                    <a:solidFill>
                      <a:srgbClr val="1F2937"/>
                    </a:solidFill>
                    <a:latin typeface="Courier"/>
                    <a:ea typeface="Courier"/>
                    <a:cs typeface="Courier"/>
                    <a:sym typeface="Courier"/>
                  </a:rPr>
                  <a:t>()</a:t>
                </a:r>
                <a:br>
                  <a:rPr b="0" lang="en" sz="1064">
                    <a:solidFill>
                      <a:srgbClr val="1F2937"/>
                    </a:solidFill>
                    <a:latin typeface="Courier"/>
                    <a:ea typeface="Courier"/>
                    <a:cs typeface="Courier"/>
                    <a:sym typeface="Courier"/>
                  </a:rPr>
                </a:br>
                <a:br>
                  <a:rPr b="0" lang="en" sz="1064">
                    <a:solidFill>
                      <a:srgbClr val="1F2937"/>
                    </a:solidFill>
                    <a:latin typeface="Courier"/>
                    <a:ea typeface="Courier"/>
                    <a:cs typeface="Courier"/>
                    <a:sym typeface="Courier"/>
                  </a:rPr>
                </a:br>
                <a:r>
                  <a:rPr b="0" i="1" lang="en" sz="1018">
                    <a:solidFill>
                      <a:srgbClr val="6B7280"/>
                    </a:solidFill>
                    <a:latin typeface="Courier"/>
                    <a:ea typeface="Courier"/>
                    <a:cs typeface="Courier"/>
                    <a:sym typeface="Courier"/>
                  </a:rPr>
                  <a:t># Build safe cross-platform path mapping</a:t>
                </a:r>
                <a:br>
                  <a:rPr b="0" lang="en" sz="1064">
                    <a:solidFill>
                      <a:srgbClr val="1F2937"/>
                    </a:solidFill>
                    <a:latin typeface="Courier"/>
                    <a:ea typeface="Courier"/>
                    <a:cs typeface="Courier"/>
                    <a:sym typeface="Courier"/>
                  </a:rPr>
                </a:br>
                <a:r>
                  <a:rPr b="0" lang="en" sz="1064">
                    <a:solidFill>
                      <a:srgbClr val="1F2937"/>
                    </a:solidFill>
                    <a:latin typeface="Courier"/>
                    <a:ea typeface="Courier"/>
                    <a:cs typeface="Courier"/>
                    <a:sym typeface="Courier"/>
                  </a:rPr>
                  <a:t>path = </a:t>
                </a:r>
                <a:r>
                  <a:rPr b="0" lang="en" sz="1203">
                    <a:solidFill>
                      <a:srgbClr val="0B7A4B"/>
                    </a:solidFill>
                    <a:latin typeface="Courier"/>
                    <a:ea typeface="Courier"/>
                    <a:cs typeface="Courier"/>
                    <a:sym typeface="Courier"/>
                  </a:rPr>
                  <a:t>os.path.join</a:t>
                </a:r>
                <a:r>
                  <a:rPr b="0" lang="en" sz="1064">
                    <a:solidFill>
                      <a:srgbClr val="1F2937"/>
                    </a:solidFill>
                    <a:latin typeface="Courier"/>
                    <a:ea typeface="Courier"/>
                    <a:cs typeface="Courier"/>
                    <a:sym typeface="Courier"/>
                  </a:rPr>
                  <a:t>(base_dir, </a:t>
                </a:r>
                <a:r>
                  <a:rPr b="0" lang="en" sz="1203">
                    <a:solidFill>
                      <a:srgbClr val="B91C1C"/>
                    </a:solidFill>
                    <a:latin typeface="Courier"/>
                    <a:ea typeface="Courier"/>
                    <a:cs typeface="Courier"/>
                    <a:sym typeface="Courier"/>
                  </a:rPr>
                  <a:t>"data"</a:t>
                </a:r>
                <a:r>
                  <a:rPr b="0" lang="en" sz="1064">
                    <a:solidFill>
                      <a:srgbClr val="1F2937"/>
                    </a:solidFill>
                    <a:latin typeface="Courier"/>
                    <a:ea typeface="Courier"/>
                    <a:cs typeface="Courier"/>
                    <a:sym typeface="Courier"/>
                  </a:rPr>
                  <a:t>, </a:t>
                </a:r>
                <a:r>
                  <a:rPr b="0" lang="en" sz="1203">
                    <a:solidFill>
                      <a:srgbClr val="B91C1C"/>
                    </a:solidFill>
                    <a:latin typeface="Courier"/>
                    <a:ea typeface="Courier"/>
                    <a:cs typeface="Courier"/>
                    <a:sym typeface="Courier"/>
                  </a:rPr>
                  <a:t>"report.csv"</a:t>
                </a:r>
                <a:r>
                  <a:rPr b="0" lang="en" sz="1064">
                    <a:solidFill>
                      <a:srgbClr val="1F2937"/>
                    </a:solidFill>
                    <a:latin typeface="Courier"/>
                    <a:ea typeface="Courier"/>
                    <a:cs typeface="Courier"/>
                    <a:sym typeface="Courier"/>
                  </a:rPr>
                  <a:t>)</a:t>
                </a:r>
                <a:endParaRPr b="0" sz="1064">
                  <a:solidFill>
                    <a:srgbClr val="1F2937"/>
                  </a:solidFill>
                  <a:latin typeface="Courier"/>
                  <a:ea typeface="Courier"/>
                  <a:cs typeface="Courier"/>
                  <a:sym typeface="Courier"/>
                </a:endParaRPr>
              </a:p>
            </p:txBody>
          </p:sp>
        </p:grpSp>
      </p:grpSp>
      <p:sp>
        <p:nvSpPr>
          <p:cNvPr id="680" name="Google Shape;680;p34"/>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3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35"/>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3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8" name="Google Shape;688;p3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Debugging Operating System Automation Code</a:t>
            </a:r>
            <a:endParaRPr b="0" sz="2700">
              <a:solidFill>
                <a:srgbClr val="045A36"/>
              </a:solidFill>
              <a:latin typeface="Montserrat SemiBold"/>
              <a:ea typeface="Montserrat SemiBold"/>
              <a:cs typeface="Montserrat SemiBold"/>
              <a:sym typeface="Montserrat SemiBold"/>
            </a:endParaRPr>
          </a:p>
        </p:txBody>
      </p:sp>
      <p:sp>
        <p:nvSpPr>
          <p:cNvPr id="689" name="Google Shape;689;p35"/>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Preemptively identify and resolve critical filesystem and permission errors in Python.</a:t>
            </a:r>
            <a:endParaRPr b="0" sz="1600">
              <a:solidFill>
                <a:srgbClr val="4B5563"/>
              </a:solidFill>
              <a:latin typeface="Inter SemiBold"/>
              <a:ea typeface="Inter SemiBold"/>
              <a:cs typeface="Inter SemiBold"/>
              <a:sym typeface="Inter SemiBold"/>
            </a:endParaRPr>
          </a:p>
        </p:txBody>
      </p:sp>
      <p:grpSp>
        <p:nvGrpSpPr>
          <p:cNvPr id="690" name="Google Shape;690;p35"/>
          <p:cNvGrpSpPr/>
          <p:nvPr/>
        </p:nvGrpSpPr>
        <p:grpSpPr>
          <a:xfrm>
            <a:off x="762000" y="1857375"/>
            <a:ext cx="5143575" cy="809700"/>
            <a:chOff x="0" y="0"/>
            <a:chExt cx="5143575" cy="809700"/>
          </a:xfrm>
        </p:grpSpPr>
        <p:grpSp>
          <p:nvGrpSpPr>
            <p:cNvPr id="691" name="Google Shape;691;p35"/>
            <p:cNvGrpSpPr/>
            <p:nvPr/>
          </p:nvGrpSpPr>
          <p:grpSpPr>
            <a:xfrm>
              <a:off x="0" y="38100"/>
              <a:ext cx="190500" cy="190500"/>
              <a:chOff x="0" y="0"/>
              <a:chExt cx="190500" cy="190500"/>
            </a:xfrm>
          </p:grpSpPr>
          <p:sp>
            <p:nvSpPr>
              <p:cNvPr id="692" name="Google Shape;692;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3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4" name="Google Shape;694;p35"/>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Wrong Paths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The most common error. Print your paths to verify they look correct before executing file operations.</a:t>
              </a:r>
              <a:endParaRPr b="0" sz="1400">
                <a:solidFill>
                  <a:srgbClr val="374151"/>
                </a:solidFill>
                <a:latin typeface="Inter"/>
                <a:ea typeface="Inter"/>
                <a:cs typeface="Inter"/>
                <a:sym typeface="Inter"/>
              </a:endParaRPr>
            </a:p>
          </p:txBody>
        </p:sp>
      </p:grpSp>
      <p:grpSp>
        <p:nvGrpSpPr>
          <p:cNvPr id="695" name="Google Shape;695;p35"/>
          <p:cNvGrpSpPr/>
          <p:nvPr/>
        </p:nvGrpSpPr>
        <p:grpSpPr>
          <a:xfrm>
            <a:off x="762000" y="2809875"/>
            <a:ext cx="5143575" cy="809700"/>
            <a:chOff x="0" y="0"/>
            <a:chExt cx="5143575" cy="809700"/>
          </a:xfrm>
        </p:grpSpPr>
        <p:grpSp>
          <p:nvGrpSpPr>
            <p:cNvPr id="696" name="Google Shape;696;p35"/>
            <p:cNvGrpSpPr/>
            <p:nvPr/>
          </p:nvGrpSpPr>
          <p:grpSpPr>
            <a:xfrm>
              <a:off x="0" y="38100"/>
              <a:ext cx="190500" cy="190500"/>
              <a:chOff x="0" y="0"/>
              <a:chExt cx="190500" cy="190500"/>
            </a:xfrm>
          </p:grpSpPr>
          <p:sp>
            <p:nvSpPr>
              <p:cNvPr id="697" name="Google Shape;697;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3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99" name="Google Shape;699;p35"/>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1F2937"/>
                  </a:solidFill>
                  <a:latin typeface="Inter SemiBold"/>
                  <a:ea typeface="Inter SemiBold"/>
                  <a:cs typeface="Inter SemiBold"/>
                  <a:sym typeface="Inter SemiBold"/>
                </a:rPr>
                <a:t>Missing Permissions</a:t>
              </a:r>
              <a:endParaRPr b="0" sz="1388">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295">
                  <a:solidFill>
                    <a:srgbClr val="374151"/>
                  </a:solidFill>
                  <a:latin typeface="Inter"/>
                  <a:ea typeface="Inter"/>
                  <a:cs typeface="Inter"/>
                  <a:sym typeface="Inter"/>
                </a:rPr>
                <a:t>Attempting to write to protected system directories or read files owned by other users (raises </a:t>
              </a:r>
              <a:r>
                <a:rPr b="0" lang="en" sz="1295">
                  <a:solidFill>
                    <a:srgbClr val="B91C1C"/>
                  </a:solidFill>
                  <a:latin typeface="Courier"/>
                  <a:ea typeface="Courier"/>
                  <a:cs typeface="Courier"/>
                  <a:sym typeface="Courier"/>
                </a:rPr>
                <a:t>PermissionError</a:t>
              </a:r>
              <a:r>
                <a:rPr b="0" lang="en" sz="1295">
                  <a:solidFill>
                    <a:srgbClr val="374151"/>
                  </a:solidFill>
                  <a:latin typeface="Inter"/>
                  <a:ea typeface="Inter"/>
                  <a:cs typeface="Inter"/>
                  <a:sym typeface="Inter"/>
                </a:rPr>
                <a:t>).</a:t>
              </a:r>
              <a:endParaRPr b="0" sz="1295">
                <a:solidFill>
                  <a:srgbClr val="374151"/>
                </a:solidFill>
                <a:latin typeface="Inter"/>
                <a:ea typeface="Inter"/>
                <a:cs typeface="Inter"/>
                <a:sym typeface="Inter"/>
              </a:endParaRPr>
            </a:p>
          </p:txBody>
        </p:sp>
      </p:grpSp>
      <p:grpSp>
        <p:nvGrpSpPr>
          <p:cNvPr id="700" name="Google Shape;700;p35"/>
          <p:cNvGrpSpPr/>
          <p:nvPr/>
        </p:nvGrpSpPr>
        <p:grpSpPr>
          <a:xfrm>
            <a:off x="762000" y="3762375"/>
            <a:ext cx="5143575" cy="952500"/>
            <a:chOff x="0" y="0"/>
            <a:chExt cx="5143575" cy="952500"/>
          </a:xfrm>
        </p:grpSpPr>
        <p:grpSp>
          <p:nvGrpSpPr>
            <p:cNvPr id="701" name="Google Shape;701;p35"/>
            <p:cNvGrpSpPr/>
            <p:nvPr/>
          </p:nvGrpSpPr>
          <p:grpSpPr>
            <a:xfrm>
              <a:off x="0" y="38100"/>
              <a:ext cx="190500" cy="190500"/>
              <a:chOff x="0" y="0"/>
              <a:chExt cx="190500" cy="190500"/>
            </a:xfrm>
          </p:grpSpPr>
          <p:sp>
            <p:nvSpPr>
              <p:cNvPr id="702" name="Google Shape;702;p3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3" name="Google Shape;703;p35"/>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04" name="Google Shape;704;p35"/>
            <p:cNvSpPr txBox="1"/>
            <p:nvPr/>
          </p:nvSpPr>
          <p:spPr>
            <a:xfrm>
              <a:off x="333375" y="0"/>
              <a:ext cx="48102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Removing Non-Empty Folders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900"/>
                </a:spcAft>
                <a:buNone/>
              </a:pPr>
              <a:r>
                <a:rPr b="0" lang="en" sz="1400">
                  <a:solidFill>
                    <a:srgbClr val="374151"/>
                  </a:solidFill>
                  <a:latin typeface="Inter"/>
                  <a:ea typeface="Inter"/>
                  <a:cs typeface="Inter"/>
                  <a:sym typeface="Inter"/>
                </a:rPr>
                <a:t>Using </a:t>
              </a:r>
              <a:r>
                <a:rPr b="0" lang="en" sz="1400">
                  <a:solidFill>
                    <a:srgbClr val="045A36"/>
                  </a:solidFill>
                  <a:latin typeface="Courier"/>
                  <a:ea typeface="Courier"/>
                  <a:cs typeface="Courier"/>
                  <a:sym typeface="Courier"/>
                </a:rPr>
                <a:t>os.rmdir()</a:t>
              </a:r>
              <a:r>
                <a:rPr b="0" lang="en" sz="1400">
                  <a:solidFill>
                    <a:srgbClr val="374151"/>
                  </a:solidFill>
                  <a:latin typeface="Inter"/>
                  <a:ea typeface="Inter"/>
                  <a:cs typeface="Inter"/>
                  <a:sym typeface="Inter"/>
                </a:rPr>
                <a:t> on a folder containing files raises an </a:t>
              </a:r>
              <a:r>
                <a:rPr b="0" lang="en" sz="1400">
                  <a:solidFill>
                    <a:srgbClr val="B91C1C"/>
                  </a:solidFill>
                  <a:latin typeface="Courier"/>
                  <a:ea typeface="Courier"/>
                  <a:cs typeface="Courier"/>
                  <a:sym typeface="Courier"/>
                </a:rPr>
                <a:t>OSError</a:t>
              </a:r>
              <a:r>
                <a:rPr b="0" lang="en" sz="1400">
                  <a:solidFill>
                    <a:srgbClr val="374151"/>
                  </a:solidFill>
                  <a:latin typeface="Inter"/>
                  <a:ea typeface="Inter"/>
                  <a:cs typeface="Inter"/>
                  <a:sym typeface="Inter"/>
                </a:rPr>
                <a:t>. You must empty it first or use </a:t>
              </a:r>
              <a:r>
                <a:rPr b="0" lang="en" sz="1400">
                  <a:solidFill>
                    <a:srgbClr val="0B7A4B"/>
                  </a:solidFill>
                  <a:latin typeface="Courier"/>
                  <a:ea typeface="Courier"/>
                  <a:cs typeface="Courier"/>
                  <a:sym typeface="Courier"/>
                </a:rPr>
                <a:t>shutil.rmtree()</a:t>
              </a:r>
              <a:r>
                <a:rPr b="0" lang="en" sz="1400">
                  <a:solidFill>
                    <a:srgbClr val="374151"/>
                  </a:solidFill>
                  <a:latin typeface="Inter"/>
                  <a:ea typeface="Inter"/>
                  <a:cs typeface="Inter"/>
                  <a:sym typeface="Inter"/>
                </a:rPr>
                <a:t>.</a:t>
              </a:r>
              <a:endParaRPr b="0" sz="1400">
                <a:solidFill>
                  <a:srgbClr val="374151"/>
                </a:solidFill>
                <a:latin typeface="Inter"/>
                <a:ea typeface="Inter"/>
                <a:cs typeface="Inter"/>
                <a:sym typeface="Inter"/>
              </a:endParaRPr>
            </a:p>
          </p:txBody>
        </p:sp>
      </p:grpSp>
      <p:grpSp>
        <p:nvGrpSpPr>
          <p:cNvPr id="705" name="Google Shape;705;p35"/>
          <p:cNvGrpSpPr/>
          <p:nvPr/>
        </p:nvGrpSpPr>
        <p:grpSpPr>
          <a:xfrm>
            <a:off x="6286500" y="1809750"/>
            <a:ext cx="5143500" cy="2952900"/>
            <a:chOff x="0" y="0"/>
            <a:chExt cx="5143500" cy="2952900"/>
          </a:xfrm>
        </p:grpSpPr>
        <p:sp>
          <p:nvSpPr>
            <p:cNvPr id="706" name="Google Shape;706;p35"/>
            <p:cNvSpPr/>
            <p:nvPr/>
          </p:nvSpPr>
          <p:spPr>
            <a:xfrm>
              <a:off x="0" y="0"/>
              <a:ext cx="51435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35"/>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8" name="Google Shape;708;p35"/>
            <p:cNvSpPr txBox="1"/>
            <p:nvPr/>
          </p:nvSpPr>
          <p:spPr>
            <a:xfrm>
              <a:off x="238125" y="190500"/>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Syntax &amp; Import Safeguards</a:t>
              </a:r>
              <a:endParaRPr b="1" sz="1200">
                <a:solidFill>
                  <a:srgbClr val="045A36"/>
                </a:solidFill>
                <a:latin typeface="Inter"/>
                <a:ea typeface="Inter"/>
                <a:cs typeface="Inter"/>
                <a:sym typeface="Inter"/>
              </a:endParaRPr>
            </a:p>
          </p:txBody>
        </p:sp>
        <p:sp>
          <p:nvSpPr>
            <p:cNvPr id="709" name="Google Shape;709;p35"/>
            <p:cNvSpPr txBox="1"/>
            <p:nvPr/>
          </p:nvSpPr>
          <p:spPr>
            <a:xfrm>
              <a:off x="238125" y="571500"/>
              <a:ext cx="46674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Forgetting Imports</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Ensure </a:t>
              </a:r>
              <a:r>
                <a:rPr b="0" lang="en" sz="1400">
                  <a:solidFill>
                    <a:srgbClr val="045A36"/>
                  </a:solidFill>
                  <a:latin typeface="Courier"/>
                  <a:ea typeface="Courier"/>
                  <a:cs typeface="Courier"/>
                  <a:sym typeface="Courier"/>
                </a:rPr>
                <a:t>import os</a:t>
              </a:r>
              <a:r>
                <a:rPr b="0" lang="en" sz="1400">
                  <a:solidFill>
                    <a:srgbClr val="374151"/>
                  </a:solidFill>
                  <a:latin typeface="Inter"/>
                  <a:ea typeface="Inter"/>
                  <a:cs typeface="Inter"/>
                  <a:sym typeface="Inter"/>
                </a:rPr>
                <a:t> is declared at the top of your script before initiating core path operations.</a:t>
              </a:r>
              <a:endParaRPr b="0" sz="1400">
                <a:solidFill>
                  <a:srgbClr val="374151"/>
                </a:solidFill>
                <a:latin typeface="Inter"/>
                <a:ea typeface="Inter"/>
                <a:cs typeface="Inter"/>
                <a:sym typeface="Inter"/>
              </a:endParaRPr>
            </a:p>
            <a:p>
              <a:pPr indent="0" lvl="0" marL="0" rtl="0" algn="l">
                <a:spcBef>
                  <a:spcPts val="1200"/>
                </a:spcBef>
                <a:spcAft>
                  <a:spcPts val="0"/>
                </a:spcAft>
                <a:buNone/>
              </a:pPr>
              <a:r>
                <a:rPr b="0" lang="en" sz="1500">
                  <a:solidFill>
                    <a:srgbClr val="1F2937"/>
                  </a:solidFill>
                  <a:latin typeface="Inter SemiBold"/>
                  <a:ea typeface="Inter SemiBold"/>
                  <a:cs typeface="Inter SemiBold"/>
                  <a:sym typeface="Inter SemiBold"/>
                </a:rPr>
                <a:t>Slashes &amp; Pathing Syntax</a:t>
              </a:r>
              <a:endParaRPr b="0" sz="1500">
                <a:solidFill>
                  <a:srgbClr val="1F2937"/>
                </a:solidFill>
                <a:latin typeface="Inter SemiBold"/>
                <a:ea typeface="Inter SemiBold"/>
                <a:cs typeface="Inter SemiBold"/>
                <a:sym typeface="Inter SemiBold"/>
              </a:endParaRPr>
            </a:p>
            <a:p>
              <a:pPr indent="0" lvl="0" marL="0" rtl="0" algn="l">
                <a:spcBef>
                  <a:spcPts val="300"/>
                </a:spcBef>
                <a:spcAft>
                  <a:spcPts val="0"/>
                </a:spcAft>
                <a:buNone/>
              </a:pPr>
              <a:r>
                <a:rPr b="0" lang="en" sz="1400">
                  <a:solidFill>
                    <a:srgbClr val="374151"/>
                  </a:solidFill>
                  <a:latin typeface="Inter"/>
                  <a:ea typeface="Inter"/>
                  <a:cs typeface="Inter"/>
                  <a:sym typeface="Inter"/>
                </a:rPr>
                <a:t>Manually typing slashes incorrectly (e.g., using </a:t>
              </a:r>
              <a:r>
                <a:rPr b="0" lang="en" sz="1400">
                  <a:solidFill>
                    <a:srgbClr val="B91C1C"/>
                  </a:solidFill>
                  <a:latin typeface="Courier"/>
                  <a:ea typeface="Courier"/>
                  <a:cs typeface="Courier"/>
                  <a:sym typeface="Courier"/>
                </a:rPr>
                <a:t>"\\"</a:t>
              </a:r>
              <a:r>
                <a:rPr b="0" lang="en" sz="1400">
                  <a:solidFill>
                    <a:srgbClr val="374151"/>
                  </a:solidFill>
                  <a:latin typeface="Inter"/>
                  <a:ea typeface="Inter"/>
                  <a:cs typeface="Inter"/>
                  <a:sym typeface="Inter"/>
                </a:rPr>
                <a:t> on Linux) breaks execution. Always use cross-platform libraries.</a:t>
              </a:r>
              <a:endParaRPr b="0" sz="1400">
                <a:solidFill>
                  <a:srgbClr val="374151"/>
                </a:solidFill>
                <a:latin typeface="Inter"/>
                <a:ea typeface="Inter"/>
                <a:cs typeface="Inter"/>
                <a:sym typeface="Inter"/>
              </a:endParaRPr>
            </a:p>
          </p:txBody>
        </p:sp>
      </p:grpSp>
      <p:grpSp>
        <p:nvGrpSpPr>
          <p:cNvPr id="710" name="Google Shape;710;p35"/>
          <p:cNvGrpSpPr/>
          <p:nvPr/>
        </p:nvGrpSpPr>
        <p:grpSpPr>
          <a:xfrm>
            <a:off x="762000" y="4953000"/>
            <a:ext cx="10668000" cy="904800"/>
            <a:chOff x="0" y="0"/>
            <a:chExt cx="10668000" cy="904800"/>
          </a:xfrm>
        </p:grpSpPr>
        <p:sp>
          <p:nvSpPr>
            <p:cNvPr id="711" name="Google Shape;711;p35"/>
            <p:cNvSpPr/>
            <p:nvPr/>
          </p:nvSpPr>
          <p:spPr>
            <a:xfrm>
              <a:off x="0" y="0"/>
              <a:ext cx="10668000" cy="904800"/>
            </a:xfrm>
            <a:prstGeom prst="roundRect">
              <a:avLst>
                <a:gd fmla="val 8421" name="adj"/>
              </a:avLst>
            </a:prstGeom>
            <a:solidFill>
              <a:srgbClr val="FEE2E2"/>
            </a:solidFill>
            <a:ln cap="flat" cmpd="sng" w="9525">
              <a:solidFill>
                <a:srgbClr val="F8717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35"/>
            <p:cNvSpPr/>
            <p:nvPr/>
          </p:nvSpPr>
          <p:spPr>
            <a:xfrm>
              <a:off x="0" y="0"/>
              <a:ext cx="57300" cy="904800"/>
            </a:xfrm>
            <a:prstGeom prst="roundRect">
              <a:avLst>
                <a:gd fmla="val 50000" name="adj"/>
              </a:avLst>
            </a:prstGeom>
            <a:solidFill>
              <a:srgbClr val="B91C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35"/>
            <p:cNvSpPr txBox="1"/>
            <p:nvPr/>
          </p:nvSpPr>
          <p:spPr>
            <a:xfrm>
              <a:off x="238125" y="142875"/>
              <a:ext cx="10191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B91C1C"/>
                  </a:solidFill>
                  <a:latin typeface="Inter"/>
                  <a:ea typeface="Inter"/>
                  <a:cs typeface="Inter"/>
                  <a:sym typeface="Inter"/>
                </a:rPr>
                <a:t>CRITICAL OS EXCEPTIONS &amp; SYSTEM-LEVEL LOCKUPS</a:t>
              </a:r>
              <a:endParaRPr b="1" sz="1200">
                <a:solidFill>
                  <a:srgbClr val="B91C1C"/>
                </a:solidFill>
                <a:latin typeface="Inter"/>
                <a:ea typeface="Inter"/>
                <a:cs typeface="Inter"/>
                <a:sym typeface="Inter"/>
              </a:endParaRPr>
            </a:p>
          </p:txBody>
        </p:sp>
        <p:sp>
          <p:nvSpPr>
            <p:cNvPr id="714" name="Google Shape;714;p35"/>
            <p:cNvSpPr txBox="1"/>
            <p:nvPr/>
          </p:nvSpPr>
          <p:spPr>
            <a:xfrm>
              <a:off x="238125" y="428625"/>
              <a:ext cx="10191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49">
                  <a:solidFill>
                    <a:srgbClr val="7F1D1D"/>
                  </a:solidFill>
                  <a:latin typeface="Inter"/>
                  <a:ea typeface="Inter"/>
                  <a:cs typeface="Inter"/>
                  <a:sym typeface="Inter"/>
                </a:rPr>
                <a:t>Operating system folder exceptions, pathing syntax failures, and system-level lockups can freeze application execution. Proactively capture exceptions to secure processes.</a:t>
              </a:r>
              <a:endParaRPr b="0" sz="1249">
                <a:solidFill>
                  <a:srgbClr val="7F1D1D"/>
                </a:solidFill>
                <a:latin typeface="Inter"/>
                <a:ea typeface="Inter"/>
                <a:cs typeface="Inter"/>
                <a:sym typeface="Inter"/>
              </a:endParaRPr>
            </a:p>
          </p:txBody>
        </p:sp>
      </p:grpSp>
      <p:sp>
        <p:nvSpPr>
          <p:cNvPr id="715" name="Google Shape;715;p35"/>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3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36"/>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3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3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Consolidated Functions Cheat Sheet</a:t>
            </a:r>
            <a:endParaRPr b="0" sz="2700">
              <a:solidFill>
                <a:srgbClr val="045A36"/>
              </a:solidFill>
              <a:latin typeface="Montserrat SemiBold"/>
              <a:ea typeface="Montserrat SemiBold"/>
              <a:cs typeface="Montserrat SemiBold"/>
              <a:sym typeface="Montserrat SemiBold"/>
            </a:endParaRPr>
          </a:p>
        </p:txBody>
      </p:sp>
      <p:sp>
        <p:nvSpPr>
          <p:cNvPr id="724" name="Google Shape;724;p36"/>
          <p:cNvSpPr/>
          <p:nvPr/>
        </p:nvSpPr>
        <p:spPr>
          <a:xfrm>
            <a:off x="762000" y="1333500"/>
            <a:ext cx="10668000" cy="4524300"/>
          </a:xfrm>
          <a:prstGeom prst="roundRect">
            <a:avLst>
              <a:gd fmla="val 252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5" name="Google Shape;725;p36"/>
          <p:cNvSpPr/>
          <p:nvPr/>
        </p:nvSpPr>
        <p:spPr>
          <a:xfrm>
            <a:off x="762000" y="1333500"/>
            <a:ext cx="106680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36"/>
          <p:cNvSpPr/>
          <p:nvPr/>
        </p:nvSpPr>
        <p:spPr>
          <a:xfrm>
            <a:off x="771525" y="1762125"/>
            <a:ext cx="10649100" cy="409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36"/>
          <p:cNvSpPr/>
          <p:nvPr/>
        </p:nvSpPr>
        <p:spPr>
          <a:xfrm>
            <a:off x="771525" y="2581275"/>
            <a:ext cx="10649100" cy="409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36"/>
          <p:cNvSpPr/>
          <p:nvPr/>
        </p:nvSpPr>
        <p:spPr>
          <a:xfrm>
            <a:off x="771525" y="3400425"/>
            <a:ext cx="10649100" cy="409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9" name="Google Shape;729;p36"/>
          <p:cNvSpPr/>
          <p:nvPr/>
        </p:nvSpPr>
        <p:spPr>
          <a:xfrm>
            <a:off x="771525" y="4219575"/>
            <a:ext cx="10649100" cy="409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36"/>
          <p:cNvSpPr/>
          <p:nvPr/>
        </p:nvSpPr>
        <p:spPr>
          <a:xfrm>
            <a:off x="771525" y="5038725"/>
            <a:ext cx="10649100" cy="409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31" name="Google Shape;731;p36"/>
          <p:cNvCxnSpPr/>
          <p:nvPr/>
        </p:nvCxnSpPr>
        <p:spPr>
          <a:xfrm>
            <a:off x="762000" y="1762125"/>
            <a:ext cx="10668000" cy="0"/>
          </a:xfrm>
          <a:prstGeom prst="straightConnector1">
            <a:avLst/>
          </a:prstGeom>
          <a:solidFill>
            <a:srgbClr val="FFFFFF"/>
          </a:solidFill>
          <a:ln cap="flat" cmpd="sng" w="19050">
            <a:solidFill>
              <a:srgbClr val="045A36"/>
            </a:solidFill>
            <a:prstDash val="solid"/>
            <a:round/>
            <a:headEnd len="sm" w="sm" type="none"/>
            <a:tailEnd len="sm" w="sm" type="none"/>
          </a:ln>
        </p:spPr>
      </p:cxnSp>
      <p:cxnSp>
        <p:nvCxnSpPr>
          <p:cNvPr id="732" name="Google Shape;732;p36"/>
          <p:cNvCxnSpPr/>
          <p:nvPr/>
        </p:nvCxnSpPr>
        <p:spPr>
          <a:xfrm>
            <a:off x="762000" y="2171700"/>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3" name="Google Shape;733;p36"/>
          <p:cNvCxnSpPr/>
          <p:nvPr/>
        </p:nvCxnSpPr>
        <p:spPr>
          <a:xfrm>
            <a:off x="762000" y="2581275"/>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4" name="Google Shape;734;p36"/>
          <p:cNvCxnSpPr/>
          <p:nvPr/>
        </p:nvCxnSpPr>
        <p:spPr>
          <a:xfrm>
            <a:off x="762000" y="2990850"/>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5" name="Google Shape;735;p36"/>
          <p:cNvCxnSpPr/>
          <p:nvPr/>
        </p:nvCxnSpPr>
        <p:spPr>
          <a:xfrm>
            <a:off x="762000" y="3400425"/>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6" name="Google Shape;736;p36"/>
          <p:cNvCxnSpPr/>
          <p:nvPr/>
        </p:nvCxnSpPr>
        <p:spPr>
          <a:xfrm>
            <a:off x="762000" y="3810000"/>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7" name="Google Shape;737;p36"/>
          <p:cNvCxnSpPr/>
          <p:nvPr/>
        </p:nvCxnSpPr>
        <p:spPr>
          <a:xfrm>
            <a:off x="762000" y="4219575"/>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8" name="Google Shape;738;p36"/>
          <p:cNvCxnSpPr/>
          <p:nvPr/>
        </p:nvCxnSpPr>
        <p:spPr>
          <a:xfrm>
            <a:off x="762000" y="4629150"/>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39" name="Google Shape;739;p36"/>
          <p:cNvCxnSpPr/>
          <p:nvPr/>
        </p:nvCxnSpPr>
        <p:spPr>
          <a:xfrm>
            <a:off x="762000" y="5038725"/>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40" name="Google Shape;740;p36"/>
          <p:cNvCxnSpPr/>
          <p:nvPr/>
        </p:nvCxnSpPr>
        <p:spPr>
          <a:xfrm>
            <a:off x="762000" y="5448300"/>
            <a:ext cx="10668000" cy="0"/>
          </a:xfrm>
          <a:prstGeom prst="straightConnector1">
            <a:avLst/>
          </a:prstGeom>
          <a:solidFill>
            <a:srgbClr val="FFFFFF"/>
          </a:solidFill>
          <a:ln cap="flat" cmpd="sng" w="9525">
            <a:solidFill>
              <a:srgbClr val="E2E8F0"/>
            </a:solidFill>
            <a:prstDash val="solid"/>
            <a:round/>
            <a:headEnd len="sm" w="sm" type="none"/>
            <a:tailEnd len="sm" w="sm" type="none"/>
          </a:ln>
        </p:spPr>
      </p:cxnSp>
      <p:cxnSp>
        <p:nvCxnSpPr>
          <p:cNvPr id="741" name="Google Shape;741;p36"/>
          <p:cNvCxnSpPr/>
          <p:nvPr/>
        </p:nvCxnSpPr>
        <p:spPr>
          <a:xfrm>
            <a:off x="4286250" y="1333500"/>
            <a:ext cx="0" cy="452430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742" name="Google Shape;742;p36"/>
          <p:cNvSpPr txBox="1"/>
          <p:nvPr/>
        </p:nvSpPr>
        <p:spPr>
          <a:xfrm>
            <a:off x="952500" y="1333500"/>
            <a:ext cx="31434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Function</a:t>
            </a:r>
            <a:endParaRPr b="1" sz="1200">
              <a:solidFill>
                <a:srgbClr val="045A36"/>
              </a:solidFill>
              <a:latin typeface="Inter"/>
              <a:ea typeface="Inter"/>
              <a:cs typeface="Inter"/>
              <a:sym typeface="Inter"/>
            </a:endParaRPr>
          </a:p>
        </p:txBody>
      </p:sp>
      <p:sp>
        <p:nvSpPr>
          <p:cNvPr id="743" name="Google Shape;743;p36"/>
          <p:cNvSpPr txBox="1"/>
          <p:nvPr/>
        </p:nvSpPr>
        <p:spPr>
          <a:xfrm>
            <a:off x="4476750" y="1333500"/>
            <a:ext cx="67629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Purpose</a:t>
            </a:r>
            <a:endParaRPr b="1" sz="1200">
              <a:solidFill>
                <a:srgbClr val="045A36"/>
              </a:solidFill>
              <a:latin typeface="Inter"/>
              <a:ea typeface="Inter"/>
              <a:cs typeface="Inter"/>
              <a:sym typeface="Inter"/>
            </a:endParaRPr>
          </a:p>
        </p:txBody>
      </p:sp>
      <p:sp>
        <p:nvSpPr>
          <p:cNvPr id="744" name="Google Shape;744;p36"/>
          <p:cNvSpPr txBox="1"/>
          <p:nvPr/>
        </p:nvSpPr>
        <p:spPr>
          <a:xfrm>
            <a:off x="952500" y="1762125"/>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getcwd</a:t>
            </a:r>
            <a:r>
              <a:rPr b="0" lang="en" sz="1300">
                <a:solidFill>
                  <a:srgbClr val="1F2937"/>
                </a:solidFill>
                <a:latin typeface="Courier"/>
                <a:ea typeface="Courier"/>
                <a:cs typeface="Courier"/>
                <a:sym typeface="Courier"/>
              </a:rPr>
              <a:t>()</a:t>
            </a:r>
            <a:endParaRPr b="0" sz="1300">
              <a:solidFill>
                <a:srgbClr val="1F2937"/>
              </a:solidFill>
              <a:latin typeface="Courier"/>
              <a:ea typeface="Courier"/>
              <a:cs typeface="Courier"/>
              <a:sym typeface="Courier"/>
            </a:endParaRPr>
          </a:p>
        </p:txBody>
      </p:sp>
      <p:sp>
        <p:nvSpPr>
          <p:cNvPr id="745" name="Google Shape;745;p36"/>
          <p:cNvSpPr txBox="1"/>
          <p:nvPr/>
        </p:nvSpPr>
        <p:spPr>
          <a:xfrm>
            <a:off x="4476750" y="1762125"/>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Get current working directory</a:t>
            </a:r>
            <a:endParaRPr b="0" sz="1400">
              <a:solidFill>
                <a:srgbClr val="374151"/>
              </a:solidFill>
              <a:latin typeface="Inter"/>
              <a:ea typeface="Inter"/>
              <a:cs typeface="Inter"/>
              <a:sym typeface="Inter"/>
            </a:endParaRPr>
          </a:p>
        </p:txBody>
      </p:sp>
      <p:sp>
        <p:nvSpPr>
          <p:cNvPr id="746" name="Google Shape;746;p36"/>
          <p:cNvSpPr txBox="1"/>
          <p:nvPr/>
        </p:nvSpPr>
        <p:spPr>
          <a:xfrm>
            <a:off x="952500" y="2171700"/>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chdir</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47" name="Google Shape;747;p36"/>
          <p:cNvSpPr txBox="1"/>
          <p:nvPr/>
        </p:nvSpPr>
        <p:spPr>
          <a:xfrm>
            <a:off x="4476750" y="2171700"/>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Change directory</a:t>
            </a:r>
            <a:endParaRPr b="0" sz="1400">
              <a:solidFill>
                <a:srgbClr val="374151"/>
              </a:solidFill>
              <a:latin typeface="Inter"/>
              <a:ea typeface="Inter"/>
              <a:cs typeface="Inter"/>
              <a:sym typeface="Inter"/>
            </a:endParaRPr>
          </a:p>
        </p:txBody>
      </p:sp>
      <p:sp>
        <p:nvSpPr>
          <p:cNvPr id="748" name="Google Shape;748;p36"/>
          <p:cNvSpPr txBox="1"/>
          <p:nvPr/>
        </p:nvSpPr>
        <p:spPr>
          <a:xfrm>
            <a:off x="952500" y="2581275"/>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listdir</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49" name="Google Shape;749;p36"/>
          <p:cNvSpPr txBox="1"/>
          <p:nvPr/>
        </p:nvSpPr>
        <p:spPr>
          <a:xfrm>
            <a:off x="4476750" y="2581275"/>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List contents of a directory</a:t>
            </a:r>
            <a:endParaRPr b="0" sz="1400">
              <a:solidFill>
                <a:srgbClr val="374151"/>
              </a:solidFill>
              <a:latin typeface="Inter"/>
              <a:ea typeface="Inter"/>
              <a:cs typeface="Inter"/>
              <a:sym typeface="Inter"/>
            </a:endParaRPr>
          </a:p>
        </p:txBody>
      </p:sp>
      <p:sp>
        <p:nvSpPr>
          <p:cNvPr id="750" name="Google Shape;750;p36"/>
          <p:cNvSpPr txBox="1"/>
          <p:nvPr/>
        </p:nvSpPr>
        <p:spPr>
          <a:xfrm>
            <a:off x="952500" y="2990850"/>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mkdir</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51" name="Google Shape;751;p36"/>
          <p:cNvSpPr txBox="1"/>
          <p:nvPr/>
        </p:nvSpPr>
        <p:spPr>
          <a:xfrm>
            <a:off x="4476750" y="2990850"/>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Create a single directory</a:t>
            </a:r>
            <a:endParaRPr b="0" sz="1400">
              <a:solidFill>
                <a:srgbClr val="374151"/>
              </a:solidFill>
              <a:latin typeface="Inter"/>
              <a:ea typeface="Inter"/>
              <a:cs typeface="Inter"/>
              <a:sym typeface="Inter"/>
            </a:endParaRPr>
          </a:p>
        </p:txBody>
      </p:sp>
      <p:sp>
        <p:nvSpPr>
          <p:cNvPr id="752" name="Google Shape;752;p36"/>
          <p:cNvSpPr txBox="1"/>
          <p:nvPr/>
        </p:nvSpPr>
        <p:spPr>
          <a:xfrm>
            <a:off x="952500" y="3400425"/>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makedirs</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53" name="Google Shape;753;p36"/>
          <p:cNvSpPr txBox="1"/>
          <p:nvPr/>
        </p:nvSpPr>
        <p:spPr>
          <a:xfrm>
            <a:off x="4476750" y="3400425"/>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Create recursive directories</a:t>
            </a:r>
            <a:endParaRPr b="0" sz="1400">
              <a:solidFill>
                <a:srgbClr val="374151"/>
              </a:solidFill>
              <a:latin typeface="Inter"/>
              <a:ea typeface="Inter"/>
              <a:cs typeface="Inter"/>
              <a:sym typeface="Inter"/>
            </a:endParaRPr>
          </a:p>
        </p:txBody>
      </p:sp>
      <p:sp>
        <p:nvSpPr>
          <p:cNvPr id="754" name="Google Shape;754;p36"/>
          <p:cNvSpPr txBox="1"/>
          <p:nvPr/>
        </p:nvSpPr>
        <p:spPr>
          <a:xfrm>
            <a:off x="952500" y="3810000"/>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remove</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55" name="Google Shape;755;p36"/>
          <p:cNvSpPr txBox="1"/>
          <p:nvPr/>
        </p:nvSpPr>
        <p:spPr>
          <a:xfrm>
            <a:off x="4476750" y="3810000"/>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Delete a file</a:t>
            </a:r>
            <a:endParaRPr b="0" sz="1400">
              <a:solidFill>
                <a:srgbClr val="374151"/>
              </a:solidFill>
              <a:latin typeface="Inter"/>
              <a:ea typeface="Inter"/>
              <a:cs typeface="Inter"/>
              <a:sym typeface="Inter"/>
            </a:endParaRPr>
          </a:p>
        </p:txBody>
      </p:sp>
      <p:sp>
        <p:nvSpPr>
          <p:cNvPr id="756" name="Google Shape;756;p36"/>
          <p:cNvSpPr txBox="1"/>
          <p:nvPr/>
        </p:nvSpPr>
        <p:spPr>
          <a:xfrm>
            <a:off x="952500" y="4219575"/>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rmdir</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57" name="Google Shape;757;p36"/>
          <p:cNvSpPr txBox="1"/>
          <p:nvPr/>
        </p:nvSpPr>
        <p:spPr>
          <a:xfrm>
            <a:off x="4476750" y="4219575"/>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Delete an empty directory</a:t>
            </a:r>
            <a:endParaRPr b="0" sz="1400">
              <a:solidFill>
                <a:srgbClr val="374151"/>
              </a:solidFill>
              <a:latin typeface="Inter"/>
              <a:ea typeface="Inter"/>
              <a:cs typeface="Inter"/>
              <a:sym typeface="Inter"/>
            </a:endParaRPr>
          </a:p>
        </p:txBody>
      </p:sp>
      <p:sp>
        <p:nvSpPr>
          <p:cNvPr id="758" name="Google Shape;758;p36"/>
          <p:cNvSpPr txBox="1"/>
          <p:nvPr/>
        </p:nvSpPr>
        <p:spPr>
          <a:xfrm>
            <a:off x="952500" y="4629150"/>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a:t>
            </a:r>
            <a:r>
              <a:rPr b="1" lang="en" sz="1300">
                <a:solidFill>
                  <a:srgbClr val="0B7A4B"/>
                </a:solidFill>
                <a:latin typeface="Courier"/>
                <a:ea typeface="Courier"/>
                <a:cs typeface="Courier"/>
                <a:sym typeface="Courier"/>
              </a:rPr>
              <a:t>rename</a:t>
            </a:r>
            <a:r>
              <a:rPr b="0" lang="en" sz="1300">
                <a:solidFill>
                  <a:srgbClr val="1F2937"/>
                </a:solidFill>
                <a:latin typeface="Courier"/>
                <a:ea typeface="Courier"/>
                <a:cs typeface="Courier"/>
                <a:sym typeface="Courier"/>
              </a:rPr>
              <a:t>(src, dst)</a:t>
            </a:r>
            <a:endParaRPr b="0" sz="1300">
              <a:solidFill>
                <a:srgbClr val="1F2937"/>
              </a:solidFill>
              <a:latin typeface="Courier"/>
              <a:ea typeface="Courier"/>
              <a:cs typeface="Courier"/>
              <a:sym typeface="Courier"/>
            </a:endParaRPr>
          </a:p>
        </p:txBody>
      </p:sp>
      <p:sp>
        <p:nvSpPr>
          <p:cNvPr id="759" name="Google Shape;759;p36"/>
          <p:cNvSpPr txBox="1"/>
          <p:nvPr/>
        </p:nvSpPr>
        <p:spPr>
          <a:xfrm>
            <a:off x="4476750" y="4629150"/>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Rename or move a file/directory</a:t>
            </a:r>
            <a:endParaRPr b="0" sz="1400">
              <a:solidFill>
                <a:srgbClr val="374151"/>
              </a:solidFill>
              <a:latin typeface="Inter"/>
              <a:ea typeface="Inter"/>
              <a:cs typeface="Inter"/>
              <a:sym typeface="Inter"/>
            </a:endParaRPr>
          </a:p>
        </p:txBody>
      </p:sp>
      <p:sp>
        <p:nvSpPr>
          <p:cNvPr id="760" name="Google Shape;760;p36"/>
          <p:cNvSpPr txBox="1"/>
          <p:nvPr/>
        </p:nvSpPr>
        <p:spPr>
          <a:xfrm>
            <a:off x="952500" y="5038725"/>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os.path.</a:t>
            </a:r>
            <a:r>
              <a:rPr b="1" lang="en" sz="1300">
                <a:solidFill>
                  <a:srgbClr val="0B7A4B"/>
                </a:solidFill>
                <a:latin typeface="Courier"/>
                <a:ea typeface="Courier"/>
                <a:cs typeface="Courier"/>
                <a:sym typeface="Courier"/>
              </a:rPr>
              <a:t>exists</a:t>
            </a:r>
            <a:r>
              <a:rPr b="0" lang="en" sz="1300">
                <a:solidFill>
                  <a:srgbClr val="1F2937"/>
                </a:solidFill>
                <a:latin typeface="Courier"/>
                <a:ea typeface="Courier"/>
                <a:cs typeface="Courier"/>
                <a:sym typeface="Courier"/>
              </a:rPr>
              <a:t>(path)</a:t>
            </a:r>
            <a:endParaRPr b="0" sz="1300">
              <a:solidFill>
                <a:srgbClr val="1F2937"/>
              </a:solidFill>
              <a:latin typeface="Courier"/>
              <a:ea typeface="Courier"/>
              <a:cs typeface="Courier"/>
              <a:sym typeface="Courier"/>
            </a:endParaRPr>
          </a:p>
        </p:txBody>
      </p:sp>
      <p:sp>
        <p:nvSpPr>
          <p:cNvPr id="761" name="Google Shape;761;p36"/>
          <p:cNvSpPr txBox="1"/>
          <p:nvPr/>
        </p:nvSpPr>
        <p:spPr>
          <a:xfrm>
            <a:off x="4476750" y="5038725"/>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Check if path exists</a:t>
            </a:r>
            <a:endParaRPr b="0" sz="1400">
              <a:solidFill>
                <a:srgbClr val="374151"/>
              </a:solidFill>
              <a:latin typeface="Inter"/>
              <a:ea typeface="Inter"/>
              <a:cs typeface="Inter"/>
              <a:sym typeface="Inter"/>
            </a:endParaRPr>
          </a:p>
        </p:txBody>
      </p:sp>
      <p:sp>
        <p:nvSpPr>
          <p:cNvPr id="762" name="Google Shape;762;p36"/>
          <p:cNvSpPr txBox="1"/>
          <p:nvPr/>
        </p:nvSpPr>
        <p:spPr>
          <a:xfrm>
            <a:off x="952500" y="5448300"/>
            <a:ext cx="31434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300">
                <a:solidFill>
                  <a:srgbClr val="6B7280"/>
                </a:solidFill>
                <a:latin typeface="Courier"/>
                <a:ea typeface="Courier"/>
                <a:cs typeface="Courier"/>
                <a:sym typeface="Courier"/>
              </a:rPr>
              <a:t>os.path.</a:t>
            </a:r>
            <a:r>
              <a:rPr b="1" lang="en" sz="1300">
                <a:solidFill>
                  <a:srgbClr val="0B7A4B"/>
                </a:solidFill>
                <a:latin typeface="Courier"/>
                <a:ea typeface="Courier"/>
                <a:cs typeface="Courier"/>
                <a:sym typeface="Courier"/>
              </a:rPr>
              <a:t>join</a:t>
            </a:r>
            <a:r>
              <a:rPr b="0" lang="en" sz="1300">
                <a:solidFill>
                  <a:srgbClr val="1F2937"/>
                </a:solidFill>
                <a:latin typeface="Courier"/>
                <a:ea typeface="Courier"/>
                <a:cs typeface="Courier"/>
                <a:sym typeface="Courier"/>
              </a:rPr>
              <a:t>(p1, p2)</a:t>
            </a:r>
            <a:endParaRPr b="0" sz="1300">
              <a:solidFill>
                <a:srgbClr val="1F2937"/>
              </a:solidFill>
              <a:latin typeface="Courier"/>
              <a:ea typeface="Courier"/>
              <a:cs typeface="Courier"/>
              <a:sym typeface="Courier"/>
            </a:endParaRPr>
          </a:p>
        </p:txBody>
      </p:sp>
      <p:sp>
        <p:nvSpPr>
          <p:cNvPr id="763" name="Google Shape;763;p36"/>
          <p:cNvSpPr txBox="1"/>
          <p:nvPr/>
        </p:nvSpPr>
        <p:spPr>
          <a:xfrm>
            <a:off x="4476750" y="5448300"/>
            <a:ext cx="6762900" cy="40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400">
                <a:solidFill>
                  <a:srgbClr val="374151"/>
                </a:solidFill>
                <a:latin typeface="Inter"/>
                <a:ea typeface="Inter"/>
                <a:cs typeface="Inter"/>
                <a:sym typeface="Inter"/>
              </a:rPr>
              <a:t>Safely concatenate paths</a:t>
            </a:r>
            <a:endParaRPr b="0" sz="1400">
              <a:solidFill>
                <a:srgbClr val="374151"/>
              </a:solidFill>
              <a:latin typeface="Inter"/>
              <a:ea typeface="Inter"/>
              <a:cs typeface="Inter"/>
              <a:sym typeface="Inter"/>
            </a:endParaRPr>
          </a:p>
        </p:txBody>
      </p:sp>
      <p:sp>
        <p:nvSpPr>
          <p:cNvPr id="764" name="Google Shape;764;p36"/>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8" name="Shape 768"/>
        <p:cNvGrpSpPr/>
        <p:nvPr/>
      </p:nvGrpSpPr>
      <p:grpSpPr>
        <a:xfrm>
          <a:off x="0" y="0"/>
          <a:ext cx="0" cy="0"/>
          <a:chOff x="0" y="0"/>
          <a:chExt cx="0" cy="0"/>
        </a:xfrm>
      </p:grpSpPr>
      <p:sp>
        <p:nvSpPr>
          <p:cNvPr id="769" name="Google Shape;769;p37"/>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3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71" name="Google Shape;771;p37"/>
          <p:cNvGrpSpPr/>
          <p:nvPr/>
        </p:nvGrpSpPr>
        <p:grpSpPr>
          <a:xfrm>
            <a:off x="762000" y="571500"/>
            <a:ext cx="10668000" cy="1066800"/>
            <a:chOff x="762000" y="571500"/>
            <a:chExt cx="10668000" cy="1066800"/>
          </a:xfrm>
        </p:grpSpPr>
        <p:sp>
          <p:nvSpPr>
            <p:cNvPr id="772" name="Google Shape;772;p3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Descriptive Laboratory Automation Tasks</a:t>
              </a:r>
              <a:endParaRPr b="0" sz="2700">
                <a:solidFill>
                  <a:srgbClr val="045A36"/>
                </a:solidFill>
                <a:latin typeface="Montserrat SemiBold"/>
                <a:ea typeface="Montserrat SemiBold"/>
                <a:cs typeface="Montserrat SemiBold"/>
                <a:sym typeface="Montserrat SemiBold"/>
              </a:endParaRPr>
            </a:p>
          </p:txBody>
        </p:sp>
        <p:sp>
          <p:nvSpPr>
            <p:cNvPr id="773" name="Google Shape;773;p37"/>
            <p:cNvSpPr txBox="1"/>
            <p:nvPr/>
          </p:nvSpPr>
          <p:spPr>
            <a:xfrm>
              <a:off x="762000" y="1257300"/>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Complete the following tasks in a single Python script:</a:t>
              </a:r>
              <a:endParaRPr b="0" sz="1600">
                <a:solidFill>
                  <a:srgbClr val="4B5563"/>
                </a:solidFill>
                <a:latin typeface="Inter SemiBold"/>
                <a:ea typeface="Inter SemiBold"/>
                <a:cs typeface="Inter SemiBold"/>
                <a:sym typeface="Inter SemiBold"/>
              </a:endParaRPr>
            </a:p>
          </p:txBody>
        </p:sp>
      </p:grpSp>
      <p:grpSp>
        <p:nvGrpSpPr>
          <p:cNvPr id="774" name="Google Shape;774;p37"/>
          <p:cNvGrpSpPr/>
          <p:nvPr/>
        </p:nvGrpSpPr>
        <p:grpSpPr>
          <a:xfrm>
            <a:off x="762000" y="1762125"/>
            <a:ext cx="5143575" cy="4048050"/>
            <a:chOff x="762000" y="1762125"/>
            <a:chExt cx="5143575" cy="4048050"/>
          </a:xfrm>
        </p:grpSpPr>
        <p:grpSp>
          <p:nvGrpSpPr>
            <p:cNvPr id="775" name="Google Shape;775;p37"/>
            <p:cNvGrpSpPr/>
            <p:nvPr/>
          </p:nvGrpSpPr>
          <p:grpSpPr>
            <a:xfrm>
              <a:off x="762000" y="1762125"/>
              <a:ext cx="5143575" cy="714300"/>
              <a:chOff x="0" y="0"/>
              <a:chExt cx="5143575" cy="714300"/>
            </a:xfrm>
          </p:grpSpPr>
          <p:grpSp>
            <p:nvGrpSpPr>
              <p:cNvPr id="776" name="Google Shape;776;p37"/>
              <p:cNvGrpSpPr/>
              <p:nvPr/>
            </p:nvGrpSpPr>
            <p:grpSpPr>
              <a:xfrm>
                <a:off x="0" y="38100"/>
                <a:ext cx="190500" cy="190500"/>
                <a:chOff x="0" y="0"/>
                <a:chExt cx="190500" cy="190500"/>
              </a:xfrm>
            </p:grpSpPr>
            <p:sp>
              <p:nvSpPr>
                <p:cNvPr id="777" name="Google Shape;777;p3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p3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79" name="Google Shape;779;p3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Task 1: Current Working Directory</a:t>
                </a:r>
                <a:endParaRPr b="0" sz="1500">
                  <a:solidFill>
                    <a:srgbClr val="1F2937"/>
                  </a:solidFill>
                  <a:latin typeface="Inter SemiBold"/>
                  <a:ea typeface="Inter SemiBold"/>
                  <a:cs typeface="Inter SemiBold"/>
                  <a:sym typeface="Inter SemiBold"/>
                </a:endParaRPr>
              </a:p>
              <a:p>
                <a:pPr indent="0" lvl="0" marL="0" rtl="0" algn="l">
                  <a:spcBef>
                    <a:spcPts val="225"/>
                  </a:spcBef>
                  <a:spcAft>
                    <a:spcPts val="0"/>
                  </a:spcAft>
                  <a:buNone/>
                </a:pPr>
                <a:r>
                  <a:rPr b="0" lang="en" sz="1350">
                    <a:solidFill>
                      <a:srgbClr val="374151"/>
                    </a:solidFill>
                    <a:latin typeface="Inter"/>
                    <a:ea typeface="Inter"/>
                    <a:cs typeface="Inter"/>
                    <a:sym typeface="Inter"/>
                  </a:rPr>
                  <a:t>Print your current working directory to the console using the standard library.</a:t>
                </a:r>
                <a:endParaRPr b="0" sz="1350">
                  <a:solidFill>
                    <a:srgbClr val="374151"/>
                  </a:solidFill>
                  <a:latin typeface="Inter"/>
                  <a:ea typeface="Inter"/>
                  <a:cs typeface="Inter"/>
                  <a:sym typeface="Inter"/>
                </a:endParaRPr>
              </a:p>
            </p:txBody>
          </p:sp>
        </p:grpSp>
        <p:grpSp>
          <p:nvGrpSpPr>
            <p:cNvPr id="780" name="Google Shape;780;p37"/>
            <p:cNvGrpSpPr/>
            <p:nvPr/>
          </p:nvGrpSpPr>
          <p:grpSpPr>
            <a:xfrm>
              <a:off x="762000" y="2571750"/>
              <a:ext cx="5143575" cy="714300"/>
              <a:chOff x="0" y="0"/>
              <a:chExt cx="5143575" cy="714300"/>
            </a:xfrm>
          </p:grpSpPr>
          <p:grpSp>
            <p:nvGrpSpPr>
              <p:cNvPr id="781" name="Google Shape;781;p37"/>
              <p:cNvGrpSpPr/>
              <p:nvPr/>
            </p:nvGrpSpPr>
            <p:grpSpPr>
              <a:xfrm>
                <a:off x="0" y="38100"/>
                <a:ext cx="190500" cy="190500"/>
                <a:chOff x="0" y="0"/>
                <a:chExt cx="190500" cy="190500"/>
              </a:xfrm>
            </p:grpSpPr>
            <p:sp>
              <p:nvSpPr>
                <p:cNvPr id="782" name="Google Shape;782;p3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3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84" name="Google Shape;784;p3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Task 2: Main Folder Creation</a:t>
                </a:r>
                <a:endParaRPr b="0" sz="1500">
                  <a:solidFill>
                    <a:srgbClr val="1F2937"/>
                  </a:solidFill>
                  <a:latin typeface="Inter SemiBold"/>
                  <a:ea typeface="Inter SemiBold"/>
                  <a:cs typeface="Inter SemiBold"/>
                  <a:sym typeface="Inter SemiBold"/>
                </a:endParaRPr>
              </a:p>
              <a:p>
                <a:pPr indent="0" lvl="0" marL="0" rtl="0" algn="l">
                  <a:spcBef>
                    <a:spcPts val="225"/>
                  </a:spcBef>
                  <a:spcAft>
                    <a:spcPts val="0"/>
                  </a:spcAft>
                  <a:buNone/>
                </a:pPr>
                <a:r>
                  <a:rPr b="0" lang="en" sz="1350">
                    <a:solidFill>
                      <a:srgbClr val="374151"/>
                    </a:solidFill>
                    <a:latin typeface="Inter"/>
                    <a:ea typeface="Inter"/>
                    <a:cs typeface="Inter"/>
                    <a:sym typeface="Inter"/>
                  </a:rPr>
                  <a:t>Programmatically create a new folder named </a:t>
                </a:r>
                <a:r>
                  <a:rPr b="1" lang="en" sz="1150">
                    <a:solidFill>
                      <a:srgbClr val="045A36"/>
                    </a:solidFill>
                    <a:latin typeface="Courier"/>
                    <a:ea typeface="Courier"/>
                    <a:cs typeface="Courier"/>
                    <a:sym typeface="Courier"/>
                  </a:rPr>
                  <a:t>Robotics_Project_Lab</a:t>
                </a:r>
                <a:r>
                  <a:rPr b="0" lang="en" sz="1350">
                    <a:solidFill>
                      <a:srgbClr val="374151"/>
                    </a:solidFill>
                    <a:latin typeface="Inter"/>
                    <a:ea typeface="Inter"/>
                    <a:cs typeface="Inter"/>
                    <a:sym typeface="Inter"/>
                  </a:rPr>
                  <a:t>.</a:t>
                </a:r>
                <a:endParaRPr b="0" sz="1350">
                  <a:solidFill>
                    <a:srgbClr val="374151"/>
                  </a:solidFill>
                  <a:latin typeface="Inter"/>
                  <a:ea typeface="Inter"/>
                  <a:cs typeface="Inter"/>
                  <a:sym typeface="Inter"/>
                </a:endParaRPr>
              </a:p>
            </p:txBody>
          </p:sp>
        </p:grpSp>
        <p:grpSp>
          <p:nvGrpSpPr>
            <p:cNvPr id="785" name="Google Shape;785;p37"/>
            <p:cNvGrpSpPr/>
            <p:nvPr/>
          </p:nvGrpSpPr>
          <p:grpSpPr>
            <a:xfrm>
              <a:off x="762000" y="3381375"/>
              <a:ext cx="5143575" cy="809700"/>
              <a:chOff x="0" y="0"/>
              <a:chExt cx="5143575" cy="809700"/>
            </a:xfrm>
          </p:grpSpPr>
          <p:grpSp>
            <p:nvGrpSpPr>
              <p:cNvPr id="786" name="Google Shape;786;p37"/>
              <p:cNvGrpSpPr/>
              <p:nvPr/>
            </p:nvGrpSpPr>
            <p:grpSpPr>
              <a:xfrm>
                <a:off x="0" y="38100"/>
                <a:ext cx="190500" cy="190500"/>
                <a:chOff x="0" y="0"/>
                <a:chExt cx="190500" cy="190500"/>
              </a:xfrm>
            </p:grpSpPr>
            <p:sp>
              <p:nvSpPr>
                <p:cNvPr id="787" name="Google Shape;787;p3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3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89" name="Google Shape;789;p37"/>
              <p:cNvSpPr txBox="1"/>
              <p:nvPr/>
            </p:nvSpPr>
            <p:spPr>
              <a:xfrm>
                <a:off x="333375" y="0"/>
                <a:ext cx="4810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Task 3: Subfolder Initialization</a:t>
                </a:r>
                <a:endParaRPr b="0" sz="1500">
                  <a:solidFill>
                    <a:srgbClr val="1F2937"/>
                  </a:solidFill>
                  <a:latin typeface="Inter SemiBold"/>
                  <a:ea typeface="Inter SemiBold"/>
                  <a:cs typeface="Inter SemiBold"/>
                  <a:sym typeface="Inter SemiBold"/>
                </a:endParaRPr>
              </a:p>
              <a:p>
                <a:pPr indent="0" lvl="0" marL="0" rtl="0" algn="l">
                  <a:spcBef>
                    <a:spcPts val="225"/>
                  </a:spcBef>
                  <a:spcAft>
                    <a:spcPts val="0"/>
                  </a:spcAft>
                  <a:buNone/>
                </a:pPr>
                <a:r>
                  <a:rPr b="0" lang="en" sz="1350">
                    <a:solidFill>
                      <a:srgbClr val="374151"/>
                    </a:solidFill>
                    <a:latin typeface="Inter"/>
                    <a:ea typeface="Inter"/>
                    <a:cs typeface="Inter"/>
                    <a:sym typeface="Inter"/>
                  </a:rPr>
                  <a:t>Inside the main folder, create three distinct subfolders: </a:t>
                </a:r>
                <a:r>
                  <a:rPr b="1" lang="en" sz="1150">
                    <a:solidFill>
                      <a:srgbClr val="045A36"/>
                    </a:solidFill>
                    <a:latin typeface="Courier"/>
                    <a:ea typeface="Courier"/>
                    <a:cs typeface="Courier"/>
                    <a:sym typeface="Courier"/>
                  </a:rPr>
                  <a:t>src</a:t>
                </a:r>
                <a:r>
                  <a:rPr b="0" lang="en" sz="1350">
                    <a:solidFill>
                      <a:srgbClr val="374151"/>
                    </a:solidFill>
                    <a:latin typeface="Inter"/>
                    <a:ea typeface="Inter"/>
                    <a:cs typeface="Inter"/>
                    <a:sym typeface="Inter"/>
                  </a:rPr>
                  <a:t>, </a:t>
                </a:r>
                <a:r>
                  <a:rPr b="1" lang="en" sz="1150">
                    <a:solidFill>
                      <a:srgbClr val="045A36"/>
                    </a:solidFill>
                    <a:latin typeface="Courier"/>
                    <a:ea typeface="Courier"/>
                    <a:cs typeface="Courier"/>
                    <a:sym typeface="Courier"/>
                  </a:rPr>
                  <a:t>data</a:t>
                </a:r>
                <a:r>
                  <a:rPr b="0" lang="en" sz="1350">
                    <a:solidFill>
                      <a:srgbClr val="374151"/>
                    </a:solidFill>
                    <a:latin typeface="Inter"/>
                    <a:ea typeface="Inter"/>
                    <a:cs typeface="Inter"/>
                    <a:sym typeface="Inter"/>
                  </a:rPr>
                  <a:t>, and </a:t>
                </a:r>
                <a:r>
                  <a:rPr b="1" lang="en" sz="1150">
                    <a:solidFill>
                      <a:srgbClr val="045A36"/>
                    </a:solidFill>
                    <a:latin typeface="Courier"/>
                    <a:ea typeface="Courier"/>
                    <a:cs typeface="Courier"/>
                    <a:sym typeface="Courier"/>
                  </a:rPr>
                  <a:t>config</a:t>
                </a:r>
                <a:r>
                  <a:rPr b="0" lang="en" sz="1350">
                    <a:solidFill>
                      <a:srgbClr val="374151"/>
                    </a:solidFill>
                    <a:latin typeface="Inter"/>
                    <a:ea typeface="Inter"/>
                    <a:cs typeface="Inter"/>
                    <a:sym typeface="Inter"/>
                  </a:rPr>
                  <a:t>.</a:t>
                </a:r>
                <a:endParaRPr b="0" sz="1350">
                  <a:solidFill>
                    <a:srgbClr val="374151"/>
                  </a:solidFill>
                  <a:latin typeface="Inter"/>
                  <a:ea typeface="Inter"/>
                  <a:cs typeface="Inter"/>
                  <a:sym typeface="Inter"/>
                </a:endParaRPr>
              </a:p>
            </p:txBody>
          </p:sp>
        </p:grpSp>
        <p:grpSp>
          <p:nvGrpSpPr>
            <p:cNvPr id="790" name="Google Shape;790;p37"/>
            <p:cNvGrpSpPr/>
            <p:nvPr/>
          </p:nvGrpSpPr>
          <p:grpSpPr>
            <a:xfrm>
              <a:off x="762000" y="4286250"/>
              <a:ext cx="5143575" cy="714300"/>
              <a:chOff x="0" y="0"/>
              <a:chExt cx="5143575" cy="714300"/>
            </a:xfrm>
          </p:grpSpPr>
          <p:grpSp>
            <p:nvGrpSpPr>
              <p:cNvPr id="791" name="Google Shape;791;p37"/>
              <p:cNvGrpSpPr/>
              <p:nvPr/>
            </p:nvGrpSpPr>
            <p:grpSpPr>
              <a:xfrm>
                <a:off x="0" y="38100"/>
                <a:ext cx="190500" cy="190500"/>
                <a:chOff x="0" y="0"/>
                <a:chExt cx="190500" cy="190500"/>
              </a:xfrm>
            </p:grpSpPr>
            <p:sp>
              <p:nvSpPr>
                <p:cNvPr id="792" name="Google Shape;792;p3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3" name="Google Shape;793;p3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94" name="Google Shape;794;p3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Task 4: Rename Configuration</a:t>
                </a:r>
                <a:endParaRPr b="0" sz="1500">
                  <a:solidFill>
                    <a:srgbClr val="1F2937"/>
                  </a:solidFill>
                  <a:latin typeface="Inter SemiBold"/>
                  <a:ea typeface="Inter SemiBold"/>
                  <a:cs typeface="Inter SemiBold"/>
                  <a:sym typeface="Inter SemiBold"/>
                </a:endParaRPr>
              </a:p>
              <a:p>
                <a:pPr indent="0" lvl="0" marL="0" rtl="0" algn="l">
                  <a:spcBef>
                    <a:spcPts val="225"/>
                  </a:spcBef>
                  <a:spcAft>
                    <a:spcPts val="0"/>
                  </a:spcAft>
                  <a:buNone/>
                </a:pPr>
                <a:r>
                  <a:rPr b="0" lang="en" sz="1350">
                    <a:solidFill>
                      <a:srgbClr val="374151"/>
                    </a:solidFill>
                    <a:latin typeface="Inter"/>
                    <a:ea typeface="Inter"/>
                    <a:cs typeface="Inter"/>
                    <a:sym typeface="Inter"/>
                  </a:rPr>
                  <a:t>Rename the </a:t>
                </a:r>
                <a:r>
                  <a:rPr b="1" lang="en" sz="1150">
                    <a:solidFill>
                      <a:srgbClr val="045A36"/>
                    </a:solidFill>
                    <a:latin typeface="Courier"/>
                    <a:ea typeface="Courier"/>
                    <a:cs typeface="Courier"/>
                    <a:sym typeface="Courier"/>
                  </a:rPr>
                  <a:t>config</a:t>
                </a:r>
                <a:r>
                  <a:rPr b="0" lang="en" sz="1350">
                    <a:solidFill>
                      <a:srgbClr val="374151"/>
                    </a:solidFill>
                    <a:latin typeface="Inter"/>
                    <a:ea typeface="Inter"/>
                    <a:cs typeface="Inter"/>
                    <a:sym typeface="Inter"/>
                  </a:rPr>
                  <a:t> folder to </a:t>
                </a:r>
                <a:r>
                  <a:rPr b="1" lang="en" sz="1150">
                    <a:solidFill>
                      <a:srgbClr val="045A36"/>
                    </a:solidFill>
                    <a:latin typeface="Courier"/>
                    <a:ea typeface="Courier"/>
                    <a:cs typeface="Courier"/>
                    <a:sym typeface="Courier"/>
                  </a:rPr>
                  <a:t>settings</a:t>
                </a:r>
                <a:r>
                  <a:rPr b="0" lang="en" sz="1350">
                    <a:solidFill>
                      <a:srgbClr val="374151"/>
                    </a:solidFill>
                    <a:latin typeface="Inter"/>
                    <a:ea typeface="Inter"/>
                    <a:cs typeface="Inter"/>
                    <a:sym typeface="Inter"/>
                  </a:rPr>
                  <a:t>.</a:t>
                </a:r>
                <a:endParaRPr b="0" sz="1350">
                  <a:solidFill>
                    <a:srgbClr val="374151"/>
                  </a:solidFill>
                  <a:latin typeface="Inter"/>
                  <a:ea typeface="Inter"/>
                  <a:cs typeface="Inter"/>
                  <a:sym typeface="Inter"/>
                </a:endParaRPr>
              </a:p>
            </p:txBody>
          </p:sp>
        </p:grpSp>
        <p:grpSp>
          <p:nvGrpSpPr>
            <p:cNvPr id="795" name="Google Shape;795;p37"/>
            <p:cNvGrpSpPr/>
            <p:nvPr/>
          </p:nvGrpSpPr>
          <p:grpSpPr>
            <a:xfrm>
              <a:off x="762000" y="5095875"/>
              <a:ext cx="5143575" cy="714300"/>
              <a:chOff x="0" y="0"/>
              <a:chExt cx="5143575" cy="714300"/>
            </a:xfrm>
          </p:grpSpPr>
          <p:grpSp>
            <p:nvGrpSpPr>
              <p:cNvPr id="796" name="Google Shape;796;p37"/>
              <p:cNvGrpSpPr/>
              <p:nvPr/>
            </p:nvGrpSpPr>
            <p:grpSpPr>
              <a:xfrm>
                <a:off x="0" y="38100"/>
                <a:ext cx="190500" cy="190500"/>
                <a:chOff x="0" y="0"/>
                <a:chExt cx="190500" cy="190500"/>
              </a:xfrm>
            </p:grpSpPr>
            <p:sp>
              <p:nvSpPr>
                <p:cNvPr id="797" name="Google Shape;797;p37"/>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37"/>
                <p:cNvSpPr/>
                <p:nvPr/>
              </p:nvSpPr>
              <p:spPr>
                <a:xfrm>
                  <a:off x="57150" y="57150"/>
                  <a:ext cx="76200" cy="66600"/>
                </a:xfrm>
                <a:custGeom>
                  <a:rect b="b" l="l" r="r" t="t"/>
                  <a:pathLst>
                    <a:path extrusionOk="0" h="120000" w="120000">
                      <a:moveTo>
                        <a:pt x="0" y="68514"/>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99" name="Google Shape;799;p37"/>
              <p:cNvSpPr txBox="1"/>
              <p:nvPr/>
            </p:nvSpPr>
            <p:spPr>
              <a:xfrm>
                <a:off x="333375" y="0"/>
                <a:ext cx="48102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Task 5: Empty Folder Deletion</a:t>
                </a:r>
                <a:endParaRPr b="0" sz="1500">
                  <a:solidFill>
                    <a:srgbClr val="1F2937"/>
                  </a:solidFill>
                  <a:latin typeface="Inter SemiBold"/>
                  <a:ea typeface="Inter SemiBold"/>
                  <a:cs typeface="Inter SemiBold"/>
                  <a:sym typeface="Inter SemiBold"/>
                </a:endParaRPr>
              </a:p>
              <a:p>
                <a:pPr indent="0" lvl="0" marL="0" rtl="0" algn="l">
                  <a:spcBef>
                    <a:spcPts val="225"/>
                  </a:spcBef>
                  <a:spcAft>
                    <a:spcPts val="0"/>
                  </a:spcAft>
                  <a:buNone/>
                </a:pPr>
                <a:r>
                  <a:rPr b="0" lang="en" sz="1350">
                    <a:solidFill>
                      <a:srgbClr val="374151"/>
                    </a:solidFill>
                    <a:latin typeface="Inter"/>
                    <a:ea typeface="Inter"/>
                    <a:cs typeface="Inter"/>
                    <a:sym typeface="Inter"/>
                  </a:rPr>
                  <a:t>Delete the </a:t>
                </a:r>
                <a:r>
                  <a:rPr b="1" lang="en" sz="1150">
                    <a:solidFill>
                      <a:srgbClr val="045A36"/>
                    </a:solidFill>
                    <a:latin typeface="Courier"/>
                    <a:ea typeface="Courier"/>
                    <a:cs typeface="Courier"/>
                    <a:sym typeface="Courier"/>
                  </a:rPr>
                  <a:t>data</a:t>
                </a:r>
                <a:r>
                  <a:rPr b="0" lang="en" sz="1350">
                    <a:solidFill>
                      <a:srgbClr val="374151"/>
                    </a:solidFill>
                    <a:latin typeface="Inter"/>
                    <a:ea typeface="Inter"/>
                    <a:cs typeface="Inter"/>
                    <a:sym typeface="Inter"/>
                  </a:rPr>
                  <a:t> folder (always check to ensure it is empty first).</a:t>
                </a:r>
                <a:endParaRPr b="0" sz="1350">
                  <a:solidFill>
                    <a:srgbClr val="374151"/>
                  </a:solidFill>
                  <a:latin typeface="Inter"/>
                  <a:ea typeface="Inter"/>
                  <a:cs typeface="Inter"/>
                  <a:sym typeface="Inter"/>
                </a:endParaRPr>
              </a:p>
            </p:txBody>
          </p:sp>
        </p:grpSp>
      </p:grpSp>
      <p:grpSp>
        <p:nvGrpSpPr>
          <p:cNvPr id="800" name="Google Shape;800;p37"/>
          <p:cNvGrpSpPr/>
          <p:nvPr/>
        </p:nvGrpSpPr>
        <p:grpSpPr>
          <a:xfrm>
            <a:off x="6286500" y="1714500"/>
            <a:ext cx="5143500" cy="4000500"/>
            <a:chOff x="0" y="0"/>
            <a:chExt cx="5143500" cy="4000500"/>
          </a:xfrm>
        </p:grpSpPr>
        <p:sp>
          <p:nvSpPr>
            <p:cNvPr id="801" name="Google Shape;801;p37"/>
            <p:cNvSpPr/>
            <p:nvPr/>
          </p:nvSpPr>
          <p:spPr>
            <a:xfrm>
              <a:off x="0" y="0"/>
              <a:ext cx="5143500" cy="4000500"/>
            </a:xfrm>
            <a:prstGeom prst="roundRect">
              <a:avLst>
                <a:gd fmla="val 2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2" name="Google Shape;802;p37"/>
            <p:cNvSpPr/>
            <p:nvPr/>
          </p:nvSpPr>
          <p:spPr>
            <a:xfrm>
              <a:off x="0" y="0"/>
              <a:ext cx="5143500" cy="47700"/>
            </a:xfrm>
            <a:prstGeom prst="roundRect">
              <a:avLst>
                <a:gd fmla="val 4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3" name="Google Shape;803;p37"/>
            <p:cNvSpPr txBox="1"/>
            <p:nvPr/>
          </p:nvSpPr>
          <p:spPr>
            <a:xfrm>
              <a:off x="285750" y="238125"/>
              <a:ext cx="4572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LABORATORY EXECUTION ROUTINE</a:t>
              </a:r>
              <a:endParaRPr b="1" sz="1200">
                <a:solidFill>
                  <a:srgbClr val="D4A017"/>
                </a:solidFill>
                <a:latin typeface="Inter"/>
                <a:ea typeface="Inter"/>
                <a:cs typeface="Inter"/>
                <a:sym typeface="Inter"/>
              </a:endParaRPr>
            </a:p>
          </p:txBody>
        </p:sp>
        <p:grpSp>
          <p:nvGrpSpPr>
            <p:cNvPr id="804" name="Google Shape;804;p37"/>
            <p:cNvGrpSpPr/>
            <p:nvPr/>
          </p:nvGrpSpPr>
          <p:grpSpPr>
            <a:xfrm>
              <a:off x="285750" y="619125"/>
              <a:ext cx="4572000" cy="714300"/>
              <a:chOff x="0" y="0"/>
              <a:chExt cx="4572000" cy="714300"/>
            </a:xfrm>
          </p:grpSpPr>
          <p:sp>
            <p:nvSpPr>
              <p:cNvPr id="805" name="Google Shape;805;p37"/>
              <p:cNvSpPr/>
              <p:nvPr/>
            </p:nvSpPr>
            <p:spPr>
              <a:xfrm>
                <a:off x="0" y="0"/>
                <a:ext cx="4572000" cy="714300"/>
              </a:xfrm>
              <a:prstGeom prst="roundRect">
                <a:avLst>
                  <a:gd fmla="val 10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6" name="Google Shape;806;p37"/>
              <p:cNvSpPr/>
              <p:nvPr/>
            </p:nvSpPr>
            <p:spPr>
              <a:xfrm>
                <a:off x="0" y="0"/>
                <a:ext cx="47700" cy="7143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37"/>
              <p:cNvSpPr/>
              <p:nvPr/>
            </p:nvSpPr>
            <p:spPr>
              <a:xfrm>
                <a:off x="152400" y="223838"/>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8" name="Google Shape;808;p37"/>
              <p:cNvSpPr txBox="1"/>
              <p:nvPr/>
            </p:nvSpPr>
            <p:spPr>
              <a:xfrm>
                <a:off x="152400" y="261938"/>
                <a:ext cx="266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50">
                    <a:solidFill>
                      <a:srgbClr val="FFFFFF"/>
                    </a:solidFill>
                    <a:latin typeface="Inter"/>
                    <a:ea typeface="Inter"/>
                    <a:cs typeface="Inter"/>
                    <a:sym typeface="Inter"/>
                  </a:rPr>
                  <a:t>1</a:t>
                </a:r>
                <a:endParaRPr b="1" sz="1050">
                  <a:solidFill>
                    <a:srgbClr val="FFFFFF"/>
                  </a:solidFill>
                  <a:latin typeface="Inter"/>
                  <a:ea typeface="Inter"/>
                  <a:cs typeface="Inter"/>
                  <a:sym typeface="Inter"/>
                </a:endParaRPr>
              </a:p>
            </p:txBody>
          </p:sp>
          <p:sp>
            <p:nvSpPr>
              <p:cNvPr id="809" name="Google Shape;809;p37"/>
              <p:cNvSpPr txBox="1"/>
              <p:nvPr/>
            </p:nvSpPr>
            <p:spPr>
              <a:xfrm>
                <a:off x="523875" y="95250"/>
                <a:ext cx="390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1F2937"/>
                    </a:solidFill>
                    <a:latin typeface="Inter SemiBold"/>
                    <a:ea typeface="Inter SemiBold"/>
                    <a:cs typeface="Inter SemiBold"/>
                    <a:sym typeface="Inter SemiBold"/>
                  </a:rPr>
                  <a:t>Code Implementation</a:t>
                </a:r>
                <a:endParaRPr b="0" sz="120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100">
                    <a:solidFill>
                      <a:srgbClr val="4B5563"/>
                    </a:solidFill>
                    <a:latin typeface="Inter"/>
                    <a:ea typeface="Inter"/>
                    <a:cs typeface="Inter"/>
                    <a:sym typeface="Inter"/>
                  </a:rPr>
                  <a:t>Write a clean script using the </a:t>
                </a:r>
                <a:r>
                  <a:rPr b="1" lang="en" sz="1000">
                    <a:solidFill>
                      <a:srgbClr val="045A36"/>
                    </a:solidFill>
                    <a:latin typeface="Courier"/>
                    <a:ea typeface="Courier"/>
                    <a:cs typeface="Courier"/>
                    <a:sym typeface="Courier"/>
                  </a:rPr>
                  <a:t>os</a:t>
                </a:r>
                <a:r>
                  <a:rPr b="0" lang="en" sz="1100">
                    <a:solidFill>
                      <a:srgbClr val="4B5563"/>
                    </a:solidFill>
                    <a:latin typeface="Inter"/>
                    <a:ea typeface="Inter"/>
                    <a:cs typeface="Inter"/>
                    <a:sym typeface="Inter"/>
                  </a:rPr>
                  <a:t> module for automation.</a:t>
                </a:r>
                <a:endParaRPr b="0" sz="1100">
                  <a:solidFill>
                    <a:srgbClr val="4B5563"/>
                  </a:solidFill>
                  <a:latin typeface="Inter"/>
                  <a:ea typeface="Inter"/>
                  <a:cs typeface="Inter"/>
                  <a:sym typeface="Inter"/>
                </a:endParaRPr>
              </a:p>
            </p:txBody>
          </p:sp>
        </p:grpSp>
        <p:grpSp>
          <p:nvGrpSpPr>
            <p:cNvPr id="810" name="Google Shape;810;p37"/>
            <p:cNvGrpSpPr/>
            <p:nvPr/>
          </p:nvGrpSpPr>
          <p:grpSpPr>
            <a:xfrm>
              <a:off x="285750" y="1476375"/>
              <a:ext cx="4572000" cy="714300"/>
              <a:chOff x="0" y="0"/>
              <a:chExt cx="4572000" cy="714300"/>
            </a:xfrm>
          </p:grpSpPr>
          <p:sp>
            <p:nvSpPr>
              <p:cNvPr id="811" name="Google Shape;811;p37"/>
              <p:cNvSpPr/>
              <p:nvPr/>
            </p:nvSpPr>
            <p:spPr>
              <a:xfrm>
                <a:off x="0" y="0"/>
                <a:ext cx="4572000" cy="714300"/>
              </a:xfrm>
              <a:prstGeom prst="roundRect">
                <a:avLst>
                  <a:gd fmla="val 10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37"/>
              <p:cNvSpPr/>
              <p:nvPr/>
            </p:nvSpPr>
            <p:spPr>
              <a:xfrm>
                <a:off x="0" y="0"/>
                <a:ext cx="47700" cy="7143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37"/>
              <p:cNvSpPr/>
              <p:nvPr/>
            </p:nvSpPr>
            <p:spPr>
              <a:xfrm>
                <a:off x="152400" y="223838"/>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4" name="Google Shape;814;p37"/>
              <p:cNvSpPr txBox="1"/>
              <p:nvPr/>
            </p:nvSpPr>
            <p:spPr>
              <a:xfrm>
                <a:off x="152400" y="261938"/>
                <a:ext cx="266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50">
                    <a:solidFill>
                      <a:srgbClr val="FFFFFF"/>
                    </a:solidFill>
                    <a:latin typeface="Inter"/>
                    <a:ea typeface="Inter"/>
                    <a:cs typeface="Inter"/>
                    <a:sym typeface="Inter"/>
                  </a:rPr>
                  <a:t>2</a:t>
                </a:r>
                <a:endParaRPr b="1" sz="1050">
                  <a:solidFill>
                    <a:srgbClr val="FFFFFF"/>
                  </a:solidFill>
                  <a:latin typeface="Inter"/>
                  <a:ea typeface="Inter"/>
                  <a:cs typeface="Inter"/>
                  <a:sym typeface="Inter"/>
                </a:endParaRPr>
              </a:p>
            </p:txBody>
          </p:sp>
          <p:sp>
            <p:nvSpPr>
              <p:cNvPr id="815" name="Google Shape;815;p37"/>
              <p:cNvSpPr txBox="1"/>
              <p:nvPr/>
            </p:nvSpPr>
            <p:spPr>
              <a:xfrm>
                <a:off x="523875" y="95250"/>
                <a:ext cx="390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1F2937"/>
                    </a:solidFill>
                    <a:latin typeface="Inter SemiBold"/>
                    <a:ea typeface="Inter SemiBold"/>
                    <a:cs typeface="Inter SemiBold"/>
                    <a:sym typeface="Inter SemiBold"/>
                  </a:rPr>
                  <a:t>Script Execution</a:t>
                </a:r>
                <a:endParaRPr b="0" sz="111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018">
                    <a:solidFill>
                      <a:srgbClr val="4B5563"/>
                    </a:solidFill>
                    <a:latin typeface="Inter"/>
                    <a:ea typeface="Inter"/>
                    <a:cs typeface="Inter"/>
                    <a:sym typeface="Inter"/>
                  </a:rPr>
                  <a:t>Compile and run the Python routine to automate directories.</a:t>
                </a:r>
                <a:endParaRPr b="0" sz="1018">
                  <a:solidFill>
                    <a:srgbClr val="4B5563"/>
                  </a:solidFill>
                  <a:latin typeface="Inter"/>
                  <a:ea typeface="Inter"/>
                  <a:cs typeface="Inter"/>
                  <a:sym typeface="Inter"/>
                </a:endParaRPr>
              </a:p>
            </p:txBody>
          </p:sp>
        </p:grpSp>
        <p:grpSp>
          <p:nvGrpSpPr>
            <p:cNvPr id="816" name="Google Shape;816;p37"/>
            <p:cNvGrpSpPr/>
            <p:nvPr/>
          </p:nvGrpSpPr>
          <p:grpSpPr>
            <a:xfrm>
              <a:off x="285750" y="2333625"/>
              <a:ext cx="4572000" cy="714300"/>
              <a:chOff x="0" y="0"/>
              <a:chExt cx="4572000" cy="714300"/>
            </a:xfrm>
          </p:grpSpPr>
          <p:sp>
            <p:nvSpPr>
              <p:cNvPr id="817" name="Google Shape;817;p37"/>
              <p:cNvSpPr/>
              <p:nvPr/>
            </p:nvSpPr>
            <p:spPr>
              <a:xfrm>
                <a:off x="0" y="0"/>
                <a:ext cx="4572000" cy="714300"/>
              </a:xfrm>
              <a:prstGeom prst="roundRect">
                <a:avLst>
                  <a:gd fmla="val 10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8" name="Google Shape;818;p37"/>
              <p:cNvSpPr/>
              <p:nvPr/>
            </p:nvSpPr>
            <p:spPr>
              <a:xfrm>
                <a:off x="0" y="0"/>
                <a:ext cx="47700" cy="7143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9" name="Google Shape;819;p37"/>
              <p:cNvSpPr/>
              <p:nvPr/>
            </p:nvSpPr>
            <p:spPr>
              <a:xfrm>
                <a:off x="152400" y="223838"/>
                <a:ext cx="266700" cy="2667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0" name="Google Shape;820;p37"/>
              <p:cNvSpPr txBox="1"/>
              <p:nvPr/>
            </p:nvSpPr>
            <p:spPr>
              <a:xfrm>
                <a:off x="152400" y="261938"/>
                <a:ext cx="266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50">
                    <a:solidFill>
                      <a:srgbClr val="FFFFFF"/>
                    </a:solidFill>
                    <a:latin typeface="Inter"/>
                    <a:ea typeface="Inter"/>
                    <a:cs typeface="Inter"/>
                    <a:sym typeface="Inter"/>
                  </a:rPr>
                  <a:t>3</a:t>
                </a:r>
                <a:endParaRPr b="1" sz="1050">
                  <a:solidFill>
                    <a:srgbClr val="FFFFFF"/>
                  </a:solidFill>
                  <a:latin typeface="Inter"/>
                  <a:ea typeface="Inter"/>
                  <a:cs typeface="Inter"/>
                  <a:sym typeface="Inter"/>
                </a:endParaRPr>
              </a:p>
            </p:txBody>
          </p:sp>
          <p:sp>
            <p:nvSpPr>
              <p:cNvPr id="821" name="Google Shape;821;p37"/>
              <p:cNvSpPr txBox="1"/>
              <p:nvPr/>
            </p:nvSpPr>
            <p:spPr>
              <a:xfrm>
                <a:off x="523875" y="95250"/>
                <a:ext cx="390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10">
                    <a:solidFill>
                      <a:srgbClr val="1F2937"/>
                    </a:solidFill>
                    <a:latin typeface="Inter SemiBold"/>
                    <a:ea typeface="Inter SemiBold"/>
                    <a:cs typeface="Inter SemiBold"/>
                    <a:sym typeface="Inter SemiBold"/>
                  </a:rPr>
                  <a:t>File System Verification</a:t>
                </a:r>
                <a:endParaRPr b="0" sz="1110">
                  <a:solidFill>
                    <a:srgbClr val="1F2937"/>
                  </a:solidFill>
                  <a:latin typeface="Inter SemiBold"/>
                  <a:ea typeface="Inter SemiBold"/>
                  <a:cs typeface="Inter SemiBold"/>
                  <a:sym typeface="Inter SemiBold"/>
                </a:endParaRPr>
              </a:p>
              <a:p>
                <a:pPr indent="0" lvl="0" marL="0" rtl="0" algn="l">
                  <a:spcBef>
                    <a:spcPts val="150"/>
                  </a:spcBef>
                  <a:spcAft>
                    <a:spcPts val="0"/>
                  </a:spcAft>
                  <a:buNone/>
                </a:pPr>
                <a:r>
                  <a:rPr b="0" lang="en" sz="1018">
                    <a:solidFill>
                      <a:srgbClr val="4B5563"/>
                    </a:solidFill>
                    <a:latin typeface="Inter"/>
                    <a:ea typeface="Inter"/>
                    <a:cs typeface="Inter"/>
                    <a:sym typeface="Inter"/>
                  </a:rPr>
                  <a:t>Observe folder changes programmatically or check your file explorer.</a:t>
                </a:r>
                <a:endParaRPr b="0" sz="1018">
                  <a:solidFill>
                    <a:srgbClr val="4B5563"/>
                  </a:solidFill>
                  <a:latin typeface="Inter"/>
                  <a:ea typeface="Inter"/>
                  <a:cs typeface="Inter"/>
                  <a:sym typeface="Inter"/>
                </a:endParaRPr>
              </a:p>
            </p:txBody>
          </p:sp>
        </p:grpSp>
        <p:grpSp>
          <p:nvGrpSpPr>
            <p:cNvPr id="822" name="Google Shape;822;p37"/>
            <p:cNvGrpSpPr/>
            <p:nvPr/>
          </p:nvGrpSpPr>
          <p:grpSpPr>
            <a:xfrm>
              <a:off x="285750" y="3190875"/>
              <a:ext cx="4572000" cy="523800"/>
              <a:chOff x="0" y="0"/>
              <a:chExt cx="4572000" cy="523800"/>
            </a:xfrm>
          </p:grpSpPr>
          <p:sp>
            <p:nvSpPr>
              <p:cNvPr id="823" name="Google Shape;823;p37"/>
              <p:cNvSpPr/>
              <p:nvPr/>
            </p:nvSpPr>
            <p:spPr>
              <a:xfrm>
                <a:off x="0" y="0"/>
                <a:ext cx="4572000" cy="523800"/>
              </a:xfrm>
              <a:prstGeom prst="roundRect">
                <a:avLst>
                  <a:gd fmla="val 10909"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37"/>
              <p:cNvSpPr/>
              <p:nvPr/>
            </p:nvSpPr>
            <p:spPr>
              <a:xfrm>
                <a:off x="0" y="0"/>
                <a:ext cx="38100" cy="523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5" name="Google Shape;825;p37"/>
              <p:cNvSpPr txBox="1"/>
              <p:nvPr/>
            </p:nvSpPr>
            <p:spPr>
              <a:xfrm>
                <a:off x="190500" y="47625"/>
                <a:ext cx="42387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45A36"/>
                    </a:solidFill>
                    <a:latin typeface="Inter"/>
                    <a:ea typeface="Inter"/>
                    <a:cs typeface="Inter"/>
                    <a:sym typeface="Inter"/>
                  </a:rPr>
                  <a:t>★ Active Verification Note</a:t>
                </a:r>
                <a:endParaRPr b="1" sz="1100">
                  <a:solidFill>
                    <a:srgbClr val="045A36"/>
                  </a:solidFill>
                  <a:latin typeface="Inter"/>
                  <a:ea typeface="Inter"/>
                  <a:cs typeface="Inter"/>
                  <a:sym typeface="Inter"/>
                </a:endParaRPr>
              </a:p>
              <a:p>
                <a:pPr indent="0" lvl="0" marL="0" rtl="0" algn="l">
                  <a:spcBef>
                    <a:spcPts val="75"/>
                  </a:spcBef>
                  <a:spcAft>
                    <a:spcPts val="0"/>
                  </a:spcAft>
                  <a:buNone/>
                </a:pPr>
                <a:r>
                  <a:rPr i="1" lang="en" sz="1000">
                    <a:solidFill>
                      <a:srgbClr val="374151"/>
                    </a:solidFill>
                    <a:latin typeface="Inter"/>
                    <a:ea typeface="Inter"/>
                    <a:cs typeface="Inter"/>
                    <a:sym typeface="Inter"/>
                  </a:rPr>
                  <a:t>Verify your script works by checking your file explorer after running it.</a:t>
                </a:r>
                <a:endParaRPr i="1" sz="1000">
                  <a:solidFill>
                    <a:srgbClr val="374151"/>
                  </a:solidFill>
                  <a:latin typeface="Inter"/>
                  <a:ea typeface="Inter"/>
                  <a:cs typeface="Inter"/>
                  <a:sym typeface="Inter"/>
                </a:endParaRPr>
              </a:p>
            </p:txBody>
          </p:sp>
        </p:grpSp>
      </p:grpSp>
      <p:sp>
        <p:nvSpPr>
          <p:cNvPr id="826" name="Google Shape;826;p37"/>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Python os Module for Automation</a:t>
            </a:r>
            <a:endParaRPr b="0" sz="1000">
              <a:solidFill>
                <a:srgbClr val="6B7280"/>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3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2" name="Google Shape;832;p3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3" name="Google Shape;833;p3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4" name="Google Shape;834;p3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Questions, Discussion &amp; Next Steps</a:t>
            </a:r>
            <a:endParaRPr b="0" sz="2700">
              <a:solidFill>
                <a:srgbClr val="045A36"/>
              </a:solidFill>
              <a:latin typeface="Montserrat SemiBold"/>
              <a:ea typeface="Montserrat SemiBold"/>
              <a:cs typeface="Montserrat SemiBold"/>
              <a:sym typeface="Montserrat SemiBold"/>
            </a:endParaRPr>
          </a:p>
        </p:txBody>
      </p:sp>
      <p:sp>
        <p:nvSpPr>
          <p:cNvPr id="835" name="Google Shape;835;p38"/>
          <p:cNvSpPr txBox="1"/>
          <p:nvPr/>
        </p:nvSpPr>
        <p:spPr>
          <a:xfrm>
            <a:off x="762000" y="128587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4B5563"/>
                </a:solidFill>
                <a:latin typeface="Inter SemiBold"/>
                <a:ea typeface="Inter SemiBold"/>
                <a:cs typeface="Inter SemiBold"/>
                <a:sym typeface="Inter SemiBold"/>
              </a:rPr>
              <a:t>Reflecting on sensor persistence and preparing for active serial communication.</a:t>
            </a:r>
            <a:endParaRPr b="0" sz="1600">
              <a:solidFill>
                <a:srgbClr val="4B5563"/>
              </a:solidFill>
              <a:latin typeface="Inter SemiBold"/>
              <a:ea typeface="Inter SemiBold"/>
              <a:cs typeface="Inter SemiBold"/>
              <a:sym typeface="Inter SemiBold"/>
            </a:endParaRPr>
          </a:p>
        </p:txBody>
      </p:sp>
      <p:grpSp>
        <p:nvGrpSpPr>
          <p:cNvPr id="836" name="Google Shape;836;p38"/>
          <p:cNvGrpSpPr/>
          <p:nvPr/>
        </p:nvGrpSpPr>
        <p:grpSpPr>
          <a:xfrm>
            <a:off x="762000" y="1809750"/>
            <a:ext cx="5143500" cy="2952900"/>
            <a:chOff x="0" y="0"/>
            <a:chExt cx="5143500" cy="2952900"/>
          </a:xfrm>
        </p:grpSpPr>
        <p:sp>
          <p:nvSpPr>
            <p:cNvPr id="837" name="Google Shape;837;p38"/>
            <p:cNvSpPr/>
            <p:nvPr/>
          </p:nvSpPr>
          <p:spPr>
            <a:xfrm>
              <a:off x="0" y="0"/>
              <a:ext cx="51435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8" name="Google Shape;838;p38"/>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9" name="Google Shape;839;p38"/>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SENSOR DATA DISCUSSION</a:t>
              </a:r>
              <a:endParaRPr b="1" sz="1200">
                <a:solidFill>
                  <a:srgbClr val="D4A017"/>
                </a:solidFill>
                <a:latin typeface="Inter"/>
                <a:ea typeface="Inter"/>
                <a:cs typeface="Inter"/>
                <a:sym typeface="Inter"/>
              </a:endParaRPr>
            </a:p>
          </p:txBody>
        </p:sp>
        <p:sp>
          <p:nvSpPr>
            <p:cNvPr id="840" name="Google Shape;840;p38"/>
            <p:cNvSpPr txBox="1"/>
            <p:nvPr/>
          </p:nvSpPr>
          <p:spPr>
            <a:xfrm>
              <a:off x="238125" y="666750"/>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F2937"/>
                  </a:solidFill>
                  <a:latin typeface="Inter SemiBold"/>
                  <a:ea typeface="Inter SemiBold"/>
                  <a:cs typeface="Inter SemiBold"/>
                  <a:sym typeface="Inter SemiBold"/>
                </a:rPr>
                <a:t>Camera vs. Temperature Sensors</a:t>
              </a:r>
              <a:endParaRPr b="0" sz="1400">
                <a:solidFill>
                  <a:srgbClr val="1F2937"/>
                </a:solidFill>
                <a:latin typeface="Inter SemiBold"/>
                <a:ea typeface="Inter SemiBold"/>
                <a:cs typeface="Inter SemiBold"/>
                <a:sym typeface="Inter SemiBold"/>
              </a:endParaRPr>
            </a:p>
            <a:p>
              <a:pPr indent="0" lvl="0" marL="0" rtl="0" algn="l">
                <a:spcBef>
                  <a:spcPts val="600"/>
                </a:spcBef>
                <a:spcAft>
                  <a:spcPts val="0"/>
                </a:spcAft>
                <a:buNone/>
              </a:pPr>
              <a:r>
                <a:rPr b="0" lang="en" sz="1300">
                  <a:solidFill>
                    <a:srgbClr val="374151"/>
                  </a:solidFill>
                  <a:latin typeface="Inter"/>
                  <a:ea typeface="Inter"/>
                  <a:cs typeface="Inter"/>
                  <a:sym typeface="Inter"/>
                </a:rPr>
                <a:t>How might you use the </a:t>
              </a:r>
              <a:r>
                <a:rPr b="1" lang="en" sz="1300">
                  <a:solidFill>
                    <a:srgbClr val="045A36"/>
                  </a:solidFill>
                  <a:latin typeface="Courier"/>
                  <a:ea typeface="Courier"/>
                  <a:cs typeface="Courier"/>
                  <a:sym typeface="Courier"/>
                </a:rPr>
                <a:t>os</a:t>
              </a:r>
              <a:r>
                <a:rPr b="0" lang="en" sz="1300">
                  <a:solidFill>
                    <a:srgbClr val="374151"/>
                  </a:solidFill>
                  <a:latin typeface="Inter"/>
                  <a:ea typeface="Inter"/>
                  <a:cs typeface="Inter"/>
                  <a:sym typeface="Inter"/>
                </a:rPr>
                <a:t> module to manage data from a camera sensor vs. a simple temperature sensor?</a:t>
              </a:r>
              <a:endParaRPr b="0" sz="1300">
                <a:solidFill>
                  <a:srgbClr val="374151"/>
                </a:solidFill>
                <a:latin typeface="Inter"/>
                <a:ea typeface="Inter"/>
                <a:cs typeface="Inter"/>
                <a:sym typeface="Inter"/>
              </a:endParaRPr>
            </a:p>
            <a:p>
              <a:pPr indent="0" lvl="0" marL="0" rtl="0" algn="l">
                <a:spcBef>
                  <a:spcPts val="900"/>
                </a:spcBef>
                <a:spcAft>
                  <a:spcPts val="0"/>
                </a:spcAft>
                <a:buNone/>
              </a:pPr>
              <a:r>
                <a:rPr b="0" lang="en" sz="1300">
                  <a:solidFill>
                    <a:srgbClr val="045A36"/>
                  </a:solidFill>
                  <a:latin typeface="Inter SemiBold"/>
                  <a:ea typeface="Inter SemiBold"/>
                  <a:cs typeface="Inter SemiBold"/>
                  <a:sym typeface="Inter SemiBold"/>
                </a:rPr>
                <a:t>Key Considerations:</a:t>
              </a:r>
              <a:endParaRPr b="0" sz="1300">
                <a:solidFill>
                  <a:srgbClr val="045A36"/>
                </a:solidFill>
                <a:latin typeface="Inter SemiBold"/>
                <a:ea typeface="Inter SemiBold"/>
                <a:cs typeface="Inter SemiBold"/>
                <a:sym typeface="Inter SemiBold"/>
              </a:endParaRPr>
            </a:p>
            <a:p>
              <a:pPr indent="-304800" lvl="0" marL="457200" rtl="0" algn="l">
                <a:spcBef>
                  <a:spcPts val="450"/>
                </a:spcBef>
                <a:spcAft>
                  <a:spcPts val="0"/>
                </a:spcAft>
                <a:buClr>
                  <a:srgbClr val="374151"/>
                </a:buClr>
                <a:buSzPts val="1200"/>
                <a:buFont typeface="Inter"/>
                <a:buChar char="●"/>
              </a:pPr>
              <a:r>
                <a:rPr b="0" lang="en" sz="1200">
                  <a:solidFill>
                    <a:srgbClr val="1F2937"/>
                  </a:solidFill>
                  <a:latin typeface="Inter SemiBold"/>
                  <a:ea typeface="Inter SemiBold"/>
                  <a:cs typeface="Inter SemiBold"/>
                  <a:sym typeface="Inter SemiBold"/>
                </a:rPr>
                <a:t>Storage scaling:</a:t>
              </a:r>
              <a:r>
                <a:rPr lang="en" sz="1200">
                  <a:solidFill>
                    <a:srgbClr val="374151"/>
                  </a:solidFill>
                  <a:latin typeface="Inter"/>
                  <a:ea typeface="Inter"/>
                  <a:cs typeface="Inter"/>
                  <a:sym typeface="Inter"/>
                </a:rPr>
                <a:t> Directory structures, custom naming conventions, and file path manipulation.</a:t>
              </a:r>
              <a:endParaRPr sz="1200">
                <a:solidFill>
                  <a:srgbClr val="374151"/>
                </a:solidFill>
                <a:latin typeface="Inter"/>
                <a:ea typeface="Inter"/>
                <a:cs typeface="Inter"/>
                <a:sym typeface="Inter"/>
              </a:endParaRPr>
            </a:p>
            <a:p>
              <a:pPr indent="-304800" lvl="0" marL="457200" rtl="0" algn="l">
                <a:spcBef>
                  <a:spcPts val="450"/>
                </a:spcBef>
                <a:spcAft>
                  <a:spcPts val="0"/>
                </a:spcAft>
                <a:buClr>
                  <a:srgbClr val="374151"/>
                </a:buClr>
                <a:buSzPts val="1200"/>
                <a:buFont typeface="Inter"/>
                <a:buChar char="●"/>
              </a:pPr>
              <a:r>
                <a:rPr b="0" lang="en" sz="1200">
                  <a:solidFill>
                    <a:srgbClr val="1F2937"/>
                  </a:solidFill>
                  <a:latin typeface="Inter SemiBold"/>
                  <a:ea typeface="Inter SemiBold"/>
                  <a:cs typeface="Inter SemiBold"/>
                  <a:sym typeface="Inter SemiBold"/>
                </a:rPr>
                <a:t>Lifecycle:</a:t>
              </a:r>
              <a:r>
                <a:rPr lang="en" sz="1200">
                  <a:solidFill>
                    <a:srgbClr val="374151"/>
                  </a:solidFill>
                  <a:latin typeface="Inter"/>
                  <a:ea typeface="Inter"/>
                  <a:cs typeface="Inter"/>
                  <a:sym typeface="Inter"/>
                </a:rPr>
                <a:t> Managing automated cleaning of high-volume camera stream data vs. appending continuous temperature logs.</a:t>
              </a:r>
              <a:endParaRPr sz="1200">
                <a:solidFill>
                  <a:srgbClr val="374151"/>
                </a:solidFill>
                <a:latin typeface="Inter"/>
                <a:ea typeface="Inter"/>
                <a:cs typeface="Inter"/>
                <a:sym typeface="Inter"/>
              </a:endParaRPr>
            </a:p>
          </p:txBody>
        </p:sp>
      </p:grpSp>
      <p:grpSp>
        <p:nvGrpSpPr>
          <p:cNvPr id="841" name="Google Shape;841;p38"/>
          <p:cNvGrpSpPr/>
          <p:nvPr/>
        </p:nvGrpSpPr>
        <p:grpSpPr>
          <a:xfrm>
            <a:off x="6286500" y="1809750"/>
            <a:ext cx="5143500" cy="2952900"/>
            <a:chOff x="0" y="0"/>
            <a:chExt cx="5143500" cy="2952900"/>
          </a:xfrm>
        </p:grpSpPr>
        <p:sp>
          <p:nvSpPr>
            <p:cNvPr id="842" name="Google Shape;842;p38"/>
            <p:cNvSpPr/>
            <p:nvPr/>
          </p:nvSpPr>
          <p:spPr>
            <a:xfrm>
              <a:off x="0" y="0"/>
              <a:ext cx="51435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3" name="Google Shape;843;p38"/>
            <p:cNvSpPr/>
            <p:nvPr/>
          </p:nvSpPr>
          <p:spPr>
            <a:xfrm>
              <a:off x="0" y="0"/>
              <a:ext cx="5143500" cy="381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4" name="Google Shape;844;p38"/>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45A36"/>
                  </a:solidFill>
                  <a:latin typeface="Inter"/>
                  <a:ea typeface="Inter"/>
                  <a:cs typeface="Inter"/>
                  <a:sym typeface="Inter"/>
                </a:rPr>
                <a:t>UPCOMING TOPICS</a:t>
              </a:r>
              <a:endParaRPr b="1" sz="1200">
                <a:solidFill>
                  <a:srgbClr val="045A36"/>
                </a:solidFill>
                <a:latin typeface="Inter"/>
                <a:ea typeface="Inter"/>
                <a:cs typeface="Inter"/>
                <a:sym typeface="Inter"/>
              </a:endParaRPr>
            </a:p>
          </p:txBody>
        </p:sp>
        <p:sp>
          <p:nvSpPr>
            <p:cNvPr id="845" name="Google Shape;845;p38"/>
            <p:cNvSpPr txBox="1"/>
            <p:nvPr/>
          </p:nvSpPr>
          <p:spPr>
            <a:xfrm>
              <a:off x="238125" y="666750"/>
              <a:ext cx="46674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F2937"/>
                  </a:solidFill>
                  <a:latin typeface="Inter SemiBold"/>
                  <a:ea typeface="Inter SemiBold"/>
                  <a:cs typeface="Inter SemiBold"/>
                  <a:sym typeface="Inter SemiBold"/>
                </a:rPr>
                <a:t>Next Steps: Reading, Writing &amp; Serial</a:t>
              </a:r>
              <a:endParaRPr b="0" sz="1400">
                <a:solidFill>
                  <a:srgbClr val="1F2937"/>
                </a:solidFill>
                <a:latin typeface="Inter SemiBold"/>
                <a:ea typeface="Inter SemiBold"/>
                <a:cs typeface="Inter SemiBold"/>
                <a:sym typeface="Inter SemiBold"/>
              </a:endParaRPr>
            </a:p>
            <a:p>
              <a:pPr indent="0" lvl="0" marL="0" rtl="0" algn="l">
                <a:spcBef>
                  <a:spcPts val="600"/>
                </a:spcBef>
                <a:spcAft>
                  <a:spcPts val="0"/>
                </a:spcAft>
                <a:buNone/>
              </a:pPr>
              <a:r>
                <a:rPr b="0" lang="en" sz="1300">
                  <a:solidFill>
                    <a:srgbClr val="374151"/>
                  </a:solidFill>
                  <a:latin typeface="Inter"/>
                  <a:ea typeface="Inter"/>
                  <a:cs typeface="Inter"/>
                  <a:sym typeface="Inter"/>
                </a:rPr>
                <a:t>We will look at reading and writing data to the files we just learned how to create, leading directly into serial hardware communication.</a:t>
              </a:r>
              <a:endParaRPr b="0" sz="1300">
                <a:solidFill>
                  <a:srgbClr val="374151"/>
                </a:solidFill>
                <a:latin typeface="Inter"/>
                <a:ea typeface="Inter"/>
                <a:cs typeface="Inter"/>
                <a:sym typeface="Inter"/>
              </a:endParaRPr>
            </a:p>
            <a:p>
              <a:pPr indent="0" lvl="0" marL="0" rtl="0" algn="l">
                <a:spcBef>
                  <a:spcPts val="900"/>
                </a:spcBef>
                <a:spcAft>
                  <a:spcPts val="0"/>
                </a:spcAft>
                <a:buNone/>
              </a:pPr>
              <a:r>
                <a:rPr b="0" lang="en" sz="1300">
                  <a:solidFill>
                    <a:srgbClr val="045A36"/>
                  </a:solidFill>
                  <a:latin typeface="Inter SemiBold"/>
                  <a:ea typeface="Inter SemiBold"/>
                  <a:cs typeface="Inter SemiBold"/>
                  <a:sym typeface="Inter SemiBold"/>
                </a:rPr>
                <a:t>Topics Overview:</a:t>
              </a:r>
              <a:endParaRPr b="0" sz="1300">
                <a:solidFill>
                  <a:srgbClr val="045A36"/>
                </a:solidFill>
                <a:latin typeface="Inter SemiBold"/>
                <a:ea typeface="Inter SemiBold"/>
                <a:cs typeface="Inter SemiBold"/>
                <a:sym typeface="Inter SemiBold"/>
              </a:endParaRPr>
            </a:p>
            <a:p>
              <a:pPr indent="-304800" lvl="0" marL="457200" rtl="0" algn="l">
                <a:spcBef>
                  <a:spcPts val="450"/>
                </a:spcBef>
                <a:spcAft>
                  <a:spcPts val="0"/>
                </a:spcAft>
                <a:buClr>
                  <a:srgbClr val="374151"/>
                </a:buClr>
                <a:buSzPts val="1200"/>
                <a:buFont typeface="Inter"/>
                <a:buChar char="●"/>
              </a:pPr>
              <a:r>
                <a:rPr b="0" lang="en" sz="1200">
                  <a:solidFill>
                    <a:srgbClr val="1F2937"/>
                  </a:solidFill>
                  <a:latin typeface="Inter SemiBold"/>
                  <a:ea typeface="Inter SemiBold"/>
                  <a:cs typeface="Inter SemiBold"/>
                  <a:sym typeface="Inter SemiBold"/>
                </a:rPr>
                <a:t>Persistent Data Streams:</a:t>
              </a:r>
              <a:r>
                <a:rPr lang="en" sz="1200">
                  <a:solidFill>
                    <a:srgbClr val="374151"/>
                  </a:solidFill>
                  <a:latin typeface="Inter"/>
                  <a:ea typeface="Inter"/>
                  <a:cs typeface="Inter"/>
                  <a:sym typeface="Inter"/>
                </a:rPr>
                <a:t> Mastering clean reading/writing techniques to keep records intact.</a:t>
              </a:r>
              <a:endParaRPr sz="1200">
                <a:solidFill>
                  <a:srgbClr val="374151"/>
                </a:solidFill>
                <a:latin typeface="Inter"/>
                <a:ea typeface="Inter"/>
                <a:cs typeface="Inter"/>
                <a:sym typeface="Inter"/>
              </a:endParaRPr>
            </a:p>
            <a:p>
              <a:pPr indent="-304800" lvl="0" marL="457200" rtl="0" algn="l">
                <a:spcBef>
                  <a:spcPts val="450"/>
                </a:spcBef>
                <a:spcAft>
                  <a:spcPts val="0"/>
                </a:spcAft>
                <a:buClr>
                  <a:srgbClr val="374151"/>
                </a:buClr>
                <a:buSzPts val="1200"/>
                <a:buFont typeface="Inter"/>
                <a:buChar char="●"/>
              </a:pPr>
              <a:r>
                <a:rPr b="0" lang="en" sz="1200">
                  <a:solidFill>
                    <a:srgbClr val="1F2937"/>
                  </a:solidFill>
                  <a:latin typeface="Inter SemiBold"/>
                  <a:ea typeface="Inter SemiBold"/>
                  <a:cs typeface="Inter SemiBold"/>
                  <a:sym typeface="Inter SemiBold"/>
                </a:rPr>
                <a:t>Serial Communication:</a:t>
              </a:r>
              <a:r>
                <a:rPr lang="en" sz="1200">
                  <a:solidFill>
                    <a:srgbClr val="374151"/>
                  </a:solidFill>
                  <a:latin typeface="Inter"/>
                  <a:ea typeface="Inter"/>
                  <a:cs typeface="Inter"/>
                  <a:sym typeface="Inter"/>
                </a:rPr>
                <a:t> Introducing PySerial to interface directly with microcontrollers and physical sensors.</a:t>
              </a:r>
              <a:endParaRPr sz="1200">
                <a:solidFill>
                  <a:srgbClr val="374151"/>
                </a:solidFill>
                <a:latin typeface="Inter"/>
                <a:ea typeface="Inter"/>
                <a:cs typeface="Inter"/>
                <a:sym typeface="Inter"/>
              </a:endParaRPr>
            </a:p>
          </p:txBody>
        </p:sp>
      </p:grpSp>
      <p:grpSp>
        <p:nvGrpSpPr>
          <p:cNvPr id="846" name="Google Shape;846;p38"/>
          <p:cNvGrpSpPr/>
          <p:nvPr/>
        </p:nvGrpSpPr>
        <p:grpSpPr>
          <a:xfrm>
            <a:off x="762000" y="4953000"/>
            <a:ext cx="10668000" cy="904800"/>
            <a:chOff x="0" y="0"/>
            <a:chExt cx="10668000" cy="904800"/>
          </a:xfrm>
        </p:grpSpPr>
        <p:sp>
          <p:nvSpPr>
            <p:cNvPr id="847" name="Google Shape;847;p38"/>
            <p:cNvSpPr/>
            <p:nvPr/>
          </p:nvSpPr>
          <p:spPr>
            <a:xfrm>
              <a:off x="0" y="0"/>
              <a:ext cx="10668000" cy="904800"/>
            </a:xfrm>
            <a:prstGeom prst="roundRect">
              <a:avLst>
                <a:gd fmla="val 8421" name="adj"/>
              </a:avLst>
            </a:prstGeom>
            <a:solidFill>
              <a:srgbClr val="EAF2EE"/>
            </a:solidFill>
            <a:ln cap="flat" cmpd="sng" w="9525">
              <a:solidFill>
                <a:srgbClr val="C3DF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8" name="Google Shape;848;p38"/>
            <p:cNvSpPr/>
            <p:nvPr/>
          </p:nvSpPr>
          <p:spPr>
            <a:xfrm>
              <a:off x="0" y="0"/>
              <a:ext cx="57300" cy="9048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9" name="Google Shape;849;p38"/>
            <p:cNvSpPr txBox="1"/>
            <p:nvPr/>
          </p:nvSpPr>
          <p:spPr>
            <a:xfrm>
              <a:off x="285750" y="95250"/>
              <a:ext cx="100965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45A36"/>
                  </a:solidFill>
                  <a:latin typeface="Montserrat"/>
                  <a:ea typeface="Montserrat"/>
                  <a:cs typeface="Montserrat"/>
                  <a:sym typeface="Montserrat"/>
                </a:rPr>
                <a:t>Thank You.</a:t>
              </a:r>
              <a:endParaRPr b="1" sz="1800">
                <a:solidFill>
                  <a:srgbClr val="045A36"/>
                </a:solidFill>
                <a:latin typeface="Montserrat"/>
                <a:ea typeface="Montserrat"/>
                <a:cs typeface="Montserrat"/>
                <a:sym typeface="Montserrat"/>
              </a:endParaRPr>
            </a:p>
            <a:p>
              <a:pPr indent="0" lvl="0" marL="0" rtl="0" algn="l">
                <a:spcBef>
                  <a:spcPts val="300"/>
                </a:spcBef>
                <a:spcAft>
                  <a:spcPts val="0"/>
                </a:spcAft>
                <a:buNone/>
              </a:pPr>
              <a:r>
                <a:rPr b="0" lang="en" sz="1250">
                  <a:solidFill>
                    <a:srgbClr val="1F2937"/>
                  </a:solidFill>
                  <a:latin typeface="Inter Medium"/>
                  <a:ea typeface="Inter Medium"/>
                  <a:cs typeface="Inter Medium"/>
                  <a:sym typeface="Inter Medium"/>
                </a:rPr>
                <a:t>The classroom is now open for your questions, feedback, and discussion.</a:t>
              </a:r>
              <a:endParaRPr b="0" sz="1250">
                <a:solidFill>
                  <a:srgbClr val="1F2937"/>
                </a:solidFill>
                <a:latin typeface="Inter Medium"/>
                <a:ea typeface="Inter Medium"/>
                <a:cs typeface="Inter Medium"/>
                <a:sym typeface="Inter Medium"/>
              </a:endParaRPr>
            </a:p>
          </p:txBody>
        </p:sp>
      </p:grpSp>
      <p:sp>
        <p:nvSpPr>
          <p:cNvPr id="850" name="Google Shape;850;p38"/>
          <p:cNvSpPr txBox="1"/>
          <p:nvPr/>
        </p:nvSpPr>
        <p:spPr>
          <a:xfrm>
            <a:off x="762000" y="6134100"/>
            <a:ext cx="10668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Python Programming Course | File Handling in Python</a:t>
            </a:r>
            <a:endParaRPr b="0" sz="1000">
              <a:solidFill>
                <a:srgbClr val="6B7280"/>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