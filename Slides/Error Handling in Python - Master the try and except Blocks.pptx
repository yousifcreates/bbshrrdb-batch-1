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jpeg" ContentType="image/jpeg"/>
  <Override PartName="/ppt/media/image5.png" ContentType="image/png"/>
  <Override PartName="/ppt/media/image13.jpeg" ContentType="image/jpeg"/>
  <Override PartName="/ppt/media/image6.jpeg" ContentType="image/jpeg"/>
  <Override PartName="/ppt/media/image9.png" ContentType="image/png"/>
  <Override PartName="/ppt/media/image7.png" ContentType="image/png"/>
  <Override PartName="/ppt/media/image11.png" ContentType="image/png"/>
  <Override PartName="/ppt/media/image12.jpeg" ContentType="image/jpeg"/>
  <Override PartName="/ppt/media/image8.png" ContentType="image/png"/>
  <Override PartName="/ppt/media/image10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enerated (g3f0f42e4a2e_7_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B934208-73C2-4A6B-B47B-28D3AC628BA5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1F43C42-411B-4248-9CFE-13209C2A5396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2F40B7-EC10-4911-A849-121CF40587CF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C3EBB2E-DD23-40E9-ACD2-2965AEE556D8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2450B8E-F379-485A-895B-BC04D74D1F62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38DFE22-9B72-4772-8D66-3FEDA337414B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C9939FD0-E23E-48C4-8DFB-6EA7CB449775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D1582F31-242D-4017-A47B-4D5031E231CC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1A245DD-D3CC-437F-A918-24BB3487DF26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EB68A433-F2A7-4DC7-87A8-B771EFA9936B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57E3651-EC2C-49AD-8A31-A7062F2525F3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body"/>
          </p:nvPr>
        </p:nvSpPr>
        <p:spPr>
          <a:xfrm>
            <a:off x="415440" y="5640840"/>
            <a:ext cx="7998120" cy="80640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rmAutofit fontScale="6247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11296440" y="6217560"/>
            <a:ext cx="731160" cy="52452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BCD450A-3D65-4471-9675-9BDAF94CCF15}" type="slidenum">
              <a:rPr b="0" lang="en" sz="13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15440" y="1474920"/>
            <a:ext cx="11360520" cy="261756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b">
            <a:normAutofit fontScale="97570"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16000" spc="-1" strike="noStrike">
                <a:solidFill>
                  <a:schemeClr val="dk1"/>
                </a:solidFill>
                <a:latin typeface="Arial"/>
                <a:ea typeface="Arial"/>
              </a:rPr>
              <a:t>xx%</a:t>
            </a:r>
            <a:endParaRPr b="0" lang="en-US" sz="1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15440" y="4203000"/>
            <a:ext cx="11360520" cy="173412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t">
            <a:normAutofit fontScale="4373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2"/>
          </p:nvPr>
        </p:nvSpPr>
        <p:spPr>
          <a:xfrm>
            <a:off x="11296440" y="6217560"/>
            <a:ext cx="731160" cy="52452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2584818-08C9-40EB-AEEE-CF017B251130}" type="slidenum">
              <a:rPr b="0" lang="en" sz="13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Num" idx="3"/>
          </p:nvPr>
        </p:nvSpPr>
        <p:spPr>
          <a:xfrm>
            <a:off x="11296440" y="6217560"/>
            <a:ext cx="731160" cy="52452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279EB67-FF1E-41D7-B90D-5CBE8515F2EA}" type="slidenum">
              <a:rPr b="0" lang="en" sz="13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15440" y="992880"/>
            <a:ext cx="11360520" cy="273636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b">
            <a:normAutofit/>
          </a:bodyPr>
          <a:p>
            <a:pPr indent="0">
              <a:buNone/>
            </a:pPr>
            <a:r>
              <a:rPr b="0" lang="en-US" sz="69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69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69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69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6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ldNum" idx="4"/>
          </p:nvPr>
        </p:nvSpPr>
        <p:spPr>
          <a:xfrm>
            <a:off x="11296440" y="6217560"/>
            <a:ext cx="731160" cy="52452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EE78BB2-C128-4354-88D6-4EF549000158}" type="slidenum">
              <a:rPr b="0" lang="en" sz="13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15440" y="2867760"/>
            <a:ext cx="11360520" cy="112212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rmAutofit/>
          </a:bodyPr>
          <a:p>
            <a:pPr indent="0">
              <a:buNone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title text format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ldNum" idx="5"/>
          </p:nvPr>
        </p:nvSpPr>
        <p:spPr>
          <a:xfrm>
            <a:off x="11296440" y="6217560"/>
            <a:ext cx="731160" cy="52452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54B6320-6AA3-4BA7-BBC1-CA73AA45ECF7}" type="slidenum">
              <a:rPr b="0" lang="en" sz="13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520" cy="76320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t">
            <a:normAutofit fontScale="93263"/>
          </a:bodyPr>
          <a:p>
            <a:pPr indent="0">
              <a:buNone/>
            </a:pPr>
            <a:r>
              <a:rPr b="0" lang="en-US" sz="3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15440" y="1536480"/>
            <a:ext cx="11360520" cy="455472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sldNum" idx="6"/>
          </p:nvPr>
        </p:nvSpPr>
        <p:spPr>
          <a:xfrm>
            <a:off x="11296440" y="6217560"/>
            <a:ext cx="731160" cy="52452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A82103F-12F3-40C2-BE57-1814BE057BA0}" type="slidenum">
              <a:rPr b="0" lang="en" sz="13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520" cy="76320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t">
            <a:normAutofit fontScale="93263"/>
          </a:bodyPr>
          <a:p>
            <a:pPr indent="0">
              <a:buNone/>
            </a:pPr>
            <a:r>
              <a:rPr b="0" lang="en-US" sz="3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15440" y="1536480"/>
            <a:ext cx="5332680" cy="455472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9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9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443280" y="1536480"/>
            <a:ext cx="5332680" cy="455472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9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9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9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7"/>
          </p:nvPr>
        </p:nvSpPr>
        <p:spPr>
          <a:xfrm>
            <a:off x="11296440" y="6217560"/>
            <a:ext cx="731160" cy="52452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B7100AC-D411-48B4-B406-2313BAD7BB74}" type="slidenum">
              <a:rPr b="0" lang="en" sz="13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15440" y="593280"/>
            <a:ext cx="11360520" cy="76320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t">
            <a:normAutofit fontScale="93263"/>
          </a:bodyPr>
          <a:p>
            <a:pPr indent="0">
              <a:buNone/>
            </a:pPr>
            <a:r>
              <a:rPr b="0" lang="en-US" sz="37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8"/>
          </p:nvPr>
        </p:nvSpPr>
        <p:spPr>
          <a:xfrm>
            <a:off x="11296440" y="6217560"/>
            <a:ext cx="731160" cy="52452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260B2C0-62E8-4909-B160-FA9116EEF9E8}" type="slidenum">
              <a:rPr b="0" lang="en" sz="13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15440" y="740880"/>
            <a:ext cx="3743640" cy="100728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b">
            <a:normAutofit fontScale="87491" lnSpcReduction="10000"/>
          </a:bodyPr>
          <a:p>
            <a:pPr indent="0"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15440" y="1852920"/>
            <a:ext cx="3743640" cy="423900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t">
            <a:normAutofit fontScale="97576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sldNum" idx="9"/>
          </p:nvPr>
        </p:nvSpPr>
        <p:spPr>
          <a:xfrm>
            <a:off x="11296440" y="6217560"/>
            <a:ext cx="731160" cy="52452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FA967D8-4624-4621-A061-1C56F321277C}" type="slidenum">
              <a:rPr b="0" lang="en" sz="13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53760" y="600120"/>
            <a:ext cx="8489880" cy="545400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rmAutofit/>
          </a:bodyPr>
          <a:p>
            <a:pPr indent="0">
              <a:buNone/>
            </a:pPr>
            <a:r>
              <a:rPr b="0" lang="en-US" sz="6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6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10"/>
          </p:nvPr>
        </p:nvSpPr>
        <p:spPr>
          <a:xfrm>
            <a:off x="11296440" y="6217560"/>
            <a:ext cx="731160" cy="52452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6414BD3-3365-4EB7-BD55-7C3779D9106E}" type="slidenum">
              <a:rPr b="0" lang="en" sz="13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7;p10"/>
          <p:cNvSpPr/>
          <p:nvPr/>
        </p:nvSpPr>
        <p:spPr>
          <a:xfrm>
            <a:off x="6095880" y="0"/>
            <a:ext cx="6095520" cy="68576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122040" bIns="1220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53880" y="1644120"/>
            <a:ext cx="5393160" cy="197604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b">
            <a:normAutofit/>
          </a:bodyPr>
          <a:p>
            <a:pPr indent="0">
              <a:buNone/>
            </a:pPr>
            <a:r>
              <a:rPr b="0" lang="en-US" sz="5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585840" y="965520"/>
            <a:ext cx="5115600" cy="492660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11"/>
          </p:nvPr>
        </p:nvSpPr>
        <p:spPr>
          <a:xfrm>
            <a:off x="11296440" y="6217560"/>
            <a:ext cx="731160" cy="524520"/>
          </a:xfrm>
          <a:prstGeom prst="rect">
            <a:avLst/>
          </a:prstGeom>
          <a:noFill/>
          <a:ln w="0">
            <a:noFill/>
          </a:ln>
        </p:spPr>
        <p:txBody>
          <a:bodyPr lIns="122040" rIns="122040" tIns="122040" bIns="1220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EC1FF26-0858-4D2B-AE1A-2D527A466A76}" type="slidenum">
              <a:rPr b="0" lang="en" sz="13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55;p14"/>
          <p:cNvSpPr/>
          <p:nvPr/>
        </p:nvSpPr>
        <p:spPr>
          <a:xfrm>
            <a:off x="0" y="0"/>
            <a:ext cx="12191760" cy="56880"/>
          </a:xfrm>
          <a:prstGeom prst="rect">
            <a:avLst/>
          </a:prstGeom>
          <a:solidFill>
            <a:srgbClr val="045a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9" name="Google Shape;56;p14" descr=""/>
          <p:cNvPicPr/>
          <p:nvPr/>
        </p:nvPicPr>
        <p:blipFill>
          <a:blip r:embed="rId2"/>
          <a:stretch/>
        </p:blipFill>
        <p:spPr>
          <a:xfrm>
            <a:off x="762120" y="571680"/>
            <a:ext cx="2533320" cy="857520"/>
          </a:xfrm>
          <a:prstGeom prst="rect">
            <a:avLst/>
          </a:prstGeom>
          <a:ln w="0">
            <a:noFill/>
          </a:ln>
        </p:spPr>
      </p:pic>
      <p:pic>
        <p:nvPicPr>
          <p:cNvPr id="40" name="Google Shape;57;p14" descr=""/>
          <p:cNvPicPr/>
          <p:nvPr/>
        </p:nvPicPr>
        <p:blipFill>
          <a:blip r:embed="rId3"/>
          <a:srcRect l="0" t="5323" r="0" b="-5323"/>
          <a:stretch/>
        </p:blipFill>
        <p:spPr>
          <a:xfrm>
            <a:off x="10144080" y="428760"/>
            <a:ext cx="1142640" cy="1278720"/>
          </a:xfrm>
          <a:prstGeom prst="rect">
            <a:avLst/>
          </a:prstGeom>
          <a:ln w="0">
            <a:noFill/>
          </a:ln>
        </p:spPr>
      </p:pic>
      <p:grpSp>
        <p:nvGrpSpPr>
          <p:cNvPr id="41" name="Google Shape;58;p14"/>
          <p:cNvGrpSpPr/>
          <p:nvPr/>
        </p:nvGrpSpPr>
        <p:grpSpPr>
          <a:xfrm>
            <a:off x="762120" y="1714680"/>
            <a:ext cx="10667520" cy="380520"/>
            <a:chOff x="762120" y="1714680"/>
            <a:chExt cx="10667520" cy="380520"/>
          </a:xfrm>
        </p:grpSpPr>
        <p:sp>
          <p:nvSpPr>
            <p:cNvPr id="42" name="Google Shape;59;p14"/>
            <p:cNvSpPr/>
            <p:nvPr/>
          </p:nvSpPr>
          <p:spPr>
            <a:xfrm>
              <a:off x="762120" y="1714680"/>
              <a:ext cx="10667520" cy="38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3" name="Google Shape;60;p14"/>
            <p:cNvSpPr/>
            <p:nvPr/>
          </p:nvSpPr>
          <p:spPr>
            <a:xfrm>
              <a:off x="762120" y="1714680"/>
              <a:ext cx="10667520" cy="38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200" spc="-1" strike="noStrike">
                  <a:solidFill>
                    <a:srgbClr val="d4a017"/>
                  </a:solidFill>
                  <a:latin typeface="Inter"/>
                  <a:ea typeface="Inter"/>
                </a:rPr>
                <a:t>PYTHON PROGRAMMING COURSE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4" name="Google Shape;61;p14"/>
          <p:cNvGrpSpPr/>
          <p:nvPr/>
        </p:nvGrpSpPr>
        <p:grpSpPr>
          <a:xfrm>
            <a:off x="762120" y="2143080"/>
            <a:ext cx="10667520" cy="1142640"/>
            <a:chOff x="762120" y="2143080"/>
            <a:chExt cx="10667520" cy="1142640"/>
          </a:xfrm>
        </p:grpSpPr>
        <p:sp>
          <p:nvSpPr>
            <p:cNvPr id="45" name="Google Shape;62;p14"/>
            <p:cNvSpPr/>
            <p:nvPr/>
          </p:nvSpPr>
          <p:spPr>
            <a:xfrm>
              <a:off x="762120" y="2143080"/>
              <a:ext cx="10667520" cy="1142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6" name="Google Shape;63;p14"/>
            <p:cNvSpPr/>
            <p:nvPr/>
          </p:nvSpPr>
          <p:spPr>
            <a:xfrm>
              <a:off x="762120" y="2143080"/>
              <a:ext cx="10667520" cy="1142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3400" spc="-1" strike="noStrike">
                  <a:solidFill>
                    <a:srgbClr val="045a36"/>
                  </a:solidFill>
                  <a:latin typeface="Montserrat"/>
                  <a:ea typeface="Montserrat"/>
                </a:rPr>
                <a:t>Error Handling in Python</a:t>
              </a:r>
              <a:endParaRPr b="0" lang="en-US" sz="3400" spc="-1" strike="noStrike">
                <a:solidFill>
                  <a:srgbClr val="000000"/>
                </a:solidFill>
                <a:latin typeface="Arial"/>
              </a:endParaRPr>
            </a:p>
            <a:p>
              <a:pPr algn="ctr">
                <a:lnSpc>
                  <a:spcPct val="100000"/>
                </a:lnSpc>
                <a:spcBef>
                  <a:spcPts val="374"/>
                </a:spcBef>
                <a:tabLst>
                  <a:tab algn="l" pos="0"/>
                </a:tabLst>
              </a:pPr>
              <a:r>
                <a:rPr b="0" lang="en" sz="2600" spc="-1" strike="noStrike">
                  <a:solidFill>
                    <a:srgbClr val="d4a017"/>
                  </a:solidFill>
                  <a:latin typeface="Montserrat SemiBold"/>
                  <a:ea typeface="Montserrat SemiBold"/>
                </a:rPr>
                <a:t>Master the try and except Blocks</a:t>
              </a:r>
              <a:endParaRPr b="0" lang="en-US" sz="26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7" name="Google Shape;64;p14"/>
          <p:cNvSpPr/>
          <p:nvPr/>
        </p:nvSpPr>
        <p:spPr>
          <a:xfrm>
            <a:off x="5381640" y="3476520"/>
            <a:ext cx="1428480" cy="37800"/>
          </a:xfrm>
          <a:prstGeom prst="roundRect">
            <a:avLst>
              <a:gd name="adj" fmla="val 50000"/>
            </a:avLst>
          </a:prstGeom>
          <a:solidFill>
            <a:srgbClr val="d4a01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8" name="Google Shape;65;p14"/>
          <p:cNvGrpSpPr/>
          <p:nvPr/>
        </p:nvGrpSpPr>
        <p:grpSpPr>
          <a:xfrm>
            <a:off x="762120" y="3809880"/>
            <a:ext cx="10667520" cy="761760"/>
            <a:chOff x="762120" y="3809880"/>
            <a:chExt cx="10667520" cy="761760"/>
          </a:xfrm>
        </p:grpSpPr>
        <p:sp>
          <p:nvSpPr>
            <p:cNvPr id="49" name="Google Shape;66;p14"/>
            <p:cNvSpPr/>
            <p:nvPr/>
          </p:nvSpPr>
          <p:spPr>
            <a:xfrm>
              <a:off x="762120" y="3809880"/>
              <a:ext cx="10667520" cy="761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0" name="Google Shape;67;p14"/>
            <p:cNvSpPr/>
            <p:nvPr/>
          </p:nvSpPr>
          <p:spPr>
            <a:xfrm>
              <a:off x="762120" y="3809880"/>
              <a:ext cx="10667520" cy="761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600" spc="-1" strike="noStrike">
                  <a:solidFill>
                    <a:srgbClr val="4b5563"/>
                  </a:solidFill>
                  <a:latin typeface="Inter SemiBold"/>
                  <a:ea typeface="Inter SemiBold"/>
                </a:rPr>
                <a:t>BBSHRRDB, PMU – ORIC, University of Sindh, Jamshoro, Pakistan.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1" name="Google Shape;68;p14"/>
          <p:cNvGrpSpPr/>
          <p:nvPr/>
        </p:nvGrpSpPr>
        <p:grpSpPr>
          <a:xfrm>
            <a:off x="762120" y="5829480"/>
            <a:ext cx="3105000" cy="523440"/>
            <a:chOff x="762120" y="5829480"/>
            <a:chExt cx="3105000" cy="523440"/>
          </a:xfrm>
        </p:grpSpPr>
        <p:sp>
          <p:nvSpPr>
            <p:cNvPr id="52" name="Google Shape;69;p14"/>
            <p:cNvSpPr/>
            <p:nvPr/>
          </p:nvSpPr>
          <p:spPr>
            <a:xfrm>
              <a:off x="762120" y="5829480"/>
              <a:ext cx="3105000" cy="190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000" spc="-1" strike="noStrike">
                  <a:solidFill>
                    <a:srgbClr val="9ca3af"/>
                  </a:solidFill>
                  <a:latin typeface="Inter"/>
                  <a:ea typeface="Inter"/>
                </a:rPr>
                <a:t>Presented By: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" name="Google Shape;70;p14"/>
            <p:cNvSpPr/>
            <p:nvPr/>
          </p:nvSpPr>
          <p:spPr>
            <a:xfrm>
              <a:off x="762120" y="6019920"/>
              <a:ext cx="3105000" cy="33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500" spc="-1" strike="noStrike">
                  <a:solidFill>
                    <a:srgbClr val="1f2937"/>
                  </a:solidFill>
                  <a:latin typeface="Inter SemiBold"/>
                  <a:ea typeface="Inter SemiBold"/>
                </a:rPr>
                <a:t>Mr. Muhammad Yousif Memon</a:t>
              </a:r>
              <a:endParaRPr b="0" lang="en-US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4" name="Google Shape;71;p14"/>
          <p:cNvGrpSpPr/>
          <p:nvPr/>
        </p:nvGrpSpPr>
        <p:grpSpPr>
          <a:xfrm>
            <a:off x="8381880" y="5829480"/>
            <a:ext cx="3047760" cy="523440"/>
            <a:chOff x="8381880" y="5829480"/>
            <a:chExt cx="3047760" cy="523440"/>
          </a:xfrm>
        </p:grpSpPr>
        <p:sp>
          <p:nvSpPr>
            <p:cNvPr id="55" name="Google Shape;72;p14"/>
            <p:cNvSpPr/>
            <p:nvPr/>
          </p:nvSpPr>
          <p:spPr>
            <a:xfrm>
              <a:off x="8381880" y="5829480"/>
              <a:ext cx="3047760" cy="190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000" spc="-1" strike="noStrike">
                  <a:solidFill>
                    <a:srgbClr val="9ca3af"/>
                  </a:solidFill>
                  <a:latin typeface="Inter"/>
                  <a:ea typeface="Inter"/>
                </a:rPr>
                <a:t>TOPIC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" name="Google Shape;73;p14"/>
            <p:cNvSpPr/>
            <p:nvPr/>
          </p:nvSpPr>
          <p:spPr>
            <a:xfrm>
              <a:off x="8381880" y="6019920"/>
              <a:ext cx="3047760" cy="33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algn="r"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500" spc="-1" strike="noStrike">
                  <a:solidFill>
                    <a:srgbClr val="1f2937"/>
                  </a:solidFill>
                  <a:latin typeface="Inter SemiBold"/>
                  <a:ea typeface="Inter SemiBold"/>
                </a:rPr>
                <a:t>Error Handling in Python</a:t>
              </a:r>
              <a:endParaRPr b="0" lang="en-US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78;p15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Google Shape;79;p15"/>
          <p:cNvSpPr/>
          <p:nvPr/>
        </p:nvSpPr>
        <p:spPr>
          <a:xfrm>
            <a:off x="0" y="0"/>
            <a:ext cx="12191760" cy="56880"/>
          </a:xfrm>
          <a:prstGeom prst="rect">
            <a:avLst/>
          </a:prstGeom>
          <a:solidFill>
            <a:srgbClr val="045a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Google Shape;80;p15"/>
          <p:cNvSpPr/>
          <p:nvPr/>
        </p:nvSpPr>
        <p:spPr>
          <a:xfrm>
            <a:off x="762120" y="1123920"/>
            <a:ext cx="10667520" cy="1872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Google Shape;81;p15"/>
          <p:cNvSpPr/>
          <p:nvPr/>
        </p:nvSpPr>
        <p:spPr>
          <a:xfrm>
            <a:off x="762120" y="6134040"/>
            <a:ext cx="1066752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000" spc="-1" strike="noStrike">
                <a:solidFill>
                  <a:srgbClr val="6b7280"/>
                </a:solidFill>
                <a:latin typeface="Inter"/>
                <a:ea typeface="Inter"/>
              </a:rPr>
              <a:t>Python Programming Course | Exception Handling &amp; Application Resilience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Google Shape;82;p15"/>
          <p:cNvSpPr/>
          <p:nvPr/>
        </p:nvSpPr>
        <p:spPr>
          <a:xfrm>
            <a:off x="762120" y="571680"/>
            <a:ext cx="952452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2700" spc="-1" strike="noStrike">
                <a:solidFill>
                  <a:srgbClr val="045a36"/>
                </a:solidFill>
                <a:latin typeface="Montserrat SemiBold"/>
                <a:ea typeface="Montserrat SemiBold"/>
              </a:rPr>
              <a:t>Learning Objectives: Exceptions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Google Shape;83;p15"/>
          <p:cNvSpPr/>
          <p:nvPr/>
        </p:nvSpPr>
        <p:spPr>
          <a:xfrm>
            <a:off x="762120" y="1285920"/>
            <a:ext cx="106675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600" spc="-1" strike="noStrike">
                <a:solidFill>
                  <a:srgbClr val="4b5563"/>
                </a:solidFill>
                <a:latin typeface="Inter SemiBold"/>
                <a:ea typeface="Inter SemiBold"/>
              </a:rPr>
              <a:t>Master the fundamentals of exceptions to build resilient Python applications.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3" name="Google Shape;84;p15"/>
          <p:cNvGrpSpPr/>
          <p:nvPr/>
        </p:nvGrpSpPr>
        <p:grpSpPr>
          <a:xfrm>
            <a:off x="762120" y="1809720"/>
            <a:ext cx="5143320" cy="3762000"/>
            <a:chOff x="762120" y="1809720"/>
            <a:chExt cx="5143320" cy="3762000"/>
          </a:xfrm>
        </p:grpSpPr>
        <p:grpSp>
          <p:nvGrpSpPr>
            <p:cNvPr id="64" name="Google Shape;85;p15"/>
            <p:cNvGrpSpPr/>
            <p:nvPr/>
          </p:nvGrpSpPr>
          <p:grpSpPr>
            <a:xfrm>
              <a:off x="762120" y="1809720"/>
              <a:ext cx="5143320" cy="761760"/>
              <a:chOff x="762120" y="1809720"/>
              <a:chExt cx="5143320" cy="761760"/>
            </a:xfrm>
          </p:grpSpPr>
          <p:grpSp>
            <p:nvGrpSpPr>
              <p:cNvPr id="65" name="Google Shape;86;p15"/>
              <p:cNvGrpSpPr/>
              <p:nvPr/>
            </p:nvGrpSpPr>
            <p:grpSpPr>
              <a:xfrm>
                <a:off x="762120" y="1847880"/>
                <a:ext cx="190080" cy="190080"/>
                <a:chOff x="762120" y="1847880"/>
                <a:chExt cx="190080" cy="190080"/>
              </a:xfrm>
            </p:grpSpPr>
            <p:sp>
              <p:nvSpPr>
                <p:cNvPr id="66" name="Google Shape;87;p15"/>
                <p:cNvSpPr/>
                <p:nvPr/>
              </p:nvSpPr>
              <p:spPr>
                <a:xfrm>
                  <a:off x="762120" y="1847880"/>
                  <a:ext cx="190080" cy="190080"/>
                </a:xfrm>
                <a:prstGeom prst="ellipse">
                  <a:avLst/>
                </a:prstGeom>
                <a:solidFill>
                  <a:srgbClr val="045a36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67" name="Google Shape;88;p15"/>
                <p:cNvSpPr/>
                <p:nvPr/>
              </p:nvSpPr>
              <p:spPr>
                <a:xfrm>
                  <a:off x="819000" y="1905120"/>
                  <a:ext cx="75960" cy="66240"/>
                </a:xfrm>
                <a:custGeom>
                  <a:avLst/>
                  <a:gdLst>
                    <a:gd name="textAreaLeft" fmla="*/ 0 w 75960"/>
                    <a:gd name="textAreaRight" fmla="*/ 76320 w 75960"/>
                    <a:gd name="textAreaTop" fmla="*/ 0 h 66240"/>
                    <a:gd name="textAreaBottom" fmla="*/ 66600 h 66240"/>
                  </a:gdLst>
                  <a:ahLst/>
                  <a:rect l="textAreaLeft" t="textAreaTop" r="textAreaRight" b="textAreaBottom"/>
                  <a:pathLst>
                    <a:path w="120000" h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noFill/>
                <a:ln cap="rnd" w="19050">
                  <a:solidFill>
                    <a:srgbClr val="ffffff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</p:grpSp>
          <p:sp>
            <p:nvSpPr>
              <p:cNvPr id="68" name="Google Shape;89;p15"/>
              <p:cNvSpPr/>
              <p:nvPr/>
            </p:nvSpPr>
            <p:spPr>
              <a:xfrm>
                <a:off x="1095480" y="1809720"/>
                <a:ext cx="4809960" cy="761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" sz="1500" spc="-1" strike="noStrike">
                    <a:solidFill>
                      <a:srgbClr val="1f2937"/>
                    </a:solidFill>
                    <a:latin typeface="Inter SemiBold"/>
                    <a:ea typeface="Inter SemiBold"/>
                  </a:rPr>
                  <a:t>Syntax vs. Runtime Errors</a:t>
                </a:r>
                <a:endParaRPr b="0" lang="en-US" sz="15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224"/>
                  </a:spcBef>
                  <a:tabLst>
                    <a:tab algn="l" pos="0"/>
                  </a:tabLst>
                </a:pPr>
                <a:r>
                  <a:rPr b="0" lang="en" sz="1500" spc="-1" strike="noStrike">
                    <a:solidFill>
                      <a:srgbClr val="374151"/>
                    </a:solidFill>
                    <a:latin typeface="Inter"/>
                    <a:ea typeface="Inter"/>
                  </a:rPr>
                  <a:t>Understand the critical difference between syntax errors and runtime exceptions.</a:t>
                </a:r>
                <a:endParaRPr b="0" lang="en-US" sz="15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69" name="Google Shape;90;p15"/>
            <p:cNvGrpSpPr/>
            <p:nvPr/>
          </p:nvGrpSpPr>
          <p:grpSpPr>
            <a:xfrm>
              <a:off x="762120" y="2809800"/>
              <a:ext cx="5143320" cy="761760"/>
              <a:chOff x="762120" y="2809800"/>
              <a:chExt cx="5143320" cy="761760"/>
            </a:xfrm>
          </p:grpSpPr>
          <p:grpSp>
            <p:nvGrpSpPr>
              <p:cNvPr id="70" name="Google Shape;91;p15"/>
              <p:cNvGrpSpPr/>
              <p:nvPr/>
            </p:nvGrpSpPr>
            <p:grpSpPr>
              <a:xfrm>
                <a:off x="762120" y="2847960"/>
                <a:ext cx="190080" cy="190080"/>
                <a:chOff x="762120" y="2847960"/>
                <a:chExt cx="190080" cy="190080"/>
              </a:xfrm>
            </p:grpSpPr>
            <p:sp>
              <p:nvSpPr>
                <p:cNvPr id="71" name="Google Shape;92;p15"/>
                <p:cNvSpPr/>
                <p:nvPr/>
              </p:nvSpPr>
              <p:spPr>
                <a:xfrm>
                  <a:off x="762120" y="2847960"/>
                  <a:ext cx="190080" cy="190080"/>
                </a:xfrm>
                <a:prstGeom prst="ellipse">
                  <a:avLst/>
                </a:prstGeom>
                <a:solidFill>
                  <a:srgbClr val="045a36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72" name="Google Shape;93;p15"/>
                <p:cNvSpPr/>
                <p:nvPr/>
              </p:nvSpPr>
              <p:spPr>
                <a:xfrm>
                  <a:off x="819000" y="2905200"/>
                  <a:ext cx="75960" cy="66240"/>
                </a:xfrm>
                <a:custGeom>
                  <a:avLst/>
                  <a:gdLst>
                    <a:gd name="textAreaLeft" fmla="*/ 0 w 75960"/>
                    <a:gd name="textAreaRight" fmla="*/ 76320 w 75960"/>
                    <a:gd name="textAreaTop" fmla="*/ 0 h 66240"/>
                    <a:gd name="textAreaBottom" fmla="*/ 66600 h 66240"/>
                  </a:gdLst>
                  <a:ahLst/>
                  <a:rect l="textAreaLeft" t="textAreaTop" r="textAreaRight" b="textAreaBottom"/>
                  <a:pathLst>
                    <a:path w="120000" h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noFill/>
                <a:ln cap="rnd" w="19050">
                  <a:solidFill>
                    <a:srgbClr val="ffffff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</p:grpSp>
          <p:sp>
            <p:nvSpPr>
              <p:cNvPr id="73" name="Google Shape;94;p15"/>
              <p:cNvSpPr/>
              <p:nvPr/>
            </p:nvSpPr>
            <p:spPr>
              <a:xfrm>
                <a:off x="1095480" y="2809800"/>
                <a:ext cx="4809960" cy="761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" sz="1500" spc="-1" strike="noStrike">
                    <a:solidFill>
                      <a:srgbClr val="1f2937"/>
                    </a:solidFill>
                    <a:latin typeface="Inter SemiBold"/>
                    <a:ea typeface="Inter SemiBold"/>
                  </a:rPr>
                  <a:t>Try-Except Execution Flow</a:t>
                </a:r>
                <a:endParaRPr b="0" lang="en-US" sz="15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224"/>
                  </a:spcBef>
                  <a:tabLst>
                    <a:tab algn="l" pos="0"/>
                  </a:tabLst>
                </a:pPr>
                <a:r>
                  <a:rPr b="0" lang="en" sz="1500" spc="-1" strike="noStrike">
                    <a:solidFill>
                      <a:srgbClr val="374151"/>
                    </a:solidFill>
                    <a:latin typeface="Inter"/>
                    <a:ea typeface="Inter"/>
                  </a:rPr>
                  <a:t>Learn the syntax and execution flow of try, except, else, and finally blocks.</a:t>
                </a:r>
                <a:endParaRPr b="0" lang="en-US" sz="15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74" name="Google Shape;95;p15"/>
            <p:cNvGrpSpPr/>
            <p:nvPr/>
          </p:nvGrpSpPr>
          <p:grpSpPr>
            <a:xfrm>
              <a:off x="762120" y="3809880"/>
              <a:ext cx="5143320" cy="761760"/>
              <a:chOff x="762120" y="3809880"/>
              <a:chExt cx="5143320" cy="761760"/>
            </a:xfrm>
          </p:grpSpPr>
          <p:grpSp>
            <p:nvGrpSpPr>
              <p:cNvPr id="75" name="Google Shape;96;p15"/>
              <p:cNvGrpSpPr/>
              <p:nvPr/>
            </p:nvGrpSpPr>
            <p:grpSpPr>
              <a:xfrm>
                <a:off x="762120" y="3848040"/>
                <a:ext cx="190080" cy="190080"/>
                <a:chOff x="762120" y="3848040"/>
                <a:chExt cx="190080" cy="190080"/>
              </a:xfrm>
            </p:grpSpPr>
            <p:sp>
              <p:nvSpPr>
                <p:cNvPr id="76" name="Google Shape;97;p15"/>
                <p:cNvSpPr/>
                <p:nvPr/>
              </p:nvSpPr>
              <p:spPr>
                <a:xfrm>
                  <a:off x="762120" y="3848040"/>
                  <a:ext cx="190080" cy="190080"/>
                </a:xfrm>
                <a:prstGeom prst="ellipse">
                  <a:avLst/>
                </a:prstGeom>
                <a:solidFill>
                  <a:srgbClr val="045a36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77" name="Google Shape;98;p15"/>
                <p:cNvSpPr/>
                <p:nvPr/>
              </p:nvSpPr>
              <p:spPr>
                <a:xfrm>
                  <a:off x="819000" y="3905280"/>
                  <a:ext cx="75960" cy="66240"/>
                </a:xfrm>
                <a:custGeom>
                  <a:avLst/>
                  <a:gdLst>
                    <a:gd name="textAreaLeft" fmla="*/ 0 w 75960"/>
                    <a:gd name="textAreaRight" fmla="*/ 76320 w 75960"/>
                    <a:gd name="textAreaTop" fmla="*/ 0 h 66240"/>
                    <a:gd name="textAreaBottom" fmla="*/ 66600 h 66240"/>
                  </a:gdLst>
                  <a:ahLst/>
                  <a:rect l="textAreaLeft" t="textAreaTop" r="textAreaRight" b="textAreaBottom"/>
                  <a:pathLst>
                    <a:path w="120000" h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noFill/>
                <a:ln cap="rnd" w="19050">
                  <a:solidFill>
                    <a:srgbClr val="ffffff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</p:grpSp>
          <p:sp>
            <p:nvSpPr>
              <p:cNvPr id="78" name="Google Shape;99;p15"/>
              <p:cNvSpPr/>
              <p:nvPr/>
            </p:nvSpPr>
            <p:spPr>
              <a:xfrm>
                <a:off x="1095480" y="3809880"/>
                <a:ext cx="4809960" cy="761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" sz="1500" spc="-1" strike="noStrike">
                    <a:solidFill>
                      <a:srgbClr val="1f2937"/>
                    </a:solidFill>
                    <a:latin typeface="Inter SemiBold"/>
                    <a:ea typeface="Inter SemiBold"/>
                  </a:rPr>
                  <a:t>Targeted Error Catching</a:t>
                </a:r>
                <a:endParaRPr b="0" lang="en-US" sz="15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224"/>
                  </a:spcBef>
                  <a:tabLst>
                    <a:tab algn="l" pos="0"/>
                  </a:tabLst>
                </a:pPr>
                <a:r>
                  <a:rPr b="0" lang="en" sz="1500" spc="-1" strike="noStrike">
                    <a:solidFill>
                      <a:srgbClr val="374151"/>
                    </a:solidFill>
                    <a:latin typeface="Inter"/>
                    <a:ea typeface="Inter"/>
                  </a:rPr>
                  <a:t>Discover how to catch specific exceptions to prevent application crashes.</a:t>
                </a:r>
                <a:endParaRPr b="0" lang="en-US" sz="15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79" name="Google Shape;100;p15"/>
            <p:cNvGrpSpPr/>
            <p:nvPr/>
          </p:nvGrpSpPr>
          <p:grpSpPr>
            <a:xfrm>
              <a:off x="762120" y="4809960"/>
              <a:ext cx="5143320" cy="761760"/>
              <a:chOff x="762120" y="4809960"/>
              <a:chExt cx="5143320" cy="761760"/>
            </a:xfrm>
          </p:grpSpPr>
          <p:grpSp>
            <p:nvGrpSpPr>
              <p:cNvPr id="80" name="Google Shape;101;p15"/>
              <p:cNvGrpSpPr/>
              <p:nvPr/>
            </p:nvGrpSpPr>
            <p:grpSpPr>
              <a:xfrm>
                <a:off x="762120" y="4848120"/>
                <a:ext cx="190080" cy="190080"/>
                <a:chOff x="762120" y="4848120"/>
                <a:chExt cx="190080" cy="190080"/>
              </a:xfrm>
            </p:grpSpPr>
            <p:sp>
              <p:nvSpPr>
                <p:cNvPr id="81" name="Google Shape;102;p15"/>
                <p:cNvSpPr/>
                <p:nvPr/>
              </p:nvSpPr>
              <p:spPr>
                <a:xfrm>
                  <a:off x="762120" y="4848120"/>
                  <a:ext cx="190080" cy="190080"/>
                </a:xfrm>
                <a:prstGeom prst="ellipse">
                  <a:avLst/>
                </a:prstGeom>
                <a:solidFill>
                  <a:srgbClr val="045a36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82" name="Google Shape;103;p15"/>
                <p:cNvSpPr/>
                <p:nvPr/>
              </p:nvSpPr>
              <p:spPr>
                <a:xfrm>
                  <a:off x="819000" y="4905360"/>
                  <a:ext cx="75960" cy="66240"/>
                </a:xfrm>
                <a:custGeom>
                  <a:avLst/>
                  <a:gdLst>
                    <a:gd name="textAreaLeft" fmla="*/ 0 w 75960"/>
                    <a:gd name="textAreaRight" fmla="*/ 76320 w 75960"/>
                    <a:gd name="textAreaTop" fmla="*/ 0 h 66240"/>
                    <a:gd name="textAreaBottom" fmla="*/ 66600 h 66240"/>
                  </a:gdLst>
                  <a:ahLst/>
                  <a:rect l="textAreaLeft" t="textAreaTop" r="textAreaRight" b="textAreaBottom"/>
                  <a:pathLst>
                    <a:path w="120000" h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noFill/>
                <a:ln cap="rnd" w="19050">
                  <a:solidFill>
                    <a:srgbClr val="ffffff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</p:grpSp>
          <p:sp>
            <p:nvSpPr>
              <p:cNvPr id="83" name="Google Shape;104;p15"/>
              <p:cNvSpPr/>
              <p:nvPr/>
            </p:nvSpPr>
            <p:spPr>
              <a:xfrm>
                <a:off x="1095480" y="4809960"/>
                <a:ext cx="4809960" cy="761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" sz="1500" spc="-1" strike="noStrike">
                    <a:solidFill>
                      <a:srgbClr val="1f2937"/>
                    </a:solidFill>
                    <a:latin typeface="Inter SemiBold"/>
                    <a:ea typeface="Inter SemiBold"/>
                  </a:rPr>
                  <a:t>Custom Exception Handling</a:t>
                </a:r>
                <a:endParaRPr b="0" lang="en-US" sz="15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224"/>
                  </a:spcBef>
                  <a:tabLst>
                    <a:tab algn="l" pos="0"/>
                  </a:tabLst>
                </a:pPr>
                <a:r>
                  <a:rPr b="0" lang="en" sz="1500" spc="-1" strike="noStrike">
                    <a:solidFill>
                      <a:srgbClr val="374151"/>
                    </a:solidFill>
                    <a:latin typeface="Inter"/>
                    <a:ea typeface="Inter"/>
                  </a:rPr>
                  <a:t>Apply industry best practices for raising and handling custom error states.</a:t>
                </a:r>
                <a:endParaRPr b="0" lang="en-US" sz="15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grpSp>
        <p:nvGrpSpPr>
          <p:cNvPr id="84" name="Google Shape;105;p15"/>
          <p:cNvGrpSpPr/>
          <p:nvPr/>
        </p:nvGrpSpPr>
        <p:grpSpPr>
          <a:xfrm>
            <a:off x="6286680" y="1809720"/>
            <a:ext cx="5143320" cy="4000320"/>
            <a:chOff x="6286680" y="1809720"/>
            <a:chExt cx="5143320" cy="4000320"/>
          </a:xfrm>
        </p:grpSpPr>
        <p:sp>
          <p:nvSpPr>
            <p:cNvPr id="85" name="Google Shape;106;p15"/>
            <p:cNvSpPr/>
            <p:nvPr/>
          </p:nvSpPr>
          <p:spPr>
            <a:xfrm>
              <a:off x="6286680" y="1809720"/>
              <a:ext cx="5143320" cy="400032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6" name="Google Shape;107;p15"/>
            <p:cNvSpPr/>
            <p:nvPr/>
          </p:nvSpPr>
          <p:spPr>
            <a:xfrm>
              <a:off x="6286680" y="1809720"/>
              <a:ext cx="5143320" cy="47520"/>
            </a:xfrm>
            <a:prstGeom prst="roundRect">
              <a:avLst>
                <a:gd name="adj" fmla="val 40000"/>
              </a:avLst>
            </a:prstGeom>
            <a:solidFill>
              <a:srgbClr val="045a3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7" name="Google Shape;108;p15"/>
            <p:cNvSpPr/>
            <p:nvPr/>
          </p:nvSpPr>
          <p:spPr>
            <a:xfrm>
              <a:off x="6667560" y="2048040"/>
              <a:ext cx="4381200" cy="28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200" spc="-1" strike="noStrike">
                  <a:solidFill>
                    <a:srgbClr val="d4a017"/>
                  </a:solidFill>
                  <a:latin typeface="Inter"/>
                  <a:ea typeface="Inter"/>
                </a:rPr>
                <a:t>LEARNING GOALS &amp; OBJECTIVES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88" name="Google Shape;109;p15" descr=""/>
            <p:cNvPicPr/>
            <p:nvPr/>
          </p:nvPicPr>
          <p:blipFill>
            <a:blip r:embed="rId1"/>
            <a:stretch/>
          </p:blipFill>
          <p:spPr>
            <a:xfrm>
              <a:off x="6667560" y="2381400"/>
              <a:ext cx="4381200" cy="3285720"/>
            </a:xfrm>
            <a:prstGeom prst="rect">
              <a:avLst/>
            </a:prstGeom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114;p16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Google Shape;115;p16"/>
          <p:cNvSpPr/>
          <p:nvPr/>
        </p:nvSpPr>
        <p:spPr>
          <a:xfrm>
            <a:off x="0" y="0"/>
            <a:ext cx="12191760" cy="56880"/>
          </a:xfrm>
          <a:prstGeom prst="rect">
            <a:avLst/>
          </a:prstGeom>
          <a:solidFill>
            <a:srgbClr val="045a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Google Shape;116;p16"/>
          <p:cNvSpPr/>
          <p:nvPr/>
        </p:nvSpPr>
        <p:spPr>
          <a:xfrm>
            <a:off x="762120" y="1123920"/>
            <a:ext cx="10667520" cy="1872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Google Shape;117;p16"/>
          <p:cNvSpPr/>
          <p:nvPr/>
        </p:nvSpPr>
        <p:spPr>
          <a:xfrm>
            <a:off x="762120" y="571680"/>
            <a:ext cx="952452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2700" spc="-1" strike="noStrike">
                <a:solidFill>
                  <a:srgbClr val="045a36"/>
                </a:solidFill>
                <a:latin typeface="Montserrat SemiBold"/>
                <a:ea typeface="Montserrat SemiBold"/>
              </a:rPr>
              <a:t>Syntax Errors vs. Runtime Exceptions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Google Shape;118;p16"/>
          <p:cNvSpPr/>
          <p:nvPr/>
        </p:nvSpPr>
        <p:spPr>
          <a:xfrm>
            <a:off x="762120" y="1285920"/>
            <a:ext cx="106675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600" spc="-1" strike="noStrike">
                <a:solidFill>
                  <a:srgbClr val="4b5563"/>
                </a:solidFill>
                <a:latin typeface="Inter SemiBold"/>
                <a:ea typeface="Inter SemiBold"/>
              </a:rPr>
              <a:t>Understanding the distinction between incorrect code construction and operational execution failures.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4" name="Google Shape;119;p16"/>
          <p:cNvGrpSpPr/>
          <p:nvPr/>
        </p:nvGrpSpPr>
        <p:grpSpPr>
          <a:xfrm>
            <a:off x="762120" y="1809720"/>
            <a:ext cx="5143320" cy="4047840"/>
            <a:chOff x="762120" y="1809720"/>
            <a:chExt cx="5143320" cy="4047840"/>
          </a:xfrm>
        </p:grpSpPr>
        <p:sp>
          <p:nvSpPr>
            <p:cNvPr id="95" name="Google Shape;120;p16"/>
            <p:cNvSpPr/>
            <p:nvPr/>
          </p:nvSpPr>
          <p:spPr>
            <a:xfrm>
              <a:off x="762120" y="1809720"/>
              <a:ext cx="5143320" cy="4047840"/>
            </a:xfrm>
            <a:prstGeom prst="roundRect">
              <a:avLst>
                <a:gd name="adj" fmla="val 2823"/>
              </a:avLst>
            </a:prstGeom>
            <a:solidFill>
              <a:srgbClr val="fee2e2"/>
            </a:solidFill>
            <a:ln w="14300">
              <a:solidFill>
                <a:srgbClr val="f8717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6" name="Google Shape;121;p16"/>
            <p:cNvSpPr/>
            <p:nvPr/>
          </p:nvSpPr>
          <p:spPr>
            <a:xfrm>
              <a:off x="762120" y="1809720"/>
              <a:ext cx="56880" cy="4047840"/>
            </a:xfrm>
            <a:prstGeom prst="roundRect">
              <a:avLst>
                <a:gd name="adj" fmla="val 50000"/>
              </a:avLst>
            </a:prstGeom>
            <a:solidFill>
              <a:srgbClr val="b91c1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7" name="Google Shape;122;p16"/>
            <p:cNvSpPr/>
            <p:nvPr/>
          </p:nvSpPr>
          <p:spPr>
            <a:xfrm>
              <a:off x="1000080" y="2048040"/>
              <a:ext cx="4667040" cy="28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200" spc="-1" strike="noStrike">
                  <a:solidFill>
                    <a:srgbClr val="b91c1c"/>
                  </a:solidFill>
                  <a:latin typeface="Inter"/>
                  <a:ea typeface="Inter"/>
                </a:rPr>
                <a:t>SYNTAX ERRORS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8" name="Google Shape;123;p16"/>
            <p:cNvSpPr/>
            <p:nvPr/>
          </p:nvSpPr>
          <p:spPr>
            <a:xfrm>
              <a:off x="1000080" y="2333520"/>
              <a:ext cx="4667040" cy="33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500" spc="-1" strike="noStrike">
                  <a:solidFill>
                    <a:srgbClr val="1f2937"/>
                  </a:solidFill>
                  <a:latin typeface="Inter SemiBold"/>
                  <a:ea typeface="Inter SemiBold"/>
                </a:rPr>
                <a:t>Invalid Code Construction</a:t>
              </a:r>
              <a:endParaRPr b="0" lang="en-US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9" name="Google Shape;124;p16"/>
            <p:cNvSpPr/>
            <p:nvPr/>
          </p:nvSpPr>
          <p:spPr>
            <a:xfrm>
              <a:off x="1000080" y="2714760"/>
              <a:ext cx="4667040" cy="104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250" spc="-1" strike="noStrike">
                  <a:solidFill>
                    <a:srgbClr val="374151"/>
                  </a:solidFill>
                  <a:latin typeface="Inter"/>
                  <a:ea typeface="Inter"/>
                </a:rPr>
                <a:t>Occur during parsing when the code violates Python's language rules. The interpreter cannot understand the program's structure.</a:t>
              </a:r>
              <a:endParaRPr b="0" lang="en-US" sz="125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751"/>
                </a:spcBef>
                <a:tabLst>
                  <a:tab algn="l" pos="0"/>
                </a:tabLst>
              </a:pPr>
              <a:r>
                <a:rPr b="0" lang="en" sz="1250" spc="-1" strike="noStrike">
                  <a:solidFill>
                    <a:srgbClr val="b91c1c"/>
                  </a:solidFill>
                  <a:latin typeface="Inter SemiBold"/>
                  <a:ea typeface="Inter SemiBold"/>
                </a:rPr>
                <a:t>Key Trait:</a:t>
              </a:r>
              <a:r>
                <a:rPr b="0" lang="en" sz="1250" spc="-1" strike="noStrike">
                  <a:solidFill>
                    <a:srgbClr val="374151"/>
                  </a:solidFill>
                  <a:latin typeface="Inter"/>
                  <a:ea typeface="Inter"/>
                </a:rPr>
                <a:t> The program cannot run at all. Execution is blocked entirely before starting.</a:t>
              </a:r>
              <a:endParaRPr b="0" lang="en-US" sz="12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00" name="Google Shape;125;p16"/>
            <p:cNvGrpSpPr/>
            <p:nvPr/>
          </p:nvGrpSpPr>
          <p:grpSpPr>
            <a:xfrm>
              <a:off x="1000080" y="3857760"/>
              <a:ext cx="4667040" cy="952200"/>
              <a:chOff x="1000080" y="3857760"/>
              <a:chExt cx="4667040" cy="952200"/>
            </a:xfrm>
          </p:grpSpPr>
          <p:sp>
            <p:nvSpPr>
              <p:cNvPr id="101" name="Google Shape;126;p16"/>
              <p:cNvSpPr/>
              <p:nvPr/>
            </p:nvSpPr>
            <p:spPr>
              <a:xfrm>
                <a:off x="1000080" y="3857760"/>
                <a:ext cx="4667040" cy="952200"/>
              </a:xfrm>
              <a:prstGeom prst="roundRect">
                <a:avLst>
                  <a:gd name="adj" fmla="val 8000"/>
                </a:avLst>
              </a:prstGeom>
              <a:solidFill>
                <a:srgbClr val="fff1f1"/>
              </a:solidFill>
              <a:ln w="9525">
                <a:solidFill>
                  <a:srgbClr val="f8717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02" name="Google Shape;127;p16"/>
              <p:cNvSpPr/>
              <p:nvPr/>
            </p:nvSpPr>
            <p:spPr>
              <a:xfrm>
                <a:off x="1143000" y="4000680"/>
                <a:ext cx="4381200" cy="666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" sz="1150" spc="-1" strike="noStrike">
                    <a:solidFill>
                      <a:srgbClr val="7f1d1d"/>
                    </a:solidFill>
                    <a:latin typeface="Courier New"/>
                    <a:ea typeface="Courier New"/>
                  </a:rPr>
                  <a:t>&gt;&gt;&gt; if True</a:t>
                </a:r>
                <a:endParaRPr b="0" lang="en-US" sz="115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150"/>
                  </a:spcBef>
                  <a:tabLst>
                    <a:tab algn="l" pos="0"/>
                  </a:tabLst>
                </a:pPr>
                <a:r>
                  <a:rPr b="0" lang="en" sz="1150" spc="-1" strike="noStrike">
                    <a:solidFill>
                      <a:srgbClr val="7f1d1d"/>
                    </a:solidFill>
                    <a:latin typeface="Courier New"/>
                    <a:ea typeface="Courier New"/>
                  </a:rPr>
                  <a:t>print("Hello")</a:t>
                </a:r>
                <a:endParaRPr b="0" lang="en-US" sz="115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451"/>
                  </a:spcBef>
                  <a:tabLst>
                    <a:tab algn="l" pos="0"/>
                  </a:tabLst>
                </a:pPr>
                <a:r>
                  <a:rPr b="1" lang="en" sz="1150" spc="-1" strike="noStrike">
                    <a:solidFill>
                      <a:srgbClr val="b91c1c"/>
                    </a:solidFill>
                    <a:latin typeface="Courier New"/>
                    <a:ea typeface="Courier New"/>
                  </a:rPr>
                  <a:t>SyntaxError: expected ':'</a:t>
                </a:r>
                <a:endParaRPr b="0" lang="en-US" sz="11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03" name="Google Shape;128;p16"/>
            <p:cNvGrpSpPr/>
            <p:nvPr/>
          </p:nvGrpSpPr>
          <p:grpSpPr>
            <a:xfrm>
              <a:off x="1000080" y="5000760"/>
              <a:ext cx="4667040" cy="713880"/>
              <a:chOff x="1000080" y="5000760"/>
              <a:chExt cx="4667040" cy="713880"/>
            </a:xfrm>
          </p:grpSpPr>
          <p:sp>
            <p:nvSpPr>
              <p:cNvPr id="104" name="Google Shape;129;p16"/>
              <p:cNvSpPr/>
              <p:nvPr/>
            </p:nvSpPr>
            <p:spPr>
              <a:xfrm>
                <a:off x="1000080" y="5048280"/>
                <a:ext cx="95040" cy="95040"/>
              </a:xfrm>
              <a:prstGeom prst="roundRect">
                <a:avLst>
                  <a:gd name="adj" fmla="val 20000"/>
                </a:avLst>
              </a:prstGeom>
              <a:solidFill>
                <a:srgbClr val="b91c1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05" name="Google Shape;130;p16"/>
              <p:cNvSpPr/>
              <p:nvPr/>
            </p:nvSpPr>
            <p:spPr>
              <a:xfrm>
                <a:off x="1209600" y="5000760"/>
                <a:ext cx="4457520" cy="713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" sz="1300" spc="-1" strike="noStrike">
                    <a:solidFill>
                      <a:srgbClr val="b91c1c"/>
                    </a:solidFill>
                    <a:latin typeface="Inter SemiBold"/>
                    <a:ea typeface="Inter SemiBold"/>
                  </a:rPr>
                  <a:t>Common Causes:</a:t>
                </a:r>
                <a:r>
                  <a:rPr b="0" lang="en" sz="1300" spc="-1" strike="noStrike">
                    <a:solidFill>
                      <a:srgbClr val="374151"/>
                    </a:solidFill>
                    <a:latin typeface="Inter"/>
                    <a:ea typeface="Inter"/>
                  </a:rPr>
                  <a:t> Missing colons, unclosed parentheses or brackets, mismatched quotes, or invalid indentation.</a:t>
                </a:r>
                <a:endParaRPr b="0" lang="en-US" sz="13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grpSp>
        <p:nvGrpSpPr>
          <p:cNvPr id="106" name="Google Shape;131;p16"/>
          <p:cNvGrpSpPr/>
          <p:nvPr/>
        </p:nvGrpSpPr>
        <p:grpSpPr>
          <a:xfrm>
            <a:off x="6286680" y="1809720"/>
            <a:ext cx="5143320" cy="4047840"/>
            <a:chOff x="6286680" y="1809720"/>
            <a:chExt cx="5143320" cy="4047840"/>
          </a:xfrm>
        </p:grpSpPr>
        <p:sp>
          <p:nvSpPr>
            <p:cNvPr id="107" name="Google Shape;132;p16"/>
            <p:cNvSpPr/>
            <p:nvPr/>
          </p:nvSpPr>
          <p:spPr>
            <a:xfrm>
              <a:off x="6286680" y="1809720"/>
              <a:ext cx="5143320" cy="4047840"/>
            </a:xfrm>
            <a:prstGeom prst="roundRect">
              <a:avLst>
                <a:gd name="adj" fmla="val 2823"/>
              </a:avLst>
            </a:prstGeom>
            <a:solidFill>
              <a:srgbClr val="ffffff"/>
            </a:solidFill>
            <a:ln w="14300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8" name="Google Shape;133;p16"/>
            <p:cNvSpPr/>
            <p:nvPr/>
          </p:nvSpPr>
          <p:spPr>
            <a:xfrm>
              <a:off x="6286680" y="1809720"/>
              <a:ext cx="56880" cy="4047840"/>
            </a:xfrm>
            <a:prstGeom prst="roundRect">
              <a:avLst>
                <a:gd name="adj" fmla="val 50000"/>
              </a:avLst>
            </a:prstGeom>
            <a:solidFill>
              <a:srgbClr val="045a3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9" name="Google Shape;134;p16"/>
            <p:cNvSpPr/>
            <p:nvPr/>
          </p:nvSpPr>
          <p:spPr>
            <a:xfrm>
              <a:off x="6524640" y="2048040"/>
              <a:ext cx="4667040" cy="28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200" spc="-1" strike="noStrike">
                  <a:solidFill>
                    <a:srgbClr val="045a36"/>
                  </a:solidFill>
                  <a:latin typeface="Inter"/>
                  <a:ea typeface="Inter"/>
                </a:rPr>
                <a:t>RUNTIME EXCEPTIONS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0" name="Google Shape;135;p16"/>
            <p:cNvSpPr/>
            <p:nvPr/>
          </p:nvSpPr>
          <p:spPr>
            <a:xfrm>
              <a:off x="6524640" y="2333520"/>
              <a:ext cx="4667040" cy="33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500" spc="-1" strike="noStrike">
                  <a:solidFill>
                    <a:srgbClr val="1f2937"/>
                  </a:solidFill>
                  <a:latin typeface="Inter SemiBold"/>
                  <a:ea typeface="Inter SemiBold"/>
                </a:rPr>
                <a:t>Operational Interruptions</a:t>
              </a:r>
              <a:endParaRPr b="0" lang="en-US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1" name="Google Shape;136;p16"/>
            <p:cNvSpPr/>
            <p:nvPr/>
          </p:nvSpPr>
          <p:spPr>
            <a:xfrm>
              <a:off x="6524640" y="2714760"/>
              <a:ext cx="4667040" cy="1047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250" spc="-1" strike="noStrike">
                  <a:solidFill>
                    <a:srgbClr val="374151"/>
                  </a:solidFill>
                  <a:latin typeface="Inter"/>
                  <a:ea typeface="Inter"/>
                </a:rPr>
                <a:t>Occur during execution when syntactically correct code encounters an operational issue that prevents it from finishing.</a:t>
              </a:r>
              <a:endParaRPr b="0" lang="en-US" sz="125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751"/>
                </a:spcBef>
                <a:tabLst>
                  <a:tab algn="l" pos="0"/>
                </a:tabLst>
              </a:pPr>
              <a:r>
                <a:rPr b="0" lang="en" sz="1250" spc="-1" strike="noStrike">
                  <a:solidFill>
                    <a:srgbClr val="045a36"/>
                  </a:solidFill>
                  <a:latin typeface="Inter SemiBold"/>
                  <a:ea typeface="Inter SemiBold"/>
                </a:rPr>
                <a:t>Key Trait:</a:t>
              </a:r>
              <a:r>
                <a:rPr b="0" lang="en" sz="1250" spc="-1" strike="noStrike">
                  <a:solidFill>
                    <a:srgbClr val="374151"/>
                  </a:solidFill>
                  <a:latin typeface="Inter"/>
                  <a:ea typeface="Inter"/>
                </a:rPr>
                <a:t> The program compiles and starts running, but crashes abruptly when the issue is hit.</a:t>
              </a:r>
              <a:endParaRPr b="0" lang="en-US" sz="125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12" name="Google Shape;137;p16"/>
            <p:cNvGrpSpPr/>
            <p:nvPr/>
          </p:nvGrpSpPr>
          <p:grpSpPr>
            <a:xfrm>
              <a:off x="6524640" y="3857760"/>
              <a:ext cx="4667040" cy="952200"/>
              <a:chOff x="6524640" y="3857760"/>
              <a:chExt cx="4667040" cy="952200"/>
            </a:xfrm>
          </p:grpSpPr>
          <p:sp>
            <p:nvSpPr>
              <p:cNvPr id="113" name="Google Shape;138;p16"/>
              <p:cNvSpPr/>
              <p:nvPr/>
            </p:nvSpPr>
            <p:spPr>
              <a:xfrm>
                <a:off x="6524640" y="3857760"/>
                <a:ext cx="4667040" cy="952200"/>
              </a:xfrm>
              <a:prstGeom prst="roundRect">
                <a:avLst>
                  <a:gd name="adj" fmla="val 8000"/>
                </a:avLst>
              </a:prstGeom>
              <a:solidFill>
                <a:srgbClr val="f1f5f9"/>
              </a:solidFill>
              <a:ln w="9525">
                <a:solidFill>
                  <a:srgbClr val="e2e8f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sp>
            <p:nvSpPr>
              <p:cNvPr id="114" name="Google Shape;139;p16"/>
              <p:cNvSpPr/>
              <p:nvPr/>
            </p:nvSpPr>
            <p:spPr>
              <a:xfrm>
                <a:off x="6667560" y="4000680"/>
                <a:ext cx="4381200" cy="666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" sz="1150" spc="-1" strike="noStrike">
                    <a:solidFill>
                      <a:srgbClr val="1f2937"/>
                    </a:solidFill>
                    <a:latin typeface="Courier New"/>
                    <a:ea typeface="Courier New"/>
                  </a:rPr>
                  <a:t>&gt;&gt;&gt; value = 10 / 0</a:t>
                </a:r>
                <a:endParaRPr b="0" lang="en-US" sz="115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601"/>
                  </a:spcBef>
                  <a:tabLst>
                    <a:tab algn="l" pos="0"/>
                  </a:tabLst>
                </a:pPr>
                <a:r>
                  <a:rPr b="1" lang="en" sz="1150" spc="-1" strike="noStrike">
                    <a:solidFill>
                      <a:srgbClr val="b91c1c"/>
                    </a:solidFill>
                    <a:latin typeface="Courier New"/>
                    <a:ea typeface="Courier New"/>
                  </a:rPr>
                  <a:t>ZeroDivisionError: division by zero</a:t>
                </a:r>
                <a:endParaRPr b="0" lang="en-US" sz="11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115" name="Google Shape;140;p16"/>
            <p:cNvGrpSpPr/>
            <p:nvPr/>
          </p:nvGrpSpPr>
          <p:grpSpPr>
            <a:xfrm>
              <a:off x="6524640" y="5000760"/>
              <a:ext cx="4667040" cy="713880"/>
              <a:chOff x="6524640" y="5000760"/>
              <a:chExt cx="4667040" cy="713880"/>
            </a:xfrm>
          </p:grpSpPr>
          <p:grpSp>
            <p:nvGrpSpPr>
              <p:cNvPr id="116" name="Google Shape;141;p16"/>
              <p:cNvGrpSpPr/>
              <p:nvPr/>
            </p:nvGrpSpPr>
            <p:grpSpPr>
              <a:xfrm>
                <a:off x="6524640" y="5019840"/>
                <a:ext cx="190080" cy="190080"/>
                <a:chOff x="6524640" y="5019840"/>
                <a:chExt cx="190080" cy="190080"/>
              </a:xfrm>
            </p:grpSpPr>
            <p:sp>
              <p:nvSpPr>
                <p:cNvPr id="117" name="Google Shape;142;p16"/>
                <p:cNvSpPr/>
                <p:nvPr/>
              </p:nvSpPr>
              <p:spPr>
                <a:xfrm>
                  <a:off x="6524640" y="5019840"/>
                  <a:ext cx="190080" cy="190080"/>
                </a:xfrm>
                <a:prstGeom prst="ellipse">
                  <a:avLst/>
                </a:prstGeom>
                <a:solidFill>
                  <a:srgbClr val="045a36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118" name="Google Shape;143;p16"/>
                <p:cNvSpPr/>
                <p:nvPr/>
              </p:nvSpPr>
              <p:spPr>
                <a:xfrm>
                  <a:off x="6581880" y="5076720"/>
                  <a:ext cx="75960" cy="66240"/>
                </a:xfrm>
                <a:custGeom>
                  <a:avLst/>
                  <a:gdLst>
                    <a:gd name="textAreaLeft" fmla="*/ 0 w 75960"/>
                    <a:gd name="textAreaRight" fmla="*/ 76320 w 75960"/>
                    <a:gd name="textAreaTop" fmla="*/ 0 h 66240"/>
                    <a:gd name="textAreaBottom" fmla="*/ 66600 h 66240"/>
                  </a:gdLst>
                  <a:ahLst/>
                  <a:rect l="textAreaLeft" t="textAreaTop" r="textAreaRight" b="textAreaBottom"/>
                  <a:pathLst>
                    <a:path w="120000" h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noFill/>
                <a:ln cap="rnd" w="19050">
                  <a:solidFill>
                    <a:srgbClr val="ffffff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</p:grpSp>
          <p:sp>
            <p:nvSpPr>
              <p:cNvPr id="119" name="Google Shape;144;p16"/>
              <p:cNvSpPr/>
              <p:nvPr/>
            </p:nvSpPr>
            <p:spPr>
              <a:xfrm>
                <a:off x="6791400" y="5000760"/>
                <a:ext cx="4400280" cy="713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" sz="1300" spc="-1" strike="noStrike">
                    <a:solidFill>
                      <a:srgbClr val="045a36"/>
                    </a:solidFill>
                    <a:latin typeface="Inter SemiBold"/>
                    <a:ea typeface="Inter SemiBold"/>
                  </a:rPr>
                  <a:t>Common Examples:</a:t>
                </a:r>
                <a:r>
                  <a:rPr b="0" lang="en" sz="1300" spc="-1" strike="noStrike">
                    <a:solidFill>
                      <a:srgbClr val="374151"/>
                    </a:solidFill>
                    <a:latin typeface="Inter"/>
                    <a:ea typeface="Inter"/>
                  </a:rPr>
                  <a:t> ZeroDivisionError (division by zero), TypeError (adding string to int), and FileNotFoundError (missing files).</a:t>
                </a:r>
                <a:endParaRPr b="0" lang="en-US" sz="13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120" name="Google Shape;145;p16"/>
          <p:cNvSpPr/>
          <p:nvPr/>
        </p:nvSpPr>
        <p:spPr>
          <a:xfrm>
            <a:off x="762120" y="6134040"/>
            <a:ext cx="10667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000" spc="-1" strike="noStrike">
                <a:solidFill>
                  <a:srgbClr val="6b7280"/>
                </a:solidFill>
                <a:latin typeface="Inter"/>
                <a:ea typeface="Inter"/>
              </a:rPr>
              <a:t>Python Programming Course | Section 4: Errors and Exceptions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50;p17"/>
          <p:cNvSpPr/>
          <p:nvPr/>
        </p:nvSpPr>
        <p:spPr>
          <a:xfrm>
            <a:off x="0" y="0"/>
            <a:ext cx="12191760" cy="56880"/>
          </a:xfrm>
          <a:prstGeom prst="rect">
            <a:avLst/>
          </a:prstGeom>
          <a:solidFill>
            <a:srgbClr val="045a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Google Shape;151;p17"/>
          <p:cNvSpPr/>
          <p:nvPr/>
        </p:nvSpPr>
        <p:spPr>
          <a:xfrm>
            <a:off x="762120" y="1123920"/>
            <a:ext cx="10667520" cy="1872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Google Shape;152;p17"/>
          <p:cNvSpPr/>
          <p:nvPr/>
        </p:nvSpPr>
        <p:spPr>
          <a:xfrm>
            <a:off x="762120" y="6134040"/>
            <a:ext cx="7619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000" spc="-1" strike="noStrike">
                <a:solidFill>
                  <a:srgbClr val="6b7280"/>
                </a:solidFill>
                <a:latin typeface="Inter"/>
                <a:ea typeface="Inter"/>
              </a:rPr>
              <a:t>Error Handling in Python - The try and except blocks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Google Shape;153;p17"/>
          <p:cNvSpPr/>
          <p:nvPr/>
        </p:nvSpPr>
        <p:spPr>
          <a:xfrm>
            <a:off x="762120" y="571680"/>
            <a:ext cx="9524520" cy="47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2700" spc="-1" strike="noStrike">
                <a:solidFill>
                  <a:srgbClr val="045a36"/>
                </a:solidFill>
                <a:latin typeface="Montserrat SemiBold"/>
                <a:ea typeface="Montserrat SemiBold"/>
              </a:rPr>
              <a:t>Introduction to Error Handling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Google Shape;154;p17"/>
          <p:cNvSpPr/>
          <p:nvPr/>
        </p:nvSpPr>
        <p:spPr>
          <a:xfrm>
            <a:off x="762120" y="1285920"/>
            <a:ext cx="106675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600" spc="-1" strike="noStrike">
                <a:solidFill>
                  <a:srgbClr val="4b5563"/>
                </a:solidFill>
                <a:latin typeface="Inter SemiBold"/>
                <a:ea typeface="Inter SemiBold"/>
              </a:rPr>
              <a:t>Error handling ensures software reliability by gracefully managing unexpected runtime failures.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26" name="Google Shape;155;p17"/>
          <p:cNvGrpSpPr/>
          <p:nvPr/>
        </p:nvGrpSpPr>
        <p:grpSpPr>
          <a:xfrm>
            <a:off x="762120" y="2000160"/>
            <a:ext cx="5476680" cy="809280"/>
            <a:chOff x="762120" y="2000160"/>
            <a:chExt cx="5476680" cy="809280"/>
          </a:xfrm>
        </p:grpSpPr>
        <p:grpSp>
          <p:nvGrpSpPr>
            <p:cNvPr id="127" name="Google Shape;156;p17"/>
            <p:cNvGrpSpPr/>
            <p:nvPr/>
          </p:nvGrpSpPr>
          <p:grpSpPr>
            <a:xfrm>
              <a:off x="762120" y="2038320"/>
              <a:ext cx="190080" cy="190080"/>
              <a:chOff x="762120" y="2038320"/>
              <a:chExt cx="190080" cy="190080"/>
            </a:xfrm>
          </p:grpSpPr>
          <p:sp>
            <p:nvSpPr>
              <p:cNvPr id="128" name="Google Shape;157;p17"/>
              <p:cNvSpPr/>
              <p:nvPr/>
            </p:nvSpPr>
            <p:spPr>
              <a:xfrm>
                <a:off x="762120" y="2038320"/>
                <a:ext cx="190080" cy="190080"/>
              </a:xfrm>
              <a:prstGeom prst="ellipse">
                <a:avLst/>
              </a:prstGeom>
              <a:solidFill>
                <a:srgbClr val="045a3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29" name="Google Shape;158;p17"/>
              <p:cNvSpPr/>
              <p:nvPr/>
            </p:nvSpPr>
            <p:spPr>
              <a:xfrm>
                <a:off x="819000" y="2095560"/>
                <a:ext cx="75960" cy="66240"/>
              </a:xfrm>
              <a:custGeom>
                <a:avLst/>
                <a:gdLst>
                  <a:gd name="textAreaLeft" fmla="*/ 0 w 75960"/>
                  <a:gd name="textAreaRight" fmla="*/ 76320 w 75960"/>
                  <a:gd name="textAreaTop" fmla="*/ 0 h 66240"/>
                  <a:gd name="textAreaBottom" fmla="*/ 66600 h 66240"/>
                </a:gdLst>
                <a:ahLst/>
                <a:rect l="textAreaLeft" t="textAreaTop" r="textAreaRight" b="textAreaBottom"/>
                <a:pathLst>
                  <a:path w="120000" h="120000">
                    <a:moveTo>
                      <a:pt x="0" y="68514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noFill/>
              <a:ln cap="rnd" w="190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sp>
          <p:nvSpPr>
            <p:cNvPr id="130" name="Google Shape;159;p17"/>
            <p:cNvSpPr/>
            <p:nvPr/>
          </p:nvSpPr>
          <p:spPr>
            <a:xfrm>
              <a:off x="1095480" y="2000160"/>
              <a:ext cx="5143320" cy="80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500" spc="-1" strike="noStrike">
                  <a:solidFill>
                    <a:srgbClr val="1f2937"/>
                  </a:solidFill>
                  <a:latin typeface="Inter SemiBold"/>
                  <a:ea typeface="Inter SemiBold"/>
                </a:rPr>
                <a:t>Prevents Application Crashes:</a:t>
              </a:r>
              <a:r>
                <a:rPr b="0" lang="en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 </a:t>
              </a:r>
              <a:r>
                <a:rPr b="0" lang="en" sz="1500" spc="-1" strike="noStrike">
                  <a:solidFill>
                    <a:srgbClr val="374151"/>
                  </a:solidFill>
                  <a:latin typeface="Inter"/>
                  <a:ea typeface="Inter"/>
                </a:rPr>
                <a:t>Stops the entire program from terminating abruptly upon encountering a single, manageable error.</a:t>
              </a:r>
              <a:endParaRPr b="0" lang="en-US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1" name="Google Shape;160;p17"/>
          <p:cNvGrpSpPr/>
          <p:nvPr/>
        </p:nvGrpSpPr>
        <p:grpSpPr>
          <a:xfrm>
            <a:off x="762120" y="3048120"/>
            <a:ext cx="5476680" cy="809280"/>
            <a:chOff x="762120" y="3048120"/>
            <a:chExt cx="5476680" cy="809280"/>
          </a:xfrm>
        </p:grpSpPr>
        <p:grpSp>
          <p:nvGrpSpPr>
            <p:cNvPr id="132" name="Google Shape;161;p17"/>
            <p:cNvGrpSpPr/>
            <p:nvPr/>
          </p:nvGrpSpPr>
          <p:grpSpPr>
            <a:xfrm>
              <a:off x="762120" y="3086280"/>
              <a:ext cx="190080" cy="190080"/>
              <a:chOff x="762120" y="3086280"/>
              <a:chExt cx="190080" cy="190080"/>
            </a:xfrm>
          </p:grpSpPr>
          <p:sp>
            <p:nvSpPr>
              <p:cNvPr id="133" name="Google Shape;162;p17"/>
              <p:cNvSpPr/>
              <p:nvPr/>
            </p:nvSpPr>
            <p:spPr>
              <a:xfrm>
                <a:off x="762120" y="3086280"/>
                <a:ext cx="190080" cy="190080"/>
              </a:xfrm>
              <a:prstGeom prst="ellipse">
                <a:avLst/>
              </a:prstGeom>
              <a:solidFill>
                <a:srgbClr val="045a3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34" name="Google Shape;163;p17"/>
              <p:cNvSpPr/>
              <p:nvPr/>
            </p:nvSpPr>
            <p:spPr>
              <a:xfrm>
                <a:off x="819000" y="3143160"/>
                <a:ext cx="75960" cy="66240"/>
              </a:xfrm>
              <a:custGeom>
                <a:avLst/>
                <a:gdLst>
                  <a:gd name="textAreaLeft" fmla="*/ 0 w 75960"/>
                  <a:gd name="textAreaRight" fmla="*/ 76320 w 75960"/>
                  <a:gd name="textAreaTop" fmla="*/ 0 h 66240"/>
                  <a:gd name="textAreaBottom" fmla="*/ 66600 h 66240"/>
                </a:gdLst>
                <a:ahLst/>
                <a:rect l="textAreaLeft" t="textAreaTop" r="textAreaRight" b="textAreaBottom"/>
                <a:pathLst>
                  <a:path w="120000" h="120000">
                    <a:moveTo>
                      <a:pt x="0" y="68514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noFill/>
              <a:ln cap="rnd" w="190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sp>
          <p:nvSpPr>
            <p:cNvPr id="135" name="Google Shape;164;p17"/>
            <p:cNvSpPr/>
            <p:nvPr/>
          </p:nvSpPr>
          <p:spPr>
            <a:xfrm>
              <a:off x="1095480" y="3048120"/>
              <a:ext cx="5143320" cy="80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500" spc="-1" strike="noStrike">
                  <a:solidFill>
                    <a:srgbClr val="1f2937"/>
                  </a:solidFill>
                  <a:latin typeface="Inter SemiBold"/>
                  <a:ea typeface="Inter SemiBold"/>
                </a:rPr>
                <a:t>Improves User Experience:</a:t>
              </a:r>
              <a:r>
                <a:rPr b="0" lang="en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 </a:t>
              </a:r>
              <a:r>
                <a:rPr b="0" lang="en" sz="1500" spc="-1" strike="noStrike">
                  <a:solidFill>
                    <a:srgbClr val="374151"/>
                  </a:solidFill>
                  <a:latin typeface="Inter"/>
                  <a:ea typeface="Inter"/>
                </a:rPr>
                <a:t>Allows the application to display friendly, actionable error messages instead of exposing raw stack traces to the end user.</a:t>
              </a:r>
              <a:endParaRPr b="0" lang="en-US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6" name="Google Shape;165;p17"/>
          <p:cNvGrpSpPr/>
          <p:nvPr/>
        </p:nvGrpSpPr>
        <p:grpSpPr>
          <a:xfrm>
            <a:off x="762120" y="4095720"/>
            <a:ext cx="5476680" cy="999720"/>
            <a:chOff x="762120" y="4095720"/>
            <a:chExt cx="5476680" cy="999720"/>
          </a:xfrm>
        </p:grpSpPr>
        <p:grpSp>
          <p:nvGrpSpPr>
            <p:cNvPr id="137" name="Google Shape;166;p17"/>
            <p:cNvGrpSpPr/>
            <p:nvPr/>
          </p:nvGrpSpPr>
          <p:grpSpPr>
            <a:xfrm>
              <a:off x="762120" y="4133880"/>
              <a:ext cx="190080" cy="190080"/>
              <a:chOff x="762120" y="4133880"/>
              <a:chExt cx="190080" cy="190080"/>
            </a:xfrm>
          </p:grpSpPr>
          <p:sp>
            <p:nvSpPr>
              <p:cNvPr id="138" name="Google Shape;167;p17"/>
              <p:cNvSpPr/>
              <p:nvPr/>
            </p:nvSpPr>
            <p:spPr>
              <a:xfrm>
                <a:off x="762120" y="4133880"/>
                <a:ext cx="190080" cy="190080"/>
              </a:xfrm>
              <a:prstGeom prst="ellipse">
                <a:avLst/>
              </a:prstGeom>
              <a:solidFill>
                <a:srgbClr val="045a3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39" name="Google Shape;168;p17"/>
              <p:cNvSpPr/>
              <p:nvPr/>
            </p:nvSpPr>
            <p:spPr>
              <a:xfrm>
                <a:off x="819000" y="4191120"/>
                <a:ext cx="75960" cy="66240"/>
              </a:xfrm>
              <a:custGeom>
                <a:avLst/>
                <a:gdLst>
                  <a:gd name="textAreaLeft" fmla="*/ 0 w 75960"/>
                  <a:gd name="textAreaRight" fmla="*/ 76320 w 75960"/>
                  <a:gd name="textAreaTop" fmla="*/ 0 h 66240"/>
                  <a:gd name="textAreaBottom" fmla="*/ 66600 h 66240"/>
                </a:gdLst>
                <a:ahLst/>
                <a:rect l="textAreaLeft" t="textAreaTop" r="textAreaRight" b="textAreaBottom"/>
                <a:pathLst>
                  <a:path w="120000" h="120000">
                    <a:moveTo>
                      <a:pt x="0" y="68514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noFill/>
              <a:ln cap="rnd" w="190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sp>
          <p:nvSpPr>
            <p:cNvPr id="140" name="Google Shape;169;p17"/>
            <p:cNvSpPr/>
            <p:nvPr/>
          </p:nvSpPr>
          <p:spPr>
            <a:xfrm>
              <a:off x="1095480" y="4095720"/>
              <a:ext cx="5143320" cy="999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500" spc="-1" strike="noStrike">
                  <a:solidFill>
                    <a:srgbClr val="1f2937"/>
                  </a:solidFill>
                  <a:latin typeface="Inter SemiBold"/>
                  <a:ea typeface="Inter SemiBold"/>
                </a:rPr>
                <a:t>Enables Recovery Operations:</a:t>
              </a:r>
              <a:r>
                <a:rPr b="0" lang="en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 </a:t>
              </a:r>
              <a:r>
                <a:rPr b="0" lang="en" sz="1500" spc="-1" strike="noStrike">
                  <a:solidFill>
                    <a:srgbClr val="374151"/>
                  </a:solidFill>
                  <a:latin typeface="Inter"/>
                  <a:ea typeface="Inter"/>
                </a:rPr>
                <a:t>Gives the program an opportunity to retry a failed network operation, utilize fallback data, or log the issue for developer debugging.</a:t>
              </a:r>
              <a:endParaRPr b="0" lang="en-US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41" name="Google Shape;170;p17"/>
          <p:cNvGrpSpPr/>
          <p:nvPr/>
        </p:nvGrpSpPr>
        <p:grpSpPr>
          <a:xfrm>
            <a:off x="6667560" y="2000160"/>
            <a:ext cx="4762080" cy="3571560"/>
            <a:chOff x="6667560" y="2000160"/>
            <a:chExt cx="4762080" cy="3571560"/>
          </a:xfrm>
        </p:grpSpPr>
        <p:sp>
          <p:nvSpPr>
            <p:cNvPr id="142" name="Google Shape;171;p17"/>
            <p:cNvSpPr/>
            <p:nvPr/>
          </p:nvSpPr>
          <p:spPr>
            <a:xfrm>
              <a:off x="6667560" y="2000160"/>
              <a:ext cx="4762080" cy="3571560"/>
            </a:xfrm>
            <a:prstGeom prst="roundRect">
              <a:avLst>
                <a:gd name="adj" fmla="val 32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3" name="Google Shape;172;p17"/>
            <p:cNvSpPr/>
            <p:nvPr/>
          </p:nvSpPr>
          <p:spPr>
            <a:xfrm>
              <a:off x="6667560" y="2000160"/>
              <a:ext cx="4762080" cy="47520"/>
            </a:xfrm>
            <a:prstGeom prst="roundRect">
              <a:avLst>
                <a:gd name="adj" fmla="val 40000"/>
              </a:avLst>
            </a:prstGeom>
            <a:solidFill>
              <a:srgbClr val="045a3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4" name="Google Shape;173;p17"/>
            <p:cNvSpPr/>
            <p:nvPr/>
          </p:nvSpPr>
          <p:spPr>
            <a:xfrm>
              <a:off x="6905520" y="2238480"/>
              <a:ext cx="4286160" cy="28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200" spc="-1" strike="noStrike">
                  <a:solidFill>
                    <a:srgbClr val="d4a017"/>
                  </a:solidFill>
                  <a:latin typeface="Inter"/>
                  <a:ea typeface="Inter"/>
                </a:rPr>
                <a:t>PROGRAM STABILITY &amp; ERROR PREVENTION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145" name="Google Shape;174;p17"/>
            <p:cNvGrpSpPr/>
            <p:nvPr/>
          </p:nvGrpSpPr>
          <p:grpSpPr>
            <a:xfrm>
              <a:off x="6905520" y="2619360"/>
              <a:ext cx="4286160" cy="2714400"/>
              <a:chOff x="6905520" y="2619360"/>
              <a:chExt cx="4286160" cy="2714400"/>
            </a:xfrm>
          </p:grpSpPr>
          <p:sp>
            <p:nvSpPr>
              <p:cNvPr id="146" name="Google Shape;175;p17"/>
              <p:cNvSpPr/>
              <p:nvPr/>
            </p:nvSpPr>
            <p:spPr>
              <a:xfrm>
                <a:off x="6905520" y="2619360"/>
                <a:ext cx="4286160" cy="2714400"/>
              </a:xfrm>
              <a:prstGeom prst="roundRect">
                <a:avLst>
                  <a:gd name="adj" fmla="val 1403"/>
                </a:avLst>
              </a:prstGeom>
              <a:solidFill>
                <a:srgbClr val="f1f5f9"/>
              </a:solidFill>
              <a:ln w="9525">
                <a:solidFill>
                  <a:srgbClr val="e2e8f0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  <p:pic>
            <p:nvPicPr>
              <p:cNvPr id="147" name="Google Shape;176;p17" descr=""/>
              <p:cNvPicPr/>
              <p:nvPr/>
            </p:nvPicPr>
            <p:blipFill>
              <a:blip r:embed="rId2"/>
              <a:stretch/>
            </p:blipFill>
            <p:spPr>
              <a:xfrm>
                <a:off x="7238880" y="2619360"/>
                <a:ext cx="3619080" cy="2714400"/>
              </a:xfrm>
              <a:prstGeom prst="rect">
                <a:avLst/>
              </a:prstGeom>
              <a:ln w="0">
                <a:noFill/>
              </a:ln>
            </p:spPr>
          </p:pic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81;p18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Google Shape;182;p18"/>
          <p:cNvSpPr/>
          <p:nvPr/>
        </p:nvSpPr>
        <p:spPr>
          <a:xfrm>
            <a:off x="0" y="0"/>
            <a:ext cx="12191760" cy="56880"/>
          </a:xfrm>
          <a:prstGeom prst="rect">
            <a:avLst/>
          </a:prstGeom>
          <a:solidFill>
            <a:srgbClr val="045a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Google Shape;183;p18"/>
          <p:cNvSpPr/>
          <p:nvPr/>
        </p:nvSpPr>
        <p:spPr>
          <a:xfrm>
            <a:off x="762120" y="1123920"/>
            <a:ext cx="10667520" cy="1872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51" name="Google Shape;184;p18"/>
          <p:cNvGrpSpPr/>
          <p:nvPr/>
        </p:nvGrpSpPr>
        <p:grpSpPr>
          <a:xfrm>
            <a:off x="762120" y="6134040"/>
            <a:ext cx="7619760" cy="190080"/>
            <a:chOff x="762120" y="6134040"/>
            <a:chExt cx="7619760" cy="190080"/>
          </a:xfrm>
        </p:grpSpPr>
        <p:sp>
          <p:nvSpPr>
            <p:cNvPr id="152" name="Google Shape;185;p18"/>
            <p:cNvSpPr/>
            <p:nvPr/>
          </p:nvSpPr>
          <p:spPr>
            <a:xfrm>
              <a:off x="762120" y="6134040"/>
              <a:ext cx="7619760" cy="190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3" name="Google Shape;186;p18"/>
            <p:cNvSpPr/>
            <p:nvPr/>
          </p:nvSpPr>
          <p:spPr>
            <a:xfrm>
              <a:off x="762120" y="6134040"/>
              <a:ext cx="7619760" cy="190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000" spc="-1" strike="noStrike">
                  <a:solidFill>
                    <a:srgbClr val="6b7280"/>
                  </a:solidFill>
                  <a:latin typeface="Inter"/>
                  <a:ea typeface="Inter"/>
                </a:rPr>
                <a:t>Error Handling in Python - The try and except blocks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4" name="Google Shape;187;p18"/>
          <p:cNvGrpSpPr/>
          <p:nvPr/>
        </p:nvGrpSpPr>
        <p:grpSpPr>
          <a:xfrm>
            <a:off x="762120" y="571680"/>
            <a:ext cx="9524520" cy="428400"/>
            <a:chOff x="762120" y="571680"/>
            <a:chExt cx="9524520" cy="428400"/>
          </a:xfrm>
        </p:grpSpPr>
        <p:sp>
          <p:nvSpPr>
            <p:cNvPr id="155" name="Google Shape;188;p18"/>
            <p:cNvSpPr/>
            <p:nvPr/>
          </p:nvSpPr>
          <p:spPr>
            <a:xfrm>
              <a:off x="762120" y="571680"/>
              <a:ext cx="9524520" cy="428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6" name="Google Shape;189;p18"/>
            <p:cNvSpPr/>
            <p:nvPr/>
          </p:nvSpPr>
          <p:spPr>
            <a:xfrm>
              <a:off x="762120" y="571680"/>
              <a:ext cx="9524520" cy="428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2700" spc="-1" strike="noStrike">
                  <a:solidFill>
                    <a:srgbClr val="045a36"/>
                  </a:solidFill>
                  <a:latin typeface="Montserrat SemiBold"/>
                  <a:ea typeface="Montserrat SemiBold"/>
                </a:rPr>
                <a:t>The try-except Block</a:t>
              </a:r>
              <a:endParaRPr b="0" lang="en-US" sz="2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57" name="Google Shape;190;p18"/>
          <p:cNvGrpSpPr/>
          <p:nvPr/>
        </p:nvGrpSpPr>
        <p:grpSpPr>
          <a:xfrm>
            <a:off x="762120" y="1285920"/>
            <a:ext cx="10667520" cy="333000"/>
            <a:chOff x="762120" y="1285920"/>
            <a:chExt cx="10667520" cy="333000"/>
          </a:xfrm>
        </p:grpSpPr>
        <p:sp>
          <p:nvSpPr>
            <p:cNvPr id="158" name="Google Shape;191;p18"/>
            <p:cNvSpPr/>
            <p:nvPr/>
          </p:nvSpPr>
          <p:spPr>
            <a:xfrm>
              <a:off x="762120" y="1285920"/>
              <a:ext cx="10667520" cy="33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9" name="Google Shape;192;p18"/>
            <p:cNvSpPr/>
            <p:nvPr/>
          </p:nvSpPr>
          <p:spPr>
            <a:xfrm>
              <a:off x="762120" y="1285920"/>
              <a:ext cx="10667520" cy="33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600" spc="-1" strike="noStrike">
                  <a:solidFill>
                    <a:srgbClr val="4b5563"/>
                  </a:solidFill>
                  <a:latin typeface="Inter SemiBold"/>
                  <a:ea typeface="Inter SemiBold"/>
                </a:rPr>
                <a:t>Intercept exceptions to allow the program to execute alternative logic.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0" name="Google Shape;193;p18"/>
          <p:cNvGrpSpPr/>
          <p:nvPr/>
        </p:nvGrpSpPr>
        <p:grpSpPr>
          <a:xfrm>
            <a:off x="762120" y="1714680"/>
            <a:ext cx="5143320" cy="3047760"/>
            <a:chOff x="762120" y="1714680"/>
            <a:chExt cx="5143320" cy="3047760"/>
          </a:xfrm>
        </p:grpSpPr>
        <p:sp>
          <p:nvSpPr>
            <p:cNvPr id="161" name="Google Shape;194;p18"/>
            <p:cNvSpPr/>
            <p:nvPr/>
          </p:nvSpPr>
          <p:spPr>
            <a:xfrm>
              <a:off x="762120" y="1714680"/>
              <a:ext cx="5143320" cy="3047760"/>
            </a:xfrm>
            <a:prstGeom prst="roundRect">
              <a:avLst>
                <a:gd name="adj" fmla="val 2499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" name="Google Shape;195;p18"/>
            <p:cNvSpPr/>
            <p:nvPr/>
          </p:nvSpPr>
          <p:spPr>
            <a:xfrm>
              <a:off x="762120" y="1714680"/>
              <a:ext cx="56880" cy="3047760"/>
            </a:xfrm>
            <a:prstGeom prst="roundRect">
              <a:avLst>
                <a:gd name="adj" fmla="val 49997"/>
              </a:avLst>
            </a:prstGeom>
            <a:solidFill>
              <a:srgbClr val="d4a01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3" name="Google Shape;196;p18"/>
            <p:cNvSpPr/>
            <p:nvPr/>
          </p:nvSpPr>
          <p:spPr>
            <a:xfrm>
              <a:off x="1000080" y="1952640"/>
              <a:ext cx="4667040" cy="28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200" spc="-1" strike="noStrike">
                  <a:solidFill>
                    <a:srgbClr val="d4a017"/>
                  </a:solidFill>
                  <a:latin typeface="Inter"/>
                  <a:ea typeface="Inter"/>
                </a:rPr>
                <a:t>TERMINAL CODE BLOCK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4" name="Google Shape;197;p18"/>
            <p:cNvSpPr/>
            <p:nvPr/>
          </p:nvSpPr>
          <p:spPr>
            <a:xfrm>
              <a:off x="1000080" y="2428920"/>
              <a:ext cx="4667040" cy="209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300" spc="-1" strike="noStrike">
                  <a:solidFill>
                    <a:srgbClr val="6b7280"/>
                  </a:solidFill>
                  <a:latin typeface="Courier New"/>
                  <a:ea typeface="Courier New"/>
                </a:rPr>
                <a:t># Attempt division by zero</a:t>
              </a:r>
              <a:endParaRPr b="0" lang="en-US" sz="13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751"/>
                </a:spcBef>
                <a:tabLst>
                  <a:tab algn="l" pos="0"/>
                </a:tabLst>
              </a:pPr>
              <a:r>
                <a:rPr b="1" lang="en" sz="1300" spc="-1" strike="noStrike">
                  <a:solidFill>
                    <a:srgbClr val="045a36"/>
                  </a:solidFill>
                  <a:latin typeface="Courier New"/>
                  <a:ea typeface="Courier New"/>
                </a:rPr>
                <a:t>try</a:t>
              </a:r>
              <a:r>
                <a:rPr b="0" lang="en" sz="1300" spc="-1" strike="noStrike">
                  <a:solidFill>
                    <a:srgbClr val="0b7a4b"/>
                  </a:solidFill>
                  <a:latin typeface="Courier New"/>
                  <a:ea typeface="Courier New"/>
                </a:rPr>
                <a:t>:</a:t>
              </a:r>
              <a:endParaRPr b="0" lang="en-US" sz="13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1125"/>
                </a:spcBef>
                <a:tabLst>
                  <a:tab algn="l" pos="0"/>
                </a:tabLst>
              </a:pPr>
              <a:r>
                <a:rPr b="0" lang="en" sz="1300" spc="-1" strike="noStrike">
                  <a:solidFill>
                    <a:srgbClr val="0b7a4b"/>
                  </a:solidFill>
                  <a:latin typeface="Courier New"/>
                  <a:ea typeface="Courier New"/>
                </a:rPr>
                <a:t>result = 10 / 0</a:t>
              </a:r>
              <a:endParaRPr b="0" lang="en-US" sz="13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1125"/>
                </a:spcBef>
                <a:tabLst>
                  <a:tab algn="l" pos="0"/>
                </a:tabLst>
              </a:pPr>
              <a:r>
                <a:rPr b="1" lang="en" sz="1300" spc="-1" strike="noStrike">
                  <a:solidFill>
                    <a:srgbClr val="045a36"/>
                  </a:solidFill>
                  <a:latin typeface="Courier New"/>
                  <a:ea typeface="Courier New"/>
                </a:rPr>
                <a:t>except</a:t>
              </a:r>
              <a:r>
                <a:rPr b="0" lang="en" sz="1300" spc="-1" strike="noStrike">
                  <a:solidFill>
                    <a:srgbClr val="0b7a4b"/>
                  </a:solidFill>
                  <a:latin typeface="Courier New"/>
                  <a:ea typeface="Courier New"/>
                </a:rPr>
                <a:t> </a:t>
              </a:r>
              <a:r>
                <a:rPr b="1" lang="en" sz="1300" spc="-1" strike="noStrike">
                  <a:solidFill>
                    <a:srgbClr val="d4a017"/>
                  </a:solidFill>
                  <a:latin typeface="Courier New"/>
                  <a:ea typeface="Courier New"/>
                </a:rPr>
                <a:t>ZeroDivisionError</a:t>
              </a:r>
              <a:r>
                <a:rPr b="0" lang="en" sz="1300" spc="-1" strike="noStrike">
                  <a:solidFill>
                    <a:srgbClr val="0b7a4b"/>
                  </a:solidFill>
                  <a:latin typeface="Courier New"/>
                  <a:ea typeface="Courier New"/>
                </a:rPr>
                <a:t>:</a:t>
              </a:r>
              <a:endParaRPr b="0" lang="en-US" sz="13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1125"/>
                </a:spcBef>
                <a:tabLst>
                  <a:tab algn="l" pos="0"/>
                </a:tabLst>
              </a:pPr>
              <a:r>
                <a:rPr b="0" lang="en" sz="1300" spc="-1" strike="noStrike">
                  <a:solidFill>
                    <a:srgbClr val="0b7a4b"/>
                  </a:solidFill>
                  <a:latin typeface="Courier New"/>
                  <a:ea typeface="Courier New"/>
                </a:rPr>
                <a:t>print(</a:t>
              </a:r>
              <a:r>
                <a:rPr b="0" lang="en" sz="1300" spc="-1" strike="noStrike">
                  <a:solidFill>
                    <a:srgbClr val="b91c1c"/>
                  </a:solidFill>
                  <a:latin typeface="Courier New"/>
                  <a:ea typeface="Courier New"/>
                </a:rPr>
                <a:t>"Cannot divide by zero!"</a:t>
              </a:r>
              <a:r>
                <a:rPr b="0" lang="en" sz="1300" spc="-1" strike="noStrike">
                  <a:solidFill>
                    <a:srgbClr val="0b7a4b"/>
                  </a:solidFill>
                  <a:latin typeface="Courier New"/>
                  <a:ea typeface="Courier New"/>
                </a:rPr>
                <a:t>)</a:t>
              </a:r>
              <a:endParaRPr b="0" lang="en-US" sz="13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65" name="Google Shape;198;p18"/>
          <p:cNvGrpSpPr/>
          <p:nvPr/>
        </p:nvGrpSpPr>
        <p:grpSpPr>
          <a:xfrm>
            <a:off x="6286680" y="1714680"/>
            <a:ext cx="5143320" cy="3047760"/>
            <a:chOff x="6286680" y="1714680"/>
            <a:chExt cx="5143320" cy="3047760"/>
          </a:xfrm>
        </p:grpSpPr>
        <p:sp>
          <p:nvSpPr>
            <p:cNvPr id="166" name="Google Shape;199;p18"/>
            <p:cNvSpPr/>
            <p:nvPr/>
          </p:nvSpPr>
          <p:spPr>
            <a:xfrm>
              <a:off x="6286680" y="1714680"/>
              <a:ext cx="5143320" cy="3047760"/>
            </a:xfrm>
            <a:prstGeom prst="roundRect">
              <a:avLst>
                <a:gd name="adj" fmla="val 374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7" name="Google Shape;200;p18"/>
            <p:cNvSpPr/>
            <p:nvPr/>
          </p:nvSpPr>
          <p:spPr>
            <a:xfrm>
              <a:off x="6286680" y="1714680"/>
              <a:ext cx="5143320" cy="37800"/>
            </a:xfrm>
            <a:prstGeom prst="roundRect">
              <a:avLst>
                <a:gd name="adj" fmla="val 50000"/>
              </a:avLst>
            </a:prstGeom>
            <a:solidFill>
              <a:srgbClr val="045a3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68" name="Google Shape;201;p18"/>
            <p:cNvSpPr/>
            <p:nvPr/>
          </p:nvSpPr>
          <p:spPr>
            <a:xfrm>
              <a:off x="6524640" y="1952640"/>
              <a:ext cx="4667040" cy="28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200" spc="-1" strike="noStrike">
                  <a:solidFill>
                    <a:srgbClr val="045a36"/>
                  </a:solidFill>
                  <a:latin typeface="Inter"/>
                  <a:ea typeface="Inter"/>
                </a:rPr>
                <a:t>BLOCK MECHANICS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9" name="Google Shape;202;p18"/>
            <p:cNvSpPr/>
            <p:nvPr/>
          </p:nvSpPr>
          <p:spPr>
            <a:xfrm>
              <a:off x="6524640" y="2428920"/>
              <a:ext cx="4667040" cy="209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500" spc="-1" strike="noStrike">
                  <a:solidFill>
                    <a:srgbClr val="045a36"/>
                  </a:solidFill>
                  <a:latin typeface="Inter SemiBold"/>
                  <a:ea typeface="Inter SemiBold"/>
                </a:rPr>
                <a:t>try block</a:t>
              </a:r>
              <a:endParaRPr b="0" lang="en-US" sz="15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300"/>
                </a:spcBef>
                <a:tabLst>
                  <a:tab algn="l" pos="0"/>
                </a:tabLst>
              </a:pPr>
              <a:r>
                <a:rPr b="0" lang="en" sz="1350" spc="-1" strike="noStrike">
                  <a:solidFill>
                    <a:srgbClr val="374151"/>
                  </a:solidFill>
                  <a:latin typeface="Inter"/>
                  <a:ea typeface="Inter"/>
                </a:rPr>
                <a:t>Contains the specific lines of code that might raise an exception during execution.</a:t>
              </a:r>
              <a:endParaRPr b="0" lang="en-US" sz="135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1500"/>
                </a:spcBef>
                <a:tabLst>
                  <a:tab algn="l" pos="0"/>
                </a:tabLst>
              </a:pPr>
              <a:r>
                <a:rPr b="0" lang="en" sz="1500" spc="-1" strike="noStrike">
                  <a:solidFill>
                    <a:srgbClr val="d4a017"/>
                  </a:solidFill>
                  <a:latin typeface="Inter SemiBold"/>
                  <a:ea typeface="Inter SemiBold"/>
                </a:rPr>
                <a:t>except block</a:t>
              </a:r>
              <a:endParaRPr b="0" lang="en-US" sz="15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300"/>
                </a:spcBef>
                <a:tabLst>
                  <a:tab algn="l" pos="0"/>
                </a:tabLst>
              </a:pPr>
              <a:r>
                <a:rPr b="0" lang="en" sz="1350" spc="-1" strike="noStrike">
                  <a:solidFill>
                    <a:srgbClr val="374151"/>
                  </a:solidFill>
                  <a:latin typeface="Inter"/>
                  <a:ea typeface="Inter"/>
                </a:rPr>
                <a:t>Contains the fallback code that executes only if an exception occurs within the </a:t>
              </a:r>
              <a:r>
                <a:rPr b="0" lang="en" sz="1350" spc="-1" strike="noStrike">
                  <a:solidFill>
                    <a:srgbClr val="1f2937"/>
                  </a:solidFill>
                  <a:latin typeface="Inter SemiBold"/>
                  <a:ea typeface="Inter SemiBold"/>
                </a:rPr>
                <a:t>try</a:t>
              </a:r>
              <a:r>
                <a:rPr b="0" lang="en" sz="1350" spc="-1" strike="noStrike">
                  <a:solidFill>
                    <a:srgbClr val="374151"/>
                  </a:solidFill>
                  <a:latin typeface="Inter"/>
                  <a:ea typeface="Inter"/>
                </a:rPr>
                <a:t> block.</a:t>
              </a:r>
              <a:endParaRPr b="0" lang="en-US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70" name="Google Shape;203;p18"/>
          <p:cNvGrpSpPr/>
          <p:nvPr/>
        </p:nvGrpSpPr>
        <p:grpSpPr>
          <a:xfrm>
            <a:off x="762120" y="4952880"/>
            <a:ext cx="10667520" cy="952200"/>
            <a:chOff x="762120" y="4952880"/>
            <a:chExt cx="10667520" cy="952200"/>
          </a:xfrm>
        </p:grpSpPr>
        <p:sp>
          <p:nvSpPr>
            <p:cNvPr id="171" name="Google Shape;204;p18"/>
            <p:cNvSpPr/>
            <p:nvPr/>
          </p:nvSpPr>
          <p:spPr>
            <a:xfrm>
              <a:off x="762120" y="4952880"/>
              <a:ext cx="10667520" cy="952200"/>
            </a:xfrm>
            <a:prstGeom prst="roundRect">
              <a:avLst>
                <a:gd name="adj" fmla="val 8000"/>
              </a:avLst>
            </a:prstGeom>
            <a:solidFill>
              <a:srgbClr val="eaf2ee"/>
            </a:solidFill>
            <a:ln w="9525">
              <a:solidFill>
                <a:srgbClr val="c3dfd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2" name="Google Shape;205;p18"/>
            <p:cNvSpPr/>
            <p:nvPr/>
          </p:nvSpPr>
          <p:spPr>
            <a:xfrm>
              <a:off x="762120" y="4952880"/>
              <a:ext cx="56880" cy="952200"/>
            </a:xfrm>
            <a:prstGeom prst="roundRect">
              <a:avLst>
                <a:gd name="adj" fmla="val 49999"/>
              </a:avLst>
            </a:prstGeom>
            <a:solidFill>
              <a:srgbClr val="045a3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3" name="Google Shape;206;p18"/>
            <p:cNvSpPr/>
            <p:nvPr/>
          </p:nvSpPr>
          <p:spPr>
            <a:xfrm>
              <a:off x="1000080" y="5124600"/>
              <a:ext cx="10191600" cy="237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200" spc="-1" strike="noStrike">
                  <a:solidFill>
                    <a:srgbClr val="045a36"/>
                  </a:solidFill>
                  <a:latin typeface="Inter"/>
                  <a:ea typeface="Inter"/>
                </a:rPr>
                <a:t>RUNTIME EXECUTION FLOW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4" name="Google Shape;207;p18"/>
            <p:cNvSpPr/>
            <p:nvPr/>
          </p:nvSpPr>
          <p:spPr>
            <a:xfrm>
              <a:off x="1000080" y="5410080"/>
              <a:ext cx="10191600" cy="428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390" spc="-1" strike="noStrike">
                  <a:solidFill>
                    <a:srgbClr val="374151"/>
                  </a:solidFill>
                  <a:latin typeface="Inter"/>
                  <a:ea typeface="Inter"/>
                </a:rPr>
                <a:t>If an exception is raised inside the </a:t>
              </a:r>
              <a:r>
                <a:rPr b="0" lang="en" sz="1390" spc="-1" strike="noStrike">
                  <a:solidFill>
                    <a:srgbClr val="1f2937"/>
                  </a:solidFill>
                  <a:latin typeface="Inter SemiBold"/>
                  <a:ea typeface="Inter SemiBold"/>
                </a:rPr>
                <a:t>try</a:t>
              </a:r>
              <a:r>
                <a:rPr b="0" lang="en" sz="1390" spc="-1" strike="noStrike">
                  <a:solidFill>
                    <a:srgbClr val="374151"/>
                  </a:solidFill>
                  <a:latin typeface="Inter"/>
                  <a:ea typeface="Inter"/>
                </a:rPr>
                <a:t> block, execution immediately jumps to the </a:t>
              </a:r>
              <a:r>
                <a:rPr b="0" lang="en" sz="1390" spc="-1" strike="noStrike">
                  <a:solidFill>
                    <a:srgbClr val="1f2937"/>
                  </a:solidFill>
                  <a:latin typeface="Inter SemiBold"/>
                  <a:ea typeface="Inter SemiBold"/>
                </a:rPr>
                <a:t>except</a:t>
              </a:r>
              <a:r>
                <a:rPr b="0" lang="en" sz="1390" spc="-1" strike="noStrike">
                  <a:solidFill>
                    <a:srgbClr val="374151"/>
                  </a:solidFill>
                  <a:latin typeface="Inter"/>
                  <a:ea typeface="Inter"/>
                </a:rPr>
                <a:t> block, bypassing the rest of the try code to execute your alternative program logic safely.</a:t>
              </a:r>
              <a:endParaRPr b="0" lang="en-US" sz="139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212;p19"/>
          <p:cNvSpPr/>
          <p:nvPr/>
        </p:nvSpPr>
        <p:spPr>
          <a:xfrm>
            <a:off x="0" y="0"/>
            <a:ext cx="12191760" cy="56880"/>
          </a:xfrm>
          <a:prstGeom prst="rect">
            <a:avLst/>
          </a:prstGeom>
          <a:solidFill>
            <a:srgbClr val="045a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Google Shape;213;p19"/>
          <p:cNvSpPr/>
          <p:nvPr/>
        </p:nvSpPr>
        <p:spPr>
          <a:xfrm>
            <a:off x="762120" y="1123920"/>
            <a:ext cx="10667520" cy="1872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Google Shape;214;p19"/>
          <p:cNvSpPr/>
          <p:nvPr/>
        </p:nvSpPr>
        <p:spPr>
          <a:xfrm>
            <a:off x="762120" y="571680"/>
            <a:ext cx="952452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2700" spc="-1" strike="noStrike">
                <a:solidFill>
                  <a:srgbClr val="045a36"/>
                </a:solidFill>
                <a:latin typeface="Montserrat SemiBold"/>
                <a:ea typeface="Montserrat SemiBold"/>
              </a:rPr>
              <a:t>Targeted Exception Handling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Google Shape;215;p19"/>
          <p:cNvSpPr/>
          <p:nvPr/>
        </p:nvSpPr>
        <p:spPr>
          <a:xfrm>
            <a:off x="762120" y="1285920"/>
            <a:ext cx="106675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600" spc="-1" strike="noStrike">
                <a:solidFill>
                  <a:srgbClr val="4b5563"/>
                </a:solidFill>
                <a:latin typeface="Inter SemiBold"/>
                <a:ea typeface="Inter SemiBold"/>
              </a:rPr>
              <a:t>Catching specific exceptions prevents masking unrelated bugs and allows targeted recovery.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79" name="Google Shape;216;p19"/>
          <p:cNvGrpSpPr/>
          <p:nvPr/>
        </p:nvGrpSpPr>
        <p:grpSpPr>
          <a:xfrm>
            <a:off x="762120" y="1857240"/>
            <a:ext cx="5095440" cy="952200"/>
            <a:chOff x="762120" y="1857240"/>
            <a:chExt cx="5095440" cy="952200"/>
          </a:xfrm>
        </p:grpSpPr>
        <p:grpSp>
          <p:nvGrpSpPr>
            <p:cNvPr id="180" name="Google Shape;217;p19"/>
            <p:cNvGrpSpPr/>
            <p:nvPr/>
          </p:nvGrpSpPr>
          <p:grpSpPr>
            <a:xfrm>
              <a:off x="762120" y="1895400"/>
              <a:ext cx="190080" cy="190080"/>
              <a:chOff x="762120" y="1895400"/>
              <a:chExt cx="190080" cy="190080"/>
            </a:xfrm>
          </p:grpSpPr>
          <p:sp>
            <p:nvSpPr>
              <p:cNvPr id="181" name="Google Shape;218;p19"/>
              <p:cNvSpPr/>
              <p:nvPr/>
            </p:nvSpPr>
            <p:spPr>
              <a:xfrm>
                <a:off x="762120" y="1895400"/>
                <a:ext cx="190080" cy="190080"/>
              </a:xfrm>
              <a:prstGeom prst="ellipse">
                <a:avLst/>
              </a:prstGeom>
              <a:solidFill>
                <a:srgbClr val="045a3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82" name="Google Shape;219;p19"/>
              <p:cNvSpPr/>
              <p:nvPr/>
            </p:nvSpPr>
            <p:spPr>
              <a:xfrm>
                <a:off x="819000" y="1952640"/>
                <a:ext cx="75960" cy="66240"/>
              </a:xfrm>
              <a:custGeom>
                <a:avLst/>
                <a:gdLst>
                  <a:gd name="textAreaLeft" fmla="*/ 0 w 75960"/>
                  <a:gd name="textAreaRight" fmla="*/ 76320 w 75960"/>
                  <a:gd name="textAreaTop" fmla="*/ 0 h 66240"/>
                  <a:gd name="textAreaBottom" fmla="*/ 66600 h 66240"/>
                </a:gdLst>
                <a:ahLst/>
                <a:rect l="textAreaLeft" t="textAreaTop" r="textAreaRight" b="textAreaBottom"/>
                <a:pathLst>
                  <a:path w="120000" h="120000">
                    <a:moveTo>
                      <a:pt x="0" y="68514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noFill/>
              <a:ln cap="rnd" w="190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sp>
          <p:nvSpPr>
            <p:cNvPr id="183" name="Google Shape;220;p19"/>
            <p:cNvSpPr/>
            <p:nvPr/>
          </p:nvSpPr>
          <p:spPr>
            <a:xfrm>
              <a:off x="1095480" y="1857240"/>
              <a:ext cx="4762080" cy="95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500" spc="-1" strike="noStrike">
                  <a:solidFill>
                    <a:srgbClr val="1f2937"/>
                  </a:solidFill>
                  <a:latin typeface="Inter SemiBold"/>
                  <a:ea typeface="Inter SemiBold"/>
                </a:rPr>
                <a:t>Specify Exception Types</a:t>
              </a:r>
              <a:r>
                <a:rPr b="0" lang="en" sz="1500" spc="-1" strike="noStrike">
                  <a:solidFill>
                    <a:srgbClr val="374151"/>
                  </a:solidFill>
                  <a:latin typeface="Inter"/>
                  <a:ea typeface="Inter"/>
                </a:rPr>
                <a:t>: Always target specific errors (such as </a:t>
              </a:r>
              <a:r>
                <a:rPr b="0" lang="en" sz="1400" spc="-1" strike="noStrike">
                  <a:solidFill>
                    <a:srgbClr val="045a36"/>
                  </a:solidFill>
                  <a:latin typeface="Courier New"/>
                  <a:ea typeface="Courier New"/>
                </a:rPr>
                <a:t>ValueError</a:t>
              </a:r>
              <a:r>
                <a:rPr b="0" lang="en" sz="1500" spc="-1" strike="noStrike">
                  <a:solidFill>
                    <a:srgbClr val="374151"/>
                  </a:solidFill>
                  <a:latin typeface="Inter"/>
                  <a:ea typeface="Inter"/>
                </a:rPr>
                <a:t>) rather than using an overly broad or bare statement.</a:t>
              </a:r>
              <a:endParaRPr b="0" lang="en-US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4" name="Google Shape;221;p19"/>
          <p:cNvGrpSpPr/>
          <p:nvPr/>
        </p:nvGrpSpPr>
        <p:grpSpPr>
          <a:xfrm>
            <a:off x="762120" y="2952720"/>
            <a:ext cx="5095440" cy="952200"/>
            <a:chOff x="762120" y="2952720"/>
            <a:chExt cx="5095440" cy="952200"/>
          </a:xfrm>
        </p:grpSpPr>
        <p:grpSp>
          <p:nvGrpSpPr>
            <p:cNvPr id="185" name="Google Shape;222;p19"/>
            <p:cNvGrpSpPr/>
            <p:nvPr/>
          </p:nvGrpSpPr>
          <p:grpSpPr>
            <a:xfrm>
              <a:off x="762120" y="2990880"/>
              <a:ext cx="190080" cy="190080"/>
              <a:chOff x="762120" y="2990880"/>
              <a:chExt cx="190080" cy="190080"/>
            </a:xfrm>
          </p:grpSpPr>
          <p:sp>
            <p:nvSpPr>
              <p:cNvPr id="186" name="Google Shape;223;p19"/>
              <p:cNvSpPr/>
              <p:nvPr/>
            </p:nvSpPr>
            <p:spPr>
              <a:xfrm>
                <a:off x="762120" y="2990880"/>
                <a:ext cx="190080" cy="190080"/>
              </a:xfrm>
              <a:prstGeom prst="ellipse">
                <a:avLst/>
              </a:prstGeom>
              <a:solidFill>
                <a:srgbClr val="045a3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87" name="Google Shape;224;p19"/>
              <p:cNvSpPr/>
              <p:nvPr/>
            </p:nvSpPr>
            <p:spPr>
              <a:xfrm>
                <a:off x="819000" y="3048120"/>
                <a:ext cx="75960" cy="66240"/>
              </a:xfrm>
              <a:custGeom>
                <a:avLst/>
                <a:gdLst>
                  <a:gd name="textAreaLeft" fmla="*/ 0 w 75960"/>
                  <a:gd name="textAreaRight" fmla="*/ 76320 w 75960"/>
                  <a:gd name="textAreaTop" fmla="*/ 0 h 66240"/>
                  <a:gd name="textAreaBottom" fmla="*/ 66600 h 66240"/>
                </a:gdLst>
                <a:ahLst/>
                <a:rect l="textAreaLeft" t="textAreaTop" r="textAreaRight" b="textAreaBottom"/>
                <a:pathLst>
                  <a:path w="120000" h="120000">
                    <a:moveTo>
                      <a:pt x="0" y="68514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noFill/>
              <a:ln cap="rnd" w="190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sp>
          <p:nvSpPr>
            <p:cNvPr id="188" name="Google Shape;225;p19"/>
            <p:cNvSpPr/>
            <p:nvPr/>
          </p:nvSpPr>
          <p:spPr>
            <a:xfrm>
              <a:off x="1095480" y="2952720"/>
              <a:ext cx="4762080" cy="95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500" spc="-1" strike="noStrike">
                  <a:solidFill>
                    <a:srgbClr val="1f2937"/>
                  </a:solidFill>
                  <a:latin typeface="Inter SemiBold"/>
                  <a:ea typeface="Inter SemiBold"/>
                </a:rPr>
                <a:t>Avoid Bare Excepts</a:t>
              </a:r>
              <a:r>
                <a:rPr b="0" lang="en" sz="1500" spc="-1" strike="noStrike">
                  <a:solidFill>
                    <a:srgbClr val="374151"/>
                  </a:solidFill>
                  <a:latin typeface="Inter"/>
                  <a:ea typeface="Inter"/>
                </a:rPr>
                <a:t>: Catching everything can hide vital system exit calls and syntax errors, making debugging incredibly difficult during runtime.</a:t>
              </a:r>
              <a:endParaRPr b="0" lang="en-US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89" name="Google Shape;226;p19"/>
          <p:cNvGrpSpPr/>
          <p:nvPr/>
        </p:nvGrpSpPr>
        <p:grpSpPr>
          <a:xfrm>
            <a:off x="6286680" y="1857240"/>
            <a:ext cx="5143320" cy="2761920"/>
            <a:chOff x="6286680" y="1857240"/>
            <a:chExt cx="5143320" cy="2761920"/>
          </a:xfrm>
        </p:grpSpPr>
        <p:sp>
          <p:nvSpPr>
            <p:cNvPr id="190" name="Google Shape;227;p19"/>
            <p:cNvSpPr/>
            <p:nvPr/>
          </p:nvSpPr>
          <p:spPr>
            <a:xfrm>
              <a:off x="6286680" y="1857240"/>
              <a:ext cx="5143320" cy="2761920"/>
            </a:xfrm>
            <a:prstGeom prst="roundRect">
              <a:avLst>
                <a:gd name="adj" fmla="val 2757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1" name="Google Shape;228;p19"/>
            <p:cNvSpPr/>
            <p:nvPr/>
          </p:nvSpPr>
          <p:spPr>
            <a:xfrm>
              <a:off x="6286680" y="1857240"/>
              <a:ext cx="56880" cy="2761920"/>
            </a:xfrm>
            <a:prstGeom prst="roundRect">
              <a:avLst>
                <a:gd name="adj" fmla="val 49997"/>
              </a:avLst>
            </a:prstGeom>
            <a:solidFill>
              <a:srgbClr val="d4a01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2" name="Google Shape;229;p19"/>
            <p:cNvSpPr/>
            <p:nvPr/>
          </p:nvSpPr>
          <p:spPr>
            <a:xfrm>
              <a:off x="6524640" y="2095560"/>
              <a:ext cx="4667040" cy="28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200" spc="-1" strike="noStrike">
                  <a:solidFill>
                    <a:srgbClr val="d4a017"/>
                  </a:solidFill>
                  <a:latin typeface="Inter"/>
                  <a:ea typeface="Inter"/>
                </a:rPr>
                <a:t>TRY-EXCEPT IMPLEMENTATION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3" name="Google Shape;230;p19"/>
            <p:cNvSpPr/>
            <p:nvPr/>
          </p:nvSpPr>
          <p:spPr>
            <a:xfrm>
              <a:off x="6524640" y="2571840"/>
              <a:ext cx="4667040" cy="1809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350" spc="-1" strike="noStrike">
                  <a:solidFill>
                    <a:srgbClr val="045a36"/>
                  </a:solidFill>
                  <a:latin typeface="Courier New"/>
                  <a:ea typeface="Courier New"/>
                </a:rPr>
                <a:t>try</a:t>
              </a:r>
              <a:r>
                <a:rPr b="0" lang="en" sz="1350" spc="-1" strike="noStrike">
                  <a:solidFill>
                    <a:srgbClr val="0b7a4b"/>
                  </a:solidFill>
                  <a:latin typeface="Courier New"/>
                  <a:ea typeface="Courier New"/>
                </a:rPr>
                <a:t>:</a:t>
              </a:r>
              <a:endParaRPr b="0" lang="en-US" sz="135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751"/>
                </a:spcBef>
                <a:tabLst>
                  <a:tab algn="l" pos="0"/>
                </a:tabLst>
              </a:pPr>
              <a:r>
                <a:rPr b="0" lang="en" sz="1350" spc="-1" strike="noStrike">
                  <a:solidFill>
                    <a:srgbClr val="0b7a4b"/>
                  </a:solidFill>
                  <a:latin typeface="Courier New"/>
                  <a:ea typeface="Courier New"/>
                </a:rPr>
                <a:t>num = int(</a:t>
              </a:r>
              <a:r>
                <a:rPr b="0" lang="en" sz="1350" spc="-1" strike="noStrike">
                  <a:solidFill>
                    <a:srgbClr val="d4a017"/>
                  </a:solidFill>
                  <a:latin typeface="Courier New"/>
                  <a:ea typeface="Courier New"/>
                </a:rPr>
                <a:t>"abc"</a:t>
              </a:r>
              <a:r>
                <a:rPr b="0" lang="en" sz="1350" spc="-1" strike="noStrike">
                  <a:solidFill>
                    <a:srgbClr val="0b7a4b"/>
                  </a:solidFill>
                  <a:latin typeface="Courier New"/>
                  <a:ea typeface="Courier New"/>
                </a:rPr>
                <a:t>)</a:t>
              </a:r>
              <a:endParaRPr b="0" lang="en-US" sz="135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751"/>
                </a:spcBef>
                <a:tabLst>
                  <a:tab algn="l" pos="0"/>
                </a:tabLst>
              </a:pPr>
              <a:r>
                <a:rPr b="1" lang="en" sz="1350" spc="-1" strike="noStrike">
                  <a:solidFill>
                    <a:srgbClr val="045a36"/>
                  </a:solidFill>
                  <a:latin typeface="Courier New"/>
                  <a:ea typeface="Courier New"/>
                </a:rPr>
                <a:t>except</a:t>
              </a:r>
              <a:r>
                <a:rPr b="0" lang="en" sz="1350" spc="-1" strike="noStrike">
                  <a:solidFill>
                    <a:srgbClr val="0b7a4b"/>
                  </a:solidFill>
                  <a:latin typeface="Courier New"/>
                  <a:ea typeface="Courier New"/>
                </a:rPr>
                <a:t> </a:t>
              </a:r>
              <a:r>
                <a:rPr b="1" lang="en" sz="1350" spc="-1" strike="noStrike">
                  <a:solidFill>
                    <a:srgbClr val="b91c1c"/>
                  </a:solidFill>
                  <a:latin typeface="Courier New"/>
                  <a:ea typeface="Courier New"/>
                </a:rPr>
                <a:t>ValueError</a:t>
              </a:r>
              <a:r>
                <a:rPr b="0" lang="en" sz="1350" spc="-1" strike="noStrike">
                  <a:solidFill>
                    <a:srgbClr val="0b7a4b"/>
                  </a:solidFill>
                  <a:latin typeface="Courier New"/>
                  <a:ea typeface="Courier New"/>
                </a:rPr>
                <a:t> </a:t>
              </a:r>
              <a:r>
                <a:rPr b="1" lang="en" sz="1350" spc="-1" strike="noStrike">
                  <a:solidFill>
                    <a:srgbClr val="045a36"/>
                  </a:solidFill>
                  <a:latin typeface="Courier New"/>
                  <a:ea typeface="Courier New"/>
                </a:rPr>
                <a:t>as</a:t>
              </a:r>
              <a:r>
                <a:rPr b="0" lang="en" sz="1350" spc="-1" strike="noStrike">
                  <a:solidFill>
                    <a:srgbClr val="0b7a4b"/>
                  </a:solidFill>
                  <a:latin typeface="Courier New"/>
                  <a:ea typeface="Courier New"/>
                </a:rPr>
                <a:t> e:</a:t>
              </a:r>
              <a:endParaRPr b="0" lang="en-US" sz="135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751"/>
                </a:spcBef>
                <a:tabLst>
                  <a:tab algn="l" pos="0"/>
                </a:tabLst>
              </a:pPr>
              <a:r>
                <a:rPr b="0" lang="en" sz="1350" spc="-1" strike="noStrike">
                  <a:solidFill>
                    <a:srgbClr val="0b7a4b"/>
                  </a:solidFill>
                  <a:latin typeface="Courier New"/>
                  <a:ea typeface="Courier New"/>
                </a:rPr>
                <a:t>print(f</a:t>
              </a:r>
              <a:r>
                <a:rPr b="0" lang="en" sz="1350" spc="-1" strike="noStrike">
                  <a:solidFill>
                    <a:srgbClr val="d4a017"/>
                  </a:solidFill>
                  <a:latin typeface="Courier New"/>
                  <a:ea typeface="Courier New"/>
                </a:rPr>
                <a:t>"Invalid input detected: {e}"</a:t>
              </a:r>
              <a:r>
                <a:rPr b="0" lang="en" sz="1350" spc="-1" strike="noStrike">
                  <a:solidFill>
                    <a:srgbClr val="0b7a4b"/>
                  </a:solidFill>
                  <a:latin typeface="Courier New"/>
                  <a:ea typeface="Courier New"/>
                </a:rPr>
                <a:t>)</a:t>
              </a:r>
              <a:endParaRPr b="0" lang="en-US" sz="135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1125"/>
                </a:spcBef>
                <a:tabLst>
                  <a:tab algn="l" pos="0"/>
                </a:tabLst>
              </a:pPr>
              <a:r>
                <a:rPr b="0" lang="en" sz="1150" spc="-1" strike="noStrike">
                  <a:solidFill>
                    <a:srgbClr val="6b7280"/>
                  </a:solidFill>
                  <a:latin typeface="Inter"/>
                  <a:ea typeface="Inter"/>
                </a:rPr>
                <a:t># Output: Invalid input detected: invalid literal for int()</a:t>
              </a:r>
              <a:endParaRPr b="0" lang="en-US" sz="11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94" name="Google Shape;231;p19"/>
          <p:cNvGrpSpPr/>
          <p:nvPr/>
        </p:nvGrpSpPr>
        <p:grpSpPr>
          <a:xfrm>
            <a:off x="762120" y="4857840"/>
            <a:ext cx="10667520" cy="1047600"/>
            <a:chOff x="762120" y="4857840"/>
            <a:chExt cx="10667520" cy="1047600"/>
          </a:xfrm>
        </p:grpSpPr>
        <p:sp>
          <p:nvSpPr>
            <p:cNvPr id="195" name="Google Shape;232;p19"/>
            <p:cNvSpPr/>
            <p:nvPr/>
          </p:nvSpPr>
          <p:spPr>
            <a:xfrm>
              <a:off x="762120" y="4857840"/>
              <a:ext cx="10667520" cy="1047600"/>
            </a:xfrm>
            <a:prstGeom prst="roundRect">
              <a:avLst>
                <a:gd name="adj" fmla="val 7273"/>
              </a:avLst>
            </a:prstGeom>
            <a:solidFill>
              <a:srgbClr val="fee2e2"/>
            </a:solidFill>
            <a:ln w="9525">
              <a:solidFill>
                <a:srgbClr val="f87171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6" name="Google Shape;233;p19"/>
            <p:cNvSpPr/>
            <p:nvPr/>
          </p:nvSpPr>
          <p:spPr>
            <a:xfrm>
              <a:off x="762120" y="4857840"/>
              <a:ext cx="56880" cy="1047600"/>
            </a:xfrm>
            <a:prstGeom prst="roundRect">
              <a:avLst>
                <a:gd name="adj" fmla="val 49999"/>
              </a:avLst>
            </a:prstGeom>
            <a:solidFill>
              <a:srgbClr val="b91c1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7" name="Google Shape;234;p19"/>
            <p:cNvSpPr/>
            <p:nvPr/>
          </p:nvSpPr>
          <p:spPr>
            <a:xfrm>
              <a:off x="1000080" y="5048280"/>
              <a:ext cx="10191600" cy="28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200" spc="-1" strike="noStrike">
                  <a:solidFill>
                    <a:srgbClr val="b91c1c"/>
                  </a:solidFill>
                  <a:latin typeface="Inter"/>
                  <a:ea typeface="Inter"/>
                </a:rPr>
                <a:t>WARNING: THE DANGER OF BARE EXCEPTS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8" name="Google Shape;235;p19"/>
            <p:cNvSpPr/>
            <p:nvPr/>
          </p:nvSpPr>
          <p:spPr>
            <a:xfrm>
              <a:off x="1000080" y="5381640"/>
              <a:ext cx="10191600" cy="428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350" spc="-1" strike="noStrike">
                  <a:solidFill>
                    <a:srgbClr val="7f1d1d"/>
                  </a:solidFill>
                  <a:latin typeface="Inter"/>
                  <a:ea typeface="Inter"/>
                </a:rPr>
                <a:t>Using a bare </a:t>
              </a:r>
              <a:r>
                <a:rPr b="1" lang="en" sz="1350" spc="-1" strike="noStrike">
                  <a:solidFill>
                    <a:srgbClr val="7f1d1d"/>
                  </a:solidFill>
                  <a:latin typeface="Courier New"/>
                  <a:ea typeface="Courier New"/>
                </a:rPr>
                <a:t>except:</a:t>
              </a:r>
              <a:r>
                <a:rPr b="0" lang="en" sz="1350" spc="-1" strike="noStrike">
                  <a:solidFill>
                    <a:srgbClr val="7f1d1d"/>
                  </a:solidFill>
                  <a:latin typeface="Inter"/>
                  <a:ea typeface="Inter"/>
                </a:rPr>
                <a:t> catches system exits, keyboard interrupts, and syntax bugs, preventing correct program termination and masking critical development mistakes.</a:t>
              </a:r>
              <a:endParaRPr b="0" lang="en-US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99" name="Google Shape;236;p19"/>
          <p:cNvSpPr/>
          <p:nvPr/>
        </p:nvSpPr>
        <p:spPr>
          <a:xfrm>
            <a:off x="762120" y="6134040"/>
            <a:ext cx="1066752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000" spc="-1" strike="noStrike">
                <a:solidFill>
                  <a:srgbClr val="6b7280"/>
                </a:solidFill>
                <a:latin typeface="Inter"/>
                <a:ea typeface="Inter"/>
              </a:rPr>
              <a:t>Error Handling in Python — The try and except blocks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41;p20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Google Shape;242;p20"/>
          <p:cNvSpPr/>
          <p:nvPr/>
        </p:nvSpPr>
        <p:spPr>
          <a:xfrm>
            <a:off x="0" y="0"/>
            <a:ext cx="12191760" cy="56880"/>
          </a:xfrm>
          <a:prstGeom prst="rect">
            <a:avLst/>
          </a:prstGeom>
          <a:solidFill>
            <a:srgbClr val="045a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Google Shape;243;p20"/>
          <p:cNvSpPr/>
          <p:nvPr/>
        </p:nvSpPr>
        <p:spPr>
          <a:xfrm>
            <a:off x="762120" y="1123920"/>
            <a:ext cx="10667520" cy="1872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Google Shape;244;p20"/>
          <p:cNvSpPr/>
          <p:nvPr/>
        </p:nvSpPr>
        <p:spPr>
          <a:xfrm>
            <a:off x="762120" y="571680"/>
            <a:ext cx="952452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2700" spc="-1" strike="noStrike">
                <a:solidFill>
                  <a:srgbClr val="045a36"/>
                </a:solidFill>
                <a:latin typeface="Montserrat SemiBold"/>
                <a:ea typeface="Montserrat SemiBold"/>
              </a:rPr>
              <a:t>Handling Multiple Exceptions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Google Shape;245;p20"/>
          <p:cNvSpPr/>
          <p:nvPr/>
        </p:nvSpPr>
        <p:spPr>
          <a:xfrm>
            <a:off x="762120" y="1285920"/>
            <a:ext cx="106675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600" spc="-1" strike="noStrike">
                <a:solidFill>
                  <a:srgbClr val="4b5563"/>
                </a:solidFill>
                <a:latin typeface="Inter SemiBold"/>
                <a:ea typeface="Inter SemiBold"/>
              </a:rPr>
              <a:t>Python allows handling different exceptions in distinct ways or grouping them together.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05" name="Google Shape;246;p20"/>
          <p:cNvGrpSpPr/>
          <p:nvPr/>
        </p:nvGrpSpPr>
        <p:grpSpPr>
          <a:xfrm>
            <a:off x="762120" y="1809720"/>
            <a:ext cx="5143320" cy="4000320"/>
            <a:chOff x="762120" y="1809720"/>
            <a:chExt cx="5143320" cy="4000320"/>
          </a:xfrm>
        </p:grpSpPr>
        <p:sp>
          <p:nvSpPr>
            <p:cNvPr id="206" name="Google Shape;247;p20"/>
            <p:cNvSpPr/>
            <p:nvPr/>
          </p:nvSpPr>
          <p:spPr>
            <a:xfrm>
              <a:off x="762120" y="1809720"/>
              <a:ext cx="5143320" cy="4000320"/>
            </a:xfrm>
            <a:prstGeom prst="roundRect">
              <a:avLst>
                <a:gd name="adj" fmla="val 2854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7" name="Google Shape;248;p20"/>
            <p:cNvSpPr/>
            <p:nvPr/>
          </p:nvSpPr>
          <p:spPr>
            <a:xfrm>
              <a:off x="762120" y="1809720"/>
              <a:ext cx="56880" cy="4000320"/>
            </a:xfrm>
            <a:prstGeom prst="roundRect">
              <a:avLst>
                <a:gd name="adj" fmla="val 49985"/>
              </a:avLst>
            </a:prstGeom>
            <a:solidFill>
              <a:srgbClr val="d4a01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8" name="Google Shape;249;p20"/>
            <p:cNvSpPr/>
            <p:nvPr/>
          </p:nvSpPr>
          <p:spPr>
            <a:xfrm>
              <a:off x="1000080" y="2048040"/>
              <a:ext cx="4667040" cy="28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200" spc="-1" strike="noStrike">
                  <a:solidFill>
                    <a:srgbClr val="d4a017"/>
                  </a:solidFill>
                  <a:latin typeface="Inter"/>
                  <a:ea typeface="Inter"/>
                </a:rPr>
                <a:t>Sequential Multi-Catch Syntax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9" name="Google Shape;250;p20"/>
            <p:cNvSpPr/>
            <p:nvPr/>
          </p:nvSpPr>
          <p:spPr>
            <a:xfrm>
              <a:off x="1000080" y="2523960"/>
              <a:ext cx="4667040" cy="3047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300" spc="-1" strike="noStrike">
                  <a:solidFill>
                    <a:srgbClr val="045a36"/>
                  </a:solidFill>
                  <a:latin typeface="Courier New"/>
                  <a:ea typeface="Courier New"/>
                </a:rPr>
                <a:t>try</a:t>
              </a:r>
              <a:r>
                <a:rPr b="0" lang="en" sz="1300" spc="-1" strike="noStrike">
                  <a:solidFill>
                    <a:srgbClr val="0b7a4b"/>
                  </a:solidFill>
                  <a:latin typeface="Courier New"/>
                  <a:ea typeface="Courier New"/>
                </a:rPr>
                <a:t>:</a:t>
              </a:r>
              <a:endParaRPr b="0" lang="en-US" sz="13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751"/>
                </a:spcBef>
                <a:tabLst>
                  <a:tab algn="l" pos="0"/>
                </a:tabLst>
              </a:pPr>
              <a:r>
                <a:rPr b="0" lang="en" sz="1300" spc="-1" strike="noStrike">
                  <a:solidFill>
                    <a:srgbClr val="1f2937"/>
                  </a:solidFill>
                  <a:latin typeface="Courier New"/>
                  <a:ea typeface="Courier New"/>
                </a:rPr>
                <a:t>value = my_list[index] / divisor</a:t>
              </a:r>
              <a:endParaRPr b="0" lang="en-US" sz="13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751"/>
                </a:spcBef>
                <a:tabLst>
                  <a:tab algn="l" pos="0"/>
                </a:tabLst>
              </a:pPr>
              <a:r>
                <a:rPr b="1" lang="en" sz="1300" spc="-1" strike="noStrike">
                  <a:solidFill>
                    <a:srgbClr val="045a36"/>
                  </a:solidFill>
                  <a:latin typeface="Courier New"/>
                  <a:ea typeface="Courier New"/>
                </a:rPr>
                <a:t>except</a:t>
              </a:r>
              <a:r>
                <a:rPr b="0" lang="en" sz="1300" spc="-1" strike="noStrike">
                  <a:solidFill>
                    <a:srgbClr val="0b7a4b"/>
                  </a:solidFill>
                  <a:latin typeface="Courier New"/>
                  <a:ea typeface="Courier New"/>
                </a:rPr>
                <a:t> </a:t>
              </a:r>
              <a:r>
                <a:rPr b="1" lang="en" sz="1300" spc="-1" strike="noStrike">
                  <a:solidFill>
                    <a:srgbClr val="d4a017"/>
                  </a:solidFill>
                  <a:latin typeface="Courier New"/>
                  <a:ea typeface="Courier New"/>
                </a:rPr>
                <a:t>IndexError</a:t>
              </a:r>
              <a:r>
                <a:rPr b="0" lang="en" sz="1300" spc="-1" strike="noStrike">
                  <a:solidFill>
                    <a:srgbClr val="0b7a4b"/>
                  </a:solidFill>
                  <a:latin typeface="Courier New"/>
                  <a:ea typeface="Courier New"/>
                </a:rPr>
                <a:t>:</a:t>
              </a:r>
              <a:endParaRPr b="0" lang="en-US" sz="13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751"/>
                </a:spcBef>
                <a:tabLst>
                  <a:tab algn="l" pos="0"/>
                </a:tabLst>
              </a:pPr>
              <a:r>
                <a:rPr b="1" lang="en" sz="1300" spc="-1" strike="noStrike">
                  <a:solidFill>
                    <a:srgbClr val="045a36"/>
                  </a:solidFill>
                  <a:latin typeface="Courier New"/>
                  <a:ea typeface="Courier New"/>
                </a:rPr>
                <a:t>print</a:t>
              </a:r>
              <a:r>
                <a:rPr b="0" lang="en" sz="1300" spc="-1" strike="noStrike">
                  <a:solidFill>
                    <a:srgbClr val="0b7a4b"/>
                  </a:solidFill>
                  <a:latin typeface="Courier New"/>
                  <a:ea typeface="Courier New"/>
                </a:rPr>
                <a:t>(</a:t>
              </a:r>
              <a:r>
                <a:rPr b="0" lang="en" sz="1300" spc="-1" strike="noStrike">
                  <a:solidFill>
                    <a:srgbClr val="4b5563"/>
                  </a:solidFill>
                  <a:latin typeface="Courier New"/>
                  <a:ea typeface="Courier New"/>
                </a:rPr>
                <a:t>"Index out of bounds."</a:t>
              </a:r>
              <a:r>
                <a:rPr b="0" lang="en" sz="1300" spc="-1" strike="noStrike">
                  <a:solidFill>
                    <a:srgbClr val="0b7a4b"/>
                  </a:solidFill>
                  <a:latin typeface="Courier New"/>
                  <a:ea typeface="Courier New"/>
                </a:rPr>
                <a:t>)</a:t>
              </a:r>
              <a:endParaRPr b="0" lang="en-US" sz="13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751"/>
                </a:spcBef>
                <a:tabLst>
                  <a:tab algn="l" pos="0"/>
                </a:tabLst>
              </a:pPr>
              <a:r>
                <a:rPr b="1" lang="en" sz="1300" spc="-1" strike="noStrike">
                  <a:solidFill>
                    <a:srgbClr val="045a36"/>
                  </a:solidFill>
                  <a:latin typeface="Courier New"/>
                  <a:ea typeface="Courier New"/>
                </a:rPr>
                <a:t>except</a:t>
              </a:r>
              <a:r>
                <a:rPr b="0" lang="en" sz="1300" spc="-1" strike="noStrike">
                  <a:solidFill>
                    <a:srgbClr val="0b7a4b"/>
                  </a:solidFill>
                  <a:latin typeface="Courier New"/>
                  <a:ea typeface="Courier New"/>
                </a:rPr>
                <a:t> (</a:t>
              </a:r>
              <a:r>
                <a:rPr b="1" lang="en" sz="1300" spc="-1" strike="noStrike">
                  <a:solidFill>
                    <a:srgbClr val="d4a017"/>
                  </a:solidFill>
                  <a:latin typeface="Courier New"/>
                  <a:ea typeface="Courier New"/>
                </a:rPr>
                <a:t>TypeError</a:t>
              </a:r>
              <a:r>
                <a:rPr b="0" lang="en" sz="1300" spc="-1" strike="noStrike">
                  <a:solidFill>
                    <a:srgbClr val="0b7a4b"/>
                  </a:solidFill>
                  <a:latin typeface="Courier New"/>
                  <a:ea typeface="Courier New"/>
                </a:rPr>
                <a:t>, </a:t>
              </a:r>
              <a:r>
                <a:rPr b="1" lang="en" sz="1300" spc="-1" strike="noStrike">
                  <a:solidFill>
                    <a:srgbClr val="d4a017"/>
                  </a:solidFill>
                  <a:latin typeface="Courier New"/>
                  <a:ea typeface="Courier New"/>
                </a:rPr>
                <a:t>ZeroDivisionError</a:t>
              </a:r>
              <a:r>
                <a:rPr b="0" lang="en" sz="1300" spc="-1" strike="noStrike">
                  <a:solidFill>
                    <a:srgbClr val="0b7a4b"/>
                  </a:solidFill>
                  <a:latin typeface="Courier New"/>
                  <a:ea typeface="Courier New"/>
                </a:rPr>
                <a:t>):</a:t>
              </a:r>
              <a:endParaRPr b="0" lang="en-US" sz="13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751"/>
                </a:spcBef>
                <a:tabLst>
                  <a:tab algn="l" pos="0"/>
                </a:tabLst>
              </a:pPr>
              <a:r>
                <a:rPr b="1" lang="en" sz="1300" spc="-1" strike="noStrike">
                  <a:solidFill>
                    <a:srgbClr val="045a36"/>
                  </a:solidFill>
                  <a:latin typeface="Courier New"/>
                  <a:ea typeface="Courier New"/>
                </a:rPr>
                <a:t>print</a:t>
              </a:r>
              <a:r>
                <a:rPr b="0" lang="en" sz="1300" spc="-1" strike="noStrike">
                  <a:solidFill>
                    <a:srgbClr val="0b7a4b"/>
                  </a:solidFill>
                  <a:latin typeface="Courier New"/>
                  <a:ea typeface="Courier New"/>
                </a:rPr>
                <a:t>(</a:t>
              </a:r>
              <a:r>
                <a:rPr b="0" lang="en" sz="1300" spc="-1" strike="noStrike">
                  <a:solidFill>
                    <a:srgbClr val="4b5563"/>
                  </a:solidFill>
                  <a:latin typeface="Courier New"/>
                  <a:ea typeface="Courier New"/>
                </a:rPr>
                <a:t>"Math operation failed."</a:t>
              </a:r>
              <a:r>
                <a:rPr b="0" lang="en" sz="1300" spc="-1" strike="noStrike">
                  <a:solidFill>
                    <a:srgbClr val="0b7a4b"/>
                  </a:solidFill>
                  <a:latin typeface="Courier New"/>
                  <a:ea typeface="Courier New"/>
                </a:rPr>
                <a:t>)</a:t>
              </a:r>
              <a:endParaRPr b="0" lang="en-US" sz="13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10" name="Google Shape;251;p20"/>
          <p:cNvGrpSpPr/>
          <p:nvPr/>
        </p:nvGrpSpPr>
        <p:grpSpPr>
          <a:xfrm>
            <a:off x="6286680" y="1809720"/>
            <a:ext cx="5143320" cy="4000320"/>
            <a:chOff x="6286680" y="1809720"/>
            <a:chExt cx="5143320" cy="4000320"/>
          </a:xfrm>
        </p:grpSpPr>
        <p:sp>
          <p:nvSpPr>
            <p:cNvPr id="211" name="Google Shape;252;p20"/>
            <p:cNvSpPr/>
            <p:nvPr/>
          </p:nvSpPr>
          <p:spPr>
            <a:xfrm>
              <a:off x="6286680" y="1809720"/>
              <a:ext cx="5143320" cy="4000320"/>
            </a:xfrm>
            <a:prstGeom prst="roundRect">
              <a:avLst>
                <a:gd name="adj" fmla="val 285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2" name="Google Shape;253;p20"/>
            <p:cNvSpPr/>
            <p:nvPr/>
          </p:nvSpPr>
          <p:spPr>
            <a:xfrm>
              <a:off x="6286680" y="1809720"/>
              <a:ext cx="5143320" cy="37800"/>
            </a:xfrm>
            <a:prstGeom prst="roundRect">
              <a:avLst>
                <a:gd name="adj" fmla="val 50000"/>
              </a:avLst>
            </a:prstGeom>
            <a:solidFill>
              <a:srgbClr val="045a3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3" name="Google Shape;254;p20"/>
            <p:cNvSpPr/>
            <p:nvPr/>
          </p:nvSpPr>
          <p:spPr>
            <a:xfrm>
              <a:off x="6524640" y="2048040"/>
              <a:ext cx="4667040" cy="28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200" spc="-1" strike="noStrike">
                  <a:solidFill>
                    <a:srgbClr val="045a36"/>
                  </a:solidFill>
                  <a:latin typeface="Inter"/>
                  <a:ea typeface="Inter"/>
                </a:rPr>
                <a:t>Exception Handling Concepts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4" name="Google Shape;255;p20"/>
            <p:cNvSpPr/>
            <p:nvPr/>
          </p:nvSpPr>
          <p:spPr>
            <a:xfrm>
              <a:off x="6524640" y="2523960"/>
              <a:ext cx="4667040" cy="3047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500" spc="-1" strike="noStrike">
                  <a:solidFill>
                    <a:srgbClr val="1f2937"/>
                  </a:solidFill>
                  <a:latin typeface="Inter SemiBold"/>
                  <a:ea typeface="Inter SemiBold"/>
                </a:rPr>
                <a:t>Separate Blocks (Sequential Logic)</a:t>
              </a:r>
              <a:endParaRPr b="0" lang="en-US" sz="15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300"/>
                </a:spcBef>
                <a:tabLst>
                  <a:tab algn="l" pos="0"/>
                </a:tabLst>
              </a:pPr>
              <a:r>
                <a:rPr b="0" lang="en" sz="1500" spc="-1" strike="noStrike">
                  <a:solidFill>
                    <a:srgbClr val="374151"/>
                  </a:solidFill>
                  <a:latin typeface="Inter"/>
                  <a:ea typeface="Inter"/>
                </a:rPr>
                <a:t>Chain multiple </a:t>
              </a:r>
              <a:r>
                <a:rPr b="0" lang="en" sz="1500" spc="-1" strike="noStrike">
                  <a:solidFill>
                    <a:srgbClr val="045a36"/>
                  </a:solidFill>
                  <a:latin typeface="Courier New"/>
                  <a:ea typeface="Courier New"/>
                </a:rPr>
                <a:t>except</a:t>
              </a:r>
              <a:r>
                <a:rPr b="0" lang="en" sz="1500" spc="-1" strike="noStrike">
                  <a:solidFill>
                    <a:srgbClr val="374151"/>
                  </a:solidFill>
                  <a:latin typeface="Inter"/>
                  <a:ea typeface="Inter"/>
                </a:rPr>
                <a:t> blocks sequentially to handle different errors with unique, dedicated logic (e.g., catching </a:t>
              </a:r>
              <a:r>
                <a:rPr b="0" lang="en" sz="1500" spc="-1" strike="noStrike">
                  <a:solidFill>
                    <a:srgbClr val="d4a017"/>
                  </a:solidFill>
                  <a:latin typeface="Courier New"/>
                  <a:ea typeface="Courier New"/>
                </a:rPr>
                <a:t>IndexError</a:t>
              </a:r>
              <a:r>
                <a:rPr b="0" lang="en" sz="1500" spc="-1" strike="noStrike">
                  <a:solidFill>
                    <a:srgbClr val="374151"/>
                  </a:solidFill>
                  <a:latin typeface="Inter"/>
                  <a:ea typeface="Inter"/>
                </a:rPr>
                <a:t> specifically).</a:t>
              </a:r>
              <a:endParaRPr b="0" lang="en-US" sz="15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1500"/>
                </a:spcBef>
                <a:tabLst>
                  <a:tab algn="l" pos="0"/>
                </a:tabLst>
              </a:pPr>
              <a:r>
                <a:rPr b="0" lang="en" sz="1500" spc="-1" strike="noStrike">
                  <a:solidFill>
                    <a:srgbClr val="1f2937"/>
                  </a:solidFill>
                  <a:latin typeface="Inter SemiBold"/>
                  <a:ea typeface="Inter SemiBold"/>
                </a:rPr>
                <a:t>Tuple Grouping (Shared Handling)</a:t>
              </a:r>
              <a:endParaRPr b="0" lang="en-US" sz="15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300"/>
                </a:spcBef>
                <a:tabLst>
                  <a:tab algn="l" pos="0"/>
                </a:tabLst>
              </a:pPr>
              <a:r>
                <a:rPr b="0" lang="en" sz="1500" spc="-1" strike="noStrike">
                  <a:solidFill>
                    <a:srgbClr val="374151"/>
                  </a:solidFill>
                  <a:latin typeface="Inter"/>
                  <a:ea typeface="Inter"/>
                </a:rPr>
                <a:t>Catch multiple related exception types in a single block using a tuple. This allows treating distinct failure modes, such as </a:t>
              </a:r>
              <a:r>
                <a:rPr b="0" lang="en" sz="1500" spc="-1" strike="noStrike">
                  <a:solidFill>
                    <a:srgbClr val="d4a017"/>
                  </a:solidFill>
                  <a:latin typeface="Courier New"/>
                  <a:ea typeface="Courier New"/>
                </a:rPr>
                <a:t>TypeError</a:t>
              </a:r>
              <a:r>
                <a:rPr b="0" lang="en" sz="1500" spc="-1" strike="noStrike">
                  <a:solidFill>
                    <a:srgbClr val="374151"/>
                  </a:solidFill>
                  <a:latin typeface="Inter"/>
                  <a:ea typeface="Inter"/>
                </a:rPr>
                <a:t> and </a:t>
              </a:r>
              <a:r>
                <a:rPr b="0" lang="en" sz="1500" spc="-1" strike="noStrike">
                  <a:solidFill>
                    <a:srgbClr val="d4a017"/>
                  </a:solidFill>
                  <a:latin typeface="Courier New"/>
                  <a:ea typeface="Courier New"/>
                </a:rPr>
                <a:t>ZeroDivisionError</a:t>
              </a:r>
              <a:r>
                <a:rPr b="0" lang="en" sz="1500" spc="-1" strike="noStrike">
                  <a:solidFill>
                    <a:srgbClr val="374151"/>
                  </a:solidFill>
                  <a:latin typeface="Inter"/>
                  <a:ea typeface="Inter"/>
                </a:rPr>
                <a:t>, with the same unified response logic.</a:t>
              </a:r>
              <a:endParaRPr b="0" lang="en-US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15" name="Google Shape;256;p20"/>
          <p:cNvSpPr/>
          <p:nvPr/>
        </p:nvSpPr>
        <p:spPr>
          <a:xfrm>
            <a:off x="762120" y="6134040"/>
            <a:ext cx="7619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000" spc="-1" strike="noStrike">
                <a:solidFill>
                  <a:srgbClr val="6b7280"/>
                </a:solidFill>
                <a:latin typeface="Inter"/>
                <a:ea typeface="Inter"/>
              </a:rPr>
              <a:t>Python Programming Course | Error Handling &amp; Exception Propagation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61;p21"/>
          <p:cNvSpPr/>
          <p:nvPr/>
        </p:nvSpPr>
        <p:spPr>
          <a:xfrm>
            <a:off x="0" y="0"/>
            <a:ext cx="12191760" cy="56880"/>
          </a:xfrm>
          <a:prstGeom prst="rect">
            <a:avLst/>
          </a:prstGeom>
          <a:solidFill>
            <a:srgbClr val="045a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Google Shape;262;p21"/>
          <p:cNvSpPr/>
          <p:nvPr/>
        </p:nvSpPr>
        <p:spPr>
          <a:xfrm>
            <a:off x="762120" y="1123920"/>
            <a:ext cx="10667520" cy="1872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18" name="Google Shape;263;p21"/>
          <p:cNvGrpSpPr/>
          <p:nvPr/>
        </p:nvGrpSpPr>
        <p:grpSpPr>
          <a:xfrm>
            <a:off x="762120" y="571680"/>
            <a:ext cx="9524520" cy="428400"/>
            <a:chOff x="762120" y="571680"/>
            <a:chExt cx="9524520" cy="428400"/>
          </a:xfrm>
        </p:grpSpPr>
        <p:sp>
          <p:nvSpPr>
            <p:cNvPr id="219" name="Google Shape;264;p21"/>
            <p:cNvSpPr/>
            <p:nvPr/>
          </p:nvSpPr>
          <p:spPr>
            <a:xfrm>
              <a:off x="762120" y="571680"/>
              <a:ext cx="9524520" cy="428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0" name="Google Shape;265;p21"/>
            <p:cNvSpPr/>
            <p:nvPr/>
          </p:nvSpPr>
          <p:spPr>
            <a:xfrm>
              <a:off x="762120" y="571680"/>
              <a:ext cx="9524520" cy="428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2700" spc="-1" strike="noStrike">
                  <a:solidFill>
                    <a:srgbClr val="045a36"/>
                  </a:solidFill>
                  <a:latin typeface="Montserrat SemiBold"/>
                  <a:ea typeface="Montserrat SemiBold"/>
                </a:rPr>
                <a:t>The else Block in Exception Handling</a:t>
              </a:r>
              <a:endParaRPr b="0" lang="en-US" sz="27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1" name="Google Shape;266;p21"/>
          <p:cNvGrpSpPr/>
          <p:nvPr/>
        </p:nvGrpSpPr>
        <p:grpSpPr>
          <a:xfrm>
            <a:off x="762120" y="1285920"/>
            <a:ext cx="10667520" cy="333000"/>
            <a:chOff x="762120" y="1285920"/>
            <a:chExt cx="10667520" cy="333000"/>
          </a:xfrm>
        </p:grpSpPr>
        <p:sp>
          <p:nvSpPr>
            <p:cNvPr id="222" name="Google Shape;267;p21"/>
            <p:cNvSpPr/>
            <p:nvPr/>
          </p:nvSpPr>
          <p:spPr>
            <a:xfrm>
              <a:off x="762120" y="1285920"/>
              <a:ext cx="10667520" cy="33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3" name="Google Shape;268;p21"/>
            <p:cNvSpPr/>
            <p:nvPr/>
          </p:nvSpPr>
          <p:spPr>
            <a:xfrm>
              <a:off x="762120" y="1285920"/>
              <a:ext cx="10667520" cy="33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600" spc="-1" strike="noStrike">
                  <a:solidFill>
                    <a:srgbClr val="4b5563"/>
                  </a:solidFill>
                  <a:latin typeface="Inter SemiBold"/>
                  <a:ea typeface="Inter SemiBold"/>
                </a:rPr>
                <a:t>Executing standard code safely only when no runtime errors are raised.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4" name="Google Shape;269;p21"/>
          <p:cNvGrpSpPr/>
          <p:nvPr/>
        </p:nvGrpSpPr>
        <p:grpSpPr>
          <a:xfrm>
            <a:off x="762120" y="1762200"/>
            <a:ext cx="5143320" cy="2999880"/>
            <a:chOff x="762120" y="1762200"/>
            <a:chExt cx="5143320" cy="2999880"/>
          </a:xfrm>
        </p:grpSpPr>
        <p:sp>
          <p:nvSpPr>
            <p:cNvPr id="225" name="Google Shape;270;p21"/>
            <p:cNvSpPr/>
            <p:nvPr/>
          </p:nvSpPr>
          <p:spPr>
            <a:xfrm>
              <a:off x="762120" y="1762200"/>
              <a:ext cx="5143320" cy="2999880"/>
            </a:xfrm>
            <a:prstGeom prst="roundRect">
              <a:avLst>
                <a:gd name="adj" fmla="val 2539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6" name="Google Shape;271;p21"/>
            <p:cNvSpPr/>
            <p:nvPr/>
          </p:nvSpPr>
          <p:spPr>
            <a:xfrm>
              <a:off x="762120" y="1762200"/>
              <a:ext cx="56880" cy="2999880"/>
            </a:xfrm>
            <a:prstGeom prst="roundRect">
              <a:avLst>
                <a:gd name="adj" fmla="val 50000"/>
              </a:avLst>
            </a:prstGeom>
            <a:solidFill>
              <a:srgbClr val="d4a01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7" name="Google Shape;272;p21"/>
            <p:cNvSpPr/>
            <p:nvPr/>
          </p:nvSpPr>
          <p:spPr>
            <a:xfrm>
              <a:off x="1000080" y="1952640"/>
              <a:ext cx="4667040" cy="28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200" spc="-1" strike="noStrike">
                  <a:solidFill>
                    <a:srgbClr val="d4a017"/>
                  </a:solidFill>
                  <a:latin typeface="Inter"/>
                  <a:ea typeface="Inter"/>
                </a:rPr>
                <a:t>PYTHON CODE SNIPPET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8" name="Google Shape;273;p21"/>
            <p:cNvSpPr/>
            <p:nvPr/>
          </p:nvSpPr>
          <p:spPr>
            <a:xfrm>
              <a:off x="1000080" y="2381400"/>
              <a:ext cx="4667040" cy="223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300" spc="-1" strike="noStrike">
                  <a:solidFill>
                    <a:srgbClr val="045a36"/>
                  </a:solidFill>
                  <a:latin typeface="Courier New"/>
                  <a:ea typeface="Courier New"/>
                </a:rPr>
                <a:t>try</a:t>
              </a:r>
              <a:r>
                <a:rPr b="0" lang="en" sz="1300" spc="-1" strike="noStrike">
                  <a:solidFill>
                    <a:srgbClr val="0b7a4b"/>
                  </a:solidFill>
                  <a:latin typeface="Courier New"/>
                  <a:ea typeface="Courier New"/>
                </a:rPr>
                <a:t>:</a:t>
              </a:r>
              <a:endParaRPr b="0" lang="en-US" sz="1300" spc="-1" strike="noStrike">
                <a:solidFill>
                  <a:srgbClr val="000000"/>
                </a:solidFill>
                <a:latin typeface="Arial"/>
              </a:endParaRPr>
            </a:p>
            <a:p>
              <a:pPr marL="228600">
                <a:lnSpc>
                  <a:spcPct val="100000"/>
                </a:lnSpc>
                <a:spcBef>
                  <a:spcPts val="451"/>
                </a:spcBef>
                <a:tabLst>
                  <a:tab algn="l" pos="0"/>
                </a:tabLst>
              </a:pPr>
              <a:r>
                <a:rPr b="0" lang="en" sz="1300" spc="-1" strike="noStrike">
                  <a:solidFill>
                    <a:srgbClr val="1f2937"/>
                  </a:solidFill>
                  <a:latin typeface="Courier New"/>
                  <a:ea typeface="Courier New"/>
                </a:rPr>
                <a:t>file = open(</a:t>
              </a:r>
              <a:r>
                <a:rPr b="0" lang="en" sz="1300" spc="-1" strike="noStrike">
                  <a:solidFill>
                    <a:srgbClr val="0b7a4b"/>
                  </a:solidFill>
                  <a:latin typeface="Courier New"/>
                  <a:ea typeface="Courier New"/>
                </a:rPr>
                <a:t>"data.txt"</a:t>
              </a:r>
              <a:r>
                <a:rPr b="0" lang="en" sz="1300" spc="-1" strike="noStrike">
                  <a:solidFill>
                    <a:srgbClr val="1f2937"/>
                  </a:solidFill>
                  <a:latin typeface="Courier New"/>
                  <a:ea typeface="Courier New"/>
                </a:rPr>
                <a:t>, </a:t>
              </a:r>
              <a:r>
                <a:rPr b="0" lang="en" sz="1300" spc="-1" strike="noStrike">
                  <a:solidFill>
                    <a:srgbClr val="0b7a4b"/>
                  </a:solidFill>
                  <a:latin typeface="Courier New"/>
                  <a:ea typeface="Courier New"/>
                </a:rPr>
                <a:t>"r"</a:t>
              </a:r>
              <a:r>
                <a:rPr b="0" lang="en" sz="1300" spc="-1" strike="noStrike">
                  <a:solidFill>
                    <a:srgbClr val="1f2937"/>
                  </a:solidFill>
                  <a:latin typeface="Courier New"/>
                  <a:ea typeface="Courier New"/>
                </a:rPr>
                <a:t>)</a:t>
              </a:r>
              <a:endParaRPr b="0" lang="en-US" sz="13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451"/>
                </a:spcBef>
                <a:tabLst>
                  <a:tab algn="l" pos="0"/>
                </a:tabLst>
              </a:pPr>
              <a:r>
                <a:rPr b="1" lang="en" sz="1300" spc="-1" strike="noStrike">
                  <a:solidFill>
                    <a:srgbClr val="045a36"/>
                  </a:solidFill>
                  <a:latin typeface="Courier New"/>
                  <a:ea typeface="Courier New"/>
                </a:rPr>
                <a:t>except</a:t>
              </a:r>
              <a:r>
                <a:rPr b="0" lang="en" sz="1300" spc="-1" strike="noStrike">
                  <a:solidFill>
                    <a:srgbClr val="0b7a4b"/>
                  </a:solidFill>
                  <a:latin typeface="Courier New"/>
                  <a:ea typeface="Courier New"/>
                </a:rPr>
                <a:t> </a:t>
              </a:r>
              <a:r>
                <a:rPr b="0" lang="en" sz="1300" spc="-1" strike="noStrike">
                  <a:solidFill>
                    <a:srgbClr val="b91c1c"/>
                  </a:solidFill>
                  <a:latin typeface="Courier New"/>
                  <a:ea typeface="Courier New"/>
                </a:rPr>
                <a:t>FileNotFoundError</a:t>
              </a:r>
              <a:r>
                <a:rPr b="0" lang="en" sz="1300" spc="-1" strike="noStrike">
                  <a:solidFill>
                    <a:srgbClr val="0b7a4b"/>
                  </a:solidFill>
                  <a:latin typeface="Courier New"/>
                  <a:ea typeface="Courier New"/>
                </a:rPr>
                <a:t>:</a:t>
              </a:r>
              <a:endParaRPr b="0" lang="en-US" sz="1300" spc="-1" strike="noStrike">
                <a:solidFill>
                  <a:srgbClr val="000000"/>
                </a:solidFill>
                <a:latin typeface="Arial"/>
              </a:endParaRPr>
            </a:p>
            <a:p>
              <a:pPr marL="228600">
                <a:lnSpc>
                  <a:spcPct val="100000"/>
                </a:lnSpc>
                <a:spcBef>
                  <a:spcPts val="451"/>
                </a:spcBef>
                <a:tabLst>
                  <a:tab algn="l" pos="0"/>
                </a:tabLst>
              </a:pPr>
              <a:r>
                <a:rPr b="0" lang="en" sz="1300" spc="-1" strike="noStrike">
                  <a:solidFill>
                    <a:srgbClr val="1f2937"/>
                  </a:solidFill>
                  <a:latin typeface="Courier New"/>
                  <a:ea typeface="Courier New"/>
                </a:rPr>
                <a:t>print(</a:t>
              </a:r>
              <a:r>
                <a:rPr b="0" lang="en" sz="1300" spc="-1" strike="noStrike">
                  <a:solidFill>
                    <a:srgbClr val="0b7a4b"/>
                  </a:solidFill>
                  <a:latin typeface="Courier New"/>
                  <a:ea typeface="Courier New"/>
                </a:rPr>
                <a:t>"File missing."</a:t>
              </a:r>
              <a:r>
                <a:rPr b="0" lang="en" sz="1300" spc="-1" strike="noStrike">
                  <a:solidFill>
                    <a:srgbClr val="1f2937"/>
                  </a:solidFill>
                  <a:latin typeface="Courier New"/>
                  <a:ea typeface="Courier New"/>
                </a:rPr>
                <a:t>)</a:t>
              </a:r>
              <a:endParaRPr b="0" lang="en-US" sz="13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451"/>
                </a:spcBef>
                <a:tabLst>
                  <a:tab algn="l" pos="0"/>
                </a:tabLst>
              </a:pPr>
              <a:r>
                <a:rPr b="1" lang="en" sz="1300" spc="-1" strike="noStrike">
                  <a:solidFill>
                    <a:srgbClr val="045a36"/>
                  </a:solidFill>
                  <a:latin typeface="Courier New"/>
                  <a:ea typeface="Courier New"/>
                </a:rPr>
                <a:t>else</a:t>
              </a:r>
              <a:r>
                <a:rPr b="0" lang="en" sz="1300" spc="-1" strike="noStrike">
                  <a:solidFill>
                    <a:srgbClr val="0b7a4b"/>
                  </a:solidFill>
                  <a:latin typeface="Courier New"/>
                  <a:ea typeface="Courier New"/>
                </a:rPr>
                <a:t>:</a:t>
              </a:r>
              <a:endParaRPr b="0" lang="en-US" sz="1300" spc="-1" strike="noStrike">
                <a:solidFill>
                  <a:srgbClr val="000000"/>
                </a:solidFill>
                <a:latin typeface="Arial"/>
              </a:endParaRPr>
            </a:p>
            <a:p>
              <a:pPr marL="228600">
                <a:lnSpc>
                  <a:spcPct val="100000"/>
                </a:lnSpc>
                <a:spcBef>
                  <a:spcPts val="451"/>
                </a:spcBef>
                <a:tabLst>
                  <a:tab algn="l" pos="0"/>
                </a:tabLst>
              </a:pPr>
              <a:r>
                <a:rPr b="0" lang="en" sz="1300" spc="-1" strike="noStrike">
                  <a:solidFill>
                    <a:srgbClr val="1f2937"/>
                  </a:solidFill>
                  <a:latin typeface="Courier New"/>
                  <a:ea typeface="Courier New"/>
                </a:rPr>
                <a:t>print(</a:t>
              </a:r>
              <a:r>
                <a:rPr b="0" lang="en" sz="1300" spc="-1" strike="noStrike">
                  <a:solidFill>
                    <a:srgbClr val="0b7a4b"/>
                  </a:solidFill>
                  <a:latin typeface="Courier New"/>
                  <a:ea typeface="Courier New"/>
                </a:rPr>
                <a:t>"File opened successfully!"</a:t>
              </a:r>
              <a:r>
                <a:rPr b="0" lang="en" sz="1300" spc="-1" strike="noStrike">
                  <a:solidFill>
                    <a:srgbClr val="1f2937"/>
                  </a:solidFill>
                  <a:latin typeface="Courier New"/>
                  <a:ea typeface="Courier New"/>
                </a:rPr>
                <a:t>)</a:t>
              </a:r>
              <a:endParaRPr b="0" lang="en-US" sz="1300" spc="-1" strike="noStrike">
                <a:solidFill>
                  <a:srgbClr val="000000"/>
                </a:solidFill>
                <a:latin typeface="Arial"/>
              </a:endParaRPr>
            </a:p>
            <a:p>
              <a:pPr marL="228600">
                <a:lnSpc>
                  <a:spcPct val="100000"/>
                </a:lnSpc>
                <a:spcBef>
                  <a:spcPts val="451"/>
                </a:spcBef>
                <a:tabLst>
                  <a:tab algn="l" pos="0"/>
                </a:tabLst>
              </a:pPr>
              <a:r>
                <a:rPr b="0" lang="en" sz="1300" spc="-1" strike="noStrike">
                  <a:solidFill>
                    <a:srgbClr val="1f2937"/>
                  </a:solidFill>
                  <a:latin typeface="Courier New"/>
                  <a:ea typeface="Courier New"/>
                </a:rPr>
                <a:t>file.close()</a:t>
              </a:r>
              <a:endParaRPr b="0" lang="en-US" sz="13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29" name="Google Shape;274;p21"/>
          <p:cNvGrpSpPr/>
          <p:nvPr/>
        </p:nvGrpSpPr>
        <p:grpSpPr>
          <a:xfrm>
            <a:off x="6286680" y="1762200"/>
            <a:ext cx="5143320" cy="2999880"/>
            <a:chOff x="6286680" y="1762200"/>
            <a:chExt cx="5143320" cy="2999880"/>
          </a:xfrm>
        </p:grpSpPr>
        <p:sp>
          <p:nvSpPr>
            <p:cNvPr id="230" name="Google Shape;275;p21"/>
            <p:cNvSpPr/>
            <p:nvPr/>
          </p:nvSpPr>
          <p:spPr>
            <a:xfrm>
              <a:off x="6286680" y="1762200"/>
              <a:ext cx="5143320" cy="2999880"/>
            </a:xfrm>
            <a:prstGeom prst="roundRect">
              <a:avLst>
                <a:gd name="adj" fmla="val 380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1" name="Google Shape;276;p21"/>
            <p:cNvSpPr/>
            <p:nvPr/>
          </p:nvSpPr>
          <p:spPr>
            <a:xfrm>
              <a:off x="6286680" y="1762200"/>
              <a:ext cx="5143320" cy="37800"/>
            </a:xfrm>
            <a:prstGeom prst="roundRect">
              <a:avLst>
                <a:gd name="adj" fmla="val 50000"/>
              </a:avLst>
            </a:prstGeom>
            <a:solidFill>
              <a:srgbClr val="045a3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2" name="Google Shape;277;p21"/>
            <p:cNvSpPr/>
            <p:nvPr/>
          </p:nvSpPr>
          <p:spPr>
            <a:xfrm>
              <a:off x="6524640" y="1952640"/>
              <a:ext cx="4667040" cy="28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200" spc="-1" strike="noStrike">
                  <a:solidFill>
                    <a:srgbClr val="045a36"/>
                  </a:solidFill>
                  <a:latin typeface="Inter"/>
                  <a:ea typeface="Inter"/>
                </a:rPr>
                <a:t>BLOCK PURPOSE &amp; CLARITY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3" name="Google Shape;278;p21"/>
            <p:cNvSpPr/>
            <p:nvPr/>
          </p:nvSpPr>
          <p:spPr>
            <a:xfrm>
              <a:off x="6524640" y="2381400"/>
              <a:ext cx="4667040" cy="223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600" spc="-1" strike="noStrike">
                  <a:solidFill>
                    <a:srgbClr val="1f2937"/>
                  </a:solidFill>
                  <a:latin typeface="Inter SemiBold"/>
                  <a:ea typeface="Inter SemiBold"/>
                </a:rPr>
                <a:t>Separating Execution Paths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751"/>
                </a:spcBef>
                <a:tabLst>
                  <a:tab algn="l" pos="0"/>
                </a:tabLst>
              </a:pPr>
              <a:r>
                <a:rPr b="0" lang="en" sz="1350" spc="-1" strike="noStrike">
                  <a:solidFill>
                    <a:srgbClr val="045a36"/>
                  </a:solidFill>
                  <a:latin typeface="Inter SemiBold"/>
                  <a:ea typeface="Inter SemiBold"/>
                </a:rPr>
                <a:t>Primary Purpose:</a:t>
              </a:r>
              <a:r>
                <a:rPr b="0" lang="en" sz="1350" spc="-1" strike="noStrike">
                  <a:solidFill>
                    <a:srgbClr val="374151"/>
                  </a:solidFill>
                  <a:latin typeface="Inter"/>
                  <a:ea typeface="Inter"/>
                </a:rPr>
                <a:t> Separates code that could fail from code that should strictly run only if the risky operation succeeds.</a:t>
              </a:r>
              <a:endParaRPr b="0" lang="en-US" sz="135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1125"/>
                </a:spcBef>
                <a:tabLst>
                  <a:tab algn="l" pos="0"/>
                </a:tabLst>
              </a:pPr>
              <a:r>
                <a:rPr b="0" lang="en" sz="1350" spc="-1" strike="noStrike">
                  <a:solidFill>
                    <a:srgbClr val="045a36"/>
                  </a:solidFill>
                  <a:latin typeface="Inter SemiBold"/>
                  <a:ea typeface="Inter SemiBold"/>
                </a:rPr>
                <a:t>Code Clarity:</a:t>
              </a:r>
              <a:r>
                <a:rPr b="0" lang="en" sz="1350" spc="-1" strike="noStrike">
                  <a:solidFill>
                    <a:srgbClr val="374151"/>
                  </a:solidFill>
                  <a:latin typeface="Inter"/>
                  <a:ea typeface="Inter"/>
                </a:rPr>
                <a:t> Keeps the try block minimal, reducing the chance of accidentally catching exceptions from unrelated logic.</a:t>
              </a:r>
              <a:endParaRPr b="0" lang="en-US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4" name="Google Shape;279;p21"/>
          <p:cNvGrpSpPr/>
          <p:nvPr/>
        </p:nvGrpSpPr>
        <p:grpSpPr>
          <a:xfrm>
            <a:off x="762120" y="4952880"/>
            <a:ext cx="10667520" cy="904320"/>
            <a:chOff x="762120" y="4952880"/>
            <a:chExt cx="10667520" cy="904320"/>
          </a:xfrm>
        </p:grpSpPr>
        <p:sp>
          <p:nvSpPr>
            <p:cNvPr id="235" name="Google Shape;280;p21"/>
            <p:cNvSpPr/>
            <p:nvPr/>
          </p:nvSpPr>
          <p:spPr>
            <a:xfrm>
              <a:off x="762120" y="4952880"/>
              <a:ext cx="10667520" cy="904320"/>
            </a:xfrm>
            <a:prstGeom prst="roundRect">
              <a:avLst>
                <a:gd name="adj" fmla="val 8421"/>
              </a:avLst>
            </a:prstGeom>
            <a:solidFill>
              <a:srgbClr val="eaf2ee"/>
            </a:solidFill>
            <a:ln w="9525">
              <a:solidFill>
                <a:srgbClr val="c3dfd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6" name="Google Shape;281;p21"/>
            <p:cNvSpPr/>
            <p:nvPr/>
          </p:nvSpPr>
          <p:spPr>
            <a:xfrm>
              <a:off x="762120" y="4952880"/>
              <a:ext cx="56880" cy="904320"/>
            </a:xfrm>
            <a:prstGeom prst="roundRect">
              <a:avLst>
                <a:gd name="adj" fmla="val 50000"/>
              </a:avLst>
            </a:prstGeom>
            <a:solidFill>
              <a:srgbClr val="045a3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7" name="Google Shape;282;p21"/>
            <p:cNvSpPr/>
            <p:nvPr/>
          </p:nvSpPr>
          <p:spPr>
            <a:xfrm>
              <a:off x="1000080" y="5095800"/>
              <a:ext cx="10191600" cy="237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200" spc="-1" strike="noStrike">
                  <a:solidFill>
                    <a:srgbClr val="045a36"/>
                  </a:solidFill>
                  <a:latin typeface="Inter"/>
                  <a:ea typeface="Inter"/>
                </a:rPr>
                <a:t>KEY TAKEAWAY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8" name="Google Shape;283;p21"/>
            <p:cNvSpPr/>
            <p:nvPr/>
          </p:nvSpPr>
          <p:spPr>
            <a:xfrm>
              <a:off x="1000080" y="5381640"/>
              <a:ext cx="10191600" cy="38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250" spc="-1" strike="noStrike">
                  <a:solidFill>
                    <a:srgbClr val="1f2937"/>
                  </a:solidFill>
                  <a:latin typeface="Inter SemiBold"/>
                  <a:ea typeface="Inter SemiBold"/>
                </a:rPr>
                <a:t>The </a:t>
              </a:r>
              <a:r>
                <a:rPr b="1" lang="en" sz="1250" spc="-1" strike="noStrike">
                  <a:solidFill>
                    <a:srgbClr val="045a36"/>
                  </a:solidFill>
                  <a:latin typeface="Inter"/>
                  <a:ea typeface="Inter"/>
                </a:rPr>
                <a:t>else block</a:t>
              </a:r>
              <a:r>
                <a:rPr b="0" lang="en" sz="1250" spc="-1" strike="noStrike">
                  <a:solidFill>
                    <a:srgbClr val="1f2937"/>
                  </a:solidFill>
                  <a:latin typeface="Inter SemiBold"/>
                  <a:ea typeface="Inter SemiBold"/>
                </a:rPr>
                <a:t> executes only if the try block completes without raising any exceptions, strictly separating defensive error handling from successful execution logic.</a:t>
              </a:r>
              <a:endParaRPr b="0" lang="en-US" sz="12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39" name="Google Shape;284;p21"/>
          <p:cNvGrpSpPr/>
          <p:nvPr/>
        </p:nvGrpSpPr>
        <p:grpSpPr>
          <a:xfrm>
            <a:off x="762120" y="6134040"/>
            <a:ext cx="7619760" cy="190080"/>
            <a:chOff x="762120" y="6134040"/>
            <a:chExt cx="7619760" cy="190080"/>
          </a:xfrm>
        </p:grpSpPr>
        <p:sp>
          <p:nvSpPr>
            <p:cNvPr id="240" name="Google Shape;285;p21"/>
            <p:cNvSpPr/>
            <p:nvPr/>
          </p:nvSpPr>
          <p:spPr>
            <a:xfrm>
              <a:off x="762120" y="6134040"/>
              <a:ext cx="7619760" cy="190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1" name="Google Shape;286;p21"/>
            <p:cNvSpPr/>
            <p:nvPr/>
          </p:nvSpPr>
          <p:spPr>
            <a:xfrm>
              <a:off x="762120" y="6134040"/>
              <a:ext cx="7619760" cy="190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000" spc="-1" strike="noStrike">
                  <a:solidFill>
                    <a:srgbClr val="6b7280"/>
                  </a:solidFill>
                  <a:latin typeface="Inter"/>
                  <a:ea typeface="Inter"/>
                </a:rPr>
                <a:t>Python Programming Course | Control Flow &amp; Exception Handling</a:t>
              </a:r>
              <a:endParaRPr b="0" lang="en-US" sz="10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91;p22"/>
          <p:cNvSpPr/>
          <p:nvPr/>
        </p:nvSpPr>
        <p:spPr>
          <a:xfrm>
            <a:off x="0" y="0"/>
            <a:ext cx="12191760" cy="56880"/>
          </a:xfrm>
          <a:prstGeom prst="rect">
            <a:avLst/>
          </a:prstGeom>
          <a:solidFill>
            <a:srgbClr val="045a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Google Shape;292;p22"/>
          <p:cNvSpPr/>
          <p:nvPr/>
        </p:nvSpPr>
        <p:spPr>
          <a:xfrm>
            <a:off x="762120" y="1123920"/>
            <a:ext cx="10667520" cy="1872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Google Shape;293;p22"/>
          <p:cNvSpPr/>
          <p:nvPr/>
        </p:nvSpPr>
        <p:spPr>
          <a:xfrm>
            <a:off x="762120" y="571680"/>
            <a:ext cx="952452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2700" spc="-1" strike="noStrike">
                <a:solidFill>
                  <a:srgbClr val="045a36"/>
                </a:solidFill>
                <a:latin typeface="Montserrat SemiBold"/>
                <a:ea typeface="Montserrat SemiBold"/>
              </a:rPr>
              <a:t>Guaranteed Execution with finally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Google Shape;294;p22"/>
          <p:cNvSpPr/>
          <p:nvPr/>
        </p:nvSpPr>
        <p:spPr>
          <a:xfrm>
            <a:off x="762120" y="1285920"/>
            <a:ext cx="106675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600" spc="-1" strike="noStrike">
                <a:solidFill>
                  <a:srgbClr val="4b5563"/>
                </a:solidFill>
                <a:latin typeface="Inter SemiBold"/>
                <a:ea typeface="Inter SemiBold"/>
              </a:rPr>
              <a:t>The finally block executes unconditionally to ensure clean state and resource recovery.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46" name="Google Shape;295;p22"/>
          <p:cNvGrpSpPr/>
          <p:nvPr/>
        </p:nvGrpSpPr>
        <p:grpSpPr>
          <a:xfrm>
            <a:off x="762120" y="1714680"/>
            <a:ext cx="5143320" cy="2952720"/>
            <a:chOff x="762120" y="1714680"/>
            <a:chExt cx="5143320" cy="2952720"/>
          </a:xfrm>
        </p:grpSpPr>
        <p:sp>
          <p:nvSpPr>
            <p:cNvPr id="247" name="Google Shape;296;p22"/>
            <p:cNvSpPr/>
            <p:nvPr/>
          </p:nvSpPr>
          <p:spPr>
            <a:xfrm>
              <a:off x="762120" y="1714680"/>
              <a:ext cx="5143320" cy="2952720"/>
            </a:xfrm>
            <a:prstGeom prst="roundRect">
              <a:avLst>
                <a:gd name="adj" fmla="val 2580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8" name="Google Shape;297;p22"/>
            <p:cNvSpPr/>
            <p:nvPr/>
          </p:nvSpPr>
          <p:spPr>
            <a:xfrm>
              <a:off x="762120" y="1714680"/>
              <a:ext cx="56880" cy="2952720"/>
            </a:xfrm>
            <a:prstGeom prst="roundRect">
              <a:avLst>
                <a:gd name="adj" fmla="val 50000"/>
              </a:avLst>
            </a:prstGeom>
            <a:solidFill>
              <a:srgbClr val="d4a01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9" name="Google Shape;298;p22"/>
            <p:cNvSpPr/>
            <p:nvPr/>
          </p:nvSpPr>
          <p:spPr>
            <a:xfrm>
              <a:off x="1000080" y="1952640"/>
              <a:ext cx="4667040" cy="28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200" spc="-1" strike="noStrike">
                  <a:solidFill>
                    <a:srgbClr val="d4a017"/>
                  </a:solidFill>
                  <a:latin typeface="Inter"/>
                  <a:ea typeface="Inter"/>
                </a:rPr>
                <a:t>CONNECTION CLEANUP CODE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0" name="Google Shape;299;p22"/>
            <p:cNvSpPr/>
            <p:nvPr/>
          </p:nvSpPr>
          <p:spPr>
            <a:xfrm>
              <a:off x="1000080" y="2428920"/>
              <a:ext cx="4667040" cy="1999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300" spc="-1" strike="noStrike">
                  <a:solidFill>
                    <a:srgbClr val="045a36"/>
                  </a:solidFill>
                  <a:latin typeface="Courier New"/>
                  <a:ea typeface="Courier New"/>
                </a:rPr>
                <a:t>try</a:t>
              </a:r>
              <a:r>
                <a:rPr b="0" lang="en" sz="1300" spc="-1" strike="noStrike">
                  <a:solidFill>
                    <a:srgbClr val="0b7a4b"/>
                  </a:solidFill>
                  <a:latin typeface="Courier New"/>
                  <a:ea typeface="Courier New"/>
                </a:rPr>
                <a:t>:</a:t>
              </a:r>
              <a:endParaRPr b="0" lang="en-US" sz="1300" spc="-1" strike="noStrike">
                <a:solidFill>
                  <a:srgbClr val="000000"/>
                </a:solidFill>
                <a:latin typeface="Arial"/>
              </a:endParaRPr>
            </a:p>
            <a:p>
              <a:pPr marL="228600">
                <a:lnSpc>
                  <a:spcPct val="100000"/>
                </a:lnSpc>
                <a:spcBef>
                  <a:spcPts val="901"/>
                </a:spcBef>
                <a:tabLst>
                  <a:tab algn="l" pos="0"/>
                </a:tabLst>
              </a:pPr>
              <a:r>
                <a:rPr b="0" lang="en" sz="1300" spc="-1" strike="noStrike">
                  <a:solidFill>
                    <a:srgbClr val="0b7a4b"/>
                  </a:solidFill>
                  <a:latin typeface="Courier New"/>
                  <a:ea typeface="Courier New"/>
                </a:rPr>
                <a:t>db.connect()</a:t>
              </a:r>
              <a:endParaRPr b="0" lang="en-US" sz="1300" spc="-1" strike="noStrike">
                <a:solidFill>
                  <a:srgbClr val="000000"/>
                </a:solidFill>
                <a:latin typeface="Arial"/>
              </a:endParaRPr>
            </a:p>
            <a:p>
              <a:pPr marL="228600">
                <a:lnSpc>
                  <a:spcPct val="100000"/>
                </a:lnSpc>
                <a:spcBef>
                  <a:spcPts val="901"/>
                </a:spcBef>
                <a:tabLst>
                  <a:tab algn="l" pos="0"/>
                </a:tabLst>
              </a:pPr>
              <a:r>
                <a:rPr b="0" lang="en" sz="1300" spc="-1" strike="noStrike">
                  <a:solidFill>
                    <a:srgbClr val="0b7a4b"/>
                  </a:solidFill>
                  <a:latin typeface="Courier New"/>
                  <a:ea typeface="Courier New"/>
                </a:rPr>
                <a:t>db.execute_query()</a:t>
              </a:r>
              <a:endParaRPr b="0" lang="en-US" sz="13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901"/>
                </a:spcBef>
                <a:tabLst>
                  <a:tab algn="l" pos="0"/>
                </a:tabLst>
              </a:pPr>
              <a:r>
                <a:rPr b="1" lang="en" sz="1300" spc="-1" strike="noStrike">
                  <a:solidFill>
                    <a:srgbClr val="045a36"/>
                  </a:solidFill>
                  <a:latin typeface="Courier New"/>
                  <a:ea typeface="Courier New"/>
                </a:rPr>
                <a:t>finally</a:t>
              </a:r>
              <a:r>
                <a:rPr b="0" lang="en" sz="1300" spc="-1" strike="noStrike">
                  <a:solidFill>
                    <a:srgbClr val="0b7a4b"/>
                  </a:solidFill>
                  <a:latin typeface="Courier New"/>
                  <a:ea typeface="Courier New"/>
                </a:rPr>
                <a:t>:</a:t>
              </a:r>
              <a:endParaRPr b="0" lang="en-US" sz="1300" spc="-1" strike="noStrike">
                <a:solidFill>
                  <a:srgbClr val="000000"/>
                </a:solidFill>
                <a:latin typeface="Arial"/>
              </a:endParaRPr>
            </a:p>
            <a:p>
              <a:pPr marL="228600">
                <a:lnSpc>
                  <a:spcPct val="100000"/>
                </a:lnSpc>
                <a:spcBef>
                  <a:spcPts val="901"/>
                </a:spcBef>
                <a:tabLst>
                  <a:tab algn="l" pos="0"/>
                </a:tabLst>
              </a:pPr>
              <a:r>
                <a:rPr b="0" lang="en" sz="1300" spc="-1" strike="noStrike">
                  <a:solidFill>
                    <a:srgbClr val="0b7a4b"/>
                  </a:solidFill>
                  <a:latin typeface="Courier New"/>
                  <a:ea typeface="Courier New"/>
                </a:rPr>
                <a:t>db.disconnect() </a:t>
              </a:r>
              <a:r>
                <a:rPr b="0" lang="en" sz="1100" spc="-1" strike="noStrike">
                  <a:solidFill>
                    <a:srgbClr val="6b7280"/>
                  </a:solidFill>
                  <a:latin typeface="Inter"/>
                  <a:ea typeface="Inter"/>
                </a:rPr>
                <a:t># Always runs</a:t>
              </a:r>
              <a:endParaRPr b="0" lang="en-US" sz="11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1" name="Google Shape;300;p22"/>
          <p:cNvGrpSpPr/>
          <p:nvPr/>
        </p:nvGrpSpPr>
        <p:grpSpPr>
          <a:xfrm>
            <a:off x="6286680" y="1714680"/>
            <a:ext cx="5143320" cy="2952720"/>
            <a:chOff x="6286680" y="1714680"/>
            <a:chExt cx="5143320" cy="2952720"/>
          </a:xfrm>
        </p:grpSpPr>
        <p:sp>
          <p:nvSpPr>
            <p:cNvPr id="252" name="Google Shape;301;p22"/>
            <p:cNvSpPr/>
            <p:nvPr/>
          </p:nvSpPr>
          <p:spPr>
            <a:xfrm>
              <a:off x="6286680" y="1714680"/>
              <a:ext cx="5143320" cy="2952720"/>
            </a:xfrm>
            <a:prstGeom prst="roundRect">
              <a:avLst>
                <a:gd name="adj" fmla="val 387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3" name="Google Shape;302;p22"/>
            <p:cNvSpPr/>
            <p:nvPr/>
          </p:nvSpPr>
          <p:spPr>
            <a:xfrm>
              <a:off x="6286680" y="1714680"/>
              <a:ext cx="5143320" cy="37800"/>
            </a:xfrm>
            <a:prstGeom prst="roundRect">
              <a:avLst>
                <a:gd name="adj" fmla="val 50000"/>
              </a:avLst>
            </a:prstGeom>
            <a:solidFill>
              <a:srgbClr val="045a3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4" name="Google Shape;303;p22"/>
            <p:cNvSpPr/>
            <p:nvPr/>
          </p:nvSpPr>
          <p:spPr>
            <a:xfrm>
              <a:off x="6524640" y="1952640"/>
              <a:ext cx="4667040" cy="28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200" spc="-1" strike="noStrike">
                  <a:solidFill>
                    <a:srgbClr val="045a36"/>
                  </a:solidFill>
                  <a:latin typeface="Inter"/>
                  <a:ea typeface="Inter"/>
                </a:rPr>
                <a:t>STATE CLEANUP GUARANTEE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5" name="Google Shape;304;p22"/>
            <p:cNvSpPr/>
            <p:nvPr/>
          </p:nvSpPr>
          <p:spPr>
            <a:xfrm>
              <a:off x="6524640" y="2428920"/>
              <a:ext cx="4667040" cy="1999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500" spc="-1" strike="noStrike">
                  <a:solidFill>
                    <a:srgbClr val="045a36"/>
                  </a:solidFill>
                  <a:latin typeface="Inter SemiBold"/>
                  <a:ea typeface="Inter SemiBold"/>
                </a:rPr>
                <a:t>Unconditional Execution</a:t>
              </a:r>
              <a:endParaRPr b="0" lang="en-US" sz="15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451"/>
                </a:spcBef>
                <a:tabLst>
                  <a:tab algn="l" pos="0"/>
                </a:tabLst>
              </a:pPr>
              <a:r>
                <a:rPr b="0" lang="en" sz="1350" spc="-1" strike="noStrike">
                  <a:solidFill>
                    <a:srgbClr val="374151"/>
                  </a:solidFill>
                  <a:latin typeface="Inter"/>
                  <a:ea typeface="Inter"/>
                </a:rPr>
                <a:t>Runs even if the </a:t>
              </a:r>
              <a:r>
                <a:rPr b="1" lang="en" sz="1350" spc="-1" strike="noStrike">
                  <a:solidFill>
                    <a:srgbClr val="045a36"/>
                  </a:solidFill>
                  <a:latin typeface="Courier New"/>
                  <a:ea typeface="Courier New"/>
                </a:rPr>
                <a:t>try</a:t>
              </a:r>
              <a:r>
                <a:rPr b="0" lang="en" sz="1350" spc="-1" strike="noStrike">
                  <a:solidFill>
                    <a:srgbClr val="374151"/>
                  </a:solidFill>
                  <a:latin typeface="Inter"/>
                  <a:ea typeface="Inter"/>
                </a:rPr>
                <a:t> block succeeds, an exception is caught, or an unhandled exception propagates up.</a:t>
              </a:r>
              <a:endParaRPr b="0" lang="en-US" sz="135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1199"/>
                </a:spcBef>
                <a:tabLst>
                  <a:tab algn="l" pos="0"/>
                </a:tabLst>
              </a:pPr>
              <a:r>
                <a:rPr b="0" lang="en" sz="1500" spc="-1" strike="noStrike">
                  <a:solidFill>
                    <a:srgbClr val="045a36"/>
                  </a:solidFill>
                  <a:latin typeface="Inter SemiBold"/>
                  <a:ea typeface="Inter SemiBold"/>
                </a:rPr>
                <a:t>Primary Use Case</a:t>
              </a:r>
              <a:endParaRPr b="0" lang="en-US" sz="15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451"/>
                </a:spcBef>
                <a:tabLst>
                  <a:tab algn="l" pos="0"/>
                </a:tabLst>
              </a:pPr>
              <a:r>
                <a:rPr b="0" lang="en" sz="1350" spc="-1" strike="noStrike">
                  <a:solidFill>
                    <a:srgbClr val="374151"/>
                  </a:solidFill>
                  <a:latin typeface="Inter"/>
                  <a:ea typeface="Inter"/>
                </a:rPr>
                <a:t>Essential for resource management, such as closing files, releasing database connections, or freeing memory.</a:t>
              </a:r>
              <a:endParaRPr b="0" lang="en-US" sz="13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56" name="Google Shape;305;p22"/>
          <p:cNvGrpSpPr/>
          <p:nvPr/>
        </p:nvGrpSpPr>
        <p:grpSpPr>
          <a:xfrm>
            <a:off x="762120" y="4857840"/>
            <a:ext cx="10667520" cy="1047600"/>
            <a:chOff x="762120" y="4857840"/>
            <a:chExt cx="10667520" cy="1047600"/>
          </a:xfrm>
        </p:grpSpPr>
        <p:sp>
          <p:nvSpPr>
            <p:cNvPr id="257" name="Google Shape;306;p22"/>
            <p:cNvSpPr/>
            <p:nvPr/>
          </p:nvSpPr>
          <p:spPr>
            <a:xfrm>
              <a:off x="762120" y="4857840"/>
              <a:ext cx="10667520" cy="1047600"/>
            </a:xfrm>
            <a:prstGeom prst="roundRect">
              <a:avLst>
                <a:gd name="adj" fmla="val 7272"/>
              </a:avLst>
            </a:prstGeom>
            <a:solidFill>
              <a:srgbClr val="eaf2ee"/>
            </a:solidFill>
            <a:ln w="9525">
              <a:solidFill>
                <a:srgbClr val="c3dfd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8" name="Google Shape;307;p22"/>
            <p:cNvSpPr/>
            <p:nvPr/>
          </p:nvSpPr>
          <p:spPr>
            <a:xfrm>
              <a:off x="762120" y="4857840"/>
              <a:ext cx="56880" cy="1047600"/>
            </a:xfrm>
            <a:prstGeom prst="roundRect">
              <a:avLst>
                <a:gd name="adj" fmla="val 50000"/>
              </a:avLst>
            </a:prstGeom>
            <a:solidFill>
              <a:srgbClr val="045a3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9" name="Google Shape;308;p22"/>
            <p:cNvSpPr/>
            <p:nvPr/>
          </p:nvSpPr>
          <p:spPr>
            <a:xfrm>
              <a:off x="1000080" y="5048280"/>
              <a:ext cx="10191600" cy="28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200" spc="-1" strike="noStrike">
                  <a:solidFill>
                    <a:srgbClr val="045a36"/>
                  </a:solidFill>
                  <a:latin typeface="Inter"/>
                  <a:ea typeface="Inter"/>
                </a:rPr>
                <a:t>UNCONDITIONAL CLEANUP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0" name="Google Shape;309;p22"/>
            <p:cNvSpPr/>
            <p:nvPr/>
          </p:nvSpPr>
          <p:spPr>
            <a:xfrm>
              <a:off x="1000080" y="5334120"/>
              <a:ext cx="10191600" cy="475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500" spc="-1" strike="noStrike">
                  <a:solidFill>
                    <a:srgbClr val="1f2937"/>
                  </a:solidFill>
                  <a:latin typeface="Inter SemiBold"/>
                  <a:ea typeface="Inter SemiBold"/>
                </a:rPr>
                <a:t>The </a:t>
              </a:r>
              <a:r>
                <a:rPr b="1" lang="en" sz="1500" spc="-1" strike="noStrike">
                  <a:solidFill>
                    <a:srgbClr val="045a36"/>
                  </a:solidFill>
                  <a:latin typeface="Courier New"/>
                  <a:ea typeface="Courier New"/>
                </a:rPr>
                <a:t>finally</a:t>
              </a:r>
              <a:r>
                <a:rPr b="0" lang="en" sz="1500" spc="-1" strike="noStrike">
                  <a:solidFill>
                    <a:srgbClr val="1f2937"/>
                  </a:solidFill>
                  <a:latin typeface="Inter SemiBold"/>
                  <a:ea typeface="Inter SemiBold"/>
                </a:rPr>
                <a:t> block guarantees execution regardless of whether an exception occurred or not, securing critical cleanup steps.</a:t>
              </a:r>
              <a:endParaRPr b="0" lang="en-US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61" name="Google Shape;310;p22"/>
          <p:cNvSpPr/>
          <p:nvPr/>
        </p:nvSpPr>
        <p:spPr>
          <a:xfrm>
            <a:off x="762120" y="6134040"/>
            <a:ext cx="7619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000" spc="-1" strike="noStrike">
                <a:solidFill>
                  <a:srgbClr val="6b7280"/>
                </a:solidFill>
                <a:latin typeface="Inter"/>
                <a:ea typeface="Inter"/>
              </a:rPr>
              <a:t>Error Handling in Python | The finally Block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315;p23"/>
          <p:cNvSpPr/>
          <p:nvPr/>
        </p:nvSpPr>
        <p:spPr>
          <a:xfrm>
            <a:off x="0" y="0"/>
            <a:ext cx="12191760" cy="56880"/>
          </a:xfrm>
          <a:prstGeom prst="rect">
            <a:avLst/>
          </a:prstGeom>
          <a:solidFill>
            <a:srgbClr val="045a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Google Shape;316;p23"/>
          <p:cNvSpPr/>
          <p:nvPr/>
        </p:nvSpPr>
        <p:spPr>
          <a:xfrm>
            <a:off x="762120" y="1123920"/>
            <a:ext cx="10667520" cy="1872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Google Shape;317;p23"/>
          <p:cNvSpPr/>
          <p:nvPr/>
        </p:nvSpPr>
        <p:spPr>
          <a:xfrm>
            <a:off x="762120" y="571680"/>
            <a:ext cx="952452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2700" spc="-1" strike="noStrike">
                <a:solidFill>
                  <a:srgbClr val="045a36"/>
                </a:solidFill>
                <a:latin typeface="Montserrat SemiBold"/>
                <a:ea typeface="Montserrat SemiBold"/>
              </a:rPr>
              <a:t>Triggering Exceptions with raise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Google Shape;318;p23"/>
          <p:cNvSpPr/>
          <p:nvPr/>
        </p:nvSpPr>
        <p:spPr>
          <a:xfrm>
            <a:off x="762120" y="1285920"/>
            <a:ext cx="106675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600" spc="-1" strike="noStrike">
                <a:solidFill>
                  <a:srgbClr val="4b5563"/>
                </a:solidFill>
                <a:latin typeface="Inter SemiBold"/>
                <a:ea typeface="Inter SemiBold"/>
              </a:rPr>
              <a:t>Use the </a:t>
            </a:r>
            <a:r>
              <a:rPr b="1" lang="en" sz="1600" spc="-1" strike="noStrike">
                <a:solidFill>
                  <a:srgbClr val="045a36"/>
                </a:solidFill>
                <a:latin typeface="Courier New"/>
                <a:ea typeface="Courier New"/>
              </a:rPr>
              <a:t>raise</a:t>
            </a:r>
            <a:r>
              <a:rPr b="0" lang="en" sz="1600" spc="-1" strike="noStrike">
                <a:solidFill>
                  <a:srgbClr val="4b5563"/>
                </a:solidFill>
                <a:latin typeface="Inter SemiBold"/>
                <a:ea typeface="Inter SemiBold"/>
              </a:rPr>
              <a:t> keyword to intentionally trigger exceptions when invalid states are detected.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66" name="Google Shape;319;p23"/>
          <p:cNvGrpSpPr/>
          <p:nvPr/>
        </p:nvGrpSpPr>
        <p:grpSpPr>
          <a:xfrm>
            <a:off x="762120" y="1905120"/>
            <a:ext cx="5143320" cy="3619080"/>
            <a:chOff x="762120" y="1905120"/>
            <a:chExt cx="5143320" cy="3619080"/>
          </a:xfrm>
        </p:grpSpPr>
        <p:sp>
          <p:nvSpPr>
            <p:cNvPr id="267" name="Google Shape;320;p23"/>
            <p:cNvSpPr/>
            <p:nvPr/>
          </p:nvSpPr>
          <p:spPr>
            <a:xfrm>
              <a:off x="762120" y="1905120"/>
              <a:ext cx="5143320" cy="3619080"/>
            </a:xfrm>
            <a:prstGeom prst="roundRect">
              <a:avLst>
                <a:gd name="adj" fmla="val 2104"/>
              </a:avLst>
            </a:prstGeom>
            <a:solidFill>
              <a:srgbClr val="f1f5f9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8" name="Google Shape;321;p23"/>
            <p:cNvSpPr/>
            <p:nvPr/>
          </p:nvSpPr>
          <p:spPr>
            <a:xfrm>
              <a:off x="762120" y="1905120"/>
              <a:ext cx="56880" cy="3619080"/>
            </a:xfrm>
            <a:prstGeom prst="roundRect">
              <a:avLst>
                <a:gd name="adj" fmla="val 49997"/>
              </a:avLst>
            </a:prstGeom>
            <a:solidFill>
              <a:srgbClr val="d4a017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9" name="Google Shape;322;p23"/>
            <p:cNvSpPr/>
            <p:nvPr/>
          </p:nvSpPr>
          <p:spPr>
            <a:xfrm>
              <a:off x="1000080" y="2143080"/>
              <a:ext cx="4667040" cy="28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200" spc="-1" strike="noStrike">
                  <a:solidFill>
                    <a:srgbClr val="d4a017"/>
                  </a:solidFill>
                  <a:latin typeface="Inter"/>
                  <a:ea typeface="Inter"/>
                </a:rPr>
                <a:t>VALIDATION FUNCTION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0" name="Google Shape;323;p23"/>
            <p:cNvSpPr/>
            <p:nvPr/>
          </p:nvSpPr>
          <p:spPr>
            <a:xfrm>
              <a:off x="1000080" y="2619360"/>
              <a:ext cx="4667040" cy="2666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150" spc="-1" strike="noStrike">
                  <a:solidFill>
                    <a:srgbClr val="6b7280"/>
                  </a:solidFill>
                  <a:latin typeface="Courier New"/>
                  <a:ea typeface="Courier New"/>
                </a:rPr>
                <a:t># Define function with raise block validation</a:t>
              </a:r>
              <a:endParaRPr b="0" lang="en-US" sz="115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751"/>
                </a:spcBef>
                <a:tabLst>
                  <a:tab algn="l" pos="0"/>
                </a:tabLst>
              </a:pPr>
              <a:r>
                <a:rPr b="1" lang="en" sz="1300" spc="-1" strike="noStrike">
                  <a:solidFill>
                    <a:srgbClr val="045a36"/>
                  </a:solidFill>
                  <a:latin typeface="Courier New"/>
                  <a:ea typeface="Courier New"/>
                </a:rPr>
                <a:t>def </a:t>
              </a:r>
              <a:r>
                <a:rPr b="1" lang="en" sz="1300" spc="-1" strike="noStrike">
                  <a:solidFill>
                    <a:srgbClr val="1f2937"/>
                  </a:solidFill>
                  <a:latin typeface="Courier New"/>
                  <a:ea typeface="Courier New"/>
                </a:rPr>
                <a:t>set_age(age):</a:t>
              </a:r>
              <a:endParaRPr b="0" lang="en-US" sz="1300" spc="-1" strike="noStrike">
                <a:solidFill>
                  <a:srgbClr val="000000"/>
                </a:solidFill>
                <a:latin typeface="Arial"/>
              </a:endParaRPr>
            </a:p>
            <a:p>
              <a:pPr marL="190440">
                <a:lnSpc>
                  <a:spcPct val="100000"/>
                </a:lnSpc>
                <a:spcBef>
                  <a:spcPts val="601"/>
                </a:spcBef>
                <a:tabLst>
                  <a:tab algn="l" pos="0"/>
                </a:tabLst>
              </a:pPr>
              <a:r>
                <a:rPr b="1" lang="en" sz="1300" spc="-1" strike="noStrike">
                  <a:solidFill>
                    <a:srgbClr val="045a36"/>
                  </a:solidFill>
                  <a:latin typeface="Courier New"/>
                  <a:ea typeface="Courier New"/>
                </a:rPr>
                <a:t>if </a:t>
              </a:r>
              <a:r>
                <a:rPr b="1" lang="en" sz="1300" spc="-1" strike="noStrike">
                  <a:solidFill>
                    <a:srgbClr val="1f2937"/>
                  </a:solidFill>
                  <a:latin typeface="Courier New"/>
                  <a:ea typeface="Courier New"/>
                </a:rPr>
                <a:t>age &lt; 0:</a:t>
              </a:r>
              <a:endParaRPr b="0" lang="en-US" sz="1300" spc="-1" strike="noStrike">
                <a:solidFill>
                  <a:srgbClr val="000000"/>
                </a:solidFill>
                <a:latin typeface="Arial"/>
              </a:endParaRPr>
            </a:p>
            <a:p>
              <a:pPr marL="380880">
                <a:lnSpc>
                  <a:spcPct val="100000"/>
                </a:lnSpc>
                <a:spcBef>
                  <a:spcPts val="601"/>
                </a:spcBef>
                <a:tabLst>
                  <a:tab algn="l" pos="0"/>
                </a:tabLst>
              </a:pPr>
              <a:r>
                <a:rPr b="1" lang="en" sz="1300" spc="-1" strike="noStrike">
                  <a:solidFill>
                    <a:srgbClr val="b91c1c"/>
                  </a:solidFill>
                  <a:latin typeface="Courier New"/>
                  <a:ea typeface="Courier New"/>
                </a:rPr>
                <a:t>raise </a:t>
              </a:r>
              <a:r>
                <a:rPr b="0" lang="en" sz="1300" spc="-1" strike="noStrike">
                  <a:solidFill>
                    <a:srgbClr val="b91c1c"/>
                  </a:solidFill>
                  <a:latin typeface="Courier New"/>
                  <a:ea typeface="Courier New"/>
                </a:rPr>
                <a:t>ValueError(</a:t>
              </a:r>
              <a:r>
                <a:rPr b="0" lang="en" sz="1300" spc="-1" strike="noStrike">
                  <a:solidFill>
                    <a:srgbClr val="0b7a4b"/>
                  </a:solidFill>
                  <a:latin typeface="Courier New"/>
                  <a:ea typeface="Courier New"/>
                </a:rPr>
                <a:t>"Age cannot be negative."</a:t>
              </a:r>
              <a:r>
                <a:rPr b="0" lang="en" sz="1300" spc="-1" strike="noStrike">
                  <a:solidFill>
                    <a:srgbClr val="b91c1c"/>
                  </a:solidFill>
                  <a:latin typeface="Courier New"/>
                  <a:ea typeface="Courier New"/>
                </a:rPr>
                <a:t>)</a:t>
              </a:r>
              <a:endParaRPr b="0" lang="en-US" sz="1300" spc="-1" strike="noStrike">
                <a:solidFill>
                  <a:srgbClr val="000000"/>
                </a:solidFill>
                <a:latin typeface="Arial"/>
              </a:endParaRPr>
            </a:p>
            <a:p>
              <a:pPr marL="190440">
                <a:lnSpc>
                  <a:spcPct val="100000"/>
                </a:lnSpc>
                <a:spcBef>
                  <a:spcPts val="1125"/>
                </a:spcBef>
                <a:tabLst>
                  <a:tab algn="l" pos="0"/>
                </a:tabLst>
              </a:pPr>
              <a:r>
                <a:rPr b="0" lang="en" sz="1300" spc="-1" strike="noStrike">
                  <a:solidFill>
                    <a:srgbClr val="1f2937"/>
                  </a:solidFill>
                  <a:latin typeface="Courier New"/>
                  <a:ea typeface="Courier New"/>
                </a:rPr>
                <a:t>return age</a:t>
              </a:r>
              <a:endParaRPr b="0" lang="en-US" sz="13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1500"/>
                </a:spcBef>
                <a:tabLst>
                  <a:tab algn="l" pos="0"/>
                </a:tabLst>
              </a:pPr>
              <a:r>
                <a:rPr b="0" lang="en" sz="1100" spc="-1" strike="noStrike">
                  <a:solidFill>
                    <a:srgbClr val="6b7280"/>
                  </a:solidFill>
                  <a:latin typeface="Inter SemiBold"/>
                  <a:ea typeface="Inter SemiBold"/>
                </a:rPr>
                <a:t>SIMULATED CALL &amp; OUTPUT:</a:t>
              </a:r>
              <a:endParaRPr b="0" lang="en-US" sz="110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451"/>
                </a:spcBef>
                <a:tabLst>
                  <a:tab algn="l" pos="0"/>
                </a:tabLst>
              </a:pPr>
              <a:r>
                <a:rPr b="1" lang="en" sz="1150" spc="-1" strike="noStrike">
                  <a:solidFill>
                    <a:srgbClr val="1f2937"/>
                  </a:solidFill>
                  <a:highlight>
                    <a:srgbClr val="e2e8f0"/>
                  </a:highlight>
                  <a:latin typeface="Courier New"/>
                  <a:ea typeface="Courier New"/>
                </a:rPr>
                <a:t>&gt;&gt;&gt; set_age(-5)</a:t>
              </a:r>
              <a:endParaRPr b="0" lang="en-US" sz="115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spcBef>
                  <a:spcPts val="300"/>
                </a:spcBef>
                <a:tabLst>
                  <a:tab algn="l" pos="0"/>
                </a:tabLst>
              </a:pPr>
              <a:r>
                <a:rPr b="0" lang="en" sz="1150" spc="-1" strike="noStrike">
                  <a:solidFill>
                    <a:srgbClr val="b91c1c"/>
                  </a:solidFill>
                  <a:highlight>
                    <a:srgbClr val="fee2e2"/>
                  </a:highlight>
                  <a:latin typeface="Courier New"/>
                  <a:ea typeface="Courier New"/>
                </a:rPr>
                <a:t>ValueError: Age cannot be negative.</a:t>
              </a:r>
              <a:endParaRPr b="0" lang="en-US" sz="115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1" name="Google Shape;324;p23"/>
          <p:cNvGrpSpPr/>
          <p:nvPr/>
        </p:nvGrpSpPr>
        <p:grpSpPr>
          <a:xfrm>
            <a:off x="6286680" y="1905120"/>
            <a:ext cx="5143320" cy="3619080"/>
            <a:chOff x="6286680" y="1905120"/>
            <a:chExt cx="5143320" cy="3619080"/>
          </a:xfrm>
        </p:grpSpPr>
        <p:sp>
          <p:nvSpPr>
            <p:cNvPr id="272" name="Google Shape;325;p23"/>
            <p:cNvSpPr/>
            <p:nvPr/>
          </p:nvSpPr>
          <p:spPr>
            <a:xfrm>
              <a:off x="6286680" y="1905120"/>
              <a:ext cx="5143320" cy="3619080"/>
            </a:xfrm>
            <a:prstGeom prst="roundRect">
              <a:avLst>
                <a:gd name="adj" fmla="val 315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3" name="Google Shape;326;p23"/>
            <p:cNvSpPr/>
            <p:nvPr/>
          </p:nvSpPr>
          <p:spPr>
            <a:xfrm>
              <a:off x="6286680" y="1905120"/>
              <a:ext cx="5143320" cy="37800"/>
            </a:xfrm>
            <a:prstGeom prst="roundRect">
              <a:avLst>
                <a:gd name="adj" fmla="val 50000"/>
              </a:avLst>
            </a:prstGeom>
            <a:solidFill>
              <a:srgbClr val="045a3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4" name="Google Shape;327;p23"/>
            <p:cNvSpPr/>
            <p:nvPr/>
          </p:nvSpPr>
          <p:spPr>
            <a:xfrm>
              <a:off x="6524640" y="2143080"/>
              <a:ext cx="4667040" cy="28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200" spc="-1" strike="noStrike">
                  <a:solidFill>
                    <a:srgbClr val="045a36"/>
                  </a:solidFill>
                  <a:latin typeface="Inter"/>
                  <a:ea typeface="Inter"/>
                </a:rPr>
                <a:t>EXCEPTION DESIGN &amp; FLOW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grpSp>
          <p:nvGrpSpPr>
            <p:cNvPr id="275" name="Google Shape;328;p23"/>
            <p:cNvGrpSpPr/>
            <p:nvPr/>
          </p:nvGrpSpPr>
          <p:grpSpPr>
            <a:xfrm>
              <a:off x="6524640" y="2619360"/>
              <a:ext cx="4666680" cy="1047600"/>
              <a:chOff x="6524640" y="2619360"/>
              <a:chExt cx="4666680" cy="1047600"/>
            </a:xfrm>
          </p:grpSpPr>
          <p:grpSp>
            <p:nvGrpSpPr>
              <p:cNvPr id="276" name="Google Shape;329;p23"/>
              <p:cNvGrpSpPr/>
              <p:nvPr/>
            </p:nvGrpSpPr>
            <p:grpSpPr>
              <a:xfrm>
                <a:off x="6524640" y="2657520"/>
                <a:ext cx="190080" cy="190080"/>
                <a:chOff x="6524640" y="2657520"/>
                <a:chExt cx="190080" cy="190080"/>
              </a:xfrm>
            </p:grpSpPr>
            <p:sp>
              <p:nvSpPr>
                <p:cNvPr id="277" name="Google Shape;330;p23"/>
                <p:cNvSpPr/>
                <p:nvPr/>
              </p:nvSpPr>
              <p:spPr>
                <a:xfrm>
                  <a:off x="6524640" y="2657520"/>
                  <a:ext cx="190080" cy="190080"/>
                </a:xfrm>
                <a:prstGeom prst="ellipse">
                  <a:avLst/>
                </a:prstGeom>
                <a:solidFill>
                  <a:srgbClr val="045a36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278" name="Google Shape;331;p23"/>
                <p:cNvSpPr/>
                <p:nvPr/>
              </p:nvSpPr>
              <p:spPr>
                <a:xfrm>
                  <a:off x="6581880" y="2714760"/>
                  <a:ext cx="75960" cy="66240"/>
                </a:xfrm>
                <a:custGeom>
                  <a:avLst/>
                  <a:gdLst>
                    <a:gd name="textAreaLeft" fmla="*/ 0 w 75960"/>
                    <a:gd name="textAreaRight" fmla="*/ 76320 w 75960"/>
                    <a:gd name="textAreaTop" fmla="*/ 0 h 66240"/>
                    <a:gd name="textAreaBottom" fmla="*/ 66600 h 66240"/>
                  </a:gdLst>
                  <a:ahLst/>
                  <a:rect l="textAreaLeft" t="textAreaTop" r="textAreaRight" b="textAreaBottom"/>
                  <a:pathLst>
                    <a:path w="120000" h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noFill/>
                <a:ln cap="rnd" w="19050">
                  <a:solidFill>
                    <a:srgbClr val="ffffff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</p:grpSp>
          <p:sp>
            <p:nvSpPr>
              <p:cNvPr id="279" name="Google Shape;332;p23"/>
              <p:cNvSpPr/>
              <p:nvPr/>
            </p:nvSpPr>
            <p:spPr>
              <a:xfrm>
                <a:off x="6858000" y="2619360"/>
                <a:ext cx="4333320" cy="1047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" sz="1500" spc="-1" strike="noStrike">
                    <a:solidFill>
                      <a:srgbClr val="1f2937"/>
                    </a:solidFill>
                    <a:latin typeface="Inter SemiBold"/>
                    <a:ea typeface="Inter SemiBold"/>
                  </a:rPr>
                  <a:t>Proactive Validation</a:t>
                </a:r>
                <a:endParaRPr b="0" lang="en-US" sz="15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  <a:tabLst>
                    <a:tab algn="l" pos="0"/>
                  </a:tabLst>
                </a:pPr>
                <a:r>
                  <a:rPr b="0" lang="en" sz="1350" spc="-1" strike="noStrike">
                    <a:solidFill>
                      <a:srgbClr val="4b5563"/>
                    </a:solidFill>
                    <a:latin typeface="Inter"/>
                    <a:ea typeface="Inter"/>
                  </a:rPr>
                  <a:t>Raise errors immediately when functions receive invalid arguments or reach impossible logical states.</a:t>
                </a:r>
                <a:endParaRPr b="0" lang="en-US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  <p:grpSp>
          <p:nvGrpSpPr>
            <p:cNvPr id="280" name="Google Shape;333;p23"/>
            <p:cNvGrpSpPr/>
            <p:nvPr/>
          </p:nvGrpSpPr>
          <p:grpSpPr>
            <a:xfrm>
              <a:off x="6524640" y="3857760"/>
              <a:ext cx="4666680" cy="1142640"/>
              <a:chOff x="6524640" y="3857760"/>
              <a:chExt cx="4666680" cy="1142640"/>
            </a:xfrm>
          </p:grpSpPr>
          <p:grpSp>
            <p:nvGrpSpPr>
              <p:cNvPr id="281" name="Google Shape;334;p23"/>
              <p:cNvGrpSpPr/>
              <p:nvPr/>
            </p:nvGrpSpPr>
            <p:grpSpPr>
              <a:xfrm>
                <a:off x="6524640" y="3895560"/>
                <a:ext cx="190080" cy="190080"/>
                <a:chOff x="6524640" y="3895560"/>
                <a:chExt cx="190080" cy="190080"/>
              </a:xfrm>
            </p:grpSpPr>
            <p:sp>
              <p:nvSpPr>
                <p:cNvPr id="282" name="Google Shape;335;p23"/>
                <p:cNvSpPr/>
                <p:nvPr/>
              </p:nvSpPr>
              <p:spPr>
                <a:xfrm>
                  <a:off x="6524640" y="3895560"/>
                  <a:ext cx="190080" cy="190080"/>
                </a:xfrm>
                <a:prstGeom prst="ellipse">
                  <a:avLst/>
                </a:prstGeom>
                <a:solidFill>
                  <a:srgbClr val="045a36"/>
                </a:solidFill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  <p:sp>
              <p:nvSpPr>
                <p:cNvPr id="283" name="Google Shape;336;p23"/>
                <p:cNvSpPr/>
                <p:nvPr/>
              </p:nvSpPr>
              <p:spPr>
                <a:xfrm>
                  <a:off x="6581880" y="3952800"/>
                  <a:ext cx="75960" cy="66240"/>
                </a:xfrm>
                <a:custGeom>
                  <a:avLst/>
                  <a:gdLst>
                    <a:gd name="textAreaLeft" fmla="*/ 0 w 75960"/>
                    <a:gd name="textAreaRight" fmla="*/ 76320 w 75960"/>
                    <a:gd name="textAreaTop" fmla="*/ 0 h 66240"/>
                    <a:gd name="textAreaBottom" fmla="*/ 66600 h 66240"/>
                  </a:gdLst>
                  <a:ahLst/>
                  <a:rect l="textAreaLeft" t="textAreaTop" r="textAreaRight" b="textAreaBottom"/>
                  <a:pathLst>
                    <a:path w="120000" h="120000">
                      <a:moveTo>
                        <a:pt x="0" y="68514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noFill/>
                <a:ln cap="rnd" w="19050">
                  <a:solidFill>
                    <a:srgbClr val="ffffff"/>
                  </a:solidFill>
                  <a:round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0" rIns="0" tIns="0" bIns="0" anchor="ctr">
                  <a:noAutofit/>
                </a:bodyPr>
                <a:p>
                  <a:pPr>
                    <a:lnSpc>
                      <a:spcPct val="100000"/>
                    </a:lnSpc>
                    <a:tabLst>
                      <a:tab algn="l" pos="0"/>
                    </a:tabLst>
                  </a:pPr>
                  <a:endParaRPr b="0" lang="en-US" sz="1400" spc="-1" strike="noStrike">
                    <a:solidFill>
                      <a:srgbClr val="ffffff"/>
                    </a:solidFill>
                    <a:latin typeface="Arial"/>
                  </a:endParaRPr>
                </a:p>
              </p:txBody>
            </p:sp>
          </p:grpSp>
          <p:sp>
            <p:nvSpPr>
              <p:cNvPr id="284" name="Google Shape;337;p23"/>
              <p:cNvSpPr/>
              <p:nvPr/>
            </p:nvSpPr>
            <p:spPr>
              <a:xfrm>
                <a:off x="6858000" y="3857760"/>
                <a:ext cx="4333320" cy="11426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t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r>
                  <a:rPr b="0" lang="en" sz="1500" spc="-1" strike="noStrike">
                    <a:solidFill>
                      <a:srgbClr val="1f2937"/>
                    </a:solidFill>
                    <a:latin typeface="Inter SemiBold"/>
                    <a:ea typeface="Inter SemiBold"/>
                  </a:rPr>
                  <a:t>Flexible Customization</a:t>
                </a:r>
                <a:endParaRPr b="0" lang="en-US" sz="1500" spc="-1" strike="noStrike">
                  <a:solidFill>
                    <a:srgbClr val="000000"/>
                  </a:solidFill>
                  <a:latin typeface="Arial"/>
                </a:endParaRPr>
              </a:p>
              <a:p>
                <a:pPr>
                  <a:lnSpc>
                    <a:spcPct val="100000"/>
                  </a:lnSpc>
                  <a:spcBef>
                    <a:spcPts val="300"/>
                  </a:spcBef>
                  <a:tabLst>
                    <a:tab algn="l" pos="0"/>
                  </a:tabLst>
                </a:pPr>
                <a:r>
                  <a:rPr b="0" lang="en" sz="1350" spc="-1" strike="noStrike">
                    <a:solidFill>
                      <a:srgbClr val="4b5563"/>
                    </a:solidFill>
                    <a:latin typeface="Inter"/>
                    <a:ea typeface="Inter"/>
                  </a:rPr>
                  <a:t>You can raise built-in Python exceptions or create custom exception classes by inheriting from the base </a:t>
                </a:r>
                <a:r>
                  <a:rPr b="1" lang="en" sz="1350" spc="-1" strike="noStrike">
                    <a:solidFill>
                      <a:srgbClr val="045a36"/>
                    </a:solidFill>
                    <a:latin typeface="Courier New"/>
                    <a:ea typeface="Courier New"/>
                  </a:rPr>
                  <a:t>Exception</a:t>
                </a:r>
                <a:r>
                  <a:rPr b="0" lang="en" sz="1350" spc="-1" strike="noStrike">
                    <a:solidFill>
                      <a:srgbClr val="4b5563"/>
                    </a:solidFill>
                    <a:latin typeface="Inter"/>
                    <a:ea typeface="Inter"/>
                  </a:rPr>
                  <a:t> class.</a:t>
                </a:r>
                <a:endParaRPr b="0" lang="en-US" sz="1350" spc="-1" strike="noStrike">
                  <a:solidFill>
                    <a:srgbClr val="000000"/>
                  </a:solidFill>
                  <a:latin typeface="Arial"/>
                </a:endParaRPr>
              </a:p>
            </p:txBody>
          </p:sp>
        </p:grpSp>
      </p:grpSp>
      <p:sp>
        <p:nvSpPr>
          <p:cNvPr id="285" name="Google Shape;338;p23"/>
          <p:cNvSpPr/>
          <p:nvPr/>
        </p:nvSpPr>
        <p:spPr>
          <a:xfrm>
            <a:off x="762120" y="6134040"/>
            <a:ext cx="7619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000" spc="-1" strike="noStrike">
                <a:solidFill>
                  <a:srgbClr val="6b7280"/>
                </a:solidFill>
                <a:latin typeface="Inter"/>
                <a:ea typeface="Inter"/>
              </a:rPr>
              <a:t>Error Handling in Python - The raise Keyword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343;p24" descr="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287" name="Google Shape;344;p24"/>
          <p:cNvSpPr/>
          <p:nvPr/>
        </p:nvSpPr>
        <p:spPr>
          <a:xfrm>
            <a:off x="0" y="0"/>
            <a:ext cx="12191760" cy="56880"/>
          </a:xfrm>
          <a:prstGeom prst="rect">
            <a:avLst/>
          </a:prstGeom>
          <a:solidFill>
            <a:srgbClr val="045a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Google Shape;345;p24"/>
          <p:cNvSpPr/>
          <p:nvPr/>
        </p:nvSpPr>
        <p:spPr>
          <a:xfrm>
            <a:off x="762120" y="1123920"/>
            <a:ext cx="10667520" cy="1872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Google Shape;346;p24"/>
          <p:cNvSpPr/>
          <p:nvPr/>
        </p:nvSpPr>
        <p:spPr>
          <a:xfrm>
            <a:off x="762120" y="571680"/>
            <a:ext cx="952452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2700" spc="-1" strike="noStrike">
                <a:solidFill>
                  <a:srgbClr val="045a36"/>
                </a:solidFill>
                <a:latin typeface="Montserrat SemiBold"/>
                <a:ea typeface="Montserrat SemiBold"/>
              </a:rPr>
              <a:t>Handling Unknown Exceptions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Google Shape;347;p24"/>
          <p:cNvSpPr/>
          <p:nvPr/>
        </p:nvSpPr>
        <p:spPr>
          <a:xfrm>
            <a:off x="762120" y="1285920"/>
            <a:ext cx="106675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600" spc="-1" strike="noStrike">
                <a:solidFill>
                  <a:srgbClr val="4b5563"/>
                </a:solidFill>
                <a:latin typeface="Inter SemiBold"/>
                <a:ea typeface="Inter SemiBold"/>
              </a:rPr>
              <a:t>When the exact exception type is unknown, use Python's base Exception class to safely capture errors.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91" name="Google Shape;348;p24"/>
          <p:cNvGrpSpPr/>
          <p:nvPr/>
        </p:nvGrpSpPr>
        <p:grpSpPr>
          <a:xfrm>
            <a:off x="757080" y="1900080"/>
            <a:ext cx="5152680" cy="3247920"/>
            <a:chOff x="757080" y="1900080"/>
            <a:chExt cx="5152680" cy="3247920"/>
          </a:xfrm>
        </p:grpSpPr>
        <p:pic>
          <p:nvPicPr>
            <p:cNvPr id="292" name="Google Shape;349;p24" descr=""/>
            <p:cNvPicPr/>
            <p:nvPr/>
          </p:nvPicPr>
          <p:blipFill>
            <a:blip r:embed="rId2"/>
            <a:stretch/>
          </p:blipFill>
          <p:spPr>
            <a:xfrm>
              <a:off x="757080" y="1900080"/>
              <a:ext cx="5152680" cy="32479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93" name="Google Shape;350;p24" descr=""/>
            <p:cNvPicPr/>
            <p:nvPr/>
          </p:nvPicPr>
          <p:blipFill>
            <a:blip r:embed="rId3"/>
            <a:stretch/>
          </p:blipFill>
          <p:spPr>
            <a:xfrm>
              <a:off x="762120" y="1905120"/>
              <a:ext cx="56880" cy="32382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94" name="Google Shape;351;p24"/>
            <p:cNvSpPr/>
            <p:nvPr/>
          </p:nvSpPr>
          <p:spPr>
            <a:xfrm>
              <a:off x="1000080" y="2143080"/>
              <a:ext cx="4667040" cy="28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200" spc="-1" strike="noStrike">
                  <a:solidFill>
                    <a:srgbClr val="d4a017"/>
                  </a:solidFill>
                  <a:latin typeface="Inter"/>
                  <a:ea typeface="Inter"/>
                </a:rPr>
                <a:t>RECOMMENDED SYNTAX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5" name="Google Shape;352;p24"/>
            <p:cNvSpPr/>
            <p:nvPr/>
          </p:nvSpPr>
          <p:spPr>
            <a:xfrm>
              <a:off x="1000080" y="2619360"/>
              <a:ext cx="4667040" cy="2381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190" spc="-1" strike="noStrike">
                  <a:solidFill>
                    <a:srgbClr val="0b7a4b"/>
                  </a:solidFill>
                  <a:latin typeface="Courier New"/>
                  <a:ea typeface="Courier New"/>
                </a:rPr>
                <a:t>try</a:t>
              </a:r>
              <a:r>
                <a:rPr b="1" lang="en" sz="1190" spc="-1" strike="noStrike">
                  <a:solidFill>
                    <a:srgbClr val="1f2937"/>
                  </a:solidFill>
                  <a:latin typeface="Courier New"/>
                  <a:ea typeface="Courier New"/>
                </a:rPr>
                <a:t>:</a:t>
              </a:r>
              <a:endParaRPr b="0" lang="en-US" sz="119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190" spc="-1" strike="noStrike">
                  <a:solidFill>
                    <a:srgbClr val="6b7280"/>
                  </a:solidFill>
                  <a:latin typeface="Courier New"/>
                  <a:ea typeface="Courier New"/>
                </a:rPr>
                <a:t>    </a:t>
              </a:r>
              <a:r>
                <a:rPr b="0" lang="en" sz="1190" spc="-1" strike="noStrike">
                  <a:solidFill>
                    <a:srgbClr val="6b7280"/>
                  </a:solidFill>
                  <a:latin typeface="Courier New"/>
                  <a:ea typeface="Courier New"/>
                </a:rPr>
                <a:t># Code that might raise an error</a:t>
              </a:r>
              <a:endParaRPr b="0" lang="en-US" sz="119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190" spc="-1" strike="noStrike">
                  <a:solidFill>
                    <a:srgbClr val="1f2937"/>
                  </a:solidFill>
                  <a:latin typeface="Courier New"/>
                  <a:ea typeface="Courier New"/>
                </a:rPr>
                <a:t>    </a:t>
              </a:r>
              <a:r>
                <a:rPr b="1" lang="en" sz="1190" spc="-1" strike="noStrike">
                  <a:solidFill>
                    <a:srgbClr val="1f2937"/>
                  </a:solidFill>
                  <a:latin typeface="Courier New"/>
                  <a:ea typeface="Courier New"/>
                </a:rPr>
                <a:t>result = 10 / 0</a:t>
              </a:r>
              <a:endParaRPr b="0" lang="en-US" sz="119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190" spc="-1" strike="noStrike">
                  <a:solidFill>
                    <a:srgbClr val="0b7a4b"/>
                  </a:solidFill>
                  <a:latin typeface="Courier New"/>
                  <a:ea typeface="Courier New"/>
                </a:rPr>
                <a:t>except Exception as e</a:t>
              </a:r>
              <a:r>
                <a:rPr b="1" lang="en" sz="1190" spc="-1" strike="noStrike">
                  <a:solidFill>
                    <a:srgbClr val="1f2937"/>
                  </a:solidFill>
                  <a:latin typeface="Courier New"/>
                  <a:ea typeface="Courier New"/>
                </a:rPr>
                <a:t>:</a:t>
              </a:r>
              <a:endParaRPr b="0" lang="en-US" sz="119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190" spc="-1" strike="noStrike">
                  <a:solidFill>
                    <a:srgbClr val="6b7280"/>
                  </a:solidFill>
                  <a:latin typeface="Courier New"/>
                  <a:ea typeface="Courier New"/>
                </a:rPr>
                <a:t>    </a:t>
              </a:r>
              <a:r>
                <a:rPr b="0" lang="en" sz="1190" spc="-1" strike="noStrike">
                  <a:solidFill>
                    <a:srgbClr val="6b7280"/>
                  </a:solidFill>
                  <a:latin typeface="Courier New"/>
                  <a:ea typeface="Courier New"/>
                </a:rPr>
                <a:t># e stores the exact error message</a:t>
              </a:r>
              <a:endParaRPr b="0" lang="en-US" sz="1190" spc="-1" strike="noStrike">
                <a:solidFill>
                  <a:srgbClr val="000000"/>
                </a:solidFill>
                <a:latin typeface="Arial"/>
              </a:endParaRPr>
            </a:p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190" spc="-1" strike="noStrike">
                  <a:solidFill>
                    <a:srgbClr val="1f2937"/>
                  </a:solidFill>
                  <a:latin typeface="Courier New"/>
                  <a:ea typeface="Courier New"/>
                </a:rPr>
                <a:t>    </a:t>
              </a:r>
              <a:r>
                <a:rPr b="1" lang="en" sz="1190" spc="-1" strike="noStrike">
                  <a:solidFill>
                    <a:srgbClr val="1f2937"/>
                  </a:solidFill>
                  <a:latin typeface="Courier New"/>
                  <a:ea typeface="Courier New"/>
                </a:rPr>
                <a:t>print(f</a:t>
              </a:r>
              <a:r>
                <a:rPr b="1" lang="en" sz="1190" spc="-1" strike="noStrike">
                  <a:solidFill>
                    <a:srgbClr val="0b7a4b"/>
                  </a:solidFill>
                  <a:latin typeface="Courier New"/>
                  <a:ea typeface="Courier New"/>
                </a:rPr>
                <a:t>"An error occurred: {e}"</a:t>
              </a:r>
              <a:r>
                <a:rPr b="1" lang="en" sz="1190" spc="-1" strike="noStrike">
                  <a:solidFill>
                    <a:srgbClr val="1f2937"/>
                  </a:solidFill>
                  <a:latin typeface="Courier New"/>
                  <a:ea typeface="Courier New"/>
                </a:rPr>
                <a:t>)</a:t>
              </a:r>
              <a:endParaRPr b="0" lang="en-US" sz="119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96" name="Google Shape;353;p24"/>
          <p:cNvGrpSpPr/>
          <p:nvPr/>
        </p:nvGrpSpPr>
        <p:grpSpPr>
          <a:xfrm>
            <a:off x="6281640" y="1900080"/>
            <a:ext cx="5152680" cy="3247920"/>
            <a:chOff x="6281640" y="1900080"/>
            <a:chExt cx="5152680" cy="3247920"/>
          </a:xfrm>
        </p:grpSpPr>
        <p:pic>
          <p:nvPicPr>
            <p:cNvPr id="297" name="Google Shape;354;p24" descr=""/>
            <p:cNvPicPr/>
            <p:nvPr/>
          </p:nvPicPr>
          <p:blipFill>
            <a:blip r:embed="rId4"/>
            <a:stretch/>
          </p:blipFill>
          <p:spPr>
            <a:xfrm>
              <a:off x="6281640" y="1900080"/>
              <a:ext cx="5152680" cy="32479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98" name="Google Shape;355;p24" descr=""/>
            <p:cNvPicPr/>
            <p:nvPr/>
          </p:nvPicPr>
          <p:blipFill>
            <a:blip r:embed="rId5"/>
            <a:stretch/>
          </p:blipFill>
          <p:spPr>
            <a:xfrm>
              <a:off x="6286680" y="1905120"/>
              <a:ext cx="5143320" cy="378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99" name="Google Shape;356;p24"/>
            <p:cNvSpPr/>
            <p:nvPr/>
          </p:nvSpPr>
          <p:spPr>
            <a:xfrm>
              <a:off x="6524640" y="2143080"/>
              <a:ext cx="4667040" cy="28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200" spc="-1" strike="noStrike">
                  <a:solidFill>
                    <a:srgbClr val="045a36"/>
                  </a:solidFill>
                  <a:latin typeface="Inter"/>
                  <a:ea typeface="Inter"/>
                </a:rPr>
                <a:t>WHY USE "EXCEPT EXCEPTION AS E"?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0" name="Google Shape;357;p24"/>
            <p:cNvSpPr/>
            <p:nvPr/>
          </p:nvSpPr>
          <p:spPr>
            <a:xfrm>
              <a:off x="6524640" y="2619360"/>
              <a:ext cx="4667040" cy="2381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 marL="457200" indent="-304200">
                <a:lnSpc>
                  <a:spcPct val="100000"/>
                </a:lnSpc>
                <a:buClr>
                  <a:srgbClr val="374151"/>
                </a:buClr>
                <a:buFont typeface="Inter"/>
                <a:buChar char="●"/>
              </a:pPr>
              <a:r>
                <a:rPr b="0" lang="en" sz="1190" spc="-1" strike="noStrike">
                  <a:solidFill>
                    <a:srgbClr val="1f2937"/>
                  </a:solidFill>
                  <a:latin typeface="Inter SemiBold"/>
                  <a:ea typeface="Inter SemiBold"/>
                </a:rPr>
                <a:t>Catches All Standard Errors:</a:t>
              </a:r>
              <a:r>
                <a:rPr b="0" lang="en" sz="1190" spc="-1" strike="noStrike">
                  <a:solidFill>
                    <a:srgbClr val="374151"/>
                  </a:solidFill>
                  <a:latin typeface="Inter"/>
                  <a:ea typeface="Inter"/>
                </a:rPr>
                <a:t> </a:t>
              </a:r>
              <a:r>
                <a:rPr b="1" lang="en" sz="1190" spc="-1" strike="noStrike">
                  <a:solidFill>
                    <a:srgbClr val="374151"/>
                  </a:solidFill>
                  <a:latin typeface="Courier New"/>
                  <a:ea typeface="Courier New"/>
                </a:rPr>
                <a:t>Exception</a:t>
              </a:r>
              <a:r>
                <a:rPr b="0" lang="en" sz="1190" spc="-1" strike="noStrike">
                  <a:solidFill>
                    <a:srgbClr val="374151"/>
                  </a:solidFill>
                  <a:latin typeface="Inter"/>
                  <a:ea typeface="Inter"/>
                </a:rPr>
                <a:t> is the base class for almost all built-in Python exceptions, ensuring no unexpected crash.</a:t>
              </a:r>
              <a:endParaRPr b="0" lang="en-US" sz="1190" spc="-1" strike="noStrike">
                <a:solidFill>
                  <a:srgbClr val="000000"/>
                </a:solidFill>
                <a:latin typeface="Arial"/>
              </a:endParaRPr>
            </a:p>
            <a:p>
              <a:pPr marL="457200" indent="-304200">
                <a:lnSpc>
                  <a:spcPct val="100000"/>
                </a:lnSpc>
                <a:spcBef>
                  <a:spcPts val="751"/>
                </a:spcBef>
                <a:buClr>
                  <a:srgbClr val="374151"/>
                </a:buClr>
                <a:buFont typeface="Inter"/>
                <a:buChar char="●"/>
              </a:pPr>
              <a:r>
                <a:rPr b="0" lang="en" sz="1190" spc="-1" strike="noStrike">
                  <a:solidFill>
                    <a:srgbClr val="1f2937"/>
                  </a:solidFill>
                  <a:latin typeface="Inter SemiBold"/>
                  <a:ea typeface="Inter SemiBold"/>
                </a:rPr>
                <a:t>Access to Error Details:</a:t>
              </a:r>
              <a:r>
                <a:rPr b="0" lang="en" sz="1190" spc="-1" strike="noStrike">
                  <a:solidFill>
                    <a:srgbClr val="374151"/>
                  </a:solidFill>
                  <a:latin typeface="Inter"/>
                  <a:ea typeface="Inter"/>
                </a:rPr>
                <a:t> Aliasing the error </a:t>
              </a:r>
              <a:r>
                <a:rPr b="0" lang="en" sz="1190" spc="-1" strike="noStrike">
                  <a:solidFill>
                    <a:srgbClr val="1f2937"/>
                  </a:solidFill>
                  <a:latin typeface="Inter SemiBold"/>
                  <a:ea typeface="Inter SemiBold"/>
                </a:rPr>
                <a:t>as e</a:t>
              </a:r>
              <a:r>
                <a:rPr b="0" lang="en" sz="1190" spc="-1" strike="noStrike">
                  <a:solidFill>
                    <a:srgbClr val="374151"/>
                  </a:solidFill>
                  <a:latin typeface="Inter"/>
                  <a:ea typeface="Inter"/>
                </a:rPr>
                <a:t> lets you print, log, or inspect the exact crash message dynamically.</a:t>
              </a:r>
              <a:endParaRPr b="0" lang="en-US" sz="1190" spc="-1" strike="noStrike">
                <a:solidFill>
                  <a:srgbClr val="000000"/>
                </a:solidFill>
                <a:latin typeface="Arial"/>
              </a:endParaRPr>
            </a:p>
            <a:p>
              <a:pPr marL="457200" indent="-304200">
                <a:lnSpc>
                  <a:spcPct val="100000"/>
                </a:lnSpc>
                <a:spcBef>
                  <a:spcPts val="751"/>
                </a:spcBef>
                <a:buClr>
                  <a:srgbClr val="374151"/>
                </a:buClr>
                <a:buFont typeface="Inter"/>
                <a:buChar char="●"/>
              </a:pPr>
              <a:r>
                <a:rPr b="0" lang="en" sz="1190" spc="-1" strike="noStrike">
                  <a:solidFill>
                    <a:srgbClr val="1f2937"/>
                  </a:solidFill>
                  <a:latin typeface="Inter SemiBold"/>
                  <a:ea typeface="Inter SemiBold"/>
                </a:rPr>
                <a:t>Prevents Program Termination:</a:t>
              </a:r>
              <a:r>
                <a:rPr b="0" lang="en" sz="1190" spc="-1" strike="noStrike">
                  <a:solidFill>
                    <a:srgbClr val="374151"/>
                  </a:solidFill>
                  <a:latin typeface="Inter"/>
                  <a:ea typeface="Inter"/>
                </a:rPr>
                <a:t> Instead of crashing, your program handles the failure gracefully and continues execution.</a:t>
              </a:r>
              <a:endParaRPr b="0" lang="en-US" sz="1190" spc="-1" strike="noStrike">
                <a:solidFill>
                  <a:srgbClr val="000000"/>
                </a:solidFill>
                <a:latin typeface="Arial"/>
              </a:endParaRPr>
            </a:p>
            <a:p>
              <a:pPr marL="457200" indent="-304200">
                <a:lnSpc>
                  <a:spcPct val="100000"/>
                </a:lnSpc>
                <a:spcBef>
                  <a:spcPts val="751"/>
                </a:spcBef>
                <a:spcAft>
                  <a:spcPts val="751"/>
                </a:spcAft>
                <a:buClr>
                  <a:srgbClr val="374151"/>
                </a:buClr>
                <a:buFont typeface="Inter"/>
                <a:buChar char="●"/>
              </a:pPr>
              <a:r>
                <a:rPr b="0" lang="en" sz="1190" spc="-1" strike="noStrike">
                  <a:solidFill>
                    <a:srgbClr val="1f2937"/>
                  </a:solidFill>
                  <a:latin typeface="Inter SemiBold"/>
                  <a:ea typeface="Inter SemiBold"/>
                </a:rPr>
                <a:t>Safe Alternative:</a:t>
              </a:r>
              <a:r>
                <a:rPr b="0" lang="en" sz="1190" spc="-1" strike="noStrike">
                  <a:solidFill>
                    <a:srgbClr val="374151"/>
                  </a:solidFill>
                  <a:latin typeface="Inter"/>
                  <a:ea typeface="Inter"/>
                </a:rPr>
                <a:t> Avoid using a bare </a:t>
              </a:r>
              <a:r>
                <a:rPr b="1" lang="en" sz="1190" spc="-1" strike="noStrike">
                  <a:solidFill>
                    <a:srgbClr val="374151"/>
                  </a:solidFill>
                  <a:latin typeface="Courier New"/>
                  <a:ea typeface="Courier New"/>
                </a:rPr>
                <a:t>except:</a:t>
              </a:r>
              <a:r>
                <a:rPr b="0" lang="en" sz="1190" spc="-1" strike="noStrike">
                  <a:solidFill>
                    <a:srgbClr val="374151"/>
                  </a:solidFill>
                  <a:latin typeface="Inter"/>
                  <a:ea typeface="Inter"/>
                </a:rPr>
                <a:t> clause, as it catches system-exits and keyboard interrupts, making code hard to stop.</a:t>
              </a:r>
              <a:endParaRPr b="0" lang="en-US" sz="119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01" name="Google Shape;358;p24"/>
          <p:cNvGrpSpPr/>
          <p:nvPr/>
        </p:nvGrpSpPr>
        <p:grpSpPr>
          <a:xfrm>
            <a:off x="762120" y="5381640"/>
            <a:ext cx="10667520" cy="571320"/>
            <a:chOff x="762120" y="5381640"/>
            <a:chExt cx="10667520" cy="571320"/>
          </a:xfrm>
        </p:grpSpPr>
        <p:pic>
          <p:nvPicPr>
            <p:cNvPr id="302" name="Google Shape;359;p24" descr=""/>
            <p:cNvPicPr/>
            <p:nvPr/>
          </p:nvPicPr>
          <p:blipFill>
            <a:blip r:embed="rId6"/>
            <a:stretch/>
          </p:blipFill>
          <p:spPr>
            <a:xfrm>
              <a:off x="762120" y="5381640"/>
              <a:ext cx="37800" cy="5713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03" name="Google Shape;360;p24"/>
            <p:cNvSpPr/>
            <p:nvPr/>
          </p:nvSpPr>
          <p:spPr>
            <a:xfrm>
              <a:off x="952560" y="5381640"/>
              <a:ext cx="10477080" cy="190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200" spc="-1" strike="noStrike">
                  <a:solidFill>
                    <a:srgbClr val="d4a017"/>
                  </a:solidFill>
                  <a:latin typeface="Inter"/>
                  <a:ea typeface="Inter"/>
                </a:rPr>
                <a:t>KEY TAKEAWAY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4" name="Google Shape;361;p24"/>
            <p:cNvSpPr/>
            <p:nvPr/>
          </p:nvSpPr>
          <p:spPr>
            <a:xfrm>
              <a:off x="952560" y="5619600"/>
              <a:ext cx="10477080" cy="33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280" spc="-1" strike="noStrike">
                  <a:solidFill>
                    <a:srgbClr val="374151"/>
                  </a:solidFill>
                  <a:latin typeface="Inter SemiBold"/>
                  <a:ea typeface="Inter SemiBold"/>
                </a:rPr>
                <a:t>Always prefer </a:t>
              </a:r>
              <a:r>
                <a:rPr b="0" lang="en" sz="1280" spc="-1" strike="noStrike">
                  <a:solidFill>
                    <a:srgbClr val="045a36"/>
                  </a:solidFill>
                  <a:latin typeface="Courier New"/>
                  <a:ea typeface="Courier New"/>
                </a:rPr>
                <a:t>except Exception as e</a:t>
              </a:r>
              <a:r>
                <a:rPr b="0" lang="en" sz="1280" spc="-1" strike="noStrike">
                  <a:solidFill>
                    <a:srgbClr val="374151"/>
                  </a:solidFill>
                  <a:latin typeface="Inter SemiBold"/>
                  <a:ea typeface="Inter SemiBold"/>
                </a:rPr>
                <a:t> over bare except clauses to inspect error diagnostics without blocking system exit signals.</a:t>
              </a:r>
              <a:endParaRPr b="0" lang="en-US" sz="128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05" name="Google Shape;362;p24"/>
          <p:cNvSpPr/>
          <p:nvPr/>
        </p:nvSpPr>
        <p:spPr>
          <a:xfrm>
            <a:off x="762120" y="6238800"/>
            <a:ext cx="7619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000" spc="-1" strike="noStrike">
                <a:solidFill>
                  <a:srgbClr val="6b7280"/>
                </a:solidFill>
                <a:latin typeface="Inter"/>
                <a:ea typeface="Inter"/>
              </a:rPr>
              <a:t>Python Programming Course | Exception Handling in Python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67;p25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Google Shape;368;p25"/>
          <p:cNvSpPr/>
          <p:nvPr/>
        </p:nvSpPr>
        <p:spPr>
          <a:xfrm>
            <a:off x="0" y="0"/>
            <a:ext cx="12191760" cy="56880"/>
          </a:xfrm>
          <a:prstGeom prst="rect">
            <a:avLst/>
          </a:prstGeom>
          <a:solidFill>
            <a:srgbClr val="045a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Google Shape;369;p25"/>
          <p:cNvSpPr/>
          <p:nvPr/>
        </p:nvSpPr>
        <p:spPr>
          <a:xfrm>
            <a:off x="762120" y="1123920"/>
            <a:ext cx="10667520" cy="1872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Google Shape;370;p25"/>
          <p:cNvSpPr/>
          <p:nvPr/>
        </p:nvSpPr>
        <p:spPr>
          <a:xfrm>
            <a:off x="762120" y="571680"/>
            <a:ext cx="1066752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2700" spc="-1" strike="noStrike">
                <a:solidFill>
                  <a:srgbClr val="045a36"/>
                </a:solidFill>
                <a:latin typeface="Montserrat SemiBold"/>
                <a:ea typeface="Montserrat SemiBold"/>
              </a:rPr>
              <a:t>Best Practices for Exception Handling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Google Shape;371;p25"/>
          <p:cNvSpPr/>
          <p:nvPr/>
        </p:nvSpPr>
        <p:spPr>
          <a:xfrm>
            <a:off x="762120" y="1285920"/>
            <a:ext cx="106675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600" spc="-1" strike="noStrike">
                <a:solidFill>
                  <a:srgbClr val="4b5563"/>
                </a:solidFill>
                <a:latin typeface="Inter SemiBold"/>
                <a:ea typeface="Inter SemiBold"/>
              </a:rPr>
              <a:t>Effective exception handling requires precision, minimal scope, and meaningful logging.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11" name="Google Shape;372;p25"/>
          <p:cNvGrpSpPr/>
          <p:nvPr/>
        </p:nvGrpSpPr>
        <p:grpSpPr>
          <a:xfrm>
            <a:off x="762120" y="1857240"/>
            <a:ext cx="5143320" cy="713880"/>
            <a:chOff x="762120" y="1857240"/>
            <a:chExt cx="5143320" cy="713880"/>
          </a:xfrm>
        </p:grpSpPr>
        <p:grpSp>
          <p:nvGrpSpPr>
            <p:cNvPr id="312" name="Google Shape;373;p25"/>
            <p:cNvGrpSpPr/>
            <p:nvPr/>
          </p:nvGrpSpPr>
          <p:grpSpPr>
            <a:xfrm>
              <a:off x="762120" y="1895400"/>
              <a:ext cx="190080" cy="190080"/>
              <a:chOff x="762120" y="1895400"/>
              <a:chExt cx="190080" cy="190080"/>
            </a:xfrm>
          </p:grpSpPr>
          <p:sp>
            <p:nvSpPr>
              <p:cNvPr id="313" name="Google Shape;374;p25"/>
              <p:cNvSpPr/>
              <p:nvPr/>
            </p:nvSpPr>
            <p:spPr>
              <a:xfrm>
                <a:off x="762120" y="1895400"/>
                <a:ext cx="190080" cy="190080"/>
              </a:xfrm>
              <a:prstGeom prst="ellipse">
                <a:avLst/>
              </a:prstGeom>
              <a:solidFill>
                <a:srgbClr val="045a3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314" name="Google Shape;375;p25"/>
              <p:cNvSpPr/>
              <p:nvPr/>
            </p:nvSpPr>
            <p:spPr>
              <a:xfrm>
                <a:off x="819000" y="1952640"/>
                <a:ext cx="75960" cy="66240"/>
              </a:xfrm>
              <a:custGeom>
                <a:avLst/>
                <a:gdLst>
                  <a:gd name="textAreaLeft" fmla="*/ 0 w 75960"/>
                  <a:gd name="textAreaRight" fmla="*/ 76320 w 75960"/>
                  <a:gd name="textAreaTop" fmla="*/ 0 h 66240"/>
                  <a:gd name="textAreaBottom" fmla="*/ 66600 h 66240"/>
                </a:gdLst>
                <a:ahLst/>
                <a:rect l="textAreaLeft" t="textAreaTop" r="textAreaRight" b="textAreaBottom"/>
                <a:pathLst>
                  <a:path w="120000" h="120000">
                    <a:moveTo>
                      <a:pt x="0" y="68514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noFill/>
              <a:ln cap="rnd" w="190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sp>
          <p:nvSpPr>
            <p:cNvPr id="315" name="Google Shape;376;p25"/>
            <p:cNvSpPr/>
            <p:nvPr/>
          </p:nvSpPr>
          <p:spPr>
            <a:xfrm>
              <a:off x="1095480" y="1857240"/>
              <a:ext cx="4809960" cy="713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500" spc="-1" strike="noStrike">
                  <a:solidFill>
                    <a:srgbClr val="1f2937"/>
                  </a:solidFill>
                  <a:latin typeface="Inter SemiBold"/>
                  <a:ea typeface="Inter SemiBold"/>
                </a:rPr>
                <a:t>Be Specific: </a:t>
              </a:r>
              <a:r>
                <a:rPr b="0" lang="en" sz="1500" spc="-1" strike="noStrike">
                  <a:solidFill>
                    <a:srgbClr val="374151"/>
                  </a:solidFill>
                  <a:latin typeface="Inter"/>
                  <a:ea typeface="Inter"/>
                </a:rPr>
                <a:t>Catch precise exceptions; avoid catching the base Exception class unless logging at the top level of an application.</a:t>
              </a:r>
              <a:endParaRPr b="0" lang="en-US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16" name="Google Shape;377;p25"/>
          <p:cNvGrpSpPr/>
          <p:nvPr/>
        </p:nvGrpSpPr>
        <p:grpSpPr>
          <a:xfrm>
            <a:off x="762120" y="2714760"/>
            <a:ext cx="5143320" cy="713880"/>
            <a:chOff x="762120" y="2714760"/>
            <a:chExt cx="5143320" cy="713880"/>
          </a:xfrm>
        </p:grpSpPr>
        <p:grpSp>
          <p:nvGrpSpPr>
            <p:cNvPr id="317" name="Google Shape;378;p25"/>
            <p:cNvGrpSpPr/>
            <p:nvPr/>
          </p:nvGrpSpPr>
          <p:grpSpPr>
            <a:xfrm>
              <a:off x="762120" y="2752560"/>
              <a:ext cx="190080" cy="190080"/>
              <a:chOff x="762120" y="2752560"/>
              <a:chExt cx="190080" cy="190080"/>
            </a:xfrm>
          </p:grpSpPr>
          <p:sp>
            <p:nvSpPr>
              <p:cNvPr id="318" name="Google Shape;379;p25"/>
              <p:cNvSpPr/>
              <p:nvPr/>
            </p:nvSpPr>
            <p:spPr>
              <a:xfrm>
                <a:off x="762120" y="2752560"/>
                <a:ext cx="190080" cy="190080"/>
              </a:xfrm>
              <a:prstGeom prst="ellipse">
                <a:avLst/>
              </a:prstGeom>
              <a:solidFill>
                <a:srgbClr val="045a3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319" name="Google Shape;380;p25"/>
              <p:cNvSpPr/>
              <p:nvPr/>
            </p:nvSpPr>
            <p:spPr>
              <a:xfrm>
                <a:off x="819000" y="2809800"/>
                <a:ext cx="75960" cy="66240"/>
              </a:xfrm>
              <a:custGeom>
                <a:avLst/>
                <a:gdLst>
                  <a:gd name="textAreaLeft" fmla="*/ 0 w 75960"/>
                  <a:gd name="textAreaRight" fmla="*/ 76320 w 75960"/>
                  <a:gd name="textAreaTop" fmla="*/ 0 h 66240"/>
                  <a:gd name="textAreaBottom" fmla="*/ 66600 h 66240"/>
                </a:gdLst>
                <a:ahLst/>
                <a:rect l="textAreaLeft" t="textAreaTop" r="textAreaRight" b="textAreaBottom"/>
                <a:pathLst>
                  <a:path w="120000" h="120000">
                    <a:moveTo>
                      <a:pt x="0" y="68514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noFill/>
              <a:ln cap="rnd" w="190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sp>
          <p:nvSpPr>
            <p:cNvPr id="320" name="Google Shape;381;p25"/>
            <p:cNvSpPr/>
            <p:nvPr/>
          </p:nvSpPr>
          <p:spPr>
            <a:xfrm>
              <a:off x="1095480" y="2714760"/>
              <a:ext cx="4809960" cy="713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500" spc="-1" strike="noStrike">
                  <a:solidFill>
                    <a:srgbClr val="1f2937"/>
                  </a:solidFill>
                  <a:latin typeface="Inter SemiBold"/>
                  <a:ea typeface="Inter SemiBold"/>
                </a:rPr>
                <a:t>Keep Try Blocks Small: </a:t>
              </a:r>
              <a:r>
                <a:rPr b="0" lang="en" sz="1500" spc="-1" strike="noStrike">
                  <a:solidFill>
                    <a:srgbClr val="374151"/>
                  </a:solidFill>
                  <a:latin typeface="Inter"/>
                  <a:ea typeface="Inter"/>
                </a:rPr>
                <a:t>Only wrap the exact lines of code that are expected to raise the targeted exception.</a:t>
              </a:r>
              <a:endParaRPr b="0" lang="en-US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1" name="Google Shape;382;p25"/>
          <p:cNvGrpSpPr/>
          <p:nvPr/>
        </p:nvGrpSpPr>
        <p:grpSpPr>
          <a:xfrm>
            <a:off x="762120" y="3571920"/>
            <a:ext cx="5143320" cy="713880"/>
            <a:chOff x="762120" y="3571920"/>
            <a:chExt cx="5143320" cy="713880"/>
          </a:xfrm>
        </p:grpSpPr>
        <p:grpSp>
          <p:nvGrpSpPr>
            <p:cNvPr id="322" name="Google Shape;383;p25"/>
            <p:cNvGrpSpPr/>
            <p:nvPr/>
          </p:nvGrpSpPr>
          <p:grpSpPr>
            <a:xfrm>
              <a:off x="762120" y="3610080"/>
              <a:ext cx="190080" cy="190080"/>
              <a:chOff x="762120" y="3610080"/>
              <a:chExt cx="190080" cy="190080"/>
            </a:xfrm>
          </p:grpSpPr>
          <p:sp>
            <p:nvSpPr>
              <p:cNvPr id="323" name="Google Shape;384;p25"/>
              <p:cNvSpPr/>
              <p:nvPr/>
            </p:nvSpPr>
            <p:spPr>
              <a:xfrm>
                <a:off x="762120" y="3610080"/>
                <a:ext cx="190080" cy="190080"/>
              </a:xfrm>
              <a:prstGeom prst="ellipse">
                <a:avLst/>
              </a:prstGeom>
              <a:solidFill>
                <a:srgbClr val="045a3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324" name="Google Shape;385;p25"/>
              <p:cNvSpPr/>
              <p:nvPr/>
            </p:nvSpPr>
            <p:spPr>
              <a:xfrm>
                <a:off x="819000" y="3666960"/>
                <a:ext cx="75960" cy="66240"/>
              </a:xfrm>
              <a:custGeom>
                <a:avLst/>
                <a:gdLst>
                  <a:gd name="textAreaLeft" fmla="*/ 0 w 75960"/>
                  <a:gd name="textAreaRight" fmla="*/ 76320 w 75960"/>
                  <a:gd name="textAreaTop" fmla="*/ 0 h 66240"/>
                  <a:gd name="textAreaBottom" fmla="*/ 66600 h 66240"/>
                </a:gdLst>
                <a:ahLst/>
                <a:rect l="textAreaLeft" t="textAreaTop" r="textAreaRight" b="textAreaBottom"/>
                <a:pathLst>
                  <a:path w="120000" h="120000">
                    <a:moveTo>
                      <a:pt x="0" y="68514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noFill/>
              <a:ln cap="rnd" w="190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sp>
          <p:nvSpPr>
            <p:cNvPr id="325" name="Google Shape;386;p25"/>
            <p:cNvSpPr/>
            <p:nvPr/>
          </p:nvSpPr>
          <p:spPr>
            <a:xfrm>
              <a:off x="1095480" y="3571920"/>
              <a:ext cx="4809960" cy="713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500" spc="-1" strike="noStrike">
                  <a:solidFill>
                    <a:srgbClr val="1f2937"/>
                  </a:solidFill>
                  <a:latin typeface="Inter SemiBold"/>
                  <a:ea typeface="Inter SemiBold"/>
                </a:rPr>
                <a:t>Log, Don't Print: </a:t>
              </a:r>
              <a:r>
                <a:rPr b="0" lang="en" sz="1500" spc="-1" strike="noStrike">
                  <a:solidFill>
                    <a:srgbClr val="374151"/>
                  </a:solidFill>
                  <a:latin typeface="Inter"/>
                  <a:ea typeface="Inter"/>
                </a:rPr>
                <a:t>Use Python's logging module to record error traces instead of printing to the standard console.</a:t>
              </a:r>
              <a:endParaRPr b="0" lang="en-US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26" name="Google Shape;387;p25"/>
          <p:cNvGrpSpPr/>
          <p:nvPr/>
        </p:nvGrpSpPr>
        <p:grpSpPr>
          <a:xfrm>
            <a:off x="762120" y="4429080"/>
            <a:ext cx="5143320" cy="713880"/>
            <a:chOff x="762120" y="4429080"/>
            <a:chExt cx="5143320" cy="713880"/>
          </a:xfrm>
        </p:grpSpPr>
        <p:grpSp>
          <p:nvGrpSpPr>
            <p:cNvPr id="327" name="Google Shape;388;p25"/>
            <p:cNvGrpSpPr/>
            <p:nvPr/>
          </p:nvGrpSpPr>
          <p:grpSpPr>
            <a:xfrm>
              <a:off x="762120" y="4467240"/>
              <a:ext cx="190080" cy="190080"/>
              <a:chOff x="762120" y="4467240"/>
              <a:chExt cx="190080" cy="190080"/>
            </a:xfrm>
          </p:grpSpPr>
          <p:sp>
            <p:nvSpPr>
              <p:cNvPr id="328" name="Google Shape;389;p25"/>
              <p:cNvSpPr/>
              <p:nvPr/>
            </p:nvSpPr>
            <p:spPr>
              <a:xfrm>
                <a:off x="762120" y="4467240"/>
                <a:ext cx="190080" cy="190080"/>
              </a:xfrm>
              <a:prstGeom prst="ellipse">
                <a:avLst/>
              </a:prstGeom>
              <a:solidFill>
                <a:srgbClr val="045a3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329" name="Google Shape;390;p25"/>
              <p:cNvSpPr/>
              <p:nvPr/>
            </p:nvSpPr>
            <p:spPr>
              <a:xfrm>
                <a:off x="819000" y="4524480"/>
                <a:ext cx="75960" cy="66240"/>
              </a:xfrm>
              <a:custGeom>
                <a:avLst/>
                <a:gdLst>
                  <a:gd name="textAreaLeft" fmla="*/ 0 w 75960"/>
                  <a:gd name="textAreaRight" fmla="*/ 76320 w 75960"/>
                  <a:gd name="textAreaTop" fmla="*/ 0 h 66240"/>
                  <a:gd name="textAreaBottom" fmla="*/ 66600 h 66240"/>
                </a:gdLst>
                <a:ahLst/>
                <a:rect l="textAreaLeft" t="textAreaTop" r="textAreaRight" b="textAreaBottom"/>
                <a:pathLst>
                  <a:path w="120000" h="120000">
                    <a:moveTo>
                      <a:pt x="0" y="68514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noFill/>
              <a:ln cap="rnd" w="190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sp>
          <p:nvSpPr>
            <p:cNvPr id="330" name="Google Shape;391;p25"/>
            <p:cNvSpPr/>
            <p:nvPr/>
          </p:nvSpPr>
          <p:spPr>
            <a:xfrm>
              <a:off x="1095480" y="4429080"/>
              <a:ext cx="4809960" cy="713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500" spc="-1" strike="noStrike">
                  <a:solidFill>
                    <a:srgbClr val="1f2937"/>
                  </a:solidFill>
                  <a:latin typeface="Inter SemiBold"/>
                  <a:ea typeface="Inter SemiBold"/>
                </a:rPr>
                <a:t>Fail Fast: </a:t>
              </a:r>
              <a:r>
                <a:rPr b="0" lang="en" sz="1500" spc="-1" strike="noStrike">
                  <a:solidFill>
                    <a:srgbClr val="374151"/>
                  </a:solidFill>
                  <a:latin typeface="Inter"/>
                  <a:ea typeface="Inter"/>
                </a:rPr>
                <a:t>Raise exceptions as soon as an invalid state is detected.</a:t>
              </a:r>
              <a:endParaRPr b="0" lang="en-US" sz="15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31" name="Google Shape;392;p25"/>
          <p:cNvGrpSpPr/>
          <p:nvPr/>
        </p:nvGrpSpPr>
        <p:grpSpPr>
          <a:xfrm>
            <a:off x="6286680" y="1714680"/>
            <a:ext cx="5143320" cy="4286160"/>
            <a:chOff x="6286680" y="1714680"/>
            <a:chExt cx="5143320" cy="4286160"/>
          </a:xfrm>
        </p:grpSpPr>
        <p:sp>
          <p:nvSpPr>
            <p:cNvPr id="332" name="Google Shape;393;p25"/>
            <p:cNvSpPr/>
            <p:nvPr/>
          </p:nvSpPr>
          <p:spPr>
            <a:xfrm>
              <a:off x="6286680" y="1714680"/>
              <a:ext cx="5143320" cy="4286160"/>
            </a:xfrm>
            <a:prstGeom prst="roundRect">
              <a:avLst>
                <a:gd name="adj" fmla="val 2666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3" name="Google Shape;394;p25"/>
            <p:cNvSpPr/>
            <p:nvPr/>
          </p:nvSpPr>
          <p:spPr>
            <a:xfrm>
              <a:off x="6286680" y="1714680"/>
              <a:ext cx="5143320" cy="47520"/>
            </a:xfrm>
            <a:prstGeom prst="roundRect">
              <a:avLst>
                <a:gd name="adj" fmla="val 40000"/>
              </a:avLst>
            </a:prstGeom>
            <a:solidFill>
              <a:srgbClr val="045a3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4" name="Google Shape;395;p25"/>
            <p:cNvSpPr/>
            <p:nvPr/>
          </p:nvSpPr>
          <p:spPr>
            <a:xfrm>
              <a:off x="6572160" y="1952640"/>
              <a:ext cx="4571640" cy="28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200" spc="-1" strike="noStrike">
                  <a:solidFill>
                    <a:srgbClr val="d4a017"/>
                  </a:solidFill>
                  <a:latin typeface="Inter"/>
                  <a:ea typeface="Inter"/>
                </a:rPr>
                <a:t>Clean Code Organization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5" name="Google Shape;396;p25"/>
            <p:cNvSpPr/>
            <p:nvPr/>
          </p:nvSpPr>
          <p:spPr>
            <a:xfrm>
              <a:off x="6572160" y="2333520"/>
              <a:ext cx="4571640" cy="3428640"/>
            </a:xfrm>
            <a:prstGeom prst="roundRect">
              <a:avLst>
                <a:gd name="adj" fmla="val 3333"/>
              </a:avLst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6" name="Google Shape;397;p25"/>
            <p:cNvSpPr/>
            <p:nvPr/>
          </p:nvSpPr>
          <p:spPr>
            <a:xfrm>
              <a:off x="6572160" y="2333520"/>
              <a:ext cx="4571640" cy="3428640"/>
            </a:xfrm>
            <a:prstGeom prst="roundRect">
              <a:avLst>
                <a:gd name="adj" fmla="val 3333"/>
              </a:avLst>
            </a:prstGeom>
            <a:noFill/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337" name="Google Shape;398;p25"/>
          <p:cNvSpPr/>
          <p:nvPr/>
        </p:nvSpPr>
        <p:spPr>
          <a:xfrm>
            <a:off x="762120" y="6134040"/>
            <a:ext cx="7619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000" spc="-1" strike="noStrike">
                <a:solidFill>
                  <a:srgbClr val="6b7280"/>
                </a:solidFill>
                <a:latin typeface="Inter"/>
                <a:ea typeface="Inter"/>
              </a:rPr>
              <a:t>Error Handling in Python | Best Practices &amp; Code Quality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403;p26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Google Shape;404;p26"/>
          <p:cNvSpPr/>
          <p:nvPr/>
        </p:nvSpPr>
        <p:spPr>
          <a:xfrm>
            <a:off x="0" y="0"/>
            <a:ext cx="12191760" cy="56880"/>
          </a:xfrm>
          <a:prstGeom prst="rect">
            <a:avLst/>
          </a:prstGeom>
          <a:solidFill>
            <a:srgbClr val="045a3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Google Shape;405;p26"/>
          <p:cNvSpPr/>
          <p:nvPr/>
        </p:nvSpPr>
        <p:spPr>
          <a:xfrm>
            <a:off x="762120" y="571680"/>
            <a:ext cx="9524520" cy="42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2700" spc="-1" strike="noStrike">
                <a:solidFill>
                  <a:srgbClr val="045a36"/>
                </a:solidFill>
                <a:latin typeface="Montserrat SemiBold"/>
                <a:ea typeface="Montserrat SemiBold"/>
              </a:rPr>
              <a:t>Resilient Exception Handling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Google Shape;406;p26"/>
          <p:cNvSpPr/>
          <p:nvPr/>
        </p:nvSpPr>
        <p:spPr>
          <a:xfrm>
            <a:off x="762120" y="1123920"/>
            <a:ext cx="10667520" cy="1872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Google Shape;407;p26"/>
          <p:cNvSpPr/>
          <p:nvPr/>
        </p:nvSpPr>
        <p:spPr>
          <a:xfrm>
            <a:off x="762120" y="1285920"/>
            <a:ext cx="10667520" cy="38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500" spc="-1" strike="noStrike">
                <a:solidFill>
                  <a:srgbClr val="4b5563"/>
                </a:solidFill>
                <a:latin typeface="Inter SemiBold"/>
                <a:ea typeface="Inter SemiBold"/>
              </a:rPr>
              <a:t>The try-except-else-finally-raise structure provides a comprehensive framework for building resilient software.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43" name="Google Shape;408;p26"/>
          <p:cNvGrpSpPr/>
          <p:nvPr/>
        </p:nvGrpSpPr>
        <p:grpSpPr>
          <a:xfrm>
            <a:off x="762120" y="1809720"/>
            <a:ext cx="5476680" cy="523440"/>
            <a:chOff x="762120" y="1809720"/>
            <a:chExt cx="5476680" cy="523440"/>
          </a:xfrm>
        </p:grpSpPr>
        <p:grpSp>
          <p:nvGrpSpPr>
            <p:cNvPr id="344" name="Google Shape;409;p26"/>
            <p:cNvGrpSpPr/>
            <p:nvPr/>
          </p:nvGrpSpPr>
          <p:grpSpPr>
            <a:xfrm>
              <a:off x="762120" y="1847880"/>
              <a:ext cx="190080" cy="190080"/>
              <a:chOff x="762120" y="1847880"/>
              <a:chExt cx="190080" cy="190080"/>
            </a:xfrm>
          </p:grpSpPr>
          <p:sp>
            <p:nvSpPr>
              <p:cNvPr id="345" name="Google Shape;410;p26"/>
              <p:cNvSpPr/>
              <p:nvPr/>
            </p:nvSpPr>
            <p:spPr>
              <a:xfrm>
                <a:off x="762120" y="1847880"/>
                <a:ext cx="190080" cy="190080"/>
              </a:xfrm>
              <a:prstGeom prst="ellipse">
                <a:avLst/>
              </a:prstGeom>
              <a:solidFill>
                <a:srgbClr val="045a3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346" name="Google Shape;411;p26"/>
              <p:cNvSpPr/>
              <p:nvPr/>
            </p:nvSpPr>
            <p:spPr>
              <a:xfrm>
                <a:off x="819000" y="1905120"/>
                <a:ext cx="75960" cy="66240"/>
              </a:xfrm>
              <a:custGeom>
                <a:avLst/>
                <a:gdLst>
                  <a:gd name="textAreaLeft" fmla="*/ 0 w 75960"/>
                  <a:gd name="textAreaRight" fmla="*/ 76320 w 75960"/>
                  <a:gd name="textAreaTop" fmla="*/ 0 h 66240"/>
                  <a:gd name="textAreaBottom" fmla="*/ 66600 h 66240"/>
                </a:gdLst>
                <a:ahLst/>
                <a:rect l="textAreaLeft" t="textAreaTop" r="textAreaRight" b="textAreaBottom"/>
                <a:pathLst>
                  <a:path w="120000" h="120000">
                    <a:moveTo>
                      <a:pt x="0" y="68514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noFill/>
              <a:ln cap="rnd" w="190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sp>
          <p:nvSpPr>
            <p:cNvPr id="347" name="Google Shape;412;p26"/>
            <p:cNvSpPr/>
            <p:nvPr/>
          </p:nvSpPr>
          <p:spPr>
            <a:xfrm>
              <a:off x="1095480" y="1809720"/>
              <a:ext cx="5143320" cy="52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500" spc="-1" strike="noStrike">
                  <a:solidFill>
                    <a:srgbClr val="045a36"/>
                  </a:solidFill>
                  <a:latin typeface="Courier New"/>
                  <a:ea typeface="Courier New"/>
                </a:rPr>
                <a:t>try</a:t>
              </a:r>
              <a:r>
                <a:rPr b="0" lang="en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 </a:t>
              </a:r>
              <a:r>
                <a:rPr b="0" lang="en" sz="1400" spc="-1" strike="noStrike">
                  <a:solidFill>
                    <a:srgbClr val="374151"/>
                  </a:solidFill>
                  <a:latin typeface="Inter"/>
                  <a:ea typeface="Inter"/>
                </a:rPr>
                <a:t>— Wraps risky code that may fail.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8" name="Google Shape;413;p26"/>
          <p:cNvGrpSpPr/>
          <p:nvPr/>
        </p:nvGrpSpPr>
        <p:grpSpPr>
          <a:xfrm>
            <a:off x="762120" y="2428920"/>
            <a:ext cx="5476680" cy="523440"/>
            <a:chOff x="762120" y="2428920"/>
            <a:chExt cx="5476680" cy="523440"/>
          </a:xfrm>
        </p:grpSpPr>
        <p:grpSp>
          <p:nvGrpSpPr>
            <p:cNvPr id="349" name="Google Shape;414;p26"/>
            <p:cNvGrpSpPr/>
            <p:nvPr/>
          </p:nvGrpSpPr>
          <p:grpSpPr>
            <a:xfrm>
              <a:off x="762120" y="2467080"/>
              <a:ext cx="190080" cy="190080"/>
              <a:chOff x="762120" y="2467080"/>
              <a:chExt cx="190080" cy="190080"/>
            </a:xfrm>
          </p:grpSpPr>
          <p:sp>
            <p:nvSpPr>
              <p:cNvPr id="350" name="Google Shape;415;p26"/>
              <p:cNvSpPr/>
              <p:nvPr/>
            </p:nvSpPr>
            <p:spPr>
              <a:xfrm>
                <a:off x="762120" y="2467080"/>
                <a:ext cx="190080" cy="190080"/>
              </a:xfrm>
              <a:prstGeom prst="ellipse">
                <a:avLst/>
              </a:prstGeom>
              <a:solidFill>
                <a:srgbClr val="045a3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351" name="Google Shape;416;p26"/>
              <p:cNvSpPr/>
              <p:nvPr/>
            </p:nvSpPr>
            <p:spPr>
              <a:xfrm>
                <a:off x="819000" y="2523960"/>
                <a:ext cx="75960" cy="66240"/>
              </a:xfrm>
              <a:custGeom>
                <a:avLst/>
                <a:gdLst>
                  <a:gd name="textAreaLeft" fmla="*/ 0 w 75960"/>
                  <a:gd name="textAreaRight" fmla="*/ 76320 w 75960"/>
                  <a:gd name="textAreaTop" fmla="*/ 0 h 66240"/>
                  <a:gd name="textAreaBottom" fmla="*/ 66600 h 66240"/>
                </a:gdLst>
                <a:ahLst/>
                <a:rect l="textAreaLeft" t="textAreaTop" r="textAreaRight" b="textAreaBottom"/>
                <a:pathLst>
                  <a:path w="120000" h="120000">
                    <a:moveTo>
                      <a:pt x="0" y="68514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noFill/>
              <a:ln cap="rnd" w="190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sp>
          <p:nvSpPr>
            <p:cNvPr id="352" name="Google Shape;417;p26"/>
            <p:cNvSpPr/>
            <p:nvPr/>
          </p:nvSpPr>
          <p:spPr>
            <a:xfrm>
              <a:off x="1095480" y="2428920"/>
              <a:ext cx="5143320" cy="52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500" spc="-1" strike="noStrike">
                  <a:solidFill>
                    <a:srgbClr val="045a36"/>
                  </a:solidFill>
                  <a:latin typeface="Courier New"/>
                  <a:ea typeface="Courier New"/>
                </a:rPr>
                <a:t>except</a:t>
              </a:r>
              <a:r>
                <a:rPr b="0" lang="en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 </a:t>
              </a:r>
              <a:r>
                <a:rPr b="0" lang="en" sz="1400" spc="-1" strike="noStrike">
                  <a:solidFill>
                    <a:srgbClr val="374151"/>
                  </a:solidFill>
                  <a:latin typeface="Inter"/>
                  <a:ea typeface="Inter"/>
                </a:rPr>
                <a:t>— Catches and handles specific runtime errors gracefully.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3" name="Google Shape;418;p26"/>
          <p:cNvGrpSpPr/>
          <p:nvPr/>
        </p:nvGrpSpPr>
        <p:grpSpPr>
          <a:xfrm>
            <a:off x="762120" y="3048120"/>
            <a:ext cx="5476680" cy="523440"/>
            <a:chOff x="762120" y="3048120"/>
            <a:chExt cx="5476680" cy="523440"/>
          </a:xfrm>
        </p:grpSpPr>
        <p:grpSp>
          <p:nvGrpSpPr>
            <p:cNvPr id="354" name="Google Shape;419;p26"/>
            <p:cNvGrpSpPr/>
            <p:nvPr/>
          </p:nvGrpSpPr>
          <p:grpSpPr>
            <a:xfrm>
              <a:off x="762120" y="3086280"/>
              <a:ext cx="190080" cy="190080"/>
              <a:chOff x="762120" y="3086280"/>
              <a:chExt cx="190080" cy="190080"/>
            </a:xfrm>
          </p:grpSpPr>
          <p:sp>
            <p:nvSpPr>
              <p:cNvPr id="355" name="Google Shape;420;p26"/>
              <p:cNvSpPr/>
              <p:nvPr/>
            </p:nvSpPr>
            <p:spPr>
              <a:xfrm>
                <a:off x="762120" y="3086280"/>
                <a:ext cx="190080" cy="190080"/>
              </a:xfrm>
              <a:prstGeom prst="ellipse">
                <a:avLst/>
              </a:prstGeom>
              <a:solidFill>
                <a:srgbClr val="045a3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356" name="Google Shape;421;p26"/>
              <p:cNvSpPr/>
              <p:nvPr/>
            </p:nvSpPr>
            <p:spPr>
              <a:xfrm>
                <a:off x="819000" y="3143160"/>
                <a:ext cx="75960" cy="66240"/>
              </a:xfrm>
              <a:custGeom>
                <a:avLst/>
                <a:gdLst>
                  <a:gd name="textAreaLeft" fmla="*/ 0 w 75960"/>
                  <a:gd name="textAreaRight" fmla="*/ 76320 w 75960"/>
                  <a:gd name="textAreaTop" fmla="*/ 0 h 66240"/>
                  <a:gd name="textAreaBottom" fmla="*/ 66600 h 66240"/>
                </a:gdLst>
                <a:ahLst/>
                <a:rect l="textAreaLeft" t="textAreaTop" r="textAreaRight" b="textAreaBottom"/>
                <a:pathLst>
                  <a:path w="120000" h="120000">
                    <a:moveTo>
                      <a:pt x="0" y="68514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noFill/>
              <a:ln cap="rnd" w="190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sp>
          <p:nvSpPr>
            <p:cNvPr id="357" name="Google Shape;422;p26"/>
            <p:cNvSpPr/>
            <p:nvPr/>
          </p:nvSpPr>
          <p:spPr>
            <a:xfrm>
              <a:off x="1095480" y="3048120"/>
              <a:ext cx="5143320" cy="52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500" spc="-1" strike="noStrike">
                  <a:solidFill>
                    <a:srgbClr val="045a36"/>
                  </a:solidFill>
                  <a:latin typeface="Courier New"/>
                  <a:ea typeface="Courier New"/>
                </a:rPr>
                <a:t>else</a:t>
              </a:r>
              <a:r>
                <a:rPr b="0" lang="en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 </a:t>
              </a:r>
              <a:r>
                <a:rPr b="0" lang="en" sz="1400" spc="-1" strike="noStrike">
                  <a:solidFill>
                    <a:srgbClr val="374151"/>
                  </a:solidFill>
                  <a:latin typeface="Inter"/>
                  <a:ea typeface="Inter"/>
                </a:rPr>
                <a:t>— Executes dependent code only upon the success of the try block.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58" name="Google Shape;423;p26"/>
          <p:cNvGrpSpPr/>
          <p:nvPr/>
        </p:nvGrpSpPr>
        <p:grpSpPr>
          <a:xfrm>
            <a:off x="762120" y="3666960"/>
            <a:ext cx="5476680" cy="523440"/>
            <a:chOff x="762120" y="3666960"/>
            <a:chExt cx="5476680" cy="523440"/>
          </a:xfrm>
        </p:grpSpPr>
        <p:grpSp>
          <p:nvGrpSpPr>
            <p:cNvPr id="359" name="Google Shape;424;p26"/>
            <p:cNvGrpSpPr/>
            <p:nvPr/>
          </p:nvGrpSpPr>
          <p:grpSpPr>
            <a:xfrm>
              <a:off x="762120" y="3705120"/>
              <a:ext cx="190080" cy="190080"/>
              <a:chOff x="762120" y="3705120"/>
              <a:chExt cx="190080" cy="190080"/>
            </a:xfrm>
          </p:grpSpPr>
          <p:sp>
            <p:nvSpPr>
              <p:cNvPr id="360" name="Google Shape;425;p26"/>
              <p:cNvSpPr/>
              <p:nvPr/>
            </p:nvSpPr>
            <p:spPr>
              <a:xfrm>
                <a:off x="762120" y="3705120"/>
                <a:ext cx="190080" cy="190080"/>
              </a:xfrm>
              <a:prstGeom prst="ellipse">
                <a:avLst/>
              </a:prstGeom>
              <a:solidFill>
                <a:srgbClr val="045a3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361" name="Google Shape;426;p26"/>
              <p:cNvSpPr/>
              <p:nvPr/>
            </p:nvSpPr>
            <p:spPr>
              <a:xfrm>
                <a:off x="819000" y="3762360"/>
                <a:ext cx="75960" cy="66240"/>
              </a:xfrm>
              <a:custGeom>
                <a:avLst/>
                <a:gdLst>
                  <a:gd name="textAreaLeft" fmla="*/ 0 w 75960"/>
                  <a:gd name="textAreaRight" fmla="*/ 76320 w 75960"/>
                  <a:gd name="textAreaTop" fmla="*/ 0 h 66240"/>
                  <a:gd name="textAreaBottom" fmla="*/ 66600 h 66240"/>
                </a:gdLst>
                <a:ahLst/>
                <a:rect l="textAreaLeft" t="textAreaTop" r="textAreaRight" b="textAreaBottom"/>
                <a:pathLst>
                  <a:path w="120000" h="120000">
                    <a:moveTo>
                      <a:pt x="0" y="68514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noFill/>
              <a:ln cap="rnd" w="190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sp>
          <p:nvSpPr>
            <p:cNvPr id="362" name="Google Shape;427;p26"/>
            <p:cNvSpPr/>
            <p:nvPr/>
          </p:nvSpPr>
          <p:spPr>
            <a:xfrm>
              <a:off x="1095480" y="3666960"/>
              <a:ext cx="5143320" cy="52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500" spc="-1" strike="noStrike">
                  <a:solidFill>
                    <a:srgbClr val="045a36"/>
                  </a:solidFill>
                  <a:latin typeface="Courier New"/>
                  <a:ea typeface="Courier New"/>
                </a:rPr>
                <a:t>finally</a:t>
              </a:r>
              <a:r>
                <a:rPr b="0" lang="en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 </a:t>
              </a:r>
              <a:r>
                <a:rPr b="0" lang="en" sz="1400" spc="-1" strike="noStrike">
                  <a:solidFill>
                    <a:srgbClr val="374151"/>
                  </a:solidFill>
                  <a:latin typeface="Inter"/>
                  <a:ea typeface="Inter"/>
                </a:rPr>
                <a:t>— Guarantees resource cleanup and teardown execution.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3" name="Google Shape;428;p26"/>
          <p:cNvGrpSpPr/>
          <p:nvPr/>
        </p:nvGrpSpPr>
        <p:grpSpPr>
          <a:xfrm>
            <a:off x="762120" y="4286160"/>
            <a:ext cx="5476680" cy="523440"/>
            <a:chOff x="762120" y="4286160"/>
            <a:chExt cx="5476680" cy="523440"/>
          </a:xfrm>
        </p:grpSpPr>
        <p:grpSp>
          <p:nvGrpSpPr>
            <p:cNvPr id="364" name="Google Shape;429;p26"/>
            <p:cNvGrpSpPr/>
            <p:nvPr/>
          </p:nvGrpSpPr>
          <p:grpSpPr>
            <a:xfrm>
              <a:off x="762120" y="4324320"/>
              <a:ext cx="190080" cy="190080"/>
              <a:chOff x="762120" y="4324320"/>
              <a:chExt cx="190080" cy="190080"/>
            </a:xfrm>
          </p:grpSpPr>
          <p:sp>
            <p:nvSpPr>
              <p:cNvPr id="365" name="Google Shape;430;p26"/>
              <p:cNvSpPr/>
              <p:nvPr/>
            </p:nvSpPr>
            <p:spPr>
              <a:xfrm>
                <a:off x="762120" y="4324320"/>
                <a:ext cx="190080" cy="190080"/>
              </a:xfrm>
              <a:prstGeom prst="ellipse">
                <a:avLst/>
              </a:prstGeom>
              <a:solidFill>
                <a:srgbClr val="045a36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366" name="Google Shape;431;p26"/>
              <p:cNvSpPr/>
              <p:nvPr/>
            </p:nvSpPr>
            <p:spPr>
              <a:xfrm>
                <a:off x="819000" y="4381560"/>
                <a:ext cx="75960" cy="66240"/>
              </a:xfrm>
              <a:custGeom>
                <a:avLst/>
                <a:gdLst>
                  <a:gd name="textAreaLeft" fmla="*/ 0 w 75960"/>
                  <a:gd name="textAreaRight" fmla="*/ 76320 w 75960"/>
                  <a:gd name="textAreaTop" fmla="*/ 0 h 66240"/>
                  <a:gd name="textAreaBottom" fmla="*/ 66600 h 66240"/>
                </a:gdLst>
                <a:ahLst/>
                <a:rect l="textAreaLeft" t="textAreaTop" r="textAreaRight" b="textAreaBottom"/>
                <a:pathLst>
                  <a:path w="120000" h="120000">
                    <a:moveTo>
                      <a:pt x="0" y="68514"/>
                    </a:moveTo>
                    <a:lnTo>
                      <a:pt x="45000" y="120000"/>
                    </a:lnTo>
                    <a:lnTo>
                      <a:pt x="120000" y="0"/>
                    </a:lnTo>
                  </a:path>
                </a:pathLst>
              </a:custGeom>
              <a:noFill/>
              <a:ln cap="rnd" w="19050">
                <a:solidFill>
                  <a:srgbClr val="ffffff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400" spc="-1" strike="noStrike">
                  <a:solidFill>
                    <a:srgbClr val="ffffff"/>
                  </a:solidFill>
                  <a:latin typeface="Arial"/>
                </a:endParaRPr>
              </a:p>
            </p:txBody>
          </p:sp>
        </p:grpSp>
        <p:sp>
          <p:nvSpPr>
            <p:cNvPr id="367" name="Google Shape;432;p26"/>
            <p:cNvSpPr/>
            <p:nvPr/>
          </p:nvSpPr>
          <p:spPr>
            <a:xfrm>
              <a:off x="1095480" y="4286160"/>
              <a:ext cx="5143320" cy="52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500" spc="-1" strike="noStrike">
                  <a:solidFill>
                    <a:srgbClr val="045a36"/>
                  </a:solidFill>
                  <a:latin typeface="Courier New"/>
                  <a:ea typeface="Courier New"/>
                </a:rPr>
                <a:t>raise</a:t>
              </a:r>
              <a:r>
                <a:rPr b="0" lang="en" sz="1400" spc="-1" strike="noStrike">
                  <a:solidFill>
                    <a:srgbClr val="000000"/>
                  </a:solidFill>
                  <a:latin typeface="Arial"/>
                  <a:ea typeface="Arial"/>
                </a:rPr>
                <a:t> </a:t>
              </a:r>
              <a:r>
                <a:rPr b="0" lang="en" sz="1400" spc="-1" strike="noStrike">
                  <a:solidFill>
                    <a:srgbClr val="374151"/>
                  </a:solidFill>
                  <a:latin typeface="Inter"/>
                  <a:ea typeface="Inter"/>
                </a:rPr>
                <a:t>— Triggers custom error states to enforce business logic.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68" name="Google Shape;433;p26"/>
          <p:cNvGrpSpPr/>
          <p:nvPr/>
        </p:nvGrpSpPr>
        <p:grpSpPr>
          <a:xfrm>
            <a:off x="6477120" y="1809720"/>
            <a:ext cx="4952520" cy="3143160"/>
            <a:chOff x="6477120" y="1809720"/>
            <a:chExt cx="4952520" cy="3143160"/>
          </a:xfrm>
        </p:grpSpPr>
        <p:sp>
          <p:nvSpPr>
            <p:cNvPr id="369" name="Google Shape;434;p26"/>
            <p:cNvSpPr/>
            <p:nvPr/>
          </p:nvSpPr>
          <p:spPr>
            <a:xfrm>
              <a:off x="6477120" y="1809720"/>
              <a:ext cx="4952520" cy="3143160"/>
            </a:xfrm>
            <a:prstGeom prst="roundRect">
              <a:avLst>
                <a:gd name="adj" fmla="val 3636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0" name="Google Shape;435;p26"/>
            <p:cNvSpPr/>
            <p:nvPr/>
          </p:nvSpPr>
          <p:spPr>
            <a:xfrm>
              <a:off x="6477120" y="1809720"/>
              <a:ext cx="4952520" cy="47520"/>
            </a:xfrm>
            <a:prstGeom prst="roundRect">
              <a:avLst>
                <a:gd name="adj" fmla="val 40000"/>
              </a:avLst>
            </a:prstGeom>
            <a:solidFill>
              <a:srgbClr val="045a3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1" name="Google Shape;436;p26"/>
            <p:cNvSpPr/>
            <p:nvPr/>
          </p:nvSpPr>
          <p:spPr>
            <a:xfrm>
              <a:off x="6762600" y="2019240"/>
              <a:ext cx="4381200" cy="285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200" spc="-1" strike="noStrike">
                  <a:solidFill>
                    <a:srgbClr val="d4a017"/>
                  </a:solidFill>
                  <a:latin typeface="Inter"/>
                  <a:ea typeface="Inter"/>
                </a:rPr>
                <a:t>EXCEPTION FLOW LOGIC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2" name="Google Shape;437;p26"/>
            <p:cNvSpPr/>
            <p:nvPr/>
          </p:nvSpPr>
          <p:spPr>
            <a:xfrm>
              <a:off x="7334280" y="2381400"/>
              <a:ext cx="3238200" cy="2428560"/>
            </a:xfrm>
            <a:prstGeom prst="roundRect">
              <a:avLst>
                <a:gd name="adj" fmla="val 3137"/>
              </a:avLst>
            </a:pr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3" name="Google Shape;438;p26"/>
            <p:cNvSpPr/>
            <p:nvPr/>
          </p:nvSpPr>
          <p:spPr>
            <a:xfrm>
              <a:off x="7334280" y="2381400"/>
              <a:ext cx="3238200" cy="2428560"/>
            </a:xfrm>
            <a:prstGeom prst="roundRect">
              <a:avLst>
                <a:gd name="adj" fmla="val 3137"/>
              </a:avLst>
            </a:prstGeom>
            <a:noFill/>
            <a:ln w="14300">
              <a:solidFill>
                <a:srgbClr val="e2e8f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74" name="Google Shape;439;p26"/>
          <p:cNvGrpSpPr/>
          <p:nvPr/>
        </p:nvGrpSpPr>
        <p:grpSpPr>
          <a:xfrm>
            <a:off x="762120" y="5095800"/>
            <a:ext cx="10667520" cy="875880"/>
            <a:chOff x="762120" y="5095800"/>
            <a:chExt cx="10667520" cy="875880"/>
          </a:xfrm>
        </p:grpSpPr>
        <p:sp>
          <p:nvSpPr>
            <p:cNvPr id="375" name="Google Shape;440;p26"/>
            <p:cNvSpPr/>
            <p:nvPr/>
          </p:nvSpPr>
          <p:spPr>
            <a:xfrm>
              <a:off x="762120" y="5095800"/>
              <a:ext cx="10667520" cy="875880"/>
            </a:xfrm>
            <a:prstGeom prst="roundRect">
              <a:avLst>
                <a:gd name="adj" fmla="val 8695"/>
              </a:avLst>
            </a:prstGeom>
            <a:solidFill>
              <a:srgbClr val="eaf2ee"/>
            </a:solidFill>
            <a:ln w="9525">
              <a:solidFill>
                <a:srgbClr val="c3dfd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6" name="Google Shape;441;p26"/>
            <p:cNvSpPr/>
            <p:nvPr/>
          </p:nvSpPr>
          <p:spPr>
            <a:xfrm>
              <a:off x="762120" y="5095800"/>
              <a:ext cx="56880" cy="875880"/>
            </a:xfrm>
            <a:prstGeom prst="roundRect">
              <a:avLst>
                <a:gd name="adj" fmla="val 50000"/>
              </a:avLst>
            </a:prstGeom>
            <a:solidFill>
              <a:srgbClr val="045a3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7" name="Google Shape;442;p26"/>
            <p:cNvSpPr/>
            <p:nvPr/>
          </p:nvSpPr>
          <p:spPr>
            <a:xfrm>
              <a:off x="1000080" y="5238720"/>
              <a:ext cx="10191600" cy="209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n" sz="1200" spc="-1" strike="noStrike">
                  <a:solidFill>
                    <a:srgbClr val="045a36"/>
                  </a:solidFill>
                  <a:latin typeface="Inter"/>
                  <a:ea typeface="Inter"/>
                </a:rPr>
                <a:t>KEY TAKEAWAY</a:t>
              </a:r>
              <a:endParaRPr b="0" lang="en-US" sz="12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8" name="Google Shape;443;p26"/>
            <p:cNvSpPr/>
            <p:nvPr/>
          </p:nvSpPr>
          <p:spPr>
            <a:xfrm>
              <a:off x="1000080" y="5477040"/>
              <a:ext cx="10191600" cy="399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n" sz="1300" spc="-1" strike="noStrike">
                  <a:solidFill>
                    <a:srgbClr val="1f2937"/>
                  </a:solidFill>
                  <a:latin typeface="Inter SemiBold"/>
                  <a:ea typeface="Inter SemiBold"/>
                </a:rPr>
                <a:t>By integrating structured exception handling, software transitions from highly fragile operational profiles to clean, predictable, and exceptionally resilient execution states.</a:t>
              </a:r>
              <a:endParaRPr b="0" lang="en-US" sz="13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79" name="Google Shape;444;p26"/>
          <p:cNvSpPr/>
          <p:nvPr/>
        </p:nvSpPr>
        <p:spPr>
          <a:xfrm>
            <a:off x="762120" y="6134040"/>
            <a:ext cx="7619760" cy="19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000" spc="-1" strike="noStrike">
                <a:solidFill>
                  <a:srgbClr val="6b7280"/>
                </a:solidFill>
                <a:latin typeface="Inter"/>
                <a:ea typeface="Inter"/>
              </a:rPr>
              <a:t>Python Programming Course | Control Flow &amp; Resiliency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2026-07-06T08:55:02Z</dcterms:modified>
  <cp:revision>1</cp:revision>
  <dc:subject/>
  <dc:title/>
</cp:coreProperties>
</file>