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layfair Display"/>
      <p:bold r:id="rId31"/>
      <p:boldItalic r:id="rId32"/>
    </p:embeddedFont>
    <p:embeddedFont>
      <p:font typeface="Inter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5aa942ed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5aa942ed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5aa942ed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c5aa942ed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5aa942ed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5aa942ed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5aa942ed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c5aa942ed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5aa942ed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c5aa942ed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5aa942ed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c5aa942ed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c5aa942ed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c5aa942ed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5aa942ed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c5aa942ed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c5aa942ed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c5aa942ed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c5aa942ed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c5aa942ed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c5aa942ed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c5aa942ed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c5aa942ed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c5aa942ed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c5aa942ed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c5aa942ed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c5aa942ed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c5aa942ed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c5aa942ed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c5aa942ed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c5aa942ed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ec5aa942ed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c5aa942ed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c5aa942ed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c5aa942ed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c5aa942ed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5aa942ed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c5aa942ed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c5aa942ed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ec5aa942ed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c5aa942ed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c5aa942ed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c5aa942ed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c5aa942ed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c5aa942ed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c5aa942ed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c5aa942ed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c5aa942e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c5aa942ed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c5aa942e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5aa942ed_7_0)">
  <p:cSld name="Generated (g3ec5aa942ed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59.jpg"/><Relationship Id="rId6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667125" y="95250"/>
            <a:ext cx="4735275" cy="1088700"/>
            <a:chOff x="3667125" y="95250"/>
            <a:chExt cx="4735275" cy="10887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67125" y="571500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10"/>
            <a:stretch/>
          </p:blipFill>
          <p:spPr>
            <a:xfrm>
              <a:off x="7429500" y="95250"/>
              <a:ext cx="972900" cy="1088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4"/>
          <p:cNvSpPr txBox="1"/>
          <p:nvPr/>
        </p:nvSpPr>
        <p:spPr>
          <a:xfrm>
            <a:off x="762000" y="152400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STRUCTURES MODULE</a:t>
            </a:r>
            <a:endParaRPr b="1" sz="24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Dictionaries in Python &amp; Its Functions</a:t>
            </a:r>
            <a:endParaRPr b="1" sz="3150">
              <a:solidFill>
                <a:srgbClr val="D4AF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3619500" y="3190875"/>
            <a:ext cx="1905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762000" y="3381375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Structures Module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 comprehensive guide to understanding and using dictionaries in Python programming.</a:t>
            </a:r>
            <a:endParaRPr b="0" sz="120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Department of Computer Science</a:t>
            </a:r>
            <a:endParaRPr b="0" sz="1350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73" name="Google Shape;7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" name="Google Shape;75;p1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 Dictionary?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Definition &amp; Characteristics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Python Data Structure: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Used to store collections of data.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Key-Value Pairs: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Data is mapped using a unique key attached to a specific value.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Python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Defining a dictionary using curly braces:</a:t>
              </a:r>
              <a:endParaRPr b="0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Note: Keys in a dictionary must be unique and immutable, providing efficient data retrieval.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91" name="Google Shape;91;p1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94" name="Google Shape;9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9" name="Google Shape;99;p1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Use Dictionaries?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00" name="Google Shape;100;p16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01" name="Google Shape;101;p16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Key Benefits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Meaningful Labels: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Ideal when data requires descriptive names instead of numerical indices.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Structured Data: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Perfect for representing real-world entities (like a user profile).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Code Implementation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Dictionaries use key-value pairs to store information intuitively: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"name": "Ali",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"age": 20,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"department": "AI"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11" name="Google Shape;111;p1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7239000" y="120205"/>
            <a:ext cx="1714500" cy="426300"/>
            <a:chOff x="7239000" y="120205"/>
            <a:chExt cx="1714500" cy="426300"/>
          </a:xfrm>
        </p:grpSpPr>
        <p:pic>
          <p:nvPicPr>
            <p:cNvPr id="114" name="Google Shape;11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39000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1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17" name="Google Shape;117;p1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9" name="Google Shape;119;p17"/>
          <p:cNvSpPr txBox="1"/>
          <p:nvPr/>
        </p:nvSpPr>
        <p:spPr>
          <a:xfrm>
            <a:off x="381000" y="142875"/>
            <a:ext cx="676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Creating a Dictionary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21" name="Google Shape;121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Syntax &amp; Rules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Core Definition: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Defined using curly brackets </a:t>
              </a: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{}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Structure: </a:t>
              </a:r>
              <a:r>
                <a:rPr b="1" lang="en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key: value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pairs.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Items are separated by commas.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Syntax: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dict_name = {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  "key": "value"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24" name="Google Shape;124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190500" y="190500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Code Showcase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 Implementation: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car = {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  "brand": "Toyota",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  "model": "Corolla",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  "year": 2020</a:t>
              </a:r>
              <a:b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26" name="Google Shape;126;p17"/>
            <p:cNvGrpSpPr/>
            <p:nvPr/>
          </p:nvGrpSpPr>
          <p:grpSpPr>
            <a:xfrm>
              <a:off x="428625" y="1714500"/>
              <a:ext cx="3143400" cy="1428900"/>
              <a:chOff x="0" y="0"/>
              <a:chExt cx="3143400" cy="1428900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0" y="0"/>
                <a:ext cx="31434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0F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8" name="Google Shape;128;p17"/>
              <p:cNvPicPr preferRelativeResize="0"/>
              <p:nvPr/>
            </p:nvPicPr>
            <p:blipFill rotWithShape="1">
              <a:blip r:embed="rId5">
                <a:alphaModFix/>
              </a:blip>
              <a:srcRect b="21112" l="0" r="0" t="21112"/>
              <a:stretch/>
            </p:blipFill>
            <p:spPr>
              <a:xfrm>
                <a:off x="142875" y="95250"/>
                <a:ext cx="2857500" cy="1238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34" name="Google Shape;134;p1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381000" y="142875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Dictionary Properties</a:t>
              </a:r>
              <a:endParaRPr b="1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id="137" name="Google Shape;13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18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40" name="Google Shape;140;p1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Core Characteristics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Ordered: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Items maintain their insertion order (Python 3.7+).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Mutable: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Items can be changed, added, or removed.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No Duplicates: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Keys must be unique. Duplicate keys overwrite existing values.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Format:</a:t>
              </a:r>
              <a:r>
                <a:rPr lang="en"/>
                <a:t>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Stores data strictly as key-value pairs.</a:t>
              </a:r>
              <a:endParaRPr/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Practical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Handling duplicate keys in a dictionary declaration: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data = {"name": "Ahmed", "name": "Ali"}</a:t>
              </a:r>
              <a:endParaRPr b="1" sz="1100">
                <a:solidFill>
                  <a:srgbClr val="1A1A1A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Result: "name" becomes "Ali"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54" name="Google Shape;154;p1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19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157" name="Google Shape;15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Accessing Dictionary Values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60" name="Google Shape;160;p19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161" name="Google Shape;161;p19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Values are accessed by referring to their key name inside square brackets </a:t>
              </a:r>
              <a:r>
                <a:rPr b="1" lang="en" sz="1100">
                  <a:solidFill>
                    <a:srgbClr val="1A1A1A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print(student["name"])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Ali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67" name="Google Shape;167;p1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75" name="Google Shape;175;p2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178" name="Google Shape;17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3" name="Google Shape;183;p2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Using get()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1714500" y="952500"/>
            <a:ext cx="5715000" cy="1524000"/>
            <a:chOff x="0" y="0"/>
            <a:chExt cx="5715000" cy="15240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57150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190500" y="190500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Explanation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Access a value safely.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Benefit: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Prevents errors if the key does not exist (returns None instead of crashing).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1714500" y="2762250"/>
            <a:ext cx="5715000" cy="1428900"/>
            <a:chOff x="0" y="0"/>
            <a:chExt cx="5715000" cy="1428900"/>
          </a:xfrm>
        </p:grpSpPr>
        <p:sp>
          <p:nvSpPr>
            <p:cNvPr id="188" name="Google Shape;188;p20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print(student.get("name"))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Ali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7620000" y="3333750"/>
            <a:ext cx="1143000" cy="642900"/>
            <a:chOff x="0" y="0"/>
            <a:chExt cx="1143000" cy="642900"/>
          </a:xfrm>
        </p:grpSpPr>
        <p:pic>
          <p:nvPicPr>
            <p:cNvPr id="191" name="Google Shape;19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143000" cy="6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0"/>
            <p:cNvSpPr/>
            <p:nvPr/>
          </p:nvSpPr>
          <p:spPr>
            <a:xfrm>
              <a:off x="0" y="0"/>
              <a:ext cx="1143000" cy="642900"/>
            </a:xfrm>
            <a:prstGeom prst="roundRect">
              <a:avLst>
                <a:gd fmla="val 1185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99" name="Google Shape;199;p2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21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202" name="Google Shape;20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2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Adding New Items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Methodology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Method: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Assign a value to a new index key.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The new key-value pair is appended to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209" name="Google Shape;209;p21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190500" y="190500"/>
              <a:ext cx="533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student["city"] = "Hyderabad"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Dictionary now includes "city": "Hyderabad"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12" name="Google Shape;212;p2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19" name="Google Shape;219;p2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222" name="Google Shape;22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22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Updating Dictionary Values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25" name="Google Shape;225;p22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26" name="Google Shape;226;p22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9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</a:t>
              </a:r>
              <a:endParaRPr b="1" sz="1249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Dictionaries are </a:t>
              </a:r>
              <a:r>
                <a:rPr b="1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mutable</a:t>
              </a: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meaning their content can be changed after creation.</a:t>
              </a:r>
              <a:endParaRPr b="0" sz="97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Simply reassign a new value to an existing key using the square bracket </a:t>
              </a:r>
              <a:r>
                <a:rPr b="1" lang="en" sz="925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b="0" lang="en" sz="971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syntax.</a:t>
              </a:r>
              <a:endParaRPr b="0" sz="97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22"/>
          <p:cNvGrpSpPr/>
          <p:nvPr/>
        </p:nvGrpSpPr>
        <p:grpSpPr>
          <a:xfrm>
            <a:off x="1714500" y="2667000"/>
            <a:ext cx="5715000" cy="1428900"/>
            <a:chOff x="0" y="0"/>
            <a:chExt cx="5715000" cy="1428900"/>
          </a:xfrm>
        </p:grpSpPr>
        <p:sp>
          <p:nvSpPr>
            <p:cNvPr id="229" name="Google Shape;229;p22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student["age"] = 21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The value of 'age' is now updated to 21</a:t>
              </a:r>
              <a:endParaRPr sz="9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1" name="Google Shape;231;p22"/>
          <p:cNvGrpSpPr/>
          <p:nvPr/>
        </p:nvGrpSpPr>
        <p:grpSpPr>
          <a:xfrm>
            <a:off x="7620000" y="3048000"/>
            <a:ext cx="1143000" cy="642900"/>
            <a:chOff x="0" y="0"/>
            <a:chExt cx="1143000" cy="642900"/>
          </a:xfrm>
        </p:grpSpPr>
        <p:pic>
          <p:nvPicPr>
            <p:cNvPr id="232" name="Google Shape;23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143000" cy="6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2"/>
            <p:cNvSpPr/>
            <p:nvPr/>
          </p:nvSpPr>
          <p:spPr>
            <a:xfrm>
              <a:off x="0" y="0"/>
              <a:ext cx="1143000" cy="642900"/>
            </a:xfrm>
            <a:prstGeom prst="roundRect">
              <a:avLst>
                <a:gd fmla="val 1777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2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35" name="Google Shape;235;p2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2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43" name="Google Shape;243;p2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3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246" name="Google Shape;2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2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update()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49" name="Google Shape;249;p23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50" name="Google Shape;250;p23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Core Behavior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Updates the dictionary with items from a given argument.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Mechanism: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Replaces values for existing keys or adds new key-value pairs if keys are missing.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" name="Google Shape;252;p23"/>
          <p:cNvGrpSpPr/>
          <p:nvPr/>
        </p:nvGrpSpPr>
        <p:grpSpPr>
          <a:xfrm>
            <a:off x="381000" y="2476500"/>
            <a:ext cx="1143000" cy="642900"/>
            <a:chOff x="0" y="0"/>
            <a:chExt cx="1143000" cy="642900"/>
          </a:xfrm>
        </p:grpSpPr>
        <p:sp>
          <p:nvSpPr>
            <p:cNvPr id="253" name="Google Shape;253;p23"/>
            <p:cNvSpPr/>
            <p:nvPr/>
          </p:nvSpPr>
          <p:spPr>
            <a:xfrm>
              <a:off x="0" y="0"/>
              <a:ext cx="1143000" cy="642900"/>
            </a:xfrm>
            <a:prstGeom prst="roundRect">
              <a:avLst>
                <a:gd fmla="val 1185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" y="19050"/>
              <a:ext cx="1104900" cy="6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23"/>
          <p:cNvGrpSpPr/>
          <p:nvPr/>
        </p:nvGrpSpPr>
        <p:grpSpPr>
          <a:xfrm>
            <a:off x="1714500" y="2667000"/>
            <a:ext cx="5715000" cy="1762200"/>
            <a:chOff x="0" y="0"/>
            <a:chExt cx="5715000" cy="1762200"/>
          </a:xfrm>
        </p:grpSpPr>
        <p:sp>
          <p:nvSpPr>
            <p:cNvPr id="256" name="Google Shape;256;p23"/>
            <p:cNvSpPr/>
            <p:nvPr/>
          </p:nvSpPr>
          <p:spPr>
            <a:xfrm>
              <a:off x="0" y="0"/>
              <a:ext cx="5715000" cy="1762200"/>
            </a:xfrm>
            <a:prstGeom prst="roundRect">
              <a:avLst>
                <a:gd fmla="val 648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190500" y="190500"/>
              <a:ext cx="53340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Syntax Showcase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student.update({"age": 22, "grade": "A"})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{"name": "Ali", "age": 22, "grade": "A"}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8" name="Google Shape;258;p2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66" name="Google Shape;266;p2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p24"/>
          <p:cNvGrpSpPr/>
          <p:nvPr/>
        </p:nvGrpSpPr>
        <p:grpSpPr>
          <a:xfrm>
            <a:off x="7247268" y="120205"/>
            <a:ext cx="1706232" cy="426300"/>
            <a:chOff x="7247268" y="120205"/>
            <a:chExt cx="1706232" cy="426300"/>
          </a:xfrm>
        </p:grpSpPr>
        <p:pic>
          <p:nvPicPr>
            <p:cNvPr id="269" name="Google Shape;269;p24"/>
            <p:cNvPicPr preferRelativeResize="0"/>
            <p:nvPr/>
          </p:nvPicPr>
          <p:blipFill rotWithShape="1">
            <a:blip r:embed="rId3">
              <a:alphaModFix/>
            </a:blip>
            <a:srcRect b="50" l="0" r="0" t="50"/>
            <a:stretch/>
          </p:blipFill>
          <p:spPr>
            <a:xfrm>
              <a:off x="724726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4"/>
            <p:cNvPicPr preferRelativeResize="0"/>
            <p:nvPr/>
          </p:nvPicPr>
          <p:blipFill rotWithShape="1">
            <a:blip r:embed="rId4">
              <a:alphaModFix/>
            </a:blip>
            <a:srcRect b="269" l="0" r="0" t="269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4"/>
          <p:cNvSpPr txBox="1"/>
          <p:nvPr/>
        </p:nvSpPr>
        <p:spPr>
          <a:xfrm>
            <a:off x="381000" y="142875"/>
            <a:ext cx="676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Removing Items Using pop()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72" name="Google Shape;272;p24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73" name="Google Shape;273;p24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4" name="Google Shape;274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0500" y="142875"/>
              <a:ext cx="1524000" cy="8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24"/>
            <p:cNvSpPr txBox="1"/>
            <p:nvPr/>
          </p:nvSpPr>
          <p:spPr>
            <a:xfrm>
              <a:off x="1905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 Definition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Function: </a:t>
              </a: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pop()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Removes a specific item using its key name from a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24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277" name="Google Shape;277;p24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 txBox="1"/>
            <p:nvPr/>
          </p:nvSpPr>
          <p:spPr>
            <a:xfrm>
              <a:off x="190500" y="190500"/>
              <a:ext cx="533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student.pop("age")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Result: {"name": "Ali"}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9" name="Google Shape;279;p2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80" name="Google Shape;280;p2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2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88" name="Google Shape;288;p2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25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291" name="Google Shape;29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2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Removing Last Item Using popitem()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94" name="Google Shape;294;p25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295" name="Google Shape;295;p25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popitem()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Removes the last inserted key-value pair from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7" name="Google Shape;297;p25"/>
          <p:cNvGrpSpPr/>
          <p:nvPr/>
        </p:nvGrpSpPr>
        <p:grpSpPr>
          <a:xfrm>
            <a:off x="1714500" y="2667000"/>
            <a:ext cx="5715000" cy="1619100"/>
            <a:chOff x="0" y="0"/>
            <a:chExt cx="5715000" cy="1619100"/>
          </a:xfrm>
        </p:grpSpPr>
        <p:sp>
          <p:nvSpPr>
            <p:cNvPr id="298" name="Google Shape;298;p25"/>
            <p:cNvSpPr/>
            <p:nvPr/>
          </p:nvSpPr>
          <p:spPr>
            <a:xfrm>
              <a:off x="0" y="0"/>
              <a:ext cx="5715000" cy="1619100"/>
            </a:xfrm>
            <a:prstGeom prst="roundRect">
              <a:avLst>
                <a:gd fmla="val 7058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 txBox="1"/>
            <p:nvPr/>
          </p:nvSpPr>
          <p:spPr>
            <a:xfrm>
              <a:off x="190500" y="190500"/>
              <a:ext cx="5334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20, "city": "Hyderabad"}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student.popitem()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Result: "city" key-value pair is removed.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00" name="Google Shape;300;p2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01" name="Google Shape;301;p2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2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09" name="Google Shape;309;p2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312" name="Google Shape;312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4" name="Google Shape;314;p2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15" name="Google Shape;315;p2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17" name="Google Shape;317;p2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Using del Keyword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18" name="Google Shape;318;p26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319" name="Google Shape;319;p26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6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Keyword: </a:t>
              </a: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del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Removes a specific item from a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Deletes the entire dictionary object from memory.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1" name="Google Shape;321;p26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322" name="Google Shape;322;p26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 txBox="1"/>
            <p:nvPr/>
          </p:nvSpPr>
          <p:spPr>
            <a:xfrm>
              <a:off x="190500" y="190500"/>
              <a:ext cx="533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 student["age"] </a:t>
              </a:r>
              <a:r>
                <a:rPr b="1" lang="en" sz="1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Removes 'age'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 student </a:t>
              </a:r>
              <a:r>
                <a:rPr b="1" lang="en" sz="1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Deletes entire dictionary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2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333" name="Google Shape;33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5" name="Google Shape;335;p2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clear()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36" name="Google Shape;336;p27"/>
          <p:cNvGrpSpPr/>
          <p:nvPr/>
        </p:nvGrpSpPr>
        <p:grpSpPr>
          <a:xfrm>
            <a:off x="381000" y="952500"/>
            <a:ext cx="4000500" cy="1428900"/>
            <a:chOff x="0" y="0"/>
            <a:chExt cx="4000500" cy="1428900"/>
          </a:xfrm>
        </p:grpSpPr>
        <p:sp>
          <p:nvSpPr>
            <p:cNvPr id="337" name="Google Shape;337;p27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 txBox="1"/>
            <p:nvPr/>
          </p:nvSpPr>
          <p:spPr>
            <a:xfrm>
              <a:off x="1905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Function Details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clear()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Empties the dictionary completely.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Dictionary exists, but contains no items {}.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9" name="Google Shape;339;p27"/>
          <p:cNvGrpSpPr/>
          <p:nvPr/>
        </p:nvGrpSpPr>
        <p:grpSpPr>
          <a:xfrm>
            <a:off x="4762500" y="952500"/>
            <a:ext cx="4000500" cy="1428900"/>
            <a:chOff x="0" y="0"/>
            <a:chExt cx="4000500" cy="1428900"/>
          </a:xfrm>
        </p:grpSpPr>
        <p:sp>
          <p:nvSpPr>
            <p:cNvPr id="340" name="Google Shape;340;p27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1" name="Google Shape;341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0" y="142875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27"/>
          <p:cNvGrpSpPr/>
          <p:nvPr/>
        </p:nvGrpSpPr>
        <p:grpSpPr>
          <a:xfrm>
            <a:off x="1714500" y="2762250"/>
            <a:ext cx="5715000" cy="1428900"/>
            <a:chOff x="0" y="0"/>
            <a:chExt cx="5715000" cy="1428900"/>
          </a:xfrm>
        </p:grpSpPr>
        <p:sp>
          <p:nvSpPr>
            <p:cNvPr id="343" name="Google Shape;343;p27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student.clear()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Result: {}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45" name="Google Shape;345;p2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46" name="Google Shape;346;p2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54" name="Google Shape;354;p2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28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357" name="Google Shape;35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28"/>
          <p:cNvSpPr txBox="1"/>
          <p:nvPr/>
        </p:nvSpPr>
        <p:spPr>
          <a:xfrm>
            <a:off x="381000" y="142875"/>
            <a:ext cx="714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keys()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60" name="Google Shape;360;p28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361" name="Google Shape;361;p28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8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Retrieving Keys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keys()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Returns a view object containing all the keys from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3" name="Google Shape;363;p28"/>
          <p:cNvGrpSpPr/>
          <p:nvPr/>
        </p:nvGrpSpPr>
        <p:grpSpPr>
          <a:xfrm>
            <a:off x="1714500" y="2667000"/>
            <a:ext cx="5715000" cy="1428900"/>
            <a:chOff x="0" y="0"/>
            <a:chExt cx="5715000" cy="1428900"/>
          </a:xfrm>
        </p:grpSpPr>
        <p:sp>
          <p:nvSpPr>
            <p:cNvPr id="364" name="Google Shape;364;p28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print(student.keys())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dict_keys(['name', 'age'])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6" name="Google Shape;366;p2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67" name="Google Shape;367;p2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2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75" name="Google Shape;375;p2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29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378" name="Google Shape;378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2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values()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81" name="Google Shape;381;p29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382" name="Google Shape;382;p29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Function: values()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a view object containing all the values from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values()</a:t>
              </a:r>
              <a:r>
                <a:rPr b="0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 method is essential for iterating over data stored in dictionaries when keys are not required.</a:t>
              </a:r>
              <a:endParaRPr b="0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4" name="Google Shape;384;p29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385" name="Google Shape;385;p29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print(student.values())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dict_values(['Ali', 20])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7" name="Google Shape;387;p2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88" name="Google Shape;388;p2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3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96" name="Google Shape;396;p3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399" name="Google Shape;399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3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items()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03" name="Google Shape;403;p30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 txBox="1"/>
            <p:nvPr/>
          </p:nvSpPr>
          <p:spPr>
            <a:xfrm>
              <a:off x="238125" y="190500"/>
              <a:ext cx="5238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Function: </a:t>
              </a:r>
              <a:r>
                <a:rPr b="1" lang="en" sz="13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items()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endParaRPr b="1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a view object containing all key-value pairs as tuples in a list. This allows for easy iteration over dictionary entries.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30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406" name="Google Shape;406;p30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print(student.items())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dict_items([('name', 'Ali'), ('age', 20)])</a:t>
              </a:r>
              <a:endParaRPr b="1" sz="10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8" name="Google Shape;408;p30"/>
          <p:cNvGrpSpPr/>
          <p:nvPr/>
        </p:nvGrpSpPr>
        <p:grpSpPr>
          <a:xfrm>
            <a:off x="7524750" y="952500"/>
            <a:ext cx="1238400" cy="3429000"/>
            <a:chOff x="0" y="0"/>
            <a:chExt cx="1238400" cy="3429000"/>
          </a:xfrm>
        </p:grpSpPr>
        <p:sp>
          <p:nvSpPr>
            <p:cNvPr id="409" name="Google Shape;409;p30"/>
            <p:cNvSpPr/>
            <p:nvPr/>
          </p:nvSpPr>
          <p:spPr>
            <a:xfrm>
              <a:off x="0" y="0"/>
              <a:ext cx="1238400" cy="34290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0" name="Google Shape;410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" y="47625"/>
              <a:ext cx="1143000" cy="6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0"/>
            <p:cNvSpPr txBox="1"/>
            <p:nvPr/>
          </p:nvSpPr>
          <p:spPr>
            <a:xfrm>
              <a:off x="95250" y="762000"/>
              <a:ext cx="104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Visual Map:</a:t>
              </a:r>
              <a:endParaRPr b="1" sz="80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The items() method effectively maps dictionary keys to their values within discrete tuple structures.</a:t>
              </a:r>
              <a:endPara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2" name="Google Shape;412;p3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13" name="Google Shape;413;p3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3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21" name="Google Shape;421;p3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3" name="Google Shape;423;p31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424" name="Google Shape;42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6" name="Google Shape;426;p3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Looping Through Dictionary Keys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7" name="Google Shape;427;p31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28" name="Google Shape;428;p31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1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&amp; Default Behavior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 a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for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loop to iterate over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Looping directly on the dictionary returns its keys.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0" name="Google Shape;430;p31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431" name="Google Shape;431;p31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1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x in student: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print(x)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name, age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33" name="Google Shape;433;p3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34" name="Google Shape;434;p3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3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42" name="Google Shape;442;p3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32"/>
          <p:cNvGrpSpPr/>
          <p:nvPr/>
        </p:nvGrpSpPr>
        <p:grpSpPr>
          <a:xfrm>
            <a:off x="7243153" y="120205"/>
            <a:ext cx="1710347" cy="426300"/>
            <a:chOff x="7243153" y="120205"/>
            <a:chExt cx="1710347" cy="426300"/>
          </a:xfrm>
        </p:grpSpPr>
        <p:pic>
          <p:nvPicPr>
            <p:cNvPr id="445" name="Google Shape;44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43153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7" name="Google Shape;447;p32"/>
          <p:cNvSpPr txBox="1"/>
          <p:nvPr/>
        </p:nvSpPr>
        <p:spPr>
          <a:xfrm>
            <a:off x="381000" y="142875"/>
            <a:ext cx="676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Looping Through Values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48" name="Google Shape;448;p32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49" name="Google Shape;449;p32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2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Combine a </a:t>
              </a: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loop with the </a:t>
              </a: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values()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function.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Iterates only through the data values within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1" name="Google Shape;451;p32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452" name="Google Shape;452;p32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2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x in student.values():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print(x)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Ali, 20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54" name="Google Shape;454;p3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55" name="Google Shape;455;p3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3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63" name="Google Shape;463;p3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33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466" name="Google Shape;466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8" name="Google Shape;468;p3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69" name="Google Shape;469;p3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71" name="Google Shape;471;p3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Looping Through Key-Value Pairs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72" name="Google Shape;472;p33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73" name="Google Shape;473;p33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4" name="Google Shape;474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000" y="333375"/>
              <a:ext cx="7620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3"/>
            <p:cNvSpPr txBox="1"/>
            <p:nvPr/>
          </p:nvSpPr>
          <p:spPr>
            <a:xfrm>
              <a:off x="238125" y="190500"/>
              <a:ext cx="5238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Overview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 the </a:t>
              </a: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items()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function to loop through keys and values simultaneously.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Requires two variables defined in the loop header (e.g., k and v).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6" name="Google Shape;476;p33"/>
          <p:cNvGrpSpPr/>
          <p:nvPr/>
        </p:nvGrpSpPr>
        <p:grpSpPr>
          <a:xfrm>
            <a:off x="1714500" y="2667000"/>
            <a:ext cx="5715000" cy="1428900"/>
            <a:chOff x="0" y="0"/>
            <a:chExt cx="5715000" cy="1428900"/>
          </a:xfrm>
        </p:grpSpPr>
        <p:sp>
          <p:nvSpPr>
            <p:cNvPr id="477" name="Google Shape;477;p33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k, v in student.items():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print(k, v)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 name Ali, age 20</a:t>
              </a:r>
              <a:endParaRPr b="1" sz="10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3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85" name="Google Shape;485;p3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34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488" name="Google Shape;48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0" name="Google Shape;490;p34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Checking Key in Dictionary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91" name="Google Shape;491;p34"/>
          <p:cNvGrpSpPr/>
          <p:nvPr/>
        </p:nvGrpSpPr>
        <p:grpSpPr>
          <a:xfrm>
            <a:off x="1714500" y="952500"/>
            <a:ext cx="5715000" cy="1428900"/>
            <a:chOff x="0" y="0"/>
            <a:chExt cx="5715000" cy="1428900"/>
          </a:xfrm>
        </p:grpSpPr>
        <p:sp>
          <p:nvSpPr>
            <p:cNvPr id="492" name="Google Shape;492;p34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4"/>
            <p:cNvSpPr txBox="1"/>
            <p:nvPr/>
          </p:nvSpPr>
          <p:spPr>
            <a:xfrm>
              <a:off x="190500" y="19050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Membership Operator Concept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Keyword: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05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Checks whether a specific key exists within the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Boolean (True/False).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4" name="Google Shape;494;p34"/>
          <p:cNvGrpSpPr/>
          <p:nvPr/>
        </p:nvGrpSpPr>
        <p:grpSpPr>
          <a:xfrm>
            <a:off x="1714500" y="2667000"/>
            <a:ext cx="5715000" cy="1714500"/>
            <a:chOff x="0" y="0"/>
            <a:chExt cx="5715000" cy="1714500"/>
          </a:xfrm>
        </p:grpSpPr>
        <p:sp>
          <p:nvSpPr>
            <p:cNvPr id="495" name="Google Shape;495;p34"/>
            <p:cNvSpPr/>
            <p:nvPr/>
          </p:nvSpPr>
          <p:spPr>
            <a:xfrm>
              <a:off x="0" y="0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4"/>
            <p:cNvSpPr txBox="1"/>
            <p:nvPr/>
          </p:nvSpPr>
          <p:spPr>
            <a:xfrm>
              <a:off x="190500" y="142875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"name" </a:t>
              </a: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student: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print("Key exists!")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97" name="Google Shape;497;p3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98" name="Google Shape;498;p3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5" name="Google Shape;505;p3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06" name="Google Shape;506;p3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35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509" name="Google Shape;509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1" name="Google Shape;511;p3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copy() Function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381000" y="952500"/>
            <a:ext cx="1905000" cy="1428900"/>
            <a:chOff x="0" y="0"/>
            <a:chExt cx="1905000" cy="1428900"/>
          </a:xfrm>
        </p:grpSpPr>
        <p:sp>
          <p:nvSpPr>
            <p:cNvPr id="513" name="Google Shape;513;p35"/>
            <p:cNvSpPr/>
            <p:nvPr/>
          </p:nvSpPr>
          <p:spPr>
            <a:xfrm>
              <a:off x="0" y="0"/>
              <a:ext cx="190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4" name="Google Shape;514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250" y="95250"/>
              <a:ext cx="1714500" cy="96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5"/>
            <p:cNvSpPr txBox="1"/>
            <p:nvPr/>
          </p:nvSpPr>
          <p:spPr>
            <a:xfrm>
              <a:off x="95250" y="109537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Independent Reproduction</a:t>
              </a:r>
              <a:endParaRPr b="1"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6" name="Google Shape;516;p35"/>
          <p:cNvGrpSpPr/>
          <p:nvPr/>
        </p:nvGrpSpPr>
        <p:grpSpPr>
          <a:xfrm>
            <a:off x="2476500" y="952500"/>
            <a:ext cx="6286500" cy="1428900"/>
            <a:chOff x="0" y="0"/>
            <a:chExt cx="6286500" cy="1428900"/>
          </a:xfrm>
        </p:grpSpPr>
        <p:sp>
          <p:nvSpPr>
            <p:cNvPr id="517" name="Google Shape;517;p35"/>
            <p:cNvSpPr/>
            <p:nvPr/>
          </p:nvSpPr>
          <p:spPr>
            <a:xfrm>
              <a:off x="0" y="0"/>
              <a:ext cx="6286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 txBox="1"/>
            <p:nvPr/>
          </p:nvSpPr>
          <p:spPr>
            <a:xfrm>
              <a:off x="238125" y="190500"/>
              <a:ext cx="5810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Purpose &amp; Logic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Creates an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independent copy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of a dictionary.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C62828"/>
                  </a:solidFill>
                  <a:latin typeface="Inter"/>
                  <a:ea typeface="Inter"/>
                  <a:cs typeface="Inter"/>
                  <a:sym typeface="Inter"/>
                </a:rPr>
                <a:t>Note: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Simply using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dict2 = dict1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only creates a reference (shallow link), not a true copy.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9" name="Google Shape;519;p35"/>
          <p:cNvGrpSpPr/>
          <p:nvPr/>
        </p:nvGrpSpPr>
        <p:grpSpPr>
          <a:xfrm>
            <a:off x="1714500" y="2714625"/>
            <a:ext cx="5715000" cy="1428900"/>
            <a:chOff x="0" y="0"/>
            <a:chExt cx="5715000" cy="1428900"/>
          </a:xfrm>
        </p:grpSpPr>
        <p:sp>
          <p:nvSpPr>
            <p:cNvPr id="520" name="Google Shape;520;p35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5"/>
            <p:cNvSpPr txBox="1"/>
            <p:nvPr/>
          </p:nvSpPr>
          <p:spPr>
            <a:xfrm>
              <a:off x="190500" y="14287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= {"name": "Ali", "age": 20}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new_student = student.copy()</a:t>
              </a:r>
              <a:endParaRPr b="1" sz="11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22" name="Google Shape;522;p35"/>
          <p:cNvGrpSpPr/>
          <p:nvPr/>
        </p:nvGrpSpPr>
        <p:grpSpPr>
          <a:xfrm>
            <a:off x="1709738" y="4233863"/>
            <a:ext cx="5724600" cy="390600"/>
            <a:chOff x="-4762" y="-4762"/>
            <a:chExt cx="5724600" cy="390600"/>
          </a:xfrm>
        </p:grpSpPr>
        <p:pic>
          <p:nvPicPr>
            <p:cNvPr id="523" name="Google Shape;52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4762" y="-4762"/>
              <a:ext cx="5724600" cy="3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35"/>
            <p:cNvSpPr txBox="1"/>
            <p:nvPr/>
          </p:nvSpPr>
          <p:spPr>
            <a:xfrm>
              <a:off x="95250" y="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Deep vs. Shallow:</a:t>
              </a:r>
              <a:r>
                <a:rPr b="0" lang="en" sz="9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 The </a:t>
              </a:r>
              <a:r>
                <a:rPr b="1" lang="en" sz="9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.copy()</a:t>
              </a:r>
              <a:r>
                <a:rPr b="0" lang="en" sz="9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 method ensures that changes to the new dictionary do not affect the original.</a:t>
              </a:r>
              <a:endParaRPr b="0" sz="9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5" name="Google Shape;525;p3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26" name="Google Shape;526;p3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3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34" name="Google Shape;534;p3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36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537" name="Google Shape;53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9" name="Google Shape;539;p3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Nested Dictionary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40" name="Google Shape;540;p36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541" name="Google Shape;541;p36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2" name="Google Shape;542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0" y="190500"/>
              <a:ext cx="3619500" cy="271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6"/>
            <p:cNvSpPr/>
            <p:nvPr/>
          </p:nvSpPr>
          <p:spPr>
            <a:xfrm>
              <a:off x="190500" y="190500"/>
              <a:ext cx="3619500" cy="2714700"/>
            </a:xfrm>
            <a:prstGeom prst="roundRect">
              <a:avLst>
                <a:gd fmla="val 421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6"/>
            <p:cNvSpPr txBox="1"/>
            <p:nvPr/>
          </p:nvSpPr>
          <p:spPr>
            <a:xfrm>
              <a:off x="190500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Concept: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 dictionary that contains other dictionaries as its values.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5" name="Google Shape;545;p36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546" name="Google Shape;546;p36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6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Python Implementation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Storing complex, hierarchical data efficiently.</a:t>
              </a:r>
              <a:endParaRPr b="0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students = {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"student1": {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"name": "Ali", "age": 20</a:t>
              </a:r>
              <a:endParaRPr b="1" sz="1100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},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"student2": {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"name": "Sara", "age": 21</a:t>
              </a:r>
              <a:endParaRPr b="1" sz="1100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# Hierarchical data access: students["student1"]["name"]</a:t>
              </a:r>
              <a:endParaRPr b="0" i="1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8" name="Google Shape;548;p3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49" name="Google Shape;549;p3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" name="Google Shape;556;p3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57" name="Google Shape;557;p3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37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560" name="Google Shape;56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2" name="Google Shape;562;p3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Practical Example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63" name="Google Shape;563;p3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64" name="Google Shape;564;p3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6" name="Google Shape;566;p37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567" name="Google Shape;567;p3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7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Student Profile Data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Using a dictionary to store a comprehensive student profile.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 = {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"name": "Yousif",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"age": 21,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"department": "Artificial Intelligence"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print(f"Profile: {student['name']}, {student['department']}")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69" name="Google Shape;569;p37"/>
          <p:cNvGrpSpPr/>
          <p:nvPr/>
        </p:nvGrpSpPr>
        <p:grpSpPr>
          <a:xfrm>
            <a:off x="4762500" y="952500"/>
            <a:ext cx="4000500" cy="3530632"/>
            <a:chOff x="0" y="0"/>
            <a:chExt cx="4000500" cy="3530632"/>
          </a:xfrm>
        </p:grpSpPr>
        <p:sp>
          <p:nvSpPr>
            <p:cNvPr id="570" name="Google Shape;570;p3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1" name="Google Shape;571;p37"/>
            <p:cNvPicPr preferRelativeResize="0"/>
            <p:nvPr/>
          </p:nvPicPr>
          <p:blipFill rotWithShape="1">
            <a:blip r:embed="rId5">
              <a:alphaModFix/>
            </a:blip>
            <a:srcRect b="-13843" l="0" r="0" t="0"/>
            <a:stretch/>
          </p:blipFill>
          <p:spPr>
            <a:xfrm>
              <a:off x="95250" y="292132"/>
              <a:ext cx="3810000" cy="3238500"/>
            </a:xfrm>
            <a:prstGeom prst="roundRect">
              <a:avLst>
                <a:gd fmla="val 2941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3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78" name="Google Shape;578;p3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38"/>
          <p:cNvGrpSpPr/>
          <p:nvPr/>
        </p:nvGrpSpPr>
        <p:grpSpPr>
          <a:xfrm>
            <a:off x="7671778" y="120205"/>
            <a:ext cx="1281722" cy="426300"/>
            <a:chOff x="7671778" y="120205"/>
            <a:chExt cx="1281722" cy="426300"/>
          </a:xfrm>
        </p:grpSpPr>
        <p:pic>
          <p:nvPicPr>
            <p:cNvPr id="581" name="Google Shape;58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1778" y="142875"/>
              <a:ext cx="1230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2" name="Google Shape;58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120205"/>
              <a:ext cx="381000" cy="42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3" name="Google Shape;583;p38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Dictionary Summary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84" name="Google Shape;584;p38"/>
          <p:cNvGrpSpPr/>
          <p:nvPr/>
        </p:nvGrpSpPr>
        <p:grpSpPr>
          <a:xfrm>
            <a:off x="381000" y="1047750"/>
            <a:ext cx="2600400" cy="3429000"/>
            <a:chOff x="0" y="0"/>
            <a:chExt cx="2600400" cy="3429000"/>
          </a:xfrm>
        </p:grpSpPr>
        <p:sp>
          <p:nvSpPr>
            <p:cNvPr id="585" name="Google Shape;585;p38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8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Structure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Core Structure: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Stores data in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key: value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pairs.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Properties: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Mutable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Ordered (Python 3.7+)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37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Keys must be unique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87" name="Google Shape;587;p38"/>
          <p:cNvGrpSpPr/>
          <p:nvPr/>
        </p:nvGrpSpPr>
        <p:grpSpPr>
          <a:xfrm>
            <a:off x="3267075" y="1047750"/>
            <a:ext cx="2600400" cy="3429000"/>
            <a:chOff x="0" y="0"/>
            <a:chExt cx="2600400" cy="3429000"/>
          </a:xfrm>
        </p:grpSpPr>
        <p:sp>
          <p:nvSpPr>
            <p:cNvPr id="588" name="Google Shape;588;p38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8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Access Methods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Ways to retrieve data from a dictionary: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Square Brackets: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dict['key']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Function: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dict.get('key')</a:t>
              </a:r>
              <a:endParaRPr b="1" sz="110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Note: </a:t>
              </a:r>
              <a:r>
                <a:rPr b="1" lang="en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get()</a:t>
              </a:r>
              <a:r>
                <a:rPr b="0" lang="en" sz="9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 returns None instead of an error if the key is missing.</a:t>
              </a:r>
              <a:endParaRPr b="0"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0" name="Google Shape;590;p38"/>
          <p:cNvGrpSpPr/>
          <p:nvPr/>
        </p:nvGrpSpPr>
        <p:grpSpPr>
          <a:xfrm>
            <a:off x="6153150" y="1047750"/>
            <a:ext cx="2600400" cy="3429000"/>
            <a:chOff x="0" y="0"/>
            <a:chExt cx="2600400" cy="3429000"/>
          </a:xfrm>
        </p:grpSpPr>
        <p:sp>
          <p:nvSpPr>
            <p:cNvPr id="591" name="Google Shape;591;p38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8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Key Functions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Modifying: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update(), pop(), popitem(), clear()</a:t>
              </a:r>
              <a:endParaRPr b="1" sz="10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Viewing/Utility: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75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keys(), values(), items(), copy()</a:t>
              </a:r>
              <a:endParaRPr b="1" sz="10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93" name="Google Shape;593;p3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94" name="Google Shape;594;p3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Benazir Bhutto Shaheed Human Resource Research and Development Board (BBSHRRDB) | IMCS, University of Sindh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