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Montserrat"/>
      <p:bold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.fntdata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e84aaecea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e84aaecea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e84aaecea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e84aaecea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84aaecea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e84aaecea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e84aaecea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e84aaecea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e84aaecea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e84aaecea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84aaecea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e84aaecea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e84aaecea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e84aaecea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e84aaecea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e84aaecea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e84aaecea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e84aaecea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e84aaecea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e84aaecea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e84aaecea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e84aaecea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e84aaecea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e84aaecea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e84aaecea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ee84aaecea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e84aaecea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e84aaecea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e84aaecea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ee84aaecea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e84aaecea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e84aaecea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e84aaecea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e84aaecea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e84aaecea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ee84aaece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e84aaecea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ee84aaece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e84aaecea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ee84aaecea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ee84aaecea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ee84aaece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e84aaecea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ee84aaecea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ee84aaecea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ee84aaecea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ee84aaecea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ee84aaecea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ee84aaecea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ee84aaece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e84aaecea_7_0)">
  <p:cSld name="Generated (g3ee84aaecea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2514600" y="2190750"/>
            <a:ext cx="716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PYTHON PROGRAMMING COURSE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2333625" y="2619375"/>
            <a:ext cx="752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Python Development Essentials</a:t>
            </a:r>
            <a:endParaRPr b="1" sz="340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5381625" y="3905250"/>
            <a:ext cx="1428900" cy="38100"/>
          </a:xfrm>
          <a:prstGeom prst="roundRect">
            <a:avLst>
              <a:gd fmla="val 5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2514600" y="4191000"/>
            <a:ext cx="716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Understanding pip • Environment Variables (.env Files) • File Handling in Python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762000" y="5829300"/>
            <a:ext cx="3105300" cy="523800"/>
            <a:chOff x="0" y="0"/>
            <a:chExt cx="3105300" cy="523800"/>
          </a:xfrm>
        </p:grpSpPr>
        <p:sp>
          <p:nvSpPr>
            <p:cNvPr id="61" name="Google Shape;61;p14"/>
            <p:cNvSpPr txBox="1"/>
            <p:nvPr/>
          </p:nvSpPr>
          <p:spPr>
            <a:xfrm>
              <a:off x="0" y="0"/>
              <a:ext cx="310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0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190500"/>
              <a:ext cx="3105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Muhammd Yousif Memon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8382000" y="5829300"/>
            <a:ext cx="3048000" cy="523800"/>
            <a:chOff x="0" y="0"/>
            <a:chExt cx="3048000" cy="523800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0" y="0"/>
              <a:ext cx="304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DATE OF SESSION</a:t>
              </a:r>
              <a:endParaRPr b="0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0" y="190500"/>
              <a:ext cx="3048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June 2026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1500"/>
            <a:ext cx="25338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44125" y="428625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Learning Objectives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762000" y="1619250"/>
            <a:ext cx="5143575" cy="3429000"/>
            <a:chOff x="0" y="0"/>
            <a:chExt cx="5143575" cy="3429000"/>
          </a:xfrm>
        </p:grpSpPr>
        <p:grpSp>
          <p:nvGrpSpPr>
            <p:cNvPr id="78" name="Google Shape;78;p15"/>
            <p:cNvGrpSpPr/>
            <p:nvPr/>
          </p:nvGrpSpPr>
          <p:grpSpPr>
            <a:xfrm>
              <a:off x="0" y="0"/>
              <a:ext cx="5143575" cy="571500"/>
              <a:chOff x="0" y="0"/>
              <a:chExt cx="5143575" cy="571500"/>
            </a:xfrm>
          </p:grpSpPr>
          <p:grpSp>
            <p:nvGrpSpPr>
              <p:cNvPr id="79" name="Google Shape;79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0" name="Google Shape;80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" name="Google Shape;81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498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2" name="Google Shape;82;p15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Understand the purpose of </a:t>
                </a:r>
                <a:r>
                  <a:rPr b="0" lang="en" sz="1500">
                    <a:solidFill>
                      <a:srgbClr val="37415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pip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3" name="Google Shape;83;p15"/>
            <p:cNvGrpSpPr/>
            <p:nvPr/>
          </p:nvGrpSpPr>
          <p:grpSpPr>
            <a:xfrm>
              <a:off x="0" y="714375"/>
              <a:ext cx="5143575" cy="571500"/>
              <a:chOff x="0" y="0"/>
              <a:chExt cx="5143575" cy="571500"/>
            </a:xfrm>
          </p:grpSpPr>
          <p:grpSp>
            <p:nvGrpSpPr>
              <p:cNvPr id="84" name="Google Shape;84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5" name="Google Shape;85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498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7" name="Google Shape;87;p15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Install and manage external packages.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" name="Google Shape;88;p15"/>
            <p:cNvGrpSpPr/>
            <p:nvPr/>
          </p:nvGrpSpPr>
          <p:grpSpPr>
            <a:xfrm>
              <a:off x="0" y="1428750"/>
              <a:ext cx="5143575" cy="571500"/>
              <a:chOff x="0" y="0"/>
              <a:chExt cx="5143575" cy="571500"/>
            </a:xfrm>
          </p:grpSpPr>
          <p:grpSp>
            <p:nvGrpSpPr>
              <p:cNvPr id="89" name="Google Shape;89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90" name="Google Shape;90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498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2" name="Google Shape;92;p15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Secure configurations using </a:t>
                </a:r>
                <a:r>
                  <a:rPr b="0" lang="en" sz="1500">
                    <a:solidFill>
                      <a:srgbClr val="37415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.env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files.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0" y="2143125"/>
              <a:ext cx="5143575" cy="571500"/>
              <a:chOff x="0" y="0"/>
              <a:chExt cx="5143575" cy="571500"/>
            </a:xfrm>
          </p:grpSpPr>
          <p:grpSp>
            <p:nvGrpSpPr>
              <p:cNvPr id="94" name="Google Shape;94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95" name="Google Shape;95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498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7" name="Google Shape;97;p15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Read and write files persistently.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0" y="2857500"/>
              <a:ext cx="5143575" cy="571500"/>
              <a:chOff x="0" y="0"/>
              <a:chExt cx="5143575" cy="571500"/>
            </a:xfrm>
          </p:grpSpPr>
          <p:grpSp>
            <p:nvGrpSpPr>
              <p:cNvPr id="99" name="Google Shape;99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00" name="Google Shape;100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498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2" name="Google Shape;102;p15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Apply these techniques in real-world projects.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3" name="Google Shape;103;p15"/>
          <p:cNvGrpSpPr/>
          <p:nvPr/>
        </p:nvGrpSpPr>
        <p:grpSpPr>
          <a:xfrm>
            <a:off x="6667500" y="1714500"/>
            <a:ext cx="4762500" cy="3810000"/>
            <a:chOff x="0" y="0"/>
            <a:chExt cx="4762500" cy="38100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" name="Google Shape;105;p15"/>
            <p:cNvPicPr preferRelativeResize="0"/>
            <p:nvPr/>
          </p:nvPicPr>
          <p:blipFill rotWithShape="1">
            <a:blip r:embed="rId3">
              <a:alphaModFix/>
            </a:blip>
            <a:srcRect b="0" l="-12500" r="-12500" t="0"/>
            <a:stretch/>
          </p:blipFill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pip?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16"/>
          <p:cNvGrpSpPr/>
          <p:nvPr/>
        </p:nvGrpSpPr>
        <p:grpSpPr>
          <a:xfrm>
            <a:off x="762000" y="1524000"/>
            <a:ext cx="10477500" cy="809700"/>
            <a:chOff x="0" y="0"/>
            <a:chExt cx="10477500" cy="8097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90500" y="0"/>
              <a:ext cx="1028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Acronym: Pip Installs Packages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190500" y="238125"/>
              <a:ext cx="10287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Python's standard package manager, used to manage software libraries and dependencies.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762000" y="2857500"/>
            <a:ext cx="5143500" cy="2190750"/>
            <a:chOff x="0" y="0"/>
            <a:chExt cx="5143500" cy="2190750"/>
          </a:xfrm>
        </p:grpSpPr>
        <p:sp>
          <p:nvSpPr>
            <p:cNvPr id="119" name="Google Shape;119;p16"/>
            <p:cNvSpPr txBox="1"/>
            <p:nvPr/>
          </p:nvSpPr>
          <p:spPr>
            <a:xfrm>
              <a:off x="0" y="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CORE FUNCTIONS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0" name="Google Shape;120;p16"/>
            <p:cNvGrpSpPr/>
            <p:nvPr/>
          </p:nvGrpSpPr>
          <p:grpSpPr>
            <a:xfrm>
              <a:off x="0" y="381000"/>
              <a:ext cx="4857750" cy="381000"/>
              <a:chOff x="0" y="0"/>
              <a:chExt cx="4857750" cy="3810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Install: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Download and set up new libraries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0" y="857250"/>
              <a:ext cx="4857750" cy="381000"/>
              <a:chOff x="0" y="0"/>
              <a:chExt cx="4857750" cy="3810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Upgrade: </a:t>
                </a:r>
                <a:r>
                  <a:rPr b="0" lang="en" sz="1388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Update existing packages to latest versions</a:t>
                </a:r>
                <a:endParaRPr b="0" sz="1388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6" name="Google Shape;126;p16"/>
            <p:cNvGrpSpPr/>
            <p:nvPr/>
          </p:nvGrpSpPr>
          <p:grpSpPr>
            <a:xfrm>
              <a:off x="0" y="1333500"/>
              <a:ext cx="4857750" cy="381000"/>
              <a:chOff x="0" y="0"/>
              <a:chExt cx="4857750" cy="381000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Remove: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Uninstall unneeded project libraries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9" name="Google Shape;129;p16"/>
            <p:cNvGrpSpPr/>
            <p:nvPr/>
          </p:nvGrpSpPr>
          <p:grpSpPr>
            <a:xfrm>
              <a:off x="0" y="1809750"/>
              <a:ext cx="4857750" cy="381000"/>
              <a:chOff x="0" y="0"/>
              <a:chExt cx="4857750" cy="3810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Manage: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Control complex project dependencies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32" name="Google Shape;132;p16"/>
          <p:cNvGrpSpPr/>
          <p:nvPr/>
        </p:nvGrpSpPr>
        <p:grpSpPr>
          <a:xfrm>
            <a:off x="6286500" y="2667000"/>
            <a:ext cx="5143500" cy="2886000"/>
            <a:chOff x="0" y="0"/>
            <a:chExt cx="5143500" cy="28860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5143500" cy="2886000"/>
            </a:xfrm>
            <a:prstGeom prst="roundRect">
              <a:avLst>
                <a:gd fmla="val 396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" name="Google Shape;134;p16"/>
            <p:cNvPicPr preferRelativeResize="0"/>
            <p:nvPr/>
          </p:nvPicPr>
          <p:blipFill rotWithShape="1">
            <a:blip r:embed="rId3">
              <a:alphaModFix/>
            </a:blip>
            <a:srcRect b="130" l="0" r="0" t="120"/>
            <a:stretch/>
          </p:blipFill>
          <p:spPr>
            <a:xfrm>
              <a:off x="0" y="0"/>
              <a:ext cx="5143500" cy="2886000"/>
            </a:xfrm>
            <a:prstGeom prst="roundRect">
              <a:avLst>
                <a:gd fmla="val 3960" name="adj"/>
              </a:avLst>
            </a:prstGeom>
            <a:noFill/>
            <a:ln>
              <a:noFill/>
            </a:ln>
          </p:spPr>
        </p:pic>
      </p:grpSp>
      <p:sp>
        <p:nvSpPr>
          <p:cNvPr id="135" name="Google Shape;135;p1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Do We Need pip?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Bridging the gap between built-in capabilities and global innovation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086475" y="1714500"/>
            <a:ext cx="19200" cy="3619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762000" y="1809750"/>
            <a:ext cx="4953000" cy="952500"/>
            <a:chOff x="0" y="0"/>
            <a:chExt cx="4953000" cy="952500"/>
          </a:xfrm>
        </p:grpSpPr>
        <p:sp>
          <p:nvSpPr>
            <p:cNvPr id="147" name="Google Shape;147;p17"/>
            <p:cNvSpPr txBox="1"/>
            <p:nvPr/>
          </p:nvSpPr>
          <p:spPr>
            <a:xfrm>
              <a:off x="0" y="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THE LIMITATION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8" name="Google Shape;148;p17"/>
            <p:cNvGrpSpPr/>
            <p:nvPr/>
          </p:nvGrpSpPr>
          <p:grpSpPr>
            <a:xfrm>
              <a:off x="0" y="381000"/>
              <a:ext cx="4857750" cy="571500"/>
              <a:chOff x="0" y="0"/>
              <a:chExt cx="4857750" cy="571500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 txBox="1"/>
              <p:nvPr/>
            </p:nvSpPr>
            <p:spPr>
              <a:xfrm>
                <a:off x="285750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Standard Library: </a:t>
                </a:r>
                <a:r>
                  <a:rPr b="0" lang="en" sz="1388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Python's built-in modules are powerful but not exhaustive for all specialized needs.</a:t>
                </a:r>
                <a:endParaRPr b="0" sz="1388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51" name="Google Shape;151;p17"/>
          <p:cNvGrpSpPr/>
          <p:nvPr/>
        </p:nvGrpSpPr>
        <p:grpSpPr>
          <a:xfrm>
            <a:off x="6477000" y="1809750"/>
            <a:ext cx="4953000" cy="2333625"/>
            <a:chOff x="0" y="0"/>
            <a:chExt cx="4953000" cy="2333625"/>
          </a:xfrm>
        </p:grpSpPr>
        <p:sp>
          <p:nvSpPr>
            <p:cNvPr id="152" name="Google Shape;152;p17"/>
            <p:cNvSpPr txBox="1"/>
            <p:nvPr/>
          </p:nvSpPr>
          <p:spPr>
            <a:xfrm>
              <a:off x="0" y="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THE SOLUTION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3" name="Google Shape;153;p17"/>
            <p:cNvGrpSpPr/>
            <p:nvPr/>
          </p:nvGrpSpPr>
          <p:grpSpPr>
            <a:xfrm>
              <a:off x="0" y="381000"/>
              <a:ext cx="4857750" cy="571500"/>
              <a:chOff x="0" y="0"/>
              <a:chExt cx="4857750" cy="571500"/>
            </a:xfrm>
          </p:grpSpPr>
          <p:sp>
            <p:nvSpPr>
              <p:cNvPr id="154" name="Google Shape;154;p17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7"/>
              <p:cNvSpPr txBox="1"/>
              <p:nvPr/>
            </p:nvSpPr>
            <p:spPr>
              <a:xfrm>
                <a:off x="285750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PyPI Access: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Instantly access thousands of third-party libraries via the Python Package Index.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0" y="1047750"/>
              <a:ext cx="4953000" cy="1285875"/>
              <a:chOff x="0" y="0"/>
              <a:chExt cx="4953000" cy="1285875"/>
            </a:xfrm>
          </p:grpSpPr>
          <p:sp>
            <p:nvSpPr>
              <p:cNvPr id="157" name="Google Shape;157;p17"/>
              <p:cNvSpPr txBox="1"/>
              <p:nvPr/>
            </p:nvSpPr>
            <p:spPr>
              <a:xfrm>
                <a:off x="0" y="0"/>
                <a:ext cx="495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POPULAR EXAMPLES:</a:t>
                </a:r>
                <a:endParaRPr b="0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58" name="Google Shape;158;p17"/>
              <p:cNvSpPr txBox="1"/>
              <p:nvPr/>
            </p:nvSpPr>
            <p:spPr>
              <a:xfrm>
                <a:off x="190500" y="333375"/>
                <a:ext cx="4572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Science: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NumPy, Pandas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Web Development: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Flask, Django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Machine Learning: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TensorFlow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" name="Google Shape;159;p17"/>
          <p:cNvGrpSpPr/>
          <p:nvPr/>
        </p:nvGrpSpPr>
        <p:grpSpPr>
          <a:xfrm>
            <a:off x="2028825" y="2575322"/>
            <a:ext cx="8134500" cy="3330178"/>
            <a:chOff x="0" y="-1234678"/>
            <a:chExt cx="8134500" cy="3330178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81345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" name="Google Shape;161;p17"/>
            <p:cNvPicPr preferRelativeResize="0"/>
            <p:nvPr/>
          </p:nvPicPr>
          <p:blipFill rotWithShape="1">
            <a:blip r:embed="rId3">
              <a:alphaModFix/>
            </a:blip>
            <a:srcRect b="54512" l="0" r="0" t="0"/>
            <a:stretch/>
          </p:blipFill>
          <p:spPr>
            <a:xfrm>
              <a:off x="9525" y="-1234678"/>
              <a:ext cx="8115300" cy="2076600"/>
            </a:xfrm>
            <a:prstGeom prst="roundRect">
              <a:avLst>
                <a:gd fmla="val 5045" name="adj"/>
              </a:avLst>
            </a:prstGeom>
            <a:noFill/>
            <a:ln>
              <a:noFill/>
            </a:ln>
          </p:spPr>
        </p:pic>
      </p:grpSp>
      <p:sp>
        <p:nvSpPr>
          <p:cNvPr id="162" name="Google Shape;162;p1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Checking pip Installation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152400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Verify that </a:t>
            </a:r>
            <a:r>
              <a:rPr b="0" lang="en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is installed and accessible in your environment.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2" name="Google Shape;172;p18"/>
          <p:cNvGrpSpPr/>
          <p:nvPr/>
        </p:nvGrpSpPr>
        <p:grpSpPr>
          <a:xfrm>
            <a:off x="2286000" y="2286000"/>
            <a:ext cx="7620000" cy="2667000"/>
            <a:chOff x="0" y="0"/>
            <a:chExt cx="7620000" cy="2667000"/>
          </a:xfrm>
        </p:grpSpPr>
        <p:sp>
          <p:nvSpPr>
            <p:cNvPr id="173" name="Google Shape;173;p18"/>
            <p:cNvSpPr/>
            <p:nvPr/>
          </p:nvSpPr>
          <p:spPr>
            <a:xfrm>
              <a:off x="0" y="0"/>
              <a:ext cx="76200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Google Shape;174;p18"/>
            <p:cNvGrpSpPr/>
            <p:nvPr/>
          </p:nvGrpSpPr>
          <p:grpSpPr>
            <a:xfrm>
              <a:off x="190500" y="190500"/>
              <a:ext cx="7239000" cy="2286000"/>
              <a:chOff x="0" y="0"/>
              <a:chExt cx="7239000" cy="2286000"/>
            </a:xfrm>
          </p:grpSpPr>
          <p:sp>
            <p:nvSpPr>
              <p:cNvPr id="175" name="Google Shape;175;p18"/>
              <p:cNvSpPr/>
              <p:nvPr/>
            </p:nvSpPr>
            <p:spPr>
              <a:xfrm>
                <a:off x="0" y="0"/>
                <a:ext cx="7239000" cy="2286000"/>
              </a:xfrm>
              <a:prstGeom prst="roundRect">
                <a:avLst>
                  <a:gd fmla="val 3333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8"/>
              <p:cNvSpPr/>
              <p:nvPr/>
            </p:nvSpPr>
            <p:spPr>
              <a:xfrm>
                <a:off x="0" y="0"/>
                <a:ext cx="76200" cy="22860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8"/>
              <p:cNvSpPr txBox="1"/>
              <p:nvPr/>
            </p:nvSpPr>
            <p:spPr>
              <a:xfrm>
                <a:off x="285750" y="190500"/>
                <a:ext cx="6667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TERMINAL COMMAND &amp; OUTPUT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8" name="Google Shape;178;p18"/>
              <p:cNvSpPr txBox="1"/>
              <p:nvPr/>
            </p:nvSpPr>
            <p:spPr>
              <a:xfrm>
                <a:off x="285750" y="571500"/>
                <a:ext cx="6667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Check the current version of pip</a:t>
                </a:r>
                <a:endParaRPr b="0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pip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--version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Example Output:</a:t>
                </a:r>
                <a:endParaRPr b="0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 25.1 from /usr/local/lib/python3.10/site-packages/pip (python 3.10)</a:t>
                </a:r>
                <a:endParaRPr b="0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sp>
        <p:nvSpPr>
          <p:cNvPr id="179" name="Google Shape;179;p1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Installing Packages Using pip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19"/>
          <p:cNvGrpSpPr/>
          <p:nvPr/>
        </p:nvGrpSpPr>
        <p:grpSpPr>
          <a:xfrm>
            <a:off x="762000" y="1524000"/>
            <a:ext cx="5143500" cy="3286125"/>
            <a:chOff x="0" y="0"/>
            <a:chExt cx="5143500" cy="3286125"/>
          </a:xfrm>
        </p:grpSpPr>
        <p:sp>
          <p:nvSpPr>
            <p:cNvPr id="189" name="Google Shape;189;p19"/>
            <p:cNvSpPr txBox="1"/>
            <p:nvPr/>
          </p:nvSpPr>
          <p:spPr>
            <a:xfrm>
              <a:off x="0" y="0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Download and install external libraries directly from the Python Package Index.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0" name="Google Shape;190;p19"/>
            <p:cNvGrpSpPr/>
            <p:nvPr/>
          </p:nvGrpSpPr>
          <p:grpSpPr>
            <a:xfrm>
              <a:off x="0" y="762000"/>
              <a:ext cx="5143500" cy="1095375"/>
              <a:chOff x="0" y="0"/>
              <a:chExt cx="5143500" cy="1095375"/>
            </a:xfrm>
          </p:grpSpPr>
          <p:sp>
            <p:nvSpPr>
              <p:cNvPr id="191" name="Google Shape;191;p19"/>
              <p:cNvSpPr txBox="1"/>
              <p:nvPr/>
            </p:nvSpPr>
            <p:spPr>
              <a:xfrm>
                <a:off x="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Syntax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92" name="Google Shape;192;p19"/>
              <p:cNvGrpSpPr/>
              <p:nvPr/>
            </p:nvGrpSpPr>
            <p:grpSpPr>
              <a:xfrm>
                <a:off x="0" y="333375"/>
                <a:ext cx="5143500" cy="762000"/>
                <a:chOff x="0" y="0"/>
                <a:chExt cx="5143500" cy="762000"/>
              </a:xfrm>
            </p:grpSpPr>
            <p:sp>
              <p:nvSpPr>
                <p:cNvPr id="193" name="Google Shape;193;p19"/>
                <p:cNvSpPr/>
                <p:nvPr/>
              </p:nvSpPr>
              <p:spPr>
                <a:xfrm>
                  <a:off x="0" y="0"/>
                  <a:ext cx="5143500" cy="762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1F5F9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" name="Google Shape;194;p19"/>
                <p:cNvSpPr/>
                <p:nvPr/>
              </p:nvSpPr>
              <p:spPr>
                <a:xfrm>
                  <a:off x="0" y="0"/>
                  <a:ext cx="57300" cy="762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" name="Google Shape;195;p19"/>
                <p:cNvSpPr txBox="1"/>
                <p:nvPr/>
              </p:nvSpPr>
              <p:spPr>
                <a:xfrm>
                  <a:off x="238125" y="238125"/>
                  <a:ext cx="46674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300">
                      <a:solidFill>
                        <a:srgbClr val="045A3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pip</a:t>
                  </a:r>
                  <a:r>
                    <a:rPr b="0" lang="en" sz="1300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 install package_name</a:t>
                  </a:r>
                  <a:endParaRPr b="0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  <p:grpSp>
          <p:nvGrpSpPr>
            <p:cNvPr id="196" name="Google Shape;196;p19"/>
            <p:cNvGrpSpPr/>
            <p:nvPr/>
          </p:nvGrpSpPr>
          <p:grpSpPr>
            <a:xfrm>
              <a:off x="0" y="2190750"/>
              <a:ext cx="5143500" cy="1095375"/>
              <a:chOff x="0" y="0"/>
              <a:chExt cx="5143500" cy="1095375"/>
            </a:xfrm>
          </p:grpSpPr>
          <p:sp>
            <p:nvSpPr>
              <p:cNvPr id="197" name="Google Shape;197;p19"/>
              <p:cNvSpPr txBox="1"/>
              <p:nvPr/>
            </p:nvSpPr>
            <p:spPr>
              <a:xfrm>
                <a:off x="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Practical Example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98" name="Google Shape;198;p19"/>
              <p:cNvGrpSpPr/>
              <p:nvPr/>
            </p:nvGrpSpPr>
            <p:grpSpPr>
              <a:xfrm>
                <a:off x="0" y="333375"/>
                <a:ext cx="5143500" cy="762000"/>
                <a:chOff x="0" y="0"/>
                <a:chExt cx="5143500" cy="762000"/>
              </a:xfrm>
            </p:grpSpPr>
            <p:sp>
              <p:nvSpPr>
                <p:cNvPr id="199" name="Google Shape;199;p19"/>
                <p:cNvSpPr/>
                <p:nvPr/>
              </p:nvSpPr>
              <p:spPr>
                <a:xfrm>
                  <a:off x="0" y="0"/>
                  <a:ext cx="5143500" cy="762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1F5F9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19"/>
                <p:cNvSpPr/>
                <p:nvPr/>
              </p:nvSpPr>
              <p:spPr>
                <a:xfrm>
                  <a:off x="0" y="0"/>
                  <a:ext cx="57300" cy="762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9"/>
                <p:cNvSpPr txBox="1"/>
                <p:nvPr/>
              </p:nvSpPr>
              <p:spPr>
                <a:xfrm>
                  <a:off x="238125" y="238125"/>
                  <a:ext cx="46674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300">
                      <a:solidFill>
                        <a:srgbClr val="045A3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pip</a:t>
                  </a:r>
                  <a:r>
                    <a:rPr b="0" lang="en" sz="1300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 install </a:t>
                  </a:r>
                  <a:r>
                    <a:rPr b="0" lang="en" sz="1300">
                      <a:solidFill>
                        <a:srgbClr val="0B7A4B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pandas</a:t>
                  </a:r>
                  <a:endParaRPr b="0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</p:grpSp>
      <p:grpSp>
        <p:nvGrpSpPr>
          <p:cNvPr id="202" name="Google Shape;202;p19"/>
          <p:cNvGrpSpPr/>
          <p:nvPr/>
        </p:nvGrpSpPr>
        <p:grpSpPr>
          <a:xfrm>
            <a:off x="6286500" y="1524000"/>
            <a:ext cx="5143500" cy="3952875"/>
            <a:chOff x="0" y="0"/>
            <a:chExt cx="5143500" cy="3952875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id="204" name="Google Shape;204;p19"/>
              <p:cNvSpPr/>
              <p:nvPr/>
            </p:nvSpPr>
            <p:spPr>
              <a:xfrm>
                <a:off x="0" y="0"/>
                <a:ext cx="5143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05" name="Google Shape;205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10032" r="10032" t="0"/>
              <a:stretch/>
            </p:blipFill>
            <p:spPr>
              <a:xfrm>
                <a:off x="0" y="0"/>
                <a:ext cx="5143500" cy="3619500"/>
              </a:xfrm>
              <a:prstGeom prst="roundRect">
                <a:avLst>
                  <a:gd fmla="val 3157" name="adj"/>
                </a:avLst>
              </a:prstGeom>
              <a:noFill/>
              <a:ln>
                <a:noFill/>
              </a:ln>
            </p:spPr>
          </p:pic>
        </p:grpSp>
        <p:sp>
          <p:nvSpPr>
            <p:cNvPr id="206" name="Google Shape;206;p19"/>
            <p:cNvSpPr txBox="1"/>
            <p:nvPr/>
          </p:nvSpPr>
          <p:spPr>
            <a:xfrm>
              <a:off x="0" y="3762375"/>
              <a:ext cx="514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Technical Infrastructure Context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7" name="Google Shape;207;p19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Installing Specific Package Versions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62000" y="1381125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Locking versions ensures stability and reproducibility.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7" name="Google Shape;217;p20"/>
          <p:cNvGrpSpPr/>
          <p:nvPr/>
        </p:nvGrpSpPr>
        <p:grpSpPr>
          <a:xfrm>
            <a:off x="762000" y="1905000"/>
            <a:ext cx="10668000" cy="1143000"/>
            <a:chOff x="0" y="0"/>
            <a:chExt cx="10668000" cy="1143000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fmla="val 666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0" y="0"/>
              <a:ext cx="57300" cy="1143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238125" y="190500"/>
              <a:ext cx="10191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Command Example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pip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install pandas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==2.2.3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762000" y="3429000"/>
            <a:ext cx="10668150" cy="1809750"/>
            <a:chOff x="0" y="0"/>
            <a:chExt cx="10668150" cy="1809750"/>
          </a:xfrm>
        </p:grpSpPr>
        <p:sp>
          <p:nvSpPr>
            <p:cNvPr id="222" name="Google Shape;222;p20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Benefits:</a:t>
              </a:r>
              <a:endParaRPr b="0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23" name="Google Shape;223;p20"/>
            <p:cNvGrpSpPr/>
            <p:nvPr/>
          </p:nvGrpSpPr>
          <p:grpSpPr>
            <a:xfrm>
              <a:off x="0" y="476250"/>
              <a:ext cx="10668150" cy="381000"/>
              <a:chOff x="0" y="0"/>
              <a:chExt cx="10668150" cy="381000"/>
            </a:xfrm>
          </p:grpSpPr>
          <p:sp>
            <p:nvSpPr>
              <p:cNvPr id="224" name="Google Shape;224;p20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0"/>
              <p:cNvSpPr txBox="1"/>
              <p:nvPr/>
            </p:nvSpPr>
            <p:spPr>
              <a:xfrm>
                <a:off x="285750" y="0"/>
                <a:ext cx="10382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Stability: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Prevents compatibility issues.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26" name="Google Shape;226;p20"/>
            <p:cNvGrpSpPr/>
            <p:nvPr/>
          </p:nvGrpSpPr>
          <p:grpSpPr>
            <a:xfrm>
              <a:off x="0" y="952500"/>
              <a:ext cx="10668150" cy="381000"/>
              <a:chOff x="0" y="0"/>
              <a:chExt cx="10668150" cy="381000"/>
            </a:xfrm>
          </p:grpSpPr>
          <p:sp>
            <p:nvSpPr>
              <p:cNvPr id="227" name="Google Shape;227;p20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0"/>
              <p:cNvSpPr txBox="1"/>
              <p:nvPr/>
            </p:nvSpPr>
            <p:spPr>
              <a:xfrm>
                <a:off x="285750" y="0"/>
                <a:ext cx="10382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Predictability: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Avoids unexpected breaking changes.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29" name="Google Shape;229;p20"/>
            <p:cNvGrpSpPr/>
            <p:nvPr/>
          </p:nvGrpSpPr>
          <p:grpSpPr>
            <a:xfrm>
              <a:off x="0" y="1428750"/>
              <a:ext cx="10668150" cy="381000"/>
              <a:chOff x="0" y="0"/>
              <a:chExt cx="10668150" cy="381000"/>
            </a:xfrm>
          </p:grpSpPr>
          <p:sp>
            <p:nvSpPr>
              <p:cNvPr id="230" name="Google Shape;230;p20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0"/>
              <p:cNvSpPr txBox="1"/>
              <p:nvPr/>
            </p:nvSpPr>
            <p:spPr>
              <a:xfrm>
                <a:off x="285750" y="0"/>
                <a:ext cx="10382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Reproducibility: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Ensures consistent behavior across different machines.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232" name="Google Shape;232;p20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Upgrading Packages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Keep your libraries up to date with the latest features and security patches.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42" name="Google Shape;242;p21"/>
          <p:cNvGrpSpPr/>
          <p:nvPr/>
        </p:nvGrpSpPr>
        <p:grpSpPr>
          <a:xfrm>
            <a:off x="762000" y="1809750"/>
            <a:ext cx="5143500" cy="2571750"/>
            <a:chOff x="0" y="0"/>
            <a:chExt cx="5143500" cy="2571750"/>
          </a:xfrm>
        </p:grpSpPr>
        <p:grpSp>
          <p:nvGrpSpPr>
            <p:cNvPr id="243" name="Google Shape;243;p21"/>
            <p:cNvGrpSpPr/>
            <p:nvPr/>
          </p:nvGrpSpPr>
          <p:grpSpPr>
            <a:xfrm>
              <a:off x="0" y="0"/>
              <a:ext cx="5143500" cy="1143000"/>
              <a:chOff x="0" y="0"/>
              <a:chExt cx="5143500" cy="1143000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0" y="0"/>
                <a:ext cx="51435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>
                <a:off x="0" y="0"/>
                <a:ext cx="573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1"/>
              <p:cNvSpPr txBox="1"/>
              <p:nvPr/>
            </p:nvSpPr>
            <p:spPr>
              <a:xfrm>
                <a:off x="238125" y="142875"/>
                <a:ext cx="4667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Command</a:t>
                </a:r>
                <a:endParaRPr b="1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 install --upgrade pandas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247" name="Google Shape;247;p21"/>
            <p:cNvGrpSpPr/>
            <p:nvPr/>
          </p:nvGrpSpPr>
          <p:grpSpPr>
            <a:xfrm>
              <a:off x="0" y="1428750"/>
              <a:ext cx="5143500" cy="1143000"/>
              <a:chOff x="0" y="0"/>
              <a:chExt cx="5143500" cy="1143000"/>
            </a:xfrm>
          </p:grpSpPr>
          <p:sp>
            <p:nvSpPr>
              <p:cNvPr id="248" name="Google Shape;248;p21"/>
              <p:cNvSpPr/>
              <p:nvPr/>
            </p:nvSpPr>
            <p:spPr>
              <a:xfrm>
                <a:off x="0" y="0"/>
                <a:ext cx="51435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1"/>
              <p:cNvSpPr/>
              <p:nvPr/>
            </p:nvSpPr>
            <p:spPr>
              <a:xfrm>
                <a:off x="0" y="0"/>
                <a:ext cx="573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1"/>
              <p:cNvSpPr txBox="1"/>
              <p:nvPr/>
            </p:nvSpPr>
            <p:spPr>
              <a:xfrm>
                <a:off x="238125" y="142875"/>
                <a:ext cx="4667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Shorthand Command</a:t>
                </a:r>
                <a:endParaRPr b="1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 install -U pandas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51" name="Google Shape;251;p21"/>
          <p:cNvGrpSpPr/>
          <p:nvPr/>
        </p:nvGrpSpPr>
        <p:grpSpPr>
          <a:xfrm>
            <a:off x="6286500" y="1809750"/>
            <a:ext cx="5143500" cy="3619500"/>
            <a:chOff x="0" y="0"/>
            <a:chExt cx="5143500" cy="3619500"/>
          </a:xfrm>
        </p:grpSpPr>
        <p:sp>
          <p:nvSpPr>
            <p:cNvPr id="252" name="Google Shape;252;p21"/>
            <p:cNvSpPr/>
            <p:nvPr/>
          </p:nvSpPr>
          <p:spPr>
            <a:xfrm>
              <a:off x="0" y="0"/>
              <a:ext cx="5143500" cy="2895600"/>
            </a:xfrm>
            <a:prstGeom prst="roundRect">
              <a:avLst>
                <a:gd fmla="val 394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3" name="Google Shape;253;p21"/>
            <p:cNvPicPr preferRelativeResize="0"/>
            <p:nvPr/>
          </p:nvPicPr>
          <p:blipFill rotWithShape="1">
            <a:blip r:embed="rId3">
              <a:alphaModFix/>
            </a:blip>
            <a:srcRect b="0" l="40" r="40" t="0"/>
            <a:stretch/>
          </p:blipFill>
          <p:spPr>
            <a:xfrm>
              <a:off x="0" y="0"/>
              <a:ext cx="5143500" cy="2895600"/>
            </a:xfrm>
            <a:prstGeom prst="roundRect">
              <a:avLst>
                <a:gd fmla="val 3947" name="adj"/>
              </a:avLst>
            </a:prstGeom>
            <a:noFill/>
            <a:ln>
              <a:noFill/>
            </a:ln>
          </p:spPr>
        </p:pic>
        <p:sp>
          <p:nvSpPr>
            <p:cNvPr id="254" name="Google Shape;254;p21"/>
            <p:cNvSpPr txBox="1"/>
            <p:nvPr/>
          </p:nvSpPr>
          <p:spPr>
            <a:xfrm>
              <a:off x="0" y="3048000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Visualizing System Upgrade Logic</a:t>
              </a:r>
              <a:endParaRPr b="0" i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5" name="Google Shape;255;p21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22"/>
          <p:cNvGrpSpPr/>
          <p:nvPr/>
        </p:nvGrpSpPr>
        <p:grpSpPr>
          <a:xfrm>
            <a:off x="762000" y="571500"/>
            <a:ext cx="10668000" cy="571650"/>
            <a:chOff x="762000" y="571500"/>
            <a:chExt cx="10668000" cy="571650"/>
          </a:xfrm>
        </p:grpSpPr>
        <p:sp>
          <p:nvSpPr>
            <p:cNvPr id="263" name="Google Shape;263;p22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Uninstalling Packages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22"/>
          <p:cNvSpPr txBox="1"/>
          <p:nvPr/>
        </p:nvSpPr>
        <p:spPr>
          <a:xfrm>
            <a:off x="762000" y="1381125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Remove unnecessary libraries to keep your environment clean.</a:t>
            </a:r>
            <a:endParaRPr b="0" sz="1275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6" name="Google Shape;266;p22"/>
          <p:cNvGrpSpPr/>
          <p:nvPr/>
        </p:nvGrpSpPr>
        <p:grpSpPr>
          <a:xfrm>
            <a:off x="762000" y="1952625"/>
            <a:ext cx="5143650" cy="2905125"/>
            <a:chOff x="0" y="0"/>
            <a:chExt cx="5143650" cy="2905125"/>
          </a:xfrm>
        </p:grpSpPr>
        <p:grpSp>
          <p:nvGrpSpPr>
            <p:cNvPr id="267" name="Google Shape;267;p22"/>
            <p:cNvGrpSpPr/>
            <p:nvPr/>
          </p:nvGrpSpPr>
          <p:grpSpPr>
            <a:xfrm>
              <a:off x="0" y="0"/>
              <a:ext cx="5143500" cy="952500"/>
              <a:chOff x="0" y="0"/>
              <a:chExt cx="5143500" cy="952500"/>
            </a:xfrm>
          </p:grpSpPr>
          <p:sp>
            <p:nvSpPr>
              <p:cNvPr id="268" name="Google Shape;268;p22"/>
              <p:cNvSpPr/>
              <p:nvPr/>
            </p:nvSpPr>
            <p:spPr>
              <a:xfrm>
                <a:off x="0" y="0"/>
                <a:ext cx="5143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0" y="0"/>
                <a:ext cx="573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2"/>
              <p:cNvSpPr txBox="1"/>
              <p:nvPr/>
            </p:nvSpPr>
            <p:spPr>
              <a:xfrm>
                <a:off x="238125" y="190500"/>
                <a:ext cx="4667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COMMAND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pip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uninstall pandas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271" name="Google Shape;271;p22"/>
            <p:cNvSpPr txBox="1"/>
            <p:nvPr/>
          </p:nvSpPr>
          <p:spPr>
            <a:xfrm>
              <a:off x="0" y="123825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PROCESS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72" name="Google Shape;272;p22"/>
            <p:cNvGrpSpPr/>
            <p:nvPr/>
          </p:nvGrpSpPr>
          <p:grpSpPr>
            <a:xfrm>
              <a:off x="0" y="1571625"/>
              <a:ext cx="5143650" cy="1333500"/>
              <a:chOff x="0" y="0"/>
              <a:chExt cx="5143650" cy="1333500"/>
            </a:xfrm>
          </p:grpSpPr>
          <p:grpSp>
            <p:nvGrpSpPr>
              <p:cNvPr id="273" name="Google Shape;273;p22"/>
              <p:cNvGrpSpPr/>
              <p:nvPr/>
            </p:nvGrpSpPr>
            <p:grpSpPr>
              <a:xfrm>
                <a:off x="0" y="0"/>
                <a:ext cx="5143650" cy="381000"/>
                <a:chOff x="0" y="0"/>
                <a:chExt cx="5143650" cy="381000"/>
              </a:xfrm>
            </p:grpSpPr>
            <p:sp>
              <p:nvSpPr>
                <p:cNvPr id="274" name="Google Shape;274;p22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22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Executes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the removal request.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76" name="Google Shape;276;p22"/>
              <p:cNvGrpSpPr/>
              <p:nvPr/>
            </p:nvGrpSpPr>
            <p:grpSpPr>
              <a:xfrm>
                <a:off x="0" y="476250"/>
                <a:ext cx="5143650" cy="381000"/>
                <a:chOff x="0" y="0"/>
                <a:chExt cx="5143650" cy="381000"/>
              </a:xfrm>
            </p:grpSpPr>
            <p:sp>
              <p:nvSpPr>
                <p:cNvPr id="277" name="Google Shape;277;p22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22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Requires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user confirmation (Proceed (Y/n)?).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79" name="Google Shape;279;p22"/>
              <p:cNvGrpSpPr/>
              <p:nvPr/>
            </p:nvGrpSpPr>
            <p:grpSpPr>
              <a:xfrm>
                <a:off x="0" y="952500"/>
                <a:ext cx="5143650" cy="381000"/>
                <a:chOff x="0" y="0"/>
                <a:chExt cx="5143650" cy="381000"/>
              </a:xfrm>
            </p:grpSpPr>
            <p:sp>
              <p:nvSpPr>
                <p:cNvPr id="280" name="Google Shape;280;p22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22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Deletes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the package files.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282" name="Google Shape;282;p22"/>
          <p:cNvGrpSpPr/>
          <p:nvPr/>
        </p:nvGrpSpPr>
        <p:grpSpPr>
          <a:xfrm>
            <a:off x="6286500" y="1524000"/>
            <a:ext cx="5143500" cy="3619500"/>
            <a:chOff x="0" y="0"/>
            <a:chExt cx="5143500" cy="3619500"/>
          </a:xfrm>
        </p:grpSpPr>
        <p:sp>
          <p:nvSpPr>
            <p:cNvPr id="283" name="Google Shape;283;p22"/>
            <p:cNvSpPr/>
            <p:nvPr/>
          </p:nvSpPr>
          <p:spPr>
            <a:xfrm>
              <a:off x="0" y="0"/>
              <a:ext cx="5143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4" name="Google Shape;284;p22"/>
            <p:cNvPicPr preferRelativeResize="0"/>
            <p:nvPr/>
          </p:nvPicPr>
          <p:blipFill rotWithShape="1">
            <a:blip r:embed="rId3">
              <a:alphaModFix/>
            </a:blip>
            <a:srcRect b="0" l="10040" r="10024" t="0"/>
            <a:stretch/>
          </p:blipFill>
          <p:spPr>
            <a:xfrm>
              <a:off x="0" y="0"/>
              <a:ext cx="5143500" cy="3619500"/>
            </a:xfrm>
            <a:prstGeom prst="roundRect">
              <a:avLst>
                <a:gd fmla="val 3157" name="adj"/>
              </a:avLst>
            </a:prstGeom>
            <a:noFill/>
            <a:ln>
              <a:noFill/>
            </a:ln>
          </p:spPr>
        </p:pic>
      </p:grpSp>
      <p:sp>
        <p:nvSpPr>
          <p:cNvPr id="285" name="Google Shape;285;p22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Viewing Installed Packages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762000" y="1428750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Review all libraries currently active in your Python environment.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762000" y="2047875"/>
            <a:ext cx="4762500" cy="571500"/>
            <a:chOff x="0" y="0"/>
            <a:chExt cx="4762500" cy="571500"/>
          </a:xfrm>
        </p:grpSpPr>
        <p:sp>
          <p:nvSpPr>
            <p:cNvPr id="296" name="Google Shape;296;p23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 txBox="1"/>
            <p:nvPr/>
          </p:nvSpPr>
          <p:spPr>
            <a:xfrm>
              <a:off x="190500" y="0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190500" y="238125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pip list</a:t>
              </a:r>
              <a:endParaRPr b="0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6286500" y="2047875"/>
            <a:ext cx="5429250" cy="952650"/>
            <a:chOff x="0" y="0"/>
            <a:chExt cx="5429250" cy="952650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0" y="0"/>
              <a:ext cx="5429250" cy="285900"/>
              <a:chOff x="0" y="0"/>
              <a:chExt cx="5429250" cy="285900"/>
            </a:xfrm>
          </p:grpSpPr>
          <p:sp>
            <p:nvSpPr>
              <p:cNvPr id="301" name="Google Shape;301;p23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3"/>
              <p:cNvSpPr txBox="1"/>
              <p:nvPr/>
            </p:nvSpPr>
            <p:spPr>
              <a:xfrm>
                <a:off x="28575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Package Names: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Identifies all installed libraries.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03" name="Google Shape;303;p23"/>
            <p:cNvGrpSpPr/>
            <p:nvPr/>
          </p:nvGrpSpPr>
          <p:grpSpPr>
            <a:xfrm>
              <a:off x="0" y="333375"/>
              <a:ext cx="5429250" cy="285900"/>
              <a:chOff x="0" y="0"/>
              <a:chExt cx="5429250" cy="285900"/>
            </a:xfrm>
          </p:grpSpPr>
          <p:sp>
            <p:nvSpPr>
              <p:cNvPr id="304" name="Google Shape;304;p23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3"/>
              <p:cNvSpPr txBox="1"/>
              <p:nvPr/>
            </p:nvSpPr>
            <p:spPr>
              <a:xfrm>
                <a:off x="28575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Installed Versions: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Shows specific version numbers.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06" name="Google Shape;306;p23"/>
            <p:cNvGrpSpPr/>
            <p:nvPr/>
          </p:nvGrpSpPr>
          <p:grpSpPr>
            <a:xfrm>
              <a:off x="0" y="666750"/>
              <a:ext cx="5429250" cy="285900"/>
              <a:chOff x="0" y="0"/>
              <a:chExt cx="5429250" cy="285900"/>
            </a:xfrm>
          </p:grpSpPr>
          <p:sp>
            <p:nvSpPr>
              <p:cNvPr id="307" name="Google Shape;307;p23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3"/>
              <p:cNvSpPr txBox="1"/>
              <p:nvPr/>
            </p:nvSpPr>
            <p:spPr>
              <a:xfrm>
                <a:off x="285750" y="0"/>
                <a:ext cx="514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Audit: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Essential for managing project dependencies.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09" name="Google Shape;309;p23"/>
          <p:cNvGrpSpPr/>
          <p:nvPr/>
        </p:nvGrpSpPr>
        <p:grpSpPr>
          <a:xfrm>
            <a:off x="762000" y="3238500"/>
            <a:ext cx="10668000" cy="2476500"/>
            <a:chOff x="0" y="0"/>
            <a:chExt cx="10668000" cy="2476500"/>
          </a:xfrm>
        </p:grpSpPr>
        <p:sp>
          <p:nvSpPr>
            <p:cNvPr id="310" name="Google Shape;310;p23"/>
            <p:cNvSpPr/>
            <p:nvPr/>
          </p:nvSpPr>
          <p:spPr>
            <a:xfrm>
              <a:off x="0" y="0"/>
              <a:ext cx="10668000" cy="2476500"/>
            </a:xfrm>
            <a:prstGeom prst="roundRect">
              <a:avLst>
                <a:gd fmla="val 3076" name="adj"/>
              </a:avLst>
            </a:prstGeom>
            <a:solidFill>
              <a:srgbClr val="1F2937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0" y="0"/>
              <a:ext cx="57300" cy="2476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238125" y="190500"/>
              <a:ext cx="10191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$ pip list</a:t>
              </a:r>
              <a:endParaRPr b="0" sz="13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rPr>
                <a:t>Package Version</a:t>
              </a:r>
              <a:endParaRPr b="0" sz="13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9CA3AF"/>
                  </a:solidFill>
                  <a:latin typeface="Arial"/>
                  <a:ea typeface="Arial"/>
                  <a:cs typeface="Arial"/>
                  <a:sym typeface="Arial"/>
                </a:rPr>
                <a:t>-------------- -------</a:t>
              </a:r>
              <a:endParaRPr b="0" sz="13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rPr>
                <a:t>numpy 1.24.3</a:t>
              </a:r>
              <a:endParaRPr b="0" sz="13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rPr>
                <a:t>pandas 2.0.2</a:t>
              </a:r>
              <a:endParaRPr b="0" sz="13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rPr>
                <a:t>pip 23.1.2</a:t>
              </a:r>
              <a:endParaRPr b="0" sz="13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rPr>
                <a:t>requests 2.31.0</a:t>
              </a:r>
              <a:endParaRPr b="0" sz="13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0" lang="en" sz="1300">
                  <a:solidFill>
                    <a:srgbClr val="F9FAFB"/>
                  </a:solidFill>
                  <a:latin typeface="Arial"/>
                  <a:ea typeface="Arial"/>
                  <a:cs typeface="Arial"/>
                  <a:sym typeface="Arial"/>
                </a:rPr>
                <a:t>setuptools 67.8.0</a:t>
              </a:r>
              <a:endParaRPr b="0" sz="13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23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Package Information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762000" y="13811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Inspect detailed metadata for a specific installed package.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3" name="Google Shape;323;p24"/>
          <p:cNvGrpSpPr/>
          <p:nvPr/>
        </p:nvGrpSpPr>
        <p:grpSpPr>
          <a:xfrm>
            <a:off x="3048000" y="1905000"/>
            <a:ext cx="6096000" cy="2095500"/>
            <a:chOff x="0" y="0"/>
            <a:chExt cx="6096000" cy="2095500"/>
          </a:xfrm>
        </p:grpSpPr>
        <p:sp>
          <p:nvSpPr>
            <p:cNvPr id="324" name="Google Shape;324;p24"/>
            <p:cNvSpPr/>
            <p:nvPr/>
          </p:nvSpPr>
          <p:spPr>
            <a:xfrm>
              <a:off x="0" y="0"/>
              <a:ext cx="6096000" cy="2095500"/>
            </a:xfrm>
            <a:prstGeom prst="roundRect">
              <a:avLst>
                <a:gd fmla="val 363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0" y="0"/>
              <a:ext cx="57300" cy="2095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4"/>
            <p:cNvSpPr txBox="1"/>
            <p:nvPr/>
          </p:nvSpPr>
          <p:spPr>
            <a:xfrm>
              <a:off x="238125" y="190500"/>
              <a:ext cx="5619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pip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show pandas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Output includes:</a:t>
              </a:r>
              <a:endParaRPr b="0" sz="11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Name: pandas</a:t>
              </a:r>
              <a:endParaRPr b="0" sz="11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Version: 2.2.2</a:t>
              </a:r>
              <a:endParaRPr b="0" sz="11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Summary: Powerful data structures for data analysis...</a:t>
              </a:r>
              <a:endParaRPr b="0" sz="11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Location: /usr/local/lib/python3.10/site-packages</a:t>
              </a:r>
              <a:endParaRPr b="0" sz="11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Requires: numpy, python-dateutil, pytz</a:t>
              </a:r>
              <a:endParaRPr b="0" sz="11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Required-by: seaborn, statsmodels</a:t>
              </a:r>
              <a:endParaRPr b="0" sz="11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27" name="Google Shape;327;p24"/>
          <p:cNvGrpSpPr/>
          <p:nvPr/>
        </p:nvGrpSpPr>
        <p:grpSpPr>
          <a:xfrm>
            <a:off x="762000" y="4381500"/>
            <a:ext cx="10763250" cy="1095525"/>
            <a:chOff x="0" y="0"/>
            <a:chExt cx="10763250" cy="1095525"/>
          </a:xfrm>
        </p:grpSpPr>
        <p:grpSp>
          <p:nvGrpSpPr>
            <p:cNvPr id="328" name="Google Shape;328;p24"/>
            <p:cNvGrpSpPr/>
            <p:nvPr/>
          </p:nvGrpSpPr>
          <p:grpSpPr>
            <a:xfrm>
              <a:off x="0" y="0"/>
              <a:ext cx="5238750" cy="476400"/>
              <a:chOff x="0" y="0"/>
              <a:chExt cx="5238750" cy="476400"/>
            </a:xfrm>
          </p:grpSpPr>
          <p:sp>
            <p:nvSpPr>
              <p:cNvPr id="329" name="Google Shape;329;p24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4"/>
              <p:cNvSpPr txBox="1"/>
              <p:nvPr/>
            </p:nvSpPr>
            <p:spPr>
              <a:xfrm>
                <a:off x="285750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Version &amp; Summary: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Identifies the installed release and package purpose.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1" name="Google Shape;331;p24"/>
            <p:cNvGrpSpPr/>
            <p:nvPr/>
          </p:nvGrpSpPr>
          <p:grpSpPr>
            <a:xfrm>
              <a:off x="0" y="619125"/>
              <a:ext cx="5238750" cy="476400"/>
              <a:chOff x="0" y="0"/>
              <a:chExt cx="5238750" cy="476400"/>
            </a:xfrm>
          </p:grpSpPr>
          <p:sp>
            <p:nvSpPr>
              <p:cNvPr id="332" name="Google Shape;332;p24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4"/>
              <p:cNvSpPr txBox="1"/>
              <p:nvPr/>
            </p:nvSpPr>
            <p:spPr>
              <a:xfrm>
                <a:off x="285750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Installation Location: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physical path where the package resides.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4" name="Google Shape;334;p24"/>
            <p:cNvGrpSpPr/>
            <p:nvPr/>
          </p:nvGrpSpPr>
          <p:grpSpPr>
            <a:xfrm>
              <a:off x="5524500" y="0"/>
              <a:ext cx="5238750" cy="476400"/>
              <a:chOff x="0" y="0"/>
              <a:chExt cx="5238750" cy="476400"/>
            </a:xfrm>
          </p:grpSpPr>
          <p:sp>
            <p:nvSpPr>
              <p:cNvPr id="335" name="Google Shape;335;p24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4"/>
              <p:cNvSpPr txBox="1"/>
              <p:nvPr/>
            </p:nvSpPr>
            <p:spPr>
              <a:xfrm>
                <a:off x="285750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Dependencies (Requires):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Packages needed for this tool to function.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7" name="Google Shape;337;p24"/>
            <p:cNvGrpSpPr/>
            <p:nvPr/>
          </p:nvGrpSpPr>
          <p:grpSpPr>
            <a:xfrm>
              <a:off x="5524500" y="619125"/>
              <a:ext cx="5238750" cy="476400"/>
              <a:chOff x="0" y="0"/>
              <a:chExt cx="5238750" cy="476400"/>
            </a:xfrm>
          </p:grpSpPr>
          <p:sp>
            <p:nvSpPr>
              <p:cNvPr id="338" name="Google Shape;338;p24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4"/>
              <p:cNvSpPr txBox="1"/>
              <p:nvPr/>
            </p:nvSpPr>
            <p:spPr>
              <a:xfrm>
                <a:off x="285750" y="0"/>
                <a:ext cx="495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Reverse Deps (Required-by):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Other packages that depend on this one.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340" name="Google Shape;340;p24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Requirements Files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25"/>
          <p:cNvGrpSpPr/>
          <p:nvPr/>
        </p:nvGrpSpPr>
        <p:grpSpPr>
          <a:xfrm>
            <a:off x="762000" y="1524000"/>
            <a:ext cx="5143500" cy="3571875"/>
            <a:chOff x="0" y="0"/>
            <a:chExt cx="5143500" cy="3571875"/>
          </a:xfrm>
        </p:grpSpPr>
        <p:sp>
          <p:nvSpPr>
            <p:cNvPr id="350" name="Google Shape;350;p25"/>
            <p:cNvSpPr txBox="1"/>
            <p:nvPr/>
          </p:nvSpPr>
          <p:spPr>
            <a:xfrm>
              <a:off x="0" y="0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Create a snapshot of your project's exact environment.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1" name="Google Shape;351;p25"/>
            <p:cNvGrpSpPr/>
            <p:nvPr/>
          </p:nvGrpSpPr>
          <p:grpSpPr>
            <a:xfrm>
              <a:off x="0" y="762000"/>
              <a:ext cx="4762500" cy="619200"/>
              <a:chOff x="0" y="0"/>
              <a:chExt cx="4762500" cy="619200"/>
            </a:xfrm>
          </p:grpSpPr>
          <p:sp>
            <p:nvSpPr>
              <p:cNvPr id="352" name="Google Shape;352;p25"/>
              <p:cNvSpPr/>
              <p:nvPr/>
            </p:nvSpPr>
            <p:spPr>
              <a:xfrm>
                <a:off x="0" y="0"/>
                <a:ext cx="38100" cy="6192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5"/>
              <p:cNvSpPr txBox="1"/>
              <p:nvPr/>
            </p:nvSpPr>
            <p:spPr>
              <a:xfrm>
                <a:off x="190500" y="0"/>
                <a:ext cx="457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Filename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4" name="Google Shape;354;p25"/>
              <p:cNvSpPr txBox="1"/>
              <p:nvPr/>
            </p:nvSpPr>
            <p:spPr>
              <a:xfrm>
                <a:off x="190500" y="238125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requirements.txt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55" name="Google Shape;355;p25"/>
            <p:cNvGrpSpPr/>
            <p:nvPr/>
          </p:nvGrpSpPr>
          <p:grpSpPr>
            <a:xfrm>
              <a:off x="0" y="1619250"/>
              <a:ext cx="5143500" cy="952500"/>
              <a:chOff x="0" y="0"/>
              <a:chExt cx="5143500" cy="952500"/>
            </a:xfrm>
          </p:grpSpPr>
          <p:sp>
            <p:nvSpPr>
              <p:cNvPr id="356" name="Google Shape;356;p25"/>
              <p:cNvSpPr/>
              <p:nvPr/>
            </p:nvSpPr>
            <p:spPr>
              <a:xfrm>
                <a:off x="0" y="0"/>
                <a:ext cx="51435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0" y="0"/>
                <a:ext cx="573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5"/>
              <p:cNvSpPr txBox="1"/>
              <p:nvPr/>
            </p:nvSpPr>
            <p:spPr>
              <a:xfrm>
                <a:off x="238125" y="142875"/>
                <a:ext cx="4667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GENERATION COMMAND</a:t>
                </a:r>
                <a:endParaRPr b="1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pip freeze &gt; requirements.txt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359" name="Google Shape;359;p25"/>
            <p:cNvGrpSpPr/>
            <p:nvPr/>
          </p:nvGrpSpPr>
          <p:grpSpPr>
            <a:xfrm>
              <a:off x="0" y="2809875"/>
              <a:ext cx="4857750" cy="762000"/>
              <a:chOff x="0" y="0"/>
              <a:chExt cx="4857750" cy="762000"/>
            </a:xfrm>
          </p:grpSpPr>
          <p:sp>
            <p:nvSpPr>
              <p:cNvPr id="360" name="Google Shape;360;p25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5"/>
              <p:cNvSpPr txBox="1"/>
              <p:nvPr/>
            </p:nvSpPr>
            <p:spPr>
              <a:xfrm>
                <a:off x="285750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Purpose: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Records all installed packages and their exact versions.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62" name="Google Shape;362;p25"/>
          <p:cNvGrpSpPr/>
          <p:nvPr/>
        </p:nvGrpSpPr>
        <p:grpSpPr>
          <a:xfrm>
            <a:off x="6286500" y="1762125"/>
            <a:ext cx="5143500" cy="3333900"/>
            <a:chOff x="0" y="0"/>
            <a:chExt cx="5143500" cy="3333900"/>
          </a:xfrm>
        </p:grpSpPr>
        <p:sp>
          <p:nvSpPr>
            <p:cNvPr id="363" name="Google Shape;363;p25"/>
            <p:cNvSpPr/>
            <p:nvPr/>
          </p:nvSpPr>
          <p:spPr>
            <a:xfrm>
              <a:off x="0" y="0"/>
              <a:ext cx="51435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4" name="Google Shape;364;p25"/>
            <p:cNvPicPr preferRelativeResize="0"/>
            <p:nvPr/>
          </p:nvPicPr>
          <p:blipFill rotWithShape="1">
            <a:blip r:embed="rId3">
              <a:alphaModFix/>
            </a:blip>
            <a:srcRect b="-7651" l="0" r="0" t="-7570"/>
            <a:stretch/>
          </p:blipFill>
          <p:spPr>
            <a:xfrm>
              <a:off x="0" y="0"/>
              <a:ext cx="5143500" cy="3333900"/>
            </a:xfrm>
            <a:prstGeom prst="roundRect">
              <a:avLst>
                <a:gd fmla="val 3428" name="adj"/>
              </a:avLst>
            </a:prstGeom>
            <a:noFill/>
            <a:ln>
              <a:noFill/>
            </a:ln>
          </p:spPr>
        </p:pic>
      </p:grpSp>
      <p:sp>
        <p:nvSpPr>
          <p:cNvPr id="365" name="Google Shape;365;p2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Installing from Requirements File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 txBox="1"/>
          <p:nvPr/>
        </p:nvSpPr>
        <p:spPr>
          <a:xfrm>
            <a:off x="762000" y="133350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Replicate an environment instantly on a new machine.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5" name="Google Shape;375;p26"/>
          <p:cNvGrpSpPr/>
          <p:nvPr/>
        </p:nvGrpSpPr>
        <p:grpSpPr>
          <a:xfrm>
            <a:off x="762000" y="1809750"/>
            <a:ext cx="2381400" cy="1143000"/>
            <a:chOff x="0" y="0"/>
            <a:chExt cx="2381400" cy="1143000"/>
          </a:xfrm>
        </p:grpSpPr>
        <p:sp>
          <p:nvSpPr>
            <p:cNvPr id="376" name="Google Shape;376;p26"/>
            <p:cNvSpPr/>
            <p:nvPr/>
          </p:nvSpPr>
          <p:spPr>
            <a:xfrm>
              <a:off x="0" y="0"/>
              <a:ext cx="2381400" cy="1143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0" y="0"/>
              <a:ext cx="57300" cy="1143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 txBox="1"/>
            <p:nvPr/>
          </p:nvSpPr>
          <p:spPr>
            <a:xfrm>
              <a:off x="190500" y="19050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Input File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requirements.txt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79" name="Google Shape;379;p26"/>
          <p:cNvSpPr/>
          <p:nvPr/>
        </p:nvSpPr>
        <p:spPr>
          <a:xfrm>
            <a:off x="3238500" y="2381250"/>
            <a:ext cx="4764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045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6"/>
          <p:cNvSpPr/>
          <p:nvPr/>
        </p:nvSpPr>
        <p:spPr>
          <a:xfrm>
            <a:off x="3667125" y="2314575"/>
            <a:ext cx="66600" cy="13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045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26"/>
          <p:cNvGrpSpPr/>
          <p:nvPr/>
        </p:nvGrpSpPr>
        <p:grpSpPr>
          <a:xfrm>
            <a:off x="3810000" y="1809750"/>
            <a:ext cx="4572000" cy="1143000"/>
            <a:chOff x="0" y="0"/>
            <a:chExt cx="4572000" cy="1143000"/>
          </a:xfrm>
        </p:grpSpPr>
        <p:sp>
          <p:nvSpPr>
            <p:cNvPr id="382" name="Google Shape;382;p26"/>
            <p:cNvSpPr/>
            <p:nvPr/>
          </p:nvSpPr>
          <p:spPr>
            <a:xfrm>
              <a:off x="0" y="0"/>
              <a:ext cx="4572000" cy="1143000"/>
            </a:xfrm>
            <a:prstGeom prst="roundRect">
              <a:avLst>
                <a:gd fmla="val 6666" name="adj"/>
              </a:avLst>
            </a:prstGeom>
            <a:solidFill>
              <a:srgbClr val="F1F5F9"/>
            </a:solidFill>
            <a:ln cap="flat" cmpd="sng" w="19050">
              <a:solidFill>
                <a:srgbClr val="045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 txBox="1"/>
            <p:nvPr/>
          </p:nvSpPr>
          <p:spPr>
            <a:xfrm>
              <a:off x="190500" y="190500"/>
              <a:ext cx="419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pip</a:t>
              </a:r>
              <a:r>
                <a:rPr b="0" lang="en" sz="16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install -r 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requirements.txt</a:t>
              </a:r>
              <a:endParaRPr b="0" sz="16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84" name="Google Shape;384;p26"/>
          <p:cNvSpPr/>
          <p:nvPr/>
        </p:nvSpPr>
        <p:spPr>
          <a:xfrm>
            <a:off x="8477250" y="2381250"/>
            <a:ext cx="4764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045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"/>
          <p:cNvSpPr/>
          <p:nvPr/>
        </p:nvSpPr>
        <p:spPr>
          <a:xfrm>
            <a:off x="8905875" y="2314575"/>
            <a:ext cx="66600" cy="13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045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26"/>
          <p:cNvGrpSpPr/>
          <p:nvPr/>
        </p:nvGrpSpPr>
        <p:grpSpPr>
          <a:xfrm>
            <a:off x="9048750" y="1809750"/>
            <a:ext cx="2381400" cy="1143000"/>
            <a:chOff x="0" y="0"/>
            <a:chExt cx="2381400" cy="1143000"/>
          </a:xfrm>
        </p:grpSpPr>
        <p:sp>
          <p:nvSpPr>
            <p:cNvPr id="387" name="Google Shape;387;p26"/>
            <p:cNvSpPr/>
            <p:nvPr/>
          </p:nvSpPr>
          <p:spPr>
            <a:xfrm>
              <a:off x="0" y="0"/>
              <a:ext cx="2381400" cy="1143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2324100" y="0"/>
              <a:ext cx="57300" cy="1143000"/>
            </a:xfrm>
            <a:prstGeom prst="roundRect">
              <a:avLst>
                <a:gd fmla="val 50000" name="adj"/>
              </a:avLst>
            </a:prstGeom>
            <a:solidFill>
              <a:srgbClr val="0B7A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 txBox="1"/>
            <p:nvPr/>
          </p:nvSpPr>
          <p:spPr>
            <a:xfrm>
              <a:off x="190500" y="19050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Environment</a:t>
              </a:r>
              <a:endParaRPr b="1" sz="1200">
                <a:solidFill>
                  <a:srgbClr val="0B7A4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Packages Installed Successfully</a:t>
              </a:r>
              <a:endParaRPr b="0" sz="12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90" name="Google Shape;390;p26"/>
          <p:cNvSpPr txBox="1"/>
          <p:nvPr/>
        </p:nvSpPr>
        <p:spPr>
          <a:xfrm>
            <a:off x="762000" y="323850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Benefits</a:t>
            </a:r>
            <a:endParaRPr b="0" sz="16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91" name="Google Shape;391;p26"/>
          <p:cNvGrpSpPr/>
          <p:nvPr/>
        </p:nvGrpSpPr>
        <p:grpSpPr>
          <a:xfrm>
            <a:off x="762000" y="3619500"/>
            <a:ext cx="9810750" cy="1333500"/>
            <a:chOff x="0" y="0"/>
            <a:chExt cx="9810750" cy="1333500"/>
          </a:xfrm>
        </p:grpSpPr>
        <p:grpSp>
          <p:nvGrpSpPr>
            <p:cNvPr id="392" name="Google Shape;392;p26"/>
            <p:cNvGrpSpPr/>
            <p:nvPr/>
          </p:nvGrpSpPr>
          <p:grpSpPr>
            <a:xfrm>
              <a:off x="0" y="0"/>
              <a:ext cx="9810750" cy="381000"/>
              <a:chOff x="0" y="0"/>
              <a:chExt cx="9810750" cy="381000"/>
            </a:xfrm>
          </p:grpSpPr>
          <p:sp>
            <p:nvSpPr>
              <p:cNvPr id="393" name="Google Shape;393;p26"/>
              <p:cNvSpPr/>
              <p:nvPr/>
            </p:nvSpPr>
            <p:spPr>
              <a:xfrm>
                <a:off x="0" y="12382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6"/>
              <p:cNvSpPr txBox="1"/>
              <p:nvPr/>
            </p:nvSpPr>
            <p:spPr>
              <a:xfrm>
                <a:off x="285750" y="0"/>
                <a:ext cx="952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Facilitates easy project sharing: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Just send the code and the text file.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5" name="Google Shape;395;p26"/>
            <p:cNvGrpSpPr/>
            <p:nvPr/>
          </p:nvGrpSpPr>
          <p:grpSpPr>
            <a:xfrm>
              <a:off x="0" y="476250"/>
              <a:ext cx="9810750" cy="381000"/>
              <a:chOff x="0" y="0"/>
              <a:chExt cx="9810750" cy="381000"/>
            </a:xfrm>
          </p:grpSpPr>
          <p:sp>
            <p:nvSpPr>
              <p:cNvPr id="396" name="Google Shape;396;p26"/>
              <p:cNvSpPr/>
              <p:nvPr/>
            </p:nvSpPr>
            <p:spPr>
              <a:xfrm>
                <a:off x="0" y="12382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6"/>
              <p:cNvSpPr txBox="1"/>
              <p:nvPr/>
            </p:nvSpPr>
            <p:spPr>
              <a:xfrm>
                <a:off x="285750" y="0"/>
                <a:ext cx="952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Guarantees consistent environments: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Everyone uses the exact same versions.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8" name="Google Shape;398;p26"/>
            <p:cNvGrpSpPr/>
            <p:nvPr/>
          </p:nvGrpSpPr>
          <p:grpSpPr>
            <a:xfrm>
              <a:off x="0" y="952500"/>
              <a:ext cx="9810750" cy="381000"/>
              <a:chOff x="0" y="0"/>
              <a:chExt cx="9810750" cy="381000"/>
            </a:xfrm>
          </p:grpSpPr>
          <p:sp>
            <p:nvSpPr>
              <p:cNvPr id="399" name="Google Shape;399;p26"/>
              <p:cNvSpPr/>
              <p:nvPr/>
            </p:nvSpPr>
            <p:spPr>
              <a:xfrm>
                <a:off x="0" y="12382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6"/>
              <p:cNvSpPr txBox="1"/>
              <p:nvPr/>
            </p:nvSpPr>
            <p:spPr>
              <a:xfrm>
                <a:off x="285750" y="0"/>
                <a:ext cx="952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Enables faster setup: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New developers can start coding in minutes.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01" name="Google Shape;401;p26"/>
          <p:cNvGrpSpPr/>
          <p:nvPr/>
        </p:nvGrpSpPr>
        <p:grpSpPr>
          <a:xfrm>
            <a:off x="6286500" y="4762500"/>
            <a:ext cx="5143500" cy="1238400"/>
            <a:chOff x="0" y="0"/>
            <a:chExt cx="5143500" cy="1238400"/>
          </a:xfrm>
        </p:grpSpPr>
        <p:sp>
          <p:nvSpPr>
            <p:cNvPr id="402" name="Google Shape;402;p26"/>
            <p:cNvSpPr/>
            <p:nvPr/>
          </p:nvSpPr>
          <p:spPr>
            <a:xfrm>
              <a:off x="0" y="0"/>
              <a:ext cx="51435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3" name="Google Shape;403;p26"/>
            <p:cNvPicPr preferRelativeResize="0"/>
            <p:nvPr/>
          </p:nvPicPr>
          <p:blipFill rotWithShape="1">
            <a:blip r:embed="rId3">
              <a:alphaModFix/>
            </a:blip>
            <a:srcRect b="0" l="140" r="140" t="0"/>
            <a:stretch/>
          </p:blipFill>
          <p:spPr>
            <a:xfrm>
              <a:off x="95250" y="95250"/>
              <a:ext cx="1857300" cy="104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6"/>
            <p:cNvSpPr txBox="1"/>
            <p:nvPr/>
          </p:nvSpPr>
          <p:spPr>
            <a:xfrm>
              <a:off x="2095500" y="190500"/>
              <a:ext cx="2857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AUTOMATION IN ACTION</a:t>
              </a:r>
              <a:endParaRPr b="0" sz="1100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Dependency management is core to automated CI/CD pipelines.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5" name="Google Shape;405;p2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are Environment Variables?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27"/>
          <p:cNvGrpSpPr/>
          <p:nvPr/>
        </p:nvGrpSpPr>
        <p:grpSpPr>
          <a:xfrm>
            <a:off x="762000" y="1524000"/>
            <a:ext cx="5143500" cy="3095625"/>
            <a:chOff x="0" y="0"/>
            <a:chExt cx="5143500" cy="3095625"/>
          </a:xfrm>
        </p:grpSpPr>
        <p:grpSp>
          <p:nvGrpSpPr>
            <p:cNvPr id="415" name="Google Shape;415;p27"/>
            <p:cNvGrpSpPr/>
            <p:nvPr/>
          </p:nvGrpSpPr>
          <p:grpSpPr>
            <a:xfrm>
              <a:off x="0" y="0"/>
              <a:ext cx="4762500" cy="905025"/>
              <a:chOff x="0" y="0"/>
              <a:chExt cx="4762500" cy="905025"/>
            </a:xfrm>
          </p:grpSpPr>
          <p:sp>
            <p:nvSpPr>
              <p:cNvPr id="416" name="Google Shape;416;p27"/>
              <p:cNvSpPr/>
              <p:nvPr/>
            </p:nvSpPr>
            <p:spPr>
              <a:xfrm>
                <a:off x="0" y="0"/>
                <a:ext cx="38100" cy="8097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7"/>
              <p:cNvSpPr txBox="1"/>
              <p:nvPr/>
            </p:nvSpPr>
            <p:spPr>
              <a:xfrm>
                <a:off x="190500" y="0"/>
                <a:ext cx="457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Definition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27"/>
              <p:cNvSpPr txBox="1"/>
              <p:nvPr/>
            </p:nvSpPr>
            <p:spPr>
              <a:xfrm>
                <a:off x="190500" y="238125"/>
                <a:ext cx="4572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Dynamic configuration values stored outside the application's source code.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419" name="Google Shape;419;p27"/>
            <p:cNvSpPr txBox="1"/>
            <p:nvPr/>
          </p:nvSpPr>
          <p:spPr>
            <a:xfrm>
              <a:off x="0" y="104775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Common Examples:</a:t>
              </a:r>
              <a:endParaRPr b="0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420" name="Google Shape;420;p27"/>
            <p:cNvGrpSpPr/>
            <p:nvPr/>
          </p:nvGrpSpPr>
          <p:grpSpPr>
            <a:xfrm>
              <a:off x="0" y="1428750"/>
              <a:ext cx="4857750" cy="381000"/>
              <a:chOff x="0" y="0"/>
              <a:chExt cx="4857750" cy="381000"/>
            </a:xfrm>
          </p:grpSpPr>
          <p:sp>
            <p:nvSpPr>
              <p:cNvPr id="421" name="Google Shape;421;p27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7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Database credentials: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host, user, password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23" name="Google Shape;423;p27"/>
            <p:cNvGrpSpPr/>
            <p:nvPr/>
          </p:nvGrpSpPr>
          <p:grpSpPr>
            <a:xfrm>
              <a:off x="0" y="1857375"/>
              <a:ext cx="4857750" cy="381000"/>
              <a:chOff x="0" y="0"/>
              <a:chExt cx="4857750" cy="381000"/>
            </a:xfrm>
          </p:grpSpPr>
          <p:sp>
            <p:nvSpPr>
              <p:cNvPr id="424" name="Google Shape;424;p27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7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API keys: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 access and authentication keys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26" name="Google Shape;426;p27"/>
            <p:cNvGrpSpPr/>
            <p:nvPr/>
          </p:nvGrpSpPr>
          <p:grpSpPr>
            <a:xfrm>
              <a:off x="0" y="2286000"/>
              <a:ext cx="4857750" cy="381000"/>
              <a:chOff x="0" y="0"/>
              <a:chExt cx="4857750" cy="381000"/>
            </a:xfrm>
          </p:grpSpPr>
          <p:sp>
            <p:nvSpPr>
              <p:cNvPr id="427" name="Google Shape;427;p27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7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88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Security tokens: </a:t>
                </a:r>
                <a:r>
                  <a:rPr b="0" lang="en" sz="1388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JWT secrets and sensitive identifiers</a:t>
                </a:r>
                <a:endParaRPr b="0" sz="1388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29" name="Google Shape;429;p27"/>
            <p:cNvGrpSpPr/>
            <p:nvPr/>
          </p:nvGrpSpPr>
          <p:grpSpPr>
            <a:xfrm>
              <a:off x="0" y="2714625"/>
              <a:ext cx="4857750" cy="381000"/>
              <a:chOff x="0" y="0"/>
              <a:chExt cx="4857750" cy="381000"/>
            </a:xfrm>
          </p:grpSpPr>
          <p:sp>
            <p:nvSpPr>
              <p:cNvPr id="430" name="Google Shape;430;p27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7"/>
              <p:cNvSpPr txBox="1"/>
              <p:nvPr/>
            </p:nvSpPr>
            <p:spPr>
              <a:xfrm>
                <a:off x="285750" y="0"/>
                <a:ext cx="457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75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Environment toggles: </a:t>
                </a:r>
                <a:r>
                  <a:rPr b="0" lang="en" sz="127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Development vs. Production states</a:t>
                </a:r>
                <a:endParaRPr b="0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32" name="Google Shape;432;p27"/>
          <p:cNvGrpSpPr/>
          <p:nvPr/>
        </p:nvGrpSpPr>
        <p:grpSpPr>
          <a:xfrm>
            <a:off x="6286500" y="1524000"/>
            <a:ext cx="5143500" cy="4191075"/>
            <a:chOff x="0" y="0"/>
            <a:chExt cx="5143500" cy="4191075"/>
          </a:xfrm>
        </p:grpSpPr>
        <p:sp>
          <p:nvSpPr>
            <p:cNvPr id="433" name="Google Shape;433;p27"/>
            <p:cNvSpPr/>
            <p:nvPr/>
          </p:nvSpPr>
          <p:spPr>
            <a:xfrm>
              <a:off x="0" y="0"/>
              <a:ext cx="51435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4" name="Google Shape;434;p27"/>
            <p:cNvPicPr preferRelativeResize="0"/>
            <p:nvPr/>
          </p:nvPicPr>
          <p:blipFill rotWithShape="1">
            <a:blip r:embed="rId3">
              <a:alphaModFix/>
            </a:blip>
            <a:srcRect b="0" l="12028" r="12036" t="0"/>
            <a:stretch/>
          </p:blipFill>
          <p:spPr>
            <a:xfrm>
              <a:off x="0" y="0"/>
              <a:ext cx="5143500" cy="3810000"/>
            </a:xfrm>
            <a:prstGeom prst="roundRect">
              <a:avLst>
                <a:gd fmla="val 3000" name="adj"/>
              </a:avLst>
            </a:prstGeom>
            <a:noFill/>
            <a:ln>
              <a:noFill/>
            </a:ln>
          </p:spPr>
        </p:pic>
        <p:sp>
          <p:nvSpPr>
            <p:cNvPr id="435" name="Google Shape;435;p27"/>
            <p:cNvSpPr txBox="1"/>
            <p:nvPr/>
          </p:nvSpPr>
          <p:spPr>
            <a:xfrm>
              <a:off x="0" y="3952875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Server Configuration Overview</a:t>
              </a:r>
              <a:endParaRPr b="1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36" name="Google Shape;436;p27"/>
          <p:cNvSpPr txBox="1"/>
          <p:nvPr/>
        </p:nvSpPr>
        <p:spPr>
          <a:xfrm>
            <a:off x="762000" y="61341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Use .env Files?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4" name="Google Shape;444;p2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8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Protect your sensitive data and increase flexibility.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6086475" y="1809750"/>
            <a:ext cx="19200" cy="4000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28"/>
          <p:cNvGrpSpPr/>
          <p:nvPr/>
        </p:nvGrpSpPr>
        <p:grpSpPr>
          <a:xfrm>
            <a:off x="762000" y="1809750"/>
            <a:ext cx="5143500" cy="2286000"/>
            <a:chOff x="0" y="0"/>
            <a:chExt cx="5143500" cy="2286000"/>
          </a:xfrm>
        </p:grpSpPr>
        <p:sp>
          <p:nvSpPr>
            <p:cNvPr id="448" name="Google Shape;448;p28"/>
            <p:cNvSpPr txBox="1"/>
            <p:nvPr/>
          </p:nvSpPr>
          <p:spPr>
            <a:xfrm>
              <a:off x="0" y="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The Problem</a:t>
              </a:r>
              <a:endParaRPr b="1" sz="12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9" name="Google Shape;449;p28"/>
            <p:cNvSpPr txBox="1"/>
            <p:nvPr/>
          </p:nvSpPr>
          <p:spPr>
            <a:xfrm>
              <a:off x="0" y="333375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Hardcoding Secrets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450" name="Google Shape;450;p28"/>
            <p:cNvGrpSpPr/>
            <p:nvPr/>
          </p:nvGrpSpPr>
          <p:grpSpPr>
            <a:xfrm>
              <a:off x="0" y="714375"/>
              <a:ext cx="4857750" cy="952500"/>
              <a:chOff x="0" y="0"/>
              <a:chExt cx="4857750" cy="952500"/>
            </a:xfrm>
          </p:grpSpPr>
          <p:sp>
            <p:nvSpPr>
              <p:cNvPr id="451" name="Google Shape;451;p28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8"/>
              <p:cNvSpPr txBox="1"/>
              <p:nvPr/>
            </p:nvSpPr>
            <p:spPr>
              <a:xfrm>
                <a:off x="285750" y="0"/>
                <a:ext cx="4572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Hardcoding secrets (e.g., </a:t>
                </a:r>
                <a:r>
                  <a:rPr b="0" lang="en" sz="1300">
                    <a:solidFill>
                      <a:srgbClr val="1F2937"/>
                    </a:solidFill>
                    <a:highlight>
                      <a:srgbClr val="FEE2E2"/>
                    </a:highlight>
                    <a:latin typeface="Inter Medium"/>
                    <a:ea typeface="Inter Medium"/>
                    <a:cs typeface="Inter Medium"/>
                    <a:sym typeface="Inter Medium"/>
                  </a:rPr>
                  <a:t>api_key = "123456"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) is a massive security risk.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53" name="Google Shape;453;p28"/>
            <p:cNvGrpSpPr/>
            <p:nvPr/>
          </p:nvGrpSpPr>
          <p:grpSpPr>
            <a:xfrm>
              <a:off x="0" y="1524000"/>
              <a:ext cx="5048400" cy="762000"/>
              <a:chOff x="0" y="0"/>
              <a:chExt cx="5048400" cy="762000"/>
            </a:xfrm>
          </p:grpSpPr>
          <p:sp>
            <p:nvSpPr>
              <p:cNvPr id="454" name="Google Shape;454;p28"/>
              <p:cNvSpPr/>
              <p:nvPr/>
            </p:nvSpPr>
            <p:spPr>
              <a:xfrm>
                <a:off x="0" y="0"/>
                <a:ext cx="5048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>
                <a:off x="0" y="0"/>
                <a:ext cx="57300" cy="762000"/>
              </a:xfrm>
              <a:prstGeom prst="roundRect">
                <a:avLst>
                  <a:gd fmla="val 50000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8"/>
              <p:cNvSpPr txBox="1"/>
              <p:nvPr/>
            </p:nvSpPr>
            <p:spPr>
              <a:xfrm>
                <a:off x="238125" y="142875"/>
                <a:ext cx="457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991B1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api_key = "123456" </a:t>
                </a: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UNSAFE</a:t>
                </a:r>
                <a:endParaRPr b="0" sz="13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457" name="Google Shape;457;p28"/>
          <p:cNvGrpSpPr/>
          <p:nvPr/>
        </p:nvGrpSpPr>
        <p:grpSpPr>
          <a:xfrm>
            <a:off x="6477000" y="1809750"/>
            <a:ext cx="5143500" cy="2143125"/>
            <a:chOff x="0" y="0"/>
            <a:chExt cx="5143500" cy="2143125"/>
          </a:xfrm>
        </p:grpSpPr>
        <p:sp>
          <p:nvSpPr>
            <p:cNvPr id="458" name="Google Shape;458;p28"/>
            <p:cNvSpPr txBox="1"/>
            <p:nvPr/>
          </p:nvSpPr>
          <p:spPr>
            <a:xfrm>
              <a:off x="0" y="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The Solution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9" name="Google Shape;459;p28"/>
            <p:cNvSpPr txBox="1"/>
            <p:nvPr/>
          </p:nvSpPr>
          <p:spPr>
            <a:xfrm>
              <a:off x="0" y="333375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Keep Secrets Separate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460" name="Google Shape;460;p28"/>
            <p:cNvGrpSpPr/>
            <p:nvPr/>
          </p:nvGrpSpPr>
          <p:grpSpPr>
            <a:xfrm>
              <a:off x="0" y="714375"/>
              <a:ext cx="4857750" cy="571500"/>
              <a:chOff x="0" y="0"/>
              <a:chExt cx="4857750" cy="571500"/>
            </a:xfrm>
          </p:grpSpPr>
          <p:sp>
            <p:nvSpPr>
              <p:cNvPr id="461" name="Google Shape;461;p28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8"/>
              <p:cNvSpPr txBox="1"/>
              <p:nvPr/>
            </p:nvSpPr>
            <p:spPr>
              <a:xfrm>
                <a:off x="285750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Keep secrets separate from the source code using .env files.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3" name="Google Shape;463;p28"/>
            <p:cNvGrpSpPr/>
            <p:nvPr/>
          </p:nvGrpSpPr>
          <p:grpSpPr>
            <a:xfrm>
              <a:off x="0" y="1381125"/>
              <a:ext cx="4857750" cy="762000"/>
              <a:chOff x="0" y="0"/>
              <a:chExt cx="4857750" cy="762000"/>
            </a:xfrm>
          </p:grpSpPr>
          <p:sp>
            <p:nvSpPr>
              <p:cNvPr id="464" name="Google Shape;464;p28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8"/>
              <p:cNvSpPr txBox="1"/>
              <p:nvPr/>
            </p:nvSpPr>
            <p:spPr>
              <a:xfrm>
                <a:off x="285750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Result: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Prevents accidental uploads of passwords to version control systems like GitHub.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66" name="Google Shape;466;p28"/>
          <p:cNvGrpSpPr/>
          <p:nvPr/>
        </p:nvGrpSpPr>
        <p:grpSpPr>
          <a:xfrm>
            <a:off x="3524250" y="4095750"/>
            <a:ext cx="5143500" cy="1714500"/>
            <a:chOff x="0" y="0"/>
            <a:chExt cx="5143500" cy="1714500"/>
          </a:xfrm>
        </p:grpSpPr>
        <p:sp>
          <p:nvSpPr>
            <p:cNvPr id="467" name="Google Shape;467;p28"/>
            <p:cNvSpPr/>
            <p:nvPr/>
          </p:nvSpPr>
          <p:spPr>
            <a:xfrm>
              <a:off x="0" y="0"/>
              <a:ext cx="5143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8" name="Google Shape;468;p28"/>
            <p:cNvPicPr preferRelativeResize="0"/>
            <p:nvPr/>
          </p:nvPicPr>
          <p:blipFill rotWithShape="1">
            <a:blip r:embed="rId3">
              <a:alphaModFix/>
            </a:blip>
            <a:srcRect b="20373" l="0" r="0" t="20367"/>
            <a:stretch/>
          </p:blipFill>
          <p:spPr>
            <a:xfrm>
              <a:off x="0" y="0"/>
              <a:ext cx="5143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</p:grpSp>
      <p:sp>
        <p:nvSpPr>
          <p:cNvPr id="469" name="Google Shape;469;p2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Creating a .env File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29"/>
          <p:cNvGrpSpPr/>
          <p:nvPr/>
        </p:nvGrpSpPr>
        <p:grpSpPr>
          <a:xfrm>
            <a:off x="762000" y="1524000"/>
            <a:ext cx="10668000" cy="809700"/>
            <a:chOff x="0" y="0"/>
            <a:chExt cx="10668000" cy="809700"/>
          </a:xfrm>
        </p:grpSpPr>
        <p:sp>
          <p:nvSpPr>
            <p:cNvPr id="479" name="Google Shape;479;p29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9"/>
            <p:cNvSpPr txBox="1"/>
            <p:nvPr/>
          </p:nvSpPr>
          <p:spPr>
            <a:xfrm>
              <a:off x="190500" y="0"/>
              <a:ext cx="1047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DEFINITION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1" name="Google Shape;481;p29"/>
            <p:cNvSpPr txBox="1"/>
            <p:nvPr/>
          </p:nvSpPr>
          <p:spPr>
            <a:xfrm>
              <a:off x="190500" y="238125"/>
              <a:ext cx="1047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 simple, hidden text file stored at the root of your project.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482" name="Google Shape;482;p29"/>
          <p:cNvSpPr txBox="1"/>
          <p:nvPr/>
        </p:nvSpPr>
        <p:spPr>
          <a:xfrm>
            <a:off x="3048000" y="2571750"/>
            <a:ext cx="6096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FORMATTING RULES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Name the file exactly </a:t>
            </a:r>
            <a:r>
              <a:rPr b="0" lang="en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.env</a:t>
            </a:r>
            <a:r>
              <a:rPr b="0" lang="en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• Use </a:t>
            </a:r>
            <a:r>
              <a:rPr b="0" lang="en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KEY=VALUE</a:t>
            </a:r>
            <a:r>
              <a:rPr b="0" lang="en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format • No spaces around the equals sign</a:t>
            </a:r>
            <a:endParaRPr b="0" sz="12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83" name="Google Shape;483;p29"/>
          <p:cNvGrpSpPr/>
          <p:nvPr/>
        </p:nvGrpSpPr>
        <p:grpSpPr>
          <a:xfrm>
            <a:off x="3048000" y="3429000"/>
            <a:ext cx="6096000" cy="2095500"/>
            <a:chOff x="0" y="0"/>
            <a:chExt cx="6096000" cy="2095500"/>
          </a:xfrm>
        </p:grpSpPr>
        <p:sp>
          <p:nvSpPr>
            <p:cNvPr id="484" name="Google Shape;484;p29"/>
            <p:cNvSpPr/>
            <p:nvPr/>
          </p:nvSpPr>
          <p:spPr>
            <a:xfrm>
              <a:off x="0" y="0"/>
              <a:ext cx="6096000" cy="2095500"/>
            </a:xfrm>
            <a:prstGeom prst="roundRect">
              <a:avLst>
                <a:gd fmla="val 363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0" y="0"/>
              <a:ext cx="57300" cy="2095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 txBox="1"/>
            <p:nvPr/>
          </p:nvSpPr>
          <p:spPr>
            <a:xfrm>
              <a:off x="238125" y="238125"/>
              <a:ext cx="5619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Example .env file entries</a:t>
              </a:r>
              <a:endParaRPr b="0" sz="11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API_KEY=987654321xyz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DB_HOST=localhost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DB_USER=admin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DB_PASSWORD=supersecret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87" name="Google Shape;487;p29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0"/>
          <p:cNvSpPr txBox="1"/>
          <p:nvPr/>
        </p:nvSpPr>
        <p:spPr>
          <a:xfrm>
            <a:off x="762000" y="571500"/>
            <a:ext cx="10668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Installing python-dotenv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6" name="Google Shape;496;p30"/>
          <p:cNvGrpSpPr/>
          <p:nvPr/>
        </p:nvGrpSpPr>
        <p:grpSpPr>
          <a:xfrm>
            <a:off x="762000" y="1428750"/>
            <a:ext cx="5143500" cy="2809875"/>
            <a:chOff x="0" y="0"/>
            <a:chExt cx="5143500" cy="2809875"/>
          </a:xfrm>
        </p:grpSpPr>
        <p:sp>
          <p:nvSpPr>
            <p:cNvPr id="497" name="Google Shape;497;p30"/>
            <p:cNvSpPr txBox="1"/>
            <p:nvPr/>
          </p:nvSpPr>
          <p:spPr>
            <a:xfrm>
              <a:off x="0" y="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standard library for connecting .env files to your Python script.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8" name="Google Shape;498;p30"/>
            <p:cNvGrpSpPr/>
            <p:nvPr/>
          </p:nvGrpSpPr>
          <p:grpSpPr>
            <a:xfrm>
              <a:off x="0" y="571500"/>
              <a:ext cx="5143500" cy="857400"/>
              <a:chOff x="0" y="0"/>
              <a:chExt cx="5143500" cy="857400"/>
            </a:xfrm>
          </p:grpSpPr>
          <p:sp>
            <p:nvSpPr>
              <p:cNvPr id="499" name="Google Shape;499;p30"/>
              <p:cNvSpPr/>
              <p:nvPr/>
            </p:nvSpPr>
            <p:spPr>
              <a:xfrm>
                <a:off x="0" y="0"/>
                <a:ext cx="5143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0" y="0"/>
                <a:ext cx="57300" cy="8574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0"/>
              <p:cNvSpPr txBox="1"/>
              <p:nvPr/>
            </p:nvSpPr>
            <p:spPr>
              <a:xfrm>
                <a:off x="190500" y="142875"/>
                <a:ext cx="476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INSTALLATION COMMAND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30"/>
              <p:cNvSpPr txBox="1"/>
              <p:nvPr/>
            </p:nvSpPr>
            <p:spPr>
              <a:xfrm>
                <a:off x="190500" y="428625"/>
                <a:ext cx="476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pip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install python-dotenv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503" name="Google Shape;503;p30"/>
            <p:cNvGrpSpPr/>
            <p:nvPr/>
          </p:nvGrpSpPr>
          <p:grpSpPr>
            <a:xfrm>
              <a:off x="0" y="1714500"/>
              <a:ext cx="4762500" cy="1095375"/>
              <a:chOff x="0" y="0"/>
              <a:chExt cx="4762500" cy="1095375"/>
            </a:xfrm>
          </p:grpSpPr>
          <p:sp>
            <p:nvSpPr>
              <p:cNvPr id="504" name="Google Shape;504;p30"/>
              <p:cNvSpPr/>
              <p:nvPr/>
            </p:nvSpPr>
            <p:spPr>
              <a:xfrm>
                <a:off x="0" y="0"/>
                <a:ext cx="38100" cy="10479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30"/>
              <p:cNvSpPr txBox="1"/>
              <p:nvPr/>
            </p:nvSpPr>
            <p:spPr>
              <a:xfrm>
                <a:off x="190500" y="0"/>
                <a:ext cx="457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PURPOSE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30"/>
              <p:cNvSpPr txBox="1"/>
              <p:nvPr/>
            </p:nvSpPr>
            <p:spPr>
              <a:xfrm>
                <a:off x="190500" y="333375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Automatically reads the </a:t>
                </a: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.env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 file and loads key-value pairs into the OS environment variables.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507" name="Google Shape;507;p30"/>
          <p:cNvGrpSpPr/>
          <p:nvPr/>
        </p:nvGrpSpPr>
        <p:grpSpPr>
          <a:xfrm>
            <a:off x="6286500" y="1428750"/>
            <a:ext cx="5143500" cy="3476625"/>
            <a:chOff x="0" y="0"/>
            <a:chExt cx="5143500" cy="3476625"/>
          </a:xfrm>
        </p:grpSpPr>
        <p:grpSp>
          <p:nvGrpSpPr>
            <p:cNvPr id="508" name="Google Shape;508;p30"/>
            <p:cNvGrpSpPr/>
            <p:nvPr/>
          </p:nvGrpSpPr>
          <p:grpSpPr>
            <a:xfrm>
              <a:off x="0" y="0"/>
              <a:ext cx="5143500" cy="2893200"/>
              <a:chOff x="0" y="0"/>
              <a:chExt cx="5143500" cy="2893200"/>
            </a:xfrm>
          </p:grpSpPr>
          <p:sp>
            <p:nvSpPr>
              <p:cNvPr id="509" name="Google Shape;509;p30"/>
              <p:cNvSpPr/>
              <p:nvPr/>
            </p:nvSpPr>
            <p:spPr>
              <a:xfrm>
                <a:off x="0" y="0"/>
                <a:ext cx="5143500" cy="2893200"/>
              </a:xfrm>
              <a:prstGeom prst="roundRect">
                <a:avLst>
                  <a:gd fmla="val 395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10" name="Google Shape;510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5143500" cy="2893200"/>
              </a:xfrm>
              <a:prstGeom prst="roundRect">
                <a:avLst>
                  <a:gd fmla="val 3950" name="adj"/>
                </a:avLst>
              </a:prstGeom>
              <a:noFill/>
              <a:ln>
                <a:noFill/>
              </a:ln>
            </p:spPr>
          </p:pic>
        </p:grpSp>
        <p:sp>
          <p:nvSpPr>
            <p:cNvPr id="511" name="Google Shape;511;p30"/>
            <p:cNvSpPr txBox="1"/>
            <p:nvPr/>
          </p:nvSpPr>
          <p:spPr>
            <a:xfrm>
              <a:off x="0" y="3095625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Visual representation of .env integration within the Python ecosystem.</a:t>
              </a:r>
              <a:endParaRPr b="0" i="1"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2" name="Google Shape;512;p30"/>
          <p:cNvSpPr txBox="1"/>
          <p:nvPr/>
        </p:nvSpPr>
        <p:spPr>
          <a:xfrm>
            <a:off x="762000" y="61341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1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Reading .env Variables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1"/>
          <p:cNvSpPr txBox="1"/>
          <p:nvPr/>
        </p:nvSpPr>
        <p:spPr>
          <a:xfrm>
            <a:off x="762000" y="1381125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Accessing your secure configurations within your Python code.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22" name="Google Shape;522;p31"/>
          <p:cNvGrpSpPr/>
          <p:nvPr/>
        </p:nvGrpSpPr>
        <p:grpSpPr>
          <a:xfrm>
            <a:off x="762000" y="1905000"/>
            <a:ext cx="10668000" cy="3810000"/>
            <a:chOff x="0" y="0"/>
            <a:chExt cx="10668000" cy="3810000"/>
          </a:xfrm>
        </p:grpSpPr>
        <p:sp>
          <p:nvSpPr>
            <p:cNvPr id="523" name="Google Shape;523;p31"/>
            <p:cNvSpPr/>
            <p:nvPr/>
          </p:nvSpPr>
          <p:spPr>
            <a:xfrm>
              <a:off x="0" y="0"/>
              <a:ext cx="10668000" cy="3810000"/>
            </a:xfrm>
            <a:prstGeom prst="roundRect">
              <a:avLst>
                <a:gd fmla="val 2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0" y="0"/>
              <a:ext cx="76200" cy="3810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 txBox="1"/>
            <p:nvPr/>
          </p:nvSpPr>
          <p:spPr>
            <a:xfrm>
              <a:off x="381000" y="285750"/>
              <a:ext cx="990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EXAMPLE CODE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6" name="Google Shape;526;p31"/>
            <p:cNvSpPr txBox="1"/>
            <p:nvPr/>
          </p:nvSpPr>
          <p:spPr>
            <a:xfrm>
              <a:off x="381000" y="666750"/>
              <a:ext cx="990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import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os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from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dotenv </a:t>
              </a: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import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load_dotenv</a:t>
              </a:r>
              <a:endParaRPr/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Load variables from .env</a:t>
              </a:r>
              <a:endParaRPr b="0" sz="11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load_dotenv()</a:t>
              </a:r>
              <a:endParaRPr/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Retrieve the value</a:t>
              </a:r>
              <a:endParaRPr b="0" sz="11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api_key = os.getenv(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"API_KEY"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print(api_key)</a:t>
              </a:r>
              <a:endParaRPr/>
            </a:p>
          </p:txBody>
        </p:sp>
      </p:grpSp>
      <p:sp>
        <p:nvSpPr>
          <p:cNvPr id="527" name="Google Shape;527;p31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2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Benefits of .env Files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32"/>
          <p:cNvGrpSpPr/>
          <p:nvPr/>
        </p:nvGrpSpPr>
        <p:grpSpPr>
          <a:xfrm>
            <a:off x="762000" y="1524000"/>
            <a:ext cx="4857750" cy="3095775"/>
            <a:chOff x="0" y="0"/>
            <a:chExt cx="4857750" cy="3095775"/>
          </a:xfrm>
        </p:grpSpPr>
        <p:grpSp>
          <p:nvGrpSpPr>
            <p:cNvPr id="537" name="Google Shape;537;p32"/>
            <p:cNvGrpSpPr/>
            <p:nvPr/>
          </p:nvGrpSpPr>
          <p:grpSpPr>
            <a:xfrm>
              <a:off x="0" y="0"/>
              <a:ext cx="4857750" cy="666900"/>
              <a:chOff x="0" y="0"/>
              <a:chExt cx="4857750" cy="6669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32"/>
              <p:cNvSpPr txBox="1"/>
              <p:nvPr/>
            </p:nvSpPr>
            <p:spPr>
              <a:xfrm>
                <a:off x="285750" y="0"/>
                <a:ext cx="4572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Security: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Sensitive data kept out of version control.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40" name="Google Shape;540;p32"/>
            <p:cNvGrpSpPr/>
            <p:nvPr/>
          </p:nvGrpSpPr>
          <p:grpSpPr>
            <a:xfrm>
              <a:off x="0" y="809625"/>
              <a:ext cx="4857750" cy="666900"/>
              <a:chOff x="0" y="0"/>
              <a:chExt cx="4857750" cy="666900"/>
            </a:xfrm>
          </p:grpSpPr>
          <p:sp>
            <p:nvSpPr>
              <p:cNvPr id="541" name="Google Shape;541;p32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2"/>
              <p:cNvSpPr txBox="1"/>
              <p:nvPr/>
            </p:nvSpPr>
            <p:spPr>
              <a:xfrm>
                <a:off x="285750" y="0"/>
                <a:ext cx="4572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Cleaner Code: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Configuration separated from logic.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43" name="Google Shape;543;p32"/>
            <p:cNvGrpSpPr/>
            <p:nvPr/>
          </p:nvGrpSpPr>
          <p:grpSpPr>
            <a:xfrm>
              <a:off x="0" y="1619250"/>
              <a:ext cx="4857750" cy="666900"/>
              <a:chOff x="0" y="0"/>
              <a:chExt cx="4857750" cy="666900"/>
            </a:xfrm>
          </p:grpSpPr>
          <p:sp>
            <p:nvSpPr>
              <p:cNvPr id="544" name="Google Shape;544;p32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2"/>
              <p:cNvSpPr txBox="1"/>
              <p:nvPr/>
            </p:nvSpPr>
            <p:spPr>
              <a:xfrm>
                <a:off x="285750" y="0"/>
                <a:ext cx="4572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Environment Switching: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Easily swap between Dev, Testing, and Production settings.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546" name="Google Shape;546;p32"/>
            <p:cNvGrpSpPr/>
            <p:nvPr/>
          </p:nvGrpSpPr>
          <p:grpSpPr>
            <a:xfrm>
              <a:off x="0" y="2428875"/>
              <a:ext cx="4857750" cy="666900"/>
              <a:chOff x="0" y="0"/>
              <a:chExt cx="4857750" cy="666900"/>
            </a:xfrm>
          </p:grpSpPr>
          <p:sp>
            <p:nvSpPr>
              <p:cNvPr id="547" name="Google Shape;547;p32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32"/>
              <p:cNvSpPr txBox="1"/>
              <p:nvPr/>
            </p:nvSpPr>
            <p:spPr>
              <a:xfrm>
                <a:off x="285750" y="0"/>
                <a:ext cx="4572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Deployment: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Aligns with modern cloud standards.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549" name="Google Shape;549;p32"/>
          <p:cNvGrpSpPr/>
          <p:nvPr/>
        </p:nvGrpSpPr>
        <p:grpSpPr>
          <a:xfrm>
            <a:off x="6286500" y="1524000"/>
            <a:ext cx="5143500" cy="4000575"/>
            <a:chOff x="0" y="0"/>
            <a:chExt cx="5143500" cy="4000575"/>
          </a:xfrm>
        </p:grpSpPr>
        <p:grpSp>
          <p:nvGrpSpPr>
            <p:cNvPr id="550" name="Google Shape;550;p32"/>
            <p:cNvGrpSpPr/>
            <p:nvPr/>
          </p:nvGrpSpPr>
          <p:grpSpPr>
            <a:xfrm>
              <a:off x="0" y="0"/>
              <a:ext cx="5143500" cy="3619500"/>
              <a:chOff x="0" y="0"/>
              <a:chExt cx="5143500" cy="3619500"/>
            </a:xfrm>
          </p:grpSpPr>
          <p:sp>
            <p:nvSpPr>
              <p:cNvPr id="551" name="Google Shape;551;p32"/>
              <p:cNvSpPr/>
              <p:nvPr/>
            </p:nvSpPr>
            <p:spPr>
              <a:xfrm>
                <a:off x="0" y="0"/>
                <a:ext cx="5143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52" name="Google Shape;552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9920" r="10144" t="0"/>
              <a:stretch/>
            </p:blipFill>
            <p:spPr>
              <a:xfrm>
                <a:off x="0" y="0"/>
                <a:ext cx="5143500" cy="3619500"/>
              </a:xfrm>
              <a:prstGeom prst="roundRect">
                <a:avLst>
                  <a:gd fmla="val 3157" name="adj"/>
                </a:avLst>
              </a:prstGeom>
              <a:noFill/>
              <a:ln>
                <a:noFill/>
              </a:ln>
            </p:spPr>
          </p:pic>
        </p:grpSp>
        <p:sp>
          <p:nvSpPr>
            <p:cNvPr id="553" name="Google Shape;553;p32"/>
            <p:cNvSpPr txBox="1"/>
            <p:nvPr/>
          </p:nvSpPr>
          <p:spPr>
            <a:xfrm>
              <a:off x="0" y="3762375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Environment Control Panel Illustration</a:t>
              </a:r>
              <a:endParaRPr b="1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54" name="Google Shape;554;p32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Introduction to File Handling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3" name="Google Shape;563;p33"/>
          <p:cNvGrpSpPr/>
          <p:nvPr/>
        </p:nvGrpSpPr>
        <p:grpSpPr>
          <a:xfrm>
            <a:off x="762000" y="1524000"/>
            <a:ext cx="5143650" cy="3095625"/>
            <a:chOff x="0" y="0"/>
            <a:chExt cx="5143650" cy="3095625"/>
          </a:xfrm>
        </p:grpSpPr>
        <p:sp>
          <p:nvSpPr>
            <p:cNvPr id="564" name="Google Shape;564;p33"/>
            <p:cNvSpPr txBox="1"/>
            <p:nvPr/>
          </p:nvSpPr>
          <p:spPr>
            <a:xfrm>
              <a:off x="0" y="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Managing persistent data within Python applications.</a:t>
              </a:r>
              <a:endParaRPr b="0" sz="148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565" name="Google Shape;565;p33"/>
            <p:cNvGrpSpPr/>
            <p:nvPr/>
          </p:nvGrpSpPr>
          <p:grpSpPr>
            <a:xfrm>
              <a:off x="0" y="666750"/>
              <a:ext cx="5143500" cy="238200"/>
              <a:chOff x="0" y="0"/>
              <a:chExt cx="5143500" cy="238200"/>
            </a:xfrm>
          </p:grpSpPr>
          <p:sp>
            <p:nvSpPr>
              <p:cNvPr id="566" name="Google Shape;566;p33"/>
              <p:cNvSpPr/>
              <p:nvPr/>
            </p:nvSpPr>
            <p:spPr>
              <a:xfrm>
                <a:off x="0" y="0"/>
                <a:ext cx="38100" cy="2382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3"/>
              <p:cNvSpPr txBox="1"/>
              <p:nvPr/>
            </p:nvSpPr>
            <p:spPr>
              <a:xfrm>
                <a:off x="190500" y="0"/>
                <a:ext cx="495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Core Capabilities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68" name="Google Shape;568;p33"/>
            <p:cNvGrpSpPr/>
            <p:nvPr/>
          </p:nvGrpSpPr>
          <p:grpSpPr>
            <a:xfrm>
              <a:off x="0" y="1143000"/>
              <a:ext cx="5143650" cy="1952625"/>
              <a:chOff x="0" y="0"/>
              <a:chExt cx="5143650" cy="1952625"/>
            </a:xfrm>
          </p:grpSpPr>
          <p:grpSp>
            <p:nvGrpSpPr>
              <p:cNvPr id="569" name="Google Shape;569;p33"/>
              <p:cNvGrpSpPr/>
              <p:nvPr/>
            </p:nvGrpSpPr>
            <p:grpSpPr>
              <a:xfrm>
                <a:off x="0" y="0"/>
                <a:ext cx="5143650" cy="381000"/>
                <a:chOff x="0" y="0"/>
                <a:chExt cx="5143650" cy="381000"/>
              </a:xfrm>
            </p:grpSpPr>
            <p:sp>
              <p:nvSpPr>
                <p:cNvPr id="570" name="Google Shape;570;p33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33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Store data permanently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572" name="Google Shape;572;p33"/>
              <p:cNvGrpSpPr/>
              <p:nvPr/>
            </p:nvGrpSpPr>
            <p:grpSpPr>
              <a:xfrm>
                <a:off x="0" y="523875"/>
                <a:ext cx="5143650" cy="381000"/>
                <a:chOff x="0" y="0"/>
                <a:chExt cx="5143650" cy="381000"/>
              </a:xfrm>
            </p:grpSpPr>
            <p:sp>
              <p:nvSpPr>
                <p:cNvPr id="573" name="Google Shape;573;p33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33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Read existing information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575" name="Google Shape;575;p33"/>
              <p:cNvGrpSpPr/>
              <p:nvPr/>
            </p:nvGrpSpPr>
            <p:grpSpPr>
              <a:xfrm>
                <a:off x="0" y="1047750"/>
                <a:ext cx="5143650" cy="381000"/>
                <a:chOff x="0" y="0"/>
                <a:chExt cx="5143650" cy="381000"/>
              </a:xfrm>
            </p:grpSpPr>
            <p:sp>
              <p:nvSpPr>
                <p:cNvPr id="576" name="Google Shape;576;p33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33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Create automated reports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578" name="Google Shape;578;p33"/>
              <p:cNvGrpSpPr/>
              <p:nvPr/>
            </p:nvGrpSpPr>
            <p:grpSpPr>
              <a:xfrm>
                <a:off x="0" y="1571625"/>
                <a:ext cx="5143650" cy="381000"/>
                <a:chOff x="0" y="0"/>
                <a:chExt cx="5143650" cy="381000"/>
              </a:xfrm>
            </p:grpSpPr>
            <p:sp>
              <p:nvSpPr>
                <p:cNvPr id="579" name="Google Shape;579;p33"/>
                <p:cNvSpPr/>
                <p:nvPr/>
              </p:nvSpPr>
              <p:spPr>
                <a:xfrm>
                  <a:off x="0" y="762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33"/>
                <p:cNvSpPr txBox="1"/>
                <p:nvPr/>
              </p:nvSpPr>
              <p:spPr>
                <a:xfrm>
                  <a:off x="285750" y="0"/>
                  <a:ext cx="4857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Process text and logs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581" name="Google Shape;581;p33"/>
          <p:cNvGrpSpPr/>
          <p:nvPr/>
        </p:nvGrpSpPr>
        <p:grpSpPr>
          <a:xfrm>
            <a:off x="6286500" y="1524000"/>
            <a:ext cx="5143500" cy="4572000"/>
            <a:chOff x="0" y="0"/>
            <a:chExt cx="5143500" cy="4572000"/>
          </a:xfrm>
        </p:grpSpPr>
        <p:sp>
          <p:nvSpPr>
            <p:cNvPr id="582" name="Google Shape;582;p33"/>
            <p:cNvSpPr/>
            <p:nvPr/>
          </p:nvSpPr>
          <p:spPr>
            <a:xfrm>
              <a:off x="0" y="0"/>
              <a:ext cx="5143500" cy="3838500"/>
            </a:xfrm>
            <a:prstGeom prst="roundRect">
              <a:avLst>
                <a:gd fmla="val 297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3" name="Google Shape;583;p33"/>
            <p:cNvPicPr preferRelativeResize="0"/>
            <p:nvPr/>
          </p:nvPicPr>
          <p:blipFill rotWithShape="1">
            <a:blip r:embed="rId3">
              <a:alphaModFix/>
            </a:blip>
            <a:srcRect b="30" l="0" r="0" t="20"/>
            <a:stretch/>
          </p:blipFill>
          <p:spPr>
            <a:xfrm>
              <a:off x="0" y="0"/>
              <a:ext cx="5143500" cy="3838500"/>
            </a:xfrm>
            <a:prstGeom prst="roundRect">
              <a:avLst>
                <a:gd fmla="val 2977" name="adj"/>
              </a:avLst>
            </a:prstGeom>
            <a:noFill/>
            <a:ln>
              <a:noFill/>
            </a:ln>
          </p:spPr>
        </p:pic>
        <p:sp>
          <p:nvSpPr>
            <p:cNvPr id="584" name="Google Shape;584;p33"/>
            <p:cNvSpPr/>
            <p:nvPr/>
          </p:nvSpPr>
          <p:spPr>
            <a:xfrm>
              <a:off x="0" y="4000500"/>
              <a:ext cx="38100" cy="5715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3"/>
            <p:cNvSpPr txBox="1"/>
            <p:nvPr/>
          </p:nvSpPr>
          <p:spPr>
            <a:xfrm>
              <a:off x="190500" y="40005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"Persistence is the ability of data to outlive the execution of the program that created it."</a:t>
              </a:r>
              <a:endParaRPr b="0" i="1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86" name="Google Shape;586;p33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Opening Files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4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762000" y="13811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Use the built-in </a:t>
            </a:r>
            <a:r>
              <a:rPr b="0" lang="en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open()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function to interact with files.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97" name="Google Shape;597;p34"/>
          <p:cNvGrpSpPr/>
          <p:nvPr/>
        </p:nvGrpSpPr>
        <p:grpSpPr>
          <a:xfrm>
            <a:off x="762000" y="1905000"/>
            <a:ext cx="10668000" cy="952500"/>
            <a:chOff x="0" y="0"/>
            <a:chExt cx="10668000" cy="952500"/>
          </a:xfrm>
        </p:grpSpPr>
        <p:sp>
          <p:nvSpPr>
            <p:cNvPr id="598" name="Google Shape;598;p34"/>
            <p:cNvSpPr/>
            <p:nvPr/>
          </p:nvSpPr>
          <p:spPr>
            <a:xfrm>
              <a:off x="0" y="0"/>
              <a:ext cx="10668000" cy="952500"/>
            </a:xfrm>
            <a:prstGeom prst="roundRect">
              <a:avLst>
                <a:gd fmla="val 8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 txBox="1"/>
            <p:nvPr/>
          </p:nvSpPr>
          <p:spPr>
            <a:xfrm>
              <a:off x="238125" y="142875"/>
              <a:ext cx="10191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0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file = </a:t>
              </a: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open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(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"sample.txt"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"r"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601" name="Google Shape;601;p34"/>
          <p:cNvSpPr txBox="1"/>
          <p:nvPr/>
        </p:nvSpPr>
        <p:spPr>
          <a:xfrm>
            <a:off x="762000" y="309562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PRIMARY MODES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02" name="Google Shape;602;p34"/>
          <p:cNvGrpSpPr/>
          <p:nvPr/>
        </p:nvGrpSpPr>
        <p:grpSpPr>
          <a:xfrm>
            <a:off x="762000" y="3476625"/>
            <a:ext cx="10668000" cy="2714775"/>
            <a:chOff x="0" y="0"/>
            <a:chExt cx="10668000" cy="2714775"/>
          </a:xfrm>
        </p:grpSpPr>
        <p:sp>
          <p:nvSpPr>
            <p:cNvPr id="603" name="Google Shape;603;p34"/>
            <p:cNvSpPr/>
            <p:nvPr/>
          </p:nvSpPr>
          <p:spPr>
            <a:xfrm>
              <a:off x="0" y="0"/>
              <a:ext cx="10668000" cy="428700"/>
            </a:xfrm>
            <a:prstGeom prst="roundRect">
              <a:avLst>
                <a:gd fmla="val 8888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4"/>
            <p:cNvSpPr txBox="1"/>
            <p:nvPr/>
          </p:nvSpPr>
          <p:spPr>
            <a:xfrm>
              <a:off x="190500" y="0"/>
              <a:ext cx="190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5" name="Google Shape;605;p34"/>
            <p:cNvSpPr txBox="1"/>
            <p:nvPr/>
          </p:nvSpPr>
          <p:spPr>
            <a:xfrm>
              <a:off x="2286000" y="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DESCRIPTION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06" name="Google Shape;606;p34"/>
            <p:cNvGrpSpPr/>
            <p:nvPr/>
          </p:nvGrpSpPr>
          <p:grpSpPr>
            <a:xfrm>
              <a:off x="0" y="523875"/>
              <a:ext cx="10668000" cy="476400"/>
              <a:chOff x="0" y="0"/>
              <a:chExt cx="10668000" cy="476400"/>
            </a:xfrm>
          </p:grpSpPr>
          <p:sp>
            <p:nvSpPr>
              <p:cNvPr id="607" name="Google Shape;607;p34"/>
              <p:cNvSpPr/>
              <p:nvPr/>
            </p:nvSpPr>
            <p:spPr>
              <a:xfrm>
                <a:off x="0" y="0"/>
                <a:ext cx="10668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4"/>
              <p:cNvSpPr txBox="1"/>
              <p:nvPr/>
            </p:nvSpPr>
            <p:spPr>
              <a:xfrm>
                <a:off x="190500" y="0"/>
                <a:ext cx="1905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"r"</a:t>
                </a:r>
                <a:endParaRPr b="1" sz="15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9" name="Google Shape;609;p34"/>
              <p:cNvSpPr txBox="1"/>
              <p:nvPr/>
            </p:nvSpPr>
            <p:spPr>
              <a:xfrm>
                <a:off x="2286000" y="0"/>
                <a:ext cx="8191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Read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(Default Mode)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10" name="Google Shape;610;p34"/>
            <p:cNvGrpSpPr/>
            <p:nvPr/>
          </p:nvGrpSpPr>
          <p:grpSpPr>
            <a:xfrm>
              <a:off x="0" y="1095375"/>
              <a:ext cx="10668000" cy="476400"/>
              <a:chOff x="0" y="0"/>
              <a:chExt cx="10668000" cy="476400"/>
            </a:xfrm>
          </p:grpSpPr>
          <p:sp>
            <p:nvSpPr>
              <p:cNvPr id="611" name="Google Shape;611;p34"/>
              <p:cNvSpPr/>
              <p:nvPr/>
            </p:nvSpPr>
            <p:spPr>
              <a:xfrm>
                <a:off x="0" y="0"/>
                <a:ext cx="10668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4"/>
              <p:cNvSpPr txBox="1"/>
              <p:nvPr/>
            </p:nvSpPr>
            <p:spPr>
              <a:xfrm>
                <a:off x="190500" y="0"/>
                <a:ext cx="1905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"w"</a:t>
                </a:r>
                <a:endParaRPr b="1" sz="15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3" name="Google Shape;613;p34"/>
              <p:cNvSpPr txBox="1"/>
              <p:nvPr/>
            </p:nvSpPr>
            <p:spPr>
              <a:xfrm>
                <a:off x="2286000" y="0"/>
                <a:ext cx="8191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Write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(Overwrites existing content)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14" name="Google Shape;614;p34"/>
            <p:cNvGrpSpPr/>
            <p:nvPr/>
          </p:nvGrpSpPr>
          <p:grpSpPr>
            <a:xfrm>
              <a:off x="0" y="1666875"/>
              <a:ext cx="10668000" cy="476400"/>
              <a:chOff x="0" y="0"/>
              <a:chExt cx="10668000" cy="476400"/>
            </a:xfrm>
          </p:grpSpPr>
          <p:sp>
            <p:nvSpPr>
              <p:cNvPr id="615" name="Google Shape;615;p34"/>
              <p:cNvSpPr/>
              <p:nvPr/>
            </p:nvSpPr>
            <p:spPr>
              <a:xfrm>
                <a:off x="0" y="0"/>
                <a:ext cx="10668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4"/>
              <p:cNvSpPr txBox="1"/>
              <p:nvPr/>
            </p:nvSpPr>
            <p:spPr>
              <a:xfrm>
                <a:off x="190500" y="0"/>
                <a:ext cx="1905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"a"</a:t>
                </a:r>
                <a:endParaRPr b="1" sz="15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34"/>
              <p:cNvSpPr txBox="1"/>
              <p:nvPr/>
            </p:nvSpPr>
            <p:spPr>
              <a:xfrm>
                <a:off x="2286000" y="0"/>
                <a:ext cx="8191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Append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(Adds to the end of the file)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18" name="Google Shape;618;p34"/>
            <p:cNvGrpSpPr/>
            <p:nvPr/>
          </p:nvGrpSpPr>
          <p:grpSpPr>
            <a:xfrm>
              <a:off x="0" y="2238375"/>
              <a:ext cx="10668000" cy="476400"/>
              <a:chOff x="0" y="0"/>
              <a:chExt cx="10668000" cy="476400"/>
            </a:xfrm>
          </p:grpSpPr>
          <p:sp>
            <p:nvSpPr>
              <p:cNvPr id="619" name="Google Shape;619;p34"/>
              <p:cNvSpPr/>
              <p:nvPr/>
            </p:nvSpPr>
            <p:spPr>
              <a:xfrm>
                <a:off x="0" y="0"/>
                <a:ext cx="10668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4"/>
              <p:cNvSpPr txBox="1"/>
              <p:nvPr/>
            </p:nvSpPr>
            <p:spPr>
              <a:xfrm>
                <a:off x="190500" y="0"/>
                <a:ext cx="1905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"x"</a:t>
                </a:r>
                <a:endParaRPr b="1" sz="15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1" name="Google Shape;621;p34"/>
              <p:cNvSpPr txBox="1"/>
              <p:nvPr/>
            </p:nvSpPr>
            <p:spPr>
              <a:xfrm>
                <a:off x="2286000" y="0"/>
                <a:ext cx="8191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Create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(Creates new file; fails if exists)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Reading Files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5"/>
          <p:cNvSpPr txBox="1"/>
          <p:nvPr/>
        </p:nvSpPr>
        <p:spPr>
          <a:xfrm>
            <a:off x="762000" y="142875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Extracting data from an opened text file.</a:t>
            </a:r>
            <a:endParaRPr b="0" sz="16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31" name="Google Shape;631;p35"/>
          <p:cNvGrpSpPr/>
          <p:nvPr/>
        </p:nvGrpSpPr>
        <p:grpSpPr>
          <a:xfrm>
            <a:off x="762000" y="2095500"/>
            <a:ext cx="5715000" cy="1905000"/>
            <a:chOff x="0" y="0"/>
            <a:chExt cx="5715000" cy="1905000"/>
          </a:xfrm>
        </p:grpSpPr>
        <p:sp>
          <p:nvSpPr>
            <p:cNvPr id="632" name="Google Shape;632;p35"/>
            <p:cNvSpPr/>
            <p:nvPr/>
          </p:nvSpPr>
          <p:spPr>
            <a:xfrm>
              <a:off x="0" y="0"/>
              <a:ext cx="5715000" cy="1905000"/>
            </a:xfrm>
            <a:prstGeom prst="roundRect">
              <a:avLst>
                <a:gd fmla="val 4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5"/>
            <p:cNvSpPr/>
            <p:nvPr/>
          </p:nvSpPr>
          <p:spPr>
            <a:xfrm>
              <a:off x="0" y="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5"/>
            <p:cNvSpPr txBox="1"/>
            <p:nvPr/>
          </p:nvSpPr>
          <p:spPr>
            <a:xfrm>
              <a:off x="238125" y="190500"/>
              <a:ext cx="5238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file = open(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"sample.txt"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"r"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content = file.read()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print(content)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file.close()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5" name="Google Shape;635;p35"/>
          <p:cNvGrpSpPr/>
          <p:nvPr/>
        </p:nvGrpSpPr>
        <p:grpSpPr>
          <a:xfrm>
            <a:off x="762000" y="4381500"/>
            <a:ext cx="10477500" cy="952500"/>
            <a:chOff x="0" y="0"/>
            <a:chExt cx="10477500" cy="952500"/>
          </a:xfrm>
        </p:grpSpPr>
        <p:sp>
          <p:nvSpPr>
            <p:cNvPr id="636" name="Google Shape;636;p35"/>
            <p:cNvSpPr/>
            <p:nvPr/>
          </p:nvSpPr>
          <p:spPr>
            <a:xfrm>
              <a:off x="0" y="0"/>
              <a:ext cx="38100" cy="9525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5"/>
            <p:cNvSpPr txBox="1"/>
            <p:nvPr/>
          </p:nvSpPr>
          <p:spPr>
            <a:xfrm>
              <a:off x="190500" y="0"/>
              <a:ext cx="1028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NOTE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8" name="Google Shape;638;p35"/>
            <p:cNvSpPr txBox="1"/>
            <p:nvPr/>
          </p:nvSpPr>
          <p:spPr>
            <a:xfrm>
              <a:off x="190500" y="238125"/>
              <a:ext cx="10287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Always remember to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close()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the file to free system resources.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39" name="Google Shape;639;p3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Writing and Appending Files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6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File Handling Modes in Python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49" name="Google Shape;649;p36"/>
          <p:cNvSpPr/>
          <p:nvPr/>
        </p:nvSpPr>
        <p:spPr>
          <a:xfrm>
            <a:off x="6086475" y="1714500"/>
            <a:ext cx="19200" cy="3619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36"/>
          <p:cNvGrpSpPr/>
          <p:nvPr/>
        </p:nvGrpSpPr>
        <p:grpSpPr>
          <a:xfrm>
            <a:off x="762000" y="1809750"/>
            <a:ext cx="4953000" cy="2667000"/>
            <a:chOff x="0" y="0"/>
            <a:chExt cx="4953000" cy="2667000"/>
          </a:xfrm>
        </p:grpSpPr>
        <p:sp>
          <p:nvSpPr>
            <p:cNvPr id="651" name="Google Shape;651;p36"/>
            <p:cNvSpPr txBox="1"/>
            <p:nvPr/>
          </p:nvSpPr>
          <p:spPr>
            <a:xfrm>
              <a:off x="0" y="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Write Mode (</a:t>
              </a: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"w"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):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Overwrites existing content.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52" name="Google Shape;652;p36"/>
            <p:cNvGrpSpPr/>
            <p:nvPr/>
          </p:nvGrpSpPr>
          <p:grpSpPr>
            <a:xfrm>
              <a:off x="0" y="571500"/>
              <a:ext cx="4953000" cy="2095500"/>
              <a:chOff x="0" y="0"/>
              <a:chExt cx="4953000" cy="2095500"/>
            </a:xfrm>
          </p:grpSpPr>
          <p:grpSp>
            <p:nvGrpSpPr>
              <p:cNvPr id="653" name="Google Shape;653;p36"/>
              <p:cNvGrpSpPr/>
              <p:nvPr/>
            </p:nvGrpSpPr>
            <p:grpSpPr>
              <a:xfrm>
                <a:off x="0" y="0"/>
                <a:ext cx="4953000" cy="2095500"/>
                <a:chOff x="0" y="0"/>
                <a:chExt cx="4953000" cy="2095500"/>
              </a:xfrm>
            </p:grpSpPr>
            <p:sp>
              <p:nvSpPr>
                <p:cNvPr id="654" name="Google Shape;654;p36"/>
                <p:cNvSpPr/>
                <p:nvPr/>
              </p:nvSpPr>
              <p:spPr>
                <a:xfrm>
                  <a:off x="0" y="0"/>
                  <a:ext cx="4953000" cy="2095500"/>
                </a:xfrm>
                <a:prstGeom prst="roundRect">
                  <a:avLst>
                    <a:gd fmla="val 3636" name="adj"/>
                  </a:avLst>
                </a:prstGeom>
                <a:solidFill>
                  <a:srgbClr val="F1F5F9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36"/>
                <p:cNvSpPr/>
                <p:nvPr/>
              </p:nvSpPr>
              <p:spPr>
                <a:xfrm>
                  <a:off x="0" y="0"/>
                  <a:ext cx="57300" cy="2095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56" name="Google Shape;656;p36"/>
              <p:cNvSpPr txBox="1"/>
              <p:nvPr/>
            </p:nvSpPr>
            <p:spPr>
              <a:xfrm>
                <a:off x="238125" y="190500"/>
                <a:ext cx="44769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file = open(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"data.txt"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, 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"w"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file.write(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"New content\n"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file.close()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Creates new file or clears existing</a:t>
                </a:r>
                <a:endParaRPr b="0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657" name="Google Shape;657;p36"/>
          <p:cNvGrpSpPr/>
          <p:nvPr/>
        </p:nvGrpSpPr>
        <p:grpSpPr>
          <a:xfrm>
            <a:off x="6477000" y="1809750"/>
            <a:ext cx="4953000" cy="2667000"/>
            <a:chOff x="0" y="0"/>
            <a:chExt cx="4953000" cy="2667000"/>
          </a:xfrm>
        </p:grpSpPr>
        <p:sp>
          <p:nvSpPr>
            <p:cNvPr id="658" name="Google Shape;658;p36"/>
            <p:cNvSpPr txBox="1"/>
            <p:nvPr/>
          </p:nvSpPr>
          <p:spPr>
            <a:xfrm>
              <a:off x="0" y="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Append Mode (</a:t>
              </a:r>
              <a:r>
                <a:rPr b="1" lang="en" sz="13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"a"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):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Adds to existing content.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59" name="Google Shape;659;p36"/>
            <p:cNvGrpSpPr/>
            <p:nvPr/>
          </p:nvGrpSpPr>
          <p:grpSpPr>
            <a:xfrm>
              <a:off x="0" y="571500"/>
              <a:ext cx="4953000" cy="2095500"/>
              <a:chOff x="0" y="0"/>
              <a:chExt cx="4953000" cy="2095500"/>
            </a:xfrm>
          </p:grpSpPr>
          <p:grpSp>
            <p:nvGrpSpPr>
              <p:cNvPr id="660" name="Google Shape;660;p36"/>
              <p:cNvGrpSpPr/>
              <p:nvPr/>
            </p:nvGrpSpPr>
            <p:grpSpPr>
              <a:xfrm>
                <a:off x="0" y="0"/>
                <a:ext cx="4953000" cy="2095500"/>
                <a:chOff x="0" y="0"/>
                <a:chExt cx="4953000" cy="2095500"/>
              </a:xfrm>
            </p:grpSpPr>
            <p:sp>
              <p:nvSpPr>
                <p:cNvPr id="661" name="Google Shape;661;p36"/>
                <p:cNvSpPr/>
                <p:nvPr/>
              </p:nvSpPr>
              <p:spPr>
                <a:xfrm>
                  <a:off x="0" y="0"/>
                  <a:ext cx="4953000" cy="2095500"/>
                </a:xfrm>
                <a:prstGeom prst="roundRect">
                  <a:avLst>
                    <a:gd fmla="val 3636" name="adj"/>
                  </a:avLst>
                </a:prstGeom>
                <a:solidFill>
                  <a:srgbClr val="F1F5F9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36"/>
                <p:cNvSpPr/>
                <p:nvPr/>
              </p:nvSpPr>
              <p:spPr>
                <a:xfrm>
                  <a:off x="0" y="0"/>
                  <a:ext cx="57300" cy="20955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63" name="Google Shape;663;p36"/>
              <p:cNvSpPr txBox="1"/>
              <p:nvPr/>
            </p:nvSpPr>
            <p:spPr>
              <a:xfrm>
                <a:off x="238125" y="190500"/>
                <a:ext cx="44769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file = open(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"data.txt"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, 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"a"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file.write(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"Additional line\n"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file.close()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Keeps existing data; adds at end</a:t>
                </a:r>
                <a:endParaRPr b="0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sp>
        <p:nvSpPr>
          <p:cNvPr id="664" name="Google Shape;664;p36"/>
          <p:cNvSpPr txBox="1"/>
          <p:nvPr/>
        </p:nvSpPr>
        <p:spPr>
          <a:xfrm>
            <a:off x="762000" y="61341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Using the with Statement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2" name="Google Shape;672;p3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3" name="Google Shape;673;p37"/>
          <p:cNvGrpSpPr/>
          <p:nvPr/>
        </p:nvGrpSpPr>
        <p:grpSpPr>
          <a:xfrm>
            <a:off x="762000" y="1524000"/>
            <a:ext cx="5143500" cy="2762250"/>
            <a:chOff x="0" y="0"/>
            <a:chExt cx="5143500" cy="2762250"/>
          </a:xfrm>
        </p:grpSpPr>
        <p:sp>
          <p:nvSpPr>
            <p:cNvPr id="674" name="Google Shape;674;p37"/>
            <p:cNvSpPr txBox="1"/>
            <p:nvPr/>
          </p:nvSpPr>
          <p:spPr>
            <a:xfrm>
              <a:off x="0" y="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EXAMPLE CODE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75" name="Google Shape;675;p37"/>
            <p:cNvSpPr txBox="1"/>
            <p:nvPr/>
          </p:nvSpPr>
          <p:spPr>
            <a:xfrm>
              <a:off x="0" y="333375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recommended, Pythonic approach to file handling.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6" name="Google Shape;676;p37"/>
            <p:cNvGrpSpPr/>
            <p:nvPr/>
          </p:nvGrpSpPr>
          <p:grpSpPr>
            <a:xfrm>
              <a:off x="0" y="857250"/>
              <a:ext cx="5143500" cy="1905000"/>
              <a:chOff x="0" y="0"/>
              <a:chExt cx="5143500" cy="1905000"/>
            </a:xfrm>
          </p:grpSpPr>
          <p:sp>
            <p:nvSpPr>
              <p:cNvPr id="677" name="Google Shape;677;p37"/>
              <p:cNvSpPr/>
              <p:nvPr/>
            </p:nvSpPr>
            <p:spPr>
              <a:xfrm>
                <a:off x="0" y="0"/>
                <a:ext cx="5143500" cy="1905000"/>
              </a:xfrm>
              <a:prstGeom prst="roundRect">
                <a:avLst>
                  <a:gd fmla="val 4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7"/>
              <p:cNvSpPr/>
              <p:nvPr/>
            </p:nvSpPr>
            <p:spPr>
              <a:xfrm>
                <a:off x="0" y="0"/>
                <a:ext cx="57300" cy="19050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7"/>
              <p:cNvSpPr txBox="1"/>
              <p:nvPr/>
            </p:nvSpPr>
            <p:spPr>
              <a:xfrm>
                <a:off x="238125" y="238125"/>
                <a:ext cx="46674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with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open(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"sample.txt"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, </a:t>
                </a: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"r"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) </a:t>
                </a: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as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file: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3810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content = file.read()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3810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print(content)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File is automatically closed here</a:t>
                </a:r>
                <a:endParaRPr b="0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680" name="Google Shape;680;p37"/>
          <p:cNvGrpSpPr/>
          <p:nvPr/>
        </p:nvGrpSpPr>
        <p:grpSpPr>
          <a:xfrm>
            <a:off x="6286500" y="1524000"/>
            <a:ext cx="5143500" cy="4191000"/>
            <a:chOff x="0" y="0"/>
            <a:chExt cx="5143500" cy="4191000"/>
          </a:xfrm>
        </p:grpSpPr>
        <p:sp>
          <p:nvSpPr>
            <p:cNvPr id="681" name="Google Shape;681;p37"/>
            <p:cNvSpPr txBox="1"/>
            <p:nvPr/>
          </p:nvSpPr>
          <p:spPr>
            <a:xfrm>
              <a:off x="0" y="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BENEFITS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2" name="Google Shape;682;p37"/>
            <p:cNvGrpSpPr/>
            <p:nvPr/>
          </p:nvGrpSpPr>
          <p:grpSpPr>
            <a:xfrm>
              <a:off x="0" y="333375"/>
              <a:ext cx="5143425" cy="1047900"/>
              <a:chOff x="0" y="0"/>
              <a:chExt cx="5143425" cy="1047900"/>
            </a:xfrm>
          </p:grpSpPr>
          <p:grpSp>
            <p:nvGrpSpPr>
              <p:cNvPr id="683" name="Google Shape;683;p37"/>
              <p:cNvGrpSpPr/>
              <p:nvPr/>
            </p:nvGrpSpPr>
            <p:grpSpPr>
              <a:xfrm>
                <a:off x="0" y="0"/>
                <a:ext cx="5143425" cy="285900"/>
                <a:chOff x="0" y="0"/>
                <a:chExt cx="5143425" cy="285900"/>
              </a:xfrm>
            </p:grpSpPr>
            <p:sp>
              <p:nvSpPr>
                <p:cNvPr id="684" name="Google Shape;684;p37"/>
                <p:cNvSpPr/>
                <p:nvPr/>
              </p:nvSpPr>
              <p:spPr>
                <a:xfrm>
                  <a:off x="0" y="381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37"/>
                <p:cNvSpPr txBox="1"/>
                <p:nvPr/>
              </p:nvSpPr>
              <p:spPr>
                <a:xfrm>
                  <a:off x="238125" y="0"/>
                  <a:ext cx="49053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Automatic Closure: </a:t>
                  </a:r>
                  <a:r>
                    <a:rPr b="0" lang="en" sz="1275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Ensures file is closed even if errors occur.</a:t>
                  </a:r>
                  <a:endParaRPr b="0" sz="1275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686" name="Google Shape;686;p37"/>
              <p:cNvGrpSpPr/>
              <p:nvPr/>
            </p:nvGrpSpPr>
            <p:grpSpPr>
              <a:xfrm>
                <a:off x="0" y="381000"/>
                <a:ext cx="5143425" cy="285900"/>
                <a:chOff x="0" y="0"/>
                <a:chExt cx="5143425" cy="285900"/>
              </a:xfrm>
            </p:grpSpPr>
            <p:sp>
              <p:nvSpPr>
                <p:cNvPr id="687" name="Google Shape;687;p37"/>
                <p:cNvSpPr/>
                <p:nvPr/>
              </p:nvSpPr>
              <p:spPr>
                <a:xfrm>
                  <a:off x="0" y="381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37"/>
                <p:cNvSpPr txBox="1"/>
                <p:nvPr/>
              </p:nvSpPr>
              <p:spPr>
                <a:xfrm>
                  <a:off x="238125" y="0"/>
                  <a:ext cx="49053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Cleaner Syntax: 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Reduces boilerplate and nested logic.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689" name="Google Shape;689;p37"/>
              <p:cNvGrpSpPr/>
              <p:nvPr/>
            </p:nvGrpSpPr>
            <p:grpSpPr>
              <a:xfrm>
                <a:off x="0" y="762000"/>
                <a:ext cx="5143425" cy="285900"/>
                <a:chOff x="0" y="0"/>
                <a:chExt cx="5143425" cy="285900"/>
              </a:xfrm>
            </p:grpSpPr>
            <p:sp>
              <p:nvSpPr>
                <p:cNvPr id="690" name="Google Shape;690;p37"/>
                <p:cNvSpPr/>
                <p:nvPr/>
              </p:nvSpPr>
              <p:spPr>
                <a:xfrm>
                  <a:off x="0" y="381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37"/>
                <p:cNvSpPr txBox="1"/>
                <p:nvPr/>
              </p:nvSpPr>
              <p:spPr>
                <a:xfrm>
                  <a:off x="238125" y="0"/>
                  <a:ext cx="49053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63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Memory Efficiency: </a:t>
                  </a:r>
                  <a:r>
                    <a:rPr b="0" lang="en" sz="1163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Prevents memory leaks from unclosed handlers.</a:t>
                  </a:r>
                  <a:endParaRPr b="0" sz="1163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692" name="Google Shape;692;p37"/>
            <p:cNvGrpSpPr/>
            <p:nvPr/>
          </p:nvGrpSpPr>
          <p:grpSpPr>
            <a:xfrm>
              <a:off x="0" y="1524000"/>
              <a:ext cx="5143500" cy="2667000"/>
              <a:chOff x="0" y="0"/>
              <a:chExt cx="5143500" cy="2667000"/>
            </a:xfrm>
          </p:grpSpPr>
          <p:sp>
            <p:nvSpPr>
              <p:cNvPr id="693" name="Google Shape;693;p37"/>
              <p:cNvSpPr/>
              <p:nvPr/>
            </p:nvSpPr>
            <p:spPr>
              <a:xfrm>
                <a:off x="0" y="0"/>
                <a:ext cx="5143500" cy="2667000"/>
              </a:xfrm>
              <a:prstGeom prst="roundRect">
                <a:avLst>
                  <a:gd fmla="val 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94" name="Google Shape;694;p37"/>
              <p:cNvPicPr preferRelativeResize="0"/>
              <p:nvPr/>
            </p:nvPicPr>
            <p:blipFill rotWithShape="1">
              <a:blip r:embed="rId3">
                <a:alphaModFix/>
              </a:blip>
              <a:srcRect b="3909" l="0" r="0" t="3909"/>
              <a:stretch/>
            </p:blipFill>
            <p:spPr>
              <a:xfrm>
                <a:off x="0" y="0"/>
                <a:ext cx="5143500" cy="2667000"/>
              </a:xfrm>
              <a:prstGeom prst="roundRect">
                <a:avLst>
                  <a:gd fmla="val 4285" name="adj"/>
                </a:avLst>
              </a:prstGeom>
              <a:noFill/>
              <a:ln>
                <a:noFill/>
              </a:ln>
            </p:spPr>
          </p:pic>
        </p:grpSp>
      </p:grpSp>
      <p:sp>
        <p:nvSpPr>
          <p:cNvPr id="695" name="Google Shape;695;p3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Summary and Best Practices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3" name="Google Shape;703;p3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4" name="Google Shape;704;p38"/>
          <p:cNvGrpSpPr/>
          <p:nvPr/>
        </p:nvGrpSpPr>
        <p:grpSpPr>
          <a:xfrm>
            <a:off x="762000" y="1524000"/>
            <a:ext cx="3295800" cy="2286000"/>
            <a:chOff x="0" y="0"/>
            <a:chExt cx="3295800" cy="2286000"/>
          </a:xfrm>
        </p:grpSpPr>
        <p:grpSp>
          <p:nvGrpSpPr>
            <p:cNvPr id="705" name="Google Shape;705;p38"/>
            <p:cNvGrpSpPr/>
            <p:nvPr/>
          </p:nvGrpSpPr>
          <p:grpSpPr>
            <a:xfrm>
              <a:off x="0" y="0"/>
              <a:ext cx="3295800" cy="2286000"/>
              <a:chOff x="0" y="0"/>
              <a:chExt cx="3295800" cy="2286000"/>
            </a:xfrm>
          </p:grpSpPr>
          <p:sp>
            <p:nvSpPr>
              <p:cNvPr id="706" name="Google Shape;706;p38"/>
              <p:cNvSpPr/>
              <p:nvPr/>
            </p:nvSpPr>
            <p:spPr>
              <a:xfrm>
                <a:off x="0" y="0"/>
                <a:ext cx="32958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8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8" name="Google Shape;708;p38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PACKAGE MANAGEMENT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9" name="Google Shape;709;p38"/>
            <p:cNvSpPr txBox="1"/>
            <p:nvPr/>
          </p:nvSpPr>
          <p:spPr>
            <a:xfrm>
              <a:off x="190500" y="619125"/>
              <a:ext cx="291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pip: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Track packages using </a:t>
              </a:r>
              <a:r>
                <a:rPr b="0" lang="en" sz="1300">
                  <a:solidFill>
                    <a:srgbClr val="045A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requirements.txt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10" name="Google Shape;710;p38"/>
          <p:cNvGrpSpPr/>
          <p:nvPr/>
        </p:nvGrpSpPr>
        <p:grpSpPr>
          <a:xfrm>
            <a:off x="4438650" y="1524000"/>
            <a:ext cx="3295800" cy="2286000"/>
            <a:chOff x="0" y="0"/>
            <a:chExt cx="3295800" cy="2286000"/>
          </a:xfrm>
        </p:grpSpPr>
        <p:grpSp>
          <p:nvGrpSpPr>
            <p:cNvPr id="711" name="Google Shape;711;p38"/>
            <p:cNvGrpSpPr/>
            <p:nvPr/>
          </p:nvGrpSpPr>
          <p:grpSpPr>
            <a:xfrm>
              <a:off x="0" y="0"/>
              <a:ext cx="3295800" cy="2286000"/>
              <a:chOff x="0" y="0"/>
              <a:chExt cx="3295800" cy="2286000"/>
            </a:xfrm>
          </p:grpSpPr>
          <p:sp>
            <p:nvSpPr>
              <p:cNvPr id="712" name="Google Shape;712;p38"/>
              <p:cNvSpPr/>
              <p:nvPr/>
            </p:nvSpPr>
            <p:spPr>
              <a:xfrm>
                <a:off x="0" y="0"/>
                <a:ext cx="32958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8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4" name="Google Shape;714;p38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SECURITY &amp; CONFIG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5" name="Google Shape;715;p38"/>
            <p:cNvSpPr txBox="1"/>
            <p:nvPr/>
          </p:nvSpPr>
          <p:spPr>
            <a:xfrm>
              <a:off x="190500" y="619125"/>
              <a:ext cx="291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.env Files: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Never hardcode secrets. Use </a:t>
              </a:r>
              <a:r>
                <a:rPr b="0" lang="en" sz="1300">
                  <a:solidFill>
                    <a:srgbClr val="045A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python-dotenv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16" name="Google Shape;716;p38"/>
          <p:cNvGrpSpPr/>
          <p:nvPr/>
        </p:nvGrpSpPr>
        <p:grpSpPr>
          <a:xfrm>
            <a:off x="8124825" y="1524000"/>
            <a:ext cx="3295800" cy="2286000"/>
            <a:chOff x="0" y="0"/>
            <a:chExt cx="3295800" cy="2286000"/>
          </a:xfrm>
        </p:grpSpPr>
        <p:grpSp>
          <p:nvGrpSpPr>
            <p:cNvPr id="717" name="Google Shape;717;p38"/>
            <p:cNvGrpSpPr/>
            <p:nvPr/>
          </p:nvGrpSpPr>
          <p:grpSpPr>
            <a:xfrm>
              <a:off x="0" y="0"/>
              <a:ext cx="3295800" cy="2286000"/>
              <a:chOff x="0" y="0"/>
              <a:chExt cx="3295800" cy="2286000"/>
            </a:xfrm>
          </p:grpSpPr>
          <p:sp>
            <p:nvSpPr>
              <p:cNvPr id="718" name="Google Shape;718;p38"/>
              <p:cNvSpPr/>
              <p:nvPr/>
            </p:nvSpPr>
            <p:spPr>
              <a:xfrm>
                <a:off x="0" y="0"/>
                <a:ext cx="3295800" cy="2286000"/>
              </a:xfrm>
              <a:prstGeom prst="roundRect">
                <a:avLst>
                  <a:gd fmla="val 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8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0" name="Google Shape;720;p38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DATA INTEGRITY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1" name="Google Shape;721;p38"/>
            <p:cNvSpPr txBox="1"/>
            <p:nvPr/>
          </p:nvSpPr>
          <p:spPr>
            <a:xfrm>
              <a:off x="190500" y="619125"/>
              <a:ext cx="291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File Handling: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Prefer the </a:t>
              </a:r>
              <a:r>
                <a:rPr b="0" lang="en" sz="1300">
                  <a:solidFill>
                    <a:srgbClr val="045A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with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statement for safe operations.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22" name="Google Shape;722;p38"/>
          <p:cNvGrpSpPr/>
          <p:nvPr/>
        </p:nvGrpSpPr>
        <p:grpSpPr>
          <a:xfrm>
            <a:off x="762000" y="4191000"/>
            <a:ext cx="10668000" cy="1047750"/>
            <a:chOff x="0" y="0"/>
            <a:chExt cx="10668000" cy="1047750"/>
          </a:xfrm>
        </p:grpSpPr>
        <p:sp>
          <p:nvSpPr>
            <p:cNvPr id="723" name="Google Shape;723;p38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8"/>
            <p:cNvSpPr txBox="1"/>
            <p:nvPr/>
          </p:nvSpPr>
          <p:spPr>
            <a:xfrm>
              <a:off x="190500" y="0"/>
              <a:ext cx="1047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5" name="Google Shape;725;p38"/>
            <p:cNvSpPr txBox="1"/>
            <p:nvPr/>
          </p:nvSpPr>
          <p:spPr>
            <a:xfrm>
              <a:off x="190500" y="28575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Modern Python projects rely on secure configuration, robust dependency management, and persistent data handling.</a:t>
              </a:r>
              <a:endParaRPr b="0" sz="18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26" name="Google Shape;726;p38"/>
          <p:cNvGrpSpPr/>
          <p:nvPr/>
        </p:nvGrpSpPr>
        <p:grpSpPr>
          <a:xfrm>
            <a:off x="10287000" y="4953000"/>
            <a:ext cx="1524000" cy="857400"/>
            <a:chOff x="0" y="0"/>
            <a:chExt cx="1524000" cy="857400"/>
          </a:xfrm>
        </p:grpSpPr>
        <p:pic>
          <p:nvPicPr>
            <p:cNvPr id="727" name="Google Shape;72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524000" cy="8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38"/>
            <p:cNvSpPr/>
            <p:nvPr/>
          </p:nvSpPr>
          <p:spPr>
            <a:xfrm>
              <a:off x="0" y="0"/>
              <a:ext cx="1524000" cy="8574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9" name="Google Shape;729;p3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