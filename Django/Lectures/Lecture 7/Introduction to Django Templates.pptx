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Montserrat SemiBold"/>
      <p:regular r:id="rId15"/>
      <p:bold r:id="rId16"/>
      <p:italic r:id="rId17"/>
      <p:boldItalic r:id="rId18"/>
    </p:embeddedFont>
    <p:embeddedFont>
      <p:font typeface="Inter SemiBold"/>
      <p:regular r:id="rId19"/>
      <p:bold r:id="rId20"/>
      <p:italic r:id="rId21"/>
      <p:boldItalic r:id="rId22"/>
    </p:embeddedFont>
    <p:embeddedFont>
      <p:font typeface="Inter"/>
      <p:bold r:id="rId23"/>
      <p:boldItalic r:id="rId24"/>
    </p:embeddedFont>
    <p:embeddedFont>
      <p:font typeface="Montserrat"/>
      <p:bold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bold.fntdata"/><Relationship Id="rId22" Type="http://schemas.openxmlformats.org/officeDocument/2006/relationships/font" Target="fonts/InterSemiBold-boldItalic.fntdata"/><Relationship Id="rId21" Type="http://schemas.openxmlformats.org/officeDocument/2006/relationships/font" Target="fonts/InterSemiBold-italic.fntdata"/><Relationship Id="rId24" Type="http://schemas.openxmlformats.org/officeDocument/2006/relationships/font" Target="fonts/Inter-bold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bold.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nter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MontserratSemiBold-regular.fntdata"/><Relationship Id="rId14" Type="http://schemas.openxmlformats.org/officeDocument/2006/relationships/slide" Target="slides/slide9.xml"/><Relationship Id="rId17" Type="http://schemas.openxmlformats.org/officeDocument/2006/relationships/font" Target="fonts/MontserratSemiBold-italic.fntdata"/><Relationship Id="rId16" Type="http://schemas.openxmlformats.org/officeDocument/2006/relationships/font" Target="fonts/MontserratSemiBold-bold.fntdata"/><Relationship Id="rId19" Type="http://schemas.openxmlformats.org/officeDocument/2006/relationships/font" Target="fonts/InterSemiBold-regular.fntdata"/><Relationship Id="rId18" Type="http://schemas.openxmlformats.org/officeDocument/2006/relationships/font" Target="fonts/MontserratSemi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58191e724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58191e724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58191e724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58191e724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8191e724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58191e724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8191e724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8191e724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58191e724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58191e724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8191e724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58191e724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58191e724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58191e724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58191e724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58191e724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58191e72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58191e72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8191e724_7_0)">
  <p:cSld name="Generated (g3f58191e724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415611" y="992767"/>
            <a:ext cx="11360800" cy="27368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2" name="Google Shape;12;p3"/>
          <p:cNvSpPr txBox="1"/>
          <p:nvPr>
            <p:ph idx="1" type="subTitle"/>
          </p:nvPr>
        </p:nvSpPr>
        <p:spPr>
          <a:xfrm>
            <a:off x="415600" y="3778833"/>
            <a:ext cx="11360800" cy="105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3" name="Google Shape;13;p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15600" y="2867800"/>
            <a:ext cx="11360800" cy="11224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4"/>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9" name="Google Shape;19;p5"/>
          <p:cNvSpPr txBox="1"/>
          <p:nvPr>
            <p:ph idx="1" type="body"/>
          </p:nvPr>
        </p:nvSpPr>
        <p:spPr>
          <a:xfrm>
            <a:off x="415600" y="1536633"/>
            <a:ext cx="113608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0" name="Google Shape;20;p5"/>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 name="Google Shape;23;p6"/>
          <p:cNvSpPr txBox="1"/>
          <p:nvPr>
            <p:ph idx="1" type="body"/>
          </p:nvPr>
        </p:nvSpPr>
        <p:spPr>
          <a:xfrm>
            <a:off x="4156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6"/>
          <p:cNvSpPr txBox="1"/>
          <p:nvPr>
            <p:ph idx="2" type="body"/>
          </p:nvPr>
        </p:nvSpPr>
        <p:spPr>
          <a:xfrm>
            <a:off x="64432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 name="Google Shape;25;p6"/>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7"/>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415600" y="740800"/>
            <a:ext cx="3744000" cy="10076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1" name="Google Shape;31;p8"/>
          <p:cNvSpPr txBox="1"/>
          <p:nvPr>
            <p:ph idx="1" type="body"/>
          </p:nvPr>
        </p:nvSpPr>
        <p:spPr>
          <a:xfrm>
            <a:off x="415600" y="1852800"/>
            <a:ext cx="3744000" cy="42392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p8"/>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653667" y="600200"/>
            <a:ext cx="8490400" cy="54544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5" name="Google Shape;35;p9"/>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354000" y="1644233"/>
            <a:ext cx="53936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9" name="Google Shape;39;p10"/>
          <p:cNvSpPr txBox="1"/>
          <p:nvPr>
            <p:ph idx="1" type="subTitle"/>
          </p:nvPr>
        </p:nvSpPr>
        <p:spPr>
          <a:xfrm>
            <a:off x="354000" y="3737433"/>
            <a:ext cx="5393600" cy="164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0"/>
          <p:cNvSpPr txBox="1"/>
          <p:nvPr>
            <p:ph idx="2" type="body"/>
          </p:nvPr>
        </p:nvSpPr>
        <p:spPr>
          <a:xfrm>
            <a:off x="6586000" y="965433"/>
            <a:ext cx="5116000" cy="49268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10"/>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415600" y="5640767"/>
            <a:ext cx="7998400" cy="8068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4" name="Google Shape;44;p11"/>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415600" y="1474833"/>
            <a:ext cx="11360800" cy="26180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p:nvPr>
            <p:ph idx="1" type="body"/>
          </p:nvPr>
        </p:nvSpPr>
        <p:spPr>
          <a:xfrm>
            <a:off x="415600" y="4202967"/>
            <a:ext cx="11360800" cy="1734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8" name="Google Shape;48;p12"/>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600" cy="5248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7.jpg"/><Relationship Id="rId6" Type="http://schemas.openxmlformats.org/officeDocument/2006/relationships/image" Target="../media/image13.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56" name="Google Shape;56;p14"/>
          <p:cNvPicPr preferRelativeResize="0"/>
          <p:nvPr/>
        </p:nvPicPr>
        <p:blipFill rotWithShape="1">
          <a:blip r:embed="rId4">
            <a:alphaModFix/>
          </a:blip>
          <a:srcRect b="0" l="130" r="130" t="0"/>
          <a:stretch/>
        </p:blipFill>
        <p:spPr>
          <a:xfrm>
            <a:off x="0" y="0"/>
            <a:ext cx="12192000" cy="57300"/>
          </a:xfrm>
          <a:prstGeom prst="rect">
            <a:avLst/>
          </a:prstGeom>
          <a:noFill/>
          <a:ln>
            <a:noFill/>
          </a:ln>
        </p:spPr>
      </p:pic>
      <p:pic>
        <p:nvPicPr>
          <p:cNvPr id="57" name="Google Shape;57;p14"/>
          <p:cNvPicPr preferRelativeResize="0"/>
          <p:nvPr/>
        </p:nvPicPr>
        <p:blipFill rotWithShape="1">
          <a:blip r:embed="rId5">
            <a:alphaModFix/>
          </a:blip>
          <a:srcRect b="0" l="0" r="10" t="0"/>
          <a:stretch/>
        </p:blipFill>
        <p:spPr>
          <a:xfrm>
            <a:off x="762000" y="571243"/>
            <a:ext cx="2533800" cy="857700"/>
          </a:xfrm>
          <a:prstGeom prst="rect">
            <a:avLst/>
          </a:prstGeom>
          <a:noFill/>
          <a:ln>
            <a:noFill/>
          </a:ln>
        </p:spPr>
      </p:pic>
      <p:pic>
        <p:nvPicPr>
          <p:cNvPr id="58" name="Google Shape;58;p14"/>
          <p:cNvPicPr preferRelativeResize="0"/>
          <p:nvPr/>
        </p:nvPicPr>
        <p:blipFill rotWithShape="1">
          <a:blip r:embed="rId6">
            <a:alphaModFix/>
          </a:blip>
          <a:srcRect b="0" l="0" r="0" t="0"/>
          <a:stretch/>
        </p:blipFill>
        <p:spPr>
          <a:xfrm>
            <a:off x="10144125" y="360617"/>
            <a:ext cx="1143000" cy="1278900"/>
          </a:xfrm>
          <a:prstGeom prst="rect">
            <a:avLst/>
          </a:prstGeom>
          <a:noFill/>
          <a:ln>
            <a:noFill/>
          </a:ln>
        </p:spPr>
      </p:pic>
      <p:sp>
        <p:nvSpPr>
          <p:cNvPr id="59" name="Google Shape;59;p14"/>
          <p:cNvSpPr txBox="1"/>
          <p:nvPr/>
        </p:nvSpPr>
        <p:spPr>
          <a:xfrm>
            <a:off x="2514600" y="2190750"/>
            <a:ext cx="71628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D4A017"/>
                </a:solidFill>
                <a:latin typeface="Inter"/>
                <a:ea typeface="Inter"/>
                <a:cs typeface="Inter"/>
                <a:sym typeface="Inter"/>
              </a:rPr>
              <a:t>INTRODUCTION TO</a:t>
            </a:r>
            <a:endParaRPr b="1" sz="1200">
              <a:solidFill>
                <a:srgbClr val="D4A017"/>
              </a:solidFill>
              <a:latin typeface="Inter"/>
              <a:ea typeface="Inter"/>
              <a:cs typeface="Inter"/>
              <a:sym typeface="Inter"/>
            </a:endParaRPr>
          </a:p>
        </p:txBody>
      </p:sp>
      <p:sp>
        <p:nvSpPr>
          <p:cNvPr id="60" name="Google Shape;60;p14"/>
          <p:cNvSpPr txBox="1"/>
          <p:nvPr/>
        </p:nvSpPr>
        <p:spPr>
          <a:xfrm>
            <a:off x="2333625" y="2619375"/>
            <a:ext cx="75249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450">
                <a:solidFill>
                  <a:srgbClr val="045A36"/>
                </a:solidFill>
                <a:latin typeface="Montserrat"/>
                <a:ea typeface="Montserrat"/>
                <a:cs typeface="Montserrat"/>
                <a:sym typeface="Montserrat"/>
              </a:rPr>
              <a:t>Introduction to Django Templates</a:t>
            </a:r>
            <a:endParaRPr b="1" sz="3450">
              <a:solidFill>
                <a:srgbClr val="045A36"/>
              </a:solidFill>
              <a:latin typeface="Montserrat"/>
              <a:ea typeface="Montserrat"/>
              <a:cs typeface="Montserrat"/>
              <a:sym typeface="Montserrat"/>
            </a:endParaRPr>
          </a:p>
        </p:txBody>
      </p:sp>
      <p:sp>
        <p:nvSpPr>
          <p:cNvPr id="61" name="Google Shape;61;p14"/>
          <p:cNvSpPr/>
          <p:nvPr/>
        </p:nvSpPr>
        <p:spPr>
          <a:xfrm>
            <a:off x="5381625" y="3905250"/>
            <a:ext cx="14289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txBox="1"/>
          <p:nvPr/>
        </p:nvSpPr>
        <p:spPr>
          <a:xfrm>
            <a:off x="2514600" y="4191000"/>
            <a:ext cx="71628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350">
                <a:solidFill>
                  <a:srgbClr val="4B5563"/>
                </a:solidFill>
                <a:latin typeface="Inter SemiBold"/>
                <a:ea typeface="Inter SemiBold"/>
                <a:cs typeface="Inter SemiBold"/>
                <a:sym typeface="Inter SemiBold"/>
              </a:rPr>
              <a:t>A Step-by-Step Guide for Beginner Web Developers</a:t>
            </a:r>
            <a:endParaRPr b="0" sz="1350">
              <a:solidFill>
                <a:srgbClr val="4B5563"/>
              </a:solidFill>
              <a:latin typeface="Inter SemiBold"/>
              <a:ea typeface="Inter SemiBold"/>
              <a:cs typeface="Inter SemiBold"/>
              <a:sym typeface="Inter SemiBold"/>
            </a:endParaRPr>
          </a:p>
        </p:txBody>
      </p:sp>
      <p:pic>
        <p:nvPicPr>
          <p:cNvPr id="63" name="Google Shape;63;p14"/>
          <p:cNvPicPr preferRelativeResize="0"/>
          <p:nvPr/>
        </p:nvPicPr>
        <p:blipFill rotWithShape="1">
          <a:blip r:embed="rId7">
            <a:alphaModFix/>
          </a:blip>
          <a:srcRect b="0" l="10" r="10" t="0"/>
          <a:stretch/>
        </p:blipFill>
        <p:spPr>
          <a:xfrm>
            <a:off x="762000" y="5581650"/>
            <a:ext cx="10668000" cy="705000"/>
          </a:xfrm>
          <a:prstGeom prst="rect">
            <a:avLst/>
          </a:prstGeom>
          <a:noFill/>
          <a:ln>
            <a:noFill/>
          </a:ln>
        </p:spPr>
      </p:pic>
      <p:sp>
        <p:nvSpPr>
          <p:cNvPr id="64" name="Google Shape;64;p14"/>
          <p:cNvSpPr txBox="1"/>
          <p:nvPr/>
        </p:nvSpPr>
        <p:spPr>
          <a:xfrm>
            <a:off x="762000" y="5829300"/>
            <a:ext cx="31146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CA3AF"/>
                </a:solidFill>
                <a:latin typeface="Inter"/>
                <a:ea typeface="Inter"/>
                <a:cs typeface="Inter"/>
                <a:sym typeface="Inter"/>
              </a:rPr>
              <a:t>PRESENTED BY</a:t>
            </a:r>
            <a:endParaRPr b="0" sz="900">
              <a:solidFill>
                <a:srgbClr val="9CA3AF"/>
              </a:solidFill>
              <a:latin typeface="Inter"/>
              <a:ea typeface="Inter"/>
              <a:cs typeface="Inter"/>
              <a:sym typeface="Inter"/>
            </a:endParaRPr>
          </a:p>
        </p:txBody>
      </p:sp>
      <p:sp>
        <p:nvSpPr>
          <p:cNvPr id="65" name="Google Shape;65;p14"/>
          <p:cNvSpPr txBox="1"/>
          <p:nvPr/>
        </p:nvSpPr>
        <p:spPr>
          <a:xfrm>
            <a:off x="762000" y="6019800"/>
            <a:ext cx="31146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1F2937"/>
                </a:solidFill>
                <a:latin typeface="Inter SemiBold"/>
                <a:ea typeface="Inter SemiBold"/>
                <a:cs typeface="Inter SemiBold"/>
                <a:sym typeface="Inter SemiBold"/>
              </a:rPr>
              <a:t>Muhammd Yousif Memon</a:t>
            </a:r>
            <a:endParaRPr b="0" sz="1350">
              <a:solidFill>
                <a:srgbClr val="1F2937"/>
              </a:solidFill>
              <a:latin typeface="Inter SemiBold"/>
              <a:ea typeface="Inter SemiBold"/>
              <a:cs typeface="Inter SemiBold"/>
              <a:sym typeface="Inter SemiBold"/>
            </a:endParaRPr>
          </a:p>
        </p:txBody>
      </p:sp>
      <p:sp>
        <p:nvSpPr>
          <p:cNvPr id="66" name="Google Shape;66;p14"/>
          <p:cNvSpPr txBox="1"/>
          <p:nvPr/>
        </p:nvSpPr>
        <p:spPr>
          <a:xfrm>
            <a:off x="10287000" y="5829300"/>
            <a:ext cx="1143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9CA3AF"/>
                </a:solidFill>
                <a:latin typeface="Inter"/>
                <a:ea typeface="Inter"/>
                <a:cs typeface="Inter"/>
                <a:sym typeface="Inter"/>
              </a:rPr>
              <a:t>DATE OF SESSION</a:t>
            </a:r>
            <a:endParaRPr b="0" sz="900">
              <a:solidFill>
                <a:srgbClr val="9CA3AF"/>
              </a:solidFill>
              <a:latin typeface="Inter"/>
              <a:ea typeface="Inter"/>
              <a:cs typeface="Inter"/>
              <a:sym typeface="Inter"/>
            </a:endParaRPr>
          </a:p>
        </p:txBody>
      </p:sp>
      <p:sp>
        <p:nvSpPr>
          <p:cNvPr id="67" name="Google Shape;67;p14"/>
          <p:cNvSpPr txBox="1"/>
          <p:nvPr/>
        </p:nvSpPr>
        <p:spPr>
          <a:xfrm>
            <a:off x="10287000" y="6019800"/>
            <a:ext cx="1143000" cy="285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350">
                <a:solidFill>
                  <a:srgbClr val="1F2937"/>
                </a:solidFill>
                <a:latin typeface="Inter SemiBold"/>
                <a:ea typeface="Inter SemiBold"/>
                <a:cs typeface="Inter SemiBold"/>
                <a:sym typeface="Inter SemiBold"/>
              </a:rPr>
              <a:t>July 22, 2026</a:t>
            </a:r>
            <a:endParaRPr b="0" sz="1350">
              <a:solidFill>
                <a:srgbClr val="1F2937"/>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5"/>
          <p:cNvSpPr/>
          <p:nvPr>
            <p:ph idx="2" type="pic"/>
          </p:nvPr>
        </p:nvSpPr>
        <p:spPr>
          <a:xfrm>
            <a:off x="0" y="0"/>
            <a:ext cx="12192000" cy="6858000"/>
          </a:xfrm>
          <a:prstGeom prst="rect">
            <a:avLst/>
          </a:prstGeom>
          <a:noFill/>
          <a:ln>
            <a:noFill/>
          </a:ln>
        </p:spPr>
      </p:sp>
      <p:sp>
        <p:nvSpPr>
          <p:cNvPr id="74" name="Google Shape;74;p15"/>
          <p:cNvSpPr/>
          <p:nvPr>
            <p:ph idx="3" type="pic"/>
          </p:nvPr>
        </p:nvSpPr>
        <p:spPr>
          <a:xfrm>
            <a:off x="0" y="0"/>
            <a:ext cx="12192000" cy="57300"/>
          </a:xfrm>
          <a:prstGeom prst="rect">
            <a:avLst/>
          </a:prstGeom>
          <a:noFill/>
          <a:ln>
            <a:noFill/>
          </a:ln>
        </p:spPr>
      </p:sp>
      <p:sp>
        <p:nvSpPr>
          <p:cNvPr id="75" name="Google Shape;75;p15"/>
          <p:cNvSpPr/>
          <p:nvPr>
            <p:ph idx="4" type="pic"/>
          </p:nvPr>
        </p:nvSpPr>
        <p:spPr>
          <a:xfrm>
            <a:off x="10287000" y="5453079"/>
            <a:ext cx="1524000" cy="1019400"/>
          </a:xfrm>
          <a:prstGeom prst="rect">
            <a:avLst/>
          </a:prstGeom>
          <a:noFill/>
          <a:ln>
            <a:noFill/>
          </a:ln>
        </p:spPr>
      </p:sp>
      <p:sp>
        <p:nvSpPr>
          <p:cNvPr id="76" name="Google Shape;76;p1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Django's MVT Architecture</a:t>
            </a:r>
            <a:endParaRPr b="0" sz="2700">
              <a:solidFill>
                <a:srgbClr val="045A36"/>
              </a:solidFill>
              <a:latin typeface="Montserrat SemiBold"/>
              <a:ea typeface="Montserrat SemiBold"/>
              <a:cs typeface="Montserrat SemiBold"/>
              <a:sym typeface="Montserrat SemiBold"/>
            </a:endParaRPr>
          </a:p>
        </p:txBody>
      </p:sp>
      <p:sp>
        <p:nvSpPr>
          <p:cNvPr id="77" name="Google Shape;77;p1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txBox="1"/>
          <p:nvPr/>
        </p:nvSpPr>
        <p:spPr>
          <a:xfrm>
            <a:off x="762000" y="1285875"/>
            <a:ext cx="9144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Django's MVT (Model-View-Template) architecture dictates how data flows and is presented.</a:t>
            </a:r>
            <a:endParaRPr b="0" sz="1500">
              <a:solidFill>
                <a:srgbClr val="374151"/>
              </a:solidFill>
              <a:latin typeface="Inter"/>
              <a:ea typeface="Inter"/>
              <a:cs typeface="Inter"/>
              <a:sym typeface="Inter"/>
            </a:endParaRPr>
          </a:p>
        </p:txBody>
      </p:sp>
      <p:grpSp>
        <p:nvGrpSpPr>
          <p:cNvPr id="79" name="Google Shape;79;p15"/>
          <p:cNvGrpSpPr/>
          <p:nvPr/>
        </p:nvGrpSpPr>
        <p:grpSpPr>
          <a:xfrm>
            <a:off x="604838" y="1738313"/>
            <a:ext cx="10982400" cy="3171900"/>
            <a:chOff x="-157162" y="-119062"/>
            <a:chExt cx="10982400" cy="3171900"/>
          </a:xfrm>
        </p:grpSpPr>
        <p:grpSp>
          <p:nvGrpSpPr>
            <p:cNvPr id="80" name="Google Shape;80;p15"/>
            <p:cNvGrpSpPr/>
            <p:nvPr/>
          </p:nvGrpSpPr>
          <p:grpSpPr>
            <a:xfrm>
              <a:off x="-157162" y="-119062"/>
              <a:ext cx="3552900" cy="3171900"/>
              <a:chOff x="-157162" y="-119062"/>
              <a:chExt cx="3552900" cy="3171900"/>
            </a:xfrm>
          </p:grpSpPr>
          <p:pic>
            <p:nvPicPr>
              <p:cNvPr id="81" name="Google Shape;81;p15"/>
              <p:cNvPicPr preferRelativeResize="0"/>
              <p:nvPr/>
            </p:nvPicPr>
            <p:blipFill rotWithShape="1">
              <a:blip r:embed="rId3">
                <a:alphaModFix/>
              </a:blip>
              <a:srcRect b="0" l="0" r="0" t="0"/>
              <a:stretch/>
            </p:blipFill>
            <p:spPr>
              <a:xfrm>
                <a:off x="-157162" y="-119062"/>
                <a:ext cx="3552900" cy="3171900"/>
              </a:xfrm>
              <a:prstGeom prst="rect">
                <a:avLst/>
              </a:prstGeom>
              <a:noFill/>
              <a:ln>
                <a:noFill/>
              </a:ln>
            </p:spPr>
          </p:pic>
          <p:sp>
            <p:nvSpPr>
              <p:cNvPr id="82" name="Google Shape;82;p15"/>
              <p:cNvSpPr/>
              <p:nvPr/>
            </p:nvSpPr>
            <p:spPr>
              <a:xfrm>
                <a:off x="0" y="0"/>
                <a:ext cx="3238500" cy="95400"/>
              </a:xfrm>
              <a:prstGeom prst="roundRect">
                <a:avLst>
                  <a:gd fmla="val 2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190500" y="285750"/>
                <a:ext cx="2857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50">
                    <a:solidFill>
                      <a:srgbClr val="045A36"/>
                    </a:solidFill>
                    <a:latin typeface="Montserrat"/>
                    <a:ea typeface="Montserrat"/>
                    <a:cs typeface="Montserrat"/>
                    <a:sym typeface="Montserrat"/>
                  </a:rPr>
                  <a:t>MODEL</a:t>
                </a:r>
                <a:endParaRPr b="1" sz="1650">
                  <a:solidFill>
                    <a:srgbClr val="045A36"/>
                  </a:solidFill>
                  <a:latin typeface="Montserrat"/>
                  <a:ea typeface="Montserrat"/>
                  <a:cs typeface="Montserrat"/>
                  <a:sym typeface="Montserrat"/>
                </a:endParaRPr>
              </a:p>
            </p:txBody>
          </p:sp>
          <p:sp>
            <p:nvSpPr>
              <p:cNvPr id="84" name="Google Shape;84;p15"/>
              <p:cNvSpPr/>
              <p:nvPr/>
            </p:nvSpPr>
            <p:spPr>
              <a:xfrm>
                <a:off x="1238250" y="714375"/>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5"/>
              <p:cNvSpPr txBox="1"/>
              <p:nvPr/>
            </p:nvSpPr>
            <p:spPr>
              <a:xfrm>
                <a:off x="0" y="957453"/>
                <a:ext cx="3238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3600">
                    <a:solidFill>
                      <a:srgbClr val="045A36"/>
                    </a:solidFill>
                    <a:latin typeface="Material Icons"/>
                    <a:ea typeface="Material Icons"/>
                    <a:cs typeface="Material Icons"/>
                    <a:sym typeface="Material Icons"/>
                  </a:rPr>
                  <a:t>storage</a:t>
                </a:r>
                <a:endParaRPr b="0" sz="3600">
                  <a:solidFill>
                    <a:srgbClr val="045A36"/>
                  </a:solidFill>
                  <a:latin typeface="Material Icons"/>
                  <a:ea typeface="Material Icons"/>
                  <a:cs typeface="Material Icons"/>
                  <a:sym typeface="Material Icons"/>
                </a:endParaRPr>
              </a:p>
            </p:txBody>
          </p:sp>
          <p:sp>
            <p:nvSpPr>
              <p:cNvPr id="86" name="Google Shape;86;p15"/>
              <p:cNvSpPr txBox="1"/>
              <p:nvPr/>
            </p:nvSpPr>
            <p:spPr>
              <a:xfrm>
                <a:off x="285750" y="1714500"/>
                <a:ext cx="2667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300">
                    <a:solidFill>
                      <a:srgbClr val="374151"/>
                    </a:solidFill>
                    <a:latin typeface="Inter"/>
                    <a:ea typeface="Inter"/>
                    <a:cs typeface="Inter"/>
                    <a:sym typeface="Inter"/>
                  </a:rPr>
                  <a:t>This component is responsible for managing data and all database operations.</a:t>
                </a:r>
                <a:endParaRPr b="0" sz="1300">
                  <a:solidFill>
                    <a:srgbClr val="374151"/>
                  </a:solidFill>
                  <a:latin typeface="Inter"/>
                  <a:ea typeface="Inter"/>
                  <a:cs typeface="Inter"/>
                  <a:sym typeface="Inter"/>
                </a:endParaRPr>
              </a:p>
            </p:txBody>
          </p:sp>
        </p:grpSp>
        <p:sp>
          <p:nvSpPr>
            <p:cNvPr id="87" name="Google Shape;87;p15"/>
            <p:cNvSpPr/>
            <p:nvPr/>
          </p:nvSpPr>
          <p:spPr>
            <a:xfrm>
              <a:off x="3238500" y="1333500"/>
              <a:ext cx="381000" cy="1905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381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8" name="Google Shape;88;p15"/>
            <p:cNvGrpSpPr/>
            <p:nvPr/>
          </p:nvGrpSpPr>
          <p:grpSpPr>
            <a:xfrm>
              <a:off x="3557588" y="-119062"/>
              <a:ext cx="3552900" cy="3171900"/>
              <a:chOff x="-157162" y="-119062"/>
              <a:chExt cx="3552900" cy="3171900"/>
            </a:xfrm>
          </p:grpSpPr>
          <p:pic>
            <p:nvPicPr>
              <p:cNvPr id="89" name="Google Shape;89;p15"/>
              <p:cNvPicPr preferRelativeResize="0"/>
              <p:nvPr/>
            </p:nvPicPr>
            <p:blipFill rotWithShape="1">
              <a:blip r:embed="rId3">
                <a:alphaModFix/>
              </a:blip>
              <a:srcRect b="0" l="0" r="0" t="0"/>
              <a:stretch/>
            </p:blipFill>
            <p:spPr>
              <a:xfrm>
                <a:off x="-157162" y="-119062"/>
                <a:ext cx="3552900" cy="3171900"/>
              </a:xfrm>
              <a:prstGeom prst="rect">
                <a:avLst/>
              </a:prstGeom>
              <a:noFill/>
              <a:ln>
                <a:noFill/>
              </a:ln>
            </p:spPr>
          </p:pic>
          <p:sp>
            <p:nvSpPr>
              <p:cNvPr id="90" name="Google Shape;90;p15"/>
              <p:cNvSpPr/>
              <p:nvPr/>
            </p:nvSpPr>
            <p:spPr>
              <a:xfrm>
                <a:off x="0" y="0"/>
                <a:ext cx="3238500" cy="95400"/>
              </a:xfrm>
              <a:prstGeom prst="roundRect">
                <a:avLst>
                  <a:gd fmla="val 2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txBox="1"/>
              <p:nvPr/>
            </p:nvSpPr>
            <p:spPr>
              <a:xfrm>
                <a:off x="190500" y="285750"/>
                <a:ext cx="2857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50">
                    <a:solidFill>
                      <a:srgbClr val="045A36"/>
                    </a:solidFill>
                    <a:latin typeface="Montserrat"/>
                    <a:ea typeface="Montserrat"/>
                    <a:cs typeface="Montserrat"/>
                    <a:sym typeface="Montserrat"/>
                  </a:rPr>
                  <a:t>VIEW</a:t>
                </a:r>
                <a:endParaRPr b="1" sz="1650">
                  <a:solidFill>
                    <a:srgbClr val="045A36"/>
                  </a:solidFill>
                  <a:latin typeface="Montserrat"/>
                  <a:ea typeface="Montserrat"/>
                  <a:cs typeface="Montserrat"/>
                  <a:sym typeface="Montserrat"/>
                </a:endParaRPr>
              </a:p>
            </p:txBody>
          </p:sp>
          <p:sp>
            <p:nvSpPr>
              <p:cNvPr id="92" name="Google Shape;92;p15"/>
              <p:cNvSpPr/>
              <p:nvPr/>
            </p:nvSpPr>
            <p:spPr>
              <a:xfrm>
                <a:off x="1238250" y="714375"/>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0" y="957453"/>
                <a:ext cx="3238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3600">
                    <a:solidFill>
                      <a:srgbClr val="0B7A4B"/>
                    </a:solidFill>
                    <a:latin typeface="Material Icons"/>
                    <a:ea typeface="Material Icons"/>
                    <a:cs typeface="Material Icons"/>
                    <a:sym typeface="Material Icons"/>
                  </a:rPr>
                  <a:t>settings</a:t>
                </a:r>
                <a:endParaRPr b="0" sz="3600">
                  <a:solidFill>
                    <a:srgbClr val="0B7A4B"/>
                  </a:solidFill>
                  <a:latin typeface="Material Icons"/>
                  <a:ea typeface="Material Icons"/>
                  <a:cs typeface="Material Icons"/>
                  <a:sym typeface="Material Icons"/>
                </a:endParaRPr>
              </a:p>
            </p:txBody>
          </p:sp>
          <p:sp>
            <p:nvSpPr>
              <p:cNvPr id="94" name="Google Shape;94;p15"/>
              <p:cNvSpPr txBox="1"/>
              <p:nvPr/>
            </p:nvSpPr>
            <p:spPr>
              <a:xfrm>
                <a:off x="285750" y="1714500"/>
                <a:ext cx="2667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300">
                    <a:solidFill>
                      <a:srgbClr val="374151"/>
                    </a:solidFill>
                    <a:latin typeface="Inter"/>
                    <a:ea typeface="Inter"/>
                    <a:cs typeface="Inter"/>
                    <a:sym typeface="Inter"/>
                  </a:rPr>
                  <a:t>The View handles the core application logic and processes incoming requests. It acts as the intermediary, fetching data from the Model and passing it along.</a:t>
                </a:r>
                <a:endParaRPr b="0" sz="1300">
                  <a:solidFill>
                    <a:srgbClr val="374151"/>
                  </a:solidFill>
                  <a:latin typeface="Inter"/>
                  <a:ea typeface="Inter"/>
                  <a:cs typeface="Inter"/>
                  <a:sym typeface="Inter"/>
                </a:endParaRPr>
              </a:p>
            </p:txBody>
          </p:sp>
        </p:grpSp>
        <p:sp>
          <p:nvSpPr>
            <p:cNvPr id="95" name="Google Shape;95;p15"/>
            <p:cNvSpPr/>
            <p:nvPr/>
          </p:nvSpPr>
          <p:spPr>
            <a:xfrm>
              <a:off x="6953250" y="1333500"/>
              <a:ext cx="381000" cy="190500"/>
            </a:xfrm>
            <a:custGeom>
              <a:rect b="b" l="l" r="r" t="t"/>
              <a:pathLst>
                <a:path extrusionOk="0" h="120000" w="120000">
                  <a:moveTo>
                    <a:pt x="0" y="60000"/>
                  </a:moveTo>
                  <a:lnTo>
                    <a:pt x="120000" y="60000"/>
                  </a:lnTo>
                  <a:moveTo>
                    <a:pt x="90000" y="0"/>
                  </a:moveTo>
                  <a:lnTo>
                    <a:pt x="120000" y="60000"/>
                  </a:lnTo>
                  <a:lnTo>
                    <a:pt x="90000" y="120000"/>
                  </a:lnTo>
                </a:path>
              </a:pathLst>
            </a:custGeom>
            <a:solidFill>
              <a:srgbClr val="000000">
                <a:alpha val="0"/>
              </a:srgbClr>
            </a:solidFill>
            <a:ln cap="rnd" cmpd="sng" w="38100">
              <a:solidFill>
                <a:srgbClr val="0B7A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6" name="Google Shape;96;p15"/>
            <p:cNvGrpSpPr/>
            <p:nvPr/>
          </p:nvGrpSpPr>
          <p:grpSpPr>
            <a:xfrm>
              <a:off x="7272338" y="-119062"/>
              <a:ext cx="3552900" cy="3171900"/>
              <a:chOff x="-157162" y="-119062"/>
              <a:chExt cx="3552900" cy="3171900"/>
            </a:xfrm>
          </p:grpSpPr>
          <p:pic>
            <p:nvPicPr>
              <p:cNvPr id="97" name="Google Shape;97;p15"/>
              <p:cNvPicPr preferRelativeResize="0"/>
              <p:nvPr/>
            </p:nvPicPr>
            <p:blipFill rotWithShape="1">
              <a:blip r:embed="rId3">
                <a:alphaModFix/>
              </a:blip>
              <a:srcRect b="0" l="0" r="0" t="0"/>
              <a:stretch/>
            </p:blipFill>
            <p:spPr>
              <a:xfrm>
                <a:off x="-157162" y="-119062"/>
                <a:ext cx="3552900" cy="3171900"/>
              </a:xfrm>
              <a:prstGeom prst="rect">
                <a:avLst/>
              </a:prstGeom>
              <a:noFill/>
              <a:ln>
                <a:noFill/>
              </a:ln>
            </p:spPr>
          </p:pic>
          <p:sp>
            <p:nvSpPr>
              <p:cNvPr id="98" name="Google Shape;98;p15"/>
              <p:cNvSpPr/>
              <p:nvPr/>
            </p:nvSpPr>
            <p:spPr>
              <a:xfrm>
                <a:off x="0" y="0"/>
                <a:ext cx="3238500" cy="95400"/>
              </a:xfrm>
              <a:prstGeom prst="roundRect">
                <a:avLst>
                  <a:gd fmla="val 2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txBox="1"/>
              <p:nvPr/>
            </p:nvSpPr>
            <p:spPr>
              <a:xfrm>
                <a:off x="190500" y="285750"/>
                <a:ext cx="2857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50">
                    <a:solidFill>
                      <a:srgbClr val="045A36"/>
                    </a:solidFill>
                    <a:latin typeface="Montserrat"/>
                    <a:ea typeface="Montserrat"/>
                    <a:cs typeface="Montserrat"/>
                    <a:sym typeface="Montserrat"/>
                  </a:rPr>
                  <a:t>TEMPLATE</a:t>
                </a:r>
                <a:endParaRPr b="1" sz="1650">
                  <a:solidFill>
                    <a:srgbClr val="045A36"/>
                  </a:solidFill>
                  <a:latin typeface="Montserrat"/>
                  <a:ea typeface="Montserrat"/>
                  <a:cs typeface="Montserrat"/>
                  <a:sym typeface="Montserrat"/>
                </a:endParaRPr>
              </a:p>
            </p:txBody>
          </p:sp>
          <p:sp>
            <p:nvSpPr>
              <p:cNvPr id="100" name="Google Shape;100;p15"/>
              <p:cNvSpPr/>
              <p:nvPr/>
            </p:nvSpPr>
            <p:spPr>
              <a:xfrm>
                <a:off x="1238250" y="714375"/>
                <a:ext cx="762000" cy="19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0" y="957453"/>
                <a:ext cx="3238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3600">
                    <a:solidFill>
                      <a:srgbClr val="D4A017"/>
                    </a:solidFill>
                    <a:latin typeface="Material Icons"/>
                    <a:ea typeface="Material Icons"/>
                    <a:cs typeface="Material Icons"/>
                    <a:sym typeface="Material Icons"/>
                  </a:rPr>
                  <a:t>web</a:t>
                </a:r>
                <a:endParaRPr b="0" sz="3600">
                  <a:solidFill>
                    <a:srgbClr val="D4A017"/>
                  </a:solidFill>
                  <a:latin typeface="Material Icons"/>
                  <a:ea typeface="Material Icons"/>
                  <a:cs typeface="Material Icons"/>
                  <a:sym typeface="Material Icons"/>
                </a:endParaRPr>
              </a:p>
            </p:txBody>
          </p:sp>
          <p:sp>
            <p:nvSpPr>
              <p:cNvPr id="102" name="Google Shape;102;p15"/>
              <p:cNvSpPr txBox="1"/>
              <p:nvPr/>
            </p:nvSpPr>
            <p:spPr>
              <a:xfrm>
                <a:off x="285750" y="1714500"/>
                <a:ext cx="2667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300">
                    <a:solidFill>
                      <a:srgbClr val="374151"/>
                    </a:solidFill>
                    <a:latin typeface="Inter"/>
                    <a:ea typeface="Inter"/>
                    <a:cs typeface="Inter"/>
                    <a:sym typeface="Inter"/>
                  </a:rPr>
                  <a:t>The Template handles the presentation layer, determining what the user sees in the browser.</a:t>
                </a:r>
                <a:endParaRPr b="0" sz="1300">
                  <a:solidFill>
                    <a:srgbClr val="374151"/>
                  </a:solidFill>
                  <a:latin typeface="Inter"/>
                  <a:ea typeface="Inter"/>
                  <a:cs typeface="Inter"/>
                  <a:sym typeface="Inter"/>
                </a:endParaRPr>
              </a:p>
            </p:txBody>
          </p:sp>
        </p:grpSp>
      </p:grpSp>
      <p:sp>
        <p:nvSpPr>
          <p:cNvPr id="103" name="Google Shape;103;p15"/>
          <p:cNvSpPr txBox="1"/>
          <p:nvPr/>
        </p:nvSpPr>
        <p:spPr>
          <a:xfrm>
            <a:off x="762000" y="5191125"/>
            <a:ext cx="9144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In this workflow, the View prepares the necessary data and sends it to the Template. The Template then uses this data to generate the final HTML response that is sent back to the user's browser. This clear separation ensures that application logic and presentation remain distinct.</a:t>
            </a:r>
            <a:endParaRPr b="0" sz="1350">
              <a:solidFill>
                <a:srgbClr val="374151"/>
              </a:solidFill>
              <a:latin typeface="Inter"/>
              <a:ea typeface="Inter"/>
              <a:cs typeface="Inter"/>
              <a:sym typeface="Inter"/>
            </a:endParaRPr>
          </a:p>
        </p:txBody>
      </p:sp>
      <p:sp>
        <p:nvSpPr>
          <p:cNvPr id="104" name="Google Shape;104;p15"/>
          <p:cNvSpPr/>
          <p:nvPr>
            <p:ph idx="5" type="pic"/>
          </p:nvPr>
        </p:nvSpPr>
        <p:spPr>
          <a:xfrm>
            <a:off x="762000" y="5981700"/>
            <a:ext cx="10668000" cy="304800"/>
          </a:xfrm>
          <a:prstGeom prst="rect">
            <a:avLst/>
          </a:prstGeom>
          <a:noFill/>
          <a:ln>
            <a:noFill/>
          </a:ln>
        </p:spPr>
      </p:sp>
      <p:sp>
        <p:nvSpPr>
          <p:cNvPr id="105" name="Google Shape;105;p15"/>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p:nvPr>
            <p:ph idx="2" type="pic"/>
          </p:nvPr>
        </p:nvSpPr>
        <p:spPr>
          <a:xfrm>
            <a:off x="0" y="0"/>
            <a:ext cx="12192000" cy="6858000"/>
          </a:xfrm>
          <a:prstGeom prst="rect">
            <a:avLst/>
          </a:prstGeom>
          <a:noFill/>
          <a:ln>
            <a:noFill/>
          </a:ln>
        </p:spPr>
      </p:sp>
      <p:sp>
        <p:nvSpPr>
          <p:cNvPr id="112" name="Google Shape;112;p16"/>
          <p:cNvSpPr/>
          <p:nvPr>
            <p:ph idx="3" type="pic"/>
          </p:nvPr>
        </p:nvSpPr>
        <p:spPr>
          <a:xfrm>
            <a:off x="0" y="0"/>
            <a:ext cx="12192000" cy="57300"/>
          </a:xfrm>
          <a:prstGeom prst="rect">
            <a:avLst/>
          </a:prstGeom>
          <a:noFill/>
          <a:ln>
            <a:noFill/>
          </a:ln>
        </p:spPr>
      </p:sp>
      <p:sp>
        <p:nvSpPr>
          <p:cNvPr id="113" name="Google Shape;113;p16"/>
          <p:cNvSpPr/>
          <p:nvPr>
            <p:ph idx="4" type="pic"/>
          </p:nvPr>
        </p:nvSpPr>
        <p:spPr>
          <a:xfrm>
            <a:off x="10287000" y="5453079"/>
            <a:ext cx="1524000" cy="1019400"/>
          </a:xfrm>
          <a:prstGeom prst="rect">
            <a:avLst/>
          </a:prstGeom>
          <a:noFill/>
          <a:ln>
            <a:noFill/>
          </a:ln>
        </p:spPr>
      </p:sp>
      <p:sp>
        <p:nvSpPr>
          <p:cNvPr id="114" name="Google Shape;114;p1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Django Project Templates</a:t>
            </a:r>
            <a:endParaRPr b="0" sz="2700">
              <a:solidFill>
                <a:srgbClr val="045A36"/>
              </a:solidFill>
              <a:latin typeface="Montserrat SemiBold"/>
              <a:ea typeface="Montserrat SemiBold"/>
              <a:cs typeface="Montserrat SemiBold"/>
              <a:sym typeface="Montserrat SemiBold"/>
            </a:endParaRPr>
          </a:p>
        </p:txBody>
      </p:sp>
      <p:sp>
        <p:nvSpPr>
          <p:cNvPr id="115" name="Google Shape;115;p1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 name="Google Shape;116;p16"/>
          <p:cNvGrpSpPr/>
          <p:nvPr/>
        </p:nvGrpSpPr>
        <p:grpSpPr>
          <a:xfrm>
            <a:off x="762000" y="1524000"/>
            <a:ext cx="3619500" cy="4095900"/>
            <a:chOff x="762000" y="1524000"/>
            <a:chExt cx="3619500" cy="4095900"/>
          </a:xfrm>
        </p:grpSpPr>
        <p:sp>
          <p:nvSpPr>
            <p:cNvPr id="117" name="Google Shape;117;p16"/>
            <p:cNvSpPr/>
            <p:nvPr/>
          </p:nvSpPr>
          <p:spPr>
            <a:xfrm>
              <a:off x="762000" y="1524000"/>
              <a:ext cx="3619500" cy="4095900"/>
            </a:xfrm>
            <a:prstGeom prst="roundRect">
              <a:avLst>
                <a:gd fmla="val 210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8" name="Google Shape;118;p16"/>
            <p:cNvPicPr preferRelativeResize="0"/>
            <p:nvPr/>
          </p:nvPicPr>
          <p:blipFill rotWithShape="1">
            <a:blip r:embed="rId3">
              <a:alphaModFix/>
            </a:blip>
            <a:srcRect b="0" l="0" r="0" t="0"/>
            <a:stretch/>
          </p:blipFill>
          <p:spPr>
            <a:xfrm>
              <a:off x="857250" y="1857375"/>
              <a:ext cx="3429000" cy="3429000"/>
            </a:xfrm>
            <a:prstGeom prst="rect">
              <a:avLst/>
            </a:prstGeom>
            <a:noFill/>
            <a:ln>
              <a:noFill/>
            </a:ln>
          </p:spPr>
        </p:pic>
      </p:grpSp>
      <p:sp>
        <p:nvSpPr>
          <p:cNvPr id="119" name="Google Shape;119;p16"/>
          <p:cNvSpPr txBox="1"/>
          <p:nvPr/>
        </p:nvSpPr>
        <p:spPr>
          <a:xfrm>
            <a:off x="4762500" y="1524000"/>
            <a:ext cx="6667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To organize your Django project, templates are typically stored within a dedicated folder named </a:t>
            </a:r>
            <a:r>
              <a:rPr b="0" lang="en" sz="1350">
                <a:solidFill>
                  <a:srgbClr val="045A36"/>
                </a:solidFill>
                <a:highlight>
                  <a:srgbClr val="F1F5F9"/>
                </a:highlight>
                <a:latin typeface="Arial"/>
                <a:ea typeface="Arial"/>
                <a:cs typeface="Arial"/>
                <a:sym typeface="Arial"/>
              </a:rPr>
              <a:t>templates</a:t>
            </a:r>
            <a:r>
              <a:rPr b="0" lang="en" sz="1350">
                <a:solidFill>
                  <a:srgbClr val="374151"/>
                </a:solidFill>
                <a:latin typeface="Inter"/>
                <a:ea typeface="Inter"/>
                <a:cs typeface="Inter"/>
                <a:sym typeface="Inter"/>
              </a:rPr>
              <a:t>. In a standard project setup, you would create this </a:t>
            </a:r>
            <a:r>
              <a:rPr b="0" lang="en" sz="1350">
                <a:solidFill>
                  <a:srgbClr val="045A36"/>
                </a:solidFill>
                <a:highlight>
                  <a:srgbClr val="F1F5F9"/>
                </a:highlight>
                <a:latin typeface="Arial"/>
                <a:ea typeface="Arial"/>
                <a:cs typeface="Arial"/>
                <a:sym typeface="Arial"/>
              </a:rPr>
              <a:t>templates</a:t>
            </a:r>
            <a:r>
              <a:rPr b="0" lang="en" sz="1350">
                <a:solidFill>
                  <a:srgbClr val="374151"/>
                </a:solidFill>
                <a:latin typeface="Inter"/>
                <a:ea typeface="Inter"/>
                <a:cs typeface="Inter"/>
                <a:sym typeface="Inter"/>
              </a:rPr>
              <a:t> folder at the project level, in the same directory where your </a:t>
            </a:r>
            <a:r>
              <a:rPr b="0" lang="en" sz="1350">
                <a:solidFill>
                  <a:srgbClr val="045A36"/>
                </a:solidFill>
                <a:highlight>
                  <a:srgbClr val="F1F5F9"/>
                </a:highlight>
                <a:latin typeface="Arial"/>
                <a:ea typeface="Arial"/>
                <a:cs typeface="Arial"/>
                <a:sym typeface="Arial"/>
              </a:rPr>
              <a:t>manage.py</a:t>
            </a:r>
            <a:r>
              <a:rPr b="0" lang="en" sz="1350">
                <a:solidFill>
                  <a:srgbClr val="374151"/>
                </a:solidFill>
                <a:latin typeface="Inter"/>
                <a:ea typeface="Inter"/>
                <a:cs typeface="Inter"/>
                <a:sym typeface="Inter"/>
              </a:rPr>
              <a:t> file is located.</a:t>
            </a:r>
            <a:endParaRPr b="0" sz="1350">
              <a:solidFill>
                <a:srgbClr val="374151"/>
              </a:solidFill>
              <a:latin typeface="Inter"/>
              <a:ea typeface="Inter"/>
              <a:cs typeface="Inter"/>
              <a:sym typeface="Inter"/>
            </a:endParaRPr>
          </a:p>
        </p:txBody>
      </p:sp>
      <p:sp>
        <p:nvSpPr>
          <p:cNvPr id="120" name="Google Shape;120;p16"/>
          <p:cNvSpPr txBox="1"/>
          <p:nvPr/>
        </p:nvSpPr>
        <p:spPr>
          <a:xfrm>
            <a:off x="4762500" y="2667000"/>
            <a:ext cx="31434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Initial Configuration</a:t>
            </a:r>
            <a:endParaRPr b="0" sz="1300">
              <a:solidFill>
                <a:srgbClr val="045A36"/>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374151"/>
                </a:solidFill>
                <a:latin typeface="Inter"/>
                <a:ea typeface="Inter"/>
                <a:cs typeface="Inter"/>
                <a:sym typeface="Inter"/>
              </a:rPr>
              <a:t>Your project structure will look something like this:</a:t>
            </a:r>
            <a:endParaRPr b="0" sz="1300">
              <a:solidFill>
                <a:srgbClr val="374151"/>
              </a:solidFill>
              <a:latin typeface="Inter"/>
              <a:ea typeface="Inter"/>
              <a:cs typeface="Inter"/>
              <a:sym typeface="Inter"/>
            </a:endParaRPr>
          </a:p>
        </p:txBody>
      </p:sp>
      <p:grpSp>
        <p:nvGrpSpPr>
          <p:cNvPr id="121" name="Google Shape;121;p16"/>
          <p:cNvGrpSpPr/>
          <p:nvPr/>
        </p:nvGrpSpPr>
        <p:grpSpPr>
          <a:xfrm>
            <a:off x="4762500" y="3714750"/>
            <a:ext cx="3143400" cy="1905000"/>
            <a:chOff x="4762500" y="3714750"/>
            <a:chExt cx="3143400" cy="1905000"/>
          </a:xfrm>
        </p:grpSpPr>
        <p:sp>
          <p:nvSpPr>
            <p:cNvPr id="122" name="Google Shape;122;p16"/>
            <p:cNvSpPr/>
            <p:nvPr/>
          </p:nvSpPr>
          <p:spPr>
            <a:xfrm>
              <a:off x="4762500" y="3714750"/>
              <a:ext cx="3143400" cy="19050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txBox="1"/>
            <p:nvPr/>
          </p:nvSpPr>
          <p:spPr>
            <a:xfrm>
              <a:off x="4905375" y="3857625"/>
              <a:ext cx="2857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045A36"/>
                  </a:solidFill>
                  <a:latin typeface="Arial"/>
                  <a:ea typeface="Arial"/>
                  <a:cs typeface="Arial"/>
                  <a:sym typeface="Arial"/>
                </a:rPr>
                <a:t>myproject/</a:t>
              </a:r>
              <a:endParaRPr b="1" sz="1150">
                <a:solidFill>
                  <a:srgbClr val="045A36"/>
                </a:solidFill>
                <a:latin typeface="Arial"/>
                <a:ea typeface="Arial"/>
                <a:cs typeface="Arial"/>
                <a:sym typeface="Arial"/>
              </a:endParaRPr>
            </a:p>
            <a:p>
              <a:pPr indent="0" lvl="0" marL="0" rtl="0" algn="l">
                <a:spcBef>
                  <a:spcPts val="300"/>
                </a:spcBef>
                <a:spcAft>
                  <a:spcPts val="0"/>
                </a:spcAft>
                <a:buNone/>
              </a:pPr>
              <a:r>
                <a:rPr lang="en" sz="1150">
                  <a:solidFill>
                    <a:srgbClr val="4B5563"/>
                  </a:solidFill>
                  <a:latin typeface="Arial"/>
                  <a:ea typeface="Arial"/>
                  <a:cs typeface="Arial"/>
                  <a:sym typeface="Arial"/>
                </a:rPr>
                <a:t>├── manage.py</a:t>
              </a:r>
              <a:endParaRPr sz="1150">
                <a:solidFill>
                  <a:srgbClr val="4B5563"/>
                </a:solidFill>
                <a:latin typeface="Arial"/>
                <a:ea typeface="Arial"/>
                <a:cs typeface="Arial"/>
                <a:sym typeface="Arial"/>
              </a:endParaRPr>
            </a:p>
            <a:p>
              <a:pPr indent="0" lvl="0" marL="0" rtl="0" algn="l">
                <a:spcBef>
                  <a:spcPts val="300"/>
                </a:spcBef>
                <a:spcAft>
                  <a:spcPts val="0"/>
                </a:spcAft>
                <a:buNone/>
              </a:pPr>
              <a:r>
                <a:rPr b="1" lang="en" sz="1150">
                  <a:solidFill>
                    <a:srgbClr val="D4A017"/>
                  </a:solidFill>
                  <a:latin typeface="Arial"/>
                  <a:ea typeface="Arial"/>
                  <a:cs typeface="Arial"/>
                  <a:sym typeface="Arial"/>
                </a:rPr>
                <a:t>├── templates/</a:t>
              </a:r>
              <a:endParaRPr b="1" sz="1150">
                <a:solidFill>
                  <a:srgbClr val="D4A017"/>
                </a:solidFill>
                <a:latin typeface="Arial"/>
                <a:ea typeface="Arial"/>
                <a:cs typeface="Arial"/>
                <a:sym typeface="Arial"/>
              </a:endParaRPr>
            </a:p>
            <a:p>
              <a:pPr indent="0" lvl="0" marL="0" rtl="0" algn="l">
                <a:spcBef>
                  <a:spcPts val="300"/>
                </a:spcBef>
                <a:spcAft>
                  <a:spcPts val="0"/>
                </a:spcAft>
                <a:buNone/>
              </a:pPr>
              <a:r>
                <a:rPr lang="en" sz="1150">
                  <a:solidFill>
                    <a:srgbClr val="4B5563"/>
                  </a:solidFill>
                  <a:latin typeface="Arial"/>
                  <a:ea typeface="Arial"/>
                  <a:cs typeface="Arial"/>
                  <a:sym typeface="Arial"/>
                </a:rPr>
                <a:t>├── myapp/</a:t>
              </a:r>
              <a:endParaRPr sz="1150">
                <a:solidFill>
                  <a:srgbClr val="4B5563"/>
                </a:solidFill>
                <a:latin typeface="Arial"/>
                <a:ea typeface="Arial"/>
                <a:cs typeface="Arial"/>
                <a:sym typeface="Arial"/>
              </a:endParaRPr>
            </a:p>
            <a:p>
              <a:pPr indent="0" lvl="0" marL="0" rtl="0" algn="l">
                <a:spcBef>
                  <a:spcPts val="300"/>
                </a:spcBef>
                <a:spcAft>
                  <a:spcPts val="0"/>
                </a:spcAft>
                <a:buNone/>
              </a:pPr>
              <a:r>
                <a:rPr lang="en" sz="1150">
                  <a:solidFill>
                    <a:srgbClr val="4B5563"/>
                  </a:solidFill>
                  <a:latin typeface="Arial"/>
                  <a:ea typeface="Arial"/>
                  <a:cs typeface="Arial"/>
                  <a:sym typeface="Arial"/>
                </a:rPr>
                <a:t>└── myproject/</a:t>
              </a:r>
              <a:endParaRPr sz="1150">
                <a:solidFill>
                  <a:srgbClr val="4B5563"/>
                </a:solidFill>
                <a:latin typeface="Arial"/>
                <a:ea typeface="Arial"/>
                <a:cs typeface="Arial"/>
                <a:sym typeface="Arial"/>
              </a:endParaRPr>
            </a:p>
          </p:txBody>
        </p:sp>
      </p:grpSp>
      <p:sp>
        <p:nvSpPr>
          <p:cNvPr id="124" name="Google Shape;124;p16"/>
          <p:cNvSpPr txBox="1"/>
          <p:nvPr/>
        </p:nvSpPr>
        <p:spPr>
          <a:xfrm>
            <a:off x="8191500" y="2667000"/>
            <a:ext cx="3238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045A36"/>
                </a:solidFill>
                <a:latin typeface="Inter SemiBold"/>
                <a:ea typeface="Inter SemiBold"/>
                <a:cs typeface="Inter SemiBold"/>
                <a:sym typeface="Inter SemiBold"/>
              </a:rPr>
              <a:t>Template File Creation</a:t>
            </a:r>
            <a:endParaRPr b="0" sz="1203">
              <a:solidFill>
                <a:srgbClr val="045A36"/>
              </a:solidFill>
              <a:latin typeface="Inter SemiBold"/>
              <a:ea typeface="Inter SemiBold"/>
              <a:cs typeface="Inter SemiBold"/>
              <a:sym typeface="Inter SemiBold"/>
            </a:endParaRPr>
          </a:p>
          <a:p>
            <a:pPr indent="0" lvl="0" marL="0" rtl="0" algn="l">
              <a:spcBef>
                <a:spcPts val="450"/>
              </a:spcBef>
              <a:spcAft>
                <a:spcPts val="0"/>
              </a:spcAft>
              <a:buNone/>
            </a:pPr>
            <a:r>
              <a:rPr b="0" lang="en" sz="1203">
                <a:solidFill>
                  <a:srgbClr val="374151"/>
                </a:solidFill>
                <a:latin typeface="Inter"/>
                <a:ea typeface="Inter"/>
                <a:cs typeface="Inter"/>
                <a:sym typeface="Inter"/>
              </a:rPr>
              <a:t>Inside this newly created templates folder, you can add your HTML template files. For example, you might create a file named home.html. The structure then becomes:</a:t>
            </a:r>
            <a:endParaRPr b="0" sz="1203">
              <a:solidFill>
                <a:srgbClr val="374151"/>
              </a:solidFill>
              <a:latin typeface="Inter"/>
              <a:ea typeface="Inter"/>
              <a:cs typeface="Inter"/>
              <a:sym typeface="Inter"/>
            </a:endParaRPr>
          </a:p>
        </p:txBody>
      </p:sp>
      <p:grpSp>
        <p:nvGrpSpPr>
          <p:cNvPr id="125" name="Google Shape;125;p16"/>
          <p:cNvGrpSpPr/>
          <p:nvPr/>
        </p:nvGrpSpPr>
        <p:grpSpPr>
          <a:xfrm>
            <a:off x="8191500" y="3714750"/>
            <a:ext cx="3238500" cy="1905000"/>
            <a:chOff x="8191500" y="3714750"/>
            <a:chExt cx="3238500" cy="1905000"/>
          </a:xfrm>
        </p:grpSpPr>
        <p:sp>
          <p:nvSpPr>
            <p:cNvPr id="126" name="Google Shape;126;p16"/>
            <p:cNvSpPr/>
            <p:nvPr/>
          </p:nvSpPr>
          <p:spPr>
            <a:xfrm>
              <a:off x="8191500" y="3714750"/>
              <a:ext cx="3238500" cy="19050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8334375" y="3857625"/>
              <a:ext cx="2952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78">
                  <a:solidFill>
                    <a:srgbClr val="045A36"/>
                  </a:solidFill>
                  <a:latin typeface="Arial"/>
                  <a:ea typeface="Arial"/>
                  <a:cs typeface="Arial"/>
                  <a:sym typeface="Arial"/>
                </a:rPr>
                <a:t>myproject/</a:t>
              </a:r>
              <a:endParaRPr b="1" sz="978">
                <a:solidFill>
                  <a:srgbClr val="045A36"/>
                </a:solidFill>
                <a:latin typeface="Arial"/>
                <a:ea typeface="Arial"/>
                <a:cs typeface="Arial"/>
                <a:sym typeface="Arial"/>
              </a:endParaRPr>
            </a:p>
            <a:p>
              <a:pPr indent="0" lvl="0" marL="0" rtl="0" algn="l">
                <a:spcBef>
                  <a:spcPts val="225"/>
                </a:spcBef>
                <a:spcAft>
                  <a:spcPts val="0"/>
                </a:spcAft>
                <a:buNone/>
              </a:pPr>
              <a:r>
                <a:rPr lang="en" sz="978">
                  <a:solidFill>
                    <a:srgbClr val="4B5563"/>
                  </a:solidFill>
                  <a:latin typeface="Arial"/>
                  <a:ea typeface="Arial"/>
                  <a:cs typeface="Arial"/>
                  <a:sym typeface="Arial"/>
                </a:rPr>
                <a:t>├── manage.py</a:t>
              </a:r>
              <a:endParaRPr sz="978">
                <a:solidFill>
                  <a:srgbClr val="4B5563"/>
                </a:solidFill>
                <a:latin typeface="Arial"/>
                <a:ea typeface="Arial"/>
                <a:cs typeface="Arial"/>
                <a:sym typeface="Arial"/>
              </a:endParaRPr>
            </a:p>
            <a:p>
              <a:pPr indent="0" lvl="0" marL="0" rtl="0" algn="l">
                <a:spcBef>
                  <a:spcPts val="225"/>
                </a:spcBef>
                <a:spcAft>
                  <a:spcPts val="0"/>
                </a:spcAft>
                <a:buNone/>
              </a:pPr>
              <a:r>
                <a:rPr b="1" lang="en" sz="978">
                  <a:solidFill>
                    <a:srgbClr val="D4A017"/>
                  </a:solidFill>
                  <a:latin typeface="Arial"/>
                  <a:ea typeface="Arial"/>
                  <a:cs typeface="Arial"/>
                  <a:sym typeface="Arial"/>
                </a:rPr>
                <a:t>├── templates/</a:t>
              </a:r>
              <a:endParaRPr b="1" sz="978">
                <a:solidFill>
                  <a:srgbClr val="D4A017"/>
                </a:solidFill>
                <a:latin typeface="Arial"/>
                <a:ea typeface="Arial"/>
                <a:cs typeface="Arial"/>
                <a:sym typeface="Arial"/>
              </a:endParaRPr>
            </a:p>
            <a:p>
              <a:pPr indent="0" lvl="0" marL="0" rtl="0" algn="l">
                <a:spcBef>
                  <a:spcPts val="225"/>
                </a:spcBef>
                <a:spcAft>
                  <a:spcPts val="0"/>
                </a:spcAft>
                <a:buNone/>
              </a:pPr>
              <a:r>
                <a:rPr b="1" lang="en" sz="978">
                  <a:solidFill>
                    <a:srgbClr val="D4A017"/>
                  </a:solidFill>
                  <a:latin typeface="Arial"/>
                  <a:ea typeface="Arial"/>
                  <a:cs typeface="Arial"/>
                  <a:sym typeface="Arial"/>
                </a:rPr>
                <a:t>└── home.html</a:t>
              </a:r>
              <a:endParaRPr b="1" sz="978">
                <a:solidFill>
                  <a:srgbClr val="D4A017"/>
                </a:solidFill>
                <a:latin typeface="Arial"/>
                <a:ea typeface="Arial"/>
                <a:cs typeface="Arial"/>
                <a:sym typeface="Arial"/>
              </a:endParaRPr>
            </a:p>
            <a:p>
              <a:pPr indent="0" lvl="0" marL="0" rtl="0" algn="l">
                <a:spcBef>
                  <a:spcPts val="225"/>
                </a:spcBef>
                <a:spcAft>
                  <a:spcPts val="0"/>
                </a:spcAft>
                <a:buNone/>
              </a:pPr>
              <a:r>
                <a:rPr lang="en" sz="978">
                  <a:solidFill>
                    <a:srgbClr val="4B5563"/>
                  </a:solidFill>
                  <a:latin typeface="Arial"/>
                  <a:ea typeface="Arial"/>
                  <a:cs typeface="Arial"/>
                  <a:sym typeface="Arial"/>
                </a:rPr>
                <a:t>├── myapp/</a:t>
              </a:r>
              <a:endParaRPr sz="978">
                <a:solidFill>
                  <a:srgbClr val="4B5563"/>
                </a:solidFill>
                <a:latin typeface="Arial"/>
                <a:ea typeface="Arial"/>
                <a:cs typeface="Arial"/>
                <a:sym typeface="Arial"/>
              </a:endParaRPr>
            </a:p>
            <a:p>
              <a:pPr indent="0" lvl="0" marL="0" rtl="0" algn="l">
                <a:spcBef>
                  <a:spcPts val="225"/>
                </a:spcBef>
                <a:spcAft>
                  <a:spcPts val="0"/>
                </a:spcAft>
                <a:buNone/>
              </a:pPr>
              <a:r>
                <a:rPr lang="en" sz="978">
                  <a:solidFill>
                    <a:srgbClr val="4B5563"/>
                  </a:solidFill>
                  <a:latin typeface="Arial"/>
                  <a:ea typeface="Arial"/>
                  <a:cs typeface="Arial"/>
                  <a:sym typeface="Arial"/>
                </a:rPr>
                <a:t>└── views.py</a:t>
              </a:r>
              <a:endParaRPr sz="978">
                <a:solidFill>
                  <a:srgbClr val="4B5563"/>
                </a:solidFill>
                <a:latin typeface="Arial"/>
                <a:ea typeface="Arial"/>
                <a:cs typeface="Arial"/>
                <a:sym typeface="Arial"/>
              </a:endParaRPr>
            </a:p>
            <a:p>
              <a:pPr indent="0" lvl="0" marL="0" rtl="0" algn="l">
                <a:spcBef>
                  <a:spcPts val="225"/>
                </a:spcBef>
                <a:spcAft>
                  <a:spcPts val="0"/>
                </a:spcAft>
                <a:buNone/>
              </a:pPr>
              <a:r>
                <a:rPr lang="en" sz="978">
                  <a:solidFill>
                    <a:srgbClr val="4B5563"/>
                  </a:solidFill>
                  <a:latin typeface="Arial"/>
                  <a:ea typeface="Arial"/>
                  <a:cs typeface="Arial"/>
                  <a:sym typeface="Arial"/>
                </a:rPr>
                <a:t>└── myproject/</a:t>
              </a:r>
              <a:endParaRPr sz="978">
                <a:solidFill>
                  <a:srgbClr val="4B5563"/>
                </a:solidFill>
                <a:latin typeface="Arial"/>
                <a:ea typeface="Arial"/>
                <a:cs typeface="Arial"/>
                <a:sym typeface="Arial"/>
              </a:endParaRPr>
            </a:p>
            <a:p>
              <a:pPr indent="0" lvl="0" marL="0" rtl="0" algn="l">
                <a:spcBef>
                  <a:spcPts val="0"/>
                </a:spcBef>
                <a:spcAft>
                  <a:spcPts val="0"/>
                </a:spcAft>
                <a:buNone/>
              </a:pPr>
              <a:r>
                <a:rPr lang="en" sz="978">
                  <a:solidFill>
                    <a:srgbClr val="4B5563"/>
                  </a:solidFill>
                  <a:latin typeface="Arial"/>
                  <a:ea typeface="Arial"/>
                  <a:cs typeface="Arial"/>
                  <a:sym typeface="Arial"/>
                </a:rPr>
                <a:t>├── settings.py</a:t>
              </a:r>
              <a:endParaRPr sz="978">
                <a:solidFill>
                  <a:srgbClr val="4B5563"/>
                </a:solidFill>
                <a:latin typeface="Arial"/>
                <a:ea typeface="Arial"/>
                <a:cs typeface="Arial"/>
                <a:sym typeface="Arial"/>
              </a:endParaRPr>
            </a:p>
            <a:p>
              <a:pPr indent="0" lvl="0" marL="0" rtl="0" algn="l">
                <a:spcBef>
                  <a:spcPts val="0"/>
                </a:spcBef>
                <a:spcAft>
                  <a:spcPts val="0"/>
                </a:spcAft>
                <a:buNone/>
              </a:pPr>
              <a:r>
                <a:rPr lang="en" sz="978">
                  <a:solidFill>
                    <a:srgbClr val="4B5563"/>
                  </a:solidFill>
                  <a:latin typeface="Arial"/>
                  <a:ea typeface="Arial"/>
                  <a:cs typeface="Arial"/>
                  <a:sym typeface="Arial"/>
                </a:rPr>
                <a:t>└── urls.py</a:t>
              </a:r>
              <a:endParaRPr sz="978">
                <a:solidFill>
                  <a:srgbClr val="4B5563"/>
                </a:solidFill>
                <a:latin typeface="Arial"/>
                <a:ea typeface="Arial"/>
                <a:cs typeface="Arial"/>
                <a:sym typeface="Arial"/>
              </a:endParaRPr>
            </a:p>
          </p:txBody>
        </p:sp>
      </p:grpSp>
      <p:sp>
        <p:nvSpPr>
          <p:cNvPr id="128" name="Google Shape;128;p16"/>
          <p:cNvSpPr/>
          <p:nvPr>
            <p:ph idx="5" type="pic"/>
          </p:nvPr>
        </p:nvSpPr>
        <p:spPr>
          <a:xfrm>
            <a:off x="762000" y="5981700"/>
            <a:ext cx="10668000" cy="304800"/>
          </a:xfrm>
          <a:prstGeom prst="rect">
            <a:avLst/>
          </a:prstGeom>
          <a:noFill/>
          <a:ln>
            <a:noFill/>
          </a:ln>
        </p:spPr>
      </p:sp>
      <p:sp>
        <p:nvSpPr>
          <p:cNvPr id="129" name="Google Shape;129;p16"/>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7"/>
          <p:cNvSpPr/>
          <p:nvPr>
            <p:ph idx="2" type="pic"/>
          </p:nvPr>
        </p:nvSpPr>
        <p:spPr>
          <a:xfrm>
            <a:off x="0" y="0"/>
            <a:ext cx="12192000" cy="6858000"/>
          </a:xfrm>
          <a:prstGeom prst="rect">
            <a:avLst/>
          </a:prstGeom>
          <a:noFill/>
          <a:ln>
            <a:noFill/>
          </a:ln>
        </p:spPr>
      </p:sp>
      <p:sp>
        <p:nvSpPr>
          <p:cNvPr id="136" name="Google Shape;136;p17"/>
          <p:cNvSpPr/>
          <p:nvPr>
            <p:ph idx="3" type="pic"/>
          </p:nvPr>
        </p:nvSpPr>
        <p:spPr>
          <a:xfrm>
            <a:off x="0" y="0"/>
            <a:ext cx="12192000" cy="57300"/>
          </a:xfrm>
          <a:prstGeom prst="rect">
            <a:avLst/>
          </a:prstGeom>
          <a:noFill/>
          <a:ln>
            <a:noFill/>
          </a:ln>
        </p:spPr>
      </p:sp>
      <p:sp>
        <p:nvSpPr>
          <p:cNvPr id="137" name="Google Shape;137;p1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Configuring Template Directories</a:t>
            </a:r>
            <a:endParaRPr b="0" sz="2700">
              <a:solidFill>
                <a:srgbClr val="045A36"/>
              </a:solidFill>
              <a:latin typeface="Montserrat SemiBold"/>
              <a:ea typeface="Montserrat SemiBold"/>
              <a:cs typeface="Montserrat SemiBold"/>
              <a:sym typeface="Montserrat SemiBold"/>
            </a:endParaRPr>
          </a:p>
        </p:txBody>
      </p:sp>
      <p:sp>
        <p:nvSpPr>
          <p:cNvPr id="138" name="Google Shape;138;p1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9" name="Google Shape;139;p17"/>
          <p:cNvGrpSpPr/>
          <p:nvPr/>
        </p:nvGrpSpPr>
        <p:grpSpPr>
          <a:xfrm>
            <a:off x="762000" y="1524000"/>
            <a:ext cx="10668000" cy="3810000"/>
            <a:chOff x="0" y="0"/>
            <a:chExt cx="10668000" cy="3810000"/>
          </a:xfrm>
        </p:grpSpPr>
        <p:sp>
          <p:nvSpPr>
            <p:cNvPr id="140" name="Google Shape;140;p17"/>
            <p:cNvSpPr txBox="1"/>
            <p:nvPr/>
          </p:nvSpPr>
          <p:spPr>
            <a:xfrm>
              <a:off x="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Django Settings Update</a:t>
              </a:r>
              <a:endParaRPr b="1" sz="1650">
                <a:solidFill>
                  <a:srgbClr val="045A36"/>
                </a:solidFill>
                <a:latin typeface="Montserrat"/>
                <a:ea typeface="Montserrat"/>
                <a:cs typeface="Montserrat"/>
                <a:sym typeface="Montserrat"/>
              </a:endParaRPr>
            </a:p>
          </p:txBody>
        </p:sp>
        <p:sp>
          <p:nvSpPr>
            <p:cNvPr id="141" name="Google Shape;141;p17"/>
            <p:cNvSpPr/>
            <p:nvPr/>
          </p:nvSpPr>
          <p:spPr>
            <a:xfrm>
              <a:off x="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7"/>
            <p:cNvSpPr txBox="1"/>
            <p:nvPr/>
          </p:nvSpPr>
          <p:spPr>
            <a:xfrm>
              <a:off x="0" y="571500"/>
              <a:ext cx="4953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Once the </a:t>
              </a:r>
              <a:r>
                <a:rPr b="0" lang="en" sz="1350">
                  <a:solidFill>
                    <a:srgbClr val="045A36"/>
                  </a:solidFill>
                  <a:latin typeface="Inter SemiBold"/>
                  <a:ea typeface="Inter SemiBold"/>
                  <a:cs typeface="Inter SemiBold"/>
                  <a:sym typeface="Inter SemiBold"/>
                </a:rPr>
                <a:t>templates</a:t>
              </a:r>
              <a:r>
                <a:rPr b="0" lang="en" sz="1350">
                  <a:solidFill>
                    <a:srgbClr val="374151"/>
                  </a:solidFill>
                  <a:latin typeface="Inter"/>
                  <a:ea typeface="Inter"/>
                  <a:cs typeface="Inter"/>
                  <a:sym typeface="Inter"/>
                </a:rPr>
                <a:t> folder is created, Django must be configured to locate it. This is done in the </a:t>
              </a:r>
              <a:r>
                <a:rPr b="0" i="1" lang="en" sz="1350">
                  <a:solidFill>
                    <a:srgbClr val="374151"/>
                  </a:solidFill>
                  <a:latin typeface="Inter"/>
                  <a:ea typeface="Inter"/>
                  <a:cs typeface="Inter"/>
                  <a:sym typeface="Inter"/>
                </a:rPr>
                <a:t>myproject/settings.py</a:t>
              </a:r>
              <a:r>
                <a:rPr b="0" lang="en" sz="1350">
                  <a:solidFill>
                    <a:srgbClr val="374151"/>
                  </a:solidFill>
                  <a:latin typeface="Inter"/>
                  <a:ea typeface="Inter"/>
                  <a:cs typeface="Inter"/>
                  <a:sym typeface="Inter"/>
                </a:rPr>
                <a:t> file within the </a:t>
              </a:r>
              <a:r>
                <a:rPr b="0" lang="en" sz="1350">
                  <a:solidFill>
                    <a:srgbClr val="045A36"/>
                  </a:solidFill>
                  <a:latin typeface="Inter SemiBold"/>
                  <a:ea typeface="Inter SemiBold"/>
                  <a:cs typeface="Inter SemiBold"/>
                  <a:sym typeface="Inter SemiBold"/>
                </a:rPr>
                <a:t>TEMPLATES</a:t>
              </a:r>
              <a:r>
                <a:rPr b="0" lang="en" sz="1350">
                  <a:solidFill>
                    <a:srgbClr val="374151"/>
                  </a:solidFill>
                  <a:latin typeface="Inter"/>
                  <a:ea typeface="Inter"/>
                  <a:cs typeface="Inter"/>
                  <a:sym typeface="Inter"/>
                </a:rPr>
                <a:t> configuration section.</a:t>
              </a:r>
              <a:endParaRPr b="0" sz="1350">
                <a:solidFill>
                  <a:srgbClr val="374151"/>
                </a:solidFill>
                <a:latin typeface="Inter"/>
                <a:ea typeface="Inter"/>
                <a:cs typeface="Inter"/>
                <a:sym typeface="Inter"/>
              </a:endParaRPr>
            </a:p>
            <a:p>
              <a:pPr indent="0" lvl="0" marL="0" rtl="0" algn="l">
                <a:spcBef>
                  <a:spcPts val="1050"/>
                </a:spcBef>
                <a:spcAft>
                  <a:spcPts val="0"/>
                </a:spcAft>
                <a:buNone/>
              </a:pPr>
              <a:r>
                <a:rPr b="0" lang="en" sz="1350">
                  <a:solidFill>
                    <a:srgbClr val="374151"/>
                  </a:solidFill>
                  <a:latin typeface="Inter"/>
                  <a:ea typeface="Inter"/>
                  <a:cs typeface="Inter"/>
                  <a:sym typeface="Inter"/>
                </a:rPr>
                <a:t>By default, the </a:t>
              </a:r>
              <a:r>
                <a:rPr b="0" lang="en" sz="1350">
                  <a:solidFill>
                    <a:srgbClr val="374151"/>
                  </a:solidFill>
                  <a:latin typeface="Inter SemiBold"/>
                  <a:ea typeface="Inter SemiBold"/>
                  <a:cs typeface="Inter SemiBold"/>
                  <a:sym typeface="Inter SemiBold"/>
                </a:rPr>
                <a:t>DIRS</a:t>
              </a:r>
              <a:r>
                <a:rPr b="0" lang="en" sz="1350">
                  <a:solidFill>
                    <a:srgbClr val="374151"/>
                  </a:solidFill>
                  <a:latin typeface="Inter"/>
                  <a:ea typeface="Inter"/>
                  <a:cs typeface="Inter"/>
                  <a:sym typeface="Inter"/>
                </a:rPr>
                <a:t> option in this section is an empty list </a:t>
              </a:r>
              <a:r>
                <a:rPr b="0" lang="en" sz="1350">
                  <a:solidFill>
                    <a:srgbClr val="374151"/>
                  </a:solidFill>
                  <a:latin typeface="Arial"/>
                  <a:ea typeface="Arial"/>
                  <a:cs typeface="Arial"/>
                  <a:sym typeface="Arial"/>
                </a:rPr>
                <a:t>[]</a:t>
              </a:r>
              <a:r>
                <a:rPr b="0" lang="en" sz="1350">
                  <a:solidFill>
                    <a:srgbClr val="374151"/>
                  </a:solidFill>
                  <a:latin typeface="Inter"/>
                  <a:ea typeface="Inter"/>
                  <a:cs typeface="Inter"/>
                  <a:sym typeface="Inter"/>
                </a:rPr>
                <a:t>.</a:t>
              </a:r>
              <a:endParaRPr b="0" sz="1350">
                <a:solidFill>
                  <a:srgbClr val="374151"/>
                </a:solidFill>
                <a:latin typeface="Inter"/>
                <a:ea typeface="Inter"/>
                <a:cs typeface="Inter"/>
                <a:sym typeface="Inter"/>
              </a:endParaRPr>
            </a:p>
            <a:p>
              <a:pPr indent="0" lvl="0" marL="0" rtl="0" algn="l">
                <a:spcBef>
                  <a:spcPts val="1050"/>
                </a:spcBef>
                <a:spcAft>
                  <a:spcPts val="0"/>
                </a:spcAft>
                <a:buNone/>
              </a:pPr>
              <a:r>
                <a:rPr b="0" lang="en" sz="1350">
                  <a:solidFill>
                    <a:srgbClr val="374151"/>
                  </a:solidFill>
                  <a:latin typeface="Inter"/>
                  <a:ea typeface="Inter"/>
                  <a:cs typeface="Inter"/>
                  <a:sym typeface="Inter"/>
                </a:rPr>
                <a:t>You must modify the </a:t>
              </a:r>
              <a:r>
                <a:rPr b="0" lang="en" sz="1350">
                  <a:solidFill>
                    <a:srgbClr val="374151"/>
                  </a:solidFill>
                  <a:latin typeface="Inter SemiBold"/>
                  <a:ea typeface="Inter SemiBold"/>
                  <a:cs typeface="Inter SemiBold"/>
                  <a:sym typeface="Inter SemiBold"/>
                </a:rPr>
                <a:t>DIRS</a:t>
              </a:r>
              <a:r>
                <a:rPr b="0" lang="en" sz="1350">
                  <a:solidFill>
                    <a:srgbClr val="374151"/>
                  </a:solidFill>
                  <a:latin typeface="Inter"/>
                  <a:ea typeface="Inter"/>
                  <a:cs typeface="Inter"/>
                  <a:sym typeface="Inter"/>
                </a:rPr>
                <a:t> option to include the path to your templates folder:</a:t>
              </a:r>
              <a:endParaRPr b="0" sz="1350">
                <a:solidFill>
                  <a:srgbClr val="374151"/>
                </a:solidFill>
                <a:latin typeface="Inter"/>
                <a:ea typeface="Inter"/>
                <a:cs typeface="Inter"/>
                <a:sym typeface="Inter"/>
              </a:endParaRPr>
            </a:p>
            <a:p>
              <a:pPr indent="0" lvl="0" marL="190500" marR="0" rtl="0" algn="l">
                <a:spcBef>
                  <a:spcPts val="1050"/>
                </a:spcBef>
                <a:spcAft>
                  <a:spcPts val="0"/>
                </a:spcAft>
                <a:buNone/>
              </a:pPr>
              <a:r>
                <a:rPr b="0" lang="en" sz="1350">
                  <a:solidFill>
                    <a:srgbClr val="D4A017"/>
                  </a:solidFill>
                  <a:latin typeface="Arial"/>
                  <a:ea typeface="Arial"/>
                  <a:cs typeface="Arial"/>
                  <a:sym typeface="Arial"/>
                </a:rPr>
                <a:t>'DIRS': [BASE_DIR / 'templates']</a:t>
              </a:r>
              <a:endParaRPr b="0" sz="1350">
                <a:solidFill>
                  <a:srgbClr val="D4A017"/>
                </a:solidFill>
                <a:latin typeface="Arial"/>
                <a:ea typeface="Arial"/>
                <a:cs typeface="Arial"/>
                <a:sym typeface="Arial"/>
              </a:endParaRPr>
            </a:p>
            <a:p>
              <a:pPr indent="0" lvl="0" marL="0" rtl="0" algn="l">
                <a:spcBef>
                  <a:spcPts val="1050"/>
                </a:spcBef>
                <a:spcAft>
                  <a:spcPts val="0"/>
                </a:spcAft>
                <a:buNone/>
              </a:pPr>
              <a:r>
                <a:rPr b="0" lang="en" sz="1350">
                  <a:solidFill>
                    <a:srgbClr val="045A36"/>
                  </a:solidFill>
                  <a:latin typeface="Inter SemiBold"/>
                  <a:ea typeface="Inter SemiBold"/>
                  <a:cs typeface="Inter SemiBold"/>
                  <a:sym typeface="Inter SemiBold"/>
                </a:rPr>
                <a:t>BASE_DIR</a:t>
              </a:r>
              <a:r>
                <a:rPr b="0" lang="en" sz="1350">
                  <a:solidFill>
                    <a:srgbClr val="374151"/>
                  </a:solidFill>
                  <a:latin typeface="Inter"/>
                  <a:ea typeface="Inter"/>
                  <a:cs typeface="Inter"/>
                  <a:sym typeface="Inter"/>
                </a:rPr>
                <a:t> represents the main directory of your Django project. By adding this path, you explicitly instruct Django to search for HTML template files inside that folder.</a:t>
              </a:r>
              <a:endParaRPr b="0" sz="1350">
                <a:solidFill>
                  <a:srgbClr val="374151"/>
                </a:solidFill>
                <a:latin typeface="Inter"/>
                <a:ea typeface="Inter"/>
                <a:cs typeface="Inter"/>
                <a:sym typeface="Inter"/>
              </a:endParaRPr>
            </a:p>
          </p:txBody>
        </p:sp>
        <p:sp>
          <p:nvSpPr>
            <p:cNvPr id="143" name="Google Shape;143;p17"/>
            <p:cNvSpPr/>
            <p:nvPr/>
          </p:nvSpPr>
          <p:spPr>
            <a:xfrm>
              <a:off x="5324475" y="0"/>
              <a:ext cx="19200" cy="3619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571500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TEMPLATES Configuration</a:t>
              </a:r>
              <a:endParaRPr b="1" sz="1650">
                <a:solidFill>
                  <a:srgbClr val="045A36"/>
                </a:solidFill>
                <a:latin typeface="Montserrat"/>
                <a:ea typeface="Montserrat"/>
                <a:cs typeface="Montserrat"/>
                <a:sym typeface="Montserrat"/>
              </a:endParaRPr>
            </a:p>
          </p:txBody>
        </p:sp>
        <p:sp>
          <p:nvSpPr>
            <p:cNvPr id="145" name="Google Shape;145;p17"/>
            <p:cNvSpPr/>
            <p:nvPr/>
          </p:nvSpPr>
          <p:spPr>
            <a:xfrm>
              <a:off x="571500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7"/>
            <p:cNvSpPr/>
            <p:nvPr/>
          </p:nvSpPr>
          <p:spPr>
            <a:xfrm>
              <a:off x="5715000" y="571500"/>
              <a:ext cx="4953000" cy="2857500"/>
            </a:xfrm>
            <a:prstGeom prst="roundRect">
              <a:avLst>
                <a:gd fmla="val 2666" name="adj"/>
              </a:avLst>
            </a:prstGeom>
            <a:solidFill>
              <a:srgbClr val="37415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7"/>
            <p:cNvSpPr txBox="1"/>
            <p:nvPr/>
          </p:nvSpPr>
          <p:spPr>
            <a:xfrm>
              <a:off x="5905500" y="762000"/>
              <a:ext cx="4572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D4A017"/>
                  </a:solidFill>
                  <a:latin typeface="Arial"/>
                  <a:ea typeface="Arial"/>
                  <a:cs typeface="Arial"/>
                  <a:sym typeface="Arial"/>
                </a:rPr>
                <a:t>TEMPLATES = [</a:t>
              </a:r>
              <a:endParaRPr b="1" sz="1150">
                <a:solidFill>
                  <a:srgbClr val="D4A017"/>
                </a:solidFill>
                <a:latin typeface="Arial"/>
                <a:ea typeface="Arial"/>
                <a:cs typeface="Arial"/>
                <a:sym typeface="Arial"/>
              </a:endParaRPr>
            </a:p>
            <a:p>
              <a:pPr indent="0" lvl="0" marL="190500" marR="0" rtl="0" algn="l">
                <a:spcBef>
                  <a:spcPts val="450"/>
                </a:spcBef>
                <a:spcAft>
                  <a:spcPts val="0"/>
                </a:spcAft>
                <a:buNone/>
              </a:pPr>
              <a:r>
                <a:rPr lang="en" sz="1150">
                  <a:solidFill>
                    <a:srgbClr val="F8FAFC"/>
                  </a:solidFill>
                  <a:latin typeface="Arial"/>
                  <a:ea typeface="Arial"/>
                  <a:cs typeface="Arial"/>
                  <a:sym typeface="Arial"/>
                </a:rPr>
                <a:t>{</a:t>
              </a:r>
              <a:endParaRPr sz="1150">
                <a:solidFill>
                  <a:srgbClr val="F8FAFC"/>
                </a:solidFill>
                <a:latin typeface="Arial"/>
                <a:ea typeface="Arial"/>
                <a:cs typeface="Arial"/>
                <a:sym typeface="Arial"/>
              </a:endParaRPr>
            </a:p>
            <a:p>
              <a:pPr indent="0" lvl="0" marL="381000" marR="0" rtl="0" algn="l">
                <a:spcBef>
                  <a:spcPts val="450"/>
                </a:spcBef>
                <a:spcAft>
                  <a:spcPts val="0"/>
                </a:spcAft>
                <a:buNone/>
              </a:pPr>
              <a:r>
                <a:rPr lang="en" sz="1150">
                  <a:solidFill>
                    <a:srgbClr val="6B7280"/>
                  </a:solidFill>
                  <a:latin typeface="Arial"/>
                  <a:ea typeface="Arial"/>
                  <a:cs typeface="Arial"/>
                  <a:sym typeface="Arial"/>
                </a:rPr>
                <a:t>'BACKEND': 'django.template.backends.django.DjangoTemplates',</a:t>
              </a:r>
              <a:endParaRPr sz="1150">
                <a:solidFill>
                  <a:srgbClr val="6B7280"/>
                </a:solidFill>
                <a:latin typeface="Arial"/>
                <a:ea typeface="Arial"/>
                <a:cs typeface="Arial"/>
                <a:sym typeface="Arial"/>
              </a:endParaRPr>
            </a:p>
            <a:p>
              <a:pPr indent="0" lvl="0" marL="381000" marR="0" rtl="0" algn="l">
                <a:spcBef>
                  <a:spcPts val="450"/>
                </a:spcBef>
                <a:spcAft>
                  <a:spcPts val="0"/>
                </a:spcAft>
                <a:buNone/>
              </a:pPr>
              <a:r>
                <a:rPr b="1" lang="en" sz="1150">
                  <a:solidFill>
                    <a:srgbClr val="D4A017"/>
                  </a:solidFill>
                  <a:latin typeface="Arial"/>
                  <a:ea typeface="Arial"/>
                  <a:cs typeface="Arial"/>
                  <a:sym typeface="Arial"/>
                </a:rPr>
                <a:t>'DIRS': [BASE_DIR / 'templates'],</a:t>
              </a:r>
              <a:endParaRPr b="1" sz="1150">
                <a:solidFill>
                  <a:srgbClr val="D4A017"/>
                </a:solidFill>
                <a:latin typeface="Arial"/>
                <a:ea typeface="Arial"/>
                <a:cs typeface="Arial"/>
                <a:sym typeface="Arial"/>
              </a:endParaRPr>
            </a:p>
            <a:p>
              <a:pPr indent="0" lvl="0" marL="381000" marR="0" rtl="0" algn="l">
                <a:spcBef>
                  <a:spcPts val="600"/>
                </a:spcBef>
                <a:spcAft>
                  <a:spcPts val="0"/>
                </a:spcAft>
                <a:buNone/>
              </a:pPr>
              <a:r>
                <a:rPr lang="en" sz="1150">
                  <a:solidFill>
                    <a:srgbClr val="F8FAFC"/>
                  </a:solidFill>
                  <a:latin typeface="Arial"/>
                  <a:ea typeface="Arial"/>
                  <a:cs typeface="Arial"/>
                  <a:sym typeface="Arial"/>
                </a:rPr>
                <a:t>'APP_DIRS': True,</a:t>
              </a:r>
              <a:endParaRPr sz="1150">
                <a:solidFill>
                  <a:srgbClr val="F8FAFC"/>
                </a:solidFill>
                <a:latin typeface="Arial"/>
                <a:ea typeface="Arial"/>
                <a:cs typeface="Arial"/>
                <a:sym typeface="Arial"/>
              </a:endParaRPr>
            </a:p>
            <a:p>
              <a:pPr indent="0" lvl="0" marL="381000" marR="0" rtl="0" algn="l">
                <a:spcBef>
                  <a:spcPts val="450"/>
                </a:spcBef>
                <a:spcAft>
                  <a:spcPts val="0"/>
                </a:spcAft>
                <a:buNone/>
              </a:pPr>
              <a:r>
                <a:rPr lang="en" sz="1150">
                  <a:solidFill>
                    <a:srgbClr val="6B7280"/>
                  </a:solidFill>
                  <a:latin typeface="Arial"/>
                  <a:ea typeface="Arial"/>
                  <a:cs typeface="Arial"/>
                  <a:sym typeface="Arial"/>
                </a:rPr>
                <a:t>...</a:t>
              </a:r>
              <a:endParaRPr sz="1150">
                <a:solidFill>
                  <a:srgbClr val="6B7280"/>
                </a:solidFill>
                <a:latin typeface="Arial"/>
                <a:ea typeface="Arial"/>
                <a:cs typeface="Arial"/>
                <a:sym typeface="Arial"/>
              </a:endParaRPr>
            </a:p>
            <a:p>
              <a:pPr indent="0" lvl="0" marL="190500" marR="0" rtl="0" algn="l">
                <a:spcBef>
                  <a:spcPts val="450"/>
                </a:spcBef>
                <a:spcAft>
                  <a:spcPts val="0"/>
                </a:spcAft>
                <a:buNone/>
              </a:pPr>
              <a:r>
                <a:rPr lang="en" sz="1150">
                  <a:solidFill>
                    <a:srgbClr val="F8FAFC"/>
                  </a:solidFill>
                  <a:latin typeface="Arial"/>
                  <a:ea typeface="Arial"/>
                  <a:cs typeface="Arial"/>
                  <a:sym typeface="Arial"/>
                </a:rPr>
                <a:t>},</a:t>
              </a:r>
              <a:endParaRPr sz="1150">
                <a:solidFill>
                  <a:srgbClr val="F8FAFC"/>
                </a:solidFill>
                <a:latin typeface="Arial"/>
                <a:ea typeface="Arial"/>
                <a:cs typeface="Arial"/>
                <a:sym typeface="Arial"/>
              </a:endParaRPr>
            </a:p>
            <a:p>
              <a:pPr indent="0" lvl="0" marL="0" rtl="0" algn="l">
                <a:spcBef>
                  <a:spcPts val="450"/>
                </a:spcBef>
                <a:spcAft>
                  <a:spcPts val="0"/>
                </a:spcAft>
                <a:buNone/>
              </a:pPr>
              <a:r>
                <a:rPr b="1" lang="en" sz="1150">
                  <a:solidFill>
                    <a:srgbClr val="D4A017"/>
                  </a:solidFill>
                  <a:latin typeface="Arial"/>
                  <a:ea typeface="Arial"/>
                  <a:cs typeface="Arial"/>
                  <a:sym typeface="Arial"/>
                </a:rPr>
                <a:t>]</a:t>
              </a:r>
              <a:endParaRPr b="1" sz="1150">
                <a:solidFill>
                  <a:srgbClr val="D4A017"/>
                </a:solidFill>
                <a:latin typeface="Arial"/>
                <a:ea typeface="Arial"/>
                <a:cs typeface="Arial"/>
                <a:sym typeface="Arial"/>
              </a:endParaRPr>
            </a:p>
          </p:txBody>
        </p:sp>
      </p:grpSp>
      <p:sp>
        <p:nvSpPr>
          <p:cNvPr id="148" name="Google Shape;148;p17"/>
          <p:cNvSpPr/>
          <p:nvPr>
            <p:ph idx="4" type="pic"/>
          </p:nvPr>
        </p:nvSpPr>
        <p:spPr>
          <a:xfrm>
            <a:off x="10287000" y="5453079"/>
            <a:ext cx="1524000" cy="1019400"/>
          </a:xfrm>
          <a:prstGeom prst="rect">
            <a:avLst/>
          </a:prstGeom>
          <a:noFill/>
          <a:ln>
            <a:noFill/>
          </a:ln>
        </p:spPr>
      </p:sp>
      <p:sp>
        <p:nvSpPr>
          <p:cNvPr id="149" name="Google Shape;149;p17"/>
          <p:cNvSpPr/>
          <p:nvPr>
            <p:ph idx="5" type="pic"/>
          </p:nvPr>
        </p:nvSpPr>
        <p:spPr>
          <a:xfrm>
            <a:off x="762000" y="5981700"/>
            <a:ext cx="10668000" cy="304800"/>
          </a:xfrm>
          <a:prstGeom prst="rect">
            <a:avLst/>
          </a:prstGeom>
          <a:noFill/>
          <a:ln>
            <a:noFill/>
          </a:ln>
        </p:spPr>
      </p:sp>
      <p:sp>
        <p:nvSpPr>
          <p:cNvPr id="150" name="Google Shape;150;p17"/>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18"/>
          <p:cNvSpPr/>
          <p:nvPr>
            <p:ph idx="2" type="pic"/>
          </p:nvPr>
        </p:nvSpPr>
        <p:spPr>
          <a:xfrm>
            <a:off x="0" y="0"/>
            <a:ext cx="12192000" cy="6858000"/>
          </a:xfrm>
          <a:prstGeom prst="rect">
            <a:avLst/>
          </a:prstGeom>
          <a:noFill/>
          <a:ln>
            <a:noFill/>
          </a:ln>
        </p:spPr>
      </p:sp>
      <p:sp>
        <p:nvSpPr>
          <p:cNvPr id="156" name="Google Shape;156;p18"/>
          <p:cNvSpPr/>
          <p:nvPr>
            <p:ph idx="3" type="pic"/>
          </p:nvPr>
        </p:nvSpPr>
        <p:spPr>
          <a:xfrm>
            <a:off x="0" y="0"/>
            <a:ext cx="12192000" cy="57300"/>
          </a:xfrm>
          <a:prstGeom prst="rect">
            <a:avLst/>
          </a:prstGeom>
          <a:noFill/>
          <a:ln>
            <a:noFill/>
          </a:ln>
        </p:spPr>
      </p:sp>
      <p:sp>
        <p:nvSpPr>
          <p:cNvPr id="157" name="Google Shape;157;p18"/>
          <p:cNvSpPr/>
          <p:nvPr>
            <p:ph idx="4" type="pic"/>
          </p:nvPr>
        </p:nvSpPr>
        <p:spPr>
          <a:xfrm>
            <a:off x="10287000" y="5453079"/>
            <a:ext cx="1524000" cy="1019400"/>
          </a:xfrm>
          <a:prstGeom prst="rect">
            <a:avLst/>
          </a:prstGeom>
          <a:noFill/>
          <a:ln>
            <a:noFill/>
          </a:ln>
        </p:spPr>
      </p:sp>
      <p:sp>
        <p:nvSpPr>
          <p:cNvPr id="158" name="Google Shape;158;p1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Django Views &amp; Rendering</a:t>
            </a:r>
            <a:endParaRPr b="0" sz="2700">
              <a:solidFill>
                <a:srgbClr val="045A36"/>
              </a:solidFill>
              <a:latin typeface="Montserrat SemiBold"/>
              <a:ea typeface="Montserrat SemiBold"/>
              <a:cs typeface="Montserrat SemiBold"/>
              <a:sym typeface="Montserrat SemiBold"/>
            </a:endParaRPr>
          </a:p>
        </p:txBody>
      </p:sp>
      <p:sp>
        <p:nvSpPr>
          <p:cNvPr id="159" name="Google Shape;159;p1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0" name="Google Shape;160;p18"/>
          <p:cNvGrpSpPr/>
          <p:nvPr/>
        </p:nvGrpSpPr>
        <p:grpSpPr>
          <a:xfrm>
            <a:off x="762000" y="1524000"/>
            <a:ext cx="10668000" cy="4191000"/>
            <a:chOff x="0" y="0"/>
            <a:chExt cx="10668000" cy="4191000"/>
          </a:xfrm>
        </p:grpSpPr>
        <p:sp>
          <p:nvSpPr>
            <p:cNvPr id="161" name="Google Shape;161;p18"/>
            <p:cNvSpPr txBox="1"/>
            <p:nvPr/>
          </p:nvSpPr>
          <p:spPr>
            <a:xfrm>
              <a:off x="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How Views Work</a:t>
              </a:r>
              <a:endParaRPr b="1" sz="1650">
                <a:solidFill>
                  <a:srgbClr val="045A36"/>
                </a:solidFill>
                <a:latin typeface="Montserrat"/>
                <a:ea typeface="Montserrat"/>
                <a:cs typeface="Montserrat"/>
                <a:sym typeface="Montserrat"/>
              </a:endParaRPr>
            </a:p>
          </p:txBody>
        </p:sp>
        <p:sp>
          <p:nvSpPr>
            <p:cNvPr id="162" name="Google Shape;162;p18"/>
            <p:cNvSpPr/>
            <p:nvPr/>
          </p:nvSpPr>
          <p:spPr>
            <a:xfrm>
              <a:off x="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txBox="1"/>
            <p:nvPr/>
          </p:nvSpPr>
          <p:spPr>
            <a:xfrm>
              <a:off x="0" y="571500"/>
              <a:ext cx="49530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Handling Request &amp; Response</a:t>
              </a:r>
              <a:endParaRPr b="0" sz="1500">
                <a:solidFill>
                  <a:srgbClr val="045A36"/>
                </a:solidFill>
                <a:latin typeface="Inter SemiBold"/>
                <a:ea typeface="Inter SemiBold"/>
                <a:cs typeface="Inter SemiBold"/>
                <a:sym typeface="Inter SemiBold"/>
              </a:endParaRPr>
            </a:p>
            <a:p>
              <a:pPr indent="0" lvl="0" marL="0" rtl="0" algn="l">
                <a:spcBef>
                  <a:spcPts val="1050"/>
                </a:spcBef>
                <a:spcAft>
                  <a:spcPts val="0"/>
                </a:spcAft>
                <a:buNone/>
              </a:pPr>
              <a:r>
                <a:rPr b="0" lang="en" sz="1500">
                  <a:solidFill>
                    <a:srgbClr val="374151"/>
                  </a:solidFill>
                  <a:latin typeface="Inter"/>
                  <a:ea typeface="Inter"/>
                  <a:cs typeface="Inter"/>
                  <a:sym typeface="Inter"/>
                </a:rPr>
                <a:t>A Django View receives an incoming browser request and returns a corresponding response. To display a template, you must create a View function dedicated to rendering it.</a:t>
              </a:r>
              <a:endParaRPr b="0" sz="1500">
                <a:solidFill>
                  <a:srgbClr val="374151"/>
                </a:solidFill>
                <a:latin typeface="Inter"/>
                <a:ea typeface="Inter"/>
                <a:cs typeface="Inter"/>
                <a:sym typeface="Inter"/>
              </a:endParaRPr>
            </a:p>
            <a:p>
              <a:pPr indent="0" lvl="0" marL="0" rtl="0" algn="l">
                <a:spcBef>
                  <a:spcPts val="1800"/>
                </a:spcBef>
                <a:spcAft>
                  <a:spcPts val="0"/>
                </a:spcAft>
                <a:buNone/>
              </a:pPr>
              <a:r>
                <a:rPr b="0" lang="en" sz="1500">
                  <a:solidFill>
                    <a:srgbClr val="045A36"/>
                  </a:solidFill>
                  <a:latin typeface="Inter SemiBold"/>
                  <a:ea typeface="Inter SemiBold"/>
                  <a:cs typeface="Inter SemiBold"/>
                  <a:sym typeface="Inter SemiBold"/>
                </a:rPr>
                <a:t>The render() Function</a:t>
              </a:r>
              <a:endParaRPr b="0" sz="1500">
                <a:solidFill>
                  <a:srgbClr val="045A36"/>
                </a:solidFill>
                <a:latin typeface="Inter SemiBold"/>
                <a:ea typeface="Inter SemiBold"/>
                <a:cs typeface="Inter SemiBold"/>
                <a:sym typeface="Inter SemiBold"/>
              </a:endParaRPr>
            </a:p>
            <a:p>
              <a:pPr indent="0" lvl="0" marL="0" rtl="0" algn="l">
                <a:spcBef>
                  <a:spcPts val="1050"/>
                </a:spcBef>
                <a:spcAft>
                  <a:spcPts val="0"/>
                </a:spcAft>
                <a:buNone/>
              </a:pPr>
              <a:r>
                <a:rPr b="0" lang="en" sz="1500">
                  <a:solidFill>
                    <a:srgbClr val="374151"/>
                  </a:solidFill>
                  <a:latin typeface="Inter"/>
                  <a:ea typeface="Inter"/>
                  <a:cs typeface="Inter"/>
                  <a:sym typeface="Inter"/>
                </a:rPr>
                <a:t>In your </a:t>
              </a:r>
              <a:r>
                <a:rPr b="1" lang="en" sz="1500">
                  <a:solidFill>
                    <a:srgbClr val="045A36"/>
                  </a:solidFill>
                  <a:latin typeface="Arial"/>
                  <a:ea typeface="Arial"/>
                  <a:cs typeface="Arial"/>
                  <a:sym typeface="Arial"/>
                </a:rPr>
                <a:t>myapp/views.py</a:t>
              </a:r>
              <a:r>
                <a:rPr b="0" lang="en" sz="1500">
                  <a:solidFill>
                    <a:srgbClr val="374151"/>
                  </a:solidFill>
                  <a:latin typeface="Inter"/>
                  <a:ea typeface="Inter"/>
                  <a:cs typeface="Inter"/>
                  <a:sym typeface="Inter"/>
                </a:rPr>
                <a:t> file, you import and use the </a:t>
              </a:r>
              <a:r>
                <a:rPr b="1" lang="en" sz="1500">
                  <a:solidFill>
                    <a:srgbClr val="045A36"/>
                  </a:solidFill>
                  <a:latin typeface="Arial"/>
                  <a:ea typeface="Arial"/>
                  <a:cs typeface="Arial"/>
                  <a:sym typeface="Arial"/>
                </a:rPr>
                <a:t>render()</a:t>
              </a:r>
              <a:r>
                <a:rPr b="0" lang="en" sz="1500">
                  <a:solidFill>
                    <a:srgbClr val="374151"/>
                  </a:solidFill>
                  <a:latin typeface="Inter"/>
                  <a:ea typeface="Inter"/>
                  <a:cs typeface="Inter"/>
                  <a:sym typeface="Inter"/>
                </a:rPr>
                <a:t> function from </a:t>
              </a:r>
              <a:r>
                <a:rPr b="1" lang="en" sz="1500">
                  <a:solidFill>
                    <a:srgbClr val="045A36"/>
                  </a:solidFill>
                  <a:latin typeface="Arial"/>
                  <a:ea typeface="Arial"/>
                  <a:cs typeface="Arial"/>
                  <a:sym typeface="Arial"/>
                </a:rPr>
                <a:t>django.shortcuts</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a:p>
              <a:pPr indent="0" lvl="0" marL="0" rtl="0" algn="l">
                <a:spcBef>
                  <a:spcPts val="1800"/>
                </a:spcBef>
                <a:spcAft>
                  <a:spcPts val="0"/>
                </a:spcAft>
                <a:buNone/>
              </a:pPr>
              <a:r>
                <a:rPr b="0" lang="en" sz="1500">
                  <a:solidFill>
                    <a:srgbClr val="374151"/>
                  </a:solidFill>
                  <a:latin typeface="Inter"/>
                  <a:ea typeface="Inter"/>
                  <a:cs typeface="Inter"/>
                  <a:sym typeface="Inter"/>
                </a:rPr>
                <a:t>The </a:t>
              </a:r>
              <a:r>
                <a:rPr b="1" lang="en" sz="1500">
                  <a:solidFill>
                    <a:srgbClr val="045A36"/>
                  </a:solidFill>
                  <a:latin typeface="Arial"/>
                  <a:ea typeface="Arial"/>
                  <a:cs typeface="Arial"/>
                  <a:sym typeface="Arial"/>
                </a:rPr>
                <a:t>request</a:t>
              </a:r>
              <a:r>
                <a:rPr b="0" lang="en" sz="1500">
                  <a:solidFill>
                    <a:srgbClr val="374151"/>
                  </a:solidFill>
                  <a:latin typeface="Inter"/>
                  <a:ea typeface="Inter"/>
                  <a:cs typeface="Inter"/>
                  <a:sym typeface="Inter"/>
                </a:rPr>
                <a:t> parameter carries information about the browser request. When executed, Django locates </a:t>
              </a:r>
              <a:r>
                <a:rPr b="1" lang="en" sz="1500">
                  <a:solidFill>
                    <a:srgbClr val="045A36"/>
                  </a:solidFill>
                  <a:latin typeface="Arial"/>
                  <a:ea typeface="Arial"/>
                  <a:cs typeface="Arial"/>
                  <a:sym typeface="Arial"/>
                </a:rPr>
                <a:t>home.html</a:t>
              </a:r>
              <a:r>
                <a:rPr b="0" lang="en" sz="1500">
                  <a:solidFill>
                    <a:srgbClr val="374151"/>
                  </a:solidFill>
                  <a:latin typeface="Inter"/>
                  <a:ea typeface="Inter"/>
                  <a:cs typeface="Inter"/>
                  <a:sym typeface="Inter"/>
                </a:rPr>
                <a:t>, processes it, and displays the final HTML page in the browser.</a:t>
              </a:r>
              <a:endParaRPr b="0" sz="1500">
                <a:solidFill>
                  <a:srgbClr val="374151"/>
                </a:solidFill>
                <a:latin typeface="Inter"/>
                <a:ea typeface="Inter"/>
                <a:cs typeface="Inter"/>
                <a:sym typeface="Inter"/>
              </a:endParaRPr>
            </a:p>
          </p:txBody>
        </p:sp>
        <p:sp>
          <p:nvSpPr>
            <p:cNvPr id="164" name="Google Shape;164;p18"/>
            <p:cNvSpPr/>
            <p:nvPr/>
          </p:nvSpPr>
          <p:spPr>
            <a:xfrm>
              <a:off x="5324475" y="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txBox="1"/>
            <p:nvPr/>
          </p:nvSpPr>
          <p:spPr>
            <a:xfrm>
              <a:off x="571500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Basic View Example</a:t>
              </a:r>
              <a:endParaRPr b="1" sz="1650">
                <a:solidFill>
                  <a:srgbClr val="045A36"/>
                </a:solidFill>
                <a:latin typeface="Montserrat"/>
                <a:ea typeface="Montserrat"/>
                <a:cs typeface="Montserrat"/>
                <a:sym typeface="Montserrat"/>
              </a:endParaRPr>
            </a:p>
          </p:txBody>
        </p:sp>
        <p:sp>
          <p:nvSpPr>
            <p:cNvPr id="166" name="Google Shape;166;p18"/>
            <p:cNvSpPr/>
            <p:nvPr/>
          </p:nvSpPr>
          <p:spPr>
            <a:xfrm>
              <a:off x="571500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8"/>
            <p:cNvSpPr txBox="1"/>
            <p:nvPr/>
          </p:nvSpPr>
          <p:spPr>
            <a:xfrm>
              <a:off x="5715000" y="571500"/>
              <a:ext cx="49530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64748B"/>
                  </a:solidFill>
                  <a:latin typeface="Inter SemiBold"/>
                  <a:ea typeface="Inter SemiBold"/>
                  <a:cs typeface="Inter SemiBold"/>
                  <a:sym typeface="Inter SemiBold"/>
                </a:rPr>
                <a:t>myapp/views.py</a:t>
              </a:r>
              <a:endParaRPr b="0" sz="1100">
                <a:solidFill>
                  <a:srgbClr val="64748B"/>
                </a:solidFill>
                <a:latin typeface="Inter SemiBold"/>
                <a:ea typeface="Inter SemiBold"/>
                <a:cs typeface="Inter SemiBold"/>
                <a:sym typeface="Inter SemiBold"/>
              </a:endParaRPr>
            </a:p>
            <a:p>
              <a:pPr indent="0" lvl="0" marL="0" rtl="0" algn="l">
                <a:spcBef>
                  <a:spcPts val="1800"/>
                </a:spcBef>
                <a:spcAft>
                  <a:spcPts val="0"/>
                </a:spcAft>
                <a:buNone/>
              </a:pPr>
              <a:r>
                <a:rPr lang="en" sz="1350">
                  <a:solidFill>
                    <a:srgbClr val="F43F5E"/>
                  </a:solidFill>
                  <a:highlight>
                    <a:srgbClr val="0F172A"/>
                  </a:highlight>
                  <a:latin typeface="Courier New"/>
                  <a:ea typeface="Courier New"/>
                  <a:cs typeface="Courier New"/>
                  <a:sym typeface="Courier New"/>
                </a:rPr>
                <a:t>from </a:t>
              </a:r>
              <a:r>
                <a:rPr lang="en" sz="1350">
                  <a:solidFill>
                    <a:srgbClr val="38BDF8"/>
                  </a:solidFill>
                  <a:highlight>
                    <a:srgbClr val="0F172A"/>
                  </a:highlight>
                  <a:latin typeface="Courier New"/>
                  <a:ea typeface="Courier New"/>
                  <a:cs typeface="Courier New"/>
                  <a:sym typeface="Courier New"/>
                </a:rPr>
                <a:t>django.shortcuts</a:t>
              </a:r>
              <a:r>
                <a:rPr lang="en" sz="1350">
                  <a:solidFill>
                    <a:srgbClr val="F43F5E"/>
                  </a:solidFill>
                  <a:highlight>
                    <a:srgbClr val="0F172A"/>
                  </a:highlight>
                  <a:latin typeface="Courier New"/>
                  <a:ea typeface="Courier New"/>
                  <a:cs typeface="Courier New"/>
                  <a:sym typeface="Courier New"/>
                </a:rPr>
                <a:t> import render</a:t>
              </a:r>
              <a:endParaRPr sz="1350">
                <a:solidFill>
                  <a:srgbClr val="F43F5E"/>
                </a:solidFill>
                <a:highlight>
                  <a:srgbClr val="0F172A"/>
                </a:highlight>
                <a:latin typeface="Courier New"/>
                <a:ea typeface="Courier New"/>
                <a:cs typeface="Courier New"/>
                <a:sym typeface="Courier New"/>
              </a:endParaRPr>
            </a:p>
            <a:p>
              <a:pPr indent="0" lvl="0" marL="0" rtl="0" algn="l">
                <a:spcBef>
                  <a:spcPts val="2100"/>
                </a:spcBef>
                <a:spcAft>
                  <a:spcPts val="0"/>
                </a:spcAft>
                <a:buNone/>
              </a:pPr>
              <a:r>
                <a:rPr lang="en" sz="1350">
                  <a:solidFill>
                    <a:srgbClr val="F43F5E"/>
                  </a:solidFill>
                  <a:highlight>
                    <a:srgbClr val="0F172A"/>
                  </a:highlight>
                  <a:latin typeface="Courier New"/>
                  <a:ea typeface="Courier New"/>
                  <a:cs typeface="Courier New"/>
                  <a:sym typeface="Courier New"/>
                </a:rPr>
                <a:t>def </a:t>
              </a:r>
              <a:r>
                <a:rPr lang="en" sz="1350">
                  <a:solidFill>
                    <a:srgbClr val="60A5FA"/>
                  </a:solidFill>
                  <a:highlight>
                    <a:srgbClr val="0F172A"/>
                  </a:highlight>
                  <a:latin typeface="Courier New"/>
                  <a:ea typeface="Courier New"/>
                  <a:cs typeface="Courier New"/>
                  <a:sym typeface="Courier New"/>
                </a:rPr>
                <a:t>home</a:t>
              </a:r>
              <a:r>
                <a:rPr lang="en" sz="1350">
                  <a:solidFill>
                    <a:srgbClr val="F43F5E"/>
                  </a:solidFill>
                  <a:highlight>
                    <a:srgbClr val="0F172A"/>
                  </a:highlight>
                  <a:latin typeface="Courier New"/>
                  <a:ea typeface="Courier New"/>
                  <a:cs typeface="Courier New"/>
                  <a:sym typeface="Courier New"/>
                </a:rPr>
                <a:t>(</a:t>
              </a:r>
              <a:r>
                <a:rPr lang="en" sz="1350">
                  <a:solidFill>
                    <a:srgbClr val="F59E0B"/>
                  </a:solidFill>
                  <a:highlight>
                    <a:srgbClr val="0F172A"/>
                  </a:highlight>
                  <a:latin typeface="Courier New"/>
                  <a:ea typeface="Courier New"/>
                  <a:cs typeface="Courier New"/>
                  <a:sym typeface="Courier New"/>
                </a:rPr>
                <a:t>request</a:t>
              </a:r>
              <a:r>
                <a:rPr lang="en" sz="1350">
                  <a:solidFill>
                    <a:srgbClr val="F43F5E"/>
                  </a:solidFill>
                  <a:highlight>
                    <a:srgbClr val="0F172A"/>
                  </a:highlight>
                  <a:latin typeface="Courier New"/>
                  <a:ea typeface="Courier New"/>
                  <a:cs typeface="Courier New"/>
                  <a:sym typeface="Courier New"/>
                </a:rPr>
                <a:t>):</a:t>
              </a:r>
              <a:endParaRPr sz="1350">
                <a:solidFill>
                  <a:srgbClr val="F43F5E"/>
                </a:solidFill>
                <a:highlight>
                  <a:srgbClr val="0F172A"/>
                </a:highlight>
                <a:latin typeface="Courier New"/>
                <a:ea typeface="Courier New"/>
                <a:cs typeface="Courier New"/>
                <a:sym typeface="Courier New"/>
              </a:endParaRPr>
            </a:p>
            <a:p>
              <a:pPr indent="304800" lvl="0" marL="0" marR="0" rtl="0" algn="l">
                <a:spcBef>
                  <a:spcPts val="600"/>
                </a:spcBef>
                <a:spcAft>
                  <a:spcPts val="0"/>
                </a:spcAft>
                <a:buNone/>
              </a:pPr>
              <a:r>
                <a:rPr lang="en" sz="1350">
                  <a:solidFill>
                    <a:srgbClr val="E2E8F0"/>
                  </a:solidFill>
                  <a:highlight>
                    <a:srgbClr val="0F172A"/>
                  </a:highlight>
                  <a:latin typeface="Courier New"/>
                  <a:ea typeface="Courier New"/>
                  <a:cs typeface="Courier New"/>
                  <a:sym typeface="Courier New"/>
                </a:rPr>
                <a:t>return </a:t>
              </a:r>
              <a:r>
                <a:rPr lang="en" sz="1350">
                  <a:solidFill>
                    <a:srgbClr val="60A5FA"/>
                  </a:solidFill>
                  <a:highlight>
                    <a:srgbClr val="0F172A"/>
                  </a:highlight>
                  <a:latin typeface="Courier New"/>
                  <a:ea typeface="Courier New"/>
                  <a:cs typeface="Courier New"/>
                  <a:sym typeface="Courier New"/>
                </a:rPr>
                <a:t>render</a:t>
              </a:r>
              <a:r>
                <a:rPr lang="en" sz="1350">
                  <a:solidFill>
                    <a:srgbClr val="E2E8F0"/>
                  </a:solidFill>
                  <a:highlight>
                    <a:srgbClr val="0F172A"/>
                  </a:highlight>
                  <a:latin typeface="Courier New"/>
                  <a:ea typeface="Courier New"/>
                  <a:cs typeface="Courier New"/>
                  <a:sym typeface="Courier New"/>
                </a:rPr>
                <a:t>(request, </a:t>
              </a:r>
              <a:r>
                <a:rPr lang="en" sz="1350">
                  <a:solidFill>
                    <a:srgbClr val="34D399"/>
                  </a:solidFill>
                  <a:highlight>
                    <a:srgbClr val="0F172A"/>
                  </a:highlight>
                  <a:latin typeface="Courier New"/>
                  <a:ea typeface="Courier New"/>
                  <a:cs typeface="Courier New"/>
                  <a:sym typeface="Courier New"/>
                </a:rPr>
                <a:t>'home.html'</a:t>
              </a:r>
              <a:r>
                <a:rPr lang="en" sz="1350">
                  <a:solidFill>
                    <a:srgbClr val="E2E8F0"/>
                  </a:solidFill>
                  <a:highlight>
                    <a:srgbClr val="0F172A"/>
                  </a:highlight>
                  <a:latin typeface="Courier New"/>
                  <a:ea typeface="Courier New"/>
                  <a:cs typeface="Courier New"/>
                  <a:sym typeface="Courier New"/>
                </a:rPr>
                <a:t>)</a:t>
              </a:r>
              <a:endParaRPr sz="1350">
                <a:solidFill>
                  <a:srgbClr val="E2E8F0"/>
                </a:solidFill>
                <a:highlight>
                  <a:srgbClr val="0F172A"/>
                </a:highlight>
                <a:latin typeface="Courier New"/>
                <a:ea typeface="Courier New"/>
                <a:cs typeface="Courier New"/>
                <a:sym typeface="Courier New"/>
              </a:endParaRPr>
            </a:p>
          </p:txBody>
        </p:sp>
      </p:grpSp>
      <p:sp>
        <p:nvSpPr>
          <p:cNvPr id="168" name="Google Shape;168;p18"/>
          <p:cNvSpPr/>
          <p:nvPr>
            <p:ph idx="5" type="pic"/>
          </p:nvPr>
        </p:nvSpPr>
        <p:spPr>
          <a:xfrm>
            <a:off x="762000" y="5981700"/>
            <a:ext cx="10668000" cy="304800"/>
          </a:xfrm>
          <a:prstGeom prst="rect">
            <a:avLst/>
          </a:prstGeom>
          <a:noFill/>
          <a:ln>
            <a:noFill/>
          </a:ln>
        </p:spPr>
      </p:sp>
      <p:sp>
        <p:nvSpPr>
          <p:cNvPr id="169" name="Google Shape;169;p18"/>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p:nvPr>
            <p:ph idx="2" type="pic"/>
          </p:nvPr>
        </p:nvSpPr>
        <p:spPr>
          <a:xfrm>
            <a:off x="0" y="0"/>
            <a:ext cx="12192000" cy="6858000"/>
          </a:xfrm>
          <a:prstGeom prst="rect">
            <a:avLst/>
          </a:prstGeom>
          <a:noFill/>
          <a:ln>
            <a:noFill/>
          </a:ln>
        </p:spPr>
      </p:sp>
      <p:sp>
        <p:nvSpPr>
          <p:cNvPr id="176" name="Google Shape;176;p19"/>
          <p:cNvSpPr/>
          <p:nvPr>
            <p:ph idx="3" type="pic"/>
          </p:nvPr>
        </p:nvSpPr>
        <p:spPr>
          <a:xfrm>
            <a:off x="0" y="0"/>
            <a:ext cx="12192000" cy="57300"/>
          </a:xfrm>
          <a:prstGeom prst="rect">
            <a:avLst/>
          </a:prstGeom>
          <a:noFill/>
          <a:ln>
            <a:noFill/>
          </a:ln>
        </p:spPr>
      </p:sp>
      <p:sp>
        <p:nvSpPr>
          <p:cNvPr id="177" name="Google Shape;177;p19"/>
          <p:cNvSpPr/>
          <p:nvPr>
            <p:ph idx="4" type="pic"/>
          </p:nvPr>
        </p:nvSpPr>
        <p:spPr>
          <a:xfrm>
            <a:off x="10287000" y="5453079"/>
            <a:ext cx="1524000" cy="1019400"/>
          </a:xfrm>
          <a:prstGeom prst="rect">
            <a:avLst/>
          </a:prstGeom>
          <a:noFill/>
          <a:ln>
            <a:noFill/>
          </a:ln>
        </p:spPr>
      </p:sp>
      <p:sp>
        <p:nvSpPr>
          <p:cNvPr id="178" name="Google Shape;178;p19"/>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Displaying Dynamic Data</a:t>
            </a:r>
            <a:endParaRPr b="0" sz="2700">
              <a:solidFill>
                <a:srgbClr val="045A36"/>
              </a:solidFill>
              <a:latin typeface="Montserrat SemiBold"/>
              <a:ea typeface="Montserrat SemiBold"/>
              <a:cs typeface="Montserrat SemiBold"/>
              <a:sym typeface="Montserrat SemiBold"/>
            </a:endParaRPr>
          </a:p>
        </p:txBody>
      </p:sp>
      <p:sp>
        <p:nvSpPr>
          <p:cNvPr id="179" name="Google Shape;179;p1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txBox="1"/>
          <p:nvPr/>
        </p:nvSpPr>
        <p:spPr>
          <a:xfrm>
            <a:off x="762000" y="1285875"/>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A primary advantage of Django Templates is </a:t>
            </a:r>
            <a:r>
              <a:rPr b="0" lang="en" sz="1400">
                <a:solidFill>
                  <a:srgbClr val="045A36"/>
                </a:solidFill>
                <a:latin typeface="Inter SemiBold"/>
                <a:ea typeface="Inter SemiBold"/>
                <a:cs typeface="Inter SemiBold"/>
                <a:sym typeface="Inter SemiBold"/>
              </a:rPr>
              <a:t>displaying dynamic data</a:t>
            </a:r>
            <a:r>
              <a:rPr b="0" lang="en" sz="1400">
                <a:solidFill>
                  <a:srgbClr val="374151"/>
                </a:solidFill>
                <a:latin typeface="Inter"/>
                <a:ea typeface="Inter"/>
                <a:cs typeface="Inter"/>
                <a:sym typeface="Inter"/>
              </a:rPr>
              <a:t>. You can pass data from a Python view to an HTML template using a </a:t>
            </a:r>
            <a:r>
              <a:rPr b="0" lang="en" sz="1400">
                <a:solidFill>
                  <a:srgbClr val="045A36"/>
                </a:solidFill>
                <a:latin typeface="Inter SemiBold"/>
                <a:ea typeface="Inter SemiBold"/>
                <a:cs typeface="Inter SemiBold"/>
                <a:sym typeface="Inter SemiBold"/>
              </a:rPr>
              <a:t>context dictionary</a:t>
            </a:r>
            <a:r>
              <a:rPr b="0" lang="en" sz="1400">
                <a:solidFill>
                  <a:srgbClr val="374151"/>
                </a:solidFill>
                <a:latin typeface="Inter"/>
                <a:ea typeface="Inter"/>
                <a:cs typeface="Inter"/>
                <a:sym typeface="Inter"/>
              </a:rPr>
              <a:t>.</a:t>
            </a:r>
            <a:endParaRPr b="0" sz="1400">
              <a:solidFill>
                <a:srgbClr val="374151"/>
              </a:solidFill>
              <a:latin typeface="Inter"/>
              <a:ea typeface="Inter"/>
              <a:cs typeface="Inter"/>
              <a:sym typeface="Inter"/>
            </a:endParaRPr>
          </a:p>
        </p:txBody>
      </p:sp>
      <p:sp>
        <p:nvSpPr>
          <p:cNvPr id="181" name="Google Shape;181;p19"/>
          <p:cNvSpPr/>
          <p:nvPr/>
        </p:nvSpPr>
        <p:spPr>
          <a:xfrm>
            <a:off x="6086475" y="1905000"/>
            <a:ext cx="19200" cy="35244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9"/>
          <p:cNvSpPr txBox="1"/>
          <p:nvPr/>
        </p:nvSpPr>
        <p:spPr>
          <a:xfrm>
            <a:off x="762000" y="190500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1. View Setup (views.py)</a:t>
            </a:r>
            <a:endParaRPr b="1" sz="1650">
              <a:solidFill>
                <a:srgbClr val="045A36"/>
              </a:solidFill>
              <a:latin typeface="Montserrat"/>
              <a:ea typeface="Montserrat"/>
              <a:cs typeface="Montserrat"/>
              <a:sym typeface="Montserrat"/>
            </a:endParaRPr>
          </a:p>
        </p:txBody>
      </p:sp>
      <p:sp>
        <p:nvSpPr>
          <p:cNvPr id="183" name="Google Shape;183;p19"/>
          <p:cNvSpPr/>
          <p:nvPr/>
        </p:nvSpPr>
        <p:spPr>
          <a:xfrm>
            <a:off x="762000" y="2286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9"/>
          <p:cNvSpPr txBox="1"/>
          <p:nvPr/>
        </p:nvSpPr>
        <p:spPr>
          <a:xfrm>
            <a:off x="762000" y="2428875"/>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45A36"/>
                </a:solidFill>
                <a:latin typeface="Inter SemiBold"/>
                <a:ea typeface="Inter SemiBold"/>
                <a:cs typeface="Inter SemiBold"/>
                <a:sym typeface="Inter SemiBold"/>
              </a:rPr>
              <a:t>Modify the view to include a context:</a:t>
            </a:r>
            <a:endParaRPr b="0" sz="1400">
              <a:solidFill>
                <a:srgbClr val="045A36"/>
              </a:solidFill>
              <a:latin typeface="Inter SemiBold"/>
              <a:ea typeface="Inter SemiBold"/>
              <a:cs typeface="Inter SemiBold"/>
              <a:sym typeface="Inter SemiBold"/>
            </a:endParaRPr>
          </a:p>
        </p:txBody>
      </p:sp>
      <p:sp>
        <p:nvSpPr>
          <p:cNvPr id="185" name="Google Shape;185;p19"/>
          <p:cNvSpPr/>
          <p:nvPr/>
        </p:nvSpPr>
        <p:spPr>
          <a:xfrm>
            <a:off x="762000" y="2809875"/>
            <a:ext cx="4953000" cy="1047900"/>
          </a:xfrm>
          <a:prstGeom prst="roundRect">
            <a:avLst>
              <a:gd fmla="val 545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txBox="1"/>
          <p:nvPr/>
        </p:nvSpPr>
        <p:spPr>
          <a:xfrm>
            <a:off x="904875" y="2952750"/>
            <a:ext cx="46674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045A36"/>
                </a:solidFill>
                <a:latin typeface="Courier New"/>
                <a:ea typeface="Courier New"/>
                <a:cs typeface="Courier New"/>
                <a:sym typeface="Courier New"/>
              </a:rPr>
              <a:t>def</a:t>
            </a:r>
            <a:r>
              <a:rPr lang="en" sz="1250">
                <a:solidFill>
                  <a:srgbClr val="374151"/>
                </a:solidFill>
                <a:latin typeface="Courier New"/>
                <a:ea typeface="Courier New"/>
                <a:cs typeface="Courier New"/>
                <a:sym typeface="Courier New"/>
              </a:rPr>
              <a:t> home(request):</a:t>
            </a:r>
            <a:endParaRPr sz="1250">
              <a:solidFill>
                <a:srgbClr val="374151"/>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374151"/>
                </a:solidFill>
                <a:latin typeface="Courier New"/>
                <a:ea typeface="Courier New"/>
                <a:cs typeface="Courier New"/>
                <a:sym typeface="Courier New"/>
              </a:rPr>
              <a:t>    context = {</a:t>
            </a:r>
            <a:r>
              <a:rPr b="1" lang="en" sz="1250">
                <a:solidFill>
                  <a:srgbClr val="045A36"/>
                </a:solidFill>
                <a:latin typeface="Courier New"/>
                <a:ea typeface="Courier New"/>
                <a:cs typeface="Courier New"/>
                <a:sym typeface="Courier New"/>
              </a:rPr>
              <a:t>'name'</a:t>
            </a:r>
            <a:r>
              <a:rPr lang="en" sz="1250">
                <a:solidFill>
                  <a:srgbClr val="374151"/>
                </a:solidFill>
                <a:latin typeface="Courier New"/>
                <a:ea typeface="Courier New"/>
                <a:cs typeface="Courier New"/>
                <a:sym typeface="Courier New"/>
              </a:rPr>
              <a:t>: </a:t>
            </a:r>
            <a:r>
              <a:rPr b="1" lang="en" sz="1250">
                <a:solidFill>
                  <a:srgbClr val="D4A017"/>
                </a:solidFill>
                <a:latin typeface="Courier New"/>
                <a:ea typeface="Courier New"/>
                <a:cs typeface="Courier New"/>
                <a:sym typeface="Courier New"/>
              </a:rPr>
              <a:t>'Ali'</a:t>
            </a:r>
            <a:r>
              <a:rPr lang="en" sz="1250">
                <a:solidFill>
                  <a:srgbClr val="374151"/>
                </a:solidFill>
                <a:latin typeface="Courier New"/>
                <a:ea typeface="Courier New"/>
                <a:cs typeface="Courier New"/>
                <a:sym typeface="Courier New"/>
              </a:rPr>
              <a:t>}</a:t>
            </a:r>
            <a:endParaRPr sz="1250">
              <a:solidFill>
                <a:srgbClr val="374151"/>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374151"/>
                </a:solidFill>
                <a:latin typeface="Courier New"/>
                <a:ea typeface="Courier New"/>
                <a:cs typeface="Courier New"/>
                <a:sym typeface="Courier New"/>
              </a:rPr>
              <a:t>    </a:t>
            </a:r>
            <a:r>
              <a:rPr b="1" lang="en" sz="1250">
                <a:solidFill>
                  <a:srgbClr val="045A36"/>
                </a:solidFill>
                <a:latin typeface="Courier New"/>
                <a:ea typeface="Courier New"/>
                <a:cs typeface="Courier New"/>
                <a:sym typeface="Courier New"/>
              </a:rPr>
              <a:t>return</a:t>
            </a:r>
            <a:r>
              <a:rPr lang="en" sz="1250">
                <a:solidFill>
                  <a:srgbClr val="374151"/>
                </a:solidFill>
                <a:latin typeface="Courier New"/>
                <a:ea typeface="Courier New"/>
                <a:cs typeface="Courier New"/>
                <a:sym typeface="Courier New"/>
              </a:rPr>
              <a:t> render(request, </a:t>
            </a:r>
            <a:r>
              <a:rPr b="1" lang="en" sz="1250">
                <a:solidFill>
                  <a:srgbClr val="D4A017"/>
                </a:solidFill>
                <a:latin typeface="Courier New"/>
                <a:ea typeface="Courier New"/>
                <a:cs typeface="Courier New"/>
                <a:sym typeface="Courier New"/>
              </a:rPr>
              <a:t>'home.html'</a:t>
            </a:r>
            <a:r>
              <a:rPr lang="en" sz="1250">
                <a:solidFill>
                  <a:srgbClr val="374151"/>
                </a:solidFill>
                <a:latin typeface="Courier New"/>
                <a:ea typeface="Courier New"/>
                <a:cs typeface="Courier New"/>
                <a:sym typeface="Courier New"/>
              </a:rPr>
              <a:t>, context)</a:t>
            </a:r>
            <a:endParaRPr sz="1250">
              <a:solidFill>
                <a:srgbClr val="374151"/>
              </a:solidFill>
              <a:latin typeface="Courier New"/>
              <a:ea typeface="Courier New"/>
              <a:cs typeface="Courier New"/>
              <a:sym typeface="Courier New"/>
            </a:endParaRPr>
          </a:p>
        </p:txBody>
      </p:sp>
      <p:sp>
        <p:nvSpPr>
          <p:cNvPr id="187" name="Google Shape;187;p19"/>
          <p:cNvSpPr txBox="1"/>
          <p:nvPr/>
        </p:nvSpPr>
        <p:spPr>
          <a:xfrm>
            <a:off x="762000" y="4000500"/>
            <a:ext cx="4953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Here, </a:t>
            </a:r>
            <a:r>
              <a:rPr b="0" lang="en" sz="1400">
                <a:solidFill>
                  <a:srgbClr val="045A36"/>
                </a:solidFill>
                <a:latin typeface="Arial"/>
                <a:ea typeface="Arial"/>
                <a:cs typeface="Arial"/>
                <a:sym typeface="Arial"/>
              </a:rPr>
              <a:t>context</a:t>
            </a:r>
            <a:r>
              <a:rPr b="0" lang="en" sz="1400">
                <a:solidFill>
                  <a:srgbClr val="374151"/>
                </a:solidFill>
                <a:latin typeface="Inter"/>
                <a:ea typeface="Inter"/>
                <a:cs typeface="Inter"/>
                <a:sym typeface="Inter"/>
              </a:rPr>
              <a:t> is a Python dictionary. The key </a:t>
            </a:r>
            <a:r>
              <a:rPr b="0" lang="en" sz="1400">
                <a:solidFill>
                  <a:srgbClr val="045A36"/>
                </a:solidFill>
                <a:latin typeface="Arial"/>
                <a:ea typeface="Arial"/>
                <a:cs typeface="Arial"/>
                <a:sym typeface="Arial"/>
              </a:rPr>
              <a:t>'name'</a:t>
            </a:r>
            <a:r>
              <a:rPr b="0" lang="en" sz="1400">
                <a:solidFill>
                  <a:srgbClr val="374151"/>
                </a:solidFill>
                <a:latin typeface="Inter"/>
                <a:ea typeface="Inter"/>
                <a:cs typeface="Inter"/>
                <a:sym typeface="Inter"/>
              </a:rPr>
              <a:t> becomes a variable accessible inside the template.</a:t>
            </a:r>
            <a:endParaRPr b="0" sz="1400">
              <a:solidFill>
                <a:srgbClr val="374151"/>
              </a:solidFill>
              <a:latin typeface="Inter"/>
              <a:ea typeface="Inter"/>
              <a:cs typeface="Inter"/>
              <a:sym typeface="Inter"/>
            </a:endParaRPr>
          </a:p>
        </p:txBody>
      </p:sp>
      <p:sp>
        <p:nvSpPr>
          <p:cNvPr id="188" name="Google Shape;188;p19"/>
          <p:cNvSpPr txBox="1"/>
          <p:nvPr/>
        </p:nvSpPr>
        <p:spPr>
          <a:xfrm>
            <a:off x="6477000" y="190500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2. Template Rendering (home.html)</a:t>
            </a:r>
            <a:endParaRPr b="1" sz="1650">
              <a:solidFill>
                <a:srgbClr val="045A36"/>
              </a:solidFill>
              <a:latin typeface="Montserrat"/>
              <a:ea typeface="Montserrat"/>
              <a:cs typeface="Montserrat"/>
              <a:sym typeface="Montserrat"/>
            </a:endParaRPr>
          </a:p>
        </p:txBody>
      </p:sp>
      <p:sp>
        <p:nvSpPr>
          <p:cNvPr id="189" name="Google Shape;189;p19"/>
          <p:cNvSpPr/>
          <p:nvPr/>
        </p:nvSpPr>
        <p:spPr>
          <a:xfrm>
            <a:off x="6477000" y="2286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9"/>
          <p:cNvSpPr txBox="1"/>
          <p:nvPr/>
        </p:nvSpPr>
        <p:spPr>
          <a:xfrm>
            <a:off x="6477000" y="2428875"/>
            <a:ext cx="4953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45A36"/>
                </a:solidFill>
                <a:latin typeface="Inter SemiBold"/>
                <a:ea typeface="Inter SemiBold"/>
                <a:cs typeface="Inter SemiBold"/>
                <a:sym typeface="Inter SemiBold"/>
              </a:rPr>
              <a:t>Inside </a:t>
            </a:r>
            <a:r>
              <a:rPr b="0" lang="en" sz="1400">
                <a:solidFill>
                  <a:srgbClr val="045A36"/>
                </a:solidFill>
                <a:latin typeface="Arial"/>
                <a:ea typeface="Arial"/>
                <a:cs typeface="Arial"/>
                <a:sym typeface="Arial"/>
              </a:rPr>
              <a:t>home.html</a:t>
            </a:r>
            <a:r>
              <a:rPr b="0" lang="en" sz="1400">
                <a:solidFill>
                  <a:srgbClr val="045A36"/>
                </a:solidFill>
                <a:latin typeface="Inter SemiBold"/>
                <a:ea typeface="Inter SemiBold"/>
                <a:cs typeface="Inter SemiBold"/>
                <a:sym typeface="Inter SemiBold"/>
              </a:rPr>
              <a:t>, use double curly brackets </a:t>
            </a:r>
            <a:r>
              <a:rPr b="0" lang="en" sz="1400">
                <a:solidFill>
                  <a:srgbClr val="045A36"/>
                </a:solidFill>
                <a:latin typeface="Arial"/>
                <a:ea typeface="Arial"/>
                <a:cs typeface="Arial"/>
                <a:sym typeface="Arial"/>
              </a:rPr>
              <a:t>{ }</a:t>
            </a:r>
            <a:r>
              <a:rPr b="0" lang="en" sz="1400">
                <a:solidFill>
                  <a:srgbClr val="045A36"/>
                </a:solidFill>
                <a:latin typeface="Inter SemiBold"/>
                <a:ea typeface="Inter SemiBold"/>
                <a:cs typeface="Inter SemiBold"/>
                <a:sym typeface="Inter SemiBold"/>
              </a:rPr>
              <a:t> to display the variable:</a:t>
            </a:r>
            <a:endParaRPr b="0" sz="1400">
              <a:solidFill>
                <a:srgbClr val="045A36"/>
              </a:solidFill>
              <a:latin typeface="Inter SemiBold"/>
              <a:ea typeface="Inter SemiBold"/>
              <a:cs typeface="Inter SemiBold"/>
              <a:sym typeface="Inter SemiBold"/>
            </a:endParaRPr>
          </a:p>
        </p:txBody>
      </p:sp>
      <p:sp>
        <p:nvSpPr>
          <p:cNvPr id="191" name="Google Shape;191;p19"/>
          <p:cNvSpPr/>
          <p:nvPr/>
        </p:nvSpPr>
        <p:spPr>
          <a:xfrm>
            <a:off x="6477000" y="3000375"/>
            <a:ext cx="4953000" cy="571500"/>
          </a:xfrm>
          <a:prstGeom prst="roundRect">
            <a:avLst>
              <a:gd fmla="val 10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9"/>
          <p:cNvSpPr txBox="1"/>
          <p:nvPr/>
        </p:nvSpPr>
        <p:spPr>
          <a:xfrm>
            <a:off x="6619875" y="3095625"/>
            <a:ext cx="4667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50">
                <a:solidFill>
                  <a:srgbClr val="374151"/>
                </a:solidFill>
                <a:latin typeface="Courier New"/>
                <a:ea typeface="Courier New"/>
                <a:cs typeface="Courier New"/>
                <a:sym typeface="Courier New"/>
              </a:rPr>
              <a:t>&lt;h1&gt;Welcome </a:t>
            </a:r>
            <a:r>
              <a:rPr b="1" lang="en" sz="1250">
                <a:solidFill>
                  <a:srgbClr val="D4A017"/>
                </a:solidFill>
                <a:latin typeface="Courier New"/>
                <a:ea typeface="Courier New"/>
                <a:cs typeface="Courier New"/>
                <a:sym typeface="Courier New"/>
              </a:rPr>
              <a:t>{ name }</a:t>
            </a:r>
            <a:r>
              <a:rPr lang="en" sz="1250">
                <a:solidFill>
                  <a:srgbClr val="374151"/>
                </a:solidFill>
                <a:latin typeface="Courier New"/>
                <a:ea typeface="Courier New"/>
                <a:cs typeface="Courier New"/>
                <a:sym typeface="Courier New"/>
              </a:rPr>
              <a:t>&lt;/h1&gt;</a:t>
            </a:r>
            <a:endParaRPr sz="1250">
              <a:solidFill>
                <a:srgbClr val="374151"/>
              </a:solidFill>
              <a:latin typeface="Courier New"/>
              <a:ea typeface="Courier New"/>
              <a:cs typeface="Courier New"/>
              <a:sym typeface="Courier New"/>
            </a:endParaRPr>
          </a:p>
        </p:txBody>
      </p:sp>
      <p:sp>
        <p:nvSpPr>
          <p:cNvPr id="193" name="Google Shape;193;p19"/>
          <p:cNvSpPr txBox="1"/>
          <p:nvPr/>
        </p:nvSpPr>
        <p:spPr>
          <a:xfrm>
            <a:off x="6477000" y="3714750"/>
            <a:ext cx="49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When Django processes this, it replaces </a:t>
            </a:r>
            <a:r>
              <a:rPr b="0" lang="en" sz="1400">
                <a:solidFill>
                  <a:srgbClr val="045A36"/>
                </a:solidFill>
                <a:latin typeface="Arial"/>
                <a:ea typeface="Arial"/>
                <a:cs typeface="Arial"/>
                <a:sym typeface="Arial"/>
              </a:rPr>
              <a:t>{ name }</a:t>
            </a:r>
            <a:r>
              <a:rPr b="0" lang="en" sz="1400">
                <a:solidFill>
                  <a:srgbClr val="374151"/>
                </a:solidFill>
                <a:latin typeface="Inter"/>
                <a:ea typeface="Inter"/>
                <a:cs typeface="Inter"/>
                <a:sym typeface="Inter"/>
              </a:rPr>
              <a:t> with </a:t>
            </a:r>
            <a:r>
              <a:rPr b="0" lang="en" sz="1400">
                <a:solidFill>
                  <a:srgbClr val="045A36"/>
                </a:solidFill>
                <a:latin typeface="Arial"/>
                <a:ea typeface="Arial"/>
                <a:cs typeface="Arial"/>
                <a:sym typeface="Arial"/>
              </a:rPr>
              <a:t>Ali</a:t>
            </a:r>
            <a:r>
              <a:rPr b="0" lang="en" sz="1400">
                <a:solidFill>
                  <a:srgbClr val="374151"/>
                </a:solidFill>
                <a:latin typeface="Inter"/>
                <a:ea typeface="Inter"/>
                <a:cs typeface="Inter"/>
                <a:sym typeface="Inter"/>
              </a:rPr>
              <a:t>, resulting in the browser displaying:</a:t>
            </a:r>
            <a:endParaRPr b="0" sz="1400">
              <a:solidFill>
                <a:srgbClr val="374151"/>
              </a:solidFill>
              <a:latin typeface="Inter"/>
              <a:ea typeface="Inter"/>
              <a:cs typeface="Inter"/>
              <a:sym typeface="Inter"/>
            </a:endParaRPr>
          </a:p>
        </p:txBody>
      </p:sp>
      <p:sp>
        <p:nvSpPr>
          <p:cNvPr id="194" name="Google Shape;194;p19"/>
          <p:cNvSpPr/>
          <p:nvPr/>
        </p:nvSpPr>
        <p:spPr>
          <a:xfrm>
            <a:off x="6477000" y="4476750"/>
            <a:ext cx="4953000" cy="952500"/>
          </a:xfrm>
          <a:prstGeom prst="roundRect">
            <a:avLst>
              <a:gd fmla="val 6000" name="adj"/>
            </a:avLst>
          </a:prstGeom>
          <a:solidFill>
            <a:srgbClr val="FFFDF5"/>
          </a:solidFill>
          <a:ln cap="flat" cmpd="sng" w="1430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9"/>
          <p:cNvSpPr/>
          <p:nvPr/>
        </p:nvSpPr>
        <p:spPr>
          <a:xfrm>
            <a:off x="6619875" y="4381500"/>
            <a:ext cx="1238400" cy="190500"/>
          </a:xfrm>
          <a:prstGeom prst="roundRect">
            <a:avLst>
              <a:gd fmla="val 15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9"/>
          <p:cNvSpPr txBox="1"/>
          <p:nvPr/>
        </p:nvSpPr>
        <p:spPr>
          <a:xfrm>
            <a:off x="6619875" y="4381500"/>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Inter"/>
                <a:ea typeface="Inter"/>
                <a:cs typeface="Inter"/>
                <a:sym typeface="Inter"/>
              </a:rPr>
              <a:t>BROWSER OUTPUT</a:t>
            </a:r>
            <a:endParaRPr b="1" sz="800">
              <a:solidFill>
                <a:srgbClr val="FFFFFF"/>
              </a:solidFill>
              <a:latin typeface="Inter"/>
              <a:ea typeface="Inter"/>
              <a:cs typeface="Inter"/>
              <a:sym typeface="Inter"/>
            </a:endParaRPr>
          </a:p>
        </p:txBody>
      </p:sp>
      <p:sp>
        <p:nvSpPr>
          <p:cNvPr id="197" name="Google Shape;197;p19"/>
          <p:cNvSpPr txBox="1"/>
          <p:nvPr/>
        </p:nvSpPr>
        <p:spPr>
          <a:xfrm>
            <a:off x="6762750" y="4714875"/>
            <a:ext cx="438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000">
                <a:solidFill>
                  <a:srgbClr val="045A36"/>
                </a:solidFill>
                <a:latin typeface="Montserrat"/>
                <a:ea typeface="Montserrat"/>
                <a:cs typeface="Montserrat"/>
                <a:sym typeface="Montserrat"/>
              </a:rPr>
              <a:t>Welcome Ali</a:t>
            </a:r>
            <a:endParaRPr b="1" sz="2000">
              <a:solidFill>
                <a:srgbClr val="045A36"/>
              </a:solidFill>
              <a:latin typeface="Montserrat"/>
              <a:ea typeface="Montserrat"/>
              <a:cs typeface="Montserrat"/>
              <a:sym typeface="Montserrat"/>
            </a:endParaRPr>
          </a:p>
        </p:txBody>
      </p:sp>
      <p:sp>
        <p:nvSpPr>
          <p:cNvPr id="198" name="Google Shape;198;p19"/>
          <p:cNvSpPr/>
          <p:nvPr>
            <p:ph idx="5" type="pic"/>
          </p:nvPr>
        </p:nvSpPr>
        <p:spPr>
          <a:xfrm>
            <a:off x="762000" y="5981700"/>
            <a:ext cx="10668000" cy="304800"/>
          </a:xfrm>
          <a:prstGeom prst="rect">
            <a:avLst/>
          </a:prstGeom>
          <a:noFill/>
          <a:ln>
            <a:noFill/>
          </a:ln>
        </p:spPr>
      </p:sp>
      <p:sp>
        <p:nvSpPr>
          <p:cNvPr id="199" name="Google Shape;199;p19"/>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0" y="0"/>
            <a:ext cx="12192000" cy="6858000"/>
          </a:xfrm>
          <a:prstGeom prst="rect">
            <a:avLst/>
          </a:prstGeom>
          <a:noFill/>
          <a:ln>
            <a:noFill/>
          </a:ln>
        </p:spPr>
      </p:sp>
      <p:sp>
        <p:nvSpPr>
          <p:cNvPr id="205" name="Google Shape;205;p20"/>
          <p:cNvSpPr/>
          <p:nvPr>
            <p:ph idx="3" type="pic"/>
          </p:nvPr>
        </p:nvSpPr>
        <p:spPr>
          <a:xfrm>
            <a:off x="0" y="0"/>
            <a:ext cx="12192000" cy="57300"/>
          </a:xfrm>
          <a:prstGeom prst="rect">
            <a:avLst/>
          </a:prstGeom>
          <a:noFill/>
          <a:ln>
            <a:noFill/>
          </a:ln>
        </p:spPr>
      </p:sp>
      <p:sp>
        <p:nvSpPr>
          <p:cNvPr id="206" name="Google Shape;206;p20"/>
          <p:cNvSpPr/>
          <p:nvPr>
            <p:ph idx="4" type="pic"/>
          </p:nvPr>
        </p:nvSpPr>
        <p:spPr>
          <a:xfrm>
            <a:off x="10287000" y="5453079"/>
            <a:ext cx="1524000" cy="1019400"/>
          </a:xfrm>
          <a:prstGeom prst="rect">
            <a:avLst/>
          </a:prstGeom>
          <a:noFill/>
          <a:ln>
            <a:noFill/>
          </a:ln>
        </p:spPr>
      </p:sp>
      <p:sp>
        <p:nvSpPr>
          <p:cNvPr id="207" name="Google Shape;207;p20"/>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Template Tags</a:t>
            </a:r>
            <a:endParaRPr b="0" sz="2700">
              <a:solidFill>
                <a:srgbClr val="045A36"/>
              </a:solidFill>
              <a:latin typeface="Montserrat SemiBold"/>
              <a:ea typeface="Montserrat SemiBold"/>
              <a:cs typeface="Montserrat SemiBold"/>
              <a:sym typeface="Montserrat SemiBold"/>
            </a:endParaRPr>
          </a:p>
        </p:txBody>
      </p:sp>
      <p:sp>
        <p:nvSpPr>
          <p:cNvPr id="208" name="Google Shape;208;p2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9" name="Google Shape;209;p20"/>
          <p:cNvGrpSpPr/>
          <p:nvPr/>
        </p:nvGrpSpPr>
        <p:grpSpPr>
          <a:xfrm>
            <a:off x="647700" y="1352550"/>
            <a:ext cx="4800600" cy="3657600"/>
            <a:chOff x="-114300" y="-76200"/>
            <a:chExt cx="4800600" cy="3657600"/>
          </a:xfrm>
        </p:grpSpPr>
        <p:pic>
          <p:nvPicPr>
            <p:cNvPr id="210" name="Google Shape;210;p20"/>
            <p:cNvPicPr preferRelativeResize="0"/>
            <p:nvPr/>
          </p:nvPicPr>
          <p:blipFill rotWithShape="1">
            <a:blip r:embed="rId4">
              <a:alphaModFix/>
            </a:blip>
            <a:srcRect b="0" l="0" r="0" t="0"/>
            <a:stretch/>
          </p:blipFill>
          <p:spPr>
            <a:xfrm>
              <a:off x="-114300" y="-76200"/>
              <a:ext cx="4800600" cy="3657600"/>
            </a:xfrm>
            <a:prstGeom prst="rect">
              <a:avLst/>
            </a:prstGeom>
            <a:noFill/>
            <a:ln>
              <a:noFill/>
            </a:ln>
          </p:spPr>
        </p:pic>
        <p:pic>
          <p:nvPicPr>
            <p:cNvPr id="211" name="Google Shape;211;p20"/>
            <p:cNvPicPr preferRelativeResize="0"/>
            <p:nvPr/>
          </p:nvPicPr>
          <p:blipFill rotWithShape="1">
            <a:blip r:embed="rId5">
              <a:alphaModFix/>
            </a:blip>
            <a:srcRect b="0" l="0" r="0" t="0"/>
            <a:stretch/>
          </p:blipFill>
          <p:spPr>
            <a:xfrm>
              <a:off x="0" y="0"/>
              <a:ext cx="4572000" cy="3429000"/>
            </a:xfrm>
            <a:prstGeom prst="roundRect">
              <a:avLst>
                <a:gd fmla="val 1666" name="adj"/>
              </a:avLst>
            </a:prstGeom>
            <a:noFill/>
            <a:ln>
              <a:noFill/>
            </a:ln>
          </p:spPr>
        </p:pic>
      </p:grpSp>
      <p:sp>
        <p:nvSpPr>
          <p:cNvPr id="212" name="Google Shape;212;p20"/>
          <p:cNvSpPr txBox="1"/>
          <p:nvPr/>
        </p:nvSpPr>
        <p:spPr>
          <a:xfrm>
            <a:off x="762000" y="5000625"/>
            <a:ext cx="457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045A36"/>
                </a:solidFill>
                <a:latin typeface="Inter SemiBold"/>
                <a:ea typeface="Inter SemiBold"/>
                <a:cs typeface="Inter SemiBold"/>
                <a:sym typeface="Inter SemiBold"/>
              </a:rPr>
              <a:t>Editor View:</a:t>
            </a:r>
            <a:r>
              <a:rPr b="0" lang="en" sz="1250">
                <a:solidFill>
                  <a:srgbClr val="4B5563"/>
                </a:solidFill>
                <a:latin typeface="Inter"/>
                <a:ea typeface="Inter"/>
                <a:cs typeface="Inter"/>
                <a:sym typeface="Inter"/>
              </a:rPr>
              <a:t> Code editor displaying structural syntax highlighting on logic tag statements.</a:t>
            </a:r>
            <a:endParaRPr b="0" sz="1250">
              <a:solidFill>
                <a:srgbClr val="4B5563"/>
              </a:solidFill>
              <a:latin typeface="Inter"/>
              <a:ea typeface="Inter"/>
              <a:cs typeface="Inter"/>
              <a:sym typeface="Inter"/>
            </a:endParaRPr>
          </a:p>
        </p:txBody>
      </p:sp>
      <p:sp>
        <p:nvSpPr>
          <p:cNvPr id="213" name="Google Shape;213;p20"/>
          <p:cNvSpPr txBox="1"/>
          <p:nvPr/>
        </p:nvSpPr>
        <p:spPr>
          <a:xfrm>
            <a:off x="5715000" y="1428750"/>
            <a:ext cx="5715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374151"/>
                </a:solidFill>
                <a:latin typeface="Inter"/>
                <a:ea typeface="Inter"/>
                <a:cs typeface="Inter"/>
                <a:sym typeface="Inter"/>
              </a:rPr>
              <a:t>Django Templates provide </a:t>
            </a:r>
            <a:r>
              <a:rPr b="0" lang="en" sz="1388">
                <a:solidFill>
                  <a:srgbClr val="045A36"/>
                </a:solidFill>
                <a:latin typeface="Inter SemiBold"/>
                <a:ea typeface="Inter SemiBold"/>
                <a:cs typeface="Inter SemiBold"/>
                <a:sym typeface="Inter SemiBold"/>
              </a:rPr>
              <a:t>Template Tags</a:t>
            </a:r>
            <a:r>
              <a:rPr b="0" lang="en" sz="1388">
                <a:solidFill>
                  <a:srgbClr val="374151"/>
                </a:solidFill>
                <a:latin typeface="Inter"/>
                <a:ea typeface="Inter"/>
                <a:cs typeface="Inter"/>
                <a:sym typeface="Inter"/>
              </a:rPr>
              <a:t>, allowing you to add simple programming logic inside HTML templates without writing Python code directly. Template tags use the syntax </a:t>
            </a:r>
            <a:r>
              <a:rPr b="1" lang="en" sz="1388">
                <a:solidFill>
                  <a:srgbClr val="045A36"/>
                </a:solidFill>
                <a:highlight>
                  <a:srgbClr val="E2E8F0"/>
                </a:highlight>
                <a:latin typeface="Courier New"/>
                <a:ea typeface="Courier New"/>
                <a:cs typeface="Courier New"/>
                <a:sym typeface="Courier New"/>
              </a:rPr>
              <a:t>{% %}</a:t>
            </a:r>
            <a:r>
              <a:rPr b="0" lang="en" sz="1388">
                <a:solidFill>
                  <a:srgbClr val="374151"/>
                </a:solidFill>
                <a:latin typeface="Inter"/>
                <a:ea typeface="Inter"/>
                <a:cs typeface="Inter"/>
                <a:sym typeface="Inter"/>
              </a:rPr>
              <a:t>.</a:t>
            </a:r>
            <a:endParaRPr b="0" sz="1388">
              <a:solidFill>
                <a:srgbClr val="374151"/>
              </a:solidFill>
              <a:latin typeface="Inter"/>
              <a:ea typeface="Inter"/>
              <a:cs typeface="Inter"/>
              <a:sym typeface="Inter"/>
            </a:endParaRPr>
          </a:p>
        </p:txBody>
      </p:sp>
      <p:grpSp>
        <p:nvGrpSpPr>
          <p:cNvPr id="214" name="Google Shape;214;p20"/>
          <p:cNvGrpSpPr/>
          <p:nvPr/>
        </p:nvGrpSpPr>
        <p:grpSpPr>
          <a:xfrm>
            <a:off x="5600700" y="2305050"/>
            <a:ext cx="5943600" cy="1700100"/>
            <a:chOff x="-114300" y="-76200"/>
            <a:chExt cx="5943600" cy="1700100"/>
          </a:xfrm>
        </p:grpSpPr>
        <p:pic>
          <p:nvPicPr>
            <p:cNvPr id="215" name="Google Shape;215;p20"/>
            <p:cNvPicPr preferRelativeResize="0"/>
            <p:nvPr/>
          </p:nvPicPr>
          <p:blipFill rotWithShape="1">
            <a:blip r:embed="rId6">
              <a:alphaModFix/>
            </a:blip>
            <a:srcRect b="0" l="0" r="0" t="0"/>
            <a:stretch/>
          </p:blipFill>
          <p:spPr>
            <a:xfrm>
              <a:off x="-114300" y="-76200"/>
              <a:ext cx="5943600" cy="1700100"/>
            </a:xfrm>
            <a:prstGeom prst="rect">
              <a:avLst/>
            </a:prstGeom>
            <a:noFill/>
            <a:ln>
              <a:noFill/>
            </a:ln>
          </p:spPr>
        </p:pic>
        <p:sp>
          <p:nvSpPr>
            <p:cNvPr id="216" name="Google Shape;216;p20"/>
            <p:cNvSpPr/>
            <p:nvPr/>
          </p:nvSpPr>
          <p:spPr>
            <a:xfrm>
              <a:off x="0" y="0"/>
              <a:ext cx="0" cy="1476300"/>
            </a:xfrm>
            <a:custGeom>
              <a:rect b="b" l="l" r="r" t="t"/>
              <a:pathLst>
                <a:path extrusionOk="0" fill="none" h="120000" w="120000">
                  <a:moveTo>
                    <a:pt x="0" y="0"/>
                  </a:moveTo>
                  <a:lnTo>
                    <a:pt x="0" y="120000"/>
                  </a:lnTo>
                </a:path>
              </a:pathLst>
            </a:custGeom>
            <a:solidFill>
              <a:srgbClr val="FFFFFF"/>
            </a:solidFill>
            <a:ln cap="rnd" cmpd="sng" w="5715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0"/>
            <p:cNvSpPr txBox="1"/>
            <p:nvPr/>
          </p:nvSpPr>
          <p:spPr>
            <a:xfrm>
              <a:off x="190500" y="95250"/>
              <a:ext cx="5334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If Condition:</a:t>
              </a:r>
              <a:r>
                <a:rPr b="0" lang="en" sz="1350">
                  <a:solidFill>
                    <a:srgbClr val="374151"/>
                  </a:solidFill>
                  <a:latin typeface="Inter"/>
                  <a:ea typeface="Inter"/>
                  <a:cs typeface="Inter"/>
                  <a:sym typeface="Inter"/>
                </a:rPr>
                <a:t> You can use an </a:t>
              </a:r>
              <a:r>
                <a:rPr b="0" lang="en" sz="1350">
                  <a:solidFill>
                    <a:srgbClr val="0B7A4B"/>
                  </a:solidFill>
                  <a:latin typeface="Courier New"/>
                  <a:ea typeface="Courier New"/>
                  <a:cs typeface="Courier New"/>
                  <a:sym typeface="Courier New"/>
                </a:rPr>
                <a:t>{% if %}</a:t>
              </a:r>
              <a:r>
                <a:rPr b="0" lang="en" sz="1350">
                  <a:solidFill>
                    <a:srgbClr val="374151"/>
                  </a:solidFill>
                  <a:latin typeface="Inter"/>
                  <a:ea typeface="Inter"/>
                  <a:cs typeface="Inter"/>
                  <a:sym typeface="Inter"/>
                </a:rPr>
                <a:t> tag for conditional logic.</a:t>
              </a:r>
              <a:endParaRPr b="0" sz="1350">
                <a:solidFill>
                  <a:srgbClr val="374151"/>
                </a:solidFill>
                <a:latin typeface="Inter"/>
                <a:ea typeface="Inter"/>
                <a:cs typeface="Inter"/>
                <a:sym typeface="Inter"/>
              </a:endParaRPr>
            </a:p>
            <a:p>
              <a:pPr indent="0" lvl="0" marL="0" rtl="0" algn="l">
                <a:spcBef>
                  <a:spcPts val="600"/>
                </a:spcBef>
                <a:spcAft>
                  <a:spcPts val="0"/>
                </a:spcAft>
                <a:buNone/>
              </a:pPr>
              <a:r>
                <a:rPr b="1" lang="en" sz="1150">
                  <a:solidFill>
                    <a:srgbClr val="0B7A4B"/>
                  </a:solidFill>
                  <a:highlight>
                    <a:srgbClr val="F8FAFC"/>
                  </a:highlight>
                  <a:latin typeface="Courier New"/>
                  <a:ea typeface="Courier New"/>
                  <a:cs typeface="Courier New"/>
                  <a:sym typeface="Courier New"/>
                </a:rPr>
                <a:t>{% if</a:t>
              </a:r>
              <a:r>
                <a:rPr b="0" lang="en" sz="1150">
                  <a:solidFill>
                    <a:srgbClr val="374151"/>
                  </a:solidFill>
                  <a:highlight>
                    <a:srgbClr val="F8FAFC"/>
                  </a:highlight>
                  <a:latin typeface="Courier New"/>
                  <a:ea typeface="Courier New"/>
                  <a:cs typeface="Courier New"/>
                  <a:sym typeface="Courier New"/>
                </a:rPr>
                <a:t> name </a:t>
              </a:r>
              <a:r>
                <a:rPr b="1" lang="en" sz="1150">
                  <a:solidFill>
                    <a:srgbClr val="0B7A4B"/>
                  </a:solidFill>
                  <a:highlight>
                    <a:srgbClr val="F8FAFC"/>
                  </a:highlight>
                  <a:latin typeface="Courier New"/>
                  <a:ea typeface="Courier New"/>
                  <a:cs typeface="Courier New"/>
                  <a:sym typeface="Courier New"/>
                </a:rPr>
                <a:t>%}</a:t>
              </a:r>
              <a:endParaRPr b="0" sz="1150">
                <a:solidFill>
                  <a:srgbClr val="374151"/>
                </a:solidFill>
                <a:highlight>
                  <a:srgbClr val="F8FAFC"/>
                </a:highlight>
                <a:latin typeface="Courier New"/>
                <a:ea typeface="Courier New"/>
                <a:cs typeface="Courier New"/>
                <a:sym typeface="Courier New"/>
              </a:endParaRPr>
            </a:p>
            <a:p>
              <a:pPr indent="0" lvl="0" marL="0" rtl="0" algn="l">
                <a:spcBef>
                  <a:spcPts val="0"/>
                </a:spcBef>
                <a:spcAft>
                  <a:spcPts val="0"/>
                </a:spcAft>
                <a:buNone/>
              </a:pPr>
              <a:r>
                <a:rPr b="0" lang="en" sz="1150">
                  <a:solidFill>
                    <a:srgbClr val="374151"/>
                  </a:solidFill>
                  <a:highlight>
                    <a:srgbClr val="F8FAFC"/>
                  </a:highlight>
                  <a:latin typeface="Courier New"/>
                  <a:ea typeface="Courier New"/>
                  <a:cs typeface="Courier New"/>
                  <a:sym typeface="Courier New"/>
                </a:rPr>
                <a:t>&lt;h1&gt;Welcome { name }&lt;/h1&gt;</a:t>
              </a:r>
              <a:endParaRPr b="0" sz="1150">
                <a:solidFill>
                  <a:srgbClr val="374151"/>
                </a:solidFill>
                <a:highlight>
                  <a:srgbClr val="F8FAFC"/>
                </a:highlight>
                <a:latin typeface="Courier New"/>
                <a:ea typeface="Courier New"/>
                <a:cs typeface="Courier New"/>
                <a:sym typeface="Courier New"/>
              </a:endParaRPr>
            </a:p>
            <a:p>
              <a:pPr indent="0" lvl="0" marL="0" rtl="0" algn="l">
                <a:spcBef>
                  <a:spcPts val="0"/>
                </a:spcBef>
                <a:spcAft>
                  <a:spcPts val="0"/>
                </a:spcAft>
                <a:buNone/>
              </a:pPr>
              <a:r>
                <a:rPr b="1" lang="en" sz="1150">
                  <a:solidFill>
                    <a:srgbClr val="0B7A4B"/>
                  </a:solidFill>
                  <a:highlight>
                    <a:srgbClr val="F8FAFC"/>
                  </a:highlight>
                  <a:latin typeface="Courier New"/>
                  <a:ea typeface="Courier New"/>
                  <a:cs typeface="Courier New"/>
                  <a:sym typeface="Courier New"/>
                </a:rPr>
                <a:t>{% endif %}</a:t>
              </a:r>
              <a:endParaRPr b="0" sz="1150">
                <a:solidFill>
                  <a:srgbClr val="374151"/>
                </a:solidFill>
                <a:highlight>
                  <a:srgbClr val="F8FAFC"/>
                </a:highlight>
                <a:latin typeface="Courier New"/>
                <a:ea typeface="Courier New"/>
                <a:cs typeface="Courier New"/>
                <a:sym typeface="Courier New"/>
              </a:endParaRPr>
            </a:p>
          </p:txBody>
        </p:sp>
      </p:grpSp>
      <p:grpSp>
        <p:nvGrpSpPr>
          <p:cNvPr id="218" name="Google Shape;218;p20"/>
          <p:cNvGrpSpPr/>
          <p:nvPr/>
        </p:nvGrpSpPr>
        <p:grpSpPr>
          <a:xfrm>
            <a:off x="5600700" y="3876675"/>
            <a:ext cx="5943600" cy="2085900"/>
            <a:chOff x="-114300" y="-76200"/>
            <a:chExt cx="5943600" cy="2085900"/>
          </a:xfrm>
        </p:grpSpPr>
        <p:pic>
          <p:nvPicPr>
            <p:cNvPr id="219" name="Google Shape;219;p20"/>
            <p:cNvPicPr preferRelativeResize="0"/>
            <p:nvPr/>
          </p:nvPicPr>
          <p:blipFill rotWithShape="1">
            <a:blip r:embed="rId7">
              <a:alphaModFix/>
            </a:blip>
            <a:srcRect b="0" l="0" r="0" t="0"/>
            <a:stretch/>
          </p:blipFill>
          <p:spPr>
            <a:xfrm>
              <a:off x="-114300" y="-76200"/>
              <a:ext cx="5943600" cy="2085900"/>
            </a:xfrm>
            <a:prstGeom prst="rect">
              <a:avLst/>
            </a:prstGeom>
            <a:noFill/>
            <a:ln>
              <a:noFill/>
            </a:ln>
          </p:spPr>
        </p:pic>
        <p:sp>
          <p:nvSpPr>
            <p:cNvPr id="220" name="Google Shape;220;p20"/>
            <p:cNvSpPr/>
            <p:nvPr/>
          </p:nvSpPr>
          <p:spPr>
            <a:xfrm>
              <a:off x="0" y="0"/>
              <a:ext cx="0" cy="1857300"/>
            </a:xfrm>
            <a:custGeom>
              <a:rect b="b" l="l" r="r" t="t"/>
              <a:pathLst>
                <a:path extrusionOk="0" fill="none" h="120000" w="120000">
                  <a:moveTo>
                    <a:pt x="0" y="0"/>
                  </a:moveTo>
                  <a:lnTo>
                    <a:pt x="0" y="120000"/>
                  </a:lnTo>
                </a:path>
              </a:pathLst>
            </a:custGeom>
            <a:solidFill>
              <a:srgbClr val="FFFFFF"/>
            </a:solidFill>
            <a:ln cap="rnd" cmpd="sng" w="5715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0"/>
            <p:cNvSpPr txBox="1"/>
            <p:nvPr/>
          </p:nvSpPr>
          <p:spPr>
            <a:xfrm>
              <a:off x="190500" y="95250"/>
              <a:ext cx="533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49">
                  <a:solidFill>
                    <a:srgbClr val="045A36"/>
                  </a:solidFill>
                  <a:latin typeface="Inter"/>
                  <a:ea typeface="Inter"/>
                  <a:cs typeface="Inter"/>
                  <a:sym typeface="Inter"/>
                </a:rPr>
                <a:t>For Loop:</a:t>
              </a:r>
              <a:r>
                <a:rPr b="0" lang="en" sz="1249">
                  <a:solidFill>
                    <a:srgbClr val="374151"/>
                  </a:solidFill>
                  <a:latin typeface="Inter"/>
                  <a:ea typeface="Inter"/>
                  <a:cs typeface="Inter"/>
                  <a:sym typeface="Inter"/>
                </a:rPr>
                <a:t> You can use a </a:t>
              </a:r>
              <a:r>
                <a:rPr b="0" lang="en" sz="1249">
                  <a:solidFill>
                    <a:srgbClr val="0B7A4B"/>
                  </a:solidFill>
                  <a:latin typeface="Courier New"/>
                  <a:ea typeface="Courier New"/>
                  <a:cs typeface="Courier New"/>
                  <a:sym typeface="Courier New"/>
                </a:rPr>
                <a:t>{% for %}</a:t>
              </a:r>
              <a:r>
                <a:rPr b="0" lang="en" sz="1249">
                  <a:solidFill>
                    <a:srgbClr val="374151"/>
                  </a:solidFill>
                  <a:latin typeface="Inter"/>
                  <a:ea typeface="Inter"/>
                  <a:cs typeface="Inter"/>
                  <a:sym typeface="Inter"/>
                </a:rPr>
                <a:t> tag to iterate over lists sent from the view.</a:t>
              </a:r>
              <a:endParaRPr b="0" sz="1249">
                <a:solidFill>
                  <a:srgbClr val="374151"/>
                </a:solidFill>
                <a:latin typeface="Inter"/>
                <a:ea typeface="Inter"/>
                <a:cs typeface="Inter"/>
                <a:sym typeface="Inter"/>
              </a:endParaRPr>
            </a:p>
            <a:p>
              <a:pPr indent="0" lvl="0" marL="0" rtl="0" algn="l">
                <a:spcBef>
                  <a:spcPts val="300"/>
                </a:spcBef>
                <a:spcAft>
                  <a:spcPts val="0"/>
                </a:spcAft>
                <a:buNone/>
              </a:pPr>
              <a:r>
                <a:rPr b="0" lang="en" sz="1064">
                  <a:solidFill>
                    <a:srgbClr val="4B5563"/>
                  </a:solidFill>
                  <a:latin typeface="Inter"/>
                  <a:ea typeface="Inter"/>
                  <a:cs typeface="Inter"/>
                  <a:sym typeface="Inter"/>
                </a:rPr>
                <a:t>If the view sends </a:t>
              </a:r>
              <a:r>
                <a:rPr b="0" lang="en" sz="1064">
                  <a:solidFill>
                    <a:srgbClr val="4B5563"/>
                  </a:solidFill>
                  <a:highlight>
                    <a:srgbClr val="F1F5F9"/>
                  </a:highlight>
                  <a:latin typeface="Courier New"/>
                  <a:ea typeface="Courier New"/>
                  <a:cs typeface="Courier New"/>
                  <a:sym typeface="Courier New"/>
                </a:rPr>
                <a:t>context = {'students': ['Ali', 'Ahmed', 'Sara']}</a:t>
              </a:r>
              <a:r>
                <a:rPr b="0" lang="en" sz="1064">
                  <a:solidFill>
                    <a:srgbClr val="4B5563"/>
                  </a:solidFill>
                  <a:latin typeface="Inter"/>
                  <a:ea typeface="Inter"/>
                  <a:cs typeface="Inter"/>
                  <a:sym typeface="Inter"/>
                </a:rPr>
                <a:t>:</a:t>
              </a:r>
              <a:endParaRPr b="0" sz="1064">
                <a:solidFill>
                  <a:srgbClr val="4B5563"/>
                </a:solidFill>
                <a:latin typeface="Inter"/>
                <a:ea typeface="Inter"/>
                <a:cs typeface="Inter"/>
                <a:sym typeface="Inter"/>
              </a:endParaRPr>
            </a:p>
            <a:p>
              <a:pPr indent="0" lvl="0" marL="0" rtl="0" algn="l">
                <a:spcBef>
                  <a:spcPts val="450"/>
                </a:spcBef>
                <a:spcAft>
                  <a:spcPts val="0"/>
                </a:spcAft>
                <a:buNone/>
              </a:pPr>
              <a:r>
                <a:rPr b="0" lang="en" sz="971">
                  <a:solidFill>
                    <a:srgbClr val="374151"/>
                  </a:solidFill>
                  <a:highlight>
                    <a:srgbClr val="F8FAFC"/>
                  </a:highlight>
                  <a:latin typeface="Courier New"/>
                  <a:ea typeface="Courier New"/>
                  <a:cs typeface="Courier New"/>
                  <a:sym typeface="Courier New"/>
                </a:rPr>
                <a:t>&lt;h2&gt;Students&lt;/h2&gt;</a:t>
              </a:r>
              <a:endParaRPr b="0" sz="971">
                <a:solidFill>
                  <a:srgbClr val="374151"/>
                </a:solidFill>
                <a:highlight>
                  <a:srgbClr val="F8FAFC"/>
                </a:highlight>
                <a:latin typeface="Courier New"/>
                <a:ea typeface="Courier New"/>
                <a:cs typeface="Courier New"/>
                <a:sym typeface="Courier New"/>
              </a:endParaRPr>
            </a:p>
            <a:p>
              <a:pPr indent="0" lvl="0" marL="0" rtl="0" algn="l">
                <a:spcBef>
                  <a:spcPts val="0"/>
                </a:spcBef>
                <a:spcAft>
                  <a:spcPts val="0"/>
                </a:spcAft>
                <a:buNone/>
              </a:pPr>
              <a:r>
                <a:rPr b="1" lang="en" sz="971">
                  <a:solidFill>
                    <a:srgbClr val="0B7A4B"/>
                  </a:solidFill>
                  <a:highlight>
                    <a:srgbClr val="F8FAFC"/>
                  </a:highlight>
                  <a:latin typeface="Courier New"/>
                  <a:ea typeface="Courier New"/>
                  <a:cs typeface="Courier New"/>
                  <a:sym typeface="Courier New"/>
                </a:rPr>
                <a:t>{% for</a:t>
              </a:r>
              <a:r>
                <a:rPr b="0" lang="en" sz="971">
                  <a:solidFill>
                    <a:srgbClr val="374151"/>
                  </a:solidFill>
                  <a:highlight>
                    <a:srgbClr val="F8FAFC"/>
                  </a:highlight>
                  <a:latin typeface="Courier New"/>
                  <a:ea typeface="Courier New"/>
                  <a:cs typeface="Courier New"/>
                  <a:sym typeface="Courier New"/>
                </a:rPr>
                <a:t> student in students </a:t>
              </a:r>
              <a:r>
                <a:rPr b="1" lang="en" sz="971">
                  <a:solidFill>
                    <a:srgbClr val="0B7A4B"/>
                  </a:solidFill>
                  <a:highlight>
                    <a:srgbClr val="F8FAFC"/>
                  </a:highlight>
                  <a:latin typeface="Courier New"/>
                  <a:ea typeface="Courier New"/>
                  <a:cs typeface="Courier New"/>
                  <a:sym typeface="Courier New"/>
                </a:rPr>
                <a:t>%}</a:t>
              </a:r>
              <a:endParaRPr b="0" sz="971">
                <a:solidFill>
                  <a:srgbClr val="374151"/>
                </a:solidFill>
                <a:highlight>
                  <a:srgbClr val="F8FAFC"/>
                </a:highlight>
                <a:latin typeface="Courier New"/>
                <a:ea typeface="Courier New"/>
                <a:cs typeface="Courier New"/>
                <a:sym typeface="Courier New"/>
              </a:endParaRPr>
            </a:p>
            <a:p>
              <a:pPr indent="0" lvl="0" marL="0" rtl="0" algn="l">
                <a:spcBef>
                  <a:spcPts val="0"/>
                </a:spcBef>
                <a:spcAft>
                  <a:spcPts val="0"/>
                </a:spcAft>
                <a:buNone/>
              </a:pPr>
              <a:r>
                <a:rPr b="0" lang="en" sz="971">
                  <a:solidFill>
                    <a:srgbClr val="374151"/>
                  </a:solidFill>
                  <a:highlight>
                    <a:srgbClr val="F8FAFC"/>
                  </a:highlight>
                  <a:latin typeface="Courier New"/>
                  <a:ea typeface="Courier New"/>
                  <a:cs typeface="Courier New"/>
                  <a:sym typeface="Courier New"/>
                </a:rPr>
                <a:t>&lt;p&gt;{ student }&lt;/p&gt;</a:t>
              </a:r>
              <a:endParaRPr b="0" sz="971">
                <a:solidFill>
                  <a:srgbClr val="374151"/>
                </a:solidFill>
                <a:highlight>
                  <a:srgbClr val="F8FAFC"/>
                </a:highlight>
                <a:latin typeface="Courier New"/>
                <a:ea typeface="Courier New"/>
                <a:cs typeface="Courier New"/>
                <a:sym typeface="Courier New"/>
              </a:endParaRPr>
            </a:p>
            <a:p>
              <a:pPr indent="0" lvl="0" marL="0" rtl="0" algn="l">
                <a:spcBef>
                  <a:spcPts val="0"/>
                </a:spcBef>
                <a:spcAft>
                  <a:spcPts val="0"/>
                </a:spcAft>
                <a:buNone/>
              </a:pPr>
              <a:r>
                <a:rPr b="1" lang="en" sz="971">
                  <a:solidFill>
                    <a:srgbClr val="0B7A4B"/>
                  </a:solidFill>
                  <a:highlight>
                    <a:srgbClr val="F8FAFC"/>
                  </a:highlight>
                  <a:latin typeface="Courier New"/>
                  <a:ea typeface="Courier New"/>
                  <a:cs typeface="Courier New"/>
                  <a:sym typeface="Courier New"/>
                </a:rPr>
                <a:t>{% endfor %}</a:t>
              </a:r>
              <a:endParaRPr b="0" sz="971">
                <a:solidFill>
                  <a:srgbClr val="374151"/>
                </a:solidFill>
                <a:highlight>
                  <a:srgbClr val="F8FAFC"/>
                </a:highlight>
                <a:latin typeface="Courier New"/>
                <a:ea typeface="Courier New"/>
                <a:cs typeface="Courier New"/>
                <a:sym typeface="Courier New"/>
              </a:endParaRPr>
            </a:p>
            <a:p>
              <a:pPr indent="0" lvl="0" marL="0" rtl="0" algn="l">
                <a:spcBef>
                  <a:spcPts val="450"/>
                </a:spcBef>
                <a:spcAft>
                  <a:spcPts val="0"/>
                </a:spcAft>
                <a:buNone/>
              </a:pPr>
              <a:r>
                <a:rPr b="0" lang="en" sz="1018">
                  <a:solidFill>
                    <a:srgbClr val="4B5563"/>
                  </a:solidFill>
                  <a:latin typeface="Inter"/>
                  <a:ea typeface="Inter"/>
                  <a:cs typeface="Inter"/>
                  <a:sym typeface="Inter"/>
                </a:rPr>
                <a:t>Django will repeat the paragraph for every student, outputting Ali, Ahmed, and Sara.</a:t>
              </a:r>
              <a:endParaRPr b="0" sz="1018">
                <a:solidFill>
                  <a:srgbClr val="4B5563"/>
                </a:solidFill>
                <a:latin typeface="Inter"/>
                <a:ea typeface="Inter"/>
                <a:cs typeface="Inter"/>
                <a:sym typeface="Inter"/>
              </a:endParaRPr>
            </a:p>
          </p:txBody>
        </p:sp>
      </p:grpSp>
      <p:sp>
        <p:nvSpPr>
          <p:cNvPr id="222" name="Google Shape;222;p20"/>
          <p:cNvSpPr/>
          <p:nvPr>
            <p:ph idx="5" type="pic"/>
          </p:nvPr>
        </p:nvSpPr>
        <p:spPr>
          <a:xfrm>
            <a:off x="762000" y="5981700"/>
            <a:ext cx="10668000" cy="304800"/>
          </a:xfrm>
          <a:prstGeom prst="rect">
            <a:avLst/>
          </a:prstGeom>
          <a:noFill/>
          <a:ln>
            <a:noFill/>
          </a:ln>
        </p:spPr>
      </p:sp>
      <p:sp>
        <p:nvSpPr>
          <p:cNvPr id="223" name="Google Shape;223;p20"/>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1"/>
          <p:cNvSpPr/>
          <p:nvPr>
            <p:ph idx="2" type="pic"/>
          </p:nvPr>
        </p:nvSpPr>
        <p:spPr>
          <a:xfrm>
            <a:off x="0" y="0"/>
            <a:ext cx="12192000" cy="6858000"/>
          </a:xfrm>
          <a:prstGeom prst="rect">
            <a:avLst/>
          </a:prstGeom>
          <a:noFill/>
          <a:ln>
            <a:noFill/>
          </a:ln>
        </p:spPr>
      </p:sp>
      <p:sp>
        <p:nvSpPr>
          <p:cNvPr id="229" name="Google Shape;229;p21"/>
          <p:cNvSpPr/>
          <p:nvPr>
            <p:ph idx="3" type="pic"/>
          </p:nvPr>
        </p:nvSpPr>
        <p:spPr>
          <a:xfrm>
            <a:off x="0" y="0"/>
            <a:ext cx="12192000" cy="57300"/>
          </a:xfrm>
          <a:prstGeom prst="rect">
            <a:avLst/>
          </a:prstGeom>
          <a:noFill/>
          <a:ln>
            <a:noFill/>
          </a:ln>
        </p:spPr>
      </p:sp>
      <p:sp>
        <p:nvSpPr>
          <p:cNvPr id="230" name="Google Shape;230;p21"/>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Template Inheritance</a:t>
            </a:r>
            <a:endParaRPr b="0" sz="2700">
              <a:solidFill>
                <a:srgbClr val="045A36"/>
              </a:solidFill>
              <a:latin typeface="Montserrat SemiBold"/>
              <a:ea typeface="Montserrat SemiBold"/>
              <a:cs typeface="Montserrat SemiBold"/>
              <a:sym typeface="Montserrat SemiBold"/>
            </a:endParaRPr>
          </a:p>
        </p:txBody>
      </p:sp>
      <p:sp>
        <p:nvSpPr>
          <p:cNvPr id="231" name="Google Shape;231;p2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2" name="Google Shape;232;p21"/>
          <p:cNvGrpSpPr/>
          <p:nvPr/>
        </p:nvGrpSpPr>
        <p:grpSpPr>
          <a:xfrm>
            <a:off x="762000" y="1524000"/>
            <a:ext cx="4953000" cy="3810075"/>
            <a:chOff x="0" y="0"/>
            <a:chExt cx="4953000" cy="3810075"/>
          </a:xfrm>
        </p:grpSpPr>
        <p:sp>
          <p:nvSpPr>
            <p:cNvPr id="233" name="Google Shape;233;p21"/>
            <p:cNvSpPr txBox="1"/>
            <p:nvPr/>
          </p:nvSpPr>
          <p:spPr>
            <a:xfrm>
              <a:off x="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Parent Layout (base.html)</a:t>
              </a:r>
              <a:endParaRPr b="1" sz="1650">
                <a:solidFill>
                  <a:srgbClr val="045A36"/>
                </a:solidFill>
                <a:latin typeface="Montserrat"/>
                <a:ea typeface="Montserrat"/>
                <a:cs typeface="Montserrat"/>
                <a:sym typeface="Montserrat"/>
              </a:endParaRPr>
            </a:p>
          </p:txBody>
        </p:sp>
        <p:sp>
          <p:nvSpPr>
            <p:cNvPr id="234" name="Google Shape;234;p21"/>
            <p:cNvSpPr/>
            <p:nvPr/>
          </p:nvSpPr>
          <p:spPr>
            <a:xfrm>
              <a:off x="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1"/>
            <p:cNvSpPr txBox="1"/>
            <p:nvPr/>
          </p:nvSpPr>
          <p:spPr>
            <a:xfrm>
              <a:off x="0" y="523875"/>
              <a:ext cx="4953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Template Inheritance allows you to reuse common HTML structure (headers, footers, navigation) across multiple pages to avoid code repetition.</a:t>
              </a:r>
              <a:endParaRPr b="0" sz="1350">
                <a:solidFill>
                  <a:srgbClr val="374151"/>
                </a:solidFill>
                <a:latin typeface="Inter"/>
                <a:ea typeface="Inter"/>
                <a:cs typeface="Inter"/>
                <a:sym typeface="Inter"/>
              </a:endParaRPr>
            </a:p>
          </p:txBody>
        </p:sp>
        <p:grpSp>
          <p:nvGrpSpPr>
            <p:cNvPr id="236" name="Google Shape;236;p21"/>
            <p:cNvGrpSpPr/>
            <p:nvPr/>
          </p:nvGrpSpPr>
          <p:grpSpPr>
            <a:xfrm>
              <a:off x="0" y="1476375"/>
              <a:ext cx="4953000" cy="2333700"/>
              <a:chOff x="0" y="0"/>
              <a:chExt cx="4953000" cy="2333700"/>
            </a:xfrm>
          </p:grpSpPr>
          <p:sp>
            <p:nvSpPr>
              <p:cNvPr id="237" name="Google Shape;237;p21"/>
              <p:cNvSpPr/>
              <p:nvPr/>
            </p:nvSpPr>
            <p:spPr>
              <a:xfrm>
                <a:off x="0" y="0"/>
                <a:ext cx="4953000" cy="2333700"/>
              </a:xfrm>
              <a:prstGeom prst="roundRect">
                <a:avLst>
                  <a:gd fmla="val 2448"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1"/>
              <p:cNvSpPr/>
              <p:nvPr/>
            </p:nvSpPr>
            <p:spPr>
              <a:xfrm>
                <a:off x="142875" y="142875"/>
                <a:ext cx="4667400" cy="333300"/>
              </a:xfrm>
              <a:prstGeom prst="roundRect">
                <a:avLst>
                  <a:gd fmla="val 11428"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1"/>
              <p:cNvSpPr txBox="1"/>
              <p:nvPr/>
            </p:nvSpPr>
            <p:spPr>
              <a:xfrm>
                <a:off x="142875" y="142875"/>
                <a:ext cx="46674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50">
                    <a:solidFill>
                      <a:srgbClr val="4B5563"/>
                    </a:solidFill>
                    <a:latin typeface="Inter SemiBold"/>
                    <a:ea typeface="Inter SemiBold"/>
                    <a:cs typeface="Inter SemiBold"/>
                    <a:sym typeface="Inter SemiBold"/>
                  </a:rPr>
                  <a:t>Header &amp; Navigation Bars</a:t>
                </a:r>
                <a:endParaRPr b="0" sz="1050">
                  <a:solidFill>
                    <a:srgbClr val="4B5563"/>
                  </a:solidFill>
                  <a:latin typeface="Inter SemiBold"/>
                  <a:ea typeface="Inter SemiBold"/>
                  <a:cs typeface="Inter SemiBold"/>
                  <a:sym typeface="Inter SemiBold"/>
                </a:endParaRPr>
              </a:p>
            </p:txBody>
          </p:sp>
          <p:pic>
            <p:nvPicPr>
              <p:cNvPr id="240" name="Google Shape;240;p21"/>
              <p:cNvPicPr preferRelativeResize="0"/>
              <p:nvPr/>
            </p:nvPicPr>
            <p:blipFill rotWithShape="1">
              <a:blip r:embed="rId4">
                <a:alphaModFix/>
              </a:blip>
              <a:srcRect b="0" l="0" r="0" t="0"/>
              <a:stretch/>
            </p:blipFill>
            <p:spPr>
              <a:xfrm>
                <a:off x="133350" y="561975"/>
                <a:ext cx="4686300" cy="1209600"/>
              </a:xfrm>
              <a:prstGeom prst="rect">
                <a:avLst/>
              </a:prstGeom>
              <a:noFill/>
              <a:ln>
                <a:noFill/>
              </a:ln>
            </p:spPr>
          </p:pic>
          <p:sp>
            <p:nvSpPr>
              <p:cNvPr id="241" name="Google Shape;241;p21"/>
              <p:cNvSpPr txBox="1"/>
              <p:nvPr/>
            </p:nvSpPr>
            <p:spPr>
              <a:xfrm>
                <a:off x="142875" y="571500"/>
                <a:ext cx="4667400" cy="11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D4A017"/>
                    </a:solidFill>
                    <a:latin typeface="Courier New"/>
                    <a:ea typeface="Courier New"/>
                    <a:cs typeface="Courier New"/>
                    <a:sym typeface="Courier New"/>
                  </a:rPr>
                  <a:t>{% block content %}</a:t>
                </a:r>
                <a:endParaRPr b="1" sz="1100">
                  <a:solidFill>
                    <a:srgbClr val="D4A017"/>
                  </a:solidFill>
                  <a:latin typeface="Courier New"/>
                  <a:ea typeface="Courier New"/>
                  <a:cs typeface="Courier New"/>
                  <a:sym typeface="Courier New"/>
                </a:endParaRPr>
              </a:p>
              <a:p>
                <a:pPr indent="0" lvl="0" marL="0" rtl="0" algn="ctr">
                  <a:spcBef>
                    <a:spcPts val="450"/>
                  </a:spcBef>
                  <a:spcAft>
                    <a:spcPts val="0"/>
                  </a:spcAft>
                  <a:buNone/>
                </a:pPr>
                <a:r>
                  <a:rPr b="0" lang="en" sz="1000">
                    <a:solidFill>
                      <a:srgbClr val="6B7280"/>
                    </a:solidFill>
                    <a:latin typeface="Inter"/>
                    <a:ea typeface="Inter"/>
                    <a:cs typeface="Inter"/>
                    <a:sym typeface="Inter"/>
                  </a:rPr>
                  <a:t>[Dynamic Child Page Content Injected Here]</a:t>
                </a:r>
                <a:endParaRPr b="0" sz="1000">
                  <a:solidFill>
                    <a:srgbClr val="6B7280"/>
                  </a:solidFill>
                  <a:latin typeface="Inter"/>
                  <a:ea typeface="Inter"/>
                  <a:cs typeface="Inter"/>
                  <a:sym typeface="Inter"/>
                </a:endParaRPr>
              </a:p>
              <a:p>
                <a:pPr indent="0" lvl="0" marL="0" rtl="0" algn="ctr">
                  <a:spcBef>
                    <a:spcPts val="450"/>
                  </a:spcBef>
                  <a:spcAft>
                    <a:spcPts val="0"/>
                  </a:spcAft>
                  <a:buNone/>
                </a:pPr>
                <a:r>
                  <a:rPr b="1" lang="en" sz="1100">
                    <a:solidFill>
                      <a:srgbClr val="D4A017"/>
                    </a:solidFill>
                    <a:latin typeface="Courier New"/>
                    <a:ea typeface="Courier New"/>
                    <a:cs typeface="Courier New"/>
                    <a:sym typeface="Courier New"/>
                  </a:rPr>
                  <a:t>{% endblock %}</a:t>
                </a:r>
                <a:endParaRPr b="1" sz="1100">
                  <a:solidFill>
                    <a:srgbClr val="D4A017"/>
                  </a:solidFill>
                  <a:latin typeface="Courier New"/>
                  <a:ea typeface="Courier New"/>
                  <a:cs typeface="Courier New"/>
                  <a:sym typeface="Courier New"/>
                </a:endParaRPr>
              </a:p>
            </p:txBody>
          </p:sp>
          <p:sp>
            <p:nvSpPr>
              <p:cNvPr id="242" name="Google Shape;242;p21"/>
              <p:cNvSpPr/>
              <p:nvPr/>
            </p:nvSpPr>
            <p:spPr>
              <a:xfrm>
                <a:off x="142875" y="1857375"/>
                <a:ext cx="4667400" cy="333300"/>
              </a:xfrm>
              <a:prstGeom prst="roundRect">
                <a:avLst>
                  <a:gd fmla="val 11428"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1"/>
              <p:cNvSpPr txBox="1"/>
              <p:nvPr/>
            </p:nvSpPr>
            <p:spPr>
              <a:xfrm>
                <a:off x="142875" y="1857375"/>
                <a:ext cx="46674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50">
                    <a:solidFill>
                      <a:srgbClr val="4B5563"/>
                    </a:solidFill>
                    <a:latin typeface="Inter SemiBold"/>
                    <a:ea typeface="Inter SemiBold"/>
                    <a:cs typeface="Inter SemiBold"/>
                    <a:sym typeface="Inter SemiBold"/>
                  </a:rPr>
                  <a:t>Common Footer</a:t>
                </a:r>
                <a:endParaRPr b="0" sz="1050">
                  <a:solidFill>
                    <a:srgbClr val="4B5563"/>
                  </a:solidFill>
                  <a:latin typeface="Inter SemiBold"/>
                  <a:ea typeface="Inter SemiBold"/>
                  <a:cs typeface="Inter SemiBold"/>
                  <a:sym typeface="Inter SemiBold"/>
                </a:endParaRPr>
              </a:p>
            </p:txBody>
          </p:sp>
        </p:grpSp>
      </p:grpSp>
      <p:sp>
        <p:nvSpPr>
          <p:cNvPr id="244" name="Google Shape;244;p21"/>
          <p:cNvSpPr/>
          <p:nvPr/>
        </p:nvSpPr>
        <p:spPr>
          <a:xfrm>
            <a:off x="6086475" y="152400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5" name="Google Shape;245;p21"/>
          <p:cNvGrpSpPr/>
          <p:nvPr/>
        </p:nvGrpSpPr>
        <p:grpSpPr>
          <a:xfrm>
            <a:off x="6477000" y="1524000"/>
            <a:ext cx="4953000" cy="3810075"/>
            <a:chOff x="0" y="0"/>
            <a:chExt cx="4953000" cy="3810075"/>
          </a:xfrm>
        </p:grpSpPr>
        <p:sp>
          <p:nvSpPr>
            <p:cNvPr id="246" name="Google Shape;246;p21"/>
            <p:cNvSpPr txBox="1"/>
            <p:nvPr/>
          </p:nvSpPr>
          <p:spPr>
            <a:xfrm>
              <a:off x="0" y="0"/>
              <a:ext cx="4953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Child Template (home.html)</a:t>
              </a:r>
              <a:endParaRPr b="1" sz="1650">
                <a:solidFill>
                  <a:srgbClr val="045A36"/>
                </a:solidFill>
                <a:latin typeface="Montserrat"/>
                <a:ea typeface="Montserrat"/>
                <a:cs typeface="Montserrat"/>
                <a:sym typeface="Montserrat"/>
              </a:endParaRPr>
            </a:p>
          </p:txBody>
        </p:sp>
        <p:sp>
          <p:nvSpPr>
            <p:cNvPr id="247" name="Google Shape;247;p21"/>
            <p:cNvSpPr/>
            <p:nvPr/>
          </p:nvSpPr>
          <p:spPr>
            <a:xfrm>
              <a:off x="0" y="381000"/>
              <a:ext cx="4953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1"/>
            <p:cNvSpPr txBox="1"/>
            <p:nvPr/>
          </p:nvSpPr>
          <p:spPr>
            <a:xfrm>
              <a:off x="0" y="523875"/>
              <a:ext cx="4953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Child templates extend the parent layout using </a:t>
              </a:r>
              <a:r>
                <a:rPr b="1" lang="en" sz="1350">
                  <a:solidFill>
                    <a:srgbClr val="045A36"/>
                  </a:solidFill>
                  <a:latin typeface="Arial"/>
                  <a:ea typeface="Arial"/>
                  <a:cs typeface="Arial"/>
                  <a:sym typeface="Arial"/>
                </a:rPr>
                <a:t>{% extends 'base.html' %}</a:t>
              </a:r>
              <a:r>
                <a:rPr b="0" lang="en" sz="1350">
                  <a:solidFill>
                    <a:srgbClr val="374151"/>
                  </a:solidFill>
                  <a:latin typeface="Inter"/>
                  <a:ea typeface="Inter"/>
                  <a:cs typeface="Inter"/>
                  <a:sym typeface="Inter"/>
                </a:rPr>
                <a:t>. Django replaces the designated blocks with child-specific markup.</a:t>
              </a:r>
              <a:endParaRPr b="0" sz="1350">
                <a:solidFill>
                  <a:srgbClr val="374151"/>
                </a:solidFill>
                <a:latin typeface="Inter"/>
                <a:ea typeface="Inter"/>
                <a:cs typeface="Inter"/>
                <a:sym typeface="Inter"/>
              </a:endParaRPr>
            </a:p>
          </p:txBody>
        </p:sp>
        <p:grpSp>
          <p:nvGrpSpPr>
            <p:cNvPr id="249" name="Google Shape;249;p21"/>
            <p:cNvGrpSpPr/>
            <p:nvPr/>
          </p:nvGrpSpPr>
          <p:grpSpPr>
            <a:xfrm>
              <a:off x="0" y="1476375"/>
              <a:ext cx="4953000" cy="2333700"/>
              <a:chOff x="0" y="0"/>
              <a:chExt cx="4953000" cy="2333700"/>
            </a:xfrm>
          </p:grpSpPr>
          <p:sp>
            <p:nvSpPr>
              <p:cNvPr id="250" name="Google Shape;250;p21"/>
              <p:cNvSpPr/>
              <p:nvPr/>
            </p:nvSpPr>
            <p:spPr>
              <a:xfrm>
                <a:off x="0" y="0"/>
                <a:ext cx="4953000" cy="2333700"/>
              </a:xfrm>
              <a:prstGeom prst="roundRect">
                <a:avLst>
                  <a:gd fmla="val 2448" name="adj"/>
                </a:avLst>
              </a:prstGeom>
              <a:solidFill>
                <a:srgbClr val="1E293B"/>
              </a:solidFill>
              <a:ln cap="flat" cmpd="sng" w="1905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21"/>
              <p:cNvSpPr/>
              <p:nvPr/>
            </p:nvSpPr>
            <p:spPr>
              <a:xfrm>
                <a:off x="0" y="0"/>
                <a:ext cx="4953000" cy="285900"/>
              </a:xfrm>
              <a:custGeom>
                <a:rect b="b" l="l" r="r" t="t"/>
                <a:pathLst>
                  <a:path extrusionOk="0" h="120000" w="120000">
                    <a:moveTo>
                      <a:pt x="0" y="24000"/>
                    </a:moveTo>
                    <a:cubicBezTo>
                      <a:pt x="0" y="10745"/>
                      <a:pt x="620" y="0"/>
                      <a:pt x="1385" y="0"/>
                    </a:cubicBezTo>
                    <a:lnTo>
                      <a:pt x="118615" y="0"/>
                    </a:lnTo>
                    <a:cubicBezTo>
                      <a:pt x="118982" y="-2"/>
                      <a:pt x="119335" y="2526"/>
                      <a:pt x="119594" y="7027"/>
                    </a:cubicBezTo>
                    <a:cubicBezTo>
                      <a:pt x="119854" y="11528"/>
                      <a:pt x="120000" y="17634"/>
                      <a:pt x="120000" y="24000"/>
                    </a:cubicBezTo>
                    <a:lnTo>
                      <a:pt x="120000" y="120000"/>
                    </a:lnTo>
                    <a:lnTo>
                      <a:pt x="0" y="120000"/>
                    </a:lnTo>
                    <a:close/>
                  </a:path>
                </a:pathLst>
              </a:cu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1"/>
              <p:cNvSpPr/>
              <p:nvPr/>
            </p:nvSpPr>
            <p:spPr>
              <a:xfrm>
                <a:off x="142875" y="9525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1"/>
              <p:cNvSpPr/>
              <p:nvPr/>
            </p:nvSpPr>
            <p:spPr>
              <a:xfrm>
                <a:off x="285750" y="9525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1"/>
              <p:cNvSpPr/>
              <p:nvPr/>
            </p:nvSpPr>
            <p:spPr>
              <a:xfrm>
                <a:off x="428625" y="9525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1"/>
              <p:cNvSpPr txBox="1"/>
              <p:nvPr/>
            </p:nvSpPr>
            <p:spPr>
              <a:xfrm>
                <a:off x="666750" y="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000">
                    <a:solidFill>
                      <a:srgbClr val="9CA3AF"/>
                    </a:solidFill>
                    <a:latin typeface="Inter"/>
                    <a:ea typeface="Inter"/>
                    <a:cs typeface="Inter"/>
                    <a:sym typeface="Inter"/>
                  </a:rPr>
                  <a:t>templates / home.html</a:t>
                </a:r>
                <a:endParaRPr sz="1000">
                  <a:solidFill>
                    <a:srgbClr val="9CA3AF"/>
                  </a:solidFill>
                  <a:latin typeface="Inter"/>
                  <a:ea typeface="Inter"/>
                  <a:cs typeface="Inter"/>
                  <a:sym typeface="Inter"/>
                </a:endParaRPr>
              </a:p>
            </p:txBody>
          </p:sp>
          <p:sp>
            <p:nvSpPr>
              <p:cNvPr id="256" name="Google Shape;256;p21"/>
              <p:cNvSpPr txBox="1"/>
              <p:nvPr/>
            </p:nvSpPr>
            <p:spPr>
              <a:xfrm>
                <a:off x="190500" y="428625"/>
                <a:ext cx="45720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43F5E"/>
                    </a:solidFill>
                    <a:latin typeface="Courier New"/>
                    <a:ea typeface="Courier New"/>
                    <a:cs typeface="Courier New"/>
                    <a:sym typeface="Courier New"/>
                  </a:rPr>
                  <a:t>{% extends</a:t>
                </a:r>
                <a:r>
                  <a:rPr lang="en" sz="1100">
                    <a:solidFill>
                      <a:srgbClr val="F1F5F9"/>
                    </a:solidFill>
                    <a:latin typeface="Courier New"/>
                    <a:ea typeface="Courier New"/>
                    <a:cs typeface="Courier New"/>
                    <a:sym typeface="Courier New"/>
                  </a:rPr>
                  <a:t> </a:t>
                </a:r>
                <a:r>
                  <a:rPr lang="en" sz="1100">
                    <a:solidFill>
                      <a:srgbClr val="10B981"/>
                    </a:solidFill>
                    <a:latin typeface="Courier New"/>
                    <a:ea typeface="Courier New"/>
                    <a:cs typeface="Courier New"/>
                    <a:sym typeface="Courier New"/>
                  </a:rPr>
                  <a:t>'base.html'</a:t>
                </a:r>
                <a:r>
                  <a:rPr lang="en" sz="1100">
                    <a:solidFill>
                      <a:srgbClr val="F1F5F9"/>
                    </a:solidFill>
                    <a:latin typeface="Courier New"/>
                    <a:ea typeface="Courier New"/>
                    <a:cs typeface="Courier New"/>
                    <a:sym typeface="Courier New"/>
                  </a:rPr>
                  <a:t> </a:t>
                </a:r>
                <a:r>
                  <a:rPr b="1" lang="en" sz="1100">
                    <a:solidFill>
                      <a:srgbClr val="F43F5E"/>
                    </a:solidFill>
                    <a:latin typeface="Courier New"/>
                    <a:ea typeface="Courier New"/>
                    <a:cs typeface="Courier New"/>
                    <a:sym typeface="Courier New"/>
                  </a:rPr>
                  <a:t>%}</a:t>
                </a:r>
                <a:endParaRPr sz="1100">
                  <a:solidFill>
                    <a:srgbClr val="F1F5F9"/>
                  </a:solidFill>
                  <a:latin typeface="Courier New"/>
                  <a:ea typeface="Courier New"/>
                  <a:cs typeface="Courier New"/>
                  <a:sym typeface="Courier New"/>
                </a:endParaRPr>
              </a:p>
              <a:p>
                <a:pPr indent="0" lvl="0" marL="0" rtl="0" algn="l">
                  <a:spcBef>
                    <a:spcPts val="1125"/>
                  </a:spcBef>
                  <a:spcAft>
                    <a:spcPts val="0"/>
                  </a:spcAft>
                  <a:buNone/>
                </a:pPr>
                <a:r>
                  <a:rPr b="1" lang="en" sz="1100">
                    <a:solidFill>
                      <a:srgbClr val="F43F5E"/>
                    </a:solidFill>
                    <a:latin typeface="Courier New"/>
                    <a:ea typeface="Courier New"/>
                    <a:cs typeface="Courier New"/>
                    <a:sym typeface="Courier New"/>
                  </a:rPr>
                  <a:t>{% block content %}</a:t>
                </a:r>
                <a:endParaRPr sz="1100">
                  <a:solidFill>
                    <a:srgbClr val="F1F5F9"/>
                  </a:solidFill>
                  <a:latin typeface="Courier New"/>
                  <a:ea typeface="Courier New"/>
                  <a:cs typeface="Courier New"/>
                  <a:sym typeface="Courier New"/>
                </a:endParaRPr>
              </a:p>
              <a:p>
                <a:pPr indent="0" lvl="0" marL="238125" marR="0" rtl="0" algn="l">
                  <a:spcBef>
                    <a:spcPts val="1125"/>
                  </a:spcBef>
                  <a:spcAft>
                    <a:spcPts val="0"/>
                  </a:spcAft>
                  <a:buNone/>
                </a:pPr>
                <a:r>
                  <a:rPr lang="en" sz="1100">
                    <a:solidFill>
                      <a:srgbClr val="38BDF8"/>
                    </a:solidFill>
                    <a:latin typeface="Courier New"/>
                    <a:ea typeface="Courier New"/>
                    <a:cs typeface="Courier New"/>
                    <a:sym typeface="Courier New"/>
                  </a:rPr>
                  <a:t>&lt;h2&gt;</a:t>
                </a:r>
                <a:r>
                  <a:rPr lang="en" sz="1100">
                    <a:solidFill>
                      <a:srgbClr val="F1F5F9"/>
                    </a:solidFill>
                    <a:latin typeface="Courier New"/>
                    <a:ea typeface="Courier New"/>
                    <a:cs typeface="Courier New"/>
                    <a:sym typeface="Courier New"/>
                  </a:rPr>
                  <a:t>Welcome to the Home Page</a:t>
                </a:r>
                <a:r>
                  <a:rPr lang="en" sz="1100">
                    <a:solidFill>
                      <a:srgbClr val="38BDF8"/>
                    </a:solidFill>
                    <a:latin typeface="Courier New"/>
                    <a:ea typeface="Courier New"/>
                    <a:cs typeface="Courier New"/>
                    <a:sym typeface="Courier New"/>
                  </a:rPr>
                  <a:t>&lt;/h2&gt;</a:t>
                </a:r>
                <a:endParaRPr sz="1100">
                  <a:solidFill>
                    <a:srgbClr val="F1F5F9"/>
                  </a:solidFill>
                  <a:latin typeface="Courier New"/>
                  <a:ea typeface="Courier New"/>
                  <a:cs typeface="Courier New"/>
                  <a:sym typeface="Courier New"/>
                </a:endParaRPr>
              </a:p>
              <a:p>
                <a:pPr indent="0" lvl="0" marL="0" rtl="0" algn="l">
                  <a:spcBef>
                    <a:spcPts val="1125"/>
                  </a:spcBef>
                  <a:spcAft>
                    <a:spcPts val="0"/>
                  </a:spcAft>
                  <a:buNone/>
                </a:pPr>
                <a:r>
                  <a:rPr b="1" lang="en" sz="1100">
                    <a:solidFill>
                      <a:srgbClr val="F43F5E"/>
                    </a:solidFill>
                    <a:latin typeface="Courier New"/>
                    <a:ea typeface="Courier New"/>
                    <a:cs typeface="Courier New"/>
                    <a:sym typeface="Courier New"/>
                  </a:rPr>
                  <a:t>{% endblock %}</a:t>
                </a:r>
                <a:endParaRPr sz="1100">
                  <a:solidFill>
                    <a:srgbClr val="F1F5F9"/>
                  </a:solidFill>
                  <a:latin typeface="Courier New"/>
                  <a:ea typeface="Courier New"/>
                  <a:cs typeface="Courier New"/>
                  <a:sym typeface="Courier New"/>
                </a:endParaRPr>
              </a:p>
            </p:txBody>
          </p:sp>
        </p:grpSp>
      </p:grpSp>
      <p:sp>
        <p:nvSpPr>
          <p:cNvPr id="257" name="Google Shape;257;p21"/>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Django Templates | Beginner Web Development</a:t>
            </a:r>
            <a:endParaRPr b="0" sz="975">
              <a:solidFill>
                <a:srgbClr val="6B7280"/>
              </a:solidFill>
              <a:latin typeface="Inter"/>
              <a:ea typeface="Inter"/>
              <a:cs typeface="Inter"/>
              <a:sym typeface="Inter"/>
            </a:endParaRPr>
          </a:p>
        </p:txBody>
      </p:sp>
      <p:sp>
        <p:nvSpPr>
          <p:cNvPr id="258" name="Google Shape;258;p21"/>
          <p:cNvSpPr/>
          <p:nvPr>
            <p:ph idx="4" type="pic"/>
          </p:nvPr>
        </p:nvSpPr>
        <p:spPr>
          <a:xfrm>
            <a:off x="10287000" y="5453079"/>
            <a:ext cx="1524000" cy="1019400"/>
          </a:xfrm>
          <a:prstGeom prst="rect">
            <a:avLst/>
          </a:prstGeom>
          <a:no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2"/>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4" name="Google Shape;264;p22"/>
          <p:cNvGrpSpPr/>
          <p:nvPr/>
        </p:nvGrpSpPr>
        <p:grpSpPr>
          <a:xfrm>
            <a:off x="762000" y="1524000"/>
            <a:ext cx="10668000" cy="3429000"/>
            <a:chOff x="0" y="0"/>
            <a:chExt cx="10668000" cy="3429000"/>
          </a:xfrm>
        </p:grpSpPr>
        <p:sp>
          <p:nvSpPr>
            <p:cNvPr id="265" name="Google Shape;265;p22"/>
            <p:cNvSpPr/>
            <p:nvPr/>
          </p:nvSpPr>
          <p:spPr>
            <a:xfrm>
              <a:off x="0" y="0"/>
              <a:ext cx="106680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66" name="Google Shape;266;p22"/>
            <p:cNvCxnSpPr/>
            <p:nvPr/>
          </p:nvCxnSpPr>
          <p:spPr>
            <a:xfrm>
              <a:off x="5334000" y="285750"/>
              <a:ext cx="0" cy="28575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67" name="Google Shape;267;p22"/>
            <p:cNvSpPr txBox="1"/>
            <p:nvPr/>
          </p:nvSpPr>
          <p:spPr>
            <a:xfrm>
              <a:off x="476250" y="571500"/>
              <a:ext cx="43815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65">
                  <a:solidFill>
                    <a:srgbClr val="D4A017"/>
                  </a:solidFill>
                  <a:latin typeface="Inter SemiBold"/>
                  <a:ea typeface="Inter SemiBold"/>
                  <a:cs typeface="Inter SemiBold"/>
                  <a:sym typeface="Inter SemiBold"/>
                </a:rPr>
                <a:t>THANK YOU</a:t>
              </a:r>
              <a:endParaRPr b="0" sz="1665">
                <a:solidFill>
                  <a:srgbClr val="D4A017"/>
                </a:solidFill>
                <a:latin typeface="Inter SemiBold"/>
                <a:ea typeface="Inter SemiBold"/>
                <a:cs typeface="Inter SemiBold"/>
                <a:sym typeface="Inter SemiBold"/>
              </a:endParaRPr>
            </a:p>
            <a:p>
              <a:pPr indent="0" lvl="0" marL="0" rtl="0" algn="l">
                <a:spcBef>
                  <a:spcPts val="750"/>
                </a:spcBef>
                <a:spcAft>
                  <a:spcPts val="0"/>
                </a:spcAft>
                <a:buNone/>
              </a:pPr>
              <a:r>
                <a:rPr b="1" lang="en" sz="4255">
                  <a:solidFill>
                    <a:srgbClr val="045A36"/>
                  </a:solidFill>
                  <a:latin typeface="Montserrat"/>
                  <a:ea typeface="Montserrat"/>
                  <a:cs typeface="Montserrat"/>
                  <a:sym typeface="Montserrat"/>
                </a:rPr>
                <a:t>Thank You for Your Time</a:t>
              </a:r>
              <a:endParaRPr b="1" sz="4255">
                <a:solidFill>
                  <a:srgbClr val="045A36"/>
                </a:solidFill>
                <a:latin typeface="Montserrat"/>
                <a:ea typeface="Montserrat"/>
                <a:cs typeface="Montserrat"/>
                <a:sym typeface="Montserrat"/>
              </a:endParaRPr>
            </a:p>
            <a:p>
              <a:pPr indent="0" lvl="0" marL="0" rtl="0" algn="l">
                <a:spcBef>
                  <a:spcPts val="1125"/>
                </a:spcBef>
                <a:spcAft>
                  <a:spcPts val="0"/>
                </a:spcAft>
                <a:buNone/>
              </a:pPr>
              <a:r>
                <a:rPr b="0" lang="en" sz="1295">
                  <a:solidFill>
                    <a:srgbClr val="4B5563"/>
                  </a:solidFill>
                  <a:latin typeface="Inter"/>
                  <a:ea typeface="Inter"/>
                  <a:cs typeface="Inter"/>
                  <a:sym typeface="Inter"/>
                </a:rPr>
                <a:t>We hope this session provided valuable insights into the fundamental principles of electronics and robotics.</a:t>
              </a:r>
              <a:endParaRPr b="0" sz="1295">
                <a:solidFill>
                  <a:srgbClr val="4B5563"/>
                </a:solidFill>
                <a:latin typeface="Inter"/>
                <a:ea typeface="Inter"/>
                <a:cs typeface="Inter"/>
                <a:sym typeface="Inter"/>
              </a:endParaRPr>
            </a:p>
          </p:txBody>
        </p:sp>
        <p:grpSp>
          <p:nvGrpSpPr>
            <p:cNvPr id="268" name="Google Shape;268;p22"/>
            <p:cNvGrpSpPr/>
            <p:nvPr/>
          </p:nvGrpSpPr>
          <p:grpSpPr>
            <a:xfrm>
              <a:off x="6286500" y="571500"/>
              <a:ext cx="3905400" cy="2286150"/>
              <a:chOff x="0" y="0"/>
              <a:chExt cx="3905400" cy="2286150"/>
            </a:xfrm>
          </p:grpSpPr>
          <p:sp>
            <p:nvSpPr>
              <p:cNvPr id="269" name="Google Shape;269;p22"/>
              <p:cNvSpPr txBox="1"/>
              <p:nvPr/>
            </p:nvSpPr>
            <p:spPr>
              <a:xfrm>
                <a:off x="0" y="0"/>
                <a:ext cx="39054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65">
                    <a:solidFill>
                      <a:srgbClr val="D4A017"/>
                    </a:solidFill>
                    <a:latin typeface="Inter SemiBold"/>
                    <a:ea typeface="Inter SemiBold"/>
                    <a:cs typeface="Inter SemiBold"/>
                    <a:sym typeface="Inter SemiBold"/>
                  </a:rPr>
                  <a:t>QUESTIONS</a:t>
                </a:r>
                <a:endParaRPr b="0" sz="1665">
                  <a:solidFill>
                    <a:srgbClr val="D4A017"/>
                  </a:solidFill>
                  <a:latin typeface="Inter SemiBold"/>
                  <a:ea typeface="Inter SemiBold"/>
                  <a:cs typeface="Inter SemiBold"/>
                  <a:sym typeface="Inter SemiBold"/>
                </a:endParaRPr>
              </a:p>
              <a:p>
                <a:pPr indent="0" lvl="0" marL="0" rtl="0" algn="l">
                  <a:spcBef>
                    <a:spcPts val="375"/>
                  </a:spcBef>
                  <a:spcAft>
                    <a:spcPts val="0"/>
                  </a:spcAft>
                  <a:buNone/>
                </a:pPr>
                <a:r>
                  <a:rPr b="1" lang="en" sz="2800">
                    <a:solidFill>
                      <a:srgbClr val="045A36"/>
                    </a:solidFill>
                    <a:latin typeface="Montserrat"/>
                    <a:ea typeface="Montserrat"/>
                    <a:cs typeface="Montserrat"/>
                    <a:sym typeface="Montserrat"/>
                  </a:rPr>
                  <a:t>Any Questions?</a:t>
                </a:r>
                <a:endParaRPr b="1" sz="2800">
                  <a:solidFill>
                    <a:srgbClr val="045A36"/>
                  </a:solidFill>
                  <a:latin typeface="Montserrat"/>
                  <a:ea typeface="Montserrat"/>
                  <a:cs typeface="Montserrat"/>
                  <a:sym typeface="Montserrat"/>
                </a:endParaRPr>
              </a:p>
            </p:txBody>
          </p:sp>
          <p:grpSp>
            <p:nvGrpSpPr>
              <p:cNvPr id="270" name="Google Shape;270;p22"/>
              <p:cNvGrpSpPr/>
              <p:nvPr/>
            </p:nvGrpSpPr>
            <p:grpSpPr>
              <a:xfrm>
                <a:off x="0" y="1047750"/>
                <a:ext cx="3905400" cy="1238400"/>
                <a:chOff x="0" y="0"/>
                <a:chExt cx="3905400" cy="1238400"/>
              </a:xfrm>
            </p:grpSpPr>
            <p:sp>
              <p:nvSpPr>
                <p:cNvPr id="271" name="Google Shape;271;p22"/>
                <p:cNvSpPr/>
                <p:nvPr/>
              </p:nvSpPr>
              <p:spPr>
                <a:xfrm>
                  <a:off x="0" y="0"/>
                  <a:ext cx="3905400" cy="1238400"/>
                </a:xfrm>
                <a:prstGeom prst="roundRect">
                  <a:avLst>
                    <a:gd fmla="val 923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2"/>
                <p:cNvSpPr txBox="1"/>
                <p:nvPr/>
              </p:nvSpPr>
              <p:spPr>
                <a:xfrm>
                  <a:off x="190500" y="142875"/>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Feel free to ask any questions about the concepts covered today, including voltage, current, resistance, or template workflows.</a:t>
                  </a:r>
                  <a:endParaRPr b="0" sz="1250">
                    <a:solidFill>
                      <a:srgbClr val="374151"/>
                    </a:solidFill>
                    <a:latin typeface="Inter"/>
                    <a:ea typeface="Inter"/>
                    <a:cs typeface="Inter"/>
                    <a:sym typeface="Inter"/>
                  </a:endParaRPr>
                </a:p>
                <a:p>
                  <a:pPr indent="0" lvl="0" marL="0" rtl="0" algn="l">
                    <a:spcBef>
                      <a:spcPts val="600"/>
                    </a:spcBef>
                    <a:spcAft>
                      <a:spcPts val="0"/>
                    </a:spcAft>
                    <a:buNone/>
                  </a:pPr>
                  <a:r>
                    <a:rPr b="0" lang="en" sz="1200">
                      <a:solidFill>
                        <a:srgbClr val="9CA3AF"/>
                      </a:solidFill>
                      <a:latin typeface="Inter Medium"/>
                      <a:ea typeface="Inter Medium"/>
                      <a:cs typeface="Inter Medium"/>
                      <a:sym typeface="Inter Medium"/>
                    </a:rPr>
                    <a:t>Interactive Q&amp;A Session</a:t>
                  </a:r>
                  <a:endParaRPr b="0" sz="1200">
                    <a:solidFill>
                      <a:srgbClr val="9CA3AF"/>
                    </a:solidFill>
                    <a:latin typeface="Inter Medium"/>
                    <a:ea typeface="Inter Medium"/>
                    <a:cs typeface="Inter Medium"/>
                    <a:sym typeface="Inter Medium"/>
                  </a:endParaRPr>
                </a:p>
              </p:txBody>
            </p:sp>
          </p:grpSp>
        </p:grpSp>
      </p:grpSp>
      <p:grpSp>
        <p:nvGrpSpPr>
          <p:cNvPr id="273" name="Google Shape;273;p22"/>
          <p:cNvGrpSpPr/>
          <p:nvPr/>
        </p:nvGrpSpPr>
        <p:grpSpPr>
          <a:xfrm>
            <a:off x="762000" y="5238750"/>
            <a:ext cx="11049000" cy="1019100"/>
            <a:chOff x="0" y="-285750"/>
            <a:chExt cx="11049000" cy="1019100"/>
          </a:xfrm>
        </p:grpSpPr>
        <p:cxnSp>
          <p:nvCxnSpPr>
            <p:cNvPr id="274" name="Google Shape;274;p22"/>
            <p:cNvCxnSpPr/>
            <p:nvPr/>
          </p:nvCxnSpPr>
          <p:spPr>
            <a:xfrm>
              <a:off x="0" y="0"/>
              <a:ext cx="10668000" cy="0"/>
            </a:xfrm>
            <a:prstGeom prst="straightConnector1">
              <a:avLst/>
            </a:prstGeom>
            <a:solidFill>
              <a:srgbClr val="FFFFFF"/>
            </a:solidFill>
            <a:ln cap="flat" cmpd="sng" w="19050">
              <a:solidFill>
                <a:srgbClr val="E2E8F0"/>
              </a:solidFill>
              <a:prstDash val="solid"/>
              <a:round/>
              <a:headEnd len="sm" w="sm" type="none"/>
              <a:tailEnd len="sm" w="sm" type="none"/>
            </a:ln>
          </p:spPr>
        </p:cxnSp>
        <p:grpSp>
          <p:nvGrpSpPr>
            <p:cNvPr id="275" name="Google Shape;275;p22"/>
            <p:cNvGrpSpPr/>
            <p:nvPr/>
          </p:nvGrpSpPr>
          <p:grpSpPr>
            <a:xfrm>
              <a:off x="0" y="-285750"/>
              <a:ext cx="11049000" cy="1019100"/>
              <a:chOff x="0" y="-428625"/>
              <a:chExt cx="11049000" cy="1019100"/>
            </a:xfrm>
          </p:grpSpPr>
          <p:sp>
            <p:nvSpPr>
              <p:cNvPr id="276" name="Google Shape;276;p22"/>
              <p:cNvSpPr txBox="1"/>
              <p:nvPr/>
            </p:nvSpPr>
            <p:spPr>
              <a:xfrm>
                <a:off x="0" y="0"/>
                <a:ext cx="4286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9CA3AF"/>
                    </a:solidFill>
                    <a:latin typeface="Inter Medium"/>
                    <a:ea typeface="Inter Medium"/>
                    <a:cs typeface="Inter Medium"/>
                    <a:sym typeface="Inter Medium"/>
                  </a:rPr>
                  <a:t>Introduction </a:t>
                </a:r>
                <a:r>
                  <a:rPr lang="en" sz="1000">
                    <a:solidFill>
                      <a:srgbClr val="9CA3AF"/>
                    </a:solidFill>
                    <a:latin typeface="Inter Medium"/>
                    <a:ea typeface="Inter Medium"/>
                    <a:cs typeface="Inter Medium"/>
                    <a:sym typeface="Inter Medium"/>
                  </a:rPr>
                  <a:t>to Django templates</a:t>
                </a:r>
                <a:r>
                  <a:rPr b="0" lang="en" sz="1000">
                    <a:solidFill>
                      <a:srgbClr val="9CA3AF"/>
                    </a:solidFill>
                    <a:latin typeface="Inter Medium"/>
                    <a:ea typeface="Inter Medium"/>
                    <a:cs typeface="Inter Medium"/>
                    <a:sym typeface="Inter Medium"/>
                  </a:rPr>
                  <a:t>| Robotics and Automation Systems</a:t>
                </a:r>
                <a:endParaRPr b="0" sz="1000">
                  <a:solidFill>
                    <a:srgbClr val="9CA3AF"/>
                  </a:solidFill>
                  <a:latin typeface="Inter Medium"/>
                  <a:ea typeface="Inter Medium"/>
                  <a:cs typeface="Inter Medium"/>
                  <a:sym typeface="Inter Medium"/>
                </a:endParaRPr>
              </a:p>
            </p:txBody>
          </p:sp>
          <p:sp>
            <p:nvSpPr>
              <p:cNvPr id="277" name="Google Shape;277;p22"/>
              <p:cNvSpPr txBox="1"/>
              <p:nvPr/>
            </p:nvSpPr>
            <p:spPr>
              <a:xfrm>
                <a:off x="4572000" y="0"/>
                <a:ext cx="381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75">
                    <a:solidFill>
                      <a:srgbClr val="045A36"/>
                    </a:solidFill>
                    <a:latin typeface="Montserrat"/>
                    <a:ea typeface="Montserrat"/>
                    <a:cs typeface="Montserrat"/>
                    <a:sym typeface="Montserrat"/>
                  </a:rPr>
                  <a:t>Government of Sindh | University of Sindh</a:t>
                </a:r>
                <a:endParaRPr b="1" sz="1275">
                  <a:solidFill>
                    <a:srgbClr val="045A36"/>
                  </a:solidFill>
                  <a:latin typeface="Montserrat"/>
                  <a:ea typeface="Montserrat"/>
                  <a:cs typeface="Montserrat"/>
                  <a:sym typeface="Montserrat"/>
                </a:endParaRPr>
              </a:p>
            </p:txBody>
          </p:sp>
          <p:pic>
            <p:nvPicPr>
              <p:cNvPr id="278" name="Google Shape;278;p22"/>
              <p:cNvPicPr preferRelativeResize="0"/>
              <p:nvPr/>
            </p:nvPicPr>
            <p:blipFill rotWithShape="1">
              <a:blip r:embed="rId3">
                <a:alphaModFix/>
              </a:blip>
              <a:srcRect b="-33493" l="0" r="-33333" t="160"/>
              <a:stretch/>
            </p:blipFill>
            <p:spPr>
              <a:xfrm>
                <a:off x="9525000" y="-428625"/>
                <a:ext cx="1524000" cy="1019100"/>
              </a:xfrm>
              <a:prstGeom prst="roundRect">
                <a:avLst>
                  <a:gd fmla="val 7476" name="adj"/>
                </a:avLst>
              </a:prstGeom>
              <a:noFill/>
              <a:ln>
                <a:noFill/>
              </a:ln>
            </p:spPr>
          </p:pic>
        </p:gr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