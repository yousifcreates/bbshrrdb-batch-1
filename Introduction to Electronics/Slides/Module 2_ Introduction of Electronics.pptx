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6858000" cx="12192000"/>
  <p:notesSz cx="6858000" cy="9144000"/>
  <p:embeddedFontLst>
    <p:embeddedFont>
      <p:font typeface="Montserrat SemiBold"/>
      <p:regular r:id="rId31"/>
      <p:bold r:id="rId32"/>
      <p:italic r:id="rId33"/>
      <p:boldItalic r:id="rId34"/>
    </p:embeddedFont>
    <p:embeddedFont>
      <p:font typeface="Inter SemiBold"/>
      <p:regular r:id="rId35"/>
      <p:bold r:id="rId36"/>
      <p:italic r:id="rId37"/>
      <p:boldItalic r:id="rId38"/>
    </p:embeddedFont>
    <p:embeddedFont>
      <p:font typeface="Inter"/>
      <p:bold r:id="rId39"/>
      <p:boldItalic r:id="rId40"/>
    </p:embeddedFont>
    <p:embeddedFont>
      <p:font typeface="Montserrat"/>
      <p:bold r:id="rId41"/>
      <p:boldItalic r:id="rId42"/>
    </p:embeddedFont>
    <p:embeddedFont>
      <p:font typeface="Inter Medium"/>
      <p:regular r:id="rId43"/>
      <p:bold r:id="rId44"/>
      <p:italic r:id="rId45"/>
      <p:boldItalic r:id="rId4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Inter-boldItalic.fntdata"/><Relationship Id="rId20" Type="http://schemas.openxmlformats.org/officeDocument/2006/relationships/slide" Target="slides/slide15.xml"/><Relationship Id="rId42" Type="http://schemas.openxmlformats.org/officeDocument/2006/relationships/font" Target="fonts/Montserrat-boldItalic.fntdata"/><Relationship Id="rId41" Type="http://schemas.openxmlformats.org/officeDocument/2006/relationships/font" Target="fonts/Montserrat-bold.fntdata"/><Relationship Id="rId22" Type="http://schemas.openxmlformats.org/officeDocument/2006/relationships/slide" Target="slides/slide17.xml"/><Relationship Id="rId44" Type="http://schemas.openxmlformats.org/officeDocument/2006/relationships/font" Target="fonts/InterMedium-bold.fntdata"/><Relationship Id="rId21" Type="http://schemas.openxmlformats.org/officeDocument/2006/relationships/slide" Target="slides/slide16.xml"/><Relationship Id="rId43" Type="http://schemas.openxmlformats.org/officeDocument/2006/relationships/font" Target="fonts/InterMedium-regular.fntdata"/><Relationship Id="rId24" Type="http://schemas.openxmlformats.org/officeDocument/2006/relationships/slide" Target="slides/slide19.xml"/><Relationship Id="rId46" Type="http://schemas.openxmlformats.org/officeDocument/2006/relationships/font" Target="fonts/InterMedium-boldItalic.fntdata"/><Relationship Id="rId23" Type="http://schemas.openxmlformats.org/officeDocument/2006/relationships/slide" Target="slides/slide18.xml"/><Relationship Id="rId45" Type="http://schemas.openxmlformats.org/officeDocument/2006/relationships/font" Target="fonts/InterMedium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MontserratSemiBold-regular.fntdata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MontserratSemiBold-italic.fntdata"/><Relationship Id="rId10" Type="http://schemas.openxmlformats.org/officeDocument/2006/relationships/slide" Target="slides/slide5.xml"/><Relationship Id="rId32" Type="http://schemas.openxmlformats.org/officeDocument/2006/relationships/font" Target="fonts/MontserratSemiBold-bold.fntdata"/><Relationship Id="rId13" Type="http://schemas.openxmlformats.org/officeDocument/2006/relationships/slide" Target="slides/slide8.xml"/><Relationship Id="rId35" Type="http://schemas.openxmlformats.org/officeDocument/2006/relationships/font" Target="fonts/InterSemiBold-regular.fntdata"/><Relationship Id="rId12" Type="http://schemas.openxmlformats.org/officeDocument/2006/relationships/slide" Target="slides/slide7.xml"/><Relationship Id="rId34" Type="http://schemas.openxmlformats.org/officeDocument/2006/relationships/font" Target="fonts/MontserratSemiBold-boldItalic.fntdata"/><Relationship Id="rId15" Type="http://schemas.openxmlformats.org/officeDocument/2006/relationships/slide" Target="slides/slide10.xml"/><Relationship Id="rId37" Type="http://schemas.openxmlformats.org/officeDocument/2006/relationships/font" Target="fonts/InterSemiBold-italic.fntdata"/><Relationship Id="rId14" Type="http://schemas.openxmlformats.org/officeDocument/2006/relationships/slide" Target="slides/slide9.xml"/><Relationship Id="rId36" Type="http://schemas.openxmlformats.org/officeDocument/2006/relationships/font" Target="fonts/InterSemiBold-bold.fntdata"/><Relationship Id="rId17" Type="http://schemas.openxmlformats.org/officeDocument/2006/relationships/slide" Target="slides/slide12.xml"/><Relationship Id="rId39" Type="http://schemas.openxmlformats.org/officeDocument/2006/relationships/font" Target="fonts/Inter-bold.fntdata"/><Relationship Id="rId16" Type="http://schemas.openxmlformats.org/officeDocument/2006/relationships/slide" Target="slides/slide11.xml"/><Relationship Id="rId38" Type="http://schemas.openxmlformats.org/officeDocument/2006/relationships/font" Target="fonts/InterSemiBold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ed8cdf8036_31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ed8cdf8036_3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ed8cdf8036_30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ed8cdf8036_3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ed8cdf8036_29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ed8cdf8036_2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ed8cdf8036_28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ed8cdf8036_2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ed8cdf8036_27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ed8cdf8036_2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ed8cdf8036_26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ed8cdf8036_2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ed8cdf8036_25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ed8cdf8036_2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ed8cdf8036_1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3ed8cdf8036_1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ed8cdf8036_23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3ed8cdf8036_2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ed8cdf8036_22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3ed8cdf8036_2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ed8cdf8036_21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3ed8cdf8036_2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ed8cdf8036_20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3ed8cdf8036_2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ed8cdf8036_19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3ed8cdf8036_1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ed8cdf8036_18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1" name="Google Shape;441;g3ed8cdf8036_1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3ed8cdf8036_17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1" name="Google Shape;461;g3ed8cdf8036_1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3ed8cdf8036_16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4" name="Google Shape;484;g3ed8cdf8036_1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3ed8cdf8036_15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2" name="Google Shape;502;g3ed8cdf8036_1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3ed8cdf8036_14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3" name="Google Shape;523;g3ed8cdf8036_1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g3ed8cdf8036_13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g3ed8cdf8036_1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g3ed8cdf8036_12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5" name="Google Shape;565;g3ed8cdf8036_1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g3ed8cdf8036_11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6" name="Google Shape;596;g3ed8cdf8036_1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g3ed8cdf8036_10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9" name="Google Shape;609;g3ed8cdf8036_1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g3ed8cdf8036_9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7" name="Google Shape;647;g3ed8cdf8036_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g3ed8cdf8036_8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7" name="Google Shape;667;g3ed8cdf8036_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g3ed8cdf8036_7_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2" name="Google Shape;692;g3ed8cdf8036_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ed8cdf8036_6_0)">
  <p:cSld name="Generated (g3ed8cdf8036_6_0)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/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/>
        </p:txBody>
      </p:sp>
      <p:sp>
        <p:nvSpPr>
          <p:cNvPr id="12" name="Google Shape;12;p3"/>
          <p:cNvSpPr txBox="1"/>
          <p:nvPr>
            <p:ph idx="1" type="subTitle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13" name="Google Shape;13;p3"/>
          <p:cNvSpPr txBox="1"/>
          <p:nvPr>
            <p:ph idx="12" type="sldNum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title"/>
          </p:nvPr>
        </p:nvSpPr>
        <p:spPr>
          <a:xfrm>
            <a:off x="415600" y="2867800"/>
            <a:ext cx="11360800" cy="11224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" type="body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2" type="sldNum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idx="1" type="body"/>
          </p:nvPr>
        </p:nvSpPr>
        <p:spPr>
          <a:xfrm>
            <a:off x="415600" y="1536633"/>
            <a:ext cx="53332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4" name="Google Shape;24;p6"/>
          <p:cNvSpPr txBox="1"/>
          <p:nvPr>
            <p:ph idx="2" type="body"/>
          </p:nvPr>
        </p:nvSpPr>
        <p:spPr>
          <a:xfrm>
            <a:off x="6443200" y="1536633"/>
            <a:ext cx="5333200" cy="4555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5" name="Google Shape;25;p6"/>
          <p:cNvSpPr txBox="1"/>
          <p:nvPr>
            <p:ph idx="12" type="sldNum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8" name="Google Shape;28;p7"/>
          <p:cNvSpPr txBox="1"/>
          <p:nvPr>
            <p:ph idx="12" type="sldNum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415600" y="740800"/>
            <a:ext cx="3744000" cy="10076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31" name="Google Shape;31;p8"/>
          <p:cNvSpPr txBox="1"/>
          <p:nvPr>
            <p:ph idx="1" type="body"/>
          </p:nvPr>
        </p:nvSpPr>
        <p:spPr>
          <a:xfrm>
            <a:off x="415600" y="1852800"/>
            <a:ext cx="3744000" cy="42392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2" name="Google Shape;32;p8"/>
          <p:cNvSpPr txBox="1"/>
          <p:nvPr>
            <p:ph idx="12" type="sldNum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/>
          <p:nvPr>
            <p:ph type="title"/>
          </p:nvPr>
        </p:nvSpPr>
        <p:spPr>
          <a:xfrm>
            <a:off x="653667" y="600200"/>
            <a:ext cx="8490400" cy="54544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35" name="Google Shape;35;p9"/>
          <p:cNvSpPr txBox="1"/>
          <p:nvPr>
            <p:ph idx="12" type="sldNum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10"/>
          <p:cNvSpPr txBox="1"/>
          <p:nvPr>
            <p:ph type="title"/>
          </p:nvPr>
        </p:nvSpPr>
        <p:spPr>
          <a:xfrm>
            <a:off x="354000" y="1644233"/>
            <a:ext cx="5393600" cy="19764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39" name="Google Shape;39;p10"/>
          <p:cNvSpPr txBox="1"/>
          <p:nvPr>
            <p:ph idx="1" type="subTitle"/>
          </p:nvPr>
        </p:nvSpPr>
        <p:spPr>
          <a:xfrm>
            <a:off x="354000" y="3737433"/>
            <a:ext cx="5393600" cy="16468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0" name="Google Shape;40;p10"/>
          <p:cNvSpPr txBox="1"/>
          <p:nvPr>
            <p:ph idx="2" type="body"/>
          </p:nvPr>
        </p:nvSpPr>
        <p:spPr>
          <a:xfrm>
            <a:off x="6586000" y="965433"/>
            <a:ext cx="5116000" cy="4926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41" name="Google Shape;41;p10"/>
          <p:cNvSpPr txBox="1"/>
          <p:nvPr>
            <p:ph idx="12" type="sldNum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/>
          <p:nvPr>
            <p:ph idx="1" type="body"/>
          </p:nvPr>
        </p:nvSpPr>
        <p:spPr>
          <a:xfrm>
            <a:off x="415600" y="5640767"/>
            <a:ext cx="7998400" cy="806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hasCustomPrompt="1" type="title"/>
          </p:nvPr>
        </p:nvSpPr>
        <p:spPr>
          <a:xfrm>
            <a:off x="415600" y="1474833"/>
            <a:ext cx="11360800" cy="2618000"/>
          </a:xfrm>
          <a:prstGeom prst="rect">
            <a:avLst/>
          </a:prstGeom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47" name="Google Shape;47;p12"/>
          <p:cNvSpPr txBox="1"/>
          <p:nvPr>
            <p:ph idx="1" type="body"/>
          </p:nvPr>
        </p:nvSpPr>
        <p:spPr>
          <a:xfrm>
            <a:off x="415600" y="4202967"/>
            <a:ext cx="11360800" cy="1734400"/>
          </a:xfrm>
          <a:prstGeom prst="rect">
            <a:avLst/>
          </a:prstGeom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ctr"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ctr"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ctr"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idx="12" type="sldNum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  <a:defRPr sz="2400">
                <a:solidFill>
                  <a:schemeClr val="dk2"/>
                </a:solidFill>
              </a:defRPr>
            </a:lvl1pPr>
            <a:lvl2pPr indent="-3492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2pPr>
            <a:lvl3pPr indent="-3492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3pPr>
            <a:lvl4pPr indent="-3492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4pPr>
            <a:lvl5pPr indent="-3492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5pPr>
            <a:lvl6pPr indent="-3492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6pPr>
            <a:lvl7pPr indent="-3492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7pPr>
            <a:lvl8pPr indent="-3492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8pPr>
            <a:lvl9pPr indent="-3492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1296610" y="6217622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7.png"/><Relationship Id="rId4" Type="http://schemas.openxmlformats.org/officeDocument/2006/relationships/image" Target="../media/image9.png"/><Relationship Id="rId5" Type="http://schemas.openxmlformats.org/officeDocument/2006/relationships/image" Target="../media/image6.png"/><Relationship Id="rId6" Type="http://schemas.openxmlformats.org/officeDocument/2006/relationships/image" Target="../media/image8.png"/><Relationship Id="rId7" Type="http://schemas.openxmlformats.org/officeDocument/2006/relationships/image" Target="../media/image7.png"/><Relationship Id="rId8" Type="http://schemas.openxmlformats.org/officeDocument/2006/relationships/image" Target="../media/image9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7.png"/><Relationship Id="rId4" Type="http://schemas.openxmlformats.org/officeDocument/2006/relationships/image" Target="../media/image9.png"/><Relationship Id="rId9" Type="http://schemas.openxmlformats.org/officeDocument/2006/relationships/image" Target="../media/image33.jpg"/><Relationship Id="rId5" Type="http://schemas.openxmlformats.org/officeDocument/2006/relationships/image" Target="../media/image6.png"/><Relationship Id="rId6" Type="http://schemas.openxmlformats.org/officeDocument/2006/relationships/image" Target="../media/image10.png"/><Relationship Id="rId7" Type="http://schemas.openxmlformats.org/officeDocument/2006/relationships/image" Target="../media/image24.png"/><Relationship Id="rId8" Type="http://schemas.openxmlformats.org/officeDocument/2006/relationships/image" Target="../media/image1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image" Target="../media/image10.png"/><Relationship Id="rId6" Type="http://schemas.openxmlformats.org/officeDocument/2006/relationships/image" Target="../media/image24.png"/><Relationship Id="rId7" Type="http://schemas.openxmlformats.org/officeDocument/2006/relationships/image" Target="../media/image1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3.png"/><Relationship Id="rId4" Type="http://schemas.openxmlformats.org/officeDocument/2006/relationships/image" Target="../media/image9.png"/><Relationship Id="rId9" Type="http://schemas.openxmlformats.org/officeDocument/2006/relationships/image" Target="../media/image30.jpg"/><Relationship Id="rId5" Type="http://schemas.openxmlformats.org/officeDocument/2006/relationships/image" Target="../media/image6.png"/><Relationship Id="rId6" Type="http://schemas.openxmlformats.org/officeDocument/2006/relationships/image" Target="../media/image10.png"/><Relationship Id="rId7" Type="http://schemas.openxmlformats.org/officeDocument/2006/relationships/image" Target="../media/image24.png"/><Relationship Id="rId8" Type="http://schemas.openxmlformats.org/officeDocument/2006/relationships/image" Target="../media/image2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7.png"/><Relationship Id="rId4" Type="http://schemas.openxmlformats.org/officeDocument/2006/relationships/image" Target="../media/image9.png"/><Relationship Id="rId9" Type="http://schemas.openxmlformats.org/officeDocument/2006/relationships/image" Target="../media/image37.jpg"/><Relationship Id="rId5" Type="http://schemas.openxmlformats.org/officeDocument/2006/relationships/image" Target="../media/image6.png"/><Relationship Id="rId6" Type="http://schemas.openxmlformats.org/officeDocument/2006/relationships/image" Target="../media/image10.png"/><Relationship Id="rId7" Type="http://schemas.openxmlformats.org/officeDocument/2006/relationships/image" Target="../media/image24.png"/><Relationship Id="rId8" Type="http://schemas.openxmlformats.org/officeDocument/2006/relationships/image" Target="../media/image38.png"/></Relationships>
</file>

<file path=ppt/slides/_rels/slide6.xml.rels><?xml version="1.0" encoding="UTF-8" standalone="yes"?><Relationships xmlns="http://schemas.openxmlformats.org/package/2006/relationships"><Relationship Id="rId11" Type="http://schemas.openxmlformats.org/officeDocument/2006/relationships/image" Target="../media/image44.png"/><Relationship Id="rId10" Type="http://schemas.openxmlformats.org/officeDocument/2006/relationships/image" Target="../media/image51.png"/><Relationship Id="rId13" Type="http://schemas.openxmlformats.org/officeDocument/2006/relationships/image" Target="../media/image41.png"/><Relationship Id="rId12" Type="http://schemas.openxmlformats.org/officeDocument/2006/relationships/image" Target="../media/image9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7.png"/><Relationship Id="rId4" Type="http://schemas.openxmlformats.org/officeDocument/2006/relationships/image" Target="../media/image9.png"/><Relationship Id="rId9" Type="http://schemas.openxmlformats.org/officeDocument/2006/relationships/image" Target="../media/image36.png"/><Relationship Id="rId5" Type="http://schemas.openxmlformats.org/officeDocument/2006/relationships/image" Target="../media/image6.png"/><Relationship Id="rId6" Type="http://schemas.openxmlformats.org/officeDocument/2006/relationships/image" Target="../media/image10.png"/><Relationship Id="rId7" Type="http://schemas.openxmlformats.org/officeDocument/2006/relationships/image" Target="../media/image24.png"/><Relationship Id="rId8" Type="http://schemas.openxmlformats.org/officeDocument/2006/relationships/image" Target="../media/image34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image" Target="../media/image10.png"/><Relationship Id="rId6" Type="http://schemas.openxmlformats.org/officeDocument/2006/relationships/image" Target="../media/image24.png"/><Relationship Id="rId7" Type="http://schemas.openxmlformats.org/officeDocument/2006/relationships/image" Target="../media/image47.png"/></Relationships>
</file>

<file path=ppt/slides/_rels/slide8.xml.rels><?xml version="1.0" encoding="UTF-8" standalone="yes"?><Relationships xmlns="http://schemas.openxmlformats.org/package/2006/relationships"><Relationship Id="rId11" Type="http://schemas.openxmlformats.org/officeDocument/2006/relationships/image" Target="../media/image114.jpg"/><Relationship Id="rId10" Type="http://schemas.openxmlformats.org/officeDocument/2006/relationships/image" Target="../media/image117.jpg"/><Relationship Id="rId13" Type="http://schemas.openxmlformats.org/officeDocument/2006/relationships/image" Target="../media/image24.png"/><Relationship Id="rId1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7.png"/><Relationship Id="rId4" Type="http://schemas.openxmlformats.org/officeDocument/2006/relationships/image" Target="../media/image9.png"/><Relationship Id="rId9" Type="http://schemas.openxmlformats.org/officeDocument/2006/relationships/image" Target="../media/image48.jpg"/><Relationship Id="rId5" Type="http://schemas.openxmlformats.org/officeDocument/2006/relationships/image" Target="../media/image6.png"/><Relationship Id="rId6" Type="http://schemas.openxmlformats.org/officeDocument/2006/relationships/image" Target="../media/image60.jpg"/><Relationship Id="rId7" Type="http://schemas.openxmlformats.org/officeDocument/2006/relationships/image" Target="../media/image59.jpg"/><Relationship Id="rId8" Type="http://schemas.openxmlformats.org/officeDocument/2006/relationships/image" Target="../media/image69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10.png"/><Relationship Id="rId5" Type="http://schemas.openxmlformats.org/officeDocument/2006/relationships/image" Target="../media/image24.png"/><Relationship Id="rId6" Type="http://schemas.openxmlformats.org/officeDocument/2006/relationships/image" Target="../media/image68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7.png"/><Relationship Id="rId4" Type="http://schemas.openxmlformats.org/officeDocument/2006/relationships/image" Target="../media/image9.png"/><Relationship Id="rId5" Type="http://schemas.openxmlformats.org/officeDocument/2006/relationships/image" Target="../media/image6.png"/><Relationship Id="rId6" Type="http://schemas.openxmlformats.org/officeDocument/2006/relationships/image" Target="../media/image10.png"/><Relationship Id="rId7" Type="http://schemas.openxmlformats.org/officeDocument/2006/relationships/image" Target="../media/image2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image" Target="../media/image10.png"/><Relationship Id="rId6" Type="http://schemas.openxmlformats.org/officeDocument/2006/relationships/image" Target="../media/image24.png"/><Relationship Id="rId7" Type="http://schemas.openxmlformats.org/officeDocument/2006/relationships/image" Target="../media/image143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image" Target="../media/image10.png"/><Relationship Id="rId6" Type="http://schemas.openxmlformats.org/officeDocument/2006/relationships/image" Target="../media/image24.png"/><Relationship Id="rId7" Type="http://schemas.openxmlformats.org/officeDocument/2006/relationships/image" Target="../media/image87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3.png"/><Relationship Id="rId4" Type="http://schemas.openxmlformats.org/officeDocument/2006/relationships/image" Target="../media/image9.png"/><Relationship Id="rId5" Type="http://schemas.openxmlformats.org/officeDocument/2006/relationships/image" Target="../media/image6.png"/><Relationship Id="rId6" Type="http://schemas.openxmlformats.org/officeDocument/2006/relationships/image" Target="../media/image10.png"/><Relationship Id="rId7" Type="http://schemas.openxmlformats.org/officeDocument/2006/relationships/image" Target="../media/image2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7.png"/><Relationship Id="rId4" Type="http://schemas.openxmlformats.org/officeDocument/2006/relationships/image" Target="../media/image9.png"/><Relationship Id="rId9" Type="http://schemas.openxmlformats.org/officeDocument/2006/relationships/image" Target="../media/image16.png"/><Relationship Id="rId5" Type="http://schemas.openxmlformats.org/officeDocument/2006/relationships/image" Target="../media/image6.png"/><Relationship Id="rId6" Type="http://schemas.openxmlformats.org/officeDocument/2006/relationships/image" Target="../media/image10.png"/><Relationship Id="rId7" Type="http://schemas.openxmlformats.org/officeDocument/2006/relationships/image" Target="../media/image24.png"/><Relationship Id="rId8" Type="http://schemas.openxmlformats.org/officeDocument/2006/relationships/image" Target="../media/image147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image" Target="../media/image10.png"/><Relationship Id="rId6" Type="http://schemas.openxmlformats.org/officeDocument/2006/relationships/image" Target="../media/image24.png"/><Relationship Id="rId7" Type="http://schemas.openxmlformats.org/officeDocument/2006/relationships/image" Target="../media/image16.png"/><Relationship Id="rId8" Type="http://schemas.openxmlformats.org/officeDocument/2006/relationships/image" Target="../media/image89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7.png"/><Relationship Id="rId4" Type="http://schemas.openxmlformats.org/officeDocument/2006/relationships/image" Target="../media/image9.png"/><Relationship Id="rId5" Type="http://schemas.openxmlformats.org/officeDocument/2006/relationships/image" Target="../media/image6.png"/><Relationship Id="rId6" Type="http://schemas.openxmlformats.org/officeDocument/2006/relationships/image" Target="../media/image10.png"/><Relationship Id="rId7" Type="http://schemas.openxmlformats.org/officeDocument/2006/relationships/image" Target="../media/image24.png"/><Relationship Id="rId8" Type="http://schemas.openxmlformats.org/officeDocument/2006/relationships/image" Target="../media/image98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image" Target="../media/image10.png"/><Relationship Id="rId6" Type="http://schemas.openxmlformats.org/officeDocument/2006/relationships/image" Target="../media/image24.png"/><Relationship Id="rId7" Type="http://schemas.openxmlformats.org/officeDocument/2006/relationships/image" Target="../media/image152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image" Target="../media/image10.png"/><Relationship Id="rId6" Type="http://schemas.openxmlformats.org/officeDocument/2006/relationships/image" Target="../media/image24.png"/><Relationship Id="rId7" Type="http://schemas.openxmlformats.org/officeDocument/2006/relationships/image" Target="../media/image109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png"/><Relationship Id="rId4" Type="http://schemas.openxmlformats.org/officeDocument/2006/relationships/image" Target="../media/image10.png"/><Relationship Id="rId5" Type="http://schemas.openxmlformats.org/officeDocument/2006/relationships/image" Target="../media/image24.png"/><Relationship Id="rId6" Type="http://schemas.openxmlformats.org/officeDocument/2006/relationships/image" Target="../media/image119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7.png"/><Relationship Id="rId4" Type="http://schemas.openxmlformats.org/officeDocument/2006/relationships/image" Target="../media/image126.png"/><Relationship Id="rId5" Type="http://schemas.openxmlformats.org/officeDocument/2006/relationships/image" Target="../media/image6.png"/><Relationship Id="rId6" Type="http://schemas.openxmlformats.org/officeDocument/2006/relationships/image" Target="../media/image10.png"/><Relationship Id="rId7" Type="http://schemas.openxmlformats.org/officeDocument/2006/relationships/image" Target="../media/image2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7.png"/><Relationship Id="rId4" Type="http://schemas.openxmlformats.org/officeDocument/2006/relationships/image" Target="../media/image9.png"/><Relationship Id="rId5" Type="http://schemas.openxmlformats.org/officeDocument/2006/relationships/image" Target="../media/image6.png"/><Relationship Id="rId6" Type="http://schemas.openxmlformats.org/officeDocument/2006/relationships/image" Target="../media/image10.png"/><Relationship Id="rId7" Type="http://schemas.openxmlformats.org/officeDocument/2006/relationships/image" Target="../media/image24.png"/><Relationship Id="rId8" Type="http://schemas.openxmlformats.org/officeDocument/2006/relationships/image" Target="../media/image140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image" Target="../media/image10.png"/><Relationship Id="rId6" Type="http://schemas.openxmlformats.org/officeDocument/2006/relationships/image" Target="../media/image2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7.png"/><Relationship Id="rId4" Type="http://schemas.openxmlformats.org/officeDocument/2006/relationships/image" Target="../media/image9.png"/><Relationship Id="rId5" Type="http://schemas.openxmlformats.org/officeDocument/2006/relationships/image" Target="../media/image6.png"/><Relationship Id="rId6" Type="http://schemas.openxmlformats.org/officeDocument/2006/relationships/image" Target="../media/image10.png"/><Relationship Id="rId7" Type="http://schemas.openxmlformats.org/officeDocument/2006/relationships/image" Target="../media/image24.png"/><Relationship Id="rId8" Type="http://schemas.openxmlformats.org/officeDocument/2006/relationships/image" Target="../media/image141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image" Target="../media/image10.png"/><Relationship Id="rId6" Type="http://schemas.openxmlformats.org/officeDocument/2006/relationships/image" Target="../media/image24.png"/><Relationship Id="rId7" Type="http://schemas.openxmlformats.org/officeDocument/2006/relationships/image" Target="../media/image150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image" Target="../media/image10.png"/><Relationship Id="rId6" Type="http://schemas.openxmlformats.org/officeDocument/2006/relationships/image" Target="../media/image24.png"/><Relationship Id="rId7" Type="http://schemas.openxmlformats.org/officeDocument/2006/relationships/image" Target="../media/image149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0"/>
            <a:ext cx="12192000" cy="5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4"/>
          <p:cNvPicPr preferRelativeResize="0"/>
          <p:nvPr/>
        </p:nvPicPr>
        <p:blipFill rotWithShape="1">
          <a:blip r:embed="rId6">
            <a:alphaModFix/>
          </a:blip>
          <a:srcRect b="20" l="0" r="0" t="30"/>
          <a:stretch/>
        </p:blipFill>
        <p:spPr>
          <a:xfrm>
            <a:off x="762000" y="571500"/>
            <a:ext cx="2533800" cy="85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4"/>
          <p:cNvPicPr preferRelativeResize="0"/>
          <p:nvPr/>
        </p:nvPicPr>
        <p:blipFill rotWithShape="1">
          <a:blip r:embed="rId7">
            <a:alphaModFix/>
          </a:blip>
          <a:srcRect b="5317" l="0" r="0" t="5317"/>
          <a:stretch/>
        </p:blipFill>
        <p:spPr>
          <a:xfrm>
            <a:off x="10144125" y="428625"/>
            <a:ext cx="1143000" cy="1143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14"/>
          <p:cNvGrpSpPr/>
          <p:nvPr/>
        </p:nvGrpSpPr>
        <p:grpSpPr>
          <a:xfrm>
            <a:off x="2333625" y="2190750"/>
            <a:ext cx="7524900" cy="2381250"/>
            <a:chOff x="2333625" y="2190750"/>
            <a:chExt cx="7524900" cy="2381250"/>
          </a:xfrm>
        </p:grpSpPr>
        <p:sp>
          <p:nvSpPr>
            <p:cNvPr id="60" name="Google Shape;60;p14"/>
            <p:cNvSpPr txBox="1"/>
            <p:nvPr/>
          </p:nvSpPr>
          <p:spPr>
            <a:xfrm>
              <a:off x="2514600" y="2190750"/>
              <a:ext cx="71628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D4A017"/>
                  </a:solidFill>
                  <a:latin typeface="Inter"/>
                  <a:ea typeface="Inter"/>
                  <a:cs typeface="Inter"/>
                  <a:sym typeface="Inter"/>
                </a:rPr>
                <a:t>INTRODUCTION TO</a:t>
              </a:r>
              <a:endParaRPr b="1" sz="1200">
                <a:solidFill>
                  <a:srgbClr val="D4A01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61" name="Google Shape;61;p14"/>
            <p:cNvSpPr txBox="1"/>
            <p:nvPr/>
          </p:nvSpPr>
          <p:spPr>
            <a:xfrm>
              <a:off x="2333625" y="2619375"/>
              <a:ext cx="75249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450">
                  <a:solidFill>
                    <a:srgbClr val="045A36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Introduction of Electronics</a:t>
              </a:r>
              <a:endParaRPr b="1" sz="3450">
                <a:solidFill>
                  <a:srgbClr val="045A36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62" name="Google Shape;62;p14"/>
            <p:cNvSpPr/>
            <p:nvPr/>
          </p:nvSpPr>
          <p:spPr>
            <a:xfrm>
              <a:off x="5381625" y="3905250"/>
              <a:ext cx="1428900" cy="38100"/>
            </a:xfrm>
            <a:prstGeom prst="roundRect">
              <a:avLst>
                <a:gd fmla="val 50000" name="adj"/>
              </a:avLst>
            </a:prstGeom>
            <a:solidFill>
              <a:srgbClr val="D4A01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14"/>
            <p:cNvSpPr txBox="1"/>
            <p:nvPr/>
          </p:nvSpPr>
          <p:spPr>
            <a:xfrm>
              <a:off x="2514600" y="4191000"/>
              <a:ext cx="71628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50">
                  <a:solidFill>
                    <a:srgbClr val="4B5563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Module 2 – Robotics and Automation Systems</a:t>
              </a:r>
              <a:endParaRPr b="0" sz="1350">
                <a:solidFill>
                  <a:srgbClr val="4B5563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pic>
        <p:nvPicPr>
          <p:cNvPr id="64" name="Google Shape;64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2000" y="5581650"/>
            <a:ext cx="10668000" cy="705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5" name="Google Shape;65;p14"/>
          <p:cNvGrpSpPr/>
          <p:nvPr/>
        </p:nvGrpSpPr>
        <p:grpSpPr>
          <a:xfrm>
            <a:off x="762000" y="5829300"/>
            <a:ext cx="3114600" cy="476400"/>
            <a:chOff x="762000" y="5829300"/>
            <a:chExt cx="3114600" cy="476400"/>
          </a:xfrm>
        </p:grpSpPr>
        <p:sp>
          <p:nvSpPr>
            <p:cNvPr id="66" name="Google Shape;66;p14"/>
            <p:cNvSpPr txBox="1"/>
            <p:nvPr/>
          </p:nvSpPr>
          <p:spPr>
            <a:xfrm>
              <a:off x="762000" y="5829300"/>
              <a:ext cx="31146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9CA3AF"/>
                  </a:solidFill>
                  <a:latin typeface="Inter"/>
                  <a:ea typeface="Inter"/>
                  <a:cs typeface="Inter"/>
                  <a:sym typeface="Inter"/>
                </a:rPr>
                <a:t>PRESENTED BY</a:t>
              </a:r>
              <a:endParaRPr b="0" sz="9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67" name="Google Shape;67;p14"/>
            <p:cNvSpPr txBox="1"/>
            <p:nvPr/>
          </p:nvSpPr>
          <p:spPr>
            <a:xfrm>
              <a:off x="762000" y="6019800"/>
              <a:ext cx="31146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50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Mr Rajesh</a:t>
              </a:r>
              <a:endParaRPr b="0" sz="1350">
                <a:solidFill>
                  <a:srgbClr val="1F293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68" name="Google Shape;68;p14"/>
          <p:cNvGrpSpPr/>
          <p:nvPr/>
        </p:nvGrpSpPr>
        <p:grpSpPr>
          <a:xfrm>
            <a:off x="10287000" y="5829300"/>
            <a:ext cx="1143000" cy="476400"/>
            <a:chOff x="10287000" y="5829300"/>
            <a:chExt cx="1143000" cy="476400"/>
          </a:xfrm>
        </p:grpSpPr>
        <p:sp>
          <p:nvSpPr>
            <p:cNvPr id="69" name="Google Shape;69;p14"/>
            <p:cNvSpPr txBox="1"/>
            <p:nvPr/>
          </p:nvSpPr>
          <p:spPr>
            <a:xfrm>
              <a:off x="10287000" y="5829300"/>
              <a:ext cx="11430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9CA3AF"/>
                  </a:solidFill>
                  <a:latin typeface="Inter"/>
                  <a:ea typeface="Inter"/>
                  <a:cs typeface="Inter"/>
                  <a:sym typeface="Inter"/>
                </a:rPr>
                <a:t>DATE OF SESSION</a:t>
              </a:r>
              <a:endParaRPr b="0" sz="9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70" name="Google Shape;70;p14"/>
            <p:cNvSpPr txBox="1"/>
            <p:nvPr/>
          </p:nvSpPr>
          <p:spPr>
            <a:xfrm>
              <a:off x="10287000" y="6019800"/>
              <a:ext cx="1143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50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June 2026</a:t>
              </a:r>
              <a:endParaRPr b="0" sz="1350">
                <a:solidFill>
                  <a:srgbClr val="1F293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0"/>
            <a:ext cx="12192000" cy="5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5981700"/>
            <a:ext cx="10668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5"/>
          <p:cNvPicPr preferRelativeResize="0"/>
          <p:nvPr/>
        </p:nvPicPr>
        <p:blipFill rotWithShape="1">
          <a:blip r:embed="rId7">
            <a:alphaModFix/>
          </a:blip>
          <a:srcRect b="466" l="0" r="0" t="466"/>
          <a:stretch/>
        </p:blipFill>
        <p:spPr>
          <a:xfrm>
            <a:off x="10287000" y="5457825"/>
            <a:ext cx="1524000" cy="100980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5"/>
          <p:cNvSpPr txBox="1"/>
          <p:nvPr/>
        </p:nvSpPr>
        <p:spPr>
          <a:xfrm>
            <a:off x="762000" y="6134100"/>
            <a:ext cx="4762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75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Introduction of Electronics | Robotics and Automation Systems</a:t>
            </a:r>
            <a:endParaRPr b="0" sz="975">
              <a:solidFill>
                <a:srgbClr val="6B728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0" name="Google Shape;80;p15"/>
          <p:cNvSpPr txBox="1"/>
          <p:nvPr/>
        </p:nvSpPr>
        <p:spPr>
          <a:xfrm>
            <a:off x="762000" y="571500"/>
            <a:ext cx="95250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700">
                <a:solidFill>
                  <a:srgbClr val="045A3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Module Overview</a:t>
            </a:r>
            <a:endParaRPr b="0" sz="2700">
              <a:solidFill>
                <a:srgbClr val="045A36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81" name="Google Shape;81;p15"/>
          <p:cNvSpPr/>
          <p:nvPr/>
        </p:nvSpPr>
        <p:spPr>
          <a:xfrm>
            <a:off x="762000" y="1123950"/>
            <a:ext cx="106680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2" name="Google Shape;82;p15"/>
          <p:cNvGrpSpPr/>
          <p:nvPr/>
        </p:nvGrpSpPr>
        <p:grpSpPr>
          <a:xfrm>
            <a:off x="762000" y="1524000"/>
            <a:ext cx="4762575" cy="3381450"/>
            <a:chOff x="0" y="0"/>
            <a:chExt cx="4762575" cy="3381450"/>
          </a:xfrm>
        </p:grpSpPr>
        <p:sp>
          <p:nvSpPr>
            <p:cNvPr id="83" name="Google Shape;83;p15"/>
            <p:cNvSpPr txBox="1"/>
            <p:nvPr/>
          </p:nvSpPr>
          <p:spPr>
            <a:xfrm>
              <a:off x="0" y="0"/>
              <a:ext cx="4762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045A3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Key topics covered in electronics for robotics:</a:t>
              </a:r>
              <a:endParaRPr b="0" sz="1500">
                <a:solidFill>
                  <a:srgbClr val="045A36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grpSp>
          <p:nvGrpSpPr>
            <p:cNvPr id="84" name="Google Shape;84;p15"/>
            <p:cNvGrpSpPr/>
            <p:nvPr/>
          </p:nvGrpSpPr>
          <p:grpSpPr>
            <a:xfrm>
              <a:off x="0" y="571500"/>
              <a:ext cx="4762575" cy="2809950"/>
              <a:chOff x="0" y="0"/>
              <a:chExt cx="4762575" cy="2809950"/>
            </a:xfrm>
          </p:grpSpPr>
          <p:grpSp>
            <p:nvGrpSpPr>
              <p:cNvPr id="85" name="Google Shape;85;p15"/>
              <p:cNvGrpSpPr/>
              <p:nvPr/>
            </p:nvGrpSpPr>
            <p:grpSpPr>
              <a:xfrm>
                <a:off x="0" y="0"/>
                <a:ext cx="4762575" cy="428700"/>
                <a:chOff x="0" y="0"/>
                <a:chExt cx="4762575" cy="428700"/>
              </a:xfrm>
            </p:grpSpPr>
            <p:pic>
              <p:nvPicPr>
                <p:cNvPr id="86" name="Google Shape;86;p15"/>
                <p:cNvPicPr preferRelativeResize="0"/>
                <p:nvPr/>
              </p:nvPicPr>
              <p:blipFill rotWithShape="1">
                <a:blip r:embed="rId8">
                  <a:alphaModFix/>
                </a:blip>
                <a:srcRect b="0" l="0" r="0" t="0"/>
                <a:stretch/>
              </p:blipFill>
              <p:spPr>
                <a:xfrm>
                  <a:off x="0" y="47625"/>
                  <a:ext cx="190500" cy="2001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87" name="Google Shape;87;p15"/>
                <p:cNvSpPr txBox="1"/>
                <p:nvPr/>
              </p:nvSpPr>
              <p:spPr>
                <a:xfrm>
                  <a:off x="333375" y="0"/>
                  <a:ext cx="4429200" cy="428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" sz="1500">
                      <a:solidFill>
                        <a:srgbClr val="374151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What electronics means</a:t>
                  </a:r>
                  <a:endParaRPr b="0" sz="150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</p:grpSp>
          <p:grpSp>
            <p:nvGrpSpPr>
              <p:cNvPr id="88" name="Google Shape;88;p15"/>
              <p:cNvGrpSpPr/>
              <p:nvPr/>
            </p:nvGrpSpPr>
            <p:grpSpPr>
              <a:xfrm>
                <a:off x="0" y="476250"/>
                <a:ext cx="4762575" cy="428700"/>
                <a:chOff x="0" y="0"/>
                <a:chExt cx="4762575" cy="428700"/>
              </a:xfrm>
            </p:grpSpPr>
            <p:pic>
              <p:nvPicPr>
                <p:cNvPr id="89" name="Google Shape;89;p15"/>
                <p:cNvPicPr preferRelativeResize="0"/>
                <p:nvPr/>
              </p:nvPicPr>
              <p:blipFill rotWithShape="1">
                <a:blip r:embed="rId8">
                  <a:alphaModFix/>
                </a:blip>
                <a:srcRect b="0" l="0" r="0" t="0"/>
                <a:stretch/>
              </p:blipFill>
              <p:spPr>
                <a:xfrm>
                  <a:off x="0" y="47625"/>
                  <a:ext cx="190500" cy="2001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90" name="Google Shape;90;p15"/>
                <p:cNvSpPr txBox="1"/>
                <p:nvPr/>
              </p:nvSpPr>
              <p:spPr>
                <a:xfrm>
                  <a:off x="333375" y="0"/>
                  <a:ext cx="4429200" cy="428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" sz="1500">
                      <a:solidFill>
                        <a:srgbClr val="374151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Why electronics is used in robotics</a:t>
                  </a:r>
                  <a:endParaRPr b="0" sz="150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</p:grpSp>
          <p:grpSp>
            <p:nvGrpSpPr>
              <p:cNvPr id="91" name="Google Shape;91;p15"/>
              <p:cNvGrpSpPr/>
              <p:nvPr/>
            </p:nvGrpSpPr>
            <p:grpSpPr>
              <a:xfrm>
                <a:off x="0" y="952500"/>
                <a:ext cx="4762575" cy="428700"/>
                <a:chOff x="0" y="0"/>
                <a:chExt cx="4762575" cy="428700"/>
              </a:xfrm>
            </p:grpSpPr>
            <p:pic>
              <p:nvPicPr>
                <p:cNvPr id="92" name="Google Shape;92;p15"/>
                <p:cNvPicPr preferRelativeResize="0"/>
                <p:nvPr/>
              </p:nvPicPr>
              <p:blipFill rotWithShape="1">
                <a:blip r:embed="rId8">
                  <a:alphaModFix/>
                </a:blip>
                <a:srcRect b="0" l="0" r="0" t="0"/>
                <a:stretch/>
              </p:blipFill>
              <p:spPr>
                <a:xfrm>
                  <a:off x="0" y="47625"/>
                  <a:ext cx="190500" cy="2001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93" name="Google Shape;93;p15"/>
                <p:cNvSpPr txBox="1"/>
                <p:nvPr/>
              </p:nvSpPr>
              <p:spPr>
                <a:xfrm>
                  <a:off x="333375" y="0"/>
                  <a:ext cx="4429200" cy="428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" sz="1500">
                      <a:solidFill>
                        <a:srgbClr val="374151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Basic electricity concepts</a:t>
                  </a:r>
                  <a:endParaRPr b="0" sz="150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</p:grpSp>
          <p:grpSp>
            <p:nvGrpSpPr>
              <p:cNvPr id="94" name="Google Shape;94;p15"/>
              <p:cNvGrpSpPr/>
              <p:nvPr/>
            </p:nvGrpSpPr>
            <p:grpSpPr>
              <a:xfrm>
                <a:off x="0" y="1428750"/>
                <a:ext cx="4762575" cy="428700"/>
                <a:chOff x="0" y="0"/>
                <a:chExt cx="4762575" cy="428700"/>
              </a:xfrm>
            </p:grpSpPr>
            <p:pic>
              <p:nvPicPr>
                <p:cNvPr id="95" name="Google Shape;95;p15"/>
                <p:cNvPicPr preferRelativeResize="0"/>
                <p:nvPr/>
              </p:nvPicPr>
              <p:blipFill rotWithShape="1">
                <a:blip r:embed="rId8">
                  <a:alphaModFix/>
                </a:blip>
                <a:srcRect b="0" l="0" r="0" t="0"/>
                <a:stretch/>
              </p:blipFill>
              <p:spPr>
                <a:xfrm>
                  <a:off x="0" y="47625"/>
                  <a:ext cx="190500" cy="2001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96" name="Google Shape;96;p15"/>
                <p:cNvSpPr txBox="1"/>
                <p:nvPr/>
              </p:nvSpPr>
              <p:spPr>
                <a:xfrm>
                  <a:off x="333375" y="0"/>
                  <a:ext cx="4429200" cy="428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" sz="1500">
                      <a:solidFill>
                        <a:srgbClr val="374151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Voltage, resistance, and current</a:t>
                  </a:r>
                  <a:endParaRPr b="0" sz="150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</p:grpSp>
          <p:grpSp>
            <p:nvGrpSpPr>
              <p:cNvPr id="97" name="Google Shape;97;p15"/>
              <p:cNvGrpSpPr/>
              <p:nvPr/>
            </p:nvGrpSpPr>
            <p:grpSpPr>
              <a:xfrm>
                <a:off x="0" y="1905000"/>
                <a:ext cx="4762575" cy="428700"/>
                <a:chOff x="0" y="0"/>
                <a:chExt cx="4762575" cy="428700"/>
              </a:xfrm>
            </p:grpSpPr>
            <p:pic>
              <p:nvPicPr>
                <p:cNvPr id="98" name="Google Shape;98;p15"/>
                <p:cNvPicPr preferRelativeResize="0"/>
                <p:nvPr/>
              </p:nvPicPr>
              <p:blipFill rotWithShape="1">
                <a:blip r:embed="rId8">
                  <a:alphaModFix/>
                </a:blip>
                <a:srcRect b="0" l="0" r="0" t="0"/>
                <a:stretch/>
              </p:blipFill>
              <p:spPr>
                <a:xfrm>
                  <a:off x="0" y="47625"/>
                  <a:ext cx="190500" cy="2001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99" name="Google Shape;99;p15"/>
                <p:cNvSpPr txBox="1"/>
                <p:nvPr/>
              </p:nvSpPr>
              <p:spPr>
                <a:xfrm>
                  <a:off x="333375" y="0"/>
                  <a:ext cx="4429200" cy="428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" sz="1500">
                      <a:solidFill>
                        <a:srgbClr val="374151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Ohm’s Law applications</a:t>
                  </a:r>
                  <a:endParaRPr b="0" sz="150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</p:grpSp>
          <p:grpSp>
            <p:nvGrpSpPr>
              <p:cNvPr id="100" name="Google Shape;100;p15"/>
              <p:cNvGrpSpPr/>
              <p:nvPr/>
            </p:nvGrpSpPr>
            <p:grpSpPr>
              <a:xfrm>
                <a:off x="0" y="2381250"/>
                <a:ext cx="4762575" cy="428700"/>
                <a:chOff x="0" y="0"/>
                <a:chExt cx="4762575" cy="428700"/>
              </a:xfrm>
            </p:grpSpPr>
            <p:pic>
              <p:nvPicPr>
                <p:cNvPr id="101" name="Google Shape;101;p15"/>
                <p:cNvPicPr preferRelativeResize="0"/>
                <p:nvPr/>
              </p:nvPicPr>
              <p:blipFill rotWithShape="1">
                <a:blip r:embed="rId8">
                  <a:alphaModFix/>
                </a:blip>
                <a:srcRect b="0" l="0" r="0" t="0"/>
                <a:stretch/>
              </p:blipFill>
              <p:spPr>
                <a:xfrm>
                  <a:off x="0" y="47625"/>
                  <a:ext cx="190500" cy="2001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02" name="Google Shape;102;p15"/>
                <p:cNvSpPr txBox="1"/>
                <p:nvPr/>
              </p:nvSpPr>
              <p:spPr>
                <a:xfrm>
                  <a:off x="333375" y="0"/>
                  <a:ext cx="4429200" cy="428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" sz="1500">
                      <a:solidFill>
                        <a:srgbClr val="374151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Series and parallel resistance</a:t>
                  </a:r>
                  <a:endParaRPr b="0" sz="150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</p:grpSp>
        </p:grpSp>
      </p:grpSp>
      <p:pic>
        <p:nvPicPr>
          <p:cNvPr id="103" name="Google Shape;103;p15"/>
          <p:cNvPicPr preferRelativeResize="0"/>
          <p:nvPr/>
        </p:nvPicPr>
        <p:blipFill rotWithShape="1">
          <a:blip r:embed="rId9">
            <a:alphaModFix/>
          </a:blip>
          <a:srcRect b="0" l="40" r="50" t="0"/>
          <a:stretch/>
        </p:blipFill>
        <p:spPr>
          <a:xfrm>
            <a:off x="5905500" y="1809750"/>
            <a:ext cx="5524500" cy="308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5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5981700"/>
            <a:ext cx="10668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6"/>
          <p:cNvPicPr preferRelativeResize="0"/>
          <p:nvPr/>
        </p:nvPicPr>
        <p:blipFill rotWithShape="1">
          <a:blip r:embed="rId6">
            <a:alphaModFix/>
          </a:blip>
          <a:srcRect b="466" l="0" r="0" t="466"/>
          <a:stretch/>
        </p:blipFill>
        <p:spPr>
          <a:xfrm>
            <a:off x="10287000" y="5457825"/>
            <a:ext cx="1524000" cy="1009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6"/>
          <p:cNvSpPr txBox="1"/>
          <p:nvPr/>
        </p:nvSpPr>
        <p:spPr>
          <a:xfrm>
            <a:off x="762000" y="6134100"/>
            <a:ext cx="4762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75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Introduction of Electronics | Robotics and Automation Systems</a:t>
            </a:r>
            <a:endParaRPr b="0" sz="975">
              <a:solidFill>
                <a:srgbClr val="6B728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4" name="Google Shape;114;p16"/>
          <p:cNvSpPr txBox="1"/>
          <p:nvPr/>
        </p:nvSpPr>
        <p:spPr>
          <a:xfrm>
            <a:off x="762000" y="571500"/>
            <a:ext cx="95250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700">
                <a:solidFill>
                  <a:srgbClr val="045A3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Learning Objectives</a:t>
            </a:r>
            <a:endParaRPr b="0" sz="2700">
              <a:solidFill>
                <a:srgbClr val="045A36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15" name="Google Shape;115;p16"/>
          <p:cNvSpPr/>
          <p:nvPr/>
        </p:nvSpPr>
        <p:spPr>
          <a:xfrm>
            <a:off x="762000" y="1123950"/>
            <a:ext cx="106680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6"/>
          <p:cNvSpPr txBox="1"/>
          <p:nvPr/>
        </p:nvSpPr>
        <p:spPr>
          <a:xfrm>
            <a:off x="762000" y="1524000"/>
            <a:ext cx="10668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500">
                <a:solidFill>
                  <a:srgbClr val="045A3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By the end of this module, students will learn to:</a:t>
            </a:r>
            <a:endParaRPr b="0" sz="1500">
              <a:solidFill>
                <a:srgbClr val="045A36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grpSp>
        <p:nvGrpSpPr>
          <p:cNvPr id="117" name="Google Shape;117;p16"/>
          <p:cNvGrpSpPr/>
          <p:nvPr/>
        </p:nvGrpSpPr>
        <p:grpSpPr>
          <a:xfrm>
            <a:off x="762000" y="2190750"/>
            <a:ext cx="10287075" cy="2476500"/>
            <a:chOff x="0" y="0"/>
            <a:chExt cx="10287075" cy="2476500"/>
          </a:xfrm>
        </p:grpSpPr>
        <p:grpSp>
          <p:nvGrpSpPr>
            <p:cNvPr id="118" name="Google Shape;118;p16"/>
            <p:cNvGrpSpPr/>
            <p:nvPr/>
          </p:nvGrpSpPr>
          <p:grpSpPr>
            <a:xfrm>
              <a:off x="0" y="0"/>
              <a:ext cx="10287075" cy="381000"/>
              <a:chOff x="0" y="0"/>
              <a:chExt cx="10287075" cy="381000"/>
            </a:xfrm>
          </p:grpSpPr>
          <p:grpSp>
            <p:nvGrpSpPr>
              <p:cNvPr id="119" name="Google Shape;119;p16"/>
              <p:cNvGrpSpPr/>
              <p:nvPr/>
            </p:nvGrpSpPr>
            <p:grpSpPr>
              <a:xfrm>
                <a:off x="0" y="42863"/>
                <a:ext cx="190500" cy="190500"/>
                <a:chOff x="0" y="4763"/>
                <a:chExt cx="190500" cy="190500"/>
              </a:xfrm>
            </p:grpSpPr>
            <p:sp>
              <p:nvSpPr>
                <p:cNvPr id="120" name="Google Shape;120;p16"/>
                <p:cNvSpPr/>
                <p:nvPr/>
              </p:nvSpPr>
              <p:spPr>
                <a:xfrm>
                  <a:off x="0" y="4763"/>
                  <a:ext cx="190500" cy="190500"/>
                </a:xfrm>
                <a:prstGeom prst="ellipse">
                  <a:avLst/>
                </a:prstGeom>
                <a:solidFill>
                  <a:srgbClr val="045A36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1" name="Google Shape;121;p16"/>
                <p:cNvSpPr/>
                <p:nvPr/>
              </p:nvSpPr>
              <p:spPr>
                <a:xfrm>
                  <a:off x="57150" y="80963"/>
                  <a:ext cx="76200" cy="47700"/>
                </a:xfrm>
                <a:custGeom>
                  <a:rect b="b" l="l" r="r" t="t"/>
                  <a:pathLst>
                    <a:path extrusionOk="0" h="120000" w="120000">
                      <a:moveTo>
                        <a:pt x="0" y="48000"/>
                      </a:moveTo>
                      <a:lnTo>
                        <a:pt x="45000" y="120000"/>
                      </a:lnTo>
                      <a:lnTo>
                        <a:pt x="120000" y="0"/>
                      </a:lnTo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cap="rnd" cmpd="sng" w="19050">
                  <a:solidFill>
                    <a:srgbClr val="F8FAFC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22" name="Google Shape;122;p16"/>
              <p:cNvSpPr txBox="1"/>
              <p:nvPr/>
            </p:nvSpPr>
            <p:spPr>
              <a:xfrm>
                <a:off x="333375" y="0"/>
                <a:ext cx="99537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50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Define electronics</a:t>
                </a:r>
                <a:endParaRPr b="0" sz="15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23" name="Google Shape;123;p16"/>
            <p:cNvGrpSpPr/>
            <p:nvPr/>
          </p:nvGrpSpPr>
          <p:grpSpPr>
            <a:xfrm>
              <a:off x="0" y="523875"/>
              <a:ext cx="10287075" cy="381000"/>
              <a:chOff x="0" y="0"/>
              <a:chExt cx="10287075" cy="381000"/>
            </a:xfrm>
          </p:grpSpPr>
          <p:grpSp>
            <p:nvGrpSpPr>
              <p:cNvPr id="124" name="Google Shape;124;p16"/>
              <p:cNvGrpSpPr/>
              <p:nvPr/>
            </p:nvGrpSpPr>
            <p:grpSpPr>
              <a:xfrm>
                <a:off x="0" y="42863"/>
                <a:ext cx="190500" cy="190500"/>
                <a:chOff x="0" y="4763"/>
                <a:chExt cx="190500" cy="190500"/>
              </a:xfrm>
            </p:grpSpPr>
            <p:sp>
              <p:nvSpPr>
                <p:cNvPr id="125" name="Google Shape;125;p16"/>
                <p:cNvSpPr/>
                <p:nvPr/>
              </p:nvSpPr>
              <p:spPr>
                <a:xfrm>
                  <a:off x="0" y="4763"/>
                  <a:ext cx="190500" cy="190500"/>
                </a:xfrm>
                <a:prstGeom prst="ellipse">
                  <a:avLst/>
                </a:prstGeom>
                <a:solidFill>
                  <a:srgbClr val="045A36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6" name="Google Shape;126;p16"/>
                <p:cNvSpPr/>
                <p:nvPr/>
              </p:nvSpPr>
              <p:spPr>
                <a:xfrm>
                  <a:off x="57150" y="80963"/>
                  <a:ext cx="76200" cy="47700"/>
                </a:xfrm>
                <a:custGeom>
                  <a:rect b="b" l="l" r="r" t="t"/>
                  <a:pathLst>
                    <a:path extrusionOk="0" h="120000" w="120000">
                      <a:moveTo>
                        <a:pt x="0" y="48000"/>
                      </a:moveTo>
                      <a:lnTo>
                        <a:pt x="45000" y="120000"/>
                      </a:lnTo>
                      <a:lnTo>
                        <a:pt x="120000" y="0"/>
                      </a:lnTo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cap="rnd" cmpd="sng" w="19050">
                  <a:solidFill>
                    <a:srgbClr val="F8FAFC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27" name="Google Shape;127;p16"/>
              <p:cNvSpPr txBox="1"/>
              <p:nvPr/>
            </p:nvSpPr>
            <p:spPr>
              <a:xfrm>
                <a:off x="333375" y="0"/>
                <a:ext cx="99537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50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Explain electricity and its types</a:t>
                </a:r>
                <a:endParaRPr b="0" sz="15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28" name="Google Shape;128;p16"/>
            <p:cNvGrpSpPr/>
            <p:nvPr/>
          </p:nvGrpSpPr>
          <p:grpSpPr>
            <a:xfrm>
              <a:off x="0" y="1047750"/>
              <a:ext cx="10287075" cy="381000"/>
              <a:chOff x="0" y="0"/>
              <a:chExt cx="10287075" cy="381000"/>
            </a:xfrm>
          </p:grpSpPr>
          <p:grpSp>
            <p:nvGrpSpPr>
              <p:cNvPr id="129" name="Google Shape;129;p16"/>
              <p:cNvGrpSpPr/>
              <p:nvPr/>
            </p:nvGrpSpPr>
            <p:grpSpPr>
              <a:xfrm>
                <a:off x="0" y="42863"/>
                <a:ext cx="190500" cy="190500"/>
                <a:chOff x="0" y="4763"/>
                <a:chExt cx="190500" cy="190500"/>
              </a:xfrm>
            </p:grpSpPr>
            <p:sp>
              <p:nvSpPr>
                <p:cNvPr id="130" name="Google Shape;130;p16"/>
                <p:cNvSpPr/>
                <p:nvPr/>
              </p:nvSpPr>
              <p:spPr>
                <a:xfrm>
                  <a:off x="0" y="4763"/>
                  <a:ext cx="190500" cy="190500"/>
                </a:xfrm>
                <a:prstGeom prst="ellipse">
                  <a:avLst/>
                </a:prstGeom>
                <a:solidFill>
                  <a:srgbClr val="045A36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1" name="Google Shape;131;p16"/>
                <p:cNvSpPr/>
                <p:nvPr/>
              </p:nvSpPr>
              <p:spPr>
                <a:xfrm>
                  <a:off x="57150" y="80963"/>
                  <a:ext cx="76200" cy="47700"/>
                </a:xfrm>
                <a:custGeom>
                  <a:rect b="b" l="l" r="r" t="t"/>
                  <a:pathLst>
                    <a:path extrusionOk="0" h="120000" w="120000">
                      <a:moveTo>
                        <a:pt x="0" y="48000"/>
                      </a:moveTo>
                      <a:lnTo>
                        <a:pt x="45000" y="120000"/>
                      </a:lnTo>
                      <a:lnTo>
                        <a:pt x="120000" y="0"/>
                      </a:lnTo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cap="rnd" cmpd="sng" w="19050">
                  <a:solidFill>
                    <a:srgbClr val="F8FAFC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32" name="Google Shape;132;p16"/>
              <p:cNvSpPr txBox="1"/>
              <p:nvPr/>
            </p:nvSpPr>
            <p:spPr>
              <a:xfrm>
                <a:off x="333375" y="0"/>
                <a:ext cx="99537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50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Understand voltage and resistance</a:t>
                </a:r>
                <a:endParaRPr b="0" sz="15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33" name="Google Shape;133;p16"/>
            <p:cNvGrpSpPr/>
            <p:nvPr/>
          </p:nvGrpSpPr>
          <p:grpSpPr>
            <a:xfrm>
              <a:off x="0" y="1571625"/>
              <a:ext cx="10287075" cy="381000"/>
              <a:chOff x="0" y="0"/>
              <a:chExt cx="10287075" cy="381000"/>
            </a:xfrm>
          </p:grpSpPr>
          <p:grpSp>
            <p:nvGrpSpPr>
              <p:cNvPr id="134" name="Google Shape;134;p16"/>
              <p:cNvGrpSpPr/>
              <p:nvPr/>
            </p:nvGrpSpPr>
            <p:grpSpPr>
              <a:xfrm>
                <a:off x="0" y="42863"/>
                <a:ext cx="190500" cy="190500"/>
                <a:chOff x="0" y="4763"/>
                <a:chExt cx="190500" cy="190500"/>
              </a:xfrm>
            </p:grpSpPr>
            <p:sp>
              <p:nvSpPr>
                <p:cNvPr id="135" name="Google Shape;135;p16"/>
                <p:cNvSpPr/>
                <p:nvPr/>
              </p:nvSpPr>
              <p:spPr>
                <a:xfrm>
                  <a:off x="0" y="4763"/>
                  <a:ext cx="190500" cy="190500"/>
                </a:xfrm>
                <a:prstGeom prst="ellipse">
                  <a:avLst/>
                </a:prstGeom>
                <a:solidFill>
                  <a:srgbClr val="045A36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36" name="Google Shape;136;p16"/>
                <p:cNvSpPr/>
                <p:nvPr/>
              </p:nvSpPr>
              <p:spPr>
                <a:xfrm>
                  <a:off x="57150" y="80963"/>
                  <a:ext cx="76200" cy="47700"/>
                </a:xfrm>
                <a:custGeom>
                  <a:rect b="b" l="l" r="r" t="t"/>
                  <a:pathLst>
                    <a:path extrusionOk="0" h="120000" w="120000">
                      <a:moveTo>
                        <a:pt x="0" y="48000"/>
                      </a:moveTo>
                      <a:lnTo>
                        <a:pt x="45000" y="120000"/>
                      </a:lnTo>
                      <a:lnTo>
                        <a:pt x="120000" y="0"/>
                      </a:lnTo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cap="rnd" cmpd="sng" w="19050">
                  <a:solidFill>
                    <a:srgbClr val="F8FAFC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37" name="Google Shape;137;p16"/>
              <p:cNvSpPr txBox="1"/>
              <p:nvPr/>
            </p:nvSpPr>
            <p:spPr>
              <a:xfrm>
                <a:off x="333375" y="0"/>
                <a:ext cx="99537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50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Apply Ohm’s Law</a:t>
                </a:r>
                <a:endParaRPr b="0" sz="15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138" name="Google Shape;138;p16"/>
            <p:cNvGrpSpPr/>
            <p:nvPr/>
          </p:nvGrpSpPr>
          <p:grpSpPr>
            <a:xfrm>
              <a:off x="0" y="2095500"/>
              <a:ext cx="10287075" cy="381000"/>
              <a:chOff x="0" y="0"/>
              <a:chExt cx="10287075" cy="381000"/>
            </a:xfrm>
          </p:grpSpPr>
          <p:grpSp>
            <p:nvGrpSpPr>
              <p:cNvPr id="139" name="Google Shape;139;p16"/>
              <p:cNvGrpSpPr/>
              <p:nvPr/>
            </p:nvGrpSpPr>
            <p:grpSpPr>
              <a:xfrm>
                <a:off x="0" y="42863"/>
                <a:ext cx="190500" cy="190500"/>
                <a:chOff x="0" y="4763"/>
                <a:chExt cx="190500" cy="190500"/>
              </a:xfrm>
            </p:grpSpPr>
            <p:sp>
              <p:nvSpPr>
                <p:cNvPr id="140" name="Google Shape;140;p16"/>
                <p:cNvSpPr/>
                <p:nvPr/>
              </p:nvSpPr>
              <p:spPr>
                <a:xfrm>
                  <a:off x="0" y="4763"/>
                  <a:ext cx="190500" cy="190500"/>
                </a:xfrm>
                <a:prstGeom prst="ellipse">
                  <a:avLst/>
                </a:prstGeom>
                <a:solidFill>
                  <a:srgbClr val="045A36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41" name="Google Shape;141;p16"/>
                <p:cNvSpPr/>
                <p:nvPr/>
              </p:nvSpPr>
              <p:spPr>
                <a:xfrm>
                  <a:off x="57150" y="80963"/>
                  <a:ext cx="76200" cy="47700"/>
                </a:xfrm>
                <a:custGeom>
                  <a:rect b="b" l="l" r="r" t="t"/>
                  <a:pathLst>
                    <a:path extrusionOk="0" h="120000" w="120000">
                      <a:moveTo>
                        <a:pt x="0" y="48000"/>
                      </a:moveTo>
                      <a:lnTo>
                        <a:pt x="45000" y="120000"/>
                      </a:lnTo>
                      <a:lnTo>
                        <a:pt x="120000" y="0"/>
                      </a:lnTo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  <a:ln cap="rnd" cmpd="sng" w="19050">
                  <a:solidFill>
                    <a:srgbClr val="F8FAFC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42" name="Google Shape;142;p16"/>
              <p:cNvSpPr txBox="1"/>
              <p:nvPr/>
            </p:nvSpPr>
            <p:spPr>
              <a:xfrm>
                <a:off x="333375" y="0"/>
                <a:ext cx="99537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50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Use the resistor color code</a:t>
                </a:r>
                <a:endParaRPr b="0" sz="15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pic>
        <p:nvPicPr>
          <p:cNvPr id="143" name="Google Shape;143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96250" y="1905000"/>
            <a:ext cx="3333900" cy="333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9" name="Google Shape;14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7"/>
          <p:cNvPicPr preferRelativeResize="0"/>
          <p:nvPr/>
        </p:nvPicPr>
        <p:blipFill rotWithShape="1">
          <a:blip r:embed="rId5">
            <a:alphaModFix/>
          </a:blip>
          <a:srcRect b="0" l="130" r="130" t="0"/>
          <a:stretch/>
        </p:blipFill>
        <p:spPr>
          <a:xfrm>
            <a:off x="0" y="0"/>
            <a:ext cx="12192000" cy="5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5981700"/>
            <a:ext cx="10668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7"/>
          <p:cNvPicPr preferRelativeResize="0"/>
          <p:nvPr/>
        </p:nvPicPr>
        <p:blipFill rotWithShape="1">
          <a:blip r:embed="rId7">
            <a:alphaModFix/>
          </a:blip>
          <a:srcRect b="466" l="10" r="0" t="466"/>
          <a:stretch/>
        </p:blipFill>
        <p:spPr>
          <a:xfrm>
            <a:off x="10287000" y="5457825"/>
            <a:ext cx="1524000" cy="1009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7"/>
          <p:cNvSpPr txBox="1"/>
          <p:nvPr/>
        </p:nvSpPr>
        <p:spPr>
          <a:xfrm>
            <a:off x="762000" y="6134100"/>
            <a:ext cx="4762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75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Introduction of Electronics | Robotics and Automation Systems</a:t>
            </a:r>
            <a:endParaRPr b="0" sz="975">
              <a:solidFill>
                <a:srgbClr val="6B728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4" name="Google Shape;154;p17"/>
          <p:cNvSpPr txBox="1"/>
          <p:nvPr/>
        </p:nvSpPr>
        <p:spPr>
          <a:xfrm>
            <a:off x="762000" y="571500"/>
            <a:ext cx="9525000" cy="42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700">
                <a:solidFill>
                  <a:srgbClr val="045A3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What is Electronics?</a:t>
            </a:r>
            <a:endParaRPr b="0" sz="2700">
              <a:solidFill>
                <a:srgbClr val="045A36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55" name="Google Shape;155;p17"/>
          <p:cNvSpPr/>
          <p:nvPr/>
        </p:nvSpPr>
        <p:spPr>
          <a:xfrm>
            <a:off x="762000" y="1123950"/>
            <a:ext cx="106680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6" name="Google Shape;156;p17"/>
          <p:cNvGrpSpPr/>
          <p:nvPr/>
        </p:nvGrpSpPr>
        <p:grpSpPr>
          <a:xfrm>
            <a:off x="657225" y="1457325"/>
            <a:ext cx="10201275" cy="4019700"/>
            <a:chOff x="-104775" y="-66675"/>
            <a:chExt cx="10201275" cy="4019700"/>
          </a:xfrm>
        </p:grpSpPr>
        <p:pic>
          <p:nvPicPr>
            <p:cNvPr id="157" name="Google Shape;157;p17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-104775" y="-66675"/>
              <a:ext cx="9248700" cy="4019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8" name="Google Shape;158;p17"/>
            <p:cNvPicPr preferRelativeResize="0"/>
            <p:nvPr/>
          </p:nvPicPr>
          <p:blipFill rotWithShape="1">
            <a:blip r:embed="rId9">
              <a:alphaModFix/>
            </a:blip>
            <a:srcRect b="0" l="3332" r="3332" t="0"/>
            <a:stretch/>
          </p:blipFill>
          <p:spPr>
            <a:xfrm>
              <a:off x="0" y="0"/>
              <a:ext cx="4762500" cy="3810000"/>
            </a:xfrm>
            <a:prstGeom prst="roundRect">
              <a:avLst>
                <a:gd fmla="val 3000" name="adj"/>
              </a:avLst>
            </a:prstGeom>
            <a:noFill/>
            <a:ln>
              <a:noFill/>
            </a:ln>
          </p:spPr>
        </p:pic>
        <p:grpSp>
          <p:nvGrpSpPr>
            <p:cNvPr id="159" name="Google Shape;159;p17"/>
            <p:cNvGrpSpPr/>
            <p:nvPr/>
          </p:nvGrpSpPr>
          <p:grpSpPr>
            <a:xfrm>
              <a:off x="5334000" y="571500"/>
              <a:ext cx="4762500" cy="3185100"/>
              <a:chOff x="0" y="0"/>
              <a:chExt cx="4762500" cy="3185100"/>
            </a:xfrm>
          </p:grpSpPr>
          <p:sp>
            <p:nvSpPr>
              <p:cNvPr id="160" name="Google Shape;160;p17"/>
              <p:cNvSpPr txBox="1"/>
              <p:nvPr/>
            </p:nvSpPr>
            <p:spPr>
              <a:xfrm>
                <a:off x="0" y="0"/>
                <a:ext cx="47625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400">
                    <a:solidFill>
                      <a:srgbClr val="D4A017"/>
                    </a:solidFill>
                    <a:latin typeface="Inter"/>
                    <a:ea typeface="Inter"/>
                    <a:cs typeface="Inter"/>
                    <a:sym typeface="Inter"/>
                  </a:rPr>
                  <a:t>DEFINITION</a:t>
                </a:r>
                <a:endParaRPr b="1" sz="1400">
                  <a:solidFill>
                    <a:srgbClr val="D4A017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61" name="Google Shape;161;p17"/>
              <p:cNvSpPr/>
              <p:nvPr/>
            </p:nvSpPr>
            <p:spPr>
              <a:xfrm>
                <a:off x="0" y="428625"/>
                <a:ext cx="381000" cy="38100"/>
              </a:xfrm>
              <a:prstGeom prst="roundRect">
                <a:avLst>
                  <a:gd fmla="val 50000" name="adj"/>
                </a:avLst>
              </a:prstGeom>
              <a:solidFill>
                <a:srgbClr val="D4A01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7"/>
              <p:cNvSpPr txBox="1"/>
              <p:nvPr/>
            </p:nvSpPr>
            <p:spPr>
              <a:xfrm>
                <a:off x="0" y="762000"/>
                <a:ext cx="4762500" cy="1905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1500"/>
                  </a:spcAft>
                  <a:buNone/>
                </a:pPr>
                <a:r>
                  <a:rPr b="0" i="1" lang="en" sz="2800">
                    <a:solidFill>
                      <a:srgbClr val="1F2937"/>
                    </a:solidFill>
                    <a:latin typeface="Inter Medium"/>
                    <a:ea typeface="Inter Medium"/>
                    <a:cs typeface="Inter Medium"/>
                    <a:sym typeface="Inter Medium"/>
                  </a:rPr>
                  <a:t>“Electronics is the study and use of electrical components to control the flow of current in circuits.”</a:t>
                </a:r>
                <a:endParaRPr b="0" i="1" sz="2800">
                  <a:solidFill>
                    <a:srgbClr val="1F2937"/>
                  </a:solidFill>
                  <a:latin typeface="Inter Medium"/>
                  <a:ea typeface="Inter Medium"/>
                  <a:cs typeface="Inter Medium"/>
                  <a:sym typeface="Inter Medium"/>
                </a:endParaRPr>
              </a:p>
            </p:txBody>
          </p:sp>
          <p:sp>
            <p:nvSpPr>
              <p:cNvPr id="163" name="Google Shape;163;p17"/>
              <p:cNvSpPr txBox="1"/>
              <p:nvPr/>
            </p:nvSpPr>
            <p:spPr>
              <a:xfrm>
                <a:off x="0" y="2613600"/>
                <a:ext cx="47625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200">
                    <a:solidFill>
                      <a:srgbClr val="6B7280"/>
                    </a:solidFill>
                    <a:latin typeface="Inter"/>
                    <a:ea typeface="Inter"/>
                    <a:cs typeface="Inter"/>
                    <a:sym typeface="Inter"/>
                  </a:rPr>
                  <a:t>Foundational concept for Robotics and Automation</a:t>
                </a:r>
                <a:br>
                  <a:rPr lang="en" sz="1200">
                    <a:solidFill>
                      <a:srgbClr val="6B7280"/>
                    </a:solidFill>
                    <a:latin typeface="Inter"/>
                    <a:ea typeface="Inter"/>
                    <a:cs typeface="Inter"/>
                    <a:sym typeface="Inter"/>
                  </a:rPr>
                </a:br>
                <a:r>
                  <a:rPr b="0" lang="en" sz="1200">
                    <a:solidFill>
                      <a:srgbClr val="6B7280"/>
                    </a:solidFill>
                    <a:latin typeface="Inter"/>
                    <a:ea typeface="Inter"/>
                    <a:cs typeface="Inter"/>
                    <a:sym typeface="Inter"/>
                  </a:rPr>
                  <a:t>Systems, enabling precise control of robotic behavior.</a:t>
                </a:r>
                <a:endParaRPr b="0" sz="1200">
                  <a:solidFill>
                    <a:srgbClr val="6B728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0"/>
            <a:ext cx="12192000" cy="5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5981700"/>
            <a:ext cx="10668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8"/>
          <p:cNvPicPr preferRelativeResize="0"/>
          <p:nvPr/>
        </p:nvPicPr>
        <p:blipFill rotWithShape="1">
          <a:blip r:embed="rId7">
            <a:alphaModFix/>
          </a:blip>
          <a:srcRect b="466" l="0" r="0" t="466"/>
          <a:stretch/>
        </p:blipFill>
        <p:spPr>
          <a:xfrm>
            <a:off x="10287000" y="5457825"/>
            <a:ext cx="1524000" cy="1009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8"/>
          <p:cNvSpPr txBox="1"/>
          <p:nvPr/>
        </p:nvSpPr>
        <p:spPr>
          <a:xfrm>
            <a:off x="762000" y="6134100"/>
            <a:ext cx="4762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75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Introduction of Electronics | Robotics and Automation Systems</a:t>
            </a:r>
            <a:endParaRPr b="0" sz="975">
              <a:solidFill>
                <a:srgbClr val="6B728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3" name="Google Shape;173;p18"/>
          <p:cNvSpPr txBox="1"/>
          <p:nvPr/>
        </p:nvSpPr>
        <p:spPr>
          <a:xfrm>
            <a:off x="762000" y="571500"/>
            <a:ext cx="95250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700">
                <a:solidFill>
                  <a:srgbClr val="045A3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Electronics in Daily Life</a:t>
            </a:r>
            <a:endParaRPr b="0" sz="2700">
              <a:solidFill>
                <a:srgbClr val="045A36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74" name="Google Shape;174;p18"/>
          <p:cNvSpPr/>
          <p:nvPr/>
        </p:nvSpPr>
        <p:spPr>
          <a:xfrm>
            <a:off x="762000" y="1123950"/>
            <a:ext cx="106680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5" name="Google Shape;175;p18"/>
          <p:cNvGrpSpPr/>
          <p:nvPr/>
        </p:nvGrpSpPr>
        <p:grpSpPr>
          <a:xfrm>
            <a:off x="762000" y="1524000"/>
            <a:ext cx="4381500" cy="1809900"/>
            <a:chOff x="0" y="0"/>
            <a:chExt cx="4381500" cy="1809900"/>
          </a:xfrm>
        </p:grpSpPr>
        <p:sp>
          <p:nvSpPr>
            <p:cNvPr id="176" name="Google Shape;176;p18"/>
            <p:cNvSpPr txBox="1"/>
            <p:nvPr/>
          </p:nvSpPr>
          <p:spPr>
            <a:xfrm>
              <a:off x="0" y="0"/>
              <a:ext cx="4381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Everyday applications include:</a:t>
              </a:r>
              <a:endParaRPr b="0" sz="15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77" name="Google Shape;177;p18"/>
            <p:cNvGrpSpPr/>
            <p:nvPr/>
          </p:nvGrpSpPr>
          <p:grpSpPr>
            <a:xfrm>
              <a:off x="0" y="571500"/>
              <a:ext cx="4286100" cy="1238400"/>
              <a:chOff x="0" y="0"/>
              <a:chExt cx="4286100" cy="1238400"/>
            </a:xfrm>
          </p:grpSpPr>
          <p:grpSp>
            <p:nvGrpSpPr>
              <p:cNvPr id="178" name="Google Shape;178;p18"/>
              <p:cNvGrpSpPr/>
              <p:nvPr/>
            </p:nvGrpSpPr>
            <p:grpSpPr>
              <a:xfrm>
                <a:off x="0" y="0"/>
                <a:ext cx="2095350" cy="285900"/>
                <a:chOff x="0" y="0"/>
                <a:chExt cx="2095350" cy="285900"/>
              </a:xfrm>
            </p:grpSpPr>
            <p:pic>
              <p:nvPicPr>
                <p:cNvPr id="179" name="Google Shape;179;p18"/>
                <p:cNvPicPr preferRelativeResize="0"/>
                <p:nvPr/>
              </p:nvPicPr>
              <p:blipFill rotWithShape="1">
                <a:blip r:embed="rId8">
                  <a:alphaModFix/>
                </a:blip>
                <a:srcRect b="0" l="10882" r="10889" t="0"/>
                <a:stretch/>
              </p:blipFill>
              <p:spPr>
                <a:xfrm>
                  <a:off x="0" y="19050"/>
                  <a:ext cx="190500" cy="2001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80" name="Google Shape;180;p18"/>
                <p:cNvSpPr txBox="1"/>
                <p:nvPr/>
              </p:nvSpPr>
              <p:spPr>
                <a:xfrm>
                  <a:off x="285750" y="0"/>
                  <a:ext cx="1809600" cy="285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" sz="1275">
                      <a:solidFill>
                        <a:srgbClr val="1F2937"/>
                      </a:solidFill>
                      <a:latin typeface="Inter Medium"/>
                      <a:ea typeface="Inter Medium"/>
                      <a:cs typeface="Inter Medium"/>
                      <a:sym typeface="Inter Medium"/>
                    </a:rPr>
                    <a:t>Mobile phones</a:t>
                  </a:r>
                  <a:endParaRPr b="0" sz="1275">
                    <a:solidFill>
                      <a:srgbClr val="1F2937"/>
                    </a:solidFill>
                    <a:latin typeface="Inter Medium"/>
                    <a:ea typeface="Inter Medium"/>
                    <a:cs typeface="Inter Medium"/>
                    <a:sym typeface="Inter Medium"/>
                  </a:endParaRPr>
                </a:p>
              </p:txBody>
            </p:sp>
          </p:grpSp>
          <p:grpSp>
            <p:nvGrpSpPr>
              <p:cNvPr id="181" name="Google Shape;181;p18"/>
              <p:cNvGrpSpPr/>
              <p:nvPr/>
            </p:nvGrpSpPr>
            <p:grpSpPr>
              <a:xfrm>
                <a:off x="2190750" y="0"/>
                <a:ext cx="2095350" cy="285900"/>
                <a:chOff x="0" y="0"/>
                <a:chExt cx="2095350" cy="285900"/>
              </a:xfrm>
            </p:grpSpPr>
            <p:pic>
              <p:nvPicPr>
                <p:cNvPr id="182" name="Google Shape;182;p18"/>
                <p:cNvPicPr preferRelativeResize="0"/>
                <p:nvPr/>
              </p:nvPicPr>
              <p:blipFill rotWithShape="1">
                <a:blip r:embed="rId8">
                  <a:alphaModFix/>
                </a:blip>
                <a:srcRect b="0" l="10882" r="10889" t="0"/>
                <a:stretch/>
              </p:blipFill>
              <p:spPr>
                <a:xfrm>
                  <a:off x="0" y="19050"/>
                  <a:ext cx="190500" cy="2001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83" name="Google Shape;183;p18"/>
                <p:cNvSpPr txBox="1"/>
                <p:nvPr/>
              </p:nvSpPr>
              <p:spPr>
                <a:xfrm>
                  <a:off x="285750" y="0"/>
                  <a:ext cx="1809600" cy="285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" sz="1275">
                      <a:solidFill>
                        <a:srgbClr val="1F2937"/>
                      </a:solidFill>
                      <a:latin typeface="Inter Medium"/>
                      <a:ea typeface="Inter Medium"/>
                      <a:cs typeface="Inter Medium"/>
                      <a:sym typeface="Inter Medium"/>
                    </a:rPr>
                    <a:t>Televisions</a:t>
                  </a:r>
                  <a:endParaRPr b="0" sz="1275">
                    <a:solidFill>
                      <a:srgbClr val="1F2937"/>
                    </a:solidFill>
                    <a:latin typeface="Inter Medium"/>
                    <a:ea typeface="Inter Medium"/>
                    <a:cs typeface="Inter Medium"/>
                    <a:sym typeface="Inter Medium"/>
                  </a:endParaRPr>
                </a:p>
              </p:txBody>
            </p:sp>
          </p:grpSp>
          <p:grpSp>
            <p:nvGrpSpPr>
              <p:cNvPr id="184" name="Google Shape;184;p18"/>
              <p:cNvGrpSpPr/>
              <p:nvPr/>
            </p:nvGrpSpPr>
            <p:grpSpPr>
              <a:xfrm>
                <a:off x="0" y="476250"/>
                <a:ext cx="2095350" cy="285900"/>
                <a:chOff x="0" y="0"/>
                <a:chExt cx="2095350" cy="285900"/>
              </a:xfrm>
            </p:grpSpPr>
            <p:pic>
              <p:nvPicPr>
                <p:cNvPr id="185" name="Google Shape;185;p18"/>
                <p:cNvPicPr preferRelativeResize="0"/>
                <p:nvPr/>
              </p:nvPicPr>
              <p:blipFill rotWithShape="1">
                <a:blip r:embed="rId8">
                  <a:alphaModFix/>
                </a:blip>
                <a:srcRect b="0" l="10882" r="10889" t="0"/>
                <a:stretch/>
              </p:blipFill>
              <p:spPr>
                <a:xfrm>
                  <a:off x="0" y="19050"/>
                  <a:ext cx="190500" cy="2001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86" name="Google Shape;186;p18"/>
                <p:cNvSpPr txBox="1"/>
                <p:nvPr/>
              </p:nvSpPr>
              <p:spPr>
                <a:xfrm>
                  <a:off x="285750" y="0"/>
                  <a:ext cx="1809600" cy="285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" sz="1275">
                      <a:solidFill>
                        <a:srgbClr val="1F2937"/>
                      </a:solidFill>
                      <a:latin typeface="Inter Medium"/>
                      <a:ea typeface="Inter Medium"/>
                      <a:cs typeface="Inter Medium"/>
                      <a:sym typeface="Inter Medium"/>
                    </a:rPr>
                    <a:t>Computers</a:t>
                  </a:r>
                  <a:endParaRPr b="0" sz="1275">
                    <a:solidFill>
                      <a:srgbClr val="1F2937"/>
                    </a:solidFill>
                    <a:latin typeface="Inter Medium"/>
                    <a:ea typeface="Inter Medium"/>
                    <a:cs typeface="Inter Medium"/>
                    <a:sym typeface="Inter Medium"/>
                  </a:endParaRPr>
                </a:p>
              </p:txBody>
            </p:sp>
          </p:grpSp>
          <p:grpSp>
            <p:nvGrpSpPr>
              <p:cNvPr id="187" name="Google Shape;187;p18"/>
              <p:cNvGrpSpPr/>
              <p:nvPr/>
            </p:nvGrpSpPr>
            <p:grpSpPr>
              <a:xfrm>
                <a:off x="2190750" y="476250"/>
                <a:ext cx="2095350" cy="285900"/>
                <a:chOff x="0" y="0"/>
                <a:chExt cx="2095350" cy="285900"/>
              </a:xfrm>
            </p:grpSpPr>
            <p:pic>
              <p:nvPicPr>
                <p:cNvPr id="188" name="Google Shape;188;p18"/>
                <p:cNvPicPr preferRelativeResize="0"/>
                <p:nvPr/>
              </p:nvPicPr>
              <p:blipFill rotWithShape="1">
                <a:blip r:embed="rId8">
                  <a:alphaModFix/>
                </a:blip>
                <a:srcRect b="0" l="10882" r="10889" t="0"/>
                <a:stretch/>
              </p:blipFill>
              <p:spPr>
                <a:xfrm>
                  <a:off x="0" y="19050"/>
                  <a:ext cx="190500" cy="2001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89" name="Google Shape;189;p18"/>
                <p:cNvSpPr txBox="1"/>
                <p:nvPr/>
              </p:nvSpPr>
              <p:spPr>
                <a:xfrm>
                  <a:off x="285750" y="0"/>
                  <a:ext cx="1809600" cy="285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" sz="1275">
                      <a:solidFill>
                        <a:srgbClr val="1F2937"/>
                      </a:solidFill>
                      <a:latin typeface="Inter Medium"/>
                      <a:ea typeface="Inter Medium"/>
                      <a:cs typeface="Inter Medium"/>
                      <a:sym typeface="Inter Medium"/>
                    </a:rPr>
                    <a:t>Sensors</a:t>
                  </a:r>
                  <a:endParaRPr b="0" sz="1275">
                    <a:solidFill>
                      <a:srgbClr val="1F2937"/>
                    </a:solidFill>
                    <a:latin typeface="Inter Medium"/>
                    <a:ea typeface="Inter Medium"/>
                    <a:cs typeface="Inter Medium"/>
                    <a:sym typeface="Inter Medium"/>
                  </a:endParaRPr>
                </a:p>
              </p:txBody>
            </p:sp>
          </p:grpSp>
          <p:grpSp>
            <p:nvGrpSpPr>
              <p:cNvPr id="190" name="Google Shape;190;p18"/>
              <p:cNvGrpSpPr/>
              <p:nvPr/>
            </p:nvGrpSpPr>
            <p:grpSpPr>
              <a:xfrm>
                <a:off x="0" y="952500"/>
                <a:ext cx="2095350" cy="285900"/>
                <a:chOff x="0" y="0"/>
                <a:chExt cx="2095350" cy="285900"/>
              </a:xfrm>
            </p:grpSpPr>
            <p:pic>
              <p:nvPicPr>
                <p:cNvPr id="191" name="Google Shape;191;p18"/>
                <p:cNvPicPr preferRelativeResize="0"/>
                <p:nvPr/>
              </p:nvPicPr>
              <p:blipFill rotWithShape="1">
                <a:blip r:embed="rId8">
                  <a:alphaModFix/>
                </a:blip>
                <a:srcRect b="0" l="10882" r="10889" t="0"/>
                <a:stretch/>
              </p:blipFill>
              <p:spPr>
                <a:xfrm>
                  <a:off x="0" y="19050"/>
                  <a:ext cx="190500" cy="2001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92" name="Google Shape;192;p18"/>
                <p:cNvSpPr txBox="1"/>
                <p:nvPr/>
              </p:nvSpPr>
              <p:spPr>
                <a:xfrm>
                  <a:off x="285750" y="0"/>
                  <a:ext cx="1809600" cy="285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" sz="1275">
                      <a:solidFill>
                        <a:srgbClr val="1F2937"/>
                      </a:solidFill>
                      <a:latin typeface="Inter Medium"/>
                      <a:ea typeface="Inter Medium"/>
                      <a:cs typeface="Inter Medium"/>
                      <a:sym typeface="Inter Medium"/>
                    </a:rPr>
                    <a:t>Robots</a:t>
                  </a:r>
                  <a:endParaRPr b="0" sz="1275">
                    <a:solidFill>
                      <a:srgbClr val="1F2937"/>
                    </a:solidFill>
                    <a:latin typeface="Inter Medium"/>
                    <a:ea typeface="Inter Medium"/>
                    <a:cs typeface="Inter Medium"/>
                    <a:sym typeface="Inter Medium"/>
                  </a:endParaRPr>
                </a:p>
              </p:txBody>
            </p:sp>
          </p:grpSp>
          <p:grpSp>
            <p:nvGrpSpPr>
              <p:cNvPr id="193" name="Google Shape;193;p18"/>
              <p:cNvGrpSpPr/>
              <p:nvPr/>
            </p:nvGrpSpPr>
            <p:grpSpPr>
              <a:xfrm>
                <a:off x="2190750" y="952500"/>
                <a:ext cx="2095350" cy="285900"/>
                <a:chOff x="0" y="0"/>
                <a:chExt cx="2095350" cy="285900"/>
              </a:xfrm>
            </p:grpSpPr>
            <p:pic>
              <p:nvPicPr>
                <p:cNvPr id="194" name="Google Shape;194;p18"/>
                <p:cNvPicPr preferRelativeResize="0"/>
                <p:nvPr/>
              </p:nvPicPr>
              <p:blipFill rotWithShape="1">
                <a:blip r:embed="rId8">
                  <a:alphaModFix/>
                </a:blip>
                <a:srcRect b="0" l="10882" r="10889" t="0"/>
                <a:stretch/>
              </p:blipFill>
              <p:spPr>
                <a:xfrm>
                  <a:off x="0" y="19050"/>
                  <a:ext cx="190500" cy="2001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95" name="Google Shape;195;p18"/>
                <p:cNvSpPr txBox="1"/>
                <p:nvPr/>
              </p:nvSpPr>
              <p:spPr>
                <a:xfrm>
                  <a:off x="285750" y="0"/>
                  <a:ext cx="1809600" cy="285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" sz="1275">
                      <a:solidFill>
                        <a:srgbClr val="1F2937"/>
                      </a:solidFill>
                      <a:latin typeface="Inter Medium"/>
                      <a:ea typeface="Inter Medium"/>
                      <a:cs typeface="Inter Medium"/>
                      <a:sym typeface="Inter Medium"/>
                    </a:rPr>
                    <a:t>Automation machines</a:t>
                  </a:r>
                  <a:endParaRPr b="0" sz="1275">
                    <a:solidFill>
                      <a:srgbClr val="1F2937"/>
                    </a:solidFill>
                    <a:latin typeface="Inter Medium"/>
                    <a:ea typeface="Inter Medium"/>
                    <a:cs typeface="Inter Medium"/>
                    <a:sym typeface="Inter Medium"/>
                  </a:endParaRPr>
                </a:p>
              </p:txBody>
            </p:sp>
          </p:grpSp>
        </p:grpSp>
      </p:grpSp>
      <p:grpSp>
        <p:nvGrpSpPr>
          <p:cNvPr id="196" name="Google Shape;196;p18"/>
          <p:cNvGrpSpPr/>
          <p:nvPr/>
        </p:nvGrpSpPr>
        <p:grpSpPr>
          <a:xfrm>
            <a:off x="5429250" y="1428750"/>
            <a:ext cx="6000900" cy="3743325"/>
            <a:chOff x="-95250" y="-95250"/>
            <a:chExt cx="6000900" cy="3743325"/>
          </a:xfrm>
        </p:grpSpPr>
        <p:sp>
          <p:nvSpPr>
            <p:cNvPr id="197" name="Google Shape;197;p18"/>
            <p:cNvSpPr/>
            <p:nvPr/>
          </p:nvSpPr>
          <p:spPr>
            <a:xfrm>
              <a:off x="-95250" y="-95250"/>
              <a:ext cx="6000900" cy="3429000"/>
            </a:xfrm>
            <a:prstGeom prst="rect">
              <a:avLst/>
            </a:prstGeom>
            <a:solidFill>
              <a:srgbClr val="D4A017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98" name="Google Shape;198;p18"/>
            <p:cNvPicPr preferRelativeResize="0"/>
            <p:nvPr/>
          </p:nvPicPr>
          <p:blipFill rotWithShape="1">
            <a:blip r:embed="rId9">
              <a:alphaModFix/>
            </a:blip>
            <a:srcRect b="20" l="0" r="0" t="20"/>
            <a:stretch/>
          </p:blipFill>
          <p:spPr>
            <a:xfrm>
              <a:off x="0" y="0"/>
              <a:ext cx="5810400" cy="3267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9" name="Google Shape;199;p18"/>
            <p:cNvSpPr/>
            <p:nvPr/>
          </p:nvSpPr>
          <p:spPr>
            <a:xfrm>
              <a:off x="0" y="3267075"/>
              <a:ext cx="5810400" cy="381000"/>
            </a:xfrm>
            <a:prstGeom prst="rect">
              <a:avLst/>
            </a:prstGeom>
            <a:solidFill>
              <a:srgbClr val="045A3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18"/>
            <p:cNvSpPr txBox="1"/>
            <p:nvPr/>
          </p:nvSpPr>
          <p:spPr>
            <a:xfrm>
              <a:off x="190500" y="3267075"/>
              <a:ext cx="5429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10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Integrated Electronics: From Mobile Code to Robotic Execution</a:t>
              </a:r>
              <a:endParaRPr b="0" sz="110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0"/>
            <a:ext cx="12192000" cy="5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5981700"/>
            <a:ext cx="10668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19"/>
          <p:cNvPicPr preferRelativeResize="0"/>
          <p:nvPr/>
        </p:nvPicPr>
        <p:blipFill rotWithShape="1">
          <a:blip r:embed="rId7">
            <a:alphaModFix/>
          </a:blip>
          <a:srcRect b="466" l="0" r="0" t="466"/>
          <a:stretch/>
        </p:blipFill>
        <p:spPr>
          <a:xfrm>
            <a:off x="10287000" y="5457825"/>
            <a:ext cx="1524000" cy="10098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9"/>
          <p:cNvSpPr txBox="1"/>
          <p:nvPr/>
        </p:nvSpPr>
        <p:spPr>
          <a:xfrm>
            <a:off x="762000" y="6134100"/>
            <a:ext cx="4762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75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Introduction of Electronics | Robotics and Automation Systems</a:t>
            </a:r>
            <a:endParaRPr b="0" sz="975">
              <a:solidFill>
                <a:srgbClr val="6B728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0" name="Google Shape;210;p19"/>
          <p:cNvSpPr txBox="1"/>
          <p:nvPr/>
        </p:nvSpPr>
        <p:spPr>
          <a:xfrm>
            <a:off x="762000" y="571500"/>
            <a:ext cx="95250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700">
                <a:solidFill>
                  <a:srgbClr val="045A3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Why Electronics is Used in Robotics</a:t>
            </a:r>
            <a:endParaRPr b="0" sz="2700">
              <a:solidFill>
                <a:srgbClr val="045A36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211" name="Google Shape;211;p19"/>
          <p:cNvSpPr/>
          <p:nvPr/>
        </p:nvSpPr>
        <p:spPr>
          <a:xfrm>
            <a:off x="762000" y="1123950"/>
            <a:ext cx="106680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9"/>
          <p:cNvSpPr txBox="1"/>
          <p:nvPr/>
        </p:nvSpPr>
        <p:spPr>
          <a:xfrm>
            <a:off x="762000" y="1333500"/>
            <a:ext cx="10668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5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Electronics form the </a:t>
            </a:r>
            <a:r>
              <a:rPr b="1" lang="en" sz="1500">
                <a:solidFill>
                  <a:srgbClr val="045A36"/>
                </a:solidFill>
                <a:latin typeface="Inter"/>
                <a:ea typeface="Inter"/>
                <a:cs typeface="Inter"/>
                <a:sym typeface="Inter"/>
              </a:rPr>
              <a:t>nervous system</a:t>
            </a:r>
            <a:r>
              <a:rPr b="0" lang="en" sz="15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of a robot:</a:t>
            </a:r>
            <a:endParaRPr b="0" sz="1500">
              <a:solidFill>
                <a:srgbClr val="37415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13" name="Google Shape;213;p19"/>
          <p:cNvGrpSpPr/>
          <p:nvPr/>
        </p:nvGrpSpPr>
        <p:grpSpPr>
          <a:xfrm>
            <a:off x="4667250" y="2476500"/>
            <a:ext cx="2857500" cy="3333750"/>
            <a:chOff x="0" y="0"/>
            <a:chExt cx="2857500" cy="3333750"/>
          </a:xfrm>
        </p:grpSpPr>
        <p:sp>
          <p:nvSpPr>
            <p:cNvPr id="214" name="Google Shape;214;p19"/>
            <p:cNvSpPr/>
            <p:nvPr/>
          </p:nvSpPr>
          <p:spPr>
            <a:xfrm>
              <a:off x="0" y="0"/>
              <a:ext cx="2857500" cy="2857500"/>
            </a:xfrm>
            <a:prstGeom prst="roundRect">
              <a:avLst>
                <a:gd fmla="val 50000" name="adj"/>
              </a:avLst>
            </a:prstGeom>
            <a:solidFill>
              <a:srgbClr val="FFFFFF">
                <a:alpha val="8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15" name="Google Shape;215;p19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238125" y="238125"/>
              <a:ext cx="2381400" cy="2381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6" name="Google Shape;216;p19"/>
            <p:cNvSpPr/>
            <p:nvPr/>
          </p:nvSpPr>
          <p:spPr>
            <a:xfrm>
              <a:off x="476250" y="2952750"/>
              <a:ext cx="1905000" cy="381000"/>
            </a:xfrm>
            <a:prstGeom prst="roundRect">
              <a:avLst>
                <a:gd fmla="val 50000" name="adj"/>
              </a:avLst>
            </a:prstGeom>
            <a:solidFill>
              <a:srgbClr val="045A3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19"/>
            <p:cNvSpPr txBox="1"/>
            <p:nvPr/>
          </p:nvSpPr>
          <p:spPr>
            <a:xfrm>
              <a:off x="476250" y="2952750"/>
              <a:ext cx="1905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FFFFFF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ROBOT BRAIN</a:t>
              </a:r>
              <a:endParaRPr b="0" sz="130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218" name="Google Shape;218;p19"/>
          <p:cNvGrpSpPr/>
          <p:nvPr/>
        </p:nvGrpSpPr>
        <p:grpSpPr>
          <a:xfrm>
            <a:off x="1428750" y="2095500"/>
            <a:ext cx="3319538" cy="957225"/>
            <a:chOff x="0" y="0"/>
            <a:chExt cx="3319538" cy="957225"/>
          </a:xfrm>
        </p:grpSpPr>
        <p:pic>
          <p:nvPicPr>
            <p:cNvPr id="219" name="Google Shape;219;p19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1709738" y="466725"/>
              <a:ext cx="1609800" cy="490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0" name="Google Shape;220;p19"/>
            <p:cNvSpPr/>
            <p:nvPr/>
          </p:nvSpPr>
          <p:spPr>
            <a:xfrm>
              <a:off x="0" y="0"/>
              <a:ext cx="1714500" cy="7620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19"/>
            <p:cNvSpPr txBox="1"/>
            <p:nvPr/>
          </p:nvSpPr>
          <p:spPr>
            <a:xfrm>
              <a:off x="95250" y="95250"/>
              <a:ext cx="1524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Controls Robot Movement</a:t>
              </a:r>
              <a:endParaRPr b="0" sz="1200">
                <a:solidFill>
                  <a:srgbClr val="1F293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222" name="Google Shape;222;p19"/>
          <p:cNvGrpSpPr/>
          <p:nvPr/>
        </p:nvGrpSpPr>
        <p:grpSpPr>
          <a:xfrm>
            <a:off x="1428750" y="3429000"/>
            <a:ext cx="3190800" cy="762000"/>
            <a:chOff x="0" y="0"/>
            <a:chExt cx="3190800" cy="762000"/>
          </a:xfrm>
        </p:grpSpPr>
        <p:pic>
          <p:nvPicPr>
            <p:cNvPr id="223" name="Google Shape;223;p19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1714500" y="371475"/>
              <a:ext cx="1476300" cy="19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4" name="Google Shape;224;p19"/>
            <p:cNvSpPr/>
            <p:nvPr/>
          </p:nvSpPr>
          <p:spPr>
            <a:xfrm>
              <a:off x="0" y="0"/>
              <a:ext cx="1714500" cy="7620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19"/>
            <p:cNvSpPr txBox="1"/>
            <p:nvPr/>
          </p:nvSpPr>
          <p:spPr>
            <a:xfrm>
              <a:off x="95250" y="95250"/>
              <a:ext cx="1524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Reads Sensor Data</a:t>
              </a:r>
              <a:endParaRPr b="0" sz="1200">
                <a:solidFill>
                  <a:srgbClr val="1F293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226" name="Google Shape;226;p19"/>
          <p:cNvGrpSpPr/>
          <p:nvPr/>
        </p:nvGrpSpPr>
        <p:grpSpPr>
          <a:xfrm>
            <a:off x="1428750" y="4567238"/>
            <a:ext cx="3319538" cy="957263"/>
            <a:chOff x="0" y="-195262"/>
            <a:chExt cx="3319538" cy="957263"/>
          </a:xfrm>
        </p:grpSpPr>
        <p:pic>
          <p:nvPicPr>
            <p:cNvPr id="227" name="Google Shape;227;p19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1709738" y="-195262"/>
              <a:ext cx="1609800" cy="490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8" name="Google Shape;228;p19"/>
            <p:cNvSpPr/>
            <p:nvPr/>
          </p:nvSpPr>
          <p:spPr>
            <a:xfrm>
              <a:off x="0" y="0"/>
              <a:ext cx="1714500" cy="7620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19"/>
            <p:cNvSpPr txBox="1"/>
            <p:nvPr/>
          </p:nvSpPr>
          <p:spPr>
            <a:xfrm>
              <a:off x="95250" y="95250"/>
              <a:ext cx="1524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Powers Motors</a:t>
              </a:r>
              <a:endParaRPr b="0" sz="1200">
                <a:solidFill>
                  <a:srgbClr val="1F293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230" name="Google Shape;230;p19"/>
          <p:cNvGrpSpPr/>
          <p:nvPr/>
        </p:nvGrpSpPr>
        <p:grpSpPr>
          <a:xfrm>
            <a:off x="7519988" y="2381250"/>
            <a:ext cx="3433763" cy="762000"/>
            <a:chOff x="-1528762" y="0"/>
            <a:chExt cx="3433763" cy="762000"/>
          </a:xfrm>
        </p:grpSpPr>
        <p:pic>
          <p:nvPicPr>
            <p:cNvPr id="231" name="Google Shape;231;p19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-1528762" y="371475"/>
              <a:ext cx="1533600" cy="304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2" name="Google Shape;232;p19"/>
            <p:cNvSpPr/>
            <p:nvPr/>
          </p:nvSpPr>
          <p:spPr>
            <a:xfrm>
              <a:off x="0" y="0"/>
              <a:ext cx="1905000" cy="7620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19"/>
            <p:cNvSpPr txBox="1"/>
            <p:nvPr/>
          </p:nvSpPr>
          <p:spPr>
            <a:xfrm>
              <a:off x="95250" y="95250"/>
              <a:ext cx="1714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Sends and Receives Signals</a:t>
              </a:r>
              <a:endParaRPr b="0" sz="1200">
                <a:solidFill>
                  <a:srgbClr val="1F293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234" name="Google Shape;234;p19"/>
          <p:cNvGrpSpPr/>
          <p:nvPr/>
        </p:nvGrpSpPr>
        <p:grpSpPr>
          <a:xfrm>
            <a:off x="7515225" y="3419475"/>
            <a:ext cx="3438525" cy="1438275"/>
            <a:chOff x="-1533525" y="-676275"/>
            <a:chExt cx="3438525" cy="1438275"/>
          </a:xfrm>
        </p:grpSpPr>
        <p:pic>
          <p:nvPicPr>
            <p:cNvPr id="235" name="Google Shape;235;p19"/>
            <p:cNvPicPr preferRelativeResize="0"/>
            <p:nvPr/>
          </p:nvPicPr>
          <p:blipFill rotWithShape="1">
            <a:blip r:embed="rId13">
              <a:alphaModFix/>
            </a:blip>
            <a:srcRect b="0" l="0" r="0" t="0"/>
            <a:stretch/>
          </p:blipFill>
          <p:spPr>
            <a:xfrm>
              <a:off x="-1533525" y="-676275"/>
              <a:ext cx="1538400" cy="1066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6" name="Google Shape;236;p19"/>
            <p:cNvSpPr/>
            <p:nvPr/>
          </p:nvSpPr>
          <p:spPr>
            <a:xfrm>
              <a:off x="0" y="0"/>
              <a:ext cx="1905000" cy="7620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19"/>
            <p:cNvSpPr txBox="1"/>
            <p:nvPr/>
          </p:nvSpPr>
          <p:spPr>
            <a:xfrm>
              <a:off x="95250" y="95250"/>
              <a:ext cx="1714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Makes Automation Possible</a:t>
              </a:r>
              <a:endParaRPr b="0" sz="1200">
                <a:solidFill>
                  <a:srgbClr val="1F293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2" name="Google Shape;242;p20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43" name="Google Shape;243;p2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44" name="Google Shape;244;p2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5" name="Google Shape;245;p2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0"/>
              <a:ext cx="12192000" cy="57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6" name="Google Shape;246;p2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62000" y="5981700"/>
              <a:ext cx="10668000" cy="304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7" name="Google Shape;247;p20"/>
            <p:cNvPicPr preferRelativeResize="0"/>
            <p:nvPr/>
          </p:nvPicPr>
          <p:blipFill rotWithShape="1">
            <a:blip r:embed="rId6">
              <a:alphaModFix/>
            </a:blip>
            <a:srcRect b="466" l="0" r="0" t="466"/>
            <a:stretch/>
          </p:blipFill>
          <p:spPr>
            <a:xfrm>
              <a:off x="10287000" y="5457825"/>
              <a:ext cx="1524000" cy="1009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20"/>
            <p:cNvSpPr txBox="1"/>
            <p:nvPr/>
          </p:nvSpPr>
          <p:spPr>
            <a:xfrm>
              <a:off x="762000" y="6134100"/>
              <a:ext cx="4762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75">
                  <a:solidFill>
                    <a:srgbClr val="6B7280"/>
                  </a:solidFill>
                  <a:latin typeface="Inter"/>
                  <a:ea typeface="Inter"/>
                  <a:cs typeface="Inter"/>
                  <a:sym typeface="Inter"/>
                </a:rPr>
                <a:t>Introduction of Electronics | Robotics and Automation Systems</a:t>
              </a:r>
              <a:endParaRPr b="0" sz="975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49" name="Google Shape;249;p20"/>
            <p:cNvSpPr txBox="1"/>
            <p:nvPr/>
          </p:nvSpPr>
          <p:spPr>
            <a:xfrm>
              <a:off x="762000" y="571500"/>
              <a:ext cx="95250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700">
                  <a:solidFill>
                    <a:srgbClr val="045A36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Electronics and Robotics Connection</a:t>
              </a:r>
              <a:endParaRPr b="0" sz="2700">
                <a:solidFill>
                  <a:srgbClr val="045A36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250" name="Google Shape;250;p20"/>
            <p:cNvSpPr/>
            <p:nvPr/>
          </p:nvSpPr>
          <p:spPr>
            <a:xfrm>
              <a:off x="762000" y="1123950"/>
              <a:ext cx="10668000" cy="1920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1" name="Google Shape;251;p20"/>
          <p:cNvGrpSpPr/>
          <p:nvPr/>
        </p:nvGrpSpPr>
        <p:grpSpPr>
          <a:xfrm>
            <a:off x="604838" y="2166938"/>
            <a:ext cx="3552900" cy="3171900"/>
            <a:chOff x="-157162" y="-119062"/>
            <a:chExt cx="3552900" cy="3171900"/>
          </a:xfrm>
        </p:grpSpPr>
        <p:pic>
          <p:nvPicPr>
            <p:cNvPr id="252" name="Google Shape;252;p20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-157162" y="-119062"/>
              <a:ext cx="3552900" cy="3171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3" name="Google Shape;253;p20"/>
            <p:cNvSpPr/>
            <p:nvPr/>
          </p:nvSpPr>
          <p:spPr>
            <a:xfrm>
              <a:off x="0" y="0"/>
              <a:ext cx="3238500" cy="95400"/>
            </a:xfrm>
            <a:prstGeom prst="roundRect">
              <a:avLst>
                <a:gd fmla="val 20000" name="adj"/>
              </a:avLst>
            </a:prstGeom>
            <a:solidFill>
              <a:srgbClr val="045A3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20"/>
            <p:cNvSpPr txBox="1"/>
            <p:nvPr/>
          </p:nvSpPr>
          <p:spPr>
            <a:xfrm>
              <a:off x="190500" y="285750"/>
              <a:ext cx="2857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50">
                  <a:solidFill>
                    <a:srgbClr val="045A36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INPUT</a:t>
              </a:r>
              <a:endParaRPr b="1" sz="1650">
                <a:solidFill>
                  <a:srgbClr val="045A36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55" name="Google Shape;255;p20"/>
            <p:cNvSpPr/>
            <p:nvPr/>
          </p:nvSpPr>
          <p:spPr>
            <a:xfrm>
              <a:off x="1238250" y="714375"/>
              <a:ext cx="762000" cy="19200"/>
            </a:xfrm>
            <a:prstGeom prst="rect">
              <a:avLst/>
            </a:prstGeom>
            <a:solidFill>
              <a:srgbClr val="D4A01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20"/>
            <p:cNvSpPr txBox="1"/>
            <p:nvPr/>
          </p:nvSpPr>
          <p:spPr>
            <a:xfrm>
              <a:off x="0" y="909828"/>
              <a:ext cx="3238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>
                  <a:solidFill>
                    <a:srgbClr val="045A3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sensors</a:t>
              </a:r>
              <a:endParaRPr sz="3600">
                <a:solidFill>
                  <a:srgbClr val="045A3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57" name="Google Shape;257;p20"/>
            <p:cNvSpPr txBox="1"/>
            <p:nvPr/>
          </p:nvSpPr>
          <p:spPr>
            <a:xfrm>
              <a:off x="285750" y="1714500"/>
              <a:ext cx="26670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Sensors give input data from the environment.</a:t>
              </a:r>
              <a:endParaRPr b="0" sz="15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58" name="Google Shape;258;p20"/>
          <p:cNvGrpSpPr/>
          <p:nvPr/>
        </p:nvGrpSpPr>
        <p:grpSpPr>
          <a:xfrm>
            <a:off x="4319588" y="2166938"/>
            <a:ext cx="3552900" cy="3171900"/>
            <a:chOff x="-157162" y="-119062"/>
            <a:chExt cx="3552900" cy="3171900"/>
          </a:xfrm>
        </p:grpSpPr>
        <p:pic>
          <p:nvPicPr>
            <p:cNvPr id="259" name="Google Shape;259;p20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-157162" y="-119062"/>
              <a:ext cx="3552900" cy="3171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0" name="Google Shape;260;p20"/>
            <p:cNvSpPr/>
            <p:nvPr/>
          </p:nvSpPr>
          <p:spPr>
            <a:xfrm>
              <a:off x="0" y="0"/>
              <a:ext cx="3238500" cy="95400"/>
            </a:xfrm>
            <a:prstGeom prst="roundRect">
              <a:avLst>
                <a:gd fmla="val 20000" name="adj"/>
              </a:avLst>
            </a:prstGeom>
            <a:solidFill>
              <a:srgbClr val="0B7A4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20"/>
            <p:cNvSpPr txBox="1"/>
            <p:nvPr/>
          </p:nvSpPr>
          <p:spPr>
            <a:xfrm>
              <a:off x="190500" y="285750"/>
              <a:ext cx="2857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50">
                  <a:solidFill>
                    <a:srgbClr val="045A36"/>
                  </a:solidFill>
                  <a:latin typeface="Montserrat"/>
                  <a:ea typeface="Montserrat"/>
                  <a:cs typeface="Montserrat"/>
                  <a:sym typeface="Montserrat"/>
                </a:rPr>
                <a:t>PROCESS</a:t>
              </a:r>
              <a:endParaRPr b="1" sz="1650">
                <a:solidFill>
                  <a:srgbClr val="045A36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62" name="Google Shape;262;p20"/>
            <p:cNvSpPr/>
            <p:nvPr/>
          </p:nvSpPr>
          <p:spPr>
            <a:xfrm>
              <a:off x="1238250" y="714375"/>
              <a:ext cx="762000" cy="19200"/>
            </a:xfrm>
            <a:prstGeom prst="rect">
              <a:avLst/>
            </a:prstGeom>
            <a:solidFill>
              <a:srgbClr val="D4A01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20"/>
            <p:cNvSpPr txBox="1"/>
            <p:nvPr/>
          </p:nvSpPr>
          <p:spPr>
            <a:xfrm>
              <a:off x="0" y="909828"/>
              <a:ext cx="3238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>
                  <a:solidFill>
                    <a:srgbClr val="0B7A4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memory</a:t>
              </a:r>
              <a:endParaRPr sz="3600">
                <a:solidFill>
                  <a:srgbClr val="0B7A4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64" name="Google Shape;264;p20"/>
            <p:cNvSpPr txBox="1"/>
            <p:nvPr/>
          </p:nvSpPr>
          <p:spPr>
            <a:xfrm>
              <a:off x="285750" y="1714500"/>
              <a:ext cx="26670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The Controller processes the data.</a:t>
              </a:r>
              <a:endParaRPr b="0" sz="15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265" name="Google Shape;265;p20"/>
          <p:cNvGrpSpPr/>
          <p:nvPr/>
        </p:nvGrpSpPr>
        <p:grpSpPr>
          <a:xfrm>
            <a:off x="8034338" y="2166938"/>
            <a:ext cx="3552900" cy="3171900"/>
            <a:chOff x="-157162" y="-119062"/>
            <a:chExt cx="3552900" cy="3171900"/>
          </a:xfrm>
        </p:grpSpPr>
        <p:pic>
          <p:nvPicPr>
            <p:cNvPr id="266" name="Google Shape;266;p20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-157162" y="-119062"/>
              <a:ext cx="3552900" cy="3171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7" name="Google Shape;267;p20"/>
            <p:cNvSpPr/>
            <p:nvPr/>
          </p:nvSpPr>
          <p:spPr>
            <a:xfrm>
              <a:off x="0" y="0"/>
              <a:ext cx="3238500" cy="95400"/>
            </a:xfrm>
            <a:prstGeom prst="roundRect">
              <a:avLst>
                <a:gd fmla="val 20000" name="adj"/>
              </a:avLst>
            </a:prstGeom>
            <a:solidFill>
              <a:srgbClr val="D4A01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20"/>
            <p:cNvSpPr txBox="1"/>
            <p:nvPr/>
          </p:nvSpPr>
          <p:spPr>
            <a:xfrm>
              <a:off x="190500" y="285750"/>
              <a:ext cx="2857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50">
                  <a:solidFill>
                    <a:srgbClr val="045A36"/>
                  </a:solidFill>
                  <a:latin typeface="Montserrat"/>
                  <a:ea typeface="Montserrat"/>
                  <a:cs typeface="Montserrat"/>
                  <a:sym typeface="Montserrat"/>
                </a:rPr>
                <a:t>OUTPUT</a:t>
              </a:r>
              <a:endParaRPr b="1" sz="1650">
                <a:solidFill>
                  <a:srgbClr val="045A36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69" name="Google Shape;269;p20"/>
            <p:cNvSpPr/>
            <p:nvPr/>
          </p:nvSpPr>
          <p:spPr>
            <a:xfrm>
              <a:off x="1238250" y="714375"/>
              <a:ext cx="762000" cy="19200"/>
            </a:xfrm>
            <a:prstGeom prst="rect">
              <a:avLst/>
            </a:prstGeom>
            <a:solidFill>
              <a:srgbClr val="045A3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20"/>
            <p:cNvSpPr txBox="1"/>
            <p:nvPr/>
          </p:nvSpPr>
          <p:spPr>
            <a:xfrm>
              <a:off x="0" y="909828"/>
              <a:ext cx="3238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600">
                  <a:solidFill>
                    <a:srgbClr val="D4A017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settings_input_component</a:t>
              </a:r>
              <a:endParaRPr sz="3600">
                <a:solidFill>
                  <a:srgbClr val="D4A017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71" name="Google Shape;271;p20"/>
            <p:cNvSpPr txBox="1"/>
            <p:nvPr/>
          </p:nvSpPr>
          <p:spPr>
            <a:xfrm>
              <a:off x="285750" y="1714500"/>
              <a:ext cx="26670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Motors and actuators create the physical output.</a:t>
              </a:r>
              <a:endParaRPr b="0" sz="15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272" name="Google Shape;272;p20"/>
          <p:cNvSpPr/>
          <p:nvPr/>
        </p:nvSpPr>
        <p:spPr>
          <a:xfrm>
            <a:off x="4000500" y="3619500"/>
            <a:ext cx="381000" cy="190500"/>
          </a:xfrm>
          <a:custGeom>
            <a:rect b="b" l="l" r="r" t="t"/>
            <a:pathLst>
              <a:path extrusionOk="0" h="120000" w="120000">
                <a:moveTo>
                  <a:pt x="0" y="60000"/>
                </a:moveTo>
                <a:lnTo>
                  <a:pt x="120000" y="60000"/>
                </a:lnTo>
                <a:moveTo>
                  <a:pt x="90000" y="0"/>
                </a:moveTo>
                <a:lnTo>
                  <a:pt x="120000" y="60000"/>
                </a:lnTo>
                <a:lnTo>
                  <a:pt x="90000" y="120000"/>
                </a:lnTo>
              </a:path>
            </a:pathLst>
          </a:custGeom>
          <a:solidFill>
            <a:srgbClr val="000000">
              <a:alpha val="0"/>
            </a:srgbClr>
          </a:solidFill>
          <a:ln cap="rnd" cmpd="sng" w="38100">
            <a:solidFill>
              <a:srgbClr val="045A3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20"/>
          <p:cNvSpPr/>
          <p:nvPr/>
        </p:nvSpPr>
        <p:spPr>
          <a:xfrm>
            <a:off x="7715250" y="3619500"/>
            <a:ext cx="381000" cy="190500"/>
          </a:xfrm>
          <a:custGeom>
            <a:rect b="b" l="l" r="r" t="t"/>
            <a:pathLst>
              <a:path extrusionOk="0" h="120000" w="120000">
                <a:moveTo>
                  <a:pt x="0" y="60000"/>
                </a:moveTo>
                <a:lnTo>
                  <a:pt x="120000" y="60000"/>
                </a:lnTo>
                <a:moveTo>
                  <a:pt x="90000" y="0"/>
                </a:moveTo>
                <a:lnTo>
                  <a:pt x="120000" y="60000"/>
                </a:lnTo>
                <a:lnTo>
                  <a:pt x="90000" y="120000"/>
                </a:lnTo>
              </a:path>
            </a:pathLst>
          </a:custGeom>
          <a:solidFill>
            <a:srgbClr val="000000">
              <a:alpha val="0"/>
            </a:srgbClr>
          </a:solidFill>
          <a:ln cap="rnd" cmpd="sng" w="38100">
            <a:solidFill>
              <a:srgbClr val="0B7A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" name="Google Shape;278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0"/>
            <a:ext cx="12192000" cy="5730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1"/>
          <p:cNvSpPr/>
          <p:nvPr/>
        </p:nvSpPr>
        <p:spPr>
          <a:xfrm>
            <a:off x="762000" y="1123950"/>
            <a:ext cx="106680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21"/>
          <p:cNvSpPr txBox="1"/>
          <p:nvPr/>
        </p:nvSpPr>
        <p:spPr>
          <a:xfrm>
            <a:off x="762000" y="571500"/>
            <a:ext cx="106680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98">
                <a:solidFill>
                  <a:srgbClr val="045A3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Basic Electronic Components</a:t>
            </a:r>
            <a:endParaRPr b="0" sz="2498">
              <a:solidFill>
                <a:srgbClr val="045A36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282" name="Google Shape;282;p21"/>
          <p:cNvGrpSpPr/>
          <p:nvPr/>
        </p:nvGrpSpPr>
        <p:grpSpPr>
          <a:xfrm>
            <a:off x="762000" y="1714500"/>
            <a:ext cx="3238500" cy="2381400"/>
            <a:chOff x="0" y="0"/>
            <a:chExt cx="3238500" cy="2381400"/>
          </a:xfrm>
        </p:grpSpPr>
        <p:pic>
          <p:nvPicPr>
            <p:cNvPr descr="A professional studio photo of a 9V alkaline battery on a clean white background." id="283" name="Google Shape;283;p21"/>
            <p:cNvPicPr preferRelativeResize="0"/>
            <p:nvPr/>
          </p:nvPicPr>
          <p:blipFill rotWithShape="1">
            <a:blip r:embed="rId6">
              <a:alphaModFix/>
            </a:blip>
            <a:srcRect b="0" l="2190" r="2190" t="0"/>
            <a:stretch/>
          </p:blipFill>
          <p:spPr>
            <a:xfrm>
              <a:off x="0" y="0"/>
              <a:ext cx="3238500" cy="1905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1"/>
            <p:cNvSpPr/>
            <p:nvPr/>
          </p:nvSpPr>
          <p:spPr>
            <a:xfrm>
              <a:off x="0" y="1905000"/>
              <a:ext cx="3238500" cy="476400"/>
            </a:xfrm>
            <a:prstGeom prst="roundRect">
              <a:avLst>
                <a:gd fmla="val 0" name="adj"/>
              </a:avLst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21"/>
            <p:cNvSpPr txBox="1"/>
            <p:nvPr/>
          </p:nvSpPr>
          <p:spPr>
            <a:xfrm>
              <a:off x="0" y="1905000"/>
              <a:ext cx="3238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Battery</a:t>
              </a:r>
              <a:endParaRPr b="0" sz="1400">
                <a:solidFill>
                  <a:srgbClr val="1F293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286" name="Google Shape;286;p21"/>
          <p:cNvGrpSpPr/>
          <p:nvPr/>
        </p:nvGrpSpPr>
        <p:grpSpPr>
          <a:xfrm>
            <a:off x="4476750" y="1714500"/>
            <a:ext cx="3238500" cy="2381400"/>
            <a:chOff x="0" y="0"/>
            <a:chExt cx="3238500" cy="2381400"/>
          </a:xfrm>
        </p:grpSpPr>
        <p:pic>
          <p:nvPicPr>
            <p:cNvPr descr="A close-up of a carbon film resistor with colorful stripes on a white background." id="287" name="Google Shape;287;p21"/>
            <p:cNvPicPr preferRelativeResize="0"/>
            <p:nvPr/>
          </p:nvPicPr>
          <p:blipFill rotWithShape="1">
            <a:blip r:embed="rId7">
              <a:alphaModFix/>
            </a:blip>
            <a:srcRect b="0" l="2190" r="2190" t="0"/>
            <a:stretch/>
          </p:blipFill>
          <p:spPr>
            <a:xfrm>
              <a:off x="0" y="0"/>
              <a:ext cx="3238500" cy="1905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8" name="Google Shape;288;p21"/>
            <p:cNvSpPr/>
            <p:nvPr/>
          </p:nvSpPr>
          <p:spPr>
            <a:xfrm>
              <a:off x="0" y="1905000"/>
              <a:ext cx="3238500" cy="476400"/>
            </a:xfrm>
            <a:prstGeom prst="roundRect">
              <a:avLst>
                <a:gd fmla="val 0" name="adj"/>
              </a:avLst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21"/>
            <p:cNvSpPr txBox="1"/>
            <p:nvPr/>
          </p:nvSpPr>
          <p:spPr>
            <a:xfrm>
              <a:off x="0" y="1905000"/>
              <a:ext cx="3238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Resistor</a:t>
              </a:r>
              <a:endParaRPr b="0" sz="1400">
                <a:solidFill>
                  <a:srgbClr val="1F293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290" name="Google Shape;290;p21"/>
          <p:cNvGrpSpPr/>
          <p:nvPr/>
        </p:nvGrpSpPr>
        <p:grpSpPr>
          <a:xfrm>
            <a:off x="8191500" y="1714500"/>
            <a:ext cx="3238500" cy="2381400"/>
            <a:chOff x="0" y="0"/>
            <a:chExt cx="3238500" cy="2381400"/>
          </a:xfrm>
        </p:grpSpPr>
        <p:pic>
          <p:nvPicPr>
            <p:cNvPr descr="A bright red 5mm LED light emitting diode on a white background." id="291" name="Google Shape;291;p21"/>
            <p:cNvPicPr preferRelativeResize="0"/>
            <p:nvPr/>
          </p:nvPicPr>
          <p:blipFill rotWithShape="1">
            <a:blip r:embed="rId8">
              <a:alphaModFix/>
            </a:blip>
            <a:srcRect b="0" l="2190" r="2190" t="0"/>
            <a:stretch/>
          </p:blipFill>
          <p:spPr>
            <a:xfrm>
              <a:off x="0" y="0"/>
              <a:ext cx="3238500" cy="1905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2" name="Google Shape;292;p21"/>
            <p:cNvSpPr/>
            <p:nvPr/>
          </p:nvSpPr>
          <p:spPr>
            <a:xfrm>
              <a:off x="0" y="1905000"/>
              <a:ext cx="3238500" cy="476400"/>
            </a:xfrm>
            <a:prstGeom prst="roundRect">
              <a:avLst>
                <a:gd fmla="val 0" name="adj"/>
              </a:avLst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21"/>
            <p:cNvSpPr txBox="1"/>
            <p:nvPr/>
          </p:nvSpPr>
          <p:spPr>
            <a:xfrm>
              <a:off x="0" y="1905000"/>
              <a:ext cx="3238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LED</a:t>
              </a:r>
              <a:endParaRPr b="0" sz="1400">
                <a:solidFill>
                  <a:srgbClr val="1F293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294" name="Google Shape;294;p21"/>
          <p:cNvGrpSpPr/>
          <p:nvPr/>
        </p:nvGrpSpPr>
        <p:grpSpPr>
          <a:xfrm>
            <a:off x="762000" y="4286250"/>
            <a:ext cx="3238500" cy="2381400"/>
            <a:chOff x="0" y="0"/>
            <a:chExt cx="3238500" cy="2381400"/>
          </a:xfrm>
        </p:grpSpPr>
        <p:pic>
          <p:nvPicPr>
            <p:cNvPr descr="A small DC hobby motor with a metal casing on a white background." id="295" name="Google Shape;295;p21"/>
            <p:cNvPicPr preferRelativeResize="0"/>
            <p:nvPr/>
          </p:nvPicPr>
          <p:blipFill rotWithShape="1">
            <a:blip r:embed="rId9">
              <a:alphaModFix/>
            </a:blip>
            <a:srcRect b="0" l="2190" r="2190" t="0"/>
            <a:stretch/>
          </p:blipFill>
          <p:spPr>
            <a:xfrm>
              <a:off x="0" y="0"/>
              <a:ext cx="3238500" cy="1905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6" name="Google Shape;296;p21"/>
            <p:cNvSpPr/>
            <p:nvPr/>
          </p:nvSpPr>
          <p:spPr>
            <a:xfrm>
              <a:off x="0" y="1905000"/>
              <a:ext cx="3238500" cy="476400"/>
            </a:xfrm>
            <a:prstGeom prst="roundRect">
              <a:avLst>
                <a:gd fmla="val 0" name="adj"/>
              </a:avLst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21"/>
            <p:cNvSpPr txBox="1"/>
            <p:nvPr/>
          </p:nvSpPr>
          <p:spPr>
            <a:xfrm>
              <a:off x="0" y="1905000"/>
              <a:ext cx="3238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Motor</a:t>
              </a:r>
              <a:endParaRPr b="0" sz="1400">
                <a:solidFill>
                  <a:srgbClr val="1F293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298" name="Google Shape;298;p21"/>
          <p:cNvGrpSpPr/>
          <p:nvPr/>
        </p:nvGrpSpPr>
        <p:grpSpPr>
          <a:xfrm>
            <a:off x="4476750" y="4286250"/>
            <a:ext cx="3238500" cy="2381400"/>
            <a:chOff x="0" y="0"/>
            <a:chExt cx="3238500" cy="2381400"/>
          </a:xfrm>
        </p:grpSpPr>
        <p:pic>
          <p:nvPicPr>
            <p:cNvPr descr="An ultrasonic distance sensor (HC-SR04) with two circular transducers on a white background." id="299" name="Google Shape;299;p21"/>
            <p:cNvPicPr preferRelativeResize="0"/>
            <p:nvPr/>
          </p:nvPicPr>
          <p:blipFill rotWithShape="1">
            <a:blip r:embed="rId10">
              <a:alphaModFix/>
            </a:blip>
            <a:srcRect b="0" l="2190" r="2190" t="0"/>
            <a:stretch/>
          </p:blipFill>
          <p:spPr>
            <a:xfrm>
              <a:off x="0" y="0"/>
              <a:ext cx="3238500" cy="1905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0" name="Google Shape;300;p21"/>
            <p:cNvSpPr/>
            <p:nvPr/>
          </p:nvSpPr>
          <p:spPr>
            <a:xfrm>
              <a:off x="0" y="1905000"/>
              <a:ext cx="3238500" cy="476400"/>
            </a:xfrm>
            <a:prstGeom prst="roundRect">
              <a:avLst>
                <a:gd fmla="val 0" name="adj"/>
              </a:avLst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21"/>
            <p:cNvSpPr txBox="1"/>
            <p:nvPr/>
          </p:nvSpPr>
          <p:spPr>
            <a:xfrm>
              <a:off x="0" y="1905000"/>
              <a:ext cx="3238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Sensor</a:t>
              </a:r>
              <a:endParaRPr b="0" sz="1400">
                <a:solidFill>
                  <a:srgbClr val="1F293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grpSp>
        <p:nvGrpSpPr>
          <p:cNvPr id="302" name="Google Shape;302;p21"/>
          <p:cNvGrpSpPr/>
          <p:nvPr/>
        </p:nvGrpSpPr>
        <p:grpSpPr>
          <a:xfrm>
            <a:off x="8191500" y="4286250"/>
            <a:ext cx="3238500" cy="2381400"/>
            <a:chOff x="0" y="0"/>
            <a:chExt cx="3238500" cy="2381400"/>
          </a:xfrm>
        </p:grpSpPr>
        <p:pic>
          <p:nvPicPr>
            <p:cNvPr descr="A small tactile push button switch for breadboards on a white background." id="303" name="Google Shape;303;p21"/>
            <p:cNvPicPr preferRelativeResize="0"/>
            <p:nvPr/>
          </p:nvPicPr>
          <p:blipFill rotWithShape="1">
            <a:blip r:embed="rId11">
              <a:alphaModFix/>
            </a:blip>
            <a:srcRect b="0" l="2190" r="2190" t="0"/>
            <a:stretch/>
          </p:blipFill>
          <p:spPr>
            <a:xfrm>
              <a:off x="0" y="0"/>
              <a:ext cx="3238500" cy="1905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4" name="Google Shape;304;p21"/>
            <p:cNvSpPr/>
            <p:nvPr/>
          </p:nvSpPr>
          <p:spPr>
            <a:xfrm>
              <a:off x="0" y="1905000"/>
              <a:ext cx="3238500" cy="476400"/>
            </a:xfrm>
            <a:prstGeom prst="roundRect">
              <a:avLst>
                <a:gd fmla="val 0" name="adj"/>
              </a:avLst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21"/>
            <p:cNvSpPr txBox="1"/>
            <p:nvPr/>
          </p:nvSpPr>
          <p:spPr>
            <a:xfrm>
              <a:off x="0" y="1905000"/>
              <a:ext cx="3238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400">
                  <a:solidFill>
                    <a:srgbClr val="1F2937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Switch</a:t>
              </a:r>
              <a:endParaRPr b="0" sz="1400">
                <a:solidFill>
                  <a:srgbClr val="1F2937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</p:grpSp>
      <p:pic>
        <p:nvPicPr>
          <p:cNvPr id="306" name="Google Shape;306;p21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762000" y="5981700"/>
            <a:ext cx="10668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21"/>
          <p:cNvSpPr txBox="1"/>
          <p:nvPr/>
        </p:nvSpPr>
        <p:spPr>
          <a:xfrm>
            <a:off x="762000" y="61341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75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Government of Sindh | University of Sindh</a:t>
            </a:r>
            <a:endParaRPr sz="975">
              <a:solidFill>
                <a:srgbClr val="6B728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08" name="Google Shape;308;p21"/>
          <p:cNvSpPr txBox="1"/>
          <p:nvPr/>
        </p:nvSpPr>
        <p:spPr>
          <a:xfrm>
            <a:off x="11277600" y="6134100"/>
            <a:ext cx="190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75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08</a:t>
            </a:r>
            <a:endParaRPr sz="975">
              <a:solidFill>
                <a:srgbClr val="6B728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309" name="Google Shape;309;p21"/>
          <p:cNvPicPr preferRelativeResize="0"/>
          <p:nvPr/>
        </p:nvPicPr>
        <p:blipFill rotWithShape="1">
          <a:blip r:embed="rId13">
            <a:alphaModFix/>
          </a:blip>
          <a:srcRect b="466" l="0" r="0" t="466"/>
          <a:stretch/>
        </p:blipFill>
        <p:spPr>
          <a:xfrm>
            <a:off x="10287000" y="5457825"/>
            <a:ext cx="1524000" cy="100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22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pic>
        <p:nvPicPr>
          <p:cNvPr id="316" name="Google Shape;31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5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5981700"/>
            <a:ext cx="10668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22"/>
          <p:cNvPicPr preferRelativeResize="0"/>
          <p:nvPr/>
        </p:nvPicPr>
        <p:blipFill rotWithShape="1">
          <a:blip r:embed="rId5">
            <a:alphaModFix/>
          </a:blip>
          <a:srcRect b="466" l="0" r="0" t="466"/>
          <a:stretch/>
        </p:blipFill>
        <p:spPr>
          <a:xfrm>
            <a:off x="10287000" y="5457825"/>
            <a:ext cx="1524000" cy="10098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22"/>
          <p:cNvSpPr txBox="1"/>
          <p:nvPr/>
        </p:nvSpPr>
        <p:spPr>
          <a:xfrm>
            <a:off x="762000" y="6134100"/>
            <a:ext cx="4762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75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Introduction of Electronics | Robotics and Automation Systems</a:t>
            </a:r>
            <a:endParaRPr b="0" sz="975">
              <a:solidFill>
                <a:srgbClr val="6B728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20" name="Google Shape;320;p22"/>
          <p:cNvSpPr txBox="1"/>
          <p:nvPr/>
        </p:nvSpPr>
        <p:spPr>
          <a:xfrm>
            <a:off x="762000" y="571500"/>
            <a:ext cx="95250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700">
                <a:solidFill>
                  <a:srgbClr val="045A3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What is Electricity?</a:t>
            </a:r>
            <a:endParaRPr b="0" sz="2700">
              <a:solidFill>
                <a:srgbClr val="045A36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321" name="Google Shape;321;p22"/>
          <p:cNvSpPr/>
          <p:nvPr/>
        </p:nvSpPr>
        <p:spPr>
          <a:xfrm>
            <a:off x="762000" y="1123950"/>
            <a:ext cx="106680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22" name="Google Shape;322;p22"/>
          <p:cNvGrpSpPr/>
          <p:nvPr/>
        </p:nvGrpSpPr>
        <p:grpSpPr>
          <a:xfrm>
            <a:off x="762000" y="1524000"/>
            <a:ext cx="5143500" cy="3048150"/>
            <a:chOff x="0" y="0"/>
            <a:chExt cx="5143500" cy="3048150"/>
          </a:xfrm>
        </p:grpSpPr>
        <p:sp>
          <p:nvSpPr>
            <p:cNvPr id="323" name="Google Shape;323;p22"/>
            <p:cNvSpPr txBox="1"/>
            <p:nvPr/>
          </p:nvSpPr>
          <p:spPr>
            <a:xfrm>
              <a:off x="0" y="0"/>
              <a:ext cx="3810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800">
                  <a:solidFill>
                    <a:srgbClr val="D4A017"/>
                  </a:solidFill>
                  <a:latin typeface="Inter"/>
                  <a:ea typeface="Inter"/>
                  <a:cs typeface="Inter"/>
                  <a:sym typeface="Inter"/>
                </a:rPr>
                <a:t>DEFINITION</a:t>
              </a:r>
              <a:endParaRPr b="1" sz="1800">
                <a:solidFill>
                  <a:srgbClr val="D4A01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24" name="Google Shape;324;p22"/>
            <p:cNvSpPr/>
            <p:nvPr/>
          </p:nvSpPr>
          <p:spPr>
            <a:xfrm>
              <a:off x="0" y="428625"/>
              <a:ext cx="762000" cy="38100"/>
            </a:xfrm>
            <a:prstGeom prst="roundRect">
              <a:avLst>
                <a:gd fmla="val 50000" name="adj"/>
              </a:avLst>
            </a:prstGeom>
            <a:solidFill>
              <a:srgbClr val="D4A01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22"/>
            <p:cNvSpPr txBox="1"/>
            <p:nvPr/>
          </p:nvSpPr>
          <p:spPr>
            <a:xfrm>
              <a:off x="0" y="666750"/>
              <a:ext cx="5143500" cy="2381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" sz="3200">
                  <a:solidFill>
                    <a:srgbClr val="045A36"/>
                  </a:solidFill>
                  <a:latin typeface="Montserrat"/>
                  <a:ea typeface="Montserrat"/>
                  <a:cs typeface="Montserrat"/>
                  <a:sym typeface="Montserrat"/>
                </a:rPr>
                <a:t>"Electricity is the movement or presence of electric charge."</a:t>
              </a:r>
              <a:endParaRPr b="1" i="1" sz="3200">
                <a:solidFill>
                  <a:srgbClr val="045A36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grpSp>
        <p:nvGrpSpPr>
          <p:cNvPr id="326" name="Google Shape;326;p22"/>
          <p:cNvGrpSpPr/>
          <p:nvPr/>
        </p:nvGrpSpPr>
        <p:grpSpPr>
          <a:xfrm>
            <a:off x="6286500" y="1524000"/>
            <a:ext cx="5143500" cy="4476750"/>
            <a:chOff x="0" y="0"/>
            <a:chExt cx="5143500" cy="4476750"/>
          </a:xfrm>
        </p:grpSpPr>
        <p:pic>
          <p:nvPicPr>
            <p:cNvPr id="327" name="Google Shape;327;p2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0" y="0"/>
              <a:ext cx="5143500" cy="3857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8" name="Google Shape;328;p22"/>
            <p:cNvSpPr/>
            <p:nvPr/>
          </p:nvSpPr>
          <p:spPr>
            <a:xfrm>
              <a:off x="0" y="4000500"/>
              <a:ext cx="5143500" cy="960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22"/>
            <p:cNvSpPr txBox="1"/>
            <p:nvPr/>
          </p:nvSpPr>
          <p:spPr>
            <a:xfrm>
              <a:off x="0" y="4095750"/>
              <a:ext cx="5143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" sz="1200">
                  <a:solidFill>
                    <a:srgbClr val="6B7280"/>
                  </a:solidFill>
                  <a:latin typeface="Inter"/>
                  <a:ea typeface="Inter"/>
                  <a:cs typeface="Inter"/>
                  <a:sym typeface="Inter"/>
                </a:rPr>
                <a:t>Fig 1.1: Atomic lattice and electron drift representation.</a:t>
              </a:r>
              <a:endParaRPr b="0" i="1" sz="12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4" name="Google Shape;334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0"/>
            <a:ext cx="12192000" cy="5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5981700"/>
            <a:ext cx="10668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23"/>
          <p:cNvPicPr preferRelativeResize="0"/>
          <p:nvPr/>
        </p:nvPicPr>
        <p:blipFill rotWithShape="1">
          <a:blip r:embed="rId7">
            <a:alphaModFix/>
          </a:blip>
          <a:srcRect b="466" l="0" r="0" t="466"/>
          <a:stretch/>
        </p:blipFill>
        <p:spPr>
          <a:xfrm>
            <a:off x="10287000" y="5457825"/>
            <a:ext cx="1524000" cy="10098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23"/>
          <p:cNvSpPr txBox="1"/>
          <p:nvPr/>
        </p:nvSpPr>
        <p:spPr>
          <a:xfrm>
            <a:off x="762000" y="6134100"/>
            <a:ext cx="4762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75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Introduction of Electronics | Robotics and Automation Systems</a:t>
            </a:r>
            <a:endParaRPr b="0" sz="975">
              <a:solidFill>
                <a:srgbClr val="6B728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9" name="Google Shape;339;p23"/>
          <p:cNvSpPr txBox="1"/>
          <p:nvPr/>
        </p:nvSpPr>
        <p:spPr>
          <a:xfrm>
            <a:off x="762000" y="571500"/>
            <a:ext cx="95250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700">
                <a:solidFill>
                  <a:srgbClr val="045A3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Types of Electricity</a:t>
            </a:r>
            <a:endParaRPr b="0" sz="2700">
              <a:solidFill>
                <a:srgbClr val="045A36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340" name="Google Shape;340;p23"/>
          <p:cNvSpPr/>
          <p:nvPr/>
        </p:nvSpPr>
        <p:spPr>
          <a:xfrm>
            <a:off x="762000" y="1123950"/>
            <a:ext cx="106680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23"/>
          <p:cNvSpPr/>
          <p:nvPr/>
        </p:nvSpPr>
        <p:spPr>
          <a:xfrm>
            <a:off x="6086475" y="1524000"/>
            <a:ext cx="19200" cy="36195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23"/>
          <p:cNvSpPr txBox="1"/>
          <p:nvPr/>
        </p:nvSpPr>
        <p:spPr>
          <a:xfrm>
            <a:off x="762000" y="1333500"/>
            <a:ext cx="10668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350">
                <a:solidFill>
                  <a:srgbClr val="4B5563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Two main categories:</a:t>
            </a:r>
            <a:endParaRPr b="0" sz="1350">
              <a:solidFill>
                <a:srgbClr val="4B5563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grpSp>
        <p:nvGrpSpPr>
          <p:cNvPr id="343" name="Google Shape;343;p23"/>
          <p:cNvGrpSpPr/>
          <p:nvPr/>
        </p:nvGrpSpPr>
        <p:grpSpPr>
          <a:xfrm>
            <a:off x="1047750" y="2190750"/>
            <a:ext cx="4572075" cy="1619250"/>
            <a:chOff x="0" y="0"/>
            <a:chExt cx="4572075" cy="1619250"/>
          </a:xfrm>
        </p:grpSpPr>
        <p:sp>
          <p:nvSpPr>
            <p:cNvPr id="344" name="Google Shape;344;p23"/>
            <p:cNvSpPr txBox="1"/>
            <p:nvPr/>
          </p:nvSpPr>
          <p:spPr>
            <a:xfrm>
              <a:off x="0" y="0"/>
              <a:ext cx="4572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50">
                  <a:solidFill>
                    <a:srgbClr val="045A36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Static Electricity</a:t>
              </a:r>
              <a:endParaRPr b="1" sz="1650">
                <a:solidFill>
                  <a:srgbClr val="045A36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45" name="Google Shape;345;p23"/>
            <p:cNvSpPr/>
            <p:nvPr/>
          </p:nvSpPr>
          <p:spPr>
            <a:xfrm>
              <a:off x="0" y="428625"/>
              <a:ext cx="4572000" cy="9600"/>
            </a:xfrm>
            <a:prstGeom prst="rect">
              <a:avLst/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46" name="Google Shape;346;p23"/>
            <p:cNvGrpSpPr/>
            <p:nvPr/>
          </p:nvGrpSpPr>
          <p:grpSpPr>
            <a:xfrm>
              <a:off x="0" y="574357"/>
              <a:ext cx="4572075" cy="1044893"/>
              <a:chOff x="0" y="-92393"/>
              <a:chExt cx="4572075" cy="1044893"/>
            </a:xfrm>
          </p:grpSpPr>
          <p:sp>
            <p:nvSpPr>
              <p:cNvPr id="347" name="Google Shape;347;p23"/>
              <p:cNvSpPr txBox="1"/>
              <p:nvPr/>
            </p:nvSpPr>
            <p:spPr>
              <a:xfrm>
                <a:off x="0" y="-92393"/>
                <a:ext cx="471000" cy="308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500">
                    <a:solidFill>
                      <a:srgbClr val="D4A017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stop</a:t>
                </a:r>
                <a:endParaRPr sz="1500">
                  <a:solidFill>
                    <a:srgbClr val="D4A017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348" name="Google Shape;348;p23"/>
              <p:cNvSpPr txBox="1"/>
              <p:nvPr/>
            </p:nvSpPr>
            <p:spPr>
              <a:xfrm>
                <a:off x="333375" y="0"/>
                <a:ext cx="4238700" cy="95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50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Charge stored on the surface of an object.</a:t>
                </a:r>
                <a:endParaRPr b="0" sz="15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349" name="Google Shape;349;p23"/>
          <p:cNvGrpSpPr/>
          <p:nvPr/>
        </p:nvGrpSpPr>
        <p:grpSpPr>
          <a:xfrm>
            <a:off x="6572250" y="2190750"/>
            <a:ext cx="4572075" cy="1619250"/>
            <a:chOff x="0" y="0"/>
            <a:chExt cx="4572075" cy="1619250"/>
          </a:xfrm>
        </p:grpSpPr>
        <p:sp>
          <p:nvSpPr>
            <p:cNvPr id="350" name="Google Shape;350;p23"/>
            <p:cNvSpPr txBox="1"/>
            <p:nvPr/>
          </p:nvSpPr>
          <p:spPr>
            <a:xfrm>
              <a:off x="0" y="0"/>
              <a:ext cx="4572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50">
                  <a:solidFill>
                    <a:srgbClr val="045A36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Current Electricity</a:t>
              </a:r>
              <a:endParaRPr b="1" sz="1650">
                <a:solidFill>
                  <a:srgbClr val="045A36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51" name="Google Shape;351;p23"/>
            <p:cNvSpPr/>
            <p:nvPr/>
          </p:nvSpPr>
          <p:spPr>
            <a:xfrm>
              <a:off x="0" y="428625"/>
              <a:ext cx="4572000" cy="9600"/>
            </a:xfrm>
            <a:prstGeom prst="rect">
              <a:avLst/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52" name="Google Shape;352;p23"/>
            <p:cNvGrpSpPr/>
            <p:nvPr/>
          </p:nvGrpSpPr>
          <p:grpSpPr>
            <a:xfrm>
              <a:off x="0" y="574357"/>
              <a:ext cx="4572075" cy="1044893"/>
              <a:chOff x="0" y="-92393"/>
              <a:chExt cx="4572075" cy="1044893"/>
            </a:xfrm>
          </p:grpSpPr>
          <p:sp>
            <p:nvSpPr>
              <p:cNvPr id="353" name="Google Shape;353;p23"/>
              <p:cNvSpPr txBox="1"/>
              <p:nvPr/>
            </p:nvSpPr>
            <p:spPr>
              <a:xfrm>
                <a:off x="0" y="-92393"/>
                <a:ext cx="471000" cy="308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500">
                    <a:solidFill>
                      <a:srgbClr val="D4A017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stop</a:t>
                </a:r>
                <a:endParaRPr sz="1500">
                  <a:solidFill>
                    <a:srgbClr val="D4A017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354" name="Google Shape;354;p23"/>
              <p:cNvSpPr txBox="1"/>
              <p:nvPr/>
            </p:nvSpPr>
            <p:spPr>
              <a:xfrm>
                <a:off x="333375" y="0"/>
                <a:ext cx="4238700" cy="952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50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Continuous flow of electric charge.</a:t>
                </a:r>
                <a:endParaRPr b="0" sz="15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60" name="Google Shape;36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5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2" name="Google Shape;362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5981700"/>
            <a:ext cx="10668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3" name="Google Shape;363;p24"/>
          <p:cNvPicPr preferRelativeResize="0"/>
          <p:nvPr/>
        </p:nvPicPr>
        <p:blipFill rotWithShape="1">
          <a:blip r:embed="rId6">
            <a:alphaModFix/>
          </a:blip>
          <a:srcRect b="466" l="0" r="0" t="466"/>
          <a:stretch/>
        </p:blipFill>
        <p:spPr>
          <a:xfrm>
            <a:off x="10287000" y="5457825"/>
            <a:ext cx="1524000" cy="1009800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24"/>
          <p:cNvSpPr txBox="1"/>
          <p:nvPr/>
        </p:nvSpPr>
        <p:spPr>
          <a:xfrm>
            <a:off x="762000" y="6134100"/>
            <a:ext cx="4762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75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Introduction of Electronics | Robotics and Automation Systems</a:t>
            </a:r>
            <a:endParaRPr b="0" sz="975">
              <a:solidFill>
                <a:srgbClr val="6B728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5" name="Google Shape;365;p24"/>
          <p:cNvSpPr txBox="1"/>
          <p:nvPr/>
        </p:nvSpPr>
        <p:spPr>
          <a:xfrm>
            <a:off x="762000" y="571500"/>
            <a:ext cx="95250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700">
                <a:solidFill>
                  <a:srgbClr val="045A3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Static Electricity</a:t>
            </a:r>
            <a:endParaRPr b="0" sz="2700">
              <a:solidFill>
                <a:srgbClr val="045A36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366" name="Google Shape;366;p24"/>
          <p:cNvSpPr/>
          <p:nvPr/>
        </p:nvSpPr>
        <p:spPr>
          <a:xfrm>
            <a:off x="762000" y="1123950"/>
            <a:ext cx="106680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67" name="Google Shape;367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000" y="1524000"/>
            <a:ext cx="4286400" cy="3214800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24"/>
          <p:cNvSpPr txBox="1"/>
          <p:nvPr/>
        </p:nvSpPr>
        <p:spPr>
          <a:xfrm>
            <a:off x="5429250" y="1524000"/>
            <a:ext cx="60009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50">
                <a:solidFill>
                  <a:srgbClr val="045A36"/>
                </a:solidFill>
                <a:latin typeface="Montserrat"/>
                <a:ea typeface="Montserrat"/>
                <a:cs typeface="Montserrat"/>
                <a:sym typeface="Montserrat"/>
              </a:rPr>
              <a:t>Characteristics</a:t>
            </a:r>
            <a:endParaRPr b="1" sz="1650">
              <a:solidFill>
                <a:srgbClr val="045A3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9" name="Google Shape;369;p24"/>
          <p:cNvSpPr/>
          <p:nvPr/>
        </p:nvSpPr>
        <p:spPr>
          <a:xfrm>
            <a:off x="5429250" y="1905000"/>
            <a:ext cx="6000900" cy="96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24"/>
          <p:cNvSpPr/>
          <p:nvPr>
            <p:ph idx="2" type="pic"/>
          </p:nvPr>
        </p:nvSpPr>
        <p:spPr>
          <a:xfrm>
            <a:off x="5429250" y="2095500"/>
            <a:ext cx="190500" cy="200100"/>
          </a:xfrm>
          <a:prstGeom prst="rect">
            <a:avLst/>
          </a:prstGeom>
          <a:noFill/>
          <a:ln>
            <a:noFill/>
          </a:ln>
        </p:spPr>
      </p:sp>
      <p:sp>
        <p:nvSpPr>
          <p:cNvPr id="371" name="Google Shape;371;p24"/>
          <p:cNvSpPr txBox="1"/>
          <p:nvPr/>
        </p:nvSpPr>
        <p:spPr>
          <a:xfrm>
            <a:off x="5762625" y="2047875"/>
            <a:ext cx="56673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5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Charge is stored on the surface of an object.</a:t>
            </a:r>
            <a:endParaRPr b="0" sz="1500">
              <a:solidFill>
                <a:srgbClr val="37415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2" name="Google Shape;372;p24"/>
          <p:cNvSpPr/>
          <p:nvPr>
            <p:ph idx="3" type="pic"/>
          </p:nvPr>
        </p:nvSpPr>
        <p:spPr>
          <a:xfrm>
            <a:off x="5429250" y="2667000"/>
            <a:ext cx="190500" cy="200100"/>
          </a:xfrm>
          <a:prstGeom prst="rect">
            <a:avLst/>
          </a:prstGeom>
          <a:noFill/>
          <a:ln>
            <a:noFill/>
          </a:ln>
        </p:spPr>
      </p:sp>
      <p:sp>
        <p:nvSpPr>
          <p:cNvPr id="373" name="Google Shape;373;p24"/>
          <p:cNvSpPr txBox="1"/>
          <p:nvPr/>
        </p:nvSpPr>
        <p:spPr>
          <a:xfrm>
            <a:off x="5762625" y="2619375"/>
            <a:ext cx="56673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5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Does not flow continuously.</a:t>
            </a:r>
            <a:endParaRPr b="0" sz="1500">
              <a:solidFill>
                <a:srgbClr val="37415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4" name="Google Shape;374;p24"/>
          <p:cNvSpPr txBox="1"/>
          <p:nvPr/>
        </p:nvSpPr>
        <p:spPr>
          <a:xfrm>
            <a:off x="5429250" y="3429000"/>
            <a:ext cx="60009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50">
                <a:solidFill>
                  <a:srgbClr val="045A36"/>
                </a:solidFill>
                <a:latin typeface="Montserrat"/>
                <a:ea typeface="Montserrat"/>
                <a:cs typeface="Montserrat"/>
                <a:sym typeface="Montserrat"/>
              </a:rPr>
              <a:t>Examples</a:t>
            </a:r>
            <a:endParaRPr b="1" sz="1650">
              <a:solidFill>
                <a:srgbClr val="045A3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5" name="Google Shape;375;p24"/>
          <p:cNvSpPr/>
          <p:nvPr/>
        </p:nvSpPr>
        <p:spPr>
          <a:xfrm>
            <a:off x="5429250" y="3810000"/>
            <a:ext cx="6000900" cy="96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24"/>
          <p:cNvSpPr/>
          <p:nvPr>
            <p:ph idx="4" type="pic"/>
          </p:nvPr>
        </p:nvSpPr>
        <p:spPr>
          <a:xfrm>
            <a:off x="5429250" y="4000500"/>
            <a:ext cx="190500" cy="200100"/>
          </a:xfrm>
          <a:prstGeom prst="rect">
            <a:avLst/>
          </a:prstGeom>
          <a:noFill/>
          <a:ln>
            <a:noFill/>
          </a:ln>
        </p:spPr>
      </p:sp>
      <p:sp>
        <p:nvSpPr>
          <p:cNvPr id="377" name="Google Shape;377;p24"/>
          <p:cNvSpPr txBox="1"/>
          <p:nvPr/>
        </p:nvSpPr>
        <p:spPr>
          <a:xfrm>
            <a:off x="5762625" y="3952875"/>
            <a:ext cx="56673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5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Rubbing a balloon on hair</a:t>
            </a:r>
            <a:endParaRPr b="0" sz="1500">
              <a:solidFill>
                <a:srgbClr val="37415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8" name="Google Shape;378;p24"/>
          <p:cNvSpPr/>
          <p:nvPr>
            <p:ph idx="5" type="pic"/>
          </p:nvPr>
        </p:nvSpPr>
        <p:spPr>
          <a:xfrm>
            <a:off x="5429250" y="4572000"/>
            <a:ext cx="190500" cy="200100"/>
          </a:xfrm>
          <a:prstGeom prst="rect">
            <a:avLst/>
          </a:prstGeom>
          <a:noFill/>
          <a:ln>
            <a:noFill/>
          </a:ln>
        </p:spPr>
      </p:sp>
      <p:sp>
        <p:nvSpPr>
          <p:cNvPr id="379" name="Google Shape;379;p24"/>
          <p:cNvSpPr txBox="1"/>
          <p:nvPr/>
        </p:nvSpPr>
        <p:spPr>
          <a:xfrm>
            <a:off x="5762625" y="4524375"/>
            <a:ext cx="56673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5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Lightning strikes</a:t>
            </a:r>
            <a:endParaRPr b="0" sz="1500">
              <a:solidFill>
                <a:srgbClr val="37415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85" name="Google Shape;38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5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5981700"/>
            <a:ext cx="10668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25"/>
          <p:cNvPicPr preferRelativeResize="0"/>
          <p:nvPr/>
        </p:nvPicPr>
        <p:blipFill rotWithShape="1">
          <a:blip r:embed="rId6">
            <a:alphaModFix/>
          </a:blip>
          <a:srcRect b="466" l="0" r="0" t="466"/>
          <a:stretch/>
        </p:blipFill>
        <p:spPr>
          <a:xfrm>
            <a:off x="10287000" y="5457825"/>
            <a:ext cx="1524000" cy="1009800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25"/>
          <p:cNvSpPr txBox="1"/>
          <p:nvPr/>
        </p:nvSpPr>
        <p:spPr>
          <a:xfrm>
            <a:off x="762000" y="6134100"/>
            <a:ext cx="4762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75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Introduction of Electronics | Robotics and Automation Systems</a:t>
            </a:r>
            <a:endParaRPr b="0" sz="975">
              <a:solidFill>
                <a:srgbClr val="6B728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0" name="Google Shape;390;p25"/>
          <p:cNvSpPr txBox="1"/>
          <p:nvPr/>
        </p:nvSpPr>
        <p:spPr>
          <a:xfrm>
            <a:off x="762000" y="571500"/>
            <a:ext cx="95250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700">
                <a:solidFill>
                  <a:srgbClr val="045A3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Current Electricity</a:t>
            </a:r>
            <a:endParaRPr b="0" sz="2700">
              <a:solidFill>
                <a:srgbClr val="045A36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391" name="Google Shape;391;p25"/>
          <p:cNvSpPr/>
          <p:nvPr/>
        </p:nvSpPr>
        <p:spPr>
          <a:xfrm>
            <a:off x="762000" y="1123950"/>
            <a:ext cx="106680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92" name="Google Shape;392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000" y="1524000"/>
            <a:ext cx="4286400" cy="3214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93" name="Google Shape;393;p25"/>
          <p:cNvGrpSpPr/>
          <p:nvPr/>
        </p:nvGrpSpPr>
        <p:grpSpPr>
          <a:xfrm>
            <a:off x="5429250" y="1524000"/>
            <a:ext cx="6000900" cy="2571750"/>
            <a:chOff x="0" y="0"/>
            <a:chExt cx="6000900" cy="2571750"/>
          </a:xfrm>
        </p:grpSpPr>
        <p:sp>
          <p:nvSpPr>
            <p:cNvPr id="394" name="Google Shape;394;p25"/>
            <p:cNvSpPr txBox="1"/>
            <p:nvPr/>
          </p:nvSpPr>
          <p:spPr>
            <a:xfrm>
              <a:off x="0" y="0"/>
              <a:ext cx="60009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50">
                  <a:solidFill>
                    <a:srgbClr val="045A36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Characteristics</a:t>
              </a:r>
              <a:endParaRPr b="1" sz="1650">
                <a:solidFill>
                  <a:srgbClr val="045A36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395" name="Google Shape;395;p25"/>
            <p:cNvSpPr/>
            <p:nvPr/>
          </p:nvSpPr>
          <p:spPr>
            <a:xfrm>
              <a:off x="0" y="381000"/>
              <a:ext cx="6000900" cy="960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96" name="Google Shape;396;p25"/>
            <p:cNvGrpSpPr/>
            <p:nvPr/>
          </p:nvGrpSpPr>
          <p:grpSpPr>
            <a:xfrm>
              <a:off x="0" y="571500"/>
              <a:ext cx="6000750" cy="571500"/>
              <a:chOff x="0" y="0"/>
              <a:chExt cx="6000750" cy="571500"/>
            </a:xfrm>
          </p:grpSpPr>
          <p:sp>
            <p:nvSpPr>
              <p:cNvPr id="397" name="Google Shape;397;p25"/>
              <p:cNvSpPr/>
              <p:nvPr/>
            </p:nvSpPr>
            <p:spPr>
              <a:xfrm>
                <a:off x="0" y="76200"/>
                <a:ext cx="114300" cy="114300"/>
              </a:xfrm>
              <a:prstGeom prst="rect">
                <a:avLst/>
              </a:prstGeom>
              <a:solidFill>
                <a:srgbClr val="D4A01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8" name="Google Shape;398;p25"/>
              <p:cNvSpPr txBox="1"/>
              <p:nvPr/>
            </p:nvSpPr>
            <p:spPr>
              <a:xfrm>
                <a:off x="285750" y="0"/>
                <a:ext cx="57150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50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The continuous flow of electric charge.</a:t>
                </a:r>
                <a:endParaRPr b="0" sz="15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399" name="Google Shape;399;p25"/>
            <p:cNvGrpSpPr/>
            <p:nvPr/>
          </p:nvGrpSpPr>
          <p:grpSpPr>
            <a:xfrm>
              <a:off x="0" y="1285875"/>
              <a:ext cx="6000750" cy="571500"/>
              <a:chOff x="0" y="0"/>
              <a:chExt cx="6000750" cy="571500"/>
            </a:xfrm>
          </p:grpSpPr>
          <p:sp>
            <p:nvSpPr>
              <p:cNvPr id="400" name="Google Shape;400;p25"/>
              <p:cNvSpPr/>
              <p:nvPr/>
            </p:nvSpPr>
            <p:spPr>
              <a:xfrm>
                <a:off x="0" y="76200"/>
                <a:ext cx="114300" cy="114300"/>
              </a:xfrm>
              <a:prstGeom prst="rect">
                <a:avLst/>
              </a:prstGeom>
              <a:solidFill>
                <a:srgbClr val="D4A01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1" name="Google Shape;401;p25"/>
              <p:cNvSpPr txBox="1"/>
              <p:nvPr/>
            </p:nvSpPr>
            <p:spPr>
              <a:xfrm>
                <a:off x="285750" y="0"/>
                <a:ext cx="57150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50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Travels through a conductor (like copper wire).</a:t>
                </a:r>
                <a:endParaRPr b="0" sz="15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402" name="Google Shape;402;p25"/>
            <p:cNvGrpSpPr/>
            <p:nvPr/>
          </p:nvGrpSpPr>
          <p:grpSpPr>
            <a:xfrm>
              <a:off x="0" y="2000250"/>
              <a:ext cx="6000750" cy="571500"/>
              <a:chOff x="0" y="0"/>
              <a:chExt cx="6000750" cy="571500"/>
            </a:xfrm>
          </p:grpSpPr>
          <p:sp>
            <p:nvSpPr>
              <p:cNvPr id="403" name="Google Shape;403;p25"/>
              <p:cNvSpPr/>
              <p:nvPr/>
            </p:nvSpPr>
            <p:spPr>
              <a:xfrm>
                <a:off x="0" y="76200"/>
                <a:ext cx="114300" cy="114300"/>
              </a:xfrm>
              <a:prstGeom prst="rect">
                <a:avLst/>
              </a:prstGeom>
              <a:solidFill>
                <a:srgbClr val="D4A01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4" name="Google Shape;404;p25"/>
              <p:cNvSpPr txBox="1"/>
              <p:nvPr/>
            </p:nvSpPr>
            <p:spPr>
              <a:xfrm>
                <a:off x="285750" y="0"/>
                <a:ext cx="57150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50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Powers electronic devices and circuits.</a:t>
                </a:r>
                <a:endParaRPr b="0" sz="15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" name="Google Shape;409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0" name="Google Shape;410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0"/>
            <a:ext cx="12192000" cy="5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1" name="Google Shape;411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5981700"/>
            <a:ext cx="10668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26"/>
          <p:cNvSpPr/>
          <p:nvPr/>
        </p:nvSpPr>
        <p:spPr>
          <a:xfrm>
            <a:off x="762000" y="1123950"/>
            <a:ext cx="106680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26"/>
          <p:cNvSpPr txBox="1"/>
          <p:nvPr/>
        </p:nvSpPr>
        <p:spPr>
          <a:xfrm>
            <a:off x="762000" y="571500"/>
            <a:ext cx="7620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700">
                <a:solidFill>
                  <a:srgbClr val="045A3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Types of Current Electricity</a:t>
            </a:r>
            <a:endParaRPr b="0" sz="2700">
              <a:solidFill>
                <a:srgbClr val="045A36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414" name="Google Shape;414;p26"/>
          <p:cNvSpPr txBox="1"/>
          <p:nvPr/>
        </p:nvSpPr>
        <p:spPr>
          <a:xfrm>
            <a:off x="762000" y="6134100"/>
            <a:ext cx="3810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75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Government of Sindh | University of Sindh</a:t>
            </a:r>
            <a:endParaRPr b="0" sz="975">
              <a:solidFill>
                <a:srgbClr val="6B728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15" name="Google Shape;415;p26"/>
          <p:cNvSpPr txBox="1"/>
          <p:nvPr/>
        </p:nvSpPr>
        <p:spPr>
          <a:xfrm>
            <a:off x="11277600" y="6134100"/>
            <a:ext cx="190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75">
                <a:solidFill>
                  <a:srgbClr val="6B7280"/>
                </a:solidFill>
                <a:latin typeface="Inter Medium"/>
                <a:ea typeface="Inter Medium"/>
                <a:cs typeface="Inter Medium"/>
                <a:sym typeface="Inter Medium"/>
              </a:rPr>
              <a:t>13</a:t>
            </a:r>
            <a:endParaRPr b="0" sz="975">
              <a:solidFill>
                <a:srgbClr val="6B7280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grpSp>
        <p:nvGrpSpPr>
          <p:cNvPr id="416" name="Google Shape;416;p26"/>
          <p:cNvGrpSpPr/>
          <p:nvPr/>
        </p:nvGrpSpPr>
        <p:grpSpPr>
          <a:xfrm>
            <a:off x="762000" y="1524000"/>
            <a:ext cx="3238500" cy="4000500"/>
            <a:chOff x="0" y="0"/>
            <a:chExt cx="3238500" cy="4000500"/>
          </a:xfrm>
        </p:grpSpPr>
        <p:sp>
          <p:nvSpPr>
            <p:cNvPr id="417" name="Google Shape;417;p26"/>
            <p:cNvSpPr/>
            <p:nvPr/>
          </p:nvSpPr>
          <p:spPr>
            <a:xfrm>
              <a:off x="0" y="0"/>
              <a:ext cx="3238500" cy="4000500"/>
            </a:xfrm>
            <a:prstGeom prst="roundRect">
              <a:avLst>
                <a:gd fmla="val 3529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p26"/>
            <p:cNvSpPr/>
            <p:nvPr/>
          </p:nvSpPr>
          <p:spPr>
            <a:xfrm>
              <a:off x="0" y="0"/>
              <a:ext cx="3238500" cy="76200"/>
            </a:xfrm>
            <a:prstGeom prst="roundRect">
              <a:avLst>
                <a:gd fmla="val 50000" name="adj"/>
              </a:avLst>
            </a:prstGeom>
            <a:solidFill>
              <a:srgbClr val="D4A01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26"/>
            <p:cNvSpPr txBox="1"/>
            <p:nvPr/>
          </p:nvSpPr>
          <p:spPr>
            <a:xfrm>
              <a:off x="238125" y="285750"/>
              <a:ext cx="2762400" cy="342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000">
                  <a:solidFill>
                    <a:srgbClr val="045A36"/>
                  </a:solidFill>
                  <a:latin typeface="Inter"/>
                  <a:ea typeface="Inter"/>
                  <a:cs typeface="Inter"/>
                  <a:sym typeface="Inter"/>
                </a:rPr>
                <a:t>Direct Current (DC)</a:t>
              </a:r>
              <a:endParaRPr b="1" sz="2000">
                <a:solidFill>
                  <a:srgbClr val="045A36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The unidirectional flow of electric charge. The current flows in a constant direction with a steady voltage level.</a:t>
              </a:r>
              <a:endParaRPr b="0" sz="12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6B7280"/>
                  </a:solidFill>
                  <a:latin typeface="Inter"/>
                  <a:ea typeface="Inter"/>
                  <a:cs typeface="Inter"/>
                  <a:sym typeface="Inter"/>
                </a:rPr>
                <a:t>Commonly Used In:</a:t>
              </a:r>
              <a:endParaRPr b="1" sz="11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374151"/>
                </a:buClr>
                <a:buSzPts val="1100"/>
                <a:buFont typeface="Inter"/>
                <a:buChar char="●"/>
              </a:pPr>
              <a:r>
                <a:rPr lang="en" sz="11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Batteries</a:t>
              </a:r>
              <a:endParaRPr sz="11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74151"/>
                </a:buClr>
                <a:buSzPts val="1100"/>
                <a:buFont typeface="Inter"/>
                <a:buChar char="●"/>
              </a:pPr>
              <a:r>
                <a:rPr lang="en" sz="11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Electronic devices</a:t>
              </a:r>
              <a:endParaRPr sz="11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600"/>
                </a:spcAft>
                <a:buClr>
                  <a:srgbClr val="374151"/>
                </a:buClr>
                <a:buSzPts val="1100"/>
                <a:buFont typeface="Inter"/>
                <a:buChar char="●"/>
              </a:pPr>
              <a:r>
                <a:rPr lang="en" sz="11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Solar panels</a:t>
              </a:r>
              <a:endParaRPr sz="11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20" name="Google Shape;420;p26"/>
          <p:cNvGrpSpPr/>
          <p:nvPr/>
        </p:nvGrpSpPr>
        <p:grpSpPr>
          <a:xfrm>
            <a:off x="4381500" y="1524000"/>
            <a:ext cx="3238500" cy="4000500"/>
            <a:chOff x="0" y="0"/>
            <a:chExt cx="3238500" cy="4000500"/>
          </a:xfrm>
        </p:grpSpPr>
        <p:sp>
          <p:nvSpPr>
            <p:cNvPr id="421" name="Google Shape;421;p26"/>
            <p:cNvSpPr/>
            <p:nvPr/>
          </p:nvSpPr>
          <p:spPr>
            <a:xfrm>
              <a:off x="0" y="0"/>
              <a:ext cx="3238500" cy="4000500"/>
            </a:xfrm>
            <a:prstGeom prst="roundRect">
              <a:avLst>
                <a:gd fmla="val 3529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26"/>
            <p:cNvSpPr/>
            <p:nvPr/>
          </p:nvSpPr>
          <p:spPr>
            <a:xfrm>
              <a:off x="0" y="0"/>
              <a:ext cx="3238500" cy="76200"/>
            </a:xfrm>
            <a:prstGeom prst="roundRect">
              <a:avLst>
                <a:gd fmla="val 50000" name="adj"/>
              </a:avLst>
            </a:prstGeom>
            <a:solidFill>
              <a:srgbClr val="045A3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26"/>
            <p:cNvSpPr txBox="1"/>
            <p:nvPr/>
          </p:nvSpPr>
          <p:spPr>
            <a:xfrm>
              <a:off x="238125" y="285750"/>
              <a:ext cx="2762400" cy="3429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000">
                  <a:solidFill>
                    <a:srgbClr val="045A36"/>
                  </a:solidFill>
                  <a:latin typeface="Inter"/>
                  <a:ea typeface="Inter"/>
                  <a:cs typeface="Inter"/>
                  <a:sym typeface="Inter"/>
                </a:rPr>
                <a:t>Alternating Current (AC)</a:t>
              </a:r>
              <a:endParaRPr b="1" sz="2000">
                <a:solidFill>
                  <a:srgbClr val="045A36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" sz="12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An electric current which periodically reverses direction and changes its magnitude continuously with time.</a:t>
              </a:r>
              <a:endParaRPr b="0" sz="12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6B7280"/>
                  </a:solidFill>
                  <a:latin typeface="Inter"/>
                  <a:ea typeface="Inter"/>
                  <a:cs typeface="Inter"/>
                  <a:sym typeface="Inter"/>
                </a:rPr>
                <a:t>Commonly Used In:</a:t>
              </a:r>
              <a:endParaRPr b="1" sz="11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rtl="0" algn="l">
                <a:spcBef>
                  <a:spcPts val="750"/>
                </a:spcBef>
                <a:spcAft>
                  <a:spcPts val="0"/>
                </a:spcAft>
                <a:buClr>
                  <a:srgbClr val="374151"/>
                </a:buClr>
                <a:buSzPts val="1100"/>
                <a:buFont typeface="Inter"/>
                <a:buChar char="●"/>
              </a:pPr>
              <a:r>
                <a:rPr lang="en" sz="11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Home power outlets</a:t>
              </a:r>
              <a:endParaRPr sz="11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0"/>
                </a:spcAft>
                <a:buClr>
                  <a:srgbClr val="374151"/>
                </a:buClr>
                <a:buSzPts val="1100"/>
                <a:buFont typeface="Inter"/>
                <a:buChar char="●"/>
              </a:pPr>
              <a:r>
                <a:rPr lang="en" sz="11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Industrial motors</a:t>
              </a:r>
              <a:endParaRPr sz="11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298450" lvl="0" marL="457200" rtl="0" algn="l">
                <a:spcBef>
                  <a:spcPts val="600"/>
                </a:spcBef>
                <a:spcAft>
                  <a:spcPts val="600"/>
                </a:spcAft>
                <a:buClr>
                  <a:srgbClr val="374151"/>
                </a:buClr>
                <a:buSzPts val="1100"/>
                <a:buFont typeface="Inter"/>
                <a:buChar char="●"/>
              </a:pPr>
              <a:r>
                <a:rPr lang="en" sz="11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Long-distance transmission</a:t>
              </a:r>
              <a:endParaRPr sz="11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424" name="Google Shape;424;p26"/>
          <p:cNvGrpSpPr/>
          <p:nvPr/>
        </p:nvGrpSpPr>
        <p:grpSpPr>
          <a:xfrm>
            <a:off x="8001000" y="1524000"/>
            <a:ext cx="3429000" cy="4000500"/>
            <a:chOff x="0" y="0"/>
            <a:chExt cx="3429000" cy="4000500"/>
          </a:xfrm>
        </p:grpSpPr>
        <p:sp>
          <p:nvSpPr>
            <p:cNvPr id="425" name="Google Shape;425;p26"/>
            <p:cNvSpPr/>
            <p:nvPr/>
          </p:nvSpPr>
          <p:spPr>
            <a:xfrm>
              <a:off x="0" y="0"/>
              <a:ext cx="3429000" cy="4000500"/>
            </a:xfrm>
            <a:prstGeom prst="roundRect">
              <a:avLst>
                <a:gd fmla="val 3333" name="adj"/>
              </a:avLst>
            </a:prstGeom>
            <a:solidFill>
              <a:srgbClr val="F1F5F9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26"/>
            <p:cNvSpPr txBox="1"/>
            <p:nvPr/>
          </p:nvSpPr>
          <p:spPr>
            <a:xfrm>
              <a:off x="0" y="190500"/>
              <a:ext cx="3429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6B7280"/>
                  </a:solidFill>
                  <a:latin typeface="Inter"/>
                  <a:ea typeface="Inter"/>
                  <a:cs typeface="Inter"/>
                  <a:sym typeface="Inter"/>
                </a:rPr>
                <a:t>Waveform Comparison</a:t>
              </a:r>
              <a:endParaRPr b="1" sz="12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427" name="Google Shape;427;p26"/>
            <p:cNvGrpSpPr/>
            <p:nvPr/>
          </p:nvGrpSpPr>
          <p:grpSpPr>
            <a:xfrm>
              <a:off x="381000" y="762000"/>
              <a:ext cx="2905275" cy="952500"/>
              <a:chOff x="0" y="0"/>
              <a:chExt cx="2905275" cy="952500"/>
            </a:xfrm>
          </p:grpSpPr>
          <p:cxnSp>
            <p:nvCxnSpPr>
              <p:cNvPr id="428" name="Google Shape;428;p26"/>
              <p:cNvCxnSpPr/>
              <p:nvPr/>
            </p:nvCxnSpPr>
            <p:spPr>
              <a:xfrm>
                <a:off x="0" y="476250"/>
                <a:ext cx="26670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94A3B8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29" name="Google Shape;429;p26"/>
              <p:cNvCxnSpPr/>
              <p:nvPr/>
            </p:nvCxnSpPr>
            <p:spPr>
              <a:xfrm>
                <a:off x="0" y="0"/>
                <a:ext cx="0" cy="95250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94A3B8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30" name="Google Shape;430;p26"/>
              <p:cNvCxnSpPr/>
              <p:nvPr/>
            </p:nvCxnSpPr>
            <p:spPr>
              <a:xfrm>
                <a:off x="0" y="190500"/>
                <a:ext cx="25719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28575">
                <a:solidFill>
                  <a:srgbClr val="D4A017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431" name="Google Shape;431;p26"/>
              <p:cNvSpPr txBox="1"/>
              <p:nvPr/>
            </p:nvSpPr>
            <p:spPr>
              <a:xfrm>
                <a:off x="2619375" y="95250"/>
                <a:ext cx="2859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D4A017"/>
                    </a:solidFill>
                    <a:latin typeface="Inter"/>
                    <a:ea typeface="Inter"/>
                    <a:cs typeface="Inter"/>
                    <a:sym typeface="Inter"/>
                  </a:rPr>
                  <a:t>DC</a:t>
                </a:r>
                <a:endParaRPr b="1" sz="1000">
                  <a:solidFill>
                    <a:srgbClr val="D4A017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432" name="Google Shape;432;p26"/>
            <p:cNvGrpSpPr/>
            <p:nvPr/>
          </p:nvGrpSpPr>
          <p:grpSpPr>
            <a:xfrm>
              <a:off x="381000" y="2286000"/>
              <a:ext cx="2905275" cy="952500"/>
              <a:chOff x="0" y="0"/>
              <a:chExt cx="2905275" cy="952500"/>
            </a:xfrm>
          </p:grpSpPr>
          <p:cxnSp>
            <p:nvCxnSpPr>
              <p:cNvPr id="433" name="Google Shape;433;p26"/>
              <p:cNvCxnSpPr/>
              <p:nvPr/>
            </p:nvCxnSpPr>
            <p:spPr>
              <a:xfrm>
                <a:off x="0" y="476250"/>
                <a:ext cx="26670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94A3B8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34" name="Google Shape;434;p26"/>
              <p:cNvCxnSpPr/>
              <p:nvPr/>
            </p:nvCxnSpPr>
            <p:spPr>
              <a:xfrm>
                <a:off x="0" y="0"/>
                <a:ext cx="0" cy="95250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94A3B8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435" name="Google Shape;435;p26"/>
              <p:cNvSpPr/>
              <p:nvPr/>
            </p:nvSpPr>
            <p:spPr>
              <a:xfrm>
                <a:off x="0" y="0"/>
                <a:ext cx="2667000" cy="952500"/>
              </a:xfrm>
              <a:custGeom>
                <a:rect b="b" l="l" r="r" t="t"/>
                <a:pathLst>
                  <a:path extrusionOk="0" h="120000" w="120000">
                    <a:moveTo>
                      <a:pt x="0" y="120000"/>
                    </a:moveTo>
                    <a:quadBezTo>
                      <a:pt x="15000" y="0"/>
                      <a:pt x="30000" y="120000"/>
                    </a:quadBezTo>
                    <a:lnTo>
                      <a:pt x="60000" y="120000"/>
                    </a:lnTo>
                    <a:lnTo>
                      <a:pt x="90000" y="120000"/>
                    </a:lnTo>
                    <a:lnTo>
                      <a:pt x="120000" y="120000"/>
                    </a:lnTo>
                  </a:path>
                </a:pathLst>
              </a:custGeom>
              <a:solidFill>
                <a:srgbClr val="000000">
                  <a:alpha val="0"/>
                </a:srgbClr>
              </a:solidFill>
              <a:ln cap="flat" cmpd="sng" w="28575">
                <a:solidFill>
                  <a:srgbClr val="045A3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6" name="Google Shape;436;p26"/>
              <p:cNvSpPr txBox="1"/>
              <p:nvPr/>
            </p:nvSpPr>
            <p:spPr>
              <a:xfrm>
                <a:off x="2619375" y="571500"/>
                <a:ext cx="2859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000">
                    <a:solidFill>
                      <a:srgbClr val="045A36"/>
                    </a:solidFill>
                    <a:latin typeface="Inter"/>
                    <a:ea typeface="Inter"/>
                    <a:cs typeface="Inter"/>
                    <a:sym typeface="Inter"/>
                  </a:rPr>
                  <a:t>AC</a:t>
                </a:r>
                <a:endParaRPr b="1" sz="1000">
                  <a:solidFill>
                    <a:srgbClr val="045A36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sp>
          <p:nvSpPr>
            <p:cNvPr id="437" name="Google Shape;437;p26"/>
            <p:cNvSpPr txBox="1"/>
            <p:nvPr/>
          </p:nvSpPr>
          <p:spPr>
            <a:xfrm>
              <a:off x="190500" y="3429000"/>
              <a:ext cx="3048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9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Visual representation of voltage over time</a:t>
              </a:r>
              <a:endParaRPr i="1" sz="9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id="438" name="Google Shape;438;p26"/>
          <p:cNvPicPr preferRelativeResize="0"/>
          <p:nvPr/>
        </p:nvPicPr>
        <p:blipFill rotWithShape="1">
          <a:blip r:embed="rId7">
            <a:alphaModFix/>
          </a:blip>
          <a:srcRect b="159" l="0" r="0" t="159"/>
          <a:stretch/>
        </p:blipFill>
        <p:spPr>
          <a:xfrm>
            <a:off x="10287000" y="5461102"/>
            <a:ext cx="1524000" cy="101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3" name="Google Shape;443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4" name="Google Shape;444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0"/>
            <a:ext cx="12192000" cy="5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5" name="Google Shape;445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5981700"/>
            <a:ext cx="10668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6" name="Google Shape;446;p27"/>
          <p:cNvPicPr preferRelativeResize="0"/>
          <p:nvPr/>
        </p:nvPicPr>
        <p:blipFill rotWithShape="1">
          <a:blip r:embed="rId7">
            <a:alphaModFix/>
          </a:blip>
          <a:srcRect b="466" l="0" r="0" t="466"/>
          <a:stretch/>
        </p:blipFill>
        <p:spPr>
          <a:xfrm>
            <a:off x="10287000" y="5457825"/>
            <a:ext cx="1524000" cy="1009800"/>
          </a:xfrm>
          <a:prstGeom prst="rect">
            <a:avLst/>
          </a:prstGeom>
          <a:noFill/>
          <a:ln>
            <a:noFill/>
          </a:ln>
        </p:spPr>
      </p:pic>
      <p:sp>
        <p:nvSpPr>
          <p:cNvPr id="447" name="Google Shape;447;p27"/>
          <p:cNvSpPr txBox="1"/>
          <p:nvPr/>
        </p:nvSpPr>
        <p:spPr>
          <a:xfrm>
            <a:off x="762000" y="6134100"/>
            <a:ext cx="4762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75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Introduction of Electronics | Robotics and Automation Systems</a:t>
            </a:r>
            <a:endParaRPr b="0" sz="975">
              <a:solidFill>
                <a:srgbClr val="6B728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48" name="Google Shape;448;p27"/>
          <p:cNvSpPr txBox="1"/>
          <p:nvPr/>
        </p:nvSpPr>
        <p:spPr>
          <a:xfrm>
            <a:off x="762000" y="571500"/>
            <a:ext cx="95250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700">
                <a:solidFill>
                  <a:srgbClr val="045A3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Direct Current (DC)</a:t>
            </a:r>
            <a:endParaRPr b="0" sz="2700">
              <a:solidFill>
                <a:srgbClr val="045A36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449" name="Google Shape;449;p27"/>
          <p:cNvSpPr/>
          <p:nvPr/>
        </p:nvSpPr>
        <p:spPr>
          <a:xfrm>
            <a:off x="762000" y="1123950"/>
            <a:ext cx="106680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50" name="Google Shape;450;p2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2000" y="1524000"/>
            <a:ext cx="4826100" cy="3619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51" name="Google Shape;451;p27"/>
          <p:cNvGrpSpPr/>
          <p:nvPr/>
        </p:nvGrpSpPr>
        <p:grpSpPr>
          <a:xfrm>
            <a:off x="6096000" y="1524000"/>
            <a:ext cx="5715150" cy="3381375"/>
            <a:chOff x="0" y="0"/>
            <a:chExt cx="5715150" cy="3381375"/>
          </a:xfrm>
        </p:grpSpPr>
        <p:grpSp>
          <p:nvGrpSpPr>
            <p:cNvPr id="452" name="Google Shape;452;p27"/>
            <p:cNvGrpSpPr/>
            <p:nvPr/>
          </p:nvGrpSpPr>
          <p:grpSpPr>
            <a:xfrm>
              <a:off x="0" y="0"/>
              <a:ext cx="5715075" cy="381000"/>
              <a:chOff x="0" y="0"/>
              <a:chExt cx="5715075" cy="381000"/>
            </a:xfrm>
          </p:grpSpPr>
          <p:pic>
            <p:nvPicPr>
              <p:cNvPr id="453" name="Google Shape;453;p27"/>
              <p:cNvPicPr preferRelativeResize="0"/>
              <p:nvPr/>
            </p:nvPicPr>
            <p:blipFill rotWithShape="1">
              <a:blip r:embed="rId9">
                <a:alphaModFix/>
              </a:blip>
              <a:srcRect b="0" l="0" r="0" t="0"/>
              <a:stretch/>
            </p:blipFill>
            <p:spPr>
              <a:xfrm>
                <a:off x="0" y="38100"/>
                <a:ext cx="190500" cy="2001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54" name="Google Shape;454;p27"/>
              <p:cNvSpPr txBox="1"/>
              <p:nvPr/>
            </p:nvSpPr>
            <p:spPr>
              <a:xfrm>
                <a:off x="333375" y="0"/>
                <a:ext cx="53817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500">
                    <a:solidFill>
                      <a:srgbClr val="045A36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Flow:</a:t>
                </a:r>
                <a:r>
                  <a:rPr lang="en"/>
                  <a:t> </a:t>
                </a:r>
                <a:r>
                  <a:rPr b="0" lang="en" sz="150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One direction only.</a:t>
                </a:r>
                <a:endParaRPr/>
              </a:p>
            </p:txBody>
          </p:sp>
        </p:grpSp>
        <p:grpSp>
          <p:nvGrpSpPr>
            <p:cNvPr id="455" name="Google Shape;455;p27"/>
            <p:cNvGrpSpPr/>
            <p:nvPr/>
          </p:nvGrpSpPr>
          <p:grpSpPr>
            <a:xfrm>
              <a:off x="0" y="666750"/>
              <a:ext cx="5715075" cy="333300"/>
              <a:chOff x="0" y="0"/>
              <a:chExt cx="5715075" cy="333300"/>
            </a:xfrm>
          </p:grpSpPr>
          <p:pic>
            <p:nvPicPr>
              <p:cNvPr id="456" name="Google Shape;456;p27"/>
              <p:cNvPicPr preferRelativeResize="0"/>
              <p:nvPr/>
            </p:nvPicPr>
            <p:blipFill rotWithShape="1">
              <a:blip r:embed="rId9">
                <a:alphaModFix/>
              </a:blip>
              <a:srcRect b="0" l="0" r="0" t="0"/>
              <a:stretch/>
            </p:blipFill>
            <p:spPr>
              <a:xfrm>
                <a:off x="0" y="38100"/>
                <a:ext cx="190500" cy="2001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57" name="Google Shape;457;p27"/>
              <p:cNvSpPr txBox="1"/>
              <p:nvPr/>
            </p:nvSpPr>
            <p:spPr>
              <a:xfrm>
                <a:off x="333375" y="0"/>
                <a:ext cx="5381700" cy="33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650">
                    <a:solidFill>
                      <a:srgbClr val="045A36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Common Uses:</a:t>
                </a:r>
                <a:endParaRPr b="1" sz="1650">
                  <a:solidFill>
                    <a:srgbClr val="045A36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sp>
          <p:nvSpPr>
            <p:cNvPr id="458" name="Google Shape;458;p27"/>
            <p:cNvSpPr txBox="1"/>
            <p:nvPr/>
          </p:nvSpPr>
          <p:spPr>
            <a:xfrm>
              <a:off x="666750" y="1095375"/>
              <a:ext cx="5048400" cy="228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317500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0B7A4B"/>
                </a:buClr>
                <a:buSzPts val="1400"/>
                <a:buChar char="●"/>
              </a:pPr>
              <a:r>
                <a:rPr b="0" lang="en" sz="15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Batteries</a:t>
              </a:r>
              <a:endParaRPr b="0" sz="15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1125"/>
                </a:spcBef>
                <a:spcAft>
                  <a:spcPts val="0"/>
                </a:spcAft>
                <a:buClr>
                  <a:srgbClr val="0B7A4B"/>
                </a:buClr>
                <a:buSzPts val="1400"/>
                <a:buChar char="●"/>
              </a:pPr>
              <a:r>
                <a:rPr b="0" lang="en" sz="15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Arduino boards</a:t>
              </a:r>
              <a:endParaRPr b="0" sz="15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1125"/>
                </a:spcBef>
                <a:spcAft>
                  <a:spcPts val="0"/>
                </a:spcAft>
                <a:buClr>
                  <a:srgbClr val="0B7A4B"/>
                </a:buClr>
                <a:buSzPts val="1400"/>
                <a:buChar char="●"/>
              </a:pPr>
              <a:r>
                <a:rPr b="0" lang="en" sz="15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Robots</a:t>
              </a:r>
              <a:endParaRPr b="0" sz="15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  <a:p>
              <a:pPr indent="-317500" lvl="0" marL="457200" rtl="0" algn="l">
                <a:spcBef>
                  <a:spcPts val="1125"/>
                </a:spcBef>
                <a:spcAft>
                  <a:spcPts val="1125"/>
                </a:spcAft>
                <a:buClr>
                  <a:srgbClr val="0B7A4B"/>
                </a:buClr>
                <a:buSzPts val="1400"/>
                <a:buChar char="●"/>
              </a:pPr>
              <a:r>
                <a:rPr b="0" lang="en" sz="15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DC motors</a:t>
              </a:r>
              <a:endParaRPr b="0" sz="15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2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64" name="Google Shape;464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5" name="Google Shape;465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5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6" name="Google Shape;466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5981700"/>
            <a:ext cx="10668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7" name="Google Shape;467;p28"/>
          <p:cNvPicPr preferRelativeResize="0"/>
          <p:nvPr/>
        </p:nvPicPr>
        <p:blipFill rotWithShape="1">
          <a:blip r:embed="rId6">
            <a:alphaModFix/>
          </a:blip>
          <a:srcRect b="466" l="0" r="0" t="466"/>
          <a:stretch/>
        </p:blipFill>
        <p:spPr>
          <a:xfrm>
            <a:off x="10287000" y="5457825"/>
            <a:ext cx="1524000" cy="1009800"/>
          </a:xfrm>
          <a:prstGeom prst="rect">
            <a:avLst/>
          </a:prstGeom>
          <a:noFill/>
          <a:ln>
            <a:noFill/>
          </a:ln>
        </p:spPr>
      </p:pic>
      <p:sp>
        <p:nvSpPr>
          <p:cNvPr id="468" name="Google Shape;468;p28"/>
          <p:cNvSpPr txBox="1"/>
          <p:nvPr/>
        </p:nvSpPr>
        <p:spPr>
          <a:xfrm>
            <a:off x="762000" y="6134100"/>
            <a:ext cx="4762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75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Introduction of Electronics | Robotics and Automation Systems</a:t>
            </a:r>
            <a:endParaRPr b="0" sz="975">
              <a:solidFill>
                <a:srgbClr val="6B728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9" name="Google Shape;469;p28"/>
          <p:cNvSpPr txBox="1"/>
          <p:nvPr/>
        </p:nvSpPr>
        <p:spPr>
          <a:xfrm>
            <a:off x="762000" y="571500"/>
            <a:ext cx="95250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700">
                <a:solidFill>
                  <a:srgbClr val="045A3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Alternating Current (AC)</a:t>
            </a:r>
            <a:endParaRPr b="0" sz="2700">
              <a:solidFill>
                <a:srgbClr val="045A36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470" name="Google Shape;470;p28"/>
          <p:cNvSpPr/>
          <p:nvPr/>
        </p:nvSpPr>
        <p:spPr>
          <a:xfrm>
            <a:off x="762000" y="1123950"/>
            <a:ext cx="106680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71" name="Google Shape;471;p28"/>
          <p:cNvGrpSpPr/>
          <p:nvPr/>
        </p:nvGrpSpPr>
        <p:grpSpPr>
          <a:xfrm>
            <a:off x="762000" y="1524000"/>
            <a:ext cx="5524575" cy="2857500"/>
            <a:chOff x="0" y="0"/>
            <a:chExt cx="5524575" cy="2857500"/>
          </a:xfrm>
        </p:grpSpPr>
        <p:grpSp>
          <p:nvGrpSpPr>
            <p:cNvPr id="472" name="Google Shape;472;p28"/>
            <p:cNvGrpSpPr/>
            <p:nvPr/>
          </p:nvGrpSpPr>
          <p:grpSpPr>
            <a:xfrm>
              <a:off x="0" y="0"/>
              <a:ext cx="5524575" cy="381000"/>
              <a:chOff x="0" y="0"/>
              <a:chExt cx="5524575" cy="381000"/>
            </a:xfrm>
          </p:grpSpPr>
          <p:pic>
            <p:nvPicPr>
              <p:cNvPr id="473" name="Google Shape;473;p28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0" y="47625"/>
                <a:ext cx="190500" cy="2001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74" name="Google Shape;474;p28"/>
              <p:cNvSpPr txBox="1"/>
              <p:nvPr/>
            </p:nvSpPr>
            <p:spPr>
              <a:xfrm>
                <a:off x="333375" y="0"/>
                <a:ext cx="51912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500">
                    <a:solidFill>
                      <a:srgbClr val="045A36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Flow:</a:t>
                </a:r>
                <a:r>
                  <a:rPr b="0" lang="en" sz="150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 Changes direction repeatedly.</a:t>
                </a:r>
                <a:endParaRPr b="0" sz="15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475" name="Google Shape;475;p28"/>
            <p:cNvGrpSpPr/>
            <p:nvPr/>
          </p:nvGrpSpPr>
          <p:grpSpPr>
            <a:xfrm>
              <a:off x="0" y="571500"/>
              <a:ext cx="5524575" cy="2286000"/>
              <a:chOff x="0" y="0"/>
              <a:chExt cx="5524575" cy="2286000"/>
            </a:xfrm>
          </p:grpSpPr>
          <p:pic>
            <p:nvPicPr>
              <p:cNvPr id="476" name="Google Shape;476;p28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0" y="47625"/>
                <a:ext cx="190500" cy="2001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77" name="Google Shape;477;p28"/>
              <p:cNvSpPr txBox="1"/>
              <p:nvPr/>
            </p:nvSpPr>
            <p:spPr>
              <a:xfrm>
                <a:off x="333375" y="0"/>
                <a:ext cx="51912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500">
                    <a:solidFill>
                      <a:srgbClr val="045A36"/>
                    </a:solidFill>
                    <a:latin typeface="Inter SemiBold"/>
                    <a:ea typeface="Inter SemiBold"/>
                    <a:cs typeface="Inter SemiBold"/>
                    <a:sym typeface="Inter SemiBold"/>
                  </a:rPr>
                  <a:t>Common Uses:</a:t>
                </a:r>
                <a:endParaRPr b="0" sz="1500">
                  <a:solidFill>
                    <a:srgbClr val="045A36"/>
                  </a:solidFill>
                  <a:latin typeface="Inter SemiBold"/>
                  <a:ea typeface="Inter SemiBold"/>
                  <a:cs typeface="Inter SemiBold"/>
                  <a:sym typeface="Inter SemiBold"/>
                </a:endParaRPr>
              </a:p>
            </p:txBody>
          </p:sp>
          <p:sp>
            <p:nvSpPr>
              <p:cNvPr id="478" name="Google Shape;478;p28"/>
              <p:cNvSpPr txBox="1"/>
              <p:nvPr/>
            </p:nvSpPr>
            <p:spPr>
              <a:xfrm>
                <a:off x="571500" y="381000"/>
                <a:ext cx="4953000" cy="1905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-317500" lvl="0" marL="457200" rtl="0" algn="l">
                  <a:spcBef>
                    <a:spcPts val="0"/>
                  </a:spcBef>
                  <a:spcAft>
                    <a:spcPts val="0"/>
                  </a:spcAft>
                  <a:buSzPts val="1400"/>
                  <a:buChar char="●"/>
                </a:pPr>
                <a:r>
                  <a:rPr b="0" lang="en" sz="150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Home electricity (wall outlets)</a:t>
                </a:r>
                <a:endParaRPr b="0" sz="15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-317500" lvl="0" marL="457200" rtl="0" algn="l">
                  <a:spcBef>
                    <a:spcPts val="900"/>
                  </a:spcBef>
                  <a:spcAft>
                    <a:spcPts val="0"/>
                  </a:spcAft>
                  <a:buSzPts val="1400"/>
                  <a:buChar char="●"/>
                </a:pPr>
                <a:r>
                  <a:rPr b="0" lang="en" sz="150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Ceiling fans</a:t>
                </a:r>
                <a:endParaRPr b="0" sz="15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-317500" lvl="0" marL="457200" rtl="0" algn="l">
                  <a:spcBef>
                    <a:spcPts val="900"/>
                  </a:spcBef>
                  <a:spcAft>
                    <a:spcPts val="0"/>
                  </a:spcAft>
                  <a:buSzPts val="1400"/>
                  <a:buChar char="●"/>
                </a:pPr>
                <a:r>
                  <a:rPr b="0" lang="en" sz="150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Household appliances</a:t>
                </a:r>
                <a:endParaRPr b="0" sz="15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endParaRPr>
              </a:p>
              <a:p>
                <a:pPr indent="-317500" lvl="0" marL="457200" rtl="0" algn="l">
                  <a:spcBef>
                    <a:spcPts val="900"/>
                  </a:spcBef>
                  <a:spcAft>
                    <a:spcPts val="900"/>
                  </a:spcAft>
                  <a:buSzPts val="1400"/>
                  <a:buChar char="●"/>
                </a:pPr>
                <a:r>
                  <a:rPr b="0" lang="en" sz="150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rPr>
                  <a:t>Heavy industrial machines</a:t>
                </a:r>
                <a:endParaRPr b="0" sz="15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479" name="Google Shape;479;p28"/>
          <p:cNvGrpSpPr/>
          <p:nvPr/>
        </p:nvGrpSpPr>
        <p:grpSpPr>
          <a:xfrm>
            <a:off x="6477000" y="1524000"/>
            <a:ext cx="4953000" cy="4191150"/>
            <a:chOff x="0" y="0"/>
            <a:chExt cx="4953000" cy="4191150"/>
          </a:xfrm>
        </p:grpSpPr>
        <p:sp>
          <p:nvSpPr>
            <p:cNvPr id="480" name="Google Shape;480;p28"/>
            <p:cNvSpPr txBox="1"/>
            <p:nvPr/>
          </p:nvSpPr>
          <p:spPr>
            <a:xfrm>
              <a:off x="0" y="0"/>
              <a:ext cx="4953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50">
                  <a:solidFill>
                    <a:srgbClr val="045A36"/>
                  </a:solidFill>
                  <a:latin typeface="Montserrat"/>
                  <a:ea typeface="Montserrat"/>
                  <a:cs typeface="Montserrat"/>
                  <a:sym typeface="Montserrat"/>
                </a:rPr>
                <a:t>AC Waveform &amp; Source</a:t>
              </a:r>
              <a:endParaRPr b="1" sz="1650">
                <a:solidFill>
                  <a:srgbClr val="045A36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pic>
          <p:nvPicPr>
            <p:cNvPr id="481" name="Google Shape;481;p28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0" y="476250"/>
              <a:ext cx="4953000" cy="37149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6" name="Google Shape;486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7" name="Google Shape;487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0"/>
            <a:ext cx="12192000" cy="5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8" name="Google Shape;488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5981700"/>
            <a:ext cx="10668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9" name="Google Shape;489;p29"/>
          <p:cNvPicPr preferRelativeResize="0"/>
          <p:nvPr/>
        </p:nvPicPr>
        <p:blipFill rotWithShape="1">
          <a:blip r:embed="rId7">
            <a:alphaModFix/>
          </a:blip>
          <a:srcRect b="0" l="0" r="0" t="10"/>
          <a:stretch/>
        </p:blipFill>
        <p:spPr>
          <a:xfrm>
            <a:off x="10287000" y="5461102"/>
            <a:ext cx="1524000" cy="1015800"/>
          </a:xfrm>
          <a:prstGeom prst="rect">
            <a:avLst/>
          </a:prstGeom>
          <a:noFill/>
          <a:ln>
            <a:noFill/>
          </a:ln>
        </p:spPr>
      </p:pic>
      <p:sp>
        <p:nvSpPr>
          <p:cNvPr id="490" name="Google Shape;490;p29"/>
          <p:cNvSpPr txBox="1"/>
          <p:nvPr/>
        </p:nvSpPr>
        <p:spPr>
          <a:xfrm>
            <a:off x="762000" y="6134100"/>
            <a:ext cx="4762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75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Introduction of Electronics | Robotics and Automation Systems</a:t>
            </a:r>
            <a:endParaRPr b="0" sz="975">
              <a:solidFill>
                <a:srgbClr val="6B728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91" name="Google Shape;491;p29"/>
          <p:cNvSpPr txBox="1"/>
          <p:nvPr/>
        </p:nvSpPr>
        <p:spPr>
          <a:xfrm>
            <a:off x="762000" y="571500"/>
            <a:ext cx="95250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700">
                <a:solidFill>
                  <a:srgbClr val="045A3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Voltage</a:t>
            </a:r>
            <a:endParaRPr b="0" sz="2700">
              <a:solidFill>
                <a:srgbClr val="045A36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492" name="Google Shape;492;p29"/>
          <p:cNvSpPr/>
          <p:nvPr/>
        </p:nvSpPr>
        <p:spPr>
          <a:xfrm>
            <a:off x="762000" y="1123950"/>
            <a:ext cx="106680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93" name="Google Shape;493;p2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2000" y="1524000"/>
            <a:ext cx="4286400" cy="3214800"/>
          </a:xfrm>
          <a:prstGeom prst="rect">
            <a:avLst/>
          </a:prstGeom>
          <a:noFill/>
          <a:ln>
            <a:noFill/>
          </a:ln>
        </p:spPr>
      </p:pic>
      <p:sp>
        <p:nvSpPr>
          <p:cNvPr id="494" name="Google Shape;494;p29"/>
          <p:cNvSpPr/>
          <p:nvPr>
            <p:ph idx="2" type="pic"/>
          </p:nvPr>
        </p:nvSpPr>
        <p:spPr>
          <a:xfrm>
            <a:off x="5429250" y="1571625"/>
            <a:ext cx="190500" cy="200100"/>
          </a:xfrm>
          <a:prstGeom prst="rect">
            <a:avLst/>
          </a:prstGeom>
          <a:noFill/>
          <a:ln>
            <a:noFill/>
          </a:ln>
        </p:spPr>
      </p:sp>
      <p:sp>
        <p:nvSpPr>
          <p:cNvPr id="495" name="Google Shape;495;p29"/>
          <p:cNvSpPr txBox="1"/>
          <p:nvPr/>
        </p:nvSpPr>
        <p:spPr>
          <a:xfrm>
            <a:off x="5762625" y="1524000"/>
            <a:ext cx="56673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500">
                <a:solidFill>
                  <a:srgbClr val="045A3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Definition</a:t>
            </a:r>
            <a:endParaRPr b="0" sz="1500">
              <a:solidFill>
                <a:srgbClr val="045A36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b="0" lang="en" sz="15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The electrical pressure that pushes current through a circuit.</a:t>
            </a:r>
            <a:endParaRPr b="0" sz="1500">
              <a:solidFill>
                <a:srgbClr val="37415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96" name="Google Shape;496;p29"/>
          <p:cNvSpPr/>
          <p:nvPr>
            <p:ph idx="3" type="pic"/>
          </p:nvPr>
        </p:nvSpPr>
        <p:spPr>
          <a:xfrm>
            <a:off x="5429250" y="2667000"/>
            <a:ext cx="190500" cy="200100"/>
          </a:xfrm>
          <a:prstGeom prst="rect">
            <a:avLst/>
          </a:prstGeom>
          <a:noFill/>
          <a:ln>
            <a:noFill/>
          </a:ln>
        </p:spPr>
      </p:sp>
      <p:sp>
        <p:nvSpPr>
          <p:cNvPr id="497" name="Google Shape;497;p29"/>
          <p:cNvSpPr txBox="1"/>
          <p:nvPr/>
        </p:nvSpPr>
        <p:spPr>
          <a:xfrm>
            <a:off x="5762625" y="2619375"/>
            <a:ext cx="56673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500">
                <a:solidFill>
                  <a:srgbClr val="045A3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Unit of Measurement</a:t>
            </a:r>
            <a:endParaRPr b="0" sz="1500">
              <a:solidFill>
                <a:srgbClr val="045A36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b="0" lang="en" sz="15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Volt (V)</a:t>
            </a:r>
            <a:endParaRPr b="0" sz="1500">
              <a:solidFill>
                <a:srgbClr val="37415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98" name="Google Shape;498;p29"/>
          <p:cNvSpPr/>
          <p:nvPr>
            <p:ph idx="4" type="pic"/>
          </p:nvPr>
        </p:nvSpPr>
        <p:spPr>
          <a:xfrm>
            <a:off x="5429250" y="3571875"/>
            <a:ext cx="190500" cy="200100"/>
          </a:xfrm>
          <a:prstGeom prst="rect">
            <a:avLst/>
          </a:prstGeom>
          <a:noFill/>
          <a:ln>
            <a:noFill/>
          </a:ln>
        </p:spPr>
      </p:sp>
      <p:sp>
        <p:nvSpPr>
          <p:cNvPr id="499" name="Google Shape;499;p29"/>
          <p:cNvSpPr txBox="1"/>
          <p:nvPr/>
        </p:nvSpPr>
        <p:spPr>
          <a:xfrm>
            <a:off x="5762625" y="3524250"/>
            <a:ext cx="56673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500">
                <a:solidFill>
                  <a:srgbClr val="045A3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Analogy</a:t>
            </a:r>
            <a:endParaRPr b="0" sz="1500">
              <a:solidFill>
                <a:srgbClr val="045A36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b="0" lang="en" sz="15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Water pressure in a pipe.</a:t>
            </a:r>
            <a:endParaRPr b="0" sz="1500">
              <a:solidFill>
                <a:srgbClr val="37415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3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05" name="Google Shape;505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6" name="Google Shape;506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5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7" name="Google Shape;507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5981700"/>
            <a:ext cx="10668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8" name="Google Shape;508;p30"/>
          <p:cNvPicPr preferRelativeResize="0"/>
          <p:nvPr/>
        </p:nvPicPr>
        <p:blipFill rotWithShape="1">
          <a:blip r:embed="rId6">
            <a:alphaModFix/>
          </a:blip>
          <a:srcRect b="466" l="0" r="0" t="466"/>
          <a:stretch/>
        </p:blipFill>
        <p:spPr>
          <a:xfrm>
            <a:off x="10287000" y="5457825"/>
            <a:ext cx="1524000" cy="1009800"/>
          </a:xfrm>
          <a:prstGeom prst="rect">
            <a:avLst/>
          </a:prstGeom>
          <a:noFill/>
          <a:ln>
            <a:noFill/>
          </a:ln>
        </p:spPr>
      </p:pic>
      <p:sp>
        <p:nvSpPr>
          <p:cNvPr id="509" name="Google Shape;509;p30"/>
          <p:cNvSpPr txBox="1"/>
          <p:nvPr/>
        </p:nvSpPr>
        <p:spPr>
          <a:xfrm>
            <a:off x="762000" y="6134100"/>
            <a:ext cx="4762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75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Introduction of Electronics | Robotics and Automation Systems</a:t>
            </a:r>
            <a:endParaRPr b="0" sz="975">
              <a:solidFill>
                <a:srgbClr val="6B728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10" name="Google Shape;510;p30"/>
          <p:cNvSpPr txBox="1"/>
          <p:nvPr/>
        </p:nvSpPr>
        <p:spPr>
          <a:xfrm>
            <a:off x="762000" y="571500"/>
            <a:ext cx="95250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700">
                <a:solidFill>
                  <a:srgbClr val="045A3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Current</a:t>
            </a:r>
            <a:endParaRPr b="0" sz="2700">
              <a:solidFill>
                <a:srgbClr val="045A36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511" name="Google Shape;511;p30"/>
          <p:cNvSpPr/>
          <p:nvPr/>
        </p:nvSpPr>
        <p:spPr>
          <a:xfrm>
            <a:off x="762000" y="1123950"/>
            <a:ext cx="106680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12" name="Google Shape;512;p3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000" y="1524000"/>
            <a:ext cx="4286400" cy="3214800"/>
          </a:xfrm>
          <a:prstGeom prst="rect">
            <a:avLst/>
          </a:prstGeom>
          <a:noFill/>
          <a:ln>
            <a:noFill/>
          </a:ln>
        </p:spPr>
      </p:pic>
      <p:sp>
        <p:nvSpPr>
          <p:cNvPr id="513" name="Google Shape;513;p30"/>
          <p:cNvSpPr txBox="1"/>
          <p:nvPr/>
        </p:nvSpPr>
        <p:spPr>
          <a:xfrm>
            <a:off x="5429250" y="1524000"/>
            <a:ext cx="60009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50">
                <a:solidFill>
                  <a:srgbClr val="045A36"/>
                </a:solidFill>
                <a:latin typeface="Montserrat"/>
                <a:ea typeface="Montserrat"/>
                <a:cs typeface="Montserrat"/>
                <a:sym typeface="Montserrat"/>
              </a:rPr>
              <a:t>Core Concepts</a:t>
            </a:r>
            <a:endParaRPr b="1" sz="1650">
              <a:solidFill>
                <a:srgbClr val="045A3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4" name="Google Shape;514;p30"/>
          <p:cNvSpPr/>
          <p:nvPr/>
        </p:nvSpPr>
        <p:spPr>
          <a:xfrm>
            <a:off x="5429250" y="1952625"/>
            <a:ext cx="60009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30"/>
          <p:cNvSpPr/>
          <p:nvPr>
            <p:ph idx="2" type="pic"/>
          </p:nvPr>
        </p:nvSpPr>
        <p:spPr>
          <a:xfrm>
            <a:off x="5429250" y="2190750"/>
            <a:ext cx="190500" cy="200100"/>
          </a:xfrm>
          <a:prstGeom prst="rect">
            <a:avLst/>
          </a:prstGeom>
          <a:noFill/>
          <a:ln>
            <a:noFill/>
          </a:ln>
        </p:spPr>
      </p:sp>
      <p:sp>
        <p:nvSpPr>
          <p:cNvPr id="516" name="Google Shape;516;p30"/>
          <p:cNvSpPr txBox="1"/>
          <p:nvPr/>
        </p:nvSpPr>
        <p:spPr>
          <a:xfrm>
            <a:off x="5762625" y="2143125"/>
            <a:ext cx="56673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500">
                <a:solidFill>
                  <a:srgbClr val="045A3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Definition:</a:t>
            </a:r>
            <a:r>
              <a:rPr b="0" lang="en" sz="15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The actual flow of electric charge in a circuit.</a:t>
            </a:r>
            <a:endParaRPr b="0" sz="1500">
              <a:solidFill>
                <a:srgbClr val="37415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17" name="Google Shape;517;p30"/>
          <p:cNvSpPr/>
          <p:nvPr>
            <p:ph idx="3" type="pic"/>
          </p:nvPr>
        </p:nvSpPr>
        <p:spPr>
          <a:xfrm>
            <a:off x="5429250" y="2905125"/>
            <a:ext cx="190500" cy="200100"/>
          </a:xfrm>
          <a:prstGeom prst="rect">
            <a:avLst/>
          </a:prstGeom>
          <a:noFill/>
          <a:ln>
            <a:noFill/>
          </a:ln>
        </p:spPr>
      </p:sp>
      <p:sp>
        <p:nvSpPr>
          <p:cNvPr id="518" name="Google Shape;518;p30"/>
          <p:cNvSpPr txBox="1"/>
          <p:nvPr/>
        </p:nvSpPr>
        <p:spPr>
          <a:xfrm>
            <a:off x="5762625" y="2857500"/>
            <a:ext cx="56673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500">
                <a:solidFill>
                  <a:srgbClr val="045A3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Unit of Measurement:</a:t>
            </a:r>
            <a:r>
              <a:rPr b="0" lang="en" sz="15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Ampere (A)</a:t>
            </a:r>
            <a:endParaRPr b="0" sz="1500">
              <a:solidFill>
                <a:srgbClr val="37415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19" name="Google Shape;519;p30"/>
          <p:cNvSpPr/>
          <p:nvPr>
            <p:ph idx="4" type="pic"/>
          </p:nvPr>
        </p:nvSpPr>
        <p:spPr>
          <a:xfrm>
            <a:off x="5429250" y="3619500"/>
            <a:ext cx="190500" cy="200100"/>
          </a:xfrm>
          <a:prstGeom prst="rect">
            <a:avLst/>
          </a:prstGeom>
          <a:noFill/>
          <a:ln>
            <a:noFill/>
          </a:ln>
        </p:spPr>
      </p:sp>
      <p:sp>
        <p:nvSpPr>
          <p:cNvPr id="520" name="Google Shape;520;p30"/>
          <p:cNvSpPr txBox="1"/>
          <p:nvPr/>
        </p:nvSpPr>
        <p:spPr>
          <a:xfrm>
            <a:off x="5762625" y="3571875"/>
            <a:ext cx="56673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500">
                <a:solidFill>
                  <a:srgbClr val="045A3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Analogy:</a:t>
            </a:r>
            <a:r>
              <a:rPr b="0" lang="en" sz="15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The amount of water flowing through a pipe.</a:t>
            </a:r>
            <a:endParaRPr b="0" sz="1500">
              <a:solidFill>
                <a:srgbClr val="37415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3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26" name="Google Shape;526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7" name="Google Shape;527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5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8" name="Google Shape;528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5981700"/>
            <a:ext cx="10668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9" name="Google Shape;529;p31"/>
          <p:cNvPicPr preferRelativeResize="0"/>
          <p:nvPr/>
        </p:nvPicPr>
        <p:blipFill rotWithShape="1">
          <a:blip r:embed="rId6">
            <a:alphaModFix/>
          </a:blip>
          <a:srcRect b="466" l="0" r="0" t="466"/>
          <a:stretch/>
        </p:blipFill>
        <p:spPr>
          <a:xfrm>
            <a:off x="10287000" y="5457825"/>
            <a:ext cx="1524000" cy="10098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31"/>
          <p:cNvSpPr txBox="1"/>
          <p:nvPr/>
        </p:nvSpPr>
        <p:spPr>
          <a:xfrm>
            <a:off x="762000" y="6134100"/>
            <a:ext cx="4762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75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Introduction of Electronics | Robotics and Automation Systems</a:t>
            </a:r>
            <a:endParaRPr b="0" sz="975">
              <a:solidFill>
                <a:srgbClr val="6B728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31" name="Google Shape;531;p31"/>
          <p:cNvSpPr txBox="1"/>
          <p:nvPr/>
        </p:nvSpPr>
        <p:spPr>
          <a:xfrm>
            <a:off x="762000" y="571500"/>
            <a:ext cx="95250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700">
                <a:solidFill>
                  <a:srgbClr val="045A3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Resistance</a:t>
            </a:r>
            <a:endParaRPr b="0" sz="2700">
              <a:solidFill>
                <a:srgbClr val="045A36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532" name="Google Shape;532;p31"/>
          <p:cNvSpPr/>
          <p:nvPr/>
        </p:nvSpPr>
        <p:spPr>
          <a:xfrm>
            <a:off x="762000" y="1123950"/>
            <a:ext cx="106680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33" name="Google Shape;533;p3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000" y="1524000"/>
            <a:ext cx="4286400" cy="3214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34" name="Google Shape;534;p31"/>
          <p:cNvGrpSpPr/>
          <p:nvPr/>
        </p:nvGrpSpPr>
        <p:grpSpPr>
          <a:xfrm>
            <a:off x="5429250" y="1524000"/>
            <a:ext cx="6000900" cy="1095375"/>
            <a:chOff x="0" y="0"/>
            <a:chExt cx="6000900" cy="1095375"/>
          </a:xfrm>
        </p:grpSpPr>
        <p:sp>
          <p:nvSpPr>
            <p:cNvPr id="535" name="Google Shape;535;p31"/>
            <p:cNvSpPr txBox="1"/>
            <p:nvPr/>
          </p:nvSpPr>
          <p:spPr>
            <a:xfrm>
              <a:off x="0" y="0"/>
              <a:ext cx="60009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50">
                  <a:solidFill>
                    <a:srgbClr val="045A36"/>
                  </a:solidFill>
                  <a:latin typeface="Montserrat"/>
                  <a:ea typeface="Montserrat"/>
                  <a:cs typeface="Montserrat"/>
                  <a:sym typeface="Montserrat"/>
                </a:rPr>
                <a:t>Definition</a:t>
              </a:r>
              <a:endParaRPr b="1" sz="1650">
                <a:solidFill>
                  <a:srgbClr val="045A36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36" name="Google Shape;536;p31"/>
            <p:cNvSpPr/>
            <p:nvPr/>
          </p:nvSpPr>
          <p:spPr>
            <a:xfrm>
              <a:off x="0" y="381000"/>
              <a:ext cx="6000900" cy="960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" name="Google Shape;537;p31"/>
            <p:cNvSpPr txBox="1"/>
            <p:nvPr/>
          </p:nvSpPr>
          <p:spPr>
            <a:xfrm>
              <a:off x="0" y="523875"/>
              <a:ext cx="6000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The property that opposes the flow of current.</a:t>
              </a:r>
              <a:endParaRPr b="0" sz="15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538" name="Google Shape;538;p31"/>
          <p:cNvGrpSpPr/>
          <p:nvPr/>
        </p:nvGrpSpPr>
        <p:grpSpPr>
          <a:xfrm>
            <a:off x="5429250" y="2857500"/>
            <a:ext cx="6000900" cy="1095375"/>
            <a:chOff x="0" y="0"/>
            <a:chExt cx="6000900" cy="1095375"/>
          </a:xfrm>
        </p:grpSpPr>
        <p:sp>
          <p:nvSpPr>
            <p:cNvPr id="539" name="Google Shape;539;p31"/>
            <p:cNvSpPr txBox="1"/>
            <p:nvPr/>
          </p:nvSpPr>
          <p:spPr>
            <a:xfrm>
              <a:off x="0" y="0"/>
              <a:ext cx="60009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50">
                  <a:solidFill>
                    <a:srgbClr val="045A36"/>
                  </a:solidFill>
                  <a:latin typeface="Montserrat"/>
                  <a:ea typeface="Montserrat"/>
                  <a:cs typeface="Montserrat"/>
                  <a:sym typeface="Montserrat"/>
                </a:rPr>
                <a:t>Unit of Measurement</a:t>
              </a:r>
              <a:endParaRPr b="1" sz="1650">
                <a:solidFill>
                  <a:srgbClr val="045A36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40" name="Google Shape;540;p31"/>
            <p:cNvSpPr/>
            <p:nvPr/>
          </p:nvSpPr>
          <p:spPr>
            <a:xfrm>
              <a:off x="0" y="381000"/>
              <a:ext cx="6000900" cy="960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31"/>
            <p:cNvSpPr txBox="1"/>
            <p:nvPr/>
          </p:nvSpPr>
          <p:spPr>
            <a:xfrm>
              <a:off x="0" y="523875"/>
              <a:ext cx="6000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374151"/>
                  </a:solidFill>
                  <a:latin typeface="Inter"/>
                  <a:ea typeface="Inter"/>
                  <a:cs typeface="Inter"/>
                  <a:sym typeface="Inter"/>
                </a:rPr>
                <a:t>Ohm (Ω)</a:t>
              </a:r>
              <a:endParaRPr b="0" sz="15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542" name="Google Shape;542;p31"/>
          <p:cNvSpPr txBox="1"/>
          <p:nvPr/>
        </p:nvSpPr>
        <p:spPr>
          <a:xfrm>
            <a:off x="5429250" y="4191000"/>
            <a:ext cx="60009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50">
                <a:solidFill>
                  <a:srgbClr val="045A36"/>
                </a:solidFill>
                <a:latin typeface="Montserrat"/>
                <a:ea typeface="Montserrat"/>
                <a:cs typeface="Montserrat"/>
                <a:sym typeface="Montserrat"/>
              </a:rPr>
              <a:t>Analogy</a:t>
            </a:r>
            <a:endParaRPr b="1" sz="1650">
              <a:solidFill>
                <a:srgbClr val="045A3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3" name="Google Shape;543;p31"/>
          <p:cNvSpPr/>
          <p:nvPr/>
        </p:nvSpPr>
        <p:spPr>
          <a:xfrm>
            <a:off x="5429250" y="4572000"/>
            <a:ext cx="60009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31"/>
          <p:cNvSpPr/>
          <p:nvPr>
            <p:ph idx="2" type="pic"/>
          </p:nvPr>
        </p:nvSpPr>
        <p:spPr>
          <a:xfrm>
            <a:off x="5429250" y="4752975"/>
            <a:ext cx="190500" cy="200100"/>
          </a:xfrm>
          <a:prstGeom prst="rect">
            <a:avLst/>
          </a:prstGeom>
          <a:noFill/>
          <a:ln>
            <a:noFill/>
          </a:ln>
        </p:spPr>
      </p:sp>
      <p:sp>
        <p:nvSpPr>
          <p:cNvPr id="545" name="Google Shape;545;p31"/>
          <p:cNvSpPr txBox="1"/>
          <p:nvPr/>
        </p:nvSpPr>
        <p:spPr>
          <a:xfrm>
            <a:off x="5762625" y="4714875"/>
            <a:ext cx="56673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5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A narrow section or pinch in a water pipe.</a:t>
            </a:r>
            <a:endParaRPr b="0" sz="1500">
              <a:solidFill>
                <a:srgbClr val="37415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3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32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pic>
        <p:nvPicPr>
          <p:cNvPr id="552" name="Google Shape;55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5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3" name="Google Shape;553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5981700"/>
            <a:ext cx="10668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4" name="Google Shape;554;p32"/>
          <p:cNvPicPr preferRelativeResize="0"/>
          <p:nvPr/>
        </p:nvPicPr>
        <p:blipFill rotWithShape="1">
          <a:blip r:embed="rId5">
            <a:alphaModFix/>
          </a:blip>
          <a:srcRect b="466" l="0" r="0" t="466"/>
          <a:stretch/>
        </p:blipFill>
        <p:spPr>
          <a:xfrm>
            <a:off x="10287000" y="5457825"/>
            <a:ext cx="1524000" cy="1009800"/>
          </a:xfrm>
          <a:prstGeom prst="rect">
            <a:avLst/>
          </a:prstGeom>
          <a:noFill/>
          <a:ln>
            <a:noFill/>
          </a:ln>
        </p:spPr>
      </p:pic>
      <p:sp>
        <p:nvSpPr>
          <p:cNvPr id="555" name="Google Shape;555;p32"/>
          <p:cNvSpPr txBox="1"/>
          <p:nvPr/>
        </p:nvSpPr>
        <p:spPr>
          <a:xfrm>
            <a:off x="762000" y="6134100"/>
            <a:ext cx="4762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75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Introduction of Electronics | Robotics and Automation Systems</a:t>
            </a:r>
            <a:endParaRPr b="0" sz="975">
              <a:solidFill>
                <a:srgbClr val="6B728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56" name="Google Shape;556;p32"/>
          <p:cNvSpPr txBox="1"/>
          <p:nvPr/>
        </p:nvSpPr>
        <p:spPr>
          <a:xfrm>
            <a:off x="762000" y="571500"/>
            <a:ext cx="95250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700">
                <a:solidFill>
                  <a:srgbClr val="045A3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Ohm’s Law</a:t>
            </a:r>
            <a:endParaRPr b="0" sz="2700">
              <a:solidFill>
                <a:srgbClr val="045A36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557" name="Google Shape;557;p32"/>
          <p:cNvSpPr/>
          <p:nvPr/>
        </p:nvSpPr>
        <p:spPr>
          <a:xfrm>
            <a:off x="762000" y="1123950"/>
            <a:ext cx="106680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58" name="Google Shape;558;p3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1714500"/>
            <a:ext cx="3810000" cy="3810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59" name="Google Shape;559;p32"/>
          <p:cNvGrpSpPr/>
          <p:nvPr/>
        </p:nvGrpSpPr>
        <p:grpSpPr>
          <a:xfrm>
            <a:off x="5143500" y="1714500"/>
            <a:ext cx="6286500" cy="3810000"/>
            <a:chOff x="0" y="0"/>
            <a:chExt cx="6286500" cy="3810000"/>
          </a:xfrm>
        </p:grpSpPr>
        <p:sp>
          <p:nvSpPr>
            <p:cNvPr id="560" name="Google Shape;560;p32"/>
            <p:cNvSpPr txBox="1"/>
            <p:nvPr/>
          </p:nvSpPr>
          <p:spPr>
            <a:xfrm>
              <a:off x="0" y="0"/>
              <a:ext cx="6286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4200">
                  <a:solidFill>
                    <a:srgbClr val="045A36"/>
                  </a:solidFill>
                  <a:latin typeface="Montserrat"/>
                  <a:ea typeface="Montserrat"/>
                  <a:cs typeface="Montserrat"/>
                  <a:sym typeface="Montserrat"/>
                </a:rPr>
                <a:t>V = I × R</a:t>
              </a:r>
              <a:endParaRPr b="1" sz="4200">
                <a:solidFill>
                  <a:srgbClr val="045A36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61" name="Google Shape;561;p32"/>
            <p:cNvSpPr/>
            <p:nvPr/>
          </p:nvSpPr>
          <p:spPr>
            <a:xfrm>
              <a:off x="0" y="1238250"/>
              <a:ext cx="6286500" cy="960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" name="Google Shape;562;p32"/>
            <p:cNvSpPr txBox="1"/>
            <p:nvPr/>
          </p:nvSpPr>
          <p:spPr>
            <a:xfrm>
              <a:off x="0" y="1524000"/>
              <a:ext cx="6286500" cy="228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0500" lIns="190500" spcFirstLastPara="1" rIns="190500" wrap="square" tIns="1905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50">
                  <a:solidFill>
                    <a:srgbClr val="045A36"/>
                  </a:solidFill>
                  <a:highlight>
                    <a:srgbClr val="F1F5F9"/>
                  </a:highlight>
                  <a:latin typeface="Montserrat"/>
                  <a:ea typeface="Montserrat"/>
                  <a:cs typeface="Montserrat"/>
                  <a:sym typeface="Montserrat"/>
                </a:rPr>
                <a:t>Definitions:</a:t>
              </a:r>
              <a:endParaRPr b="1" sz="1650">
                <a:solidFill>
                  <a:srgbClr val="045A36"/>
                </a:solidFill>
                <a:highlight>
                  <a:srgbClr val="F1F5F9"/>
                </a:highlight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045A36"/>
                  </a:solidFill>
                  <a:highlight>
                    <a:srgbClr val="F1F5F9"/>
                  </a:highlight>
                  <a:latin typeface="Inter SemiBold"/>
                  <a:ea typeface="Inter SemiBold"/>
                  <a:cs typeface="Inter SemiBold"/>
                  <a:sym typeface="Inter SemiBold"/>
                </a:rPr>
                <a:t>V</a:t>
              </a:r>
              <a:r>
                <a:rPr b="0" lang="en" sz="1500">
                  <a:solidFill>
                    <a:srgbClr val="374151"/>
                  </a:solidFill>
                  <a:highlight>
                    <a:srgbClr val="F1F5F9"/>
                  </a:highlight>
                  <a:latin typeface="Inter"/>
                  <a:ea typeface="Inter"/>
                  <a:cs typeface="Inter"/>
                  <a:sym typeface="Inter"/>
                </a:rPr>
                <a:t> = Voltage (Measured in </a:t>
              </a:r>
              <a:r>
                <a:rPr b="0" lang="en" sz="1500">
                  <a:solidFill>
                    <a:srgbClr val="045A36"/>
                  </a:solidFill>
                  <a:highlight>
                    <a:srgbClr val="F1F5F9"/>
                  </a:highlight>
                  <a:latin typeface="Inter SemiBold"/>
                  <a:ea typeface="Inter SemiBold"/>
                  <a:cs typeface="Inter SemiBold"/>
                  <a:sym typeface="Inter SemiBold"/>
                </a:rPr>
                <a:t>Volts</a:t>
              </a:r>
              <a:r>
                <a:rPr b="0" lang="en" sz="1500">
                  <a:solidFill>
                    <a:srgbClr val="374151"/>
                  </a:solidFill>
                  <a:highlight>
                    <a:srgbClr val="F1F5F9"/>
                  </a:highlight>
                  <a:latin typeface="Inter"/>
                  <a:ea typeface="Inter"/>
                  <a:cs typeface="Inter"/>
                  <a:sym typeface="Inter"/>
                </a:rPr>
                <a:t>)</a:t>
              </a:r>
              <a:endParaRPr>
                <a:highlight>
                  <a:srgbClr val="F1F5F9"/>
                </a:highlight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1500">
                  <a:solidFill>
                    <a:srgbClr val="045A36"/>
                  </a:solidFill>
                  <a:highlight>
                    <a:srgbClr val="F1F5F9"/>
                  </a:highlight>
                  <a:latin typeface="Inter SemiBold"/>
                  <a:ea typeface="Inter SemiBold"/>
                  <a:cs typeface="Inter SemiBold"/>
                  <a:sym typeface="Inter SemiBold"/>
                </a:rPr>
                <a:t>I</a:t>
              </a:r>
              <a:r>
                <a:rPr b="0" lang="en" sz="1500">
                  <a:solidFill>
                    <a:srgbClr val="374151"/>
                  </a:solidFill>
                  <a:highlight>
                    <a:srgbClr val="F1F5F9"/>
                  </a:highlight>
                  <a:latin typeface="Inter"/>
                  <a:ea typeface="Inter"/>
                  <a:cs typeface="Inter"/>
                  <a:sym typeface="Inter"/>
                </a:rPr>
                <a:t> = Current (Measured in </a:t>
              </a:r>
              <a:r>
                <a:rPr b="0" lang="en" sz="1500">
                  <a:solidFill>
                    <a:srgbClr val="045A36"/>
                  </a:solidFill>
                  <a:highlight>
                    <a:srgbClr val="F1F5F9"/>
                  </a:highlight>
                  <a:latin typeface="Inter SemiBold"/>
                  <a:ea typeface="Inter SemiBold"/>
                  <a:cs typeface="Inter SemiBold"/>
                  <a:sym typeface="Inter SemiBold"/>
                </a:rPr>
                <a:t>Amperes</a:t>
              </a:r>
              <a:r>
                <a:rPr b="0" lang="en" sz="1500">
                  <a:solidFill>
                    <a:srgbClr val="374151"/>
                  </a:solidFill>
                  <a:highlight>
                    <a:srgbClr val="F1F5F9"/>
                  </a:highlight>
                  <a:latin typeface="Inter"/>
                  <a:ea typeface="Inter"/>
                  <a:cs typeface="Inter"/>
                  <a:sym typeface="Inter"/>
                </a:rPr>
                <a:t>)</a:t>
              </a:r>
              <a:endParaRPr>
                <a:highlight>
                  <a:srgbClr val="F1F5F9"/>
                </a:highlight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900"/>
                </a:spcAft>
                <a:buNone/>
              </a:pPr>
              <a:r>
                <a:rPr b="0" lang="en" sz="1500">
                  <a:solidFill>
                    <a:srgbClr val="045A36"/>
                  </a:solidFill>
                  <a:highlight>
                    <a:srgbClr val="F1F5F9"/>
                  </a:highlight>
                  <a:latin typeface="Inter SemiBold"/>
                  <a:ea typeface="Inter SemiBold"/>
                  <a:cs typeface="Inter SemiBold"/>
                  <a:sym typeface="Inter SemiBold"/>
                </a:rPr>
                <a:t>R</a:t>
              </a:r>
              <a:r>
                <a:rPr b="0" lang="en" sz="1500">
                  <a:solidFill>
                    <a:srgbClr val="374151"/>
                  </a:solidFill>
                  <a:highlight>
                    <a:srgbClr val="F1F5F9"/>
                  </a:highlight>
                  <a:latin typeface="Inter"/>
                  <a:ea typeface="Inter"/>
                  <a:cs typeface="Inter"/>
                  <a:sym typeface="Inter"/>
                </a:rPr>
                <a:t> = Resistance (Measured in </a:t>
              </a:r>
              <a:r>
                <a:rPr b="0" lang="en" sz="1500">
                  <a:solidFill>
                    <a:srgbClr val="045A36"/>
                  </a:solidFill>
                  <a:highlight>
                    <a:srgbClr val="F1F5F9"/>
                  </a:highlight>
                  <a:latin typeface="Inter SemiBold"/>
                  <a:ea typeface="Inter SemiBold"/>
                  <a:cs typeface="Inter SemiBold"/>
                  <a:sym typeface="Inter SemiBold"/>
                </a:rPr>
                <a:t>Ohms</a:t>
              </a:r>
              <a:r>
                <a:rPr b="0" lang="en" sz="1500">
                  <a:solidFill>
                    <a:srgbClr val="374151"/>
                  </a:solidFill>
                  <a:highlight>
                    <a:srgbClr val="F1F5F9"/>
                  </a:highlight>
                  <a:latin typeface="Inter"/>
                  <a:ea typeface="Inter"/>
                  <a:cs typeface="Inter"/>
                  <a:sym typeface="Inter"/>
                </a:rPr>
                <a:t>)</a:t>
              </a:r>
              <a:endParaRPr>
                <a:highlight>
                  <a:srgbClr val="F1F5F9"/>
                </a:highlight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7" name="Google Shape;567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8" name="Google Shape;568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0"/>
            <a:ext cx="12192000" cy="57300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33"/>
          <p:cNvSpPr txBox="1"/>
          <p:nvPr/>
        </p:nvSpPr>
        <p:spPr>
          <a:xfrm>
            <a:off x="762000" y="571500"/>
            <a:ext cx="95250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700">
                <a:solidFill>
                  <a:srgbClr val="045A3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Ohm’s Law Example</a:t>
            </a:r>
            <a:endParaRPr b="0" sz="2700">
              <a:solidFill>
                <a:srgbClr val="045A36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570" name="Google Shape;570;p33"/>
          <p:cNvSpPr/>
          <p:nvPr/>
        </p:nvSpPr>
        <p:spPr>
          <a:xfrm>
            <a:off x="762000" y="1123950"/>
            <a:ext cx="106680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71" name="Google Shape;571;p33"/>
          <p:cNvGrpSpPr/>
          <p:nvPr/>
        </p:nvGrpSpPr>
        <p:grpSpPr>
          <a:xfrm>
            <a:off x="762000" y="1524000"/>
            <a:ext cx="10668000" cy="4000500"/>
            <a:chOff x="0" y="0"/>
            <a:chExt cx="10668000" cy="4000500"/>
          </a:xfrm>
        </p:grpSpPr>
        <p:sp>
          <p:nvSpPr>
            <p:cNvPr id="572" name="Google Shape;572;p33"/>
            <p:cNvSpPr txBox="1"/>
            <p:nvPr/>
          </p:nvSpPr>
          <p:spPr>
            <a:xfrm>
              <a:off x="0" y="0"/>
              <a:ext cx="10668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800">
                  <a:solidFill>
                    <a:srgbClr val="045A36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Solved Circuit Calculation:</a:t>
              </a:r>
              <a:endParaRPr b="0" sz="1800">
                <a:solidFill>
                  <a:srgbClr val="045A36"/>
                </a:solidFill>
                <a:latin typeface="Inter SemiBold"/>
                <a:ea typeface="Inter SemiBold"/>
                <a:cs typeface="Inter SemiBold"/>
                <a:sym typeface="Inter SemiBold"/>
              </a:endParaRPr>
            </a:p>
          </p:txBody>
        </p:sp>
        <p:grpSp>
          <p:nvGrpSpPr>
            <p:cNvPr id="573" name="Google Shape;573;p33"/>
            <p:cNvGrpSpPr/>
            <p:nvPr/>
          </p:nvGrpSpPr>
          <p:grpSpPr>
            <a:xfrm>
              <a:off x="0" y="666750"/>
              <a:ext cx="4000500" cy="619125"/>
              <a:chOff x="0" y="0"/>
              <a:chExt cx="4000500" cy="619125"/>
            </a:xfrm>
          </p:grpSpPr>
          <p:sp>
            <p:nvSpPr>
              <p:cNvPr id="574" name="Google Shape;574;p33"/>
              <p:cNvSpPr/>
              <p:nvPr/>
            </p:nvSpPr>
            <p:spPr>
              <a:xfrm>
                <a:off x="0" y="0"/>
                <a:ext cx="38100" cy="571500"/>
              </a:xfrm>
              <a:prstGeom prst="rect">
                <a:avLst/>
              </a:prstGeom>
              <a:solidFill>
                <a:srgbClr val="D4A01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5" name="Google Shape;575;p33"/>
              <p:cNvSpPr txBox="1"/>
              <p:nvPr/>
            </p:nvSpPr>
            <p:spPr>
              <a:xfrm>
                <a:off x="190500" y="0"/>
                <a:ext cx="38100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200">
                    <a:solidFill>
                      <a:srgbClr val="D4A017"/>
                    </a:solidFill>
                    <a:latin typeface="Inter"/>
                    <a:ea typeface="Inter"/>
                    <a:cs typeface="Inter"/>
                    <a:sym typeface="Inter"/>
                  </a:rPr>
                  <a:t>Given</a:t>
                </a:r>
                <a:endParaRPr b="1" sz="1200">
                  <a:solidFill>
                    <a:srgbClr val="D4A017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76" name="Google Shape;576;p33"/>
              <p:cNvSpPr txBox="1"/>
              <p:nvPr/>
            </p:nvSpPr>
            <p:spPr>
              <a:xfrm>
                <a:off x="190500" y="238125"/>
                <a:ext cx="3810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1705">
                    <a:solidFill>
                      <a:srgbClr val="1F2937"/>
                    </a:solidFill>
                    <a:latin typeface="Inter"/>
                    <a:ea typeface="Inter"/>
                    <a:cs typeface="Inter"/>
                    <a:sym typeface="Inter"/>
                  </a:rPr>
                  <a:t>Current (I) = 2A, Resistance (R) = 5Ω</a:t>
                </a:r>
                <a:endParaRPr b="0" sz="1705">
                  <a:solidFill>
                    <a:srgbClr val="1F2937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577" name="Google Shape;577;p33"/>
            <p:cNvGrpSpPr/>
            <p:nvPr/>
          </p:nvGrpSpPr>
          <p:grpSpPr>
            <a:xfrm>
              <a:off x="0" y="1524000"/>
              <a:ext cx="4000500" cy="619125"/>
              <a:chOff x="0" y="0"/>
              <a:chExt cx="4000500" cy="619125"/>
            </a:xfrm>
          </p:grpSpPr>
          <p:sp>
            <p:nvSpPr>
              <p:cNvPr id="578" name="Google Shape;578;p33"/>
              <p:cNvSpPr/>
              <p:nvPr/>
            </p:nvSpPr>
            <p:spPr>
              <a:xfrm>
                <a:off x="0" y="0"/>
                <a:ext cx="38100" cy="571500"/>
              </a:xfrm>
              <a:prstGeom prst="rect">
                <a:avLst/>
              </a:prstGeom>
              <a:solidFill>
                <a:srgbClr val="045A3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9" name="Google Shape;579;p33"/>
              <p:cNvSpPr txBox="1"/>
              <p:nvPr/>
            </p:nvSpPr>
            <p:spPr>
              <a:xfrm>
                <a:off x="190500" y="0"/>
                <a:ext cx="38100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200">
                    <a:solidFill>
                      <a:srgbClr val="D4A017"/>
                    </a:solidFill>
                    <a:latin typeface="Inter"/>
                    <a:ea typeface="Inter"/>
                    <a:cs typeface="Inter"/>
                    <a:sym typeface="Inter"/>
                  </a:rPr>
                  <a:t>Formula</a:t>
                </a:r>
                <a:endParaRPr b="1" sz="1200">
                  <a:solidFill>
                    <a:srgbClr val="D4A017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80" name="Google Shape;580;p33"/>
              <p:cNvSpPr txBox="1"/>
              <p:nvPr/>
            </p:nvSpPr>
            <p:spPr>
              <a:xfrm>
                <a:off x="190500" y="238125"/>
                <a:ext cx="3810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2200">
                    <a:solidFill>
                      <a:srgbClr val="1F2937"/>
                    </a:solidFill>
                    <a:latin typeface="Inter"/>
                    <a:ea typeface="Inter"/>
                    <a:cs typeface="Inter"/>
                    <a:sym typeface="Inter"/>
                  </a:rPr>
                  <a:t>V = I × R</a:t>
                </a:r>
                <a:endParaRPr b="0" sz="2200">
                  <a:solidFill>
                    <a:srgbClr val="1F2937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581" name="Google Shape;581;p33"/>
            <p:cNvGrpSpPr/>
            <p:nvPr/>
          </p:nvGrpSpPr>
          <p:grpSpPr>
            <a:xfrm>
              <a:off x="0" y="2381250"/>
              <a:ext cx="4000500" cy="619125"/>
              <a:chOff x="0" y="0"/>
              <a:chExt cx="4000500" cy="619125"/>
            </a:xfrm>
          </p:grpSpPr>
          <p:sp>
            <p:nvSpPr>
              <p:cNvPr id="582" name="Google Shape;582;p33"/>
              <p:cNvSpPr/>
              <p:nvPr/>
            </p:nvSpPr>
            <p:spPr>
              <a:xfrm>
                <a:off x="0" y="0"/>
                <a:ext cx="38100" cy="571500"/>
              </a:xfrm>
              <a:prstGeom prst="rect">
                <a:avLst/>
              </a:prstGeom>
              <a:solidFill>
                <a:srgbClr val="045A3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3" name="Google Shape;583;p33"/>
              <p:cNvSpPr txBox="1"/>
              <p:nvPr/>
            </p:nvSpPr>
            <p:spPr>
              <a:xfrm>
                <a:off x="190500" y="0"/>
                <a:ext cx="38100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200">
                    <a:solidFill>
                      <a:srgbClr val="D4A017"/>
                    </a:solidFill>
                    <a:latin typeface="Inter"/>
                    <a:ea typeface="Inter"/>
                    <a:cs typeface="Inter"/>
                    <a:sym typeface="Inter"/>
                  </a:rPr>
                  <a:t>Calculation</a:t>
                </a:r>
                <a:endParaRPr b="1" sz="1200">
                  <a:solidFill>
                    <a:srgbClr val="D4A017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84" name="Google Shape;584;p33"/>
              <p:cNvSpPr txBox="1"/>
              <p:nvPr/>
            </p:nvSpPr>
            <p:spPr>
              <a:xfrm>
                <a:off x="190500" y="238125"/>
                <a:ext cx="3810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en" sz="2200">
                    <a:solidFill>
                      <a:srgbClr val="1F2937"/>
                    </a:solidFill>
                    <a:latin typeface="Inter"/>
                    <a:ea typeface="Inter"/>
                    <a:cs typeface="Inter"/>
                    <a:sym typeface="Inter"/>
                  </a:rPr>
                  <a:t>V = 2 × 5</a:t>
                </a:r>
                <a:endParaRPr b="0" sz="2200">
                  <a:solidFill>
                    <a:srgbClr val="1F2937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  <p:grpSp>
          <p:nvGrpSpPr>
            <p:cNvPr id="585" name="Google Shape;585;p33"/>
            <p:cNvGrpSpPr/>
            <p:nvPr/>
          </p:nvGrpSpPr>
          <p:grpSpPr>
            <a:xfrm>
              <a:off x="0" y="3238500"/>
              <a:ext cx="4762500" cy="762000"/>
              <a:chOff x="0" y="0"/>
              <a:chExt cx="4762500" cy="762000"/>
            </a:xfrm>
          </p:grpSpPr>
          <p:sp>
            <p:nvSpPr>
              <p:cNvPr id="586" name="Google Shape;586;p33"/>
              <p:cNvSpPr/>
              <p:nvPr/>
            </p:nvSpPr>
            <p:spPr>
              <a:xfrm>
                <a:off x="0" y="0"/>
                <a:ext cx="4762500" cy="762000"/>
              </a:xfrm>
              <a:prstGeom prst="rect">
                <a:avLst/>
              </a:prstGeom>
              <a:solidFill>
                <a:srgbClr val="F1F5F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7" name="Google Shape;587;p33"/>
              <p:cNvSpPr/>
              <p:nvPr/>
            </p:nvSpPr>
            <p:spPr>
              <a:xfrm>
                <a:off x="0" y="0"/>
                <a:ext cx="57300" cy="762000"/>
              </a:xfrm>
              <a:prstGeom prst="rect">
                <a:avLst/>
              </a:prstGeom>
              <a:solidFill>
                <a:srgbClr val="0B7A4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8" name="Google Shape;588;p33"/>
              <p:cNvSpPr txBox="1"/>
              <p:nvPr/>
            </p:nvSpPr>
            <p:spPr>
              <a:xfrm>
                <a:off x="238125" y="95250"/>
                <a:ext cx="4286400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200">
                    <a:solidFill>
                      <a:srgbClr val="D4A017"/>
                    </a:solidFill>
                    <a:latin typeface="Inter"/>
                    <a:ea typeface="Inter"/>
                    <a:cs typeface="Inter"/>
                    <a:sym typeface="Inter"/>
                  </a:rPr>
                  <a:t>Result</a:t>
                </a:r>
                <a:endParaRPr b="1" sz="1200">
                  <a:solidFill>
                    <a:srgbClr val="D4A017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89" name="Google Shape;589;p33"/>
              <p:cNvSpPr txBox="1"/>
              <p:nvPr/>
            </p:nvSpPr>
            <p:spPr>
              <a:xfrm>
                <a:off x="238125" y="285750"/>
                <a:ext cx="4286400" cy="42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2720">
                    <a:solidFill>
                      <a:srgbClr val="0B7A4B"/>
                    </a:solidFill>
                    <a:latin typeface="Inter"/>
                    <a:ea typeface="Inter"/>
                    <a:cs typeface="Inter"/>
                    <a:sym typeface="Inter"/>
                  </a:rPr>
                  <a:t>V = 10V</a:t>
                </a:r>
                <a:endParaRPr b="1" sz="2720">
                  <a:solidFill>
                    <a:srgbClr val="0B7A4B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pic>
        <p:nvPicPr>
          <p:cNvPr id="590" name="Google Shape;590;p3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5981700"/>
            <a:ext cx="10668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33"/>
          <p:cNvSpPr txBox="1"/>
          <p:nvPr/>
        </p:nvSpPr>
        <p:spPr>
          <a:xfrm>
            <a:off x="762000" y="6134100"/>
            <a:ext cx="4762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75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Introduction of Electronics | Robotics and Automation Systems</a:t>
            </a:r>
            <a:endParaRPr b="0" sz="975">
              <a:solidFill>
                <a:srgbClr val="6B728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592" name="Google Shape;592;p33"/>
          <p:cNvPicPr preferRelativeResize="0"/>
          <p:nvPr/>
        </p:nvPicPr>
        <p:blipFill rotWithShape="1">
          <a:blip r:embed="rId7">
            <a:alphaModFix/>
          </a:blip>
          <a:srcRect b="466" l="0" r="0" t="466"/>
          <a:stretch/>
        </p:blipFill>
        <p:spPr>
          <a:xfrm>
            <a:off x="10287000" y="5457825"/>
            <a:ext cx="1524000" cy="1009800"/>
          </a:xfrm>
          <a:prstGeom prst="rect">
            <a:avLst/>
          </a:prstGeom>
          <a:noFill/>
          <a:ln>
            <a:noFill/>
          </a:ln>
        </p:spPr>
      </p:pic>
      <p:sp>
        <p:nvSpPr>
          <p:cNvPr id="593" name="Google Shape;593;p33"/>
          <p:cNvSpPr txBox="1"/>
          <p:nvPr/>
        </p:nvSpPr>
        <p:spPr>
          <a:xfrm>
            <a:off x="11277600" y="6134100"/>
            <a:ext cx="190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75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  <a:endParaRPr b="0" sz="975">
              <a:solidFill>
                <a:srgbClr val="6B728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8" name="Google Shape;598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9" name="Google Shape;599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0"/>
            <a:ext cx="12192000" cy="5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0" name="Google Shape;600;p3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5981700"/>
            <a:ext cx="10668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1" name="Google Shape;601;p34"/>
          <p:cNvPicPr preferRelativeResize="0"/>
          <p:nvPr/>
        </p:nvPicPr>
        <p:blipFill rotWithShape="1">
          <a:blip r:embed="rId7">
            <a:alphaModFix/>
          </a:blip>
          <a:srcRect b="466" l="0" r="0" t="466"/>
          <a:stretch/>
        </p:blipFill>
        <p:spPr>
          <a:xfrm>
            <a:off x="10287000" y="5457825"/>
            <a:ext cx="1524000" cy="1009800"/>
          </a:xfrm>
          <a:prstGeom prst="rect">
            <a:avLst/>
          </a:prstGeom>
          <a:noFill/>
          <a:ln>
            <a:noFill/>
          </a:ln>
        </p:spPr>
      </p:pic>
      <p:sp>
        <p:nvSpPr>
          <p:cNvPr id="602" name="Google Shape;602;p34"/>
          <p:cNvSpPr txBox="1"/>
          <p:nvPr/>
        </p:nvSpPr>
        <p:spPr>
          <a:xfrm>
            <a:off x="762000" y="571500"/>
            <a:ext cx="95250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700">
                <a:solidFill>
                  <a:srgbClr val="045A3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Resistance Color Code Table</a:t>
            </a:r>
            <a:endParaRPr b="0" sz="2700">
              <a:solidFill>
                <a:srgbClr val="045A36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03" name="Google Shape;603;p34"/>
          <p:cNvSpPr/>
          <p:nvPr/>
        </p:nvSpPr>
        <p:spPr>
          <a:xfrm>
            <a:off x="762000" y="1123950"/>
            <a:ext cx="106680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34"/>
          <p:cNvSpPr txBox="1"/>
          <p:nvPr/>
        </p:nvSpPr>
        <p:spPr>
          <a:xfrm>
            <a:off x="762000" y="1381125"/>
            <a:ext cx="10668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500">
                <a:solidFill>
                  <a:srgbClr val="045A3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Decoding Resistor Values:</a:t>
            </a:r>
            <a:endParaRPr b="0" sz="1500">
              <a:solidFill>
                <a:srgbClr val="045A36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rtl="0" algn="l">
              <a:spcBef>
                <a:spcPts val="375"/>
              </a:spcBef>
              <a:spcAft>
                <a:spcPts val="0"/>
              </a:spcAft>
              <a:buNone/>
            </a:pPr>
            <a:r>
              <a:rPr b="0" lang="en" sz="15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Resistors use standard colored bands printed on their bodies to indicate their exact resistance value in Ohms.</a:t>
            </a:r>
            <a:endParaRPr b="0" sz="1500">
              <a:solidFill>
                <a:srgbClr val="37415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05" name="Google Shape;605;p34"/>
          <p:cNvPicPr preferRelativeResize="0"/>
          <p:nvPr/>
        </p:nvPicPr>
        <p:blipFill rotWithShape="1">
          <a:blip r:embed="rId8">
            <a:alphaModFix/>
          </a:blip>
          <a:srcRect b="21429" l="0" r="0" t="21429"/>
          <a:stretch/>
        </p:blipFill>
        <p:spPr>
          <a:xfrm>
            <a:off x="762000" y="2286000"/>
            <a:ext cx="10668000" cy="3429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6" name="Google Shape;606;p34"/>
          <p:cNvSpPr txBox="1"/>
          <p:nvPr/>
        </p:nvSpPr>
        <p:spPr>
          <a:xfrm>
            <a:off x="762000" y="6134100"/>
            <a:ext cx="4762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75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Introduction of Electronics | Robotics and Automation Systems</a:t>
            </a:r>
            <a:endParaRPr b="0" sz="975">
              <a:solidFill>
                <a:srgbClr val="6B7280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3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12" name="Google Shape;612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3" name="Google Shape;613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5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4" name="Google Shape;614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5981700"/>
            <a:ext cx="10668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5" name="Google Shape;615;p35"/>
          <p:cNvPicPr preferRelativeResize="0"/>
          <p:nvPr/>
        </p:nvPicPr>
        <p:blipFill rotWithShape="1">
          <a:blip r:embed="rId6">
            <a:alphaModFix/>
          </a:blip>
          <a:srcRect b="466" l="0" r="0" t="466"/>
          <a:stretch/>
        </p:blipFill>
        <p:spPr>
          <a:xfrm>
            <a:off x="10287000" y="5457825"/>
            <a:ext cx="1524000" cy="1009800"/>
          </a:xfrm>
          <a:prstGeom prst="rect">
            <a:avLst/>
          </a:prstGeom>
          <a:noFill/>
          <a:ln>
            <a:noFill/>
          </a:ln>
        </p:spPr>
      </p:pic>
      <p:sp>
        <p:nvSpPr>
          <p:cNvPr id="616" name="Google Shape;616;p35"/>
          <p:cNvSpPr txBox="1"/>
          <p:nvPr/>
        </p:nvSpPr>
        <p:spPr>
          <a:xfrm>
            <a:off x="762000" y="6134100"/>
            <a:ext cx="4762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75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Introduction of Electronics | Robotics and Automation Systems</a:t>
            </a:r>
            <a:endParaRPr b="0" sz="975">
              <a:solidFill>
                <a:srgbClr val="6B728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17" name="Google Shape;617;p35"/>
          <p:cNvSpPr txBox="1"/>
          <p:nvPr/>
        </p:nvSpPr>
        <p:spPr>
          <a:xfrm>
            <a:off x="762000" y="571500"/>
            <a:ext cx="95250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700">
                <a:solidFill>
                  <a:srgbClr val="045A3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How to Read a Resistor</a:t>
            </a:r>
            <a:endParaRPr b="0" sz="2700">
              <a:solidFill>
                <a:srgbClr val="045A36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18" name="Google Shape;618;p35"/>
          <p:cNvSpPr/>
          <p:nvPr/>
        </p:nvSpPr>
        <p:spPr>
          <a:xfrm>
            <a:off x="762000" y="1123950"/>
            <a:ext cx="106680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19" name="Google Shape;619;p35"/>
          <p:cNvGrpSpPr/>
          <p:nvPr/>
        </p:nvGrpSpPr>
        <p:grpSpPr>
          <a:xfrm>
            <a:off x="762000" y="1762125"/>
            <a:ext cx="4286250" cy="2952900"/>
            <a:chOff x="0" y="-523875"/>
            <a:chExt cx="4286250" cy="2952900"/>
          </a:xfrm>
        </p:grpSpPr>
        <p:cxnSp>
          <p:nvCxnSpPr>
            <p:cNvPr id="620" name="Google Shape;620;p35"/>
            <p:cNvCxnSpPr/>
            <p:nvPr/>
          </p:nvCxnSpPr>
          <p:spPr>
            <a:xfrm>
              <a:off x="0" y="952500"/>
              <a:ext cx="952500" cy="0"/>
            </a:xfrm>
            <a:prstGeom prst="straightConnector1">
              <a:avLst/>
            </a:prstGeom>
            <a:solidFill>
              <a:srgbClr val="FFFFFF"/>
            </a:solidFill>
            <a:ln cap="rnd" cmpd="sng" w="76200">
              <a:solidFill>
                <a:srgbClr val="9CA3A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21" name="Google Shape;621;p35"/>
            <p:cNvCxnSpPr/>
            <p:nvPr/>
          </p:nvCxnSpPr>
          <p:spPr>
            <a:xfrm>
              <a:off x="3333750" y="952500"/>
              <a:ext cx="952500" cy="0"/>
            </a:xfrm>
            <a:prstGeom prst="straightConnector1">
              <a:avLst/>
            </a:prstGeom>
            <a:solidFill>
              <a:srgbClr val="FFFFFF"/>
            </a:solidFill>
            <a:ln cap="rnd" cmpd="sng" w="76200">
              <a:solidFill>
                <a:srgbClr val="9CA3AF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22" name="Google Shape;622;p35"/>
            <p:cNvSpPr/>
            <p:nvPr/>
          </p:nvSpPr>
          <p:spPr>
            <a:xfrm>
              <a:off x="952500" y="381000"/>
              <a:ext cx="2381400" cy="1143000"/>
            </a:xfrm>
            <a:custGeom>
              <a:rect b="b" l="l" r="r" t="t"/>
              <a:pathLst>
                <a:path extrusionOk="0" h="120000" w="120000">
                  <a:moveTo>
                    <a:pt x="9600" y="0"/>
                  </a:moveTo>
                  <a:lnTo>
                    <a:pt x="110400" y="0"/>
                  </a:lnTo>
                  <a:quadBezTo>
                    <a:pt x="120000" y="0"/>
                    <a:pt x="120000" y="20000"/>
                  </a:quadBezTo>
                  <a:lnTo>
                    <a:pt x="120000" y="100000"/>
                  </a:lnTo>
                  <a:quadBezTo>
                    <a:pt x="120000" y="120000"/>
                    <a:pt x="110400" y="120000"/>
                  </a:quadBezTo>
                  <a:lnTo>
                    <a:pt x="9600" y="120000"/>
                  </a:lnTo>
                  <a:quadBezTo>
                    <a:pt x="0" y="120000"/>
                    <a:pt x="0" y="100000"/>
                  </a:quadBezTo>
                  <a:lnTo>
                    <a:pt x="0" y="20000"/>
                  </a:lnTo>
                  <a:quadBezTo>
                    <a:pt x="0" y="0"/>
                    <a:pt x="9600" y="0"/>
                  </a:quadBezTo>
                  <a:close/>
                </a:path>
              </a:pathLst>
            </a:custGeom>
            <a:solidFill>
              <a:srgbClr val="E5E7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" name="Google Shape;623;p35"/>
            <p:cNvSpPr/>
            <p:nvPr/>
          </p:nvSpPr>
          <p:spPr>
            <a:xfrm>
              <a:off x="1238250" y="381000"/>
              <a:ext cx="238200" cy="1143000"/>
            </a:xfrm>
            <a:prstGeom prst="rect">
              <a:avLst/>
            </a:prstGeom>
            <a:solidFill>
              <a:srgbClr val="78350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4" name="Google Shape;624;p35"/>
            <p:cNvSpPr/>
            <p:nvPr/>
          </p:nvSpPr>
          <p:spPr>
            <a:xfrm>
              <a:off x="1666875" y="381000"/>
              <a:ext cx="238200" cy="114300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5" name="Google Shape;625;p35"/>
            <p:cNvSpPr/>
            <p:nvPr/>
          </p:nvSpPr>
          <p:spPr>
            <a:xfrm>
              <a:off x="2095500" y="381000"/>
              <a:ext cx="238200" cy="1143000"/>
            </a:xfrm>
            <a:prstGeom prst="rect">
              <a:avLst/>
            </a:prstGeom>
            <a:solidFill>
              <a:srgbClr val="B91C1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6" name="Google Shape;626;p35"/>
            <p:cNvSpPr/>
            <p:nvPr/>
          </p:nvSpPr>
          <p:spPr>
            <a:xfrm>
              <a:off x="2809875" y="381000"/>
              <a:ext cx="238200" cy="1143000"/>
            </a:xfrm>
            <a:prstGeom prst="rect">
              <a:avLst/>
            </a:prstGeom>
            <a:solidFill>
              <a:srgbClr val="D4A01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7" name="Google Shape;627;p35"/>
            <p:cNvSpPr/>
            <p:nvPr/>
          </p:nvSpPr>
          <p:spPr>
            <a:xfrm>
              <a:off x="381000" y="0"/>
              <a:ext cx="971700" cy="285900"/>
            </a:xfrm>
            <a:custGeom>
              <a:rect b="b" l="l" r="r" t="t"/>
              <a:pathLst>
                <a:path extrusionOk="0" h="120000" w="120000">
                  <a:moveTo>
                    <a:pt x="120000" y="120000"/>
                  </a:moveTo>
                  <a:lnTo>
                    <a:pt x="120000" y="0"/>
                  </a:lnTo>
                  <a:lnTo>
                    <a:pt x="0" y="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9050">
              <a:solidFill>
                <a:srgbClr val="6B72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" name="Google Shape;628;p35"/>
            <p:cNvSpPr/>
            <p:nvPr/>
          </p:nvSpPr>
          <p:spPr>
            <a:xfrm>
              <a:off x="381000" y="1619250"/>
              <a:ext cx="1400100" cy="285900"/>
            </a:xfrm>
            <a:custGeom>
              <a:rect b="b" l="l" r="r" t="t"/>
              <a:pathLst>
                <a:path extrusionOk="0" h="120000" w="120000">
                  <a:moveTo>
                    <a:pt x="120000" y="0"/>
                  </a:moveTo>
                  <a:lnTo>
                    <a:pt x="120000" y="120000"/>
                  </a:lnTo>
                  <a:lnTo>
                    <a:pt x="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9050">
              <a:solidFill>
                <a:srgbClr val="6B72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9" name="Google Shape;629;p35"/>
            <p:cNvSpPr/>
            <p:nvPr/>
          </p:nvSpPr>
          <p:spPr>
            <a:xfrm>
              <a:off x="381000" y="-381000"/>
              <a:ext cx="1828800" cy="666900"/>
            </a:xfrm>
            <a:custGeom>
              <a:rect b="b" l="l" r="r" t="t"/>
              <a:pathLst>
                <a:path extrusionOk="0" h="120000" w="120000">
                  <a:moveTo>
                    <a:pt x="120000" y="120000"/>
                  </a:moveTo>
                  <a:lnTo>
                    <a:pt x="120000" y="0"/>
                  </a:lnTo>
                  <a:lnTo>
                    <a:pt x="0" y="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9050">
              <a:solidFill>
                <a:srgbClr val="6B72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0" name="Google Shape;630;p35"/>
            <p:cNvSpPr/>
            <p:nvPr/>
          </p:nvSpPr>
          <p:spPr>
            <a:xfrm>
              <a:off x="381000" y="1619250"/>
              <a:ext cx="2543100" cy="666900"/>
            </a:xfrm>
            <a:custGeom>
              <a:rect b="b" l="l" r="r" t="t"/>
              <a:pathLst>
                <a:path extrusionOk="0" h="120000" w="120000">
                  <a:moveTo>
                    <a:pt x="120000" y="0"/>
                  </a:moveTo>
                  <a:lnTo>
                    <a:pt x="120000" y="120000"/>
                  </a:lnTo>
                  <a:lnTo>
                    <a:pt x="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flat" cmpd="sng" w="19050">
              <a:solidFill>
                <a:srgbClr val="6B728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1" name="Google Shape;631;p35"/>
            <p:cNvSpPr txBox="1"/>
            <p:nvPr/>
          </p:nvSpPr>
          <p:spPr>
            <a:xfrm>
              <a:off x="0" y="-523875"/>
              <a:ext cx="1143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D4A017"/>
                  </a:solidFill>
                  <a:latin typeface="Inter"/>
                  <a:ea typeface="Inter"/>
                  <a:cs typeface="Inter"/>
                  <a:sym typeface="Inter"/>
                </a:rPr>
                <a:t>MULTIPLIER</a:t>
              </a:r>
              <a:endParaRPr b="1" sz="1000">
                <a:solidFill>
                  <a:srgbClr val="D4A01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632" name="Google Shape;632;p35"/>
            <p:cNvSpPr txBox="1"/>
            <p:nvPr/>
          </p:nvSpPr>
          <p:spPr>
            <a:xfrm>
              <a:off x="0" y="-142875"/>
              <a:ext cx="1143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D4A017"/>
                  </a:solidFill>
                  <a:latin typeface="Inter"/>
                  <a:ea typeface="Inter"/>
                  <a:cs typeface="Inter"/>
                  <a:sym typeface="Inter"/>
                </a:rPr>
                <a:t>1ST DIGIT</a:t>
              </a:r>
              <a:endParaRPr b="1" sz="1000">
                <a:solidFill>
                  <a:srgbClr val="D4A01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633" name="Google Shape;633;p35"/>
            <p:cNvSpPr txBox="1"/>
            <p:nvPr/>
          </p:nvSpPr>
          <p:spPr>
            <a:xfrm>
              <a:off x="0" y="1762125"/>
              <a:ext cx="1143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D4A017"/>
                  </a:solidFill>
                  <a:latin typeface="Inter"/>
                  <a:ea typeface="Inter"/>
                  <a:cs typeface="Inter"/>
                  <a:sym typeface="Inter"/>
                </a:rPr>
                <a:t>2ND DIGIT</a:t>
              </a:r>
              <a:endParaRPr b="1" sz="1000">
                <a:solidFill>
                  <a:srgbClr val="D4A01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634" name="Google Shape;634;p35"/>
            <p:cNvSpPr txBox="1"/>
            <p:nvPr/>
          </p:nvSpPr>
          <p:spPr>
            <a:xfrm>
              <a:off x="0" y="2143125"/>
              <a:ext cx="1143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D4A017"/>
                  </a:solidFill>
                  <a:latin typeface="Inter"/>
                  <a:ea typeface="Inter"/>
                  <a:cs typeface="Inter"/>
                  <a:sym typeface="Inter"/>
                </a:rPr>
                <a:t>TOLERANCE</a:t>
              </a:r>
              <a:endParaRPr b="1" sz="1000">
                <a:solidFill>
                  <a:srgbClr val="D4A01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635" name="Google Shape;635;p35"/>
          <p:cNvSpPr txBox="1"/>
          <p:nvPr/>
        </p:nvSpPr>
        <p:spPr>
          <a:xfrm>
            <a:off x="5429250" y="1524000"/>
            <a:ext cx="60009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50">
                <a:solidFill>
                  <a:srgbClr val="045A36"/>
                </a:solidFill>
                <a:latin typeface="Montserrat"/>
                <a:ea typeface="Montserrat"/>
                <a:cs typeface="Montserrat"/>
                <a:sym typeface="Montserrat"/>
              </a:rPr>
              <a:t>Band Positions</a:t>
            </a:r>
            <a:endParaRPr b="1" sz="1650">
              <a:solidFill>
                <a:srgbClr val="045A3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6" name="Google Shape;636;p35"/>
          <p:cNvSpPr/>
          <p:nvPr/>
        </p:nvSpPr>
        <p:spPr>
          <a:xfrm>
            <a:off x="5429250" y="1952625"/>
            <a:ext cx="6000900" cy="960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35"/>
          <p:cNvSpPr/>
          <p:nvPr>
            <p:ph idx="2" type="pic"/>
          </p:nvPr>
        </p:nvSpPr>
        <p:spPr>
          <a:xfrm>
            <a:off x="5429250" y="2238375"/>
            <a:ext cx="190500" cy="200100"/>
          </a:xfrm>
          <a:prstGeom prst="rect">
            <a:avLst/>
          </a:prstGeom>
          <a:noFill/>
          <a:ln>
            <a:noFill/>
          </a:ln>
        </p:spPr>
      </p:sp>
      <p:sp>
        <p:nvSpPr>
          <p:cNvPr id="638" name="Google Shape;638;p35"/>
          <p:cNvSpPr txBox="1"/>
          <p:nvPr/>
        </p:nvSpPr>
        <p:spPr>
          <a:xfrm>
            <a:off x="5762625" y="2190750"/>
            <a:ext cx="56673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500">
                <a:solidFill>
                  <a:srgbClr val="045A3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1st Band:</a:t>
            </a:r>
            <a:r>
              <a:rPr b="0" lang="en" sz="15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First digit of the resistance value.</a:t>
            </a:r>
            <a:endParaRPr b="0" sz="1500">
              <a:solidFill>
                <a:srgbClr val="37415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39" name="Google Shape;639;p35"/>
          <p:cNvSpPr/>
          <p:nvPr>
            <p:ph idx="3" type="pic"/>
          </p:nvPr>
        </p:nvSpPr>
        <p:spPr>
          <a:xfrm>
            <a:off x="5429250" y="2762250"/>
            <a:ext cx="190500" cy="200100"/>
          </a:xfrm>
          <a:prstGeom prst="rect">
            <a:avLst/>
          </a:prstGeom>
          <a:noFill/>
          <a:ln>
            <a:noFill/>
          </a:ln>
        </p:spPr>
      </p:sp>
      <p:sp>
        <p:nvSpPr>
          <p:cNvPr id="640" name="Google Shape;640;p35"/>
          <p:cNvSpPr txBox="1"/>
          <p:nvPr/>
        </p:nvSpPr>
        <p:spPr>
          <a:xfrm>
            <a:off x="5762625" y="2714625"/>
            <a:ext cx="56673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500">
                <a:solidFill>
                  <a:srgbClr val="045A3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2nd Band:</a:t>
            </a:r>
            <a:r>
              <a:rPr b="0" lang="en" sz="15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Second digit of the resistance value.</a:t>
            </a:r>
            <a:endParaRPr b="0" sz="1500">
              <a:solidFill>
                <a:srgbClr val="37415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1" name="Google Shape;641;p35"/>
          <p:cNvSpPr/>
          <p:nvPr>
            <p:ph idx="4" type="pic"/>
          </p:nvPr>
        </p:nvSpPr>
        <p:spPr>
          <a:xfrm>
            <a:off x="5429250" y="3286125"/>
            <a:ext cx="190500" cy="200100"/>
          </a:xfrm>
          <a:prstGeom prst="rect">
            <a:avLst/>
          </a:prstGeom>
          <a:noFill/>
          <a:ln>
            <a:noFill/>
          </a:ln>
        </p:spPr>
      </p:sp>
      <p:sp>
        <p:nvSpPr>
          <p:cNvPr id="642" name="Google Shape;642;p35"/>
          <p:cNvSpPr txBox="1"/>
          <p:nvPr/>
        </p:nvSpPr>
        <p:spPr>
          <a:xfrm>
            <a:off x="5762625" y="3238500"/>
            <a:ext cx="56673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500">
                <a:solidFill>
                  <a:srgbClr val="045A3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3rd Band:</a:t>
            </a:r>
            <a:r>
              <a:rPr b="0" lang="en" sz="15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Multiplier (represents the number of zeros following the first two digits).</a:t>
            </a:r>
            <a:endParaRPr b="0" sz="1500">
              <a:solidFill>
                <a:srgbClr val="37415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43" name="Google Shape;643;p35"/>
          <p:cNvSpPr/>
          <p:nvPr>
            <p:ph idx="5" type="pic"/>
          </p:nvPr>
        </p:nvSpPr>
        <p:spPr>
          <a:xfrm>
            <a:off x="5429250" y="3905250"/>
            <a:ext cx="190500" cy="200100"/>
          </a:xfrm>
          <a:prstGeom prst="rect">
            <a:avLst/>
          </a:prstGeom>
          <a:noFill/>
          <a:ln>
            <a:noFill/>
          </a:ln>
        </p:spPr>
      </p:sp>
      <p:sp>
        <p:nvSpPr>
          <p:cNvPr id="644" name="Google Shape;644;p35"/>
          <p:cNvSpPr txBox="1"/>
          <p:nvPr/>
        </p:nvSpPr>
        <p:spPr>
          <a:xfrm>
            <a:off x="5762625" y="3857625"/>
            <a:ext cx="56673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275">
                <a:solidFill>
                  <a:srgbClr val="045A3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4th Band:</a:t>
            </a:r>
            <a:r>
              <a:rPr b="0" lang="en" sz="1275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Tolerance (represents the precision or accuracy percentage).</a:t>
            </a:r>
            <a:endParaRPr b="0" sz="1275">
              <a:solidFill>
                <a:srgbClr val="37415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9" name="Google Shape;649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0" name="Google Shape;650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0" y="0"/>
            <a:ext cx="12192000" cy="5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1" name="Google Shape;651;p3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5981700"/>
            <a:ext cx="10668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2" name="Google Shape;652;p36"/>
          <p:cNvPicPr preferRelativeResize="0"/>
          <p:nvPr/>
        </p:nvPicPr>
        <p:blipFill rotWithShape="1">
          <a:blip r:embed="rId7">
            <a:alphaModFix/>
          </a:blip>
          <a:srcRect b="466" l="0" r="0" t="466"/>
          <a:stretch/>
        </p:blipFill>
        <p:spPr>
          <a:xfrm>
            <a:off x="10287000" y="5457825"/>
            <a:ext cx="1524000" cy="1009800"/>
          </a:xfrm>
          <a:prstGeom prst="rect">
            <a:avLst/>
          </a:prstGeom>
          <a:noFill/>
          <a:ln>
            <a:noFill/>
          </a:ln>
        </p:spPr>
      </p:pic>
      <p:sp>
        <p:nvSpPr>
          <p:cNvPr id="653" name="Google Shape;653;p36"/>
          <p:cNvSpPr txBox="1"/>
          <p:nvPr/>
        </p:nvSpPr>
        <p:spPr>
          <a:xfrm>
            <a:off x="762000" y="6134100"/>
            <a:ext cx="4762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75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Introduction of Electronics | Robotics and Automation Systems</a:t>
            </a:r>
            <a:endParaRPr b="0" sz="975">
              <a:solidFill>
                <a:srgbClr val="6B728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54" name="Google Shape;654;p36"/>
          <p:cNvSpPr txBox="1"/>
          <p:nvPr/>
        </p:nvSpPr>
        <p:spPr>
          <a:xfrm>
            <a:off x="762000" y="571500"/>
            <a:ext cx="95250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700">
                <a:solidFill>
                  <a:srgbClr val="045A3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Finding Resistance</a:t>
            </a:r>
            <a:endParaRPr b="0" sz="2700">
              <a:solidFill>
                <a:srgbClr val="045A36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55" name="Google Shape;655;p36"/>
          <p:cNvSpPr/>
          <p:nvPr/>
        </p:nvSpPr>
        <p:spPr>
          <a:xfrm>
            <a:off x="762000" y="1123950"/>
            <a:ext cx="106680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56" name="Google Shape;656;p3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2000" y="1726406"/>
            <a:ext cx="4286400" cy="3214800"/>
          </a:xfrm>
          <a:prstGeom prst="rect">
            <a:avLst/>
          </a:prstGeom>
          <a:noFill/>
          <a:ln>
            <a:noFill/>
          </a:ln>
        </p:spPr>
      </p:pic>
      <p:sp>
        <p:nvSpPr>
          <p:cNvPr id="657" name="Google Shape;657;p36"/>
          <p:cNvSpPr txBox="1"/>
          <p:nvPr/>
        </p:nvSpPr>
        <p:spPr>
          <a:xfrm>
            <a:off x="5429250" y="1524000"/>
            <a:ext cx="60009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50">
                <a:solidFill>
                  <a:srgbClr val="045A36"/>
                </a:solidFill>
                <a:latin typeface="Montserrat"/>
                <a:ea typeface="Montserrat"/>
                <a:cs typeface="Montserrat"/>
                <a:sym typeface="Montserrat"/>
              </a:rPr>
              <a:t>Protecting Components</a:t>
            </a:r>
            <a:endParaRPr b="1" sz="1650">
              <a:solidFill>
                <a:srgbClr val="045A3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8" name="Google Shape;658;p36"/>
          <p:cNvSpPr/>
          <p:nvPr>
            <p:ph idx="2" type="pic"/>
          </p:nvPr>
        </p:nvSpPr>
        <p:spPr>
          <a:xfrm>
            <a:off x="5429250" y="2095500"/>
            <a:ext cx="190500" cy="200100"/>
          </a:xfrm>
          <a:prstGeom prst="rect">
            <a:avLst/>
          </a:prstGeom>
          <a:noFill/>
          <a:ln>
            <a:noFill/>
          </a:ln>
        </p:spPr>
      </p:sp>
      <p:sp>
        <p:nvSpPr>
          <p:cNvPr id="659" name="Google Shape;659;p36"/>
          <p:cNvSpPr txBox="1"/>
          <p:nvPr/>
        </p:nvSpPr>
        <p:spPr>
          <a:xfrm>
            <a:off x="5762625" y="2047875"/>
            <a:ext cx="56673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500">
                <a:solidFill>
                  <a:srgbClr val="045A3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Purpose:</a:t>
            </a:r>
            <a:r>
              <a:rPr b="0" lang="en" sz="15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Use resistance to limit current and protect sensitive parts (like LEDs or motors).</a:t>
            </a:r>
            <a:endParaRPr b="0" sz="1500">
              <a:solidFill>
                <a:srgbClr val="37415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60" name="Google Shape;660;p36"/>
          <p:cNvSpPr/>
          <p:nvPr/>
        </p:nvSpPr>
        <p:spPr>
          <a:xfrm>
            <a:off x="5429250" y="2762250"/>
            <a:ext cx="60009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61" name="Google Shape;661;p36"/>
          <p:cNvGrpSpPr/>
          <p:nvPr/>
        </p:nvGrpSpPr>
        <p:grpSpPr>
          <a:xfrm>
            <a:off x="5429250" y="3048000"/>
            <a:ext cx="6000900" cy="2190750"/>
            <a:chOff x="0" y="0"/>
            <a:chExt cx="6000900" cy="2190750"/>
          </a:xfrm>
        </p:grpSpPr>
        <p:sp>
          <p:nvSpPr>
            <p:cNvPr id="662" name="Google Shape;662;p36"/>
            <p:cNvSpPr txBox="1"/>
            <p:nvPr/>
          </p:nvSpPr>
          <p:spPr>
            <a:xfrm>
              <a:off x="0" y="0"/>
              <a:ext cx="6000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rgbClr val="D4A017"/>
                  </a:solidFill>
                  <a:latin typeface="Inter"/>
                  <a:ea typeface="Inter"/>
                  <a:cs typeface="Inter"/>
                  <a:sym typeface="Inter"/>
                </a:rPr>
                <a:t>Ohm's Law Formula</a:t>
              </a:r>
              <a:endParaRPr b="1" sz="1500">
                <a:solidFill>
                  <a:srgbClr val="D4A01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663" name="Google Shape;663;p36"/>
            <p:cNvSpPr txBox="1"/>
            <p:nvPr/>
          </p:nvSpPr>
          <p:spPr>
            <a:xfrm>
              <a:off x="0" y="381000"/>
              <a:ext cx="60009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28575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200">
                  <a:solidFill>
                    <a:srgbClr val="045A36"/>
                  </a:solidFill>
                  <a:highlight>
                    <a:srgbClr val="F1F5F9"/>
                  </a:highlight>
                  <a:latin typeface="Inter"/>
                  <a:ea typeface="Inter"/>
                  <a:cs typeface="Inter"/>
                  <a:sym typeface="Inter"/>
                </a:rPr>
                <a:t>R = V / I</a:t>
              </a:r>
              <a:endParaRPr b="1" sz="3200">
                <a:solidFill>
                  <a:srgbClr val="045A36"/>
                </a:solidFill>
                <a:highlight>
                  <a:srgbClr val="F1F5F9"/>
                </a:highlight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664" name="Google Shape;664;p36"/>
            <p:cNvSpPr txBox="1"/>
            <p:nvPr/>
          </p:nvSpPr>
          <p:spPr>
            <a:xfrm>
              <a:off x="0" y="1428750"/>
              <a:ext cx="60009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300">
                  <a:solidFill>
                    <a:srgbClr val="6B7280"/>
                  </a:solidFill>
                  <a:latin typeface="Inter"/>
                  <a:ea typeface="Inter"/>
                  <a:cs typeface="Inter"/>
                  <a:sym typeface="Inter"/>
                </a:rPr>
                <a:t>Where </a:t>
              </a:r>
              <a:r>
                <a:rPr b="0" lang="en" sz="1300">
                  <a:solidFill>
                    <a:srgbClr val="6B728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R</a:t>
              </a:r>
              <a:r>
                <a:rPr b="0" lang="en" sz="1300">
                  <a:solidFill>
                    <a:srgbClr val="6B7280"/>
                  </a:solidFill>
                  <a:latin typeface="Inter"/>
                  <a:ea typeface="Inter"/>
                  <a:cs typeface="Inter"/>
                  <a:sym typeface="Inter"/>
                </a:rPr>
                <a:t> is Resistance (Ohms), </a:t>
              </a:r>
              <a:r>
                <a:rPr b="0" lang="en" sz="1300">
                  <a:solidFill>
                    <a:srgbClr val="6B728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V</a:t>
              </a:r>
              <a:r>
                <a:rPr b="0" lang="en" sz="1300">
                  <a:solidFill>
                    <a:srgbClr val="6B7280"/>
                  </a:solidFill>
                  <a:latin typeface="Inter"/>
                  <a:ea typeface="Inter"/>
                  <a:cs typeface="Inter"/>
                  <a:sym typeface="Inter"/>
                </a:rPr>
                <a:t> is Voltage (Volts), and </a:t>
              </a:r>
              <a:r>
                <a:rPr b="0" lang="en" sz="1300">
                  <a:solidFill>
                    <a:srgbClr val="6B7280"/>
                  </a:solidFill>
                  <a:latin typeface="Inter SemiBold"/>
                  <a:ea typeface="Inter SemiBold"/>
                  <a:cs typeface="Inter SemiBold"/>
                  <a:sym typeface="Inter SemiBold"/>
                </a:rPr>
                <a:t>I</a:t>
              </a:r>
              <a:r>
                <a:rPr b="0" lang="en" sz="1300">
                  <a:solidFill>
                    <a:srgbClr val="6B7280"/>
                  </a:solidFill>
                  <a:latin typeface="Inter"/>
                  <a:ea typeface="Inter"/>
                  <a:cs typeface="Inter"/>
                  <a:sym typeface="Inter"/>
                </a:rPr>
                <a:t> is Current (Amperes).</a:t>
              </a:r>
              <a:endParaRPr b="0" sz="13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3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70" name="Google Shape;670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1" name="Google Shape;671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5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2" name="Google Shape;672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5981700"/>
            <a:ext cx="10668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3" name="Google Shape;673;p37"/>
          <p:cNvPicPr preferRelativeResize="0"/>
          <p:nvPr/>
        </p:nvPicPr>
        <p:blipFill rotWithShape="1">
          <a:blip r:embed="rId6">
            <a:alphaModFix/>
          </a:blip>
          <a:srcRect b="466" l="0" r="0" t="466"/>
          <a:stretch/>
        </p:blipFill>
        <p:spPr>
          <a:xfrm>
            <a:off x="10287000" y="5457825"/>
            <a:ext cx="1524000" cy="1009800"/>
          </a:xfrm>
          <a:prstGeom prst="rect">
            <a:avLst/>
          </a:prstGeom>
          <a:noFill/>
          <a:ln>
            <a:noFill/>
          </a:ln>
        </p:spPr>
      </p:pic>
      <p:sp>
        <p:nvSpPr>
          <p:cNvPr id="674" name="Google Shape;674;p37"/>
          <p:cNvSpPr txBox="1"/>
          <p:nvPr/>
        </p:nvSpPr>
        <p:spPr>
          <a:xfrm>
            <a:off x="762000" y="6134100"/>
            <a:ext cx="4762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75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rPr>
              <a:t>Introduction of Electronics | Robotics and Automation Systems</a:t>
            </a:r>
            <a:endParaRPr b="0" sz="975">
              <a:solidFill>
                <a:srgbClr val="6B728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75" name="Google Shape;675;p37"/>
          <p:cNvSpPr txBox="1"/>
          <p:nvPr/>
        </p:nvSpPr>
        <p:spPr>
          <a:xfrm>
            <a:off x="762000" y="571500"/>
            <a:ext cx="95250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700">
                <a:solidFill>
                  <a:srgbClr val="045A36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Series Resistance</a:t>
            </a:r>
            <a:endParaRPr b="0" sz="2700">
              <a:solidFill>
                <a:srgbClr val="045A36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676" name="Google Shape;676;p37"/>
          <p:cNvSpPr/>
          <p:nvPr/>
        </p:nvSpPr>
        <p:spPr>
          <a:xfrm>
            <a:off x="762000" y="1123950"/>
            <a:ext cx="106680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77" name="Google Shape;677;p37"/>
          <p:cNvGrpSpPr/>
          <p:nvPr/>
        </p:nvGrpSpPr>
        <p:grpSpPr>
          <a:xfrm>
            <a:off x="762000" y="1524000"/>
            <a:ext cx="4286400" cy="3619500"/>
            <a:chOff x="0" y="0"/>
            <a:chExt cx="4286400" cy="3619500"/>
          </a:xfrm>
        </p:grpSpPr>
        <p:sp>
          <p:nvSpPr>
            <p:cNvPr id="678" name="Google Shape;678;p37"/>
            <p:cNvSpPr/>
            <p:nvPr/>
          </p:nvSpPr>
          <p:spPr>
            <a:xfrm>
              <a:off x="0" y="0"/>
              <a:ext cx="4286400" cy="3619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79" name="Google Shape;679;p37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0" y="202406"/>
              <a:ext cx="4286400" cy="32148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80" name="Google Shape;680;p37"/>
          <p:cNvSpPr txBox="1"/>
          <p:nvPr/>
        </p:nvSpPr>
        <p:spPr>
          <a:xfrm>
            <a:off x="5429250" y="1524000"/>
            <a:ext cx="60009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50">
                <a:solidFill>
                  <a:srgbClr val="045A36"/>
                </a:solidFill>
                <a:latin typeface="Montserrat"/>
                <a:ea typeface="Montserrat"/>
                <a:cs typeface="Montserrat"/>
                <a:sym typeface="Montserrat"/>
              </a:rPr>
              <a:t>Conceptual Overview</a:t>
            </a:r>
            <a:endParaRPr b="1" sz="1650">
              <a:solidFill>
                <a:srgbClr val="045A36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81" name="Google Shape;681;p37"/>
          <p:cNvSpPr/>
          <p:nvPr/>
        </p:nvSpPr>
        <p:spPr>
          <a:xfrm>
            <a:off x="5429250" y="1905000"/>
            <a:ext cx="60009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p37"/>
          <p:cNvSpPr/>
          <p:nvPr>
            <p:ph idx="2" type="pic"/>
          </p:nvPr>
        </p:nvSpPr>
        <p:spPr>
          <a:xfrm>
            <a:off x="5429250" y="2133600"/>
            <a:ext cx="190500" cy="200100"/>
          </a:xfrm>
          <a:prstGeom prst="rect">
            <a:avLst/>
          </a:prstGeom>
          <a:noFill/>
          <a:ln>
            <a:noFill/>
          </a:ln>
        </p:spPr>
      </p:sp>
      <p:sp>
        <p:nvSpPr>
          <p:cNvPr id="683" name="Google Shape;683;p37"/>
          <p:cNvSpPr txBox="1"/>
          <p:nvPr/>
        </p:nvSpPr>
        <p:spPr>
          <a:xfrm>
            <a:off x="5762625" y="2095500"/>
            <a:ext cx="56673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500">
                <a:solidFill>
                  <a:srgbClr val="045A3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Definition:</a:t>
            </a:r>
            <a:r>
              <a:rPr b="0" lang="en" sz="15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Resistors connected sequentially, end-to-end.</a:t>
            </a:r>
            <a:endParaRPr b="0" sz="1500">
              <a:solidFill>
                <a:srgbClr val="37415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84" name="Google Shape;684;p37"/>
          <p:cNvSpPr/>
          <p:nvPr>
            <p:ph idx="3" type="pic"/>
          </p:nvPr>
        </p:nvSpPr>
        <p:spPr>
          <a:xfrm>
            <a:off x="5429250" y="2752725"/>
            <a:ext cx="190500" cy="200100"/>
          </a:xfrm>
          <a:prstGeom prst="rect">
            <a:avLst/>
          </a:prstGeom>
          <a:noFill/>
          <a:ln>
            <a:noFill/>
          </a:ln>
        </p:spPr>
      </p:sp>
      <p:sp>
        <p:nvSpPr>
          <p:cNvPr id="685" name="Google Shape;685;p37"/>
          <p:cNvSpPr txBox="1"/>
          <p:nvPr/>
        </p:nvSpPr>
        <p:spPr>
          <a:xfrm>
            <a:off x="5762625" y="2714625"/>
            <a:ext cx="56673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500">
                <a:solidFill>
                  <a:srgbClr val="045A3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Current Path:</a:t>
            </a:r>
            <a:r>
              <a:rPr b="0" lang="en" sz="15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rPr>
              <a:t> There is only one path for the current to flow.</a:t>
            </a:r>
            <a:endParaRPr b="0" sz="1500">
              <a:solidFill>
                <a:srgbClr val="37415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686" name="Google Shape;686;p37"/>
          <p:cNvGrpSpPr/>
          <p:nvPr/>
        </p:nvGrpSpPr>
        <p:grpSpPr>
          <a:xfrm>
            <a:off x="5429250" y="3714750"/>
            <a:ext cx="6000900" cy="1476525"/>
            <a:chOff x="0" y="0"/>
            <a:chExt cx="6000900" cy="1476525"/>
          </a:xfrm>
        </p:grpSpPr>
        <p:sp>
          <p:nvSpPr>
            <p:cNvPr id="687" name="Google Shape;687;p37"/>
            <p:cNvSpPr txBox="1"/>
            <p:nvPr/>
          </p:nvSpPr>
          <p:spPr>
            <a:xfrm>
              <a:off x="0" y="0"/>
              <a:ext cx="6000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500">
                  <a:solidFill>
                    <a:srgbClr val="D4A017"/>
                  </a:solidFill>
                  <a:latin typeface="Inter"/>
                  <a:ea typeface="Inter"/>
                  <a:cs typeface="Inter"/>
                  <a:sym typeface="Inter"/>
                </a:rPr>
                <a:t>Total Resistance Formula</a:t>
              </a:r>
              <a:endParaRPr b="1" sz="1500">
                <a:solidFill>
                  <a:srgbClr val="D4A017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688" name="Google Shape;688;p37"/>
            <p:cNvSpPr/>
            <p:nvPr/>
          </p:nvSpPr>
          <p:spPr>
            <a:xfrm>
              <a:off x="0" y="428625"/>
              <a:ext cx="3810000" cy="1047900"/>
            </a:xfrm>
            <a:prstGeom prst="roundRect">
              <a:avLst>
                <a:gd fmla="val 3636" name="adj"/>
              </a:avLst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37"/>
            <p:cNvSpPr txBox="1"/>
            <p:nvPr/>
          </p:nvSpPr>
          <p:spPr>
            <a:xfrm>
              <a:off x="285750" y="428625"/>
              <a:ext cx="32385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2000">
                  <a:solidFill>
                    <a:srgbClr val="D4A01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Rtotal = R1 + R2 + R3</a:t>
              </a:r>
              <a:endParaRPr b="1" sz="2000">
                <a:solidFill>
                  <a:srgbClr val="D4A017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4" name="Google Shape;694;p3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695" name="Google Shape;695;p3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96" name="Google Shape;696;p3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12192000" cy="6858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97" name="Google Shape;697;p3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0"/>
              <a:ext cx="12192000" cy="57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98" name="Google Shape;698;p3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62000" y="5981700"/>
              <a:ext cx="10668000" cy="3048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99" name="Google Shape;699;p38"/>
            <p:cNvPicPr preferRelativeResize="0"/>
            <p:nvPr/>
          </p:nvPicPr>
          <p:blipFill rotWithShape="1">
            <a:blip r:embed="rId6">
              <a:alphaModFix/>
            </a:blip>
            <a:srcRect b="466" l="0" r="0" t="466"/>
            <a:stretch/>
          </p:blipFill>
          <p:spPr>
            <a:xfrm>
              <a:off x="10287000" y="5457825"/>
              <a:ext cx="1524000" cy="1009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00" name="Google Shape;700;p38"/>
            <p:cNvSpPr txBox="1"/>
            <p:nvPr/>
          </p:nvSpPr>
          <p:spPr>
            <a:xfrm>
              <a:off x="762000" y="6134100"/>
              <a:ext cx="47625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975">
                  <a:solidFill>
                    <a:srgbClr val="6B7280"/>
                  </a:solidFill>
                  <a:latin typeface="Inter"/>
                  <a:ea typeface="Inter"/>
                  <a:cs typeface="Inter"/>
                  <a:sym typeface="Inter"/>
                </a:rPr>
                <a:t>Introduction of Electronics | Robotics and Automation Systems</a:t>
              </a:r>
              <a:endParaRPr b="0" sz="975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701" name="Google Shape;701;p38"/>
            <p:cNvSpPr txBox="1"/>
            <p:nvPr/>
          </p:nvSpPr>
          <p:spPr>
            <a:xfrm>
              <a:off x="762000" y="571500"/>
              <a:ext cx="95250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700">
                  <a:solidFill>
                    <a:srgbClr val="045A36"/>
                  </a:solidFill>
                  <a:latin typeface="Montserrat SemiBold"/>
                  <a:ea typeface="Montserrat SemiBold"/>
                  <a:cs typeface="Montserrat SemiBold"/>
                  <a:sym typeface="Montserrat SemiBold"/>
                </a:rPr>
                <a:t>Parallel Resistance &amp; Module Summary</a:t>
              </a:r>
              <a:endParaRPr b="0" sz="2700">
                <a:solidFill>
                  <a:srgbClr val="045A36"/>
                </a:solidFill>
                <a:latin typeface="Montserrat SemiBold"/>
                <a:ea typeface="Montserrat SemiBold"/>
                <a:cs typeface="Montserrat SemiBold"/>
                <a:sym typeface="Montserrat SemiBold"/>
              </a:endParaRPr>
            </a:p>
          </p:txBody>
        </p:sp>
        <p:sp>
          <p:nvSpPr>
            <p:cNvPr id="702" name="Google Shape;702;p38"/>
            <p:cNvSpPr/>
            <p:nvPr/>
          </p:nvSpPr>
          <p:spPr>
            <a:xfrm>
              <a:off x="762000" y="1123950"/>
              <a:ext cx="10668000" cy="19200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3" name="Google Shape;703;p38"/>
            <p:cNvSpPr/>
            <p:nvPr/>
          </p:nvSpPr>
          <p:spPr>
            <a:xfrm>
              <a:off x="6086475" y="1524000"/>
              <a:ext cx="19200" cy="4000500"/>
            </a:xfrm>
            <a:prstGeom prst="rect">
              <a:avLst/>
            </a:prstGeom>
            <a:solidFill>
              <a:srgbClr val="D4A01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04" name="Google Shape;704;p38"/>
            <p:cNvGrpSpPr/>
            <p:nvPr/>
          </p:nvGrpSpPr>
          <p:grpSpPr>
            <a:xfrm>
              <a:off x="762000" y="1524000"/>
              <a:ext cx="4953000" cy="5143500"/>
              <a:chOff x="0" y="0"/>
              <a:chExt cx="4953000" cy="5143500"/>
            </a:xfrm>
          </p:grpSpPr>
          <p:sp>
            <p:nvSpPr>
              <p:cNvPr id="705" name="Google Shape;705;p38"/>
              <p:cNvSpPr txBox="1"/>
              <p:nvPr/>
            </p:nvSpPr>
            <p:spPr>
              <a:xfrm>
                <a:off x="0" y="0"/>
                <a:ext cx="4953000" cy="33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650">
                    <a:solidFill>
                      <a:srgbClr val="045A36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Parallel Circuits</a:t>
                </a:r>
                <a:endParaRPr b="1" sz="1650">
                  <a:solidFill>
                    <a:srgbClr val="045A36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706" name="Google Shape;706;p38"/>
              <p:cNvSpPr/>
              <p:nvPr/>
            </p:nvSpPr>
            <p:spPr>
              <a:xfrm>
                <a:off x="0" y="381000"/>
                <a:ext cx="4953000" cy="9600"/>
              </a:xfrm>
              <a:prstGeom prst="rect">
                <a:avLst/>
              </a:prstGeom>
              <a:solidFill>
                <a:srgbClr val="F1F5F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707" name="Google Shape;707;p38"/>
              <p:cNvGrpSpPr/>
              <p:nvPr/>
            </p:nvGrpSpPr>
            <p:grpSpPr>
              <a:xfrm>
                <a:off x="0" y="523875"/>
                <a:ext cx="4952925" cy="571500"/>
                <a:chOff x="0" y="0"/>
                <a:chExt cx="4952925" cy="571500"/>
              </a:xfrm>
            </p:grpSpPr>
            <p:sp>
              <p:nvSpPr>
                <p:cNvPr id="708" name="Google Shape;708;p38"/>
                <p:cNvSpPr/>
                <p:nvPr/>
              </p:nvSpPr>
              <p:spPr>
                <a:xfrm>
                  <a:off x="0" y="95250"/>
                  <a:ext cx="95400" cy="95400"/>
                </a:xfrm>
                <a:prstGeom prst="rect">
                  <a:avLst/>
                </a:prstGeom>
                <a:solidFill>
                  <a:srgbClr val="D4A017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09" name="Google Shape;709;p38"/>
                <p:cNvSpPr txBox="1"/>
                <p:nvPr/>
              </p:nvSpPr>
              <p:spPr>
                <a:xfrm>
                  <a:off x="238125" y="0"/>
                  <a:ext cx="4714800" cy="571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0" lang="en" sz="1500">
                      <a:solidFill>
                        <a:srgbClr val="374151"/>
                      </a:solidFill>
                      <a:latin typeface="Inter"/>
                      <a:ea typeface="Inter"/>
                      <a:cs typeface="Inter"/>
                      <a:sym typeface="Inter"/>
                    </a:rPr>
                    <a:t>Resistors provide multiple paths for current.</a:t>
                  </a:r>
                  <a:endParaRPr b="0" sz="1500">
                    <a:solidFill>
                      <a:srgbClr val="374151"/>
                    </a:solidFill>
                    <a:latin typeface="Inter"/>
                    <a:ea typeface="Inter"/>
                    <a:cs typeface="Inter"/>
                    <a:sym typeface="Inter"/>
                  </a:endParaRPr>
                </a:p>
              </p:txBody>
            </p:sp>
          </p:grpSp>
          <p:pic>
            <p:nvPicPr>
              <p:cNvPr id="710" name="Google Shape;710;p38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>
                <a:off x="571500" y="1333500"/>
                <a:ext cx="3810000" cy="3810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711" name="Google Shape;711;p38"/>
            <p:cNvGrpSpPr/>
            <p:nvPr/>
          </p:nvGrpSpPr>
          <p:grpSpPr>
            <a:xfrm>
              <a:off x="6477000" y="1524000"/>
              <a:ext cx="4953000" cy="3048000"/>
              <a:chOff x="0" y="0"/>
              <a:chExt cx="4953000" cy="3048000"/>
            </a:xfrm>
          </p:grpSpPr>
          <p:sp>
            <p:nvSpPr>
              <p:cNvPr id="712" name="Google Shape;712;p38"/>
              <p:cNvSpPr txBox="1"/>
              <p:nvPr/>
            </p:nvSpPr>
            <p:spPr>
              <a:xfrm>
                <a:off x="0" y="0"/>
                <a:ext cx="4953000" cy="33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650">
                    <a:solidFill>
                      <a:srgbClr val="045A36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Module Wrap-Up</a:t>
                </a:r>
                <a:endParaRPr b="1" sz="1650">
                  <a:solidFill>
                    <a:srgbClr val="045A36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  <p:sp>
            <p:nvSpPr>
              <p:cNvPr id="713" name="Google Shape;713;p38"/>
              <p:cNvSpPr/>
              <p:nvPr/>
            </p:nvSpPr>
            <p:spPr>
              <a:xfrm>
                <a:off x="0" y="381000"/>
                <a:ext cx="4953000" cy="9600"/>
              </a:xfrm>
              <a:prstGeom prst="rect">
                <a:avLst/>
              </a:prstGeom>
              <a:solidFill>
                <a:srgbClr val="F1F5F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714" name="Google Shape;714;p38"/>
              <p:cNvGrpSpPr/>
              <p:nvPr/>
            </p:nvGrpSpPr>
            <p:grpSpPr>
              <a:xfrm>
                <a:off x="0" y="571500"/>
                <a:ext cx="4952925" cy="2476500"/>
                <a:chOff x="0" y="0"/>
                <a:chExt cx="4952925" cy="2476500"/>
              </a:xfrm>
            </p:grpSpPr>
            <p:grpSp>
              <p:nvGrpSpPr>
                <p:cNvPr id="715" name="Google Shape;715;p38"/>
                <p:cNvGrpSpPr/>
                <p:nvPr/>
              </p:nvGrpSpPr>
              <p:grpSpPr>
                <a:xfrm>
                  <a:off x="0" y="0"/>
                  <a:ext cx="4952925" cy="381000"/>
                  <a:chOff x="0" y="0"/>
                  <a:chExt cx="4952925" cy="381000"/>
                </a:xfrm>
              </p:grpSpPr>
              <p:sp>
                <p:nvSpPr>
                  <p:cNvPr id="716" name="Google Shape;716;p38"/>
                  <p:cNvSpPr/>
                  <p:nvPr/>
                </p:nvSpPr>
                <p:spPr>
                  <a:xfrm>
                    <a:off x="0" y="95250"/>
                    <a:ext cx="95400" cy="95400"/>
                  </a:xfrm>
                  <a:prstGeom prst="rect">
                    <a:avLst/>
                  </a:prstGeom>
                  <a:solidFill>
                    <a:srgbClr val="D4A017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717" name="Google Shape;717;p38"/>
                  <p:cNvSpPr txBox="1"/>
                  <p:nvPr/>
                </p:nvSpPr>
                <p:spPr>
                  <a:xfrm>
                    <a:off x="238125" y="0"/>
                    <a:ext cx="4714800" cy="3810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0" lIns="0" spcFirstLastPara="1" rIns="0" wrap="square" tIns="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0" lang="en" sz="1500">
                        <a:solidFill>
                          <a:srgbClr val="045A36"/>
                        </a:solidFill>
                        <a:latin typeface="Inter SemiBold"/>
                        <a:ea typeface="Inter SemiBold"/>
                        <a:cs typeface="Inter SemiBold"/>
                        <a:sym typeface="Inter SemiBold"/>
                      </a:rPr>
                      <a:t>Electronics</a:t>
                    </a:r>
                    <a:r>
                      <a:rPr b="0" lang="en" sz="1500">
                        <a:solidFill>
                          <a:srgbClr val="374151"/>
                        </a:solidFill>
                        <a:latin typeface="Inter"/>
                        <a:ea typeface="Inter"/>
                        <a:cs typeface="Inter"/>
                        <a:sym typeface="Inter"/>
                      </a:rPr>
                      <a:t> controls robots.</a:t>
                    </a:r>
                    <a:endParaRPr b="0" sz="1500">
                      <a:solidFill>
                        <a:srgbClr val="374151"/>
                      </a:solidFill>
                      <a:latin typeface="Inter"/>
                      <a:ea typeface="Inter"/>
                      <a:cs typeface="Inter"/>
                      <a:sym typeface="Inter"/>
                    </a:endParaRPr>
                  </a:p>
                </p:txBody>
              </p:sp>
            </p:grpSp>
            <p:grpSp>
              <p:nvGrpSpPr>
                <p:cNvPr id="718" name="Google Shape;718;p38"/>
                <p:cNvGrpSpPr/>
                <p:nvPr/>
              </p:nvGrpSpPr>
              <p:grpSpPr>
                <a:xfrm>
                  <a:off x="0" y="523875"/>
                  <a:ext cx="4952925" cy="381000"/>
                  <a:chOff x="0" y="0"/>
                  <a:chExt cx="4952925" cy="381000"/>
                </a:xfrm>
              </p:grpSpPr>
              <p:sp>
                <p:nvSpPr>
                  <p:cNvPr id="719" name="Google Shape;719;p38"/>
                  <p:cNvSpPr/>
                  <p:nvPr/>
                </p:nvSpPr>
                <p:spPr>
                  <a:xfrm>
                    <a:off x="0" y="95250"/>
                    <a:ext cx="95400" cy="95400"/>
                  </a:xfrm>
                  <a:prstGeom prst="rect">
                    <a:avLst/>
                  </a:prstGeom>
                  <a:solidFill>
                    <a:srgbClr val="D4A017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720" name="Google Shape;720;p38"/>
                  <p:cNvSpPr txBox="1"/>
                  <p:nvPr/>
                </p:nvSpPr>
                <p:spPr>
                  <a:xfrm>
                    <a:off x="238125" y="0"/>
                    <a:ext cx="4714800" cy="3810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0" lIns="0" spcFirstLastPara="1" rIns="0" wrap="square" tIns="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0" lang="en" sz="1500">
                        <a:solidFill>
                          <a:srgbClr val="045A36"/>
                        </a:solidFill>
                        <a:latin typeface="Inter SemiBold"/>
                        <a:ea typeface="Inter SemiBold"/>
                        <a:cs typeface="Inter SemiBold"/>
                        <a:sym typeface="Inter SemiBold"/>
                      </a:rPr>
                      <a:t>Electricity</a:t>
                    </a:r>
                    <a:r>
                      <a:rPr b="0" lang="en" sz="1500">
                        <a:solidFill>
                          <a:srgbClr val="374151"/>
                        </a:solidFill>
                        <a:latin typeface="Inter"/>
                        <a:ea typeface="Inter"/>
                        <a:cs typeface="Inter"/>
                        <a:sym typeface="Inter"/>
                      </a:rPr>
                      <a:t> powers circuits.</a:t>
                    </a:r>
                    <a:endParaRPr b="0" sz="1500">
                      <a:solidFill>
                        <a:srgbClr val="374151"/>
                      </a:solidFill>
                      <a:latin typeface="Inter"/>
                      <a:ea typeface="Inter"/>
                      <a:cs typeface="Inter"/>
                      <a:sym typeface="Inter"/>
                    </a:endParaRPr>
                  </a:p>
                </p:txBody>
              </p:sp>
            </p:grpSp>
            <p:grpSp>
              <p:nvGrpSpPr>
                <p:cNvPr id="721" name="Google Shape;721;p38"/>
                <p:cNvGrpSpPr/>
                <p:nvPr/>
              </p:nvGrpSpPr>
              <p:grpSpPr>
                <a:xfrm>
                  <a:off x="0" y="1047750"/>
                  <a:ext cx="4952925" cy="381000"/>
                  <a:chOff x="0" y="0"/>
                  <a:chExt cx="4952925" cy="381000"/>
                </a:xfrm>
              </p:grpSpPr>
              <p:sp>
                <p:nvSpPr>
                  <p:cNvPr id="722" name="Google Shape;722;p38"/>
                  <p:cNvSpPr/>
                  <p:nvPr/>
                </p:nvSpPr>
                <p:spPr>
                  <a:xfrm>
                    <a:off x="0" y="95250"/>
                    <a:ext cx="95400" cy="95400"/>
                  </a:xfrm>
                  <a:prstGeom prst="rect">
                    <a:avLst/>
                  </a:prstGeom>
                  <a:solidFill>
                    <a:srgbClr val="D4A017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723" name="Google Shape;723;p38"/>
                  <p:cNvSpPr txBox="1"/>
                  <p:nvPr/>
                </p:nvSpPr>
                <p:spPr>
                  <a:xfrm>
                    <a:off x="238125" y="0"/>
                    <a:ext cx="4714800" cy="3810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0" lIns="0" spcFirstLastPara="1" rIns="0" wrap="square" tIns="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0" lang="en" sz="1500">
                        <a:solidFill>
                          <a:srgbClr val="045A36"/>
                        </a:solidFill>
                        <a:latin typeface="Inter SemiBold"/>
                        <a:ea typeface="Inter SemiBold"/>
                        <a:cs typeface="Inter SemiBold"/>
                        <a:sym typeface="Inter SemiBold"/>
                      </a:rPr>
                      <a:t>Voltage</a:t>
                    </a:r>
                    <a:r>
                      <a:rPr b="0" lang="en" sz="1500">
                        <a:solidFill>
                          <a:srgbClr val="374151"/>
                        </a:solidFill>
                        <a:latin typeface="Inter"/>
                        <a:ea typeface="Inter"/>
                        <a:cs typeface="Inter"/>
                        <a:sym typeface="Inter"/>
                      </a:rPr>
                      <a:t> pushes current.</a:t>
                    </a:r>
                    <a:endParaRPr b="0" sz="1500">
                      <a:solidFill>
                        <a:srgbClr val="374151"/>
                      </a:solidFill>
                      <a:latin typeface="Inter"/>
                      <a:ea typeface="Inter"/>
                      <a:cs typeface="Inter"/>
                      <a:sym typeface="Inter"/>
                    </a:endParaRPr>
                  </a:p>
                </p:txBody>
              </p:sp>
            </p:grpSp>
            <p:grpSp>
              <p:nvGrpSpPr>
                <p:cNvPr id="724" name="Google Shape;724;p38"/>
                <p:cNvGrpSpPr/>
                <p:nvPr/>
              </p:nvGrpSpPr>
              <p:grpSpPr>
                <a:xfrm>
                  <a:off x="0" y="1571625"/>
                  <a:ext cx="4952925" cy="381000"/>
                  <a:chOff x="0" y="0"/>
                  <a:chExt cx="4952925" cy="381000"/>
                </a:xfrm>
              </p:grpSpPr>
              <p:sp>
                <p:nvSpPr>
                  <p:cNvPr id="725" name="Google Shape;725;p38"/>
                  <p:cNvSpPr/>
                  <p:nvPr/>
                </p:nvSpPr>
                <p:spPr>
                  <a:xfrm>
                    <a:off x="0" y="95250"/>
                    <a:ext cx="95400" cy="95400"/>
                  </a:xfrm>
                  <a:prstGeom prst="rect">
                    <a:avLst/>
                  </a:prstGeom>
                  <a:solidFill>
                    <a:srgbClr val="D4A017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726" name="Google Shape;726;p38"/>
                  <p:cNvSpPr txBox="1"/>
                  <p:nvPr/>
                </p:nvSpPr>
                <p:spPr>
                  <a:xfrm>
                    <a:off x="238125" y="0"/>
                    <a:ext cx="4714800" cy="3810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0" lIns="0" spcFirstLastPara="1" rIns="0" wrap="square" tIns="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0" lang="en" sz="1500">
                        <a:solidFill>
                          <a:srgbClr val="045A36"/>
                        </a:solidFill>
                        <a:latin typeface="Inter SemiBold"/>
                        <a:ea typeface="Inter SemiBold"/>
                        <a:cs typeface="Inter SemiBold"/>
                        <a:sym typeface="Inter SemiBold"/>
                      </a:rPr>
                      <a:t>Resistance</a:t>
                    </a:r>
                    <a:r>
                      <a:rPr b="0" lang="en" sz="1500">
                        <a:solidFill>
                          <a:srgbClr val="374151"/>
                        </a:solidFill>
                        <a:latin typeface="Inter"/>
                        <a:ea typeface="Inter"/>
                        <a:cs typeface="Inter"/>
                        <a:sym typeface="Inter"/>
                      </a:rPr>
                      <a:t> controls current.</a:t>
                    </a:r>
                    <a:endParaRPr b="0" sz="1500">
                      <a:solidFill>
                        <a:srgbClr val="374151"/>
                      </a:solidFill>
                      <a:latin typeface="Inter"/>
                      <a:ea typeface="Inter"/>
                      <a:cs typeface="Inter"/>
                      <a:sym typeface="Inter"/>
                    </a:endParaRPr>
                  </a:p>
                </p:txBody>
              </p:sp>
            </p:grpSp>
            <p:grpSp>
              <p:nvGrpSpPr>
                <p:cNvPr id="727" name="Google Shape;727;p38"/>
                <p:cNvGrpSpPr/>
                <p:nvPr/>
              </p:nvGrpSpPr>
              <p:grpSpPr>
                <a:xfrm>
                  <a:off x="0" y="2095500"/>
                  <a:ext cx="4952925" cy="381000"/>
                  <a:chOff x="0" y="0"/>
                  <a:chExt cx="4952925" cy="381000"/>
                </a:xfrm>
              </p:grpSpPr>
              <p:sp>
                <p:nvSpPr>
                  <p:cNvPr id="728" name="Google Shape;728;p38"/>
                  <p:cNvSpPr/>
                  <p:nvPr/>
                </p:nvSpPr>
                <p:spPr>
                  <a:xfrm>
                    <a:off x="0" y="95250"/>
                    <a:ext cx="95400" cy="95400"/>
                  </a:xfrm>
                  <a:prstGeom prst="rect">
                    <a:avLst/>
                  </a:prstGeom>
                  <a:solidFill>
                    <a:srgbClr val="D4A017"/>
                  </a:solidFill>
                  <a:ln>
                    <a:noFill/>
                  </a:ln>
                </p:spPr>
                <p:txBody>
                  <a:bodyPr anchorCtr="0" anchor="ctr" bIns="0" lIns="0" spcFirstLastPara="1" rIns="0" wrap="square" tIns="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729" name="Google Shape;729;p38"/>
                  <p:cNvSpPr txBox="1"/>
                  <p:nvPr/>
                </p:nvSpPr>
                <p:spPr>
                  <a:xfrm>
                    <a:off x="238125" y="0"/>
                    <a:ext cx="4714800" cy="3810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0" lIns="0" spcFirstLastPara="1" rIns="0" wrap="square" tIns="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0" lang="en" sz="1500">
                        <a:solidFill>
                          <a:srgbClr val="045A36"/>
                        </a:solidFill>
                        <a:latin typeface="Inter SemiBold"/>
                        <a:ea typeface="Inter SemiBold"/>
                        <a:cs typeface="Inter SemiBold"/>
                        <a:sym typeface="Inter SemiBold"/>
                      </a:rPr>
                      <a:t>Ohm’s Law</a:t>
                    </a:r>
                    <a:r>
                      <a:rPr b="0" lang="en" sz="1500">
                        <a:solidFill>
                          <a:srgbClr val="374151"/>
                        </a:solidFill>
                        <a:latin typeface="Inter"/>
                        <a:ea typeface="Inter"/>
                        <a:cs typeface="Inter"/>
                        <a:sym typeface="Inter"/>
                      </a:rPr>
                      <a:t> calculates circuit values.</a:t>
                    </a:r>
                    <a:endParaRPr b="0" sz="1500">
                      <a:solidFill>
                        <a:srgbClr val="374151"/>
                      </a:solidFill>
                      <a:latin typeface="Inter"/>
                      <a:ea typeface="Inter"/>
                      <a:cs typeface="Inter"/>
                      <a:sym typeface="Inter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